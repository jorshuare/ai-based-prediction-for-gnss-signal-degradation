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2918400" cy="4389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5" d="100"/>
          <a:sy n="25" d="100"/>
        </p:scale>
        <p:origin x="1672" y="1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918400" cy="438912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0" cy="35661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566160"/>
            <a:ext cx="32918400" cy="914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37753"/>
            <a:ext cx="3200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 dirty="0">
                <a:solidFill>
                  <a:srgbClr val="FFFFFF"/>
                </a:solidFill>
              </a:rPr>
              <a:t>AI-Based Proactive Prediction of GNSS Signal Degradation
for Autonomous Vehicle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36987"/>
            <a:ext cx="3200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solidFill>
                  <a:srgbClr val="4FC3F7"/>
                </a:solidFill>
              </a:rPr>
              <a:t>Ojerinde Joel Segun   (LS2525253)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91541"/>
            <a:ext cx="3200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chemeClr val="bg1"/>
                </a:solidFill>
              </a:rPr>
              <a:t>Regional Centre for Space Science &amp; Technology Education in Asia and the Pacific  |  Beihang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13632"/>
            <a:ext cx="15453359" cy="5852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4498848"/>
            <a:ext cx="15453359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7" y="3911263"/>
            <a:ext cx="150510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FFFFFF"/>
                </a:solidFill>
              </a:rPr>
              <a:t>1 · Introduction &amp; Motivation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906" y="4651875"/>
            <a:ext cx="7371757" cy="6465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400" b="1" dirty="0">
                <a:solidFill>
                  <a:srgbClr val="003893"/>
                </a:solidFill>
              </a:rPr>
              <a:t>The Problem</a:t>
            </a:r>
          </a:p>
          <a:p>
            <a:pPr algn="just">
              <a:spcBef>
                <a:spcPts val="500"/>
              </a:spcBef>
            </a:pPr>
            <a:r>
              <a:rPr sz="2400" b="0" dirty="0">
                <a:solidFill>
                  <a:srgbClr val="0A1733"/>
                </a:solidFill>
              </a:rPr>
              <a:t>GNSS is the only drift-free absolute-position source for autonomous vehicles (AVs). Urban canyons, bridges, and tunnels create Non-Line-of-Sight (NLOS) multipath, causing silent position jumps of 10–50 m.</a:t>
            </a:r>
          </a:p>
          <a:p>
            <a:pPr algn="just"/>
            <a:endParaRPr sz="1050" b="0" dirty="0">
              <a:solidFill>
                <a:srgbClr val="0A1733"/>
              </a:solidFill>
            </a:endParaRPr>
          </a:p>
          <a:p>
            <a:pPr algn="just">
              <a:spcBef>
                <a:spcPts val="700"/>
              </a:spcBef>
            </a:pPr>
            <a:r>
              <a:rPr sz="2400" b="1" dirty="0">
                <a:solidFill>
                  <a:srgbClr val="003893"/>
                </a:solidFill>
              </a:rPr>
              <a:t>Why Proactive?</a:t>
            </a:r>
          </a:p>
          <a:p>
            <a:pPr algn="just">
              <a:spcBef>
                <a:spcPts val="500"/>
              </a:spcBef>
            </a:pPr>
            <a:r>
              <a:rPr sz="2400" b="0" dirty="0">
                <a:solidFill>
                  <a:srgbClr val="0A1733"/>
                </a:solidFill>
              </a:rPr>
              <a:t>At 60 km/h, a 5-second positioning gap displaces the vehicle 83 m. Reactive systems detect errors only after they occur. SENTINEL-GNSS predicts degradation 5–30 s ahead, giving the planner time to engage IMU dead-reckoning before GNSS fails.</a:t>
            </a:r>
          </a:p>
          <a:p>
            <a:pPr algn="just"/>
            <a:endParaRPr sz="1050" b="0" dirty="0">
              <a:solidFill>
                <a:srgbClr val="0A1733"/>
              </a:solidFill>
            </a:endParaRPr>
          </a:p>
          <a:p>
            <a:pPr algn="just">
              <a:spcBef>
                <a:spcPts val="700"/>
              </a:spcBef>
            </a:pPr>
            <a:r>
              <a:rPr sz="2400" b="1" dirty="0">
                <a:solidFill>
                  <a:srgbClr val="003893"/>
                </a:solidFill>
              </a:rPr>
              <a:t>Research Goal</a:t>
            </a:r>
          </a:p>
          <a:p>
            <a:pPr algn="just">
              <a:spcBef>
                <a:spcPts val="500"/>
              </a:spcBef>
            </a:pPr>
            <a:r>
              <a:rPr sz="2400" b="0" dirty="0">
                <a:solidFill>
                  <a:srgbClr val="0A1733"/>
                </a:solidFill>
              </a:rPr>
              <a:t>Multi-horizon proactive classification — CLEAN · WARNING · DEGRADED — at +5 s, +15 s, +30 s, fused into an adaptive Extended Kalman Filter for AV navigation.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6117" y="10610613"/>
            <a:ext cx="7459810" cy="380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 dirty="0">
                <a:solidFill>
                  <a:srgbClr val="555555"/>
                </a:solidFill>
              </a:rPr>
              <a:t>Fig. 1: Reactive detection vs. proactive prediction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1282345"/>
            <a:ext cx="15453359" cy="5852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11867561"/>
            <a:ext cx="15453359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7" y="11296909"/>
            <a:ext cx="150510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FFFFFF"/>
                </a:solidFill>
              </a:rPr>
              <a:t>2 · Multi-City Dataset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1" y="12257392"/>
            <a:ext cx="7463196" cy="5741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dirty="0">
                <a:solidFill>
                  <a:srgbClr val="003893"/>
                </a:solidFill>
              </a:rPr>
              <a:t>149,662 labelled epochs  ·  4 cities  ·  9+ receiver types</a:t>
            </a:r>
          </a:p>
          <a:p>
            <a:pPr algn="l">
              <a:lnSpc>
                <a:spcPct val="150000"/>
              </a:lnSpc>
            </a:pPr>
            <a:endParaRPr sz="2400" b="1" dirty="0">
              <a:solidFill>
                <a:srgbClr val="003893"/>
              </a:solidFill>
            </a:endParaRP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2400" b="0" dirty="0">
                <a:solidFill>
                  <a:srgbClr val="0A1733"/>
                </a:solidFill>
              </a:rPr>
              <a:t>Training (Hangzhou + Hong Kong):  62,413 epochs  ·  no-SMOTE  ·  Focal Loss</a:t>
            </a: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sz="2400" b="0" dirty="0">
                <a:solidFill>
                  <a:srgbClr val="0A1733"/>
                </a:solidFill>
              </a:rPr>
              <a:t>Validation: 18,074   ·   Test: 1,686  (731 CLEAN / 746 WARN / 209 DEG)</a:t>
            </a: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sz="2400" b="0" dirty="0">
                <a:solidFill>
                  <a:srgbClr val="0A1733"/>
                </a:solidFill>
              </a:rPr>
              <a:t>Cross-city zero-shot (Tokyo): ~31,236 windows, never seen in training</a:t>
            </a: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sz="2400" b="0" dirty="0">
                <a:solidFill>
                  <a:srgbClr val="0A1733"/>
                </a:solidFill>
              </a:rPr>
              <a:t>37 features per epoch: C/N₀, DOP metrics, satellite geometry, 4 derived</a:t>
            </a:r>
          </a:p>
        </p:txBody>
      </p:sp>
      <p:pic>
        <p:nvPicPr>
          <p:cNvPr id="22" name="Picture 21" descr="fig1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287" y="12275820"/>
            <a:ext cx="8146055" cy="59390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225028" y="18474189"/>
            <a:ext cx="79339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 dirty="0">
                <a:solidFill>
                  <a:srgbClr val="555555"/>
                </a:solidFill>
              </a:rPr>
              <a:t>Fig. 2: Class distribution across splits — DEGRADED is rare (~12% of test), motivating Focal Loss (γ=1.0) with class-weights [1, 2, 5].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9348704"/>
            <a:ext cx="15453359" cy="5852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19933920"/>
            <a:ext cx="15453359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1207" y="19380201"/>
            <a:ext cx="150510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FFFFFF"/>
                </a:solidFill>
              </a:rPr>
              <a:t>3 · SENTINEL-GNSS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906" y="19916314"/>
            <a:ext cx="6150183" cy="7986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sz="2800" b="1" dirty="0">
                <a:solidFill>
                  <a:srgbClr val="003893"/>
                </a:solidFill>
              </a:rPr>
              <a:t>Hybrid Transformer + LSTM  ·  1,456,652 parameters  ·  17.8 MB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r>
              <a:rPr sz="2800" b="1" dirty="0">
                <a:solidFill>
                  <a:srgbClr val="0A1733"/>
                </a:solidFill>
              </a:rPr>
              <a:t>Input:      </a:t>
            </a:r>
            <a:r>
              <a:rPr sz="2800" b="0" dirty="0">
                <a:solidFill>
                  <a:srgbClr val="0A1733"/>
                </a:solidFill>
              </a:rPr>
              <a:t>30 × 37 sliding window  →  linear projection (37 → 128)</a:t>
            </a:r>
          </a:p>
          <a:p>
            <a:pPr algn="just">
              <a:lnSpc>
                <a:spcPct val="150000"/>
              </a:lnSpc>
              <a:spcBef>
                <a:spcPts val="300"/>
              </a:spcBef>
            </a:pPr>
            <a:r>
              <a:rPr sz="2800" b="1" dirty="0">
                <a:solidFill>
                  <a:srgbClr val="0A1733"/>
                </a:solidFill>
              </a:rPr>
              <a:t>Encoder:  </a:t>
            </a:r>
            <a:r>
              <a:rPr sz="2800" b="0" dirty="0">
                <a:solidFill>
                  <a:srgbClr val="0A1733"/>
                </a:solidFill>
              </a:rPr>
              <a:t>2-layer Transformer Encoder  ·  8 heads  ·  </a:t>
            </a:r>
            <a:r>
              <a:rPr sz="2800" b="0" dirty="0" err="1">
                <a:solidFill>
                  <a:srgbClr val="0A1733"/>
                </a:solidFill>
              </a:rPr>
              <a:t>d_model</a:t>
            </a:r>
            <a:r>
              <a:rPr sz="2800" b="0" dirty="0">
                <a:solidFill>
                  <a:srgbClr val="0A1733"/>
                </a:solidFill>
              </a:rPr>
              <a:t>=128  ·  </a:t>
            </a:r>
            <a:r>
              <a:rPr sz="2800" b="0" dirty="0" err="1">
                <a:solidFill>
                  <a:srgbClr val="0A1733"/>
                </a:solidFill>
              </a:rPr>
              <a:t>d_ff</a:t>
            </a:r>
            <a:r>
              <a:rPr sz="2800" b="0" dirty="0">
                <a:solidFill>
                  <a:srgbClr val="0A1733"/>
                </a:solidFill>
              </a:rPr>
              <a:t>=512</a:t>
            </a:r>
          </a:p>
          <a:p>
            <a:pPr algn="just">
              <a:lnSpc>
                <a:spcPct val="150000"/>
              </a:lnSpc>
              <a:spcBef>
                <a:spcPts val="300"/>
              </a:spcBef>
            </a:pPr>
            <a:r>
              <a:rPr sz="2800" b="1" dirty="0">
                <a:solidFill>
                  <a:srgbClr val="0A1733"/>
                </a:solidFill>
              </a:rPr>
              <a:t>Decoder:  </a:t>
            </a:r>
            <a:r>
              <a:rPr sz="2800" b="0" dirty="0">
                <a:solidFill>
                  <a:srgbClr val="0A1733"/>
                </a:solidFill>
              </a:rPr>
              <a:t>2-layer LSTM  ·  hidden=256  ·  unidirectional  ·  dropout=0.3</a:t>
            </a:r>
          </a:p>
          <a:p>
            <a:pPr algn="just">
              <a:lnSpc>
                <a:spcPct val="150000"/>
              </a:lnSpc>
              <a:spcBef>
                <a:spcPts val="300"/>
              </a:spcBef>
            </a:pPr>
            <a:r>
              <a:rPr sz="2800" b="1" dirty="0">
                <a:solidFill>
                  <a:srgbClr val="0A1733"/>
                </a:solidFill>
              </a:rPr>
              <a:t>Output:   </a:t>
            </a:r>
            <a:r>
              <a:rPr sz="2800" b="0" dirty="0">
                <a:solidFill>
                  <a:srgbClr val="0A1733"/>
                </a:solidFill>
              </a:rPr>
              <a:t>4 heads — +5 s, +15 s, +30 s (primary) + auxiliary t+0</a:t>
            </a:r>
          </a:p>
          <a:p>
            <a:pPr algn="just">
              <a:lnSpc>
                <a:spcPct val="150000"/>
              </a:lnSpc>
              <a:spcBef>
                <a:spcPts val="300"/>
              </a:spcBef>
            </a:pPr>
            <a:r>
              <a:rPr sz="2800" b="1" dirty="0">
                <a:solidFill>
                  <a:srgbClr val="0A1733"/>
                </a:solidFill>
              </a:rPr>
              <a:t>Training: </a:t>
            </a:r>
            <a:r>
              <a:rPr sz="2800" b="0" dirty="0" err="1">
                <a:solidFill>
                  <a:srgbClr val="0A1733"/>
                </a:solidFill>
              </a:rPr>
              <a:t>AdamW</a:t>
            </a:r>
            <a:r>
              <a:rPr sz="2800" b="0" dirty="0">
                <a:solidFill>
                  <a:srgbClr val="0A1733"/>
                </a:solidFill>
              </a:rPr>
              <a:t> </a:t>
            </a:r>
            <a:r>
              <a:rPr sz="2800" b="0" dirty="0" err="1">
                <a:solidFill>
                  <a:srgbClr val="0A1733"/>
                </a:solidFill>
              </a:rPr>
              <a:t>lr</a:t>
            </a:r>
            <a:r>
              <a:rPr sz="2800" b="0" dirty="0">
                <a:solidFill>
                  <a:srgbClr val="0A1733"/>
                </a:solidFill>
              </a:rPr>
              <a:t>=1e-3  ·  batch=256  ·  patience=50  ·  Tesla T4 GPU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0460" y="26991400"/>
            <a:ext cx="9127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 dirty="0">
                <a:solidFill>
                  <a:srgbClr val="555555"/>
                </a:solidFill>
              </a:rPr>
              <a:t>Fig. 3: SENTINEL-GNSS hybrid architecture — one forward pass yields all four output heads simultaneously.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7934920"/>
            <a:ext cx="15453359" cy="5852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28520136"/>
            <a:ext cx="15453359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1207" y="27932551"/>
            <a:ext cx="150510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FFFFFF"/>
                </a:solidFill>
              </a:rPr>
              <a:t>4 · Ablation Study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6401" y="28621061"/>
            <a:ext cx="6275830" cy="6572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dirty="0">
                <a:solidFill>
                  <a:srgbClr val="003893"/>
                </a:solidFill>
              </a:rPr>
              <a:t>Each architectural component contributes independently:</a:t>
            </a:r>
            <a:r>
              <a:rPr lang="en-US" sz="2400" b="1" dirty="0">
                <a:solidFill>
                  <a:srgbClr val="003893"/>
                </a:solidFill>
              </a:rPr>
              <a:t> </a:t>
            </a:r>
            <a:endParaRPr sz="2400" b="1" dirty="0">
              <a:solidFill>
                <a:srgbClr val="003893"/>
              </a:solidFill>
            </a:endParaRP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2400" b="0" dirty="0">
                <a:solidFill>
                  <a:srgbClr val="0A1733"/>
                </a:solidFill>
              </a:rPr>
              <a:t>Transformer-only (427K):   Macro-F1=0.767  ·  DEGRADED F1=0.571  ·  MCC=0.725</a:t>
            </a: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sz="2400" b="0" dirty="0">
                <a:solidFill>
                  <a:srgbClr val="0A1733"/>
                </a:solidFill>
              </a:rPr>
              <a:t>LSTM-only (1,027K):        Macro-F1=0.767  ·  DEGRADED F1=0.645  ·  MCC=0.702</a:t>
            </a: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sz="2400" b="1" dirty="0">
                <a:solidFill>
                  <a:srgbClr val="1B873A"/>
                </a:solidFill>
              </a:rPr>
              <a:t>Full SENTINEL (1,457K):    Macro-F1=0.821  ·  DEGRADED F1=0.718  ·  MCC=0.773</a:t>
            </a:r>
          </a:p>
          <a:p>
            <a:pPr algn="l">
              <a:lnSpc>
                <a:spcPct val="150000"/>
              </a:lnSpc>
            </a:pPr>
            <a:endParaRPr sz="1100" b="1" dirty="0">
              <a:solidFill>
                <a:srgbClr val="1B873A"/>
              </a:solidFill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sz="2400" b="0" dirty="0">
                <a:solidFill>
                  <a:srgbClr val="0A1733"/>
                </a:solidFill>
              </a:rPr>
              <a:t>Transformer captures global PDOP trends; LSTM preserves epoch-level temporal state. Combined: +0.147 DEGRADED F1 over Transformer-only.</a:t>
            </a:r>
          </a:p>
        </p:txBody>
      </p:sp>
      <p:pic>
        <p:nvPicPr>
          <p:cNvPr id="36" name="Picture 35" descr="fig04_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8875946"/>
            <a:ext cx="8775192" cy="54991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7784" y="34457392"/>
            <a:ext cx="8247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 dirty="0">
                <a:solidFill>
                  <a:srgbClr val="555555"/>
                </a:solidFill>
              </a:rPr>
              <a:t>Fig. 4: Ablation across architecture variants. Full model (navy) outperforms each component in isolation on all three metrics.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5313787"/>
            <a:ext cx="15453359" cy="5852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0040" y="35899003"/>
            <a:ext cx="15453359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21207" y="35396083"/>
            <a:ext cx="150510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FFFFFF"/>
                </a:solidFill>
              </a:rPr>
              <a:t>5 · Individual Contributions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36059873"/>
            <a:ext cx="15372862" cy="436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003893"/>
                </a:solidFill>
              </a:rPr>
              <a:t>Repository &amp; Software Architecture</a:t>
            </a:r>
          </a:p>
          <a:p>
            <a:pPr algn="l">
              <a:spcBef>
                <a:spcPts val="400"/>
              </a:spcBef>
            </a:pPr>
            <a:r>
              <a:rPr sz="2400" b="0" dirty="0">
                <a:solidFill>
                  <a:srgbClr val="0A1733"/>
                </a:solidFill>
              </a:rPr>
              <a:t>Designed the project repository structure, module layout, CI pipeline, and the 37-feature engineering specification.</a:t>
            </a:r>
          </a:p>
          <a:p>
            <a:pPr algn="l"/>
            <a:endParaRPr sz="300" b="0" dirty="0">
              <a:solidFill>
                <a:srgbClr val="0A1733"/>
              </a:solidFill>
            </a:endParaRPr>
          </a:p>
          <a:p>
            <a:pPr algn="l">
              <a:spcBef>
                <a:spcPts val="600"/>
              </a:spcBef>
            </a:pPr>
            <a:r>
              <a:rPr sz="2400" b="1" dirty="0">
                <a:solidFill>
                  <a:srgbClr val="003893"/>
                </a:solidFill>
              </a:rPr>
              <a:t>Model Design &amp; Training</a:t>
            </a:r>
          </a:p>
          <a:p>
            <a:pPr algn="l">
              <a:spcBef>
                <a:spcPts val="400"/>
              </a:spcBef>
            </a:pPr>
            <a:r>
              <a:rPr sz="2400" b="0" dirty="0">
                <a:solidFill>
                  <a:srgbClr val="0A1733"/>
                </a:solidFill>
              </a:rPr>
              <a:t>Designed and trained the </a:t>
            </a:r>
            <a:r>
              <a:rPr sz="2400" b="0" dirty="0" err="1">
                <a:solidFill>
                  <a:srgbClr val="0A1733"/>
                </a:solidFill>
              </a:rPr>
              <a:t>Transformer+LSTM</a:t>
            </a:r>
            <a:r>
              <a:rPr sz="2400" b="0" dirty="0">
                <a:solidFill>
                  <a:srgbClr val="0A1733"/>
                </a:solidFill>
              </a:rPr>
              <a:t> hybrid (1,456,652 parameters) with Focal Loss, temperature calibration (T=0.4023), and threshold tuning; conducted all ablation experiments reported above.</a:t>
            </a:r>
          </a:p>
          <a:p>
            <a:pPr algn="l"/>
            <a:endParaRPr sz="300" b="0" dirty="0">
              <a:solidFill>
                <a:srgbClr val="0A1733"/>
              </a:solidFill>
            </a:endParaRPr>
          </a:p>
          <a:p>
            <a:pPr algn="l">
              <a:spcBef>
                <a:spcPts val="600"/>
              </a:spcBef>
            </a:pPr>
            <a:r>
              <a:rPr sz="2400" b="1" dirty="0">
                <a:solidFill>
                  <a:srgbClr val="003893"/>
                </a:solidFill>
              </a:rPr>
              <a:t>EKF Fusion Pipeline</a:t>
            </a:r>
          </a:p>
          <a:p>
            <a:pPr algn="l">
              <a:spcBef>
                <a:spcPts val="400"/>
              </a:spcBef>
            </a:pPr>
            <a:r>
              <a:rPr sz="2400" b="0" dirty="0">
                <a:solidFill>
                  <a:srgbClr val="0A1733"/>
                </a:solidFill>
              </a:rPr>
              <a:t>Implemented the 9-state IMU-aided EKF with SENTINEL adaptive-R, Huber robust variant, and Student-t particle filter.</a:t>
            </a:r>
          </a:p>
          <a:p>
            <a:pPr algn="l"/>
            <a:endParaRPr sz="300" b="0" dirty="0">
              <a:solidFill>
                <a:srgbClr val="0A1733"/>
              </a:solidFill>
            </a:endParaRPr>
          </a:p>
          <a:p>
            <a:pPr algn="l">
              <a:spcBef>
                <a:spcPts val="600"/>
              </a:spcBef>
            </a:pPr>
            <a:r>
              <a:rPr sz="2400" b="1" dirty="0">
                <a:solidFill>
                  <a:srgbClr val="003893"/>
                </a:solidFill>
              </a:rPr>
              <a:t>Inference Packaging &amp; Documentation</a:t>
            </a:r>
          </a:p>
          <a:p>
            <a:pPr algn="l">
              <a:spcBef>
                <a:spcPts val="400"/>
              </a:spcBef>
            </a:pPr>
            <a:r>
              <a:rPr sz="2400" b="0" dirty="0">
                <a:solidFill>
                  <a:srgbClr val="0A1733"/>
                </a:solidFill>
              </a:rPr>
              <a:t>Packaged the model for real-time deployment (0.0449 </a:t>
            </a:r>
            <a:r>
              <a:rPr sz="2400" b="0" dirty="0" err="1">
                <a:solidFill>
                  <a:srgbClr val="0A1733"/>
                </a:solidFill>
              </a:rPr>
              <a:t>ms</a:t>
            </a:r>
            <a:r>
              <a:rPr sz="2400" b="0" dirty="0">
                <a:solidFill>
                  <a:srgbClr val="0A1733"/>
                </a:solidFill>
              </a:rPr>
              <a:t>/sample on GPU) and authored all project documentation and paper manuscripts.</a:t>
            </a:r>
            <a:endParaRPr lang="en-US" sz="2400" b="0" dirty="0">
              <a:solidFill>
                <a:srgbClr val="0A1733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7145000" y="3913632"/>
            <a:ext cx="15453359" cy="5852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7213580" y="4669415"/>
            <a:ext cx="15293340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7346168" y="3911263"/>
            <a:ext cx="150510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FFFFFF"/>
                </a:solidFill>
              </a:rPr>
              <a:t>6 · Classification Results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213580" y="4760855"/>
            <a:ext cx="15293340" cy="625119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7433035" y="4834007"/>
            <a:ext cx="15014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</a:rPr>
              <a:t>Table 1: Multi-horizon performance — held-out test set (n = 1,686)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592328"/>
              </p:ext>
            </p:extLst>
          </p:nvPr>
        </p:nvGraphicFramePr>
        <p:xfrm>
          <a:off x="17213579" y="5606833"/>
          <a:ext cx="15316200" cy="4171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3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1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78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429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3600" b="1">
                          <a:solidFill>
                            <a:srgbClr val="FFFFFF"/>
                          </a:solidFill>
                        </a:rPr>
                        <a:t>Horizon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3600" b="1">
                          <a:solidFill>
                            <a:srgbClr val="FFFFFF"/>
                          </a:solidFill>
                        </a:rPr>
                        <a:t>Macro-F1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3600" b="1">
                          <a:solidFill>
                            <a:srgbClr val="FFFFFF"/>
                          </a:solidFill>
                        </a:rPr>
                        <a:t>Bootstrap 95% CI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3600" b="1">
                          <a:solidFill>
                            <a:srgbClr val="FFFFFF"/>
                          </a:solidFill>
                        </a:rPr>
                        <a:t>MCC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3600" b="1">
                          <a:solidFill>
                            <a:srgbClr val="FFFFFF"/>
                          </a:solidFill>
                        </a:rPr>
                        <a:t>DEGRADED F1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29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3200" b="1">
                          <a:solidFill>
                            <a:srgbClr val="0A1733"/>
                          </a:solidFill>
                        </a:rPr>
                        <a:t>+5 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3200">
                          <a:solidFill>
                            <a:srgbClr val="0A1733"/>
                          </a:solidFill>
                        </a:rPr>
                        <a:t>0.821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3200">
                          <a:solidFill>
                            <a:srgbClr val="0A1733"/>
                          </a:solidFill>
                        </a:rPr>
                        <a:t>[0.798, 0.840]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3200">
                          <a:solidFill>
                            <a:srgbClr val="0A1733"/>
                          </a:solidFill>
                        </a:rPr>
                        <a:t>0.773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3200">
                          <a:solidFill>
                            <a:srgbClr val="0A1733"/>
                          </a:solidFill>
                        </a:rPr>
                        <a:t>0.718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29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3200" b="1">
                          <a:solidFill>
                            <a:srgbClr val="0A1733"/>
                          </a:solidFill>
                        </a:rPr>
                        <a:t>+15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3200" dirty="0">
                          <a:solidFill>
                            <a:srgbClr val="0A1733"/>
                          </a:solidFill>
                        </a:rPr>
                        <a:t>0.741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3200">
                          <a:solidFill>
                            <a:srgbClr val="0A1733"/>
                          </a:solidFill>
                        </a:rPr>
                        <a:t>[0.717, 0.764]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3200">
                          <a:solidFill>
                            <a:srgbClr val="0A1733"/>
                          </a:solidFill>
                        </a:rPr>
                        <a:t>0.691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3200">
                          <a:solidFill>
                            <a:srgbClr val="0A1733"/>
                          </a:solidFill>
                        </a:rPr>
                        <a:t>0.583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29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3200" b="1" dirty="0">
                          <a:solidFill>
                            <a:srgbClr val="0A1733"/>
                          </a:solidFill>
                        </a:rPr>
                        <a:t>+30 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3200" dirty="0">
                          <a:solidFill>
                            <a:srgbClr val="0A1733"/>
                          </a:solidFill>
                        </a:rPr>
                        <a:t>0.783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3200">
                          <a:solidFill>
                            <a:srgbClr val="0A1733"/>
                          </a:solidFill>
                        </a:rPr>
                        <a:t>[0.758, 0.804]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3200">
                          <a:solidFill>
                            <a:srgbClr val="0A1733"/>
                          </a:solidFill>
                        </a:rPr>
                        <a:t>0.731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3200" dirty="0">
                          <a:solidFill>
                            <a:srgbClr val="0A1733"/>
                          </a:solidFill>
                        </a:rPr>
                        <a:t>0.629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1" name="Rectangle 50"/>
          <p:cNvSpPr/>
          <p:nvPr/>
        </p:nvSpPr>
        <p:spPr>
          <a:xfrm>
            <a:off x="17179713" y="10470489"/>
            <a:ext cx="15453359" cy="5852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7179713" y="11055705"/>
            <a:ext cx="15453359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7380881" y="10468120"/>
            <a:ext cx="150510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FFFFFF"/>
                </a:solidFill>
              </a:rPr>
              <a:t>7 · Cross-City </a:t>
            </a:r>
            <a:r>
              <a:rPr sz="3000" b="1" i="0" dirty="0" err="1">
                <a:solidFill>
                  <a:srgbClr val="FFFFFF"/>
                </a:solidFill>
              </a:rPr>
              <a:t>Generalisation</a:t>
            </a:r>
            <a:r>
              <a:rPr sz="3000" b="1" i="0" dirty="0">
                <a:solidFill>
                  <a:srgbClr val="FFFFFF"/>
                </a:solidFill>
              </a:rPr>
              <a:t> (Zero-Shot Tokyo)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179713" y="11322984"/>
            <a:ext cx="15453359" cy="3621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003893"/>
                </a:solidFill>
              </a:rPr>
              <a:t>Trained on HK + Hangzhou  ·  Tested zero-shot on Tokyo (31,236 windows)</a:t>
            </a:r>
          </a:p>
          <a:p>
            <a:pPr algn="l"/>
            <a:endParaRPr sz="2400" b="1" dirty="0">
              <a:solidFill>
                <a:srgbClr val="003893"/>
              </a:solidFill>
            </a:endParaRPr>
          </a:p>
          <a:p>
            <a:pPr algn="l">
              <a:spcBef>
                <a:spcPts val="400"/>
              </a:spcBef>
            </a:pPr>
            <a:r>
              <a:rPr sz="2400" b="0" dirty="0">
                <a:solidFill>
                  <a:srgbClr val="0A1733"/>
                </a:solidFill>
              </a:rPr>
              <a:t>Tokyo presents different skyline geometry, satellite visibility, and receiver hardware — a strict out-of-domain evaluation.</a:t>
            </a:r>
          </a:p>
          <a:p>
            <a:pPr algn="l"/>
            <a:endParaRPr sz="2400" b="0" dirty="0">
              <a:solidFill>
                <a:srgbClr val="0A1733"/>
              </a:solidFill>
            </a:endParaRPr>
          </a:p>
          <a:p>
            <a:pPr algn="l">
              <a:spcBef>
                <a:spcPts val="400"/>
              </a:spcBef>
            </a:pPr>
            <a:r>
              <a:rPr sz="2400" b="1" dirty="0">
                <a:solidFill>
                  <a:srgbClr val="1B873A"/>
                </a:solidFill>
              </a:rPr>
              <a:t>SENTINEL   DEGRADED F1 = 0.753    (maintains 79% of in-domain level)</a:t>
            </a:r>
          </a:p>
          <a:p>
            <a:pPr algn="l">
              <a:spcBef>
                <a:spcPts val="400"/>
              </a:spcBef>
            </a:pPr>
            <a:r>
              <a:rPr sz="2400" b="1" dirty="0" err="1">
                <a:solidFill>
                  <a:srgbClr val="C62828"/>
                </a:solidFill>
              </a:rPr>
              <a:t>RandomForest</a:t>
            </a:r>
            <a:r>
              <a:rPr sz="2400" b="1" dirty="0">
                <a:solidFill>
                  <a:srgbClr val="C62828"/>
                </a:solidFill>
              </a:rPr>
              <a:t>   DEGRADED F1 = 0.148    (collapses −81% out-of-domain)</a:t>
            </a:r>
          </a:p>
          <a:p>
            <a:pPr algn="l"/>
            <a:endParaRPr sz="2400" b="1" dirty="0">
              <a:solidFill>
                <a:srgbClr val="C62828"/>
              </a:solidFill>
            </a:endParaRPr>
          </a:p>
          <a:p>
            <a:pPr algn="l">
              <a:spcBef>
                <a:spcPts val="400"/>
              </a:spcBef>
            </a:pPr>
            <a:r>
              <a:rPr sz="2400" b="0" dirty="0">
                <a:solidFill>
                  <a:srgbClr val="0A1733"/>
                </a:solidFill>
              </a:rPr>
              <a:t>SENTINEL learns degradation dynamics (C/N₀ decay, DOP drift) rather than site-specific noise. No per-city retraining is required.</a:t>
            </a:r>
          </a:p>
        </p:txBody>
      </p:sp>
      <p:pic>
        <p:nvPicPr>
          <p:cNvPr id="56" name="Picture 55" descr="fig05_crosscity_degra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81158" y="14834557"/>
            <a:ext cx="9444175" cy="531282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7364456" y="20317968"/>
            <a:ext cx="15014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 dirty="0">
                <a:solidFill>
                  <a:srgbClr val="555555"/>
                </a:solidFill>
              </a:rPr>
              <a:t>Fig. 6: DEGRADED-class F1 at +5 s — HK in-domain vs. Tokyo zero-shot. SENTINEL holds at 0.753; Random Forest collapses to 0.148.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7145000" y="20921472"/>
            <a:ext cx="15453359" cy="5852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7145000" y="21506688"/>
            <a:ext cx="15453359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7346168" y="20936036"/>
            <a:ext cx="150510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FFFFFF"/>
                </a:solidFill>
              </a:rPr>
              <a:t>8 · Prediction-Informed EKF Fusion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144999" y="21556814"/>
            <a:ext cx="15453359" cy="3193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003893"/>
                </a:solidFill>
              </a:rPr>
              <a:t>Adaptive Measurement Noise Covariance</a:t>
            </a:r>
          </a:p>
          <a:p>
            <a:pPr algn="l"/>
            <a:endParaRPr sz="600" b="1" dirty="0">
              <a:solidFill>
                <a:srgbClr val="003893"/>
              </a:solidFill>
            </a:endParaRPr>
          </a:p>
          <a:p>
            <a:pPr algn="l">
              <a:spcBef>
                <a:spcPts val="400"/>
              </a:spcBef>
            </a:pPr>
            <a:r>
              <a:rPr sz="2400" b="0" dirty="0">
                <a:solidFill>
                  <a:srgbClr val="0A1733"/>
                </a:solidFill>
              </a:rPr>
              <a:t>Standard KF weights every GNSS fix equally. SENTINEL's P(DEGRADED) inflates the GPS noise covariance R before bad fixes arrive:</a:t>
            </a:r>
          </a:p>
          <a:p>
            <a:pPr algn="l"/>
            <a:endParaRPr sz="500" b="0" dirty="0">
              <a:solidFill>
                <a:srgbClr val="0A1733"/>
              </a:solidFill>
            </a:endParaRPr>
          </a:p>
          <a:p>
            <a:pPr algn="l">
              <a:spcBef>
                <a:spcPts val="400"/>
              </a:spcBef>
            </a:pPr>
            <a:r>
              <a:rPr sz="2400" b="1" dirty="0">
                <a:solidFill>
                  <a:srgbClr val="F57F17"/>
                </a:solidFill>
              </a:rPr>
              <a:t>    R = (100 m)² · I     when P(DEGRADED) &gt; 0.5</a:t>
            </a:r>
          </a:p>
          <a:p>
            <a:pPr algn="l">
              <a:spcBef>
                <a:spcPts val="300"/>
              </a:spcBef>
            </a:pPr>
            <a:r>
              <a:rPr sz="2400" b="1" dirty="0">
                <a:solidFill>
                  <a:srgbClr val="005BAC"/>
                </a:solidFill>
              </a:rPr>
              <a:t>    R = r_base² · I       otherwise</a:t>
            </a:r>
          </a:p>
          <a:p>
            <a:pPr algn="l"/>
            <a:endParaRPr sz="600" b="1" dirty="0">
              <a:solidFill>
                <a:srgbClr val="005BAC"/>
              </a:solidFill>
            </a:endParaRPr>
          </a:p>
          <a:p>
            <a:pPr algn="l">
              <a:spcBef>
                <a:spcPts val="400"/>
              </a:spcBef>
            </a:pPr>
            <a:r>
              <a:rPr sz="2400" b="0" dirty="0">
                <a:solidFill>
                  <a:srgbClr val="0A1733"/>
                </a:solidFill>
              </a:rPr>
              <a:t>Joseph-form covariance update keeps P positive semi-definite even when R jumps by orders of magnitude between epochs. The EKF distrusts GNSS before position error appears, falling back on IMU dead-reckoning during blockage.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179713" y="24916984"/>
            <a:ext cx="9334144" cy="516977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7433035" y="24975417"/>
            <a:ext cx="9114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</a:rPr>
              <a:t>Table 2: Position RMSE — real-data Tokyo Shinjuku (n = 20,949 epochs @ 10 Hz)</a:t>
            </a:r>
          </a:p>
        </p:txBody>
      </p:sp>
      <p:graphicFrame>
        <p:nvGraphicFramePr>
          <p:cNvPr id="65" name="Table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389836"/>
              </p:ext>
            </p:extLst>
          </p:nvPr>
        </p:nvGraphicFramePr>
        <p:xfrm>
          <a:off x="17255557" y="25497399"/>
          <a:ext cx="8949267" cy="4583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6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6669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 dirty="0">
                          <a:solidFill>
                            <a:srgbClr val="FFFFFF"/>
                          </a:solidFill>
                        </a:rPr>
                        <a:t>Degraded RMSE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Reduction vs. Raw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6669"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0A1733"/>
                          </a:solidFill>
                        </a:rPr>
                        <a:t>GNSS raw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>
                          <a:solidFill>
                            <a:srgbClr val="0A1733"/>
                          </a:solidFill>
                        </a:rPr>
                        <a:t>47.40 m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>
                          <a:solidFill>
                            <a:srgbClr val="0A17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6669">
                <a:tc>
                  <a:txBody>
                    <a:bodyPr/>
                    <a:lstStyle/>
                    <a:p>
                      <a:pPr algn="ctr"/>
                      <a:r>
                        <a:rPr sz="2800" b="1" dirty="0">
                          <a:solidFill>
                            <a:srgbClr val="0A1733"/>
                          </a:solidFill>
                        </a:rPr>
                        <a:t>EKF fixed-R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>
                          <a:solidFill>
                            <a:srgbClr val="0A1733"/>
                          </a:solidFill>
                        </a:rPr>
                        <a:t>24.28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1B873A"/>
                          </a:solidFill>
                        </a:rPr>
                        <a:t>−48.8%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6669">
                <a:tc>
                  <a:txBody>
                    <a:bodyPr/>
                    <a:lstStyle/>
                    <a:p>
                      <a:pPr algn="ctr"/>
                      <a:r>
                        <a:rPr sz="2800" b="1" dirty="0">
                          <a:solidFill>
                            <a:srgbClr val="0A1733"/>
                          </a:solidFill>
                        </a:rPr>
                        <a:t>SENTINEL calibrated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>
                          <a:solidFill>
                            <a:srgbClr val="0A1733"/>
                          </a:solidFill>
                        </a:rPr>
                        <a:t>29.05 m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1B873A"/>
                          </a:solidFill>
                        </a:rPr>
                        <a:t>−38.7%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6669">
                <a:tc>
                  <a:txBody>
                    <a:bodyPr/>
                    <a:lstStyle/>
                    <a:p>
                      <a:pPr algn="ctr"/>
                      <a:r>
                        <a:rPr sz="2800" b="1" dirty="0">
                          <a:solidFill>
                            <a:srgbClr val="0A1733"/>
                          </a:solidFill>
                        </a:rPr>
                        <a:t>SENTINEL </a:t>
                      </a:r>
                      <a:r>
                        <a:rPr sz="2800" b="1" dirty="0" err="1">
                          <a:solidFill>
                            <a:srgbClr val="0A1733"/>
                          </a:solidFill>
                        </a:rPr>
                        <a:t>calib</a:t>
                      </a:r>
                      <a:r>
                        <a:rPr sz="2800" b="1" dirty="0">
                          <a:solidFill>
                            <a:srgbClr val="0A1733"/>
                          </a:solidFill>
                        </a:rPr>
                        <a:t> + online 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>
                          <a:solidFill>
                            <a:srgbClr val="0A1733"/>
                          </a:solidFill>
                        </a:rPr>
                        <a:t>26.93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dirty="0">
                          <a:solidFill>
                            <a:srgbClr val="1B873A"/>
                          </a:solidFill>
                        </a:rPr>
                        <a:t>−43.2%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6" name="Picture 65" descr="fig07_ekf_rm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79144" y="25332027"/>
            <a:ext cx="6119214" cy="4806597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25027467" y="30072247"/>
            <a:ext cx="73514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 dirty="0">
                <a:solidFill>
                  <a:srgbClr val="555555"/>
                </a:solidFill>
              </a:rPr>
              <a:t>Fig. 7: Degraded-segment RMSE across EKF configurations. SENTINEL calibrated reduces error by 38.7%; online σ reaches 43.2%.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145000" y="30760416"/>
            <a:ext cx="15453359" cy="5852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7145000" y="31345632"/>
            <a:ext cx="15453359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7346168" y="30842712"/>
            <a:ext cx="1505102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9 · Deployment Efficiency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7364456" y="31565088"/>
            <a:ext cx="15014447" cy="2344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3200" b="1" dirty="0">
                <a:solidFill>
                  <a:srgbClr val="003893"/>
                </a:solidFill>
              </a:rPr>
              <a:t>0.0449 </a:t>
            </a:r>
            <a:r>
              <a:rPr sz="3200" b="1" dirty="0" err="1">
                <a:solidFill>
                  <a:srgbClr val="003893"/>
                </a:solidFill>
              </a:rPr>
              <a:t>ms</a:t>
            </a:r>
            <a:r>
              <a:rPr sz="3200" b="1" dirty="0">
                <a:solidFill>
                  <a:srgbClr val="003893"/>
                </a:solidFill>
              </a:rPr>
              <a:t> / sample  ·  9.46× faster than RF + XGB + LR ensemble</a:t>
            </a:r>
          </a:p>
          <a:p>
            <a:pPr algn="just"/>
            <a:endParaRPr sz="1000" b="1" dirty="0">
              <a:solidFill>
                <a:srgbClr val="003893"/>
              </a:solidFill>
            </a:endParaRPr>
          </a:p>
          <a:p>
            <a:pPr algn="just">
              <a:spcBef>
                <a:spcPts val="400"/>
              </a:spcBef>
            </a:pPr>
            <a:r>
              <a:rPr sz="3200" b="0" dirty="0">
                <a:solidFill>
                  <a:srgbClr val="0A1733"/>
                </a:solidFill>
              </a:rPr>
              <a:t>Single unified 17.8 MB model replaces three separate per-horizon classifiers.</a:t>
            </a:r>
          </a:p>
          <a:p>
            <a:pPr algn="just">
              <a:spcBef>
                <a:spcPts val="300"/>
              </a:spcBef>
            </a:pPr>
            <a:r>
              <a:rPr sz="3200" b="0" dirty="0">
                <a:solidFill>
                  <a:srgbClr val="0A1733"/>
                </a:solidFill>
              </a:rPr>
              <a:t>1,456,652 parameters — fits within embedded AV compute budgets.</a:t>
            </a:r>
          </a:p>
          <a:p>
            <a:pPr algn="just">
              <a:spcBef>
                <a:spcPts val="300"/>
              </a:spcBef>
            </a:pPr>
            <a:r>
              <a:rPr sz="3200" b="0" dirty="0">
                <a:solidFill>
                  <a:srgbClr val="0A1733"/>
                </a:solidFill>
              </a:rPr>
              <a:t>Operates within a 10 Hz real-time AV navigation loop on Tesla T4 GPU.</a:t>
            </a:r>
          </a:p>
        </p:txBody>
      </p:sp>
      <p:pic>
        <p:nvPicPr>
          <p:cNvPr id="73" name="Picture 72" descr="fig12_latenc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06091" y="34278721"/>
            <a:ext cx="6988842" cy="5515976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17910554" y="39922924"/>
            <a:ext cx="137962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 dirty="0">
                <a:solidFill>
                  <a:srgbClr val="555555"/>
                </a:solidFill>
              </a:rPr>
              <a:t>Fig. 8: Inference latency — SENTINEL 0.0449 </a:t>
            </a:r>
            <a:r>
              <a:rPr sz="1800" b="0" i="1" dirty="0" err="1">
                <a:solidFill>
                  <a:srgbClr val="555555"/>
                </a:solidFill>
              </a:rPr>
              <a:t>ms</a:t>
            </a:r>
            <a:r>
              <a:rPr sz="1800" b="0" i="1" dirty="0">
                <a:solidFill>
                  <a:srgbClr val="555555"/>
                </a:solidFill>
              </a:rPr>
              <a:t> vs. RF 0.4248 </a:t>
            </a:r>
            <a:r>
              <a:rPr sz="1800" b="0" i="1" dirty="0" err="1">
                <a:solidFill>
                  <a:srgbClr val="555555"/>
                </a:solidFill>
              </a:rPr>
              <a:t>ms.</a:t>
            </a:r>
            <a:r>
              <a:rPr sz="1800" b="0" i="1" dirty="0">
                <a:solidFill>
                  <a:srgbClr val="555555"/>
                </a:solidFill>
              </a:rPr>
              <a:t> One forward pass serves all three horizons simultaneously.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40507920"/>
            <a:ext cx="32918400" cy="914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0" y="40599360"/>
            <a:ext cx="32918400" cy="3291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11480" y="40709088"/>
            <a:ext cx="1280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FC3F7"/>
                </a:solidFill>
              </a:rPr>
              <a:t>Conclusions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1" y="41294304"/>
            <a:ext cx="1673352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FFFFFF"/>
                </a:solidFill>
              </a:rPr>
              <a:t>•  SENTINEL-GNSS achieves Macro-F1 = 0.821 (bootstrap CI [0.798, 0.840]) at the actionable +5 s horizon — the first multi-horizon proactive GNSS degradation classifier validated across three cities.</a:t>
            </a:r>
          </a:p>
          <a:p>
            <a:pPr algn="l"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</a:rPr>
              <a:t>•  Prediction-informed EKF reduces degraded-segment position RMSE by up to 48.8% (47.40 m → 24.28 m) on real Tokyo Shinjuku data.</a:t>
            </a:r>
          </a:p>
          <a:p>
            <a:pPr algn="l">
              <a:spcBef>
                <a:spcPts val="600"/>
              </a:spcBef>
            </a:pPr>
            <a:r>
              <a:rPr sz="2400" b="0" dirty="0">
                <a:solidFill>
                  <a:srgbClr val="FFFFFF"/>
                </a:solidFill>
              </a:rPr>
              <a:t>•  Inference: 0.0449 </a:t>
            </a:r>
            <a:r>
              <a:rPr sz="2400" b="0" dirty="0" err="1">
                <a:solidFill>
                  <a:srgbClr val="FFFFFF"/>
                </a:solidFill>
              </a:rPr>
              <a:t>ms</a:t>
            </a:r>
            <a:r>
              <a:rPr sz="2400" b="0" dirty="0">
                <a:solidFill>
                  <a:srgbClr val="FFFFFF"/>
                </a:solidFill>
              </a:rPr>
              <a:t>/sample — 9.46× faster than the ensemble baseline; single 17.8 MB model fits embedded AV compute budgets.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7145001" y="40709088"/>
            <a:ext cx="15133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4FC3F7"/>
                </a:solidFill>
              </a:rPr>
              <a:t>References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145001" y="41294304"/>
            <a:ext cx="16047719" cy="2480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FFFFFF"/>
                </a:solidFill>
              </a:rPr>
              <a:t>[1] L.-T. Hsu et al. </a:t>
            </a:r>
            <a:r>
              <a:rPr sz="2000" b="0" dirty="0" err="1">
                <a:solidFill>
                  <a:srgbClr val="FFFFFF"/>
                </a:solidFill>
              </a:rPr>
              <a:t>UrbanNav</a:t>
            </a:r>
            <a:r>
              <a:rPr sz="2000" b="0" dirty="0">
                <a:solidFill>
                  <a:srgbClr val="FFFFFF"/>
                </a:solidFill>
              </a:rPr>
              <a:t>: Open-Sourced Multisensory Dataset for Benchmarking Positioning Algorithms. ION GNSS+ 2021.</a:t>
            </a:r>
          </a:p>
          <a:p>
            <a:pPr algn="l">
              <a:spcBef>
                <a:spcPts val="500"/>
              </a:spcBef>
            </a:pPr>
            <a:r>
              <a:rPr sz="2000" b="0" dirty="0">
                <a:solidFill>
                  <a:srgbClr val="FFFFFF"/>
                </a:solidFill>
              </a:rPr>
              <a:t>[2] A. Vaswani et al. Attention Is All You Need. </a:t>
            </a:r>
            <a:r>
              <a:rPr sz="2000" b="0" dirty="0" err="1">
                <a:solidFill>
                  <a:srgbClr val="FFFFFF"/>
                </a:solidFill>
              </a:rPr>
              <a:t>NeurIPS</a:t>
            </a:r>
            <a:r>
              <a:rPr sz="2000" b="0" dirty="0">
                <a:solidFill>
                  <a:srgbClr val="FFFFFF"/>
                </a:solidFill>
              </a:rPr>
              <a:t> 2017.</a:t>
            </a:r>
          </a:p>
          <a:p>
            <a:pPr algn="l">
              <a:spcBef>
                <a:spcPts val="500"/>
              </a:spcBef>
            </a:pPr>
            <a:r>
              <a:rPr sz="2000" b="0" dirty="0">
                <a:solidFill>
                  <a:srgbClr val="FFFFFF"/>
                </a:solidFill>
              </a:rPr>
              <a:t>[3] P. D. Groves. Principles of GNSS, Inertial, and </a:t>
            </a:r>
            <a:r>
              <a:rPr sz="2000" b="0" dirty="0" err="1">
                <a:solidFill>
                  <a:srgbClr val="FFFFFF"/>
                </a:solidFill>
              </a:rPr>
              <a:t>Multisensor</a:t>
            </a:r>
            <a:r>
              <a:rPr sz="2000" b="0" dirty="0">
                <a:solidFill>
                  <a:srgbClr val="FFFFFF"/>
                </a:solidFill>
              </a:rPr>
              <a:t> Integrated Navigation Systems. Artech House, 2nd ed., 2013.</a:t>
            </a:r>
          </a:p>
          <a:p>
            <a:pPr algn="l"/>
            <a:endParaRPr sz="500" b="0" dirty="0">
              <a:solidFill>
                <a:srgbClr val="FFFFFF"/>
              </a:solidFill>
            </a:endParaRPr>
          </a:p>
          <a:p>
            <a:pPr algn="l">
              <a:spcBef>
                <a:spcPts val="500"/>
              </a:spcBef>
            </a:pPr>
            <a:r>
              <a:rPr sz="2800" b="1" dirty="0">
                <a:solidFill>
                  <a:srgbClr val="4FC3F7"/>
                </a:solidFill>
              </a:rPr>
              <a:t>Acknowledgement</a:t>
            </a:r>
          </a:p>
          <a:p>
            <a:pPr algn="l">
              <a:spcBef>
                <a:spcPts val="400"/>
              </a:spcBef>
            </a:pPr>
            <a:r>
              <a:rPr sz="2000" b="0" dirty="0">
                <a:solidFill>
                  <a:srgbClr val="FFFFFF"/>
                </a:solidFill>
              </a:rPr>
              <a:t>We thank Dr. Ahmed Wasiu and the RCSSTEAP program at Beihang University for guidance, equipment, and field-collection support.</a:t>
            </a:r>
          </a:p>
          <a:p>
            <a:pPr algn="l"/>
            <a:endParaRPr sz="500" b="0" dirty="0">
              <a:solidFill>
                <a:srgbClr val="FFFFFF"/>
              </a:solidFill>
            </a:endParaRPr>
          </a:p>
          <a:p>
            <a:pPr algn="l">
              <a:spcBef>
                <a:spcPts val="400"/>
              </a:spcBef>
            </a:pPr>
            <a:r>
              <a:rPr b="0" dirty="0">
                <a:solidFill>
                  <a:srgbClr val="B0C8E8"/>
                </a:solidFill>
              </a:rPr>
              <a:t>Contact:  joelojerinde@</a:t>
            </a:r>
            <a:r>
              <a:rPr lang="en-US" b="0" dirty="0">
                <a:solidFill>
                  <a:srgbClr val="B0C8E8"/>
                </a:solidFill>
              </a:rPr>
              <a:t>buaa.edu.cn </a:t>
            </a:r>
            <a:r>
              <a:rPr b="0" dirty="0">
                <a:solidFill>
                  <a:srgbClr val="B0C8E8"/>
                </a:solidFill>
              </a:rPr>
              <a:t> </a:t>
            </a:r>
            <a:r>
              <a:rPr lang="en-US" dirty="0">
                <a:solidFill>
                  <a:srgbClr val="B0C8E8"/>
                </a:solidFill>
              </a:rPr>
              <a:t>|</a:t>
            </a:r>
            <a:r>
              <a:rPr b="0" dirty="0">
                <a:solidFill>
                  <a:srgbClr val="B0C8E8"/>
                </a:solidFill>
              </a:rPr>
              <a:t>  H3I, Beihang University · 2026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97B918A4-943E-660D-A642-DFB2F683AB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3237" y="4934993"/>
            <a:ext cx="8001105" cy="5373739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E68E4918-6721-90AF-F2F8-1BF5F93BC9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4131" y="20248943"/>
            <a:ext cx="8949267" cy="6530004"/>
          </a:xfrm>
          <a:prstGeom prst="rect">
            <a:avLst/>
          </a:prstGeom>
        </p:spPr>
      </p:pic>
      <p:pic>
        <p:nvPicPr>
          <p:cNvPr id="84" name="Picture 83" descr="rcssteap_logo.png">
            <a:extLst>
              <a:ext uri="{FF2B5EF4-FFF2-40B4-BE49-F238E27FC236}">
                <a16:creationId xmlns:a16="http://schemas.microsoft.com/office/drawing/2014/main" id="{016A91AC-F1B8-2D98-773F-4B7739BD36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155" y="440267"/>
            <a:ext cx="2648712" cy="2648712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85" name="Picture 84" descr="beihang_logo.png">
            <a:extLst>
              <a:ext uri="{FF2B5EF4-FFF2-40B4-BE49-F238E27FC236}">
                <a16:creationId xmlns:a16="http://schemas.microsoft.com/office/drawing/2014/main" id="{0778E4B5-764C-B07A-87E1-22397D39DD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514801" y="414921"/>
            <a:ext cx="2648712" cy="2648712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1235</Words>
  <Application>Microsoft Office PowerPoint</Application>
  <PresentationFormat>Custom</PresentationFormat>
  <Paragraphs>127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Joel</dc:creator>
  <cp:keywords/>
  <dc:description>generated using python-pptx</dc:description>
  <cp:lastModifiedBy>Joel Ojerinde</cp:lastModifiedBy>
  <cp:revision>15</cp:revision>
  <dcterms:created xsi:type="dcterms:W3CDTF">2013-01-27T09:14:16Z</dcterms:created>
  <dcterms:modified xsi:type="dcterms:W3CDTF">2026-07-02T23:17:37Z</dcterms:modified>
  <cp:category/>
</cp:coreProperties>
</file>