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356" r:id="rId2"/>
    <p:sldId id="274" r:id="rId3"/>
    <p:sldId id="257" r:id="rId4"/>
    <p:sldId id="357" r:id="rId5"/>
    <p:sldId id="351" r:id="rId6"/>
    <p:sldId id="260" r:id="rId7"/>
    <p:sldId id="316" r:id="rId8"/>
    <p:sldId id="263" r:id="rId9"/>
    <p:sldId id="352" r:id="rId10"/>
    <p:sldId id="353" r:id="rId11"/>
    <p:sldId id="319" r:id="rId12"/>
    <p:sldId id="266" r:id="rId13"/>
    <p:sldId id="321" r:id="rId14"/>
    <p:sldId id="322" r:id="rId15"/>
    <p:sldId id="324" r:id="rId16"/>
    <p:sldId id="325" r:id="rId17"/>
    <p:sldId id="348" r:id="rId18"/>
    <p:sldId id="333" r:id="rId19"/>
    <p:sldId id="292" r:id="rId20"/>
    <p:sldId id="273" r:id="rId21"/>
    <p:sldId id="328" r:id="rId22"/>
    <p:sldId id="330" r:id="rId23"/>
    <p:sldId id="358" r:id="rId24"/>
    <p:sldId id="355" r:id="rId25"/>
    <p:sldId id="335" r:id="rId26"/>
    <p:sldId id="343" r:id="rId27"/>
    <p:sldId id="346" r:id="rId28"/>
    <p:sldId id="331" r:id="rId29"/>
    <p:sldId id="340" r:id="rId30"/>
    <p:sldId id="341" r:id="rId31"/>
    <p:sldId id="359" r:id="rId32"/>
    <p:sldId id="303" r:id="rId33"/>
    <p:sldId id="280" r:id="rId34"/>
    <p:sldId id="360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00" autoAdjust="0"/>
    <p:restoredTop sz="94753"/>
  </p:normalViewPr>
  <p:slideViewPr>
    <p:cSldViewPr snapToGrid="0" snapToObjects="1">
      <p:cViewPr varScale="1">
        <p:scale>
          <a:sx n="93" d="100"/>
          <a:sy n="93" d="100"/>
        </p:scale>
        <p:origin x="12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C0949-C823-9546-B609-6FA0E32F4A5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B195B-D80B-F543-88FA-918A8B18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15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8347A19-DA72-4069-BAC1-3ED5614207B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5CC32-814E-F13A-7ADD-021B9B82F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577CA-DAD6-1BA3-B0EE-FF1701C65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F8374-507E-DCEC-581F-7F2B4CFD7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5B93B-16B7-42A9-178A-B49BE5D1B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74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23865-24A8-E242-54E0-DCB57FD1B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4F111-E5FE-9D98-DA8C-150AA0E64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4E9862-C321-6FFC-6A8C-7C48B1430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5047E-9370-1E43-177B-D6C245331A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33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B195B-D80B-F543-88FA-918A8B18C3F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039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B195B-D80B-F543-88FA-918A8B18C3F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33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F8E5D-7DA2-F3DD-39E4-02FFF74F1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86020-5284-6C41-F2AF-BCF9D1458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F83B1-8733-D9AA-EE34-78F9535A4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C6CCD-F3F9-4CB4-4363-62593DE29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559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1A6EA-5CE6-0B02-6191-18F96D35A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0F9713-6592-D212-CB17-264180910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04DC2-5167-8D15-67A7-BFFF3A162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4CA63-4EA3-C646-4818-0CCD82C2A8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035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220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9818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emf"/><Relationship Id="rId6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4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9877BCB-71BB-39FC-0686-0A0797D38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509" y="1962997"/>
            <a:ext cx="4807755" cy="4156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opLabel"/>
          <p:cNvSpPr>
            <a:spLocks noGrp="1"/>
          </p:cNvSpPr>
          <p:nvPr/>
        </p:nvSpPr>
        <p:spPr>
          <a:xfrm>
            <a:off x="1266667" y="66667"/>
            <a:ext cx="9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867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MainTitle"/>
          <p:cNvSpPr>
            <a:spLocks noGrp="1"/>
          </p:cNvSpPr>
          <p:nvPr/>
        </p:nvSpPr>
        <p:spPr>
          <a:xfrm>
            <a:off x="463806" y="424014"/>
            <a:ext cx="7260091" cy="18396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52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AI-Based Proactive Prediction </a:t>
            </a:r>
          </a:p>
          <a:p>
            <a:pPr>
              <a:lnSpc>
                <a:spcPct val="120000"/>
              </a:lnSpc>
            </a:pPr>
            <a:r>
              <a:rPr lang="en-US" sz="52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Of GNSS Signal Degradation</a:t>
            </a:r>
          </a:p>
          <a:p>
            <a:pPr>
              <a:lnSpc>
                <a:spcPct val="120000"/>
              </a:lnSpc>
            </a:pPr>
            <a:r>
              <a:rPr lang="en-US" sz="3300" i="1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for Autonomous Vehicle Navigation</a:t>
            </a:r>
          </a:p>
        </p:txBody>
      </p:sp>
      <p:sp>
        <p:nvSpPr>
          <p:cNvPr id="32" name="AccentLine"/>
          <p:cNvSpPr/>
          <p:nvPr/>
        </p:nvSpPr>
        <p:spPr>
          <a:xfrm>
            <a:off x="467868" y="5363934"/>
            <a:ext cx="2400000" cy="609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TeamInfo"/>
          <p:cNvSpPr>
            <a:spLocks noGrp="1"/>
          </p:cNvSpPr>
          <p:nvPr/>
        </p:nvSpPr>
        <p:spPr>
          <a:xfrm>
            <a:off x="467868" y="5497267"/>
            <a:ext cx="5173133" cy="5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r>
              <a:rPr lang="en-US" sz="1867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Team Pilot Project</a:t>
            </a:r>
            <a:r>
              <a:rPr lang="en-US" sz="1867" dirty="0">
                <a:solidFill>
                  <a:srgbClr val="999999"/>
                </a:solidFill>
                <a:latin typeface="Calibri"/>
                <a:ea typeface="Calibri"/>
                <a:cs typeface="Calibri"/>
              </a:rPr>
              <a:t>   |   </a:t>
            </a:r>
            <a:r>
              <a:rPr lang="en-US" sz="1867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Beihang University (BUAA)</a:t>
            </a:r>
          </a:p>
        </p:txBody>
      </p:sp>
      <p:sp>
        <p:nvSpPr>
          <p:cNvPr id="34" name="Supervisor"/>
          <p:cNvSpPr>
            <a:spLocks noGrp="1"/>
          </p:cNvSpPr>
          <p:nvPr/>
        </p:nvSpPr>
        <p:spPr>
          <a:xfrm>
            <a:off x="435865" y="6099538"/>
            <a:ext cx="4470400" cy="5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r>
              <a:rPr lang="en-US" sz="1667" b="1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Supervisor:</a:t>
            </a:r>
            <a:r>
              <a:rPr lang="en-US" sz="1667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Dr. Ahmed Wasiu</a:t>
            </a:r>
            <a:r>
              <a:rPr lang="en-US" sz="1667" dirty="0">
                <a:solidFill>
                  <a:srgbClr val="999999"/>
                </a:solidFill>
                <a:latin typeface="Calibri"/>
                <a:ea typeface="Calibri"/>
                <a:cs typeface="Calibri"/>
              </a:rPr>
              <a:t>   |   </a:t>
            </a:r>
            <a:r>
              <a:rPr lang="en-US" sz="1667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June 2026</a:t>
            </a: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EC4B48A4-51DA-9894-4C29-2AB32072C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479912"/>
              </p:ext>
            </p:extLst>
          </p:nvPr>
        </p:nvGraphicFramePr>
        <p:xfrm>
          <a:off x="459234" y="2438882"/>
          <a:ext cx="7024365" cy="2613175"/>
        </p:xfrm>
        <a:graphic>
          <a:graphicData uri="http://schemas.openxmlformats.org/drawingml/2006/table">
            <a:tbl>
              <a:tblPr/>
              <a:tblGrid>
                <a:gridCol w="739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8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4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Ojerinde Joel Segun 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LS2525253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4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Mustapha Ibrahim Ishola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LS2525238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4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Ogunlade Joshua Oluwaseun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LS2525237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4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Ingeriyinkindi Claudine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LS2525236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4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Rashid Md Harun Or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LS2525219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694A371-FD8A-FEF7-772F-2F4847D7A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6165" y="303228"/>
            <a:ext cx="1649999" cy="1649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64C01F-3A20-86C7-CCB0-7D52A0200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5572" y="303228"/>
            <a:ext cx="1649999" cy="1649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2741F26-9F76-2535-5695-5F1AAF99DA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" y="12073"/>
            <a:ext cx="12191928" cy="6857928"/>
          </a:xfrm>
          <a:prstGeom prst="rect">
            <a:avLst/>
          </a:prstGeom>
        </p:spPr>
      </p:pic>
      <p:sp>
        <p:nvSpPr>
          <p:cNvPr id="6" name="TopBar">
            <a:extLst>
              <a:ext uri="{FF2B5EF4-FFF2-40B4-BE49-F238E27FC236}">
                <a16:creationId xmlns:a16="http://schemas.microsoft.com/office/drawing/2014/main" id="{A72337DF-7CC2-F677-A453-5C701B009B05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ottomAccent">
            <a:extLst>
              <a:ext uri="{FF2B5EF4-FFF2-40B4-BE49-F238E27FC236}">
                <a16:creationId xmlns:a16="http://schemas.microsoft.com/office/drawing/2014/main" id="{AC202FBB-01D3-1DF4-81D4-58C0215B7B4E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opLabel">
            <a:extLst>
              <a:ext uri="{FF2B5EF4-FFF2-40B4-BE49-F238E27FC236}">
                <a16:creationId xmlns:a16="http://schemas.microsoft.com/office/drawing/2014/main" id="{8A8E685F-3496-1C64-583B-B30F4C38B4AC}"/>
              </a:ext>
            </a:extLst>
          </p:cNvPr>
          <p:cNvSpPr>
            <a:spLocks noGrp="1"/>
          </p:cNvSpPr>
          <p:nvPr/>
        </p:nvSpPr>
        <p:spPr>
          <a:xfrm>
            <a:off x="1266668" y="66667"/>
            <a:ext cx="4705944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Table Of Contents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A2D7615-91A5-5B7D-8D50-C2D158AAF7B0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10" name="Shape 1">
              <a:extLst>
                <a:ext uri="{FF2B5EF4-FFF2-40B4-BE49-F238E27FC236}">
                  <a16:creationId xmlns:a16="http://schemas.microsoft.com/office/drawing/2014/main" id="{91AAFEE5-0E3F-6278-B1D9-41305189B660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5683B2BE-15F5-B953-D49C-A125F849BAE6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hape 5">
              <a:extLst>
                <a:ext uri="{FF2B5EF4-FFF2-40B4-BE49-F238E27FC236}">
                  <a16:creationId xmlns:a16="http://schemas.microsoft.com/office/drawing/2014/main" id="{7EFF7949-7879-5A7D-21EA-3D3D23F3A0E0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A20F3F37-D966-1810-F5FB-1342DE4660B2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AF9F318F-EB2A-14D4-0EE2-BE08174860C5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hape 8">
              <a:extLst>
                <a:ext uri="{FF2B5EF4-FFF2-40B4-BE49-F238E27FC236}">
                  <a16:creationId xmlns:a16="http://schemas.microsoft.com/office/drawing/2014/main" id="{0AE79F18-53A4-BBCD-F457-3BAE332C887A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DA0D6CFD-2293-7F76-0B24-D3477ACA2EFA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hape 10">
              <a:extLst>
                <a:ext uri="{FF2B5EF4-FFF2-40B4-BE49-F238E27FC236}">
                  <a16:creationId xmlns:a16="http://schemas.microsoft.com/office/drawing/2014/main" id="{B6F62D2B-3404-3D5B-317A-49729272E791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hape 11">
              <a:extLst>
                <a:ext uri="{FF2B5EF4-FFF2-40B4-BE49-F238E27FC236}">
                  <a16:creationId xmlns:a16="http://schemas.microsoft.com/office/drawing/2014/main" id="{A3879B62-A6B5-0E3F-231F-E89E2854DE07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hape 12">
              <a:extLst>
                <a:ext uri="{FF2B5EF4-FFF2-40B4-BE49-F238E27FC236}">
                  <a16:creationId xmlns:a16="http://schemas.microsoft.com/office/drawing/2014/main" id="{82B77148-9AA6-3B06-FF3A-56E7CDACA2B6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hape 13">
              <a:extLst>
                <a:ext uri="{FF2B5EF4-FFF2-40B4-BE49-F238E27FC236}">
                  <a16:creationId xmlns:a16="http://schemas.microsoft.com/office/drawing/2014/main" id="{1B634A46-95D0-CF03-31A3-23FE89830094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hape 14">
              <a:extLst>
                <a:ext uri="{FF2B5EF4-FFF2-40B4-BE49-F238E27FC236}">
                  <a16:creationId xmlns:a16="http://schemas.microsoft.com/office/drawing/2014/main" id="{52F8385B-F6D7-C2BC-97FE-BCFECFD330FA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F021CF3A-B5A8-F84A-B80C-950D20C69AB8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5391484B-EA8A-E14B-22DA-A16BA90ED753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43AFB869-720F-35AF-ED50-F8DC01E61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302A267B-39DA-BFDB-DA95-1357B7C5B822}"/>
              </a:ext>
            </a:extLst>
          </p:cNvPr>
          <p:cNvSpPr/>
          <p:nvPr/>
        </p:nvSpPr>
        <p:spPr>
          <a:xfrm>
            <a:off x="638520" y="948998"/>
            <a:ext cx="3454509" cy="16448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A87C9B96-F76E-3098-AA3B-B386F088B2E9}"/>
              </a:ext>
            </a:extLst>
          </p:cNvPr>
          <p:cNvSpPr/>
          <p:nvPr/>
        </p:nvSpPr>
        <p:spPr>
          <a:xfrm>
            <a:off x="1523252" y="1926792"/>
            <a:ext cx="1658992" cy="2903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ea typeface="Quattrocento Sans"/>
              </a:rPr>
              <a:t>The Problem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52" name="BottomBar">
            <a:extLst>
              <a:ext uri="{FF2B5EF4-FFF2-40B4-BE49-F238E27FC236}">
                <a16:creationId xmlns:a16="http://schemas.microsoft.com/office/drawing/2014/main" id="{3B5E691D-2720-4532-F637-3DC4BF9DF468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6084AA5-0355-5466-F49E-AB6EF50C48F8}"/>
              </a:ext>
            </a:extLst>
          </p:cNvPr>
          <p:cNvSpPr/>
          <p:nvPr/>
        </p:nvSpPr>
        <p:spPr>
          <a:xfrm>
            <a:off x="612788" y="2911432"/>
            <a:ext cx="3454509" cy="16448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1" name="Text 4">
            <a:extLst>
              <a:ext uri="{FF2B5EF4-FFF2-40B4-BE49-F238E27FC236}">
                <a16:creationId xmlns:a16="http://schemas.microsoft.com/office/drawing/2014/main" id="{910E52AB-6423-444E-5C8B-9D1FBD2375AE}"/>
              </a:ext>
            </a:extLst>
          </p:cNvPr>
          <p:cNvSpPr/>
          <p:nvPr/>
        </p:nvSpPr>
        <p:spPr>
          <a:xfrm>
            <a:off x="1814613" y="4082281"/>
            <a:ext cx="839013" cy="3016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ea typeface="Quattrocento Sans"/>
              </a:rPr>
              <a:t>Data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EF1A448-CA63-1815-DCB4-EC76D1F07418}"/>
              </a:ext>
            </a:extLst>
          </p:cNvPr>
          <p:cNvSpPr/>
          <p:nvPr/>
        </p:nvSpPr>
        <p:spPr>
          <a:xfrm>
            <a:off x="600021" y="4833593"/>
            <a:ext cx="3454509" cy="16448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62D4A714-67A3-9DF0-BA83-22665CD40AAA}"/>
              </a:ext>
            </a:extLst>
          </p:cNvPr>
          <p:cNvSpPr/>
          <p:nvPr/>
        </p:nvSpPr>
        <p:spPr>
          <a:xfrm>
            <a:off x="1464012" y="5883606"/>
            <a:ext cx="2053563" cy="3021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</a:rPr>
              <a:t>Methodology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E3D8539-0515-9EB1-157D-E1050795CE09}"/>
              </a:ext>
            </a:extLst>
          </p:cNvPr>
          <p:cNvSpPr/>
          <p:nvPr/>
        </p:nvSpPr>
        <p:spPr>
          <a:xfrm>
            <a:off x="4692978" y="948998"/>
            <a:ext cx="3454509" cy="16448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 4">
            <a:extLst>
              <a:ext uri="{FF2B5EF4-FFF2-40B4-BE49-F238E27FC236}">
                <a16:creationId xmlns:a16="http://schemas.microsoft.com/office/drawing/2014/main" id="{F50A6313-3B12-F110-FB42-3374C57537C3}"/>
              </a:ext>
            </a:extLst>
          </p:cNvPr>
          <p:cNvSpPr/>
          <p:nvPr/>
        </p:nvSpPr>
        <p:spPr>
          <a:xfrm>
            <a:off x="5452474" y="1975719"/>
            <a:ext cx="1755914" cy="2805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ea typeface="Quattrocento Sans"/>
              </a:rPr>
              <a:t>Results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F26FE35-7E92-D4CE-F019-58A6CB89D37F}"/>
              </a:ext>
            </a:extLst>
          </p:cNvPr>
          <p:cNvSpPr/>
          <p:nvPr/>
        </p:nvSpPr>
        <p:spPr>
          <a:xfrm>
            <a:off x="4667246" y="2911432"/>
            <a:ext cx="3454509" cy="16448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45450BA9-4D09-80FD-99D1-9839E26888F6}"/>
              </a:ext>
            </a:extLst>
          </p:cNvPr>
          <p:cNvSpPr/>
          <p:nvPr/>
        </p:nvSpPr>
        <p:spPr>
          <a:xfrm>
            <a:off x="4947118" y="4038396"/>
            <a:ext cx="3037309" cy="2853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1B3A5C"/>
                </a:solidFill>
                <a:ea typeface="Quattrocento Sans"/>
              </a:rPr>
              <a:t>EKF: From Prediction to Position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D189BCC-99EA-644B-DFD2-3E45FA18623D}"/>
              </a:ext>
            </a:extLst>
          </p:cNvPr>
          <p:cNvSpPr/>
          <p:nvPr/>
        </p:nvSpPr>
        <p:spPr>
          <a:xfrm>
            <a:off x="4654479" y="4833593"/>
            <a:ext cx="3454509" cy="16448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 4">
            <a:extLst>
              <a:ext uri="{FF2B5EF4-FFF2-40B4-BE49-F238E27FC236}">
                <a16:creationId xmlns:a16="http://schemas.microsoft.com/office/drawing/2014/main" id="{376F7C44-BE88-5E78-FF74-8A4015BA6082}"/>
              </a:ext>
            </a:extLst>
          </p:cNvPr>
          <p:cNvSpPr/>
          <p:nvPr/>
        </p:nvSpPr>
        <p:spPr>
          <a:xfrm>
            <a:off x="5331333" y="5824987"/>
            <a:ext cx="2675607" cy="2893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ea typeface="Quattrocento Sans"/>
              </a:rPr>
              <a:t>Novelty and Validation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EF57B8D-E226-DBFF-B308-AD531E0D064B}"/>
              </a:ext>
            </a:extLst>
          </p:cNvPr>
          <p:cNvSpPr/>
          <p:nvPr/>
        </p:nvSpPr>
        <p:spPr>
          <a:xfrm>
            <a:off x="8461739" y="948998"/>
            <a:ext cx="3454509" cy="16448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 4">
            <a:extLst>
              <a:ext uri="{FF2B5EF4-FFF2-40B4-BE49-F238E27FC236}">
                <a16:creationId xmlns:a16="http://schemas.microsoft.com/office/drawing/2014/main" id="{8E2008DE-7444-74EC-26AB-BA90F5DE33F8}"/>
              </a:ext>
            </a:extLst>
          </p:cNvPr>
          <p:cNvSpPr/>
          <p:nvPr/>
        </p:nvSpPr>
        <p:spPr>
          <a:xfrm>
            <a:off x="9674820" y="1946598"/>
            <a:ext cx="1643547" cy="3307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ea typeface="Quattrocento Sans"/>
              </a:rPr>
              <a:t>Deliverables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BD19A88-7763-B0BF-1DA8-92BD6A50633F}"/>
              </a:ext>
            </a:extLst>
          </p:cNvPr>
          <p:cNvSpPr/>
          <p:nvPr/>
        </p:nvSpPr>
        <p:spPr>
          <a:xfrm>
            <a:off x="8436007" y="2911432"/>
            <a:ext cx="3454509" cy="16448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82" name="Text 4">
            <a:extLst>
              <a:ext uri="{FF2B5EF4-FFF2-40B4-BE49-F238E27FC236}">
                <a16:creationId xmlns:a16="http://schemas.microsoft.com/office/drawing/2014/main" id="{CE7A2270-0879-4B52-1400-7DB1EF0278A1}"/>
              </a:ext>
            </a:extLst>
          </p:cNvPr>
          <p:cNvSpPr/>
          <p:nvPr/>
        </p:nvSpPr>
        <p:spPr>
          <a:xfrm>
            <a:off x="9620819" y="4003988"/>
            <a:ext cx="1327597" cy="2150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ea typeface="Quattrocento Sans"/>
              </a:rPr>
              <a:t>References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5" name="Card2IconBg">
            <a:extLst>
              <a:ext uri="{FF2B5EF4-FFF2-40B4-BE49-F238E27FC236}">
                <a16:creationId xmlns:a16="http://schemas.microsoft.com/office/drawing/2014/main" id="{3FD55A20-7ED7-EAF4-72D3-4F8D5E53EE4C}"/>
              </a:ext>
            </a:extLst>
          </p:cNvPr>
          <p:cNvSpPr/>
          <p:nvPr/>
        </p:nvSpPr>
        <p:spPr>
          <a:xfrm>
            <a:off x="1900785" y="1210065"/>
            <a:ext cx="666667" cy="666667"/>
          </a:xfrm>
          <a:prstGeom prst="ellipse">
            <a:avLst/>
          </a:prstGeom>
          <a:solidFill>
            <a:srgbClr val="E8F0FB"/>
          </a:solidFill>
          <a:ln w="19050">
            <a:solidFill>
              <a:srgbClr val="003893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003893"/>
                </a:solidFill>
              </a:rPr>
              <a:t>1</a:t>
            </a:r>
          </a:p>
        </p:txBody>
      </p:sp>
      <p:sp>
        <p:nvSpPr>
          <p:cNvPr id="24" name="Card2IconBg">
            <a:extLst>
              <a:ext uri="{FF2B5EF4-FFF2-40B4-BE49-F238E27FC236}">
                <a16:creationId xmlns:a16="http://schemas.microsoft.com/office/drawing/2014/main" id="{225332C2-4772-D57E-73D7-05B894E346B3}"/>
              </a:ext>
            </a:extLst>
          </p:cNvPr>
          <p:cNvSpPr/>
          <p:nvPr/>
        </p:nvSpPr>
        <p:spPr>
          <a:xfrm>
            <a:off x="1814613" y="5174761"/>
            <a:ext cx="666667" cy="666667"/>
          </a:xfrm>
          <a:prstGeom prst="ellipse">
            <a:avLst/>
          </a:prstGeom>
          <a:solidFill>
            <a:srgbClr val="E8F0FB"/>
          </a:solidFill>
          <a:ln w="19050">
            <a:solidFill>
              <a:srgbClr val="003893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003893"/>
                </a:solidFill>
              </a:rPr>
              <a:t>3</a:t>
            </a:r>
          </a:p>
        </p:txBody>
      </p:sp>
      <p:sp>
        <p:nvSpPr>
          <p:cNvPr id="25" name="Card2IconBg">
            <a:extLst>
              <a:ext uri="{FF2B5EF4-FFF2-40B4-BE49-F238E27FC236}">
                <a16:creationId xmlns:a16="http://schemas.microsoft.com/office/drawing/2014/main" id="{EA0F7963-C75C-51D0-14FE-EB02237FA07A}"/>
              </a:ext>
            </a:extLst>
          </p:cNvPr>
          <p:cNvSpPr/>
          <p:nvPr/>
        </p:nvSpPr>
        <p:spPr>
          <a:xfrm>
            <a:off x="6096000" y="5142268"/>
            <a:ext cx="666667" cy="666667"/>
          </a:xfrm>
          <a:prstGeom prst="ellipse">
            <a:avLst/>
          </a:prstGeom>
          <a:solidFill>
            <a:srgbClr val="E8F0FB"/>
          </a:solidFill>
          <a:ln w="19050">
            <a:solidFill>
              <a:srgbClr val="003893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003893"/>
                </a:solidFill>
              </a:rPr>
              <a:t>6</a:t>
            </a:r>
          </a:p>
        </p:txBody>
      </p:sp>
      <p:sp>
        <p:nvSpPr>
          <p:cNvPr id="26" name="Card2IconBg">
            <a:extLst>
              <a:ext uri="{FF2B5EF4-FFF2-40B4-BE49-F238E27FC236}">
                <a16:creationId xmlns:a16="http://schemas.microsoft.com/office/drawing/2014/main" id="{7702C6B8-3F10-63CC-7C99-EACF054D65A2}"/>
              </a:ext>
            </a:extLst>
          </p:cNvPr>
          <p:cNvSpPr/>
          <p:nvPr/>
        </p:nvSpPr>
        <p:spPr>
          <a:xfrm>
            <a:off x="6022613" y="3298108"/>
            <a:ext cx="666667" cy="666667"/>
          </a:xfrm>
          <a:prstGeom prst="ellipse">
            <a:avLst/>
          </a:prstGeom>
          <a:solidFill>
            <a:srgbClr val="E8F0FB"/>
          </a:solidFill>
          <a:ln w="19050">
            <a:solidFill>
              <a:srgbClr val="003893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003893"/>
                </a:solidFill>
              </a:rPr>
              <a:t>5</a:t>
            </a:r>
          </a:p>
        </p:txBody>
      </p:sp>
      <p:sp>
        <p:nvSpPr>
          <p:cNvPr id="27" name="Card2IconBg">
            <a:extLst>
              <a:ext uri="{FF2B5EF4-FFF2-40B4-BE49-F238E27FC236}">
                <a16:creationId xmlns:a16="http://schemas.microsoft.com/office/drawing/2014/main" id="{C1BF0C20-C9E0-5A96-A0EF-CD6F7E3FCDCA}"/>
              </a:ext>
            </a:extLst>
          </p:cNvPr>
          <p:cNvSpPr/>
          <p:nvPr/>
        </p:nvSpPr>
        <p:spPr>
          <a:xfrm>
            <a:off x="6002470" y="1267300"/>
            <a:ext cx="666667" cy="666667"/>
          </a:xfrm>
          <a:prstGeom prst="ellipse">
            <a:avLst/>
          </a:prstGeom>
          <a:solidFill>
            <a:srgbClr val="E8F0FB"/>
          </a:solidFill>
          <a:ln w="19050">
            <a:solidFill>
              <a:srgbClr val="003893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003893"/>
                </a:solidFill>
              </a:rPr>
              <a:t>4</a:t>
            </a:r>
          </a:p>
        </p:txBody>
      </p:sp>
      <p:sp>
        <p:nvSpPr>
          <p:cNvPr id="28" name="Card2IconBg">
            <a:extLst>
              <a:ext uri="{FF2B5EF4-FFF2-40B4-BE49-F238E27FC236}">
                <a16:creationId xmlns:a16="http://schemas.microsoft.com/office/drawing/2014/main" id="{86C066B9-7B06-689C-659C-4504EC4F8B03}"/>
              </a:ext>
            </a:extLst>
          </p:cNvPr>
          <p:cNvSpPr/>
          <p:nvPr/>
        </p:nvSpPr>
        <p:spPr>
          <a:xfrm>
            <a:off x="1859889" y="3261879"/>
            <a:ext cx="666667" cy="666667"/>
          </a:xfrm>
          <a:prstGeom prst="ellipse">
            <a:avLst/>
          </a:prstGeom>
          <a:solidFill>
            <a:srgbClr val="E8F0FB"/>
          </a:solidFill>
          <a:ln w="19050">
            <a:solidFill>
              <a:srgbClr val="003893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003893"/>
                </a:solidFill>
              </a:rPr>
              <a:t>2</a:t>
            </a:r>
          </a:p>
        </p:txBody>
      </p:sp>
      <p:sp>
        <p:nvSpPr>
          <p:cNvPr id="29" name="Card2IconBg">
            <a:extLst>
              <a:ext uri="{FF2B5EF4-FFF2-40B4-BE49-F238E27FC236}">
                <a16:creationId xmlns:a16="http://schemas.microsoft.com/office/drawing/2014/main" id="{163843C3-8B7C-23DD-7CF0-AE90D4627DBC}"/>
              </a:ext>
            </a:extLst>
          </p:cNvPr>
          <p:cNvSpPr/>
          <p:nvPr/>
        </p:nvSpPr>
        <p:spPr>
          <a:xfrm>
            <a:off x="9957815" y="1284180"/>
            <a:ext cx="666667" cy="666667"/>
          </a:xfrm>
          <a:prstGeom prst="ellipse">
            <a:avLst/>
          </a:prstGeom>
          <a:solidFill>
            <a:srgbClr val="E8F0FB"/>
          </a:solidFill>
          <a:ln w="19050">
            <a:solidFill>
              <a:srgbClr val="003893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003893"/>
                </a:solidFill>
              </a:rPr>
              <a:t>7</a:t>
            </a:r>
          </a:p>
        </p:txBody>
      </p:sp>
      <p:sp>
        <p:nvSpPr>
          <p:cNvPr id="30" name="Card2IconBg">
            <a:extLst>
              <a:ext uri="{FF2B5EF4-FFF2-40B4-BE49-F238E27FC236}">
                <a16:creationId xmlns:a16="http://schemas.microsoft.com/office/drawing/2014/main" id="{4EABFF9F-5185-3B10-6494-37738AF2D460}"/>
              </a:ext>
            </a:extLst>
          </p:cNvPr>
          <p:cNvSpPr/>
          <p:nvPr/>
        </p:nvSpPr>
        <p:spPr>
          <a:xfrm>
            <a:off x="9829927" y="3347269"/>
            <a:ext cx="666667" cy="666667"/>
          </a:xfrm>
          <a:prstGeom prst="ellipse">
            <a:avLst/>
          </a:prstGeom>
          <a:solidFill>
            <a:srgbClr val="E8F0FB"/>
          </a:solidFill>
          <a:ln w="19050">
            <a:solidFill>
              <a:srgbClr val="003893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003893"/>
                </a:solidFill>
              </a:rPr>
              <a:t>8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 dirty="0">
                <a:solidFill>
                  <a:srgbClr val="FFFFFF"/>
                </a:solidFill>
                <a:latin typeface="Calibri"/>
              </a:rPr>
              <a:t>1 ·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C0F06-5715-8690-7533-802B7029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A0CA6B56-D9E5-98C4-92D0-A42D289857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" y="12073"/>
            <a:ext cx="12191928" cy="6857928"/>
          </a:xfrm>
          <a:prstGeom prst="rect">
            <a:avLst/>
          </a:prstGeom>
        </p:spPr>
      </p:pic>
      <p:sp>
        <p:nvSpPr>
          <p:cNvPr id="2" name="TopBar">
            <a:extLst>
              <a:ext uri="{FF2B5EF4-FFF2-40B4-BE49-F238E27FC236}">
                <a16:creationId xmlns:a16="http://schemas.microsoft.com/office/drawing/2014/main" id="{7D3A872F-6DCF-FF75-EB98-4F4737D9E524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opAccent">
            <a:extLst>
              <a:ext uri="{FF2B5EF4-FFF2-40B4-BE49-F238E27FC236}">
                <a16:creationId xmlns:a16="http://schemas.microsoft.com/office/drawing/2014/main" id="{6B5EA038-394A-E637-0F3D-0F2517CCFDA2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BottomBar">
            <a:extLst>
              <a:ext uri="{FF2B5EF4-FFF2-40B4-BE49-F238E27FC236}">
                <a16:creationId xmlns:a16="http://schemas.microsoft.com/office/drawing/2014/main" id="{95E545B2-5088-1756-47CA-76F4E43DAAE9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ottomAccent">
            <a:extLst>
              <a:ext uri="{FF2B5EF4-FFF2-40B4-BE49-F238E27FC236}">
                <a16:creationId xmlns:a16="http://schemas.microsoft.com/office/drawing/2014/main" id="{73CD07C8-B66F-4DD7-A0E9-96DB9A61EBD4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LogoTab">
            <a:extLst>
              <a:ext uri="{FF2B5EF4-FFF2-40B4-BE49-F238E27FC236}">
                <a16:creationId xmlns:a16="http://schemas.microsoft.com/office/drawing/2014/main" id="{6183C85B-8E83-D361-41F9-8A8CCD51FCCF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Logo">
            <a:extLst>
              <a:ext uri="{FF2B5EF4-FFF2-40B4-BE49-F238E27FC236}">
                <a16:creationId xmlns:a16="http://schemas.microsoft.com/office/drawing/2014/main" id="{68F8DE80-08E1-801F-C04A-113E0D039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0" name="TopLabel">
            <a:extLst>
              <a:ext uri="{FF2B5EF4-FFF2-40B4-BE49-F238E27FC236}">
                <a16:creationId xmlns:a16="http://schemas.microsoft.com/office/drawing/2014/main" id="{0BB26A96-3F12-4A3C-5185-90F9E70FB6D8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33" name="Intro">
            <a:extLst>
              <a:ext uri="{FF2B5EF4-FFF2-40B4-BE49-F238E27FC236}">
                <a16:creationId xmlns:a16="http://schemas.microsoft.com/office/drawing/2014/main" id="{FA29D90A-06CE-5433-31C5-1F50203DDD83}"/>
              </a:ext>
            </a:extLst>
          </p:cNvPr>
          <p:cNvSpPr>
            <a:spLocks noGrp="1"/>
          </p:cNvSpPr>
          <p:nvPr/>
        </p:nvSpPr>
        <p:spPr>
          <a:xfrm>
            <a:off x="609600" y="948325"/>
            <a:ext cx="109728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GNSS is the </a:t>
            </a:r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primary absolute-positioning sensor</a:t>
            </a:r>
            <a:r>
              <a:rPr lang="en-US" sz="2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for autonomous vehicles, yet it fails </a:t>
            </a:r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predictably and frequently</a:t>
            </a:r>
            <a:r>
              <a:rPr lang="en-US" sz="2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in the environments AVs operate in.</a:t>
            </a:r>
          </a:p>
        </p:txBody>
      </p:sp>
      <p:sp>
        <p:nvSpPr>
          <p:cNvPr id="40" name="Card0Bg">
            <a:extLst>
              <a:ext uri="{FF2B5EF4-FFF2-40B4-BE49-F238E27FC236}">
                <a16:creationId xmlns:a16="http://schemas.microsoft.com/office/drawing/2014/main" id="{C6FCEFEB-EE8A-295C-1C56-2A6713D1E670}"/>
              </a:ext>
            </a:extLst>
          </p:cNvPr>
          <p:cNvSpPr/>
          <p:nvPr/>
        </p:nvSpPr>
        <p:spPr>
          <a:xfrm>
            <a:off x="609600" y="1872133"/>
            <a:ext cx="3493333" cy="3893333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ard0Strip">
            <a:extLst>
              <a:ext uri="{FF2B5EF4-FFF2-40B4-BE49-F238E27FC236}">
                <a16:creationId xmlns:a16="http://schemas.microsoft.com/office/drawing/2014/main" id="{91082F18-454B-0092-EFF2-AFEACD89A78E}"/>
              </a:ext>
            </a:extLst>
          </p:cNvPr>
          <p:cNvSpPr/>
          <p:nvPr/>
        </p:nvSpPr>
        <p:spPr>
          <a:xfrm>
            <a:off x="609600" y="1872133"/>
            <a:ext cx="3493333" cy="12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Card0IconBg">
            <a:extLst>
              <a:ext uri="{FF2B5EF4-FFF2-40B4-BE49-F238E27FC236}">
                <a16:creationId xmlns:a16="http://schemas.microsoft.com/office/drawing/2014/main" id="{F6FB9A0B-31A7-22D1-7556-B34768E251BB}"/>
              </a:ext>
            </a:extLst>
          </p:cNvPr>
          <p:cNvSpPr/>
          <p:nvPr/>
        </p:nvSpPr>
        <p:spPr>
          <a:xfrm>
            <a:off x="849600" y="2165466"/>
            <a:ext cx="666667" cy="666667"/>
          </a:xfrm>
          <a:prstGeom prst="ellipse">
            <a:avLst/>
          </a:prstGeom>
          <a:solidFill>
            <a:srgbClr val="FDECEA"/>
          </a:solidFill>
          <a:ln w="19050">
            <a:solidFill>
              <a:srgbClr val="C62828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C62828"/>
                </a:solidFill>
              </a:rPr>
              <a:t>1</a:t>
            </a:r>
          </a:p>
        </p:txBody>
      </p:sp>
      <p:sp>
        <p:nvSpPr>
          <p:cNvPr id="43" name="Card0Title">
            <a:extLst>
              <a:ext uri="{FF2B5EF4-FFF2-40B4-BE49-F238E27FC236}">
                <a16:creationId xmlns:a16="http://schemas.microsoft.com/office/drawing/2014/main" id="{BA1D4CA3-6D7A-C42B-7945-A4CB330E80E1}"/>
              </a:ext>
            </a:extLst>
          </p:cNvPr>
          <p:cNvSpPr>
            <a:spLocks noGrp="1"/>
          </p:cNvSpPr>
          <p:nvPr/>
        </p:nvSpPr>
        <p:spPr>
          <a:xfrm>
            <a:off x="1582933" y="2178800"/>
            <a:ext cx="236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ctr">
            <a:normAutofit/>
          </a:bodyPr>
          <a:lstStyle/>
          <a:p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Urban Canyons</a:t>
            </a:r>
          </a:p>
        </p:txBody>
      </p:sp>
      <p:sp>
        <p:nvSpPr>
          <p:cNvPr id="44" name="Card0Body">
            <a:extLst>
              <a:ext uri="{FF2B5EF4-FFF2-40B4-BE49-F238E27FC236}">
                <a16:creationId xmlns:a16="http://schemas.microsoft.com/office/drawing/2014/main" id="{B6DF3BBB-9EC3-E6BD-5E45-BA201BE0848D}"/>
              </a:ext>
            </a:extLst>
          </p:cNvPr>
          <p:cNvSpPr>
            <a:spLocks noGrp="1"/>
          </p:cNvSpPr>
          <p:nvPr/>
        </p:nvSpPr>
        <p:spPr>
          <a:xfrm>
            <a:off x="849600" y="3005466"/>
            <a:ext cx="3013333" cy="126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Tall buildings block and reflect satellite signals. Multipath errors corrupt range measurements.</a:t>
            </a:r>
          </a:p>
        </p:txBody>
      </p:sp>
      <p:sp>
        <p:nvSpPr>
          <p:cNvPr id="45" name="Card0Detail">
            <a:extLst>
              <a:ext uri="{FF2B5EF4-FFF2-40B4-BE49-F238E27FC236}">
                <a16:creationId xmlns:a16="http://schemas.microsoft.com/office/drawing/2014/main" id="{FE6BA089-A40A-C3D0-EDB4-B70F35CA7893}"/>
              </a:ext>
            </a:extLst>
          </p:cNvPr>
          <p:cNvSpPr>
            <a:spLocks noGrp="1"/>
          </p:cNvSpPr>
          <p:nvPr/>
        </p:nvSpPr>
        <p:spPr>
          <a:xfrm>
            <a:off x="849599" y="4181400"/>
            <a:ext cx="3013333" cy="133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Position jumps of 10-50 m occur silently, the receiver continues reporting a “fix” even as accuracy collapses.</a:t>
            </a:r>
          </a:p>
        </p:txBody>
      </p:sp>
      <p:sp>
        <p:nvSpPr>
          <p:cNvPr id="46" name="Card1Bg">
            <a:extLst>
              <a:ext uri="{FF2B5EF4-FFF2-40B4-BE49-F238E27FC236}">
                <a16:creationId xmlns:a16="http://schemas.microsoft.com/office/drawing/2014/main" id="{7A73F685-5147-2CAD-259C-B26125B1B729}"/>
              </a:ext>
            </a:extLst>
          </p:cNvPr>
          <p:cNvSpPr/>
          <p:nvPr/>
        </p:nvSpPr>
        <p:spPr>
          <a:xfrm>
            <a:off x="4276267" y="1872133"/>
            <a:ext cx="3493333" cy="3893333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Card1Strip">
            <a:extLst>
              <a:ext uri="{FF2B5EF4-FFF2-40B4-BE49-F238E27FC236}">
                <a16:creationId xmlns:a16="http://schemas.microsoft.com/office/drawing/2014/main" id="{F3F8F523-99C7-DFCC-D633-37563F7C1446}"/>
              </a:ext>
            </a:extLst>
          </p:cNvPr>
          <p:cNvSpPr/>
          <p:nvPr/>
        </p:nvSpPr>
        <p:spPr>
          <a:xfrm>
            <a:off x="4276267" y="1872133"/>
            <a:ext cx="3493333" cy="1200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Card1IconBg">
            <a:extLst>
              <a:ext uri="{FF2B5EF4-FFF2-40B4-BE49-F238E27FC236}">
                <a16:creationId xmlns:a16="http://schemas.microsoft.com/office/drawing/2014/main" id="{9D53E266-4A27-1CB5-45DF-86AE8A71F29E}"/>
              </a:ext>
            </a:extLst>
          </p:cNvPr>
          <p:cNvSpPr/>
          <p:nvPr/>
        </p:nvSpPr>
        <p:spPr>
          <a:xfrm>
            <a:off x="4516267" y="2165466"/>
            <a:ext cx="666667" cy="666667"/>
          </a:xfrm>
          <a:prstGeom prst="ellipse">
            <a:avLst/>
          </a:prstGeom>
          <a:solidFill>
            <a:srgbClr val="FFF8E1"/>
          </a:solidFill>
          <a:ln w="19050">
            <a:solidFill>
              <a:srgbClr val="F57F17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F57F17"/>
                </a:solidFill>
              </a:rPr>
              <a:t>2</a:t>
            </a:r>
          </a:p>
        </p:txBody>
      </p:sp>
      <p:sp>
        <p:nvSpPr>
          <p:cNvPr id="49" name="Card1Title">
            <a:extLst>
              <a:ext uri="{FF2B5EF4-FFF2-40B4-BE49-F238E27FC236}">
                <a16:creationId xmlns:a16="http://schemas.microsoft.com/office/drawing/2014/main" id="{1D52987F-7C33-65E5-CF46-89904C276C3E}"/>
              </a:ext>
            </a:extLst>
          </p:cNvPr>
          <p:cNvSpPr>
            <a:spLocks noGrp="1"/>
          </p:cNvSpPr>
          <p:nvPr/>
        </p:nvSpPr>
        <p:spPr>
          <a:xfrm>
            <a:off x="5249599" y="2178800"/>
            <a:ext cx="2816715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ctr">
            <a:normAutofit/>
          </a:bodyPr>
          <a:lstStyle/>
          <a:p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Tunnels &amp; Underpasses</a:t>
            </a:r>
          </a:p>
        </p:txBody>
      </p:sp>
      <p:sp>
        <p:nvSpPr>
          <p:cNvPr id="50" name="Card1Body">
            <a:extLst>
              <a:ext uri="{FF2B5EF4-FFF2-40B4-BE49-F238E27FC236}">
                <a16:creationId xmlns:a16="http://schemas.microsoft.com/office/drawing/2014/main" id="{0ED4BF6E-1C00-8C71-581A-B8B925428D65}"/>
              </a:ext>
            </a:extLst>
          </p:cNvPr>
          <p:cNvSpPr>
            <a:spLocks noGrp="1"/>
          </p:cNvSpPr>
          <p:nvPr/>
        </p:nvSpPr>
        <p:spPr>
          <a:xfrm>
            <a:off x="4516267" y="3005467"/>
            <a:ext cx="3013333" cy="813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Complete signal blockage causes instantaneous position loss.</a:t>
            </a:r>
          </a:p>
        </p:txBody>
      </p:sp>
      <p:sp>
        <p:nvSpPr>
          <p:cNvPr id="51" name="Card1Detail">
            <a:extLst>
              <a:ext uri="{FF2B5EF4-FFF2-40B4-BE49-F238E27FC236}">
                <a16:creationId xmlns:a16="http://schemas.microsoft.com/office/drawing/2014/main" id="{95BAEA96-D700-B5D2-6F71-4444800C4D9C}"/>
              </a:ext>
            </a:extLst>
          </p:cNvPr>
          <p:cNvSpPr>
            <a:spLocks noGrp="1"/>
          </p:cNvSpPr>
          <p:nvPr/>
        </p:nvSpPr>
        <p:spPr>
          <a:xfrm>
            <a:off x="4462828" y="4013792"/>
            <a:ext cx="3013333" cy="16685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A reactive system detects failure only after the vehicle has entered the tunnel, too late to plan a safe response or engage backup localization.</a:t>
            </a:r>
          </a:p>
        </p:txBody>
      </p:sp>
      <p:sp>
        <p:nvSpPr>
          <p:cNvPr id="52" name="Card2Bg">
            <a:extLst>
              <a:ext uri="{FF2B5EF4-FFF2-40B4-BE49-F238E27FC236}">
                <a16:creationId xmlns:a16="http://schemas.microsoft.com/office/drawing/2014/main" id="{E97E349B-C539-6DBC-C43E-B0407E717BBB}"/>
              </a:ext>
            </a:extLst>
          </p:cNvPr>
          <p:cNvSpPr/>
          <p:nvPr/>
        </p:nvSpPr>
        <p:spPr>
          <a:xfrm>
            <a:off x="7945202" y="1872133"/>
            <a:ext cx="3493333" cy="3893333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Card2Strip">
            <a:extLst>
              <a:ext uri="{FF2B5EF4-FFF2-40B4-BE49-F238E27FC236}">
                <a16:creationId xmlns:a16="http://schemas.microsoft.com/office/drawing/2014/main" id="{3470156D-48A4-CB36-4766-4886C3306133}"/>
              </a:ext>
            </a:extLst>
          </p:cNvPr>
          <p:cNvSpPr/>
          <p:nvPr/>
        </p:nvSpPr>
        <p:spPr>
          <a:xfrm>
            <a:off x="7942934" y="1872133"/>
            <a:ext cx="3493333" cy="120000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Card2IconBg">
            <a:extLst>
              <a:ext uri="{FF2B5EF4-FFF2-40B4-BE49-F238E27FC236}">
                <a16:creationId xmlns:a16="http://schemas.microsoft.com/office/drawing/2014/main" id="{961120CA-D38F-7AE4-9F13-E29FF7A9211A}"/>
              </a:ext>
            </a:extLst>
          </p:cNvPr>
          <p:cNvSpPr/>
          <p:nvPr/>
        </p:nvSpPr>
        <p:spPr>
          <a:xfrm>
            <a:off x="8182933" y="2165466"/>
            <a:ext cx="666667" cy="666667"/>
          </a:xfrm>
          <a:prstGeom prst="ellipse">
            <a:avLst/>
          </a:prstGeom>
          <a:solidFill>
            <a:srgbClr val="E8F0FB"/>
          </a:solidFill>
          <a:ln w="19050">
            <a:solidFill>
              <a:srgbClr val="003893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003893"/>
                </a:solidFill>
              </a:rPr>
              <a:t>3</a:t>
            </a:r>
          </a:p>
        </p:txBody>
      </p:sp>
      <p:sp>
        <p:nvSpPr>
          <p:cNvPr id="55" name="Card2Title">
            <a:extLst>
              <a:ext uri="{FF2B5EF4-FFF2-40B4-BE49-F238E27FC236}">
                <a16:creationId xmlns:a16="http://schemas.microsoft.com/office/drawing/2014/main" id="{AFB6B867-8D10-5489-94F6-01CFC60B4B1A}"/>
              </a:ext>
            </a:extLst>
          </p:cNvPr>
          <p:cNvSpPr>
            <a:spLocks noGrp="1"/>
          </p:cNvSpPr>
          <p:nvPr/>
        </p:nvSpPr>
        <p:spPr>
          <a:xfrm>
            <a:off x="8916267" y="2178800"/>
            <a:ext cx="236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ctr">
            <a:normAutofit/>
          </a:bodyPr>
          <a:lstStyle/>
          <a:p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Atmospheric Effects</a:t>
            </a:r>
          </a:p>
        </p:txBody>
      </p:sp>
      <p:sp>
        <p:nvSpPr>
          <p:cNvPr id="56" name="Card2Body">
            <a:extLst>
              <a:ext uri="{FF2B5EF4-FFF2-40B4-BE49-F238E27FC236}">
                <a16:creationId xmlns:a16="http://schemas.microsoft.com/office/drawing/2014/main" id="{5EA8C9A0-E9A7-643D-6A24-B0538BF64882}"/>
              </a:ext>
            </a:extLst>
          </p:cNvPr>
          <p:cNvSpPr>
            <a:spLocks noGrp="1"/>
          </p:cNvSpPr>
          <p:nvPr/>
        </p:nvSpPr>
        <p:spPr>
          <a:xfrm>
            <a:off x="8182934" y="3005466"/>
            <a:ext cx="3013333" cy="126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Ionospheric and tropospheric disturbances degrade range accuracy across wide areas.</a:t>
            </a:r>
          </a:p>
        </p:txBody>
      </p:sp>
      <p:sp>
        <p:nvSpPr>
          <p:cNvPr id="57" name="Card2Detail">
            <a:extLst>
              <a:ext uri="{FF2B5EF4-FFF2-40B4-BE49-F238E27FC236}">
                <a16:creationId xmlns:a16="http://schemas.microsoft.com/office/drawing/2014/main" id="{2E49CC50-AEC5-31AC-025F-367FF16CF0DD}"/>
              </a:ext>
            </a:extLst>
          </p:cNvPr>
          <p:cNvSpPr>
            <a:spLocks noGrp="1"/>
          </p:cNvSpPr>
          <p:nvPr/>
        </p:nvSpPr>
        <p:spPr>
          <a:xfrm>
            <a:off x="8180141" y="4172722"/>
            <a:ext cx="3013333" cy="133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Effects are gradual and harder to detect, DOP and C/N₀ drift slowly before the solution quality degrades.</a:t>
            </a:r>
          </a:p>
        </p:txBody>
      </p:sp>
      <p:sp>
        <p:nvSpPr>
          <p:cNvPr id="80" name="CoreBg">
            <a:extLst>
              <a:ext uri="{FF2B5EF4-FFF2-40B4-BE49-F238E27FC236}">
                <a16:creationId xmlns:a16="http://schemas.microsoft.com/office/drawing/2014/main" id="{B48C156B-641F-30A4-A0E6-DDE8789BB52C}"/>
              </a:ext>
            </a:extLst>
          </p:cNvPr>
          <p:cNvSpPr/>
          <p:nvPr/>
        </p:nvSpPr>
        <p:spPr>
          <a:xfrm>
            <a:off x="609600" y="5938799"/>
            <a:ext cx="10828935" cy="530299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CoreText">
            <a:extLst>
              <a:ext uri="{FF2B5EF4-FFF2-40B4-BE49-F238E27FC236}">
                <a16:creationId xmlns:a16="http://schemas.microsoft.com/office/drawing/2014/main" id="{6E0CC040-41AD-8640-E590-3A23D39EC651}"/>
              </a:ext>
            </a:extLst>
          </p:cNvPr>
          <p:cNvSpPr>
            <a:spLocks noGrp="1"/>
          </p:cNvSpPr>
          <p:nvPr/>
        </p:nvSpPr>
        <p:spPr>
          <a:xfrm>
            <a:off x="564381" y="5967777"/>
            <a:ext cx="10972800" cy="426667"/>
          </a:xfrm>
          <a:prstGeom prst="rect">
            <a:avLst/>
          </a:prstGeom>
          <a:noFill/>
          <a:ln>
            <a:noFill/>
          </a:ln>
        </p:spPr>
        <p:txBody>
          <a:bodyPr wrap="square" lIns="266667" tIns="0" rIns="266667" bIns="0" rtlCol="0" anchor="ctr">
            <a:normAutofit fontScale="85000" lnSpcReduction="10000"/>
          </a:bodyPr>
          <a:lstStyle/>
          <a:p>
            <a:pPr algn="ctr">
              <a:lnSpc>
                <a:spcPct val="160000"/>
              </a:lnSpc>
            </a:pPr>
            <a:r>
              <a:rPr lang="en-US" sz="1400" b="1" dirty="0">
                <a:solidFill>
                  <a:srgbClr val="4FC3F7"/>
                </a:solidFill>
                <a:latin typeface="Calibri"/>
                <a:ea typeface="Calibri"/>
                <a:cs typeface="Calibri"/>
              </a:rPr>
              <a:t>Core Problem: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All 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existing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monitors (RTKLIB Q-codes, RAIM, ML classifiers) are </a:t>
            </a: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REACTIVE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-  autonomous vehicles need </a:t>
            </a: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advance warning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to respond safely.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5F7016-4AF0-63EF-3859-7B606FEA03E1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9B34594A-88CA-A221-5B65-5854DC54E69B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09233E48-A9A8-0C14-3244-ADCB22987695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CBF101A3-3272-8422-73BC-68EF8F42A6F7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81BBA983-6BA7-ACA3-116A-F73F2285FE6A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757D680B-35C4-2C17-7910-15851BF64C3E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C7AE08F5-C177-C809-057F-62E319EC4D22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C9D57033-090C-A435-E219-2B6EC4588BFB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3BC5B016-B3F3-E27B-639F-CD5536FCF7DB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536AA1E6-DCE1-903B-457A-3F5A1BFB3745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29FC4A87-9B4C-186B-BB18-D416D483D1A0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60E85A59-F2FF-4B81-63FF-B145847B0439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17D24CDC-6D40-C94A-079D-6214C7FC44F2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DD523AAC-12EC-E31E-2892-FA4D394AE233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6F5FC13E-E3C4-191B-C06C-57CCDD4033DD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57C549D-AB0A-42DE-77C4-BD0ED565B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21409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11EB2792-E0EE-D051-CB00-59BD56AF9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" y="7330"/>
            <a:ext cx="12191928" cy="6857928"/>
          </a:xfrm>
          <a:prstGeom prst="rect">
            <a:avLst/>
          </a:prstGeom>
        </p:spPr>
      </p:pic>
      <p:sp>
        <p:nvSpPr>
          <p:cNvPr id="2" name="TopBar"/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opAccent"/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BottomBar"/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LogoTab"/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0" name="TopLabel"/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60007CD-EDFA-F4C1-AE6F-744A862E5A4A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3407758C-2DAB-BF49-E11D-B3D1F82E1DC8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4F87558A-751E-8471-93D8-B0402FD66BC9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FDF6E289-E263-8344-0113-57C26545F6E6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697E0A82-E7EC-E55B-F226-DB53E1316FD7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AD066CF0-7FFA-1ED6-60ED-51AC443AE339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0C434B2D-F4FB-DDA3-B093-CB01B49D6FB0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AE18E06B-2B4A-2DC9-9F7A-49941E7BAB27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01594319-4198-2DBD-F688-57E54D886C49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537CD7D3-A50D-A2EB-265F-911F9224A9E5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A43F0261-3E6E-0036-647A-6BFEAE3BF18E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B9942C48-995C-2906-B1CF-D9E953934F04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D0B32104-BFC2-20F9-B103-8602FE2B93B4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ED38DEBB-8F4E-276D-46FD-A189B54485B7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7FAFAD18-1042-0D68-1AD3-09DABD4CE6C5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90F76EC-1277-44AB-2FEE-E1BB2E5A0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742DB0B4-3699-A86B-F3A0-942C5E757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72" y="799170"/>
            <a:ext cx="11566113" cy="57874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2 ·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2408" y="-24618"/>
            <a:ext cx="12204408" cy="6857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1927" y="1213254"/>
            <a:ext cx="10988117" cy="46585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04000"/>
              </a:lnSpc>
            </a:pPr>
            <a:endParaRPr lang="en-US" sz="3336" dirty="0"/>
          </a:p>
        </p:txBody>
      </p:sp>
      <p:sp>
        <p:nvSpPr>
          <p:cNvPr id="12" name="Shape 8"/>
          <p:cNvSpPr/>
          <p:nvPr/>
        </p:nvSpPr>
        <p:spPr>
          <a:xfrm>
            <a:off x="761928" y="2182407"/>
            <a:ext cx="6195073" cy="3555928"/>
          </a:xfrm>
          <a:prstGeom prst="roundRect">
            <a:avLst>
              <a:gd name="adj" fmla="val 2500"/>
            </a:avLst>
          </a:prstGeom>
          <a:ln/>
          <a:effectLst>
            <a:outerShdw blurRad="381000" dist="133350" dir="5400000" algn="bl" rotWithShape="0">
              <a:srgbClr val="002A6E">
                <a:alpha val="5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379666" y="5632405"/>
            <a:ext cx="6959596" cy="31975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600" b="1" kern="0" spc="32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149,662 </a:t>
            </a:r>
            <a:r>
              <a:rPr lang="en-US" sz="1600" kern="0" spc="32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labelled epochs · one unified 3-class schema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671173" y="1076490"/>
            <a:ext cx="1511227" cy="3744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3100" b="1" kern="0" spc="-63" dirty="0">
                <a:solidFill>
                  <a:srgbClr val="003893"/>
                </a:solidFill>
                <a:latin typeface="IBM Plex Mono" pitchFamily="34" charset="0"/>
              </a:rPr>
              <a:t>3</a:t>
            </a:r>
            <a:endParaRPr lang="en-US" sz="3100" dirty="0"/>
          </a:p>
        </p:txBody>
      </p:sp>
      <p:sp>
        <p:nvSpPr>
          <p:cNvPr id="16" name="Text 11"/>
          <p:cNvSpPr/>
          <p:nvPr/>
        </p:nvSpPr>
        <p:spPr>
          <a:xfrm>
            <a:off x="8397498" y="1023531"/>
            <a:ext cx="1546432" cy="286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Cities collected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97499" y="1382000"/>
            <a:ext cx="2862835" cy="9198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b="1" kern="0" spc="25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Hangzhou · Hong Kong · Tokyo </a:t>
            </a:r>
            <a:endParaRPr lang="en-US" sz="1200" b="1" dirty="0"/>
          </a:p>
        </p:txBody>
      </p:sp>
      <p:sp>
        <p:nvSpPr>
          <p:cNvPr id="18" name="Shape 13"/>
          <p:cNvSpPr/>
          <p:nvPr/>
        </p:nvSpPr>
        <p:spPr>
          <a:xfrm>
            <a:off x="7299857" y="2243009"/>
            <a:ext cx="4130073" cy="6351"/>
          </a:xfrm>
          <a:prstGeom prst="rect">
            <a:avLst/>
          </a:prstGeom>
          <a:solidFill>
            <a:srgbClr val="CDD9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4"/>
          <p:cNvSpPr/>
          <p:nvPr/>
        </p:nvSpPr>
        <p:spPr>
          <a:xfrm>
            <a:off x="7695170" y="2083635"/>
            <a:ext cx="1511227" cy="379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31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r>
              <a:rPr lang="en-US" sz="17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endParaRPr lang="en-US" sz="3100" dirty="0"/>
          </a:p>
        </p:txBody>
      </p:sp>
      <p:sp>
        <p:nvSpPr>
          <p:cNvPr id="20" name="Text 15"/>
          <p:cNvSpPr/>
          <p:nvPr/>
        </p:nvSpPr>
        <p:spPr>
          <a:xfrm>
            <a:off x="8397499" y="2041011"/>
            <a:ext cx="1462444" cy="26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Receiver types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97500" y="2280512"/>
            <a:ext cx="2952577" cy="67110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b="1" kern="0" spc="25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survey-grade → consumer phone</a:t>
            </a:r>
            <a:endParaRPr lang="en-US" sz="1200" b="1" dirty="0"/>
          </a:p>
        </p:txBody>
      </p:sp>
      <p:sp>
        <p:nvSpPr>
          <p:cNvPr id="22" name="Shape 17"/>
          <p:cNvSpPr/>
          <p:nvPr/>
        </p:nvSpPr>
        <p:spPr>
          <a:xfrm>
            <a:off x="7299857" y="2727527"/>
            <a:ext cx="4130073" cy="6351"/>
          </a:xfrm>
          <a:prstGeom prst="rect">
            <a:avLst/>
          </a:prstGeom>
          <a:solidFill>
            <a:srgbClr val="CDD9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8"/>
          <p:cNvSpPr/>
          <p:nvPr/>
        </p:nvSpPr>
        <p:spPr>
          <a:xfrm>
            <a:off x="7671173" y="3027849"/>
            <a:ext cx="1579585" cy="379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31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3100" dirty="0"/>
          </a:p>
        </p:txBody>
      </p:sp>
      <p:sp>
        <p:nvSpPr>
          <p:cNvPr id="24" name="Text 19"/>
          <p:cNvSpPr/>
          <p:nvPr/>
        </p:nvSpPr>
        <p:spPr>
          <a:xfrm>
            <a:off x="8397499" y="3007604"/>
            <a:ext cx="2410711" cy="295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Degradation scenarios A-E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397500" y="3283218"/>
            <a:ext cx="2749377" cy="48202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b="1" kern="0" spc="25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blockage · canyon · partial · open · approaching</a:t>
            </a:r>
            <a:endParaRPr lang="en-US" sz="1200" b="1" dirty="0"/>
          </a:p>
        </p:txBody>
      </p:sp>
      <p:sp>
        <p:nvSpPr>
          <p:cNvPr id="27" name="Text 22"/>
          <p:cNvSpPr/>
          <p:nvPr/>
        </p:nvSpPr>
        <p:spPr>
          <a:xfrm>
            <a:off x="7671172" y="4145574"/>
            <a:ext cx="1511227" cy="379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31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r>
              <a:rPr lang="en-US" sz="17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3100" dirty="0"/>
          </a:p>
        </p:txBody>
      </p:sp>
      <p:sp>
        <p:nvSpPr>
          <p:cNvPr id="28" name="Text 23"/>
          <p:cNvSpPr/>
          <p:nvPr/>
        </p:nvSpPr>
        <p:spPr>
          <a:xfrm>
            <a:off x="8397500" y="4136801"/>
            <a:ext cx="2112413" cy="336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Sampling cadence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397500" y="4410555"/>
            <a:ext cx="2221057" cy="3107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b="1" kern="0" spc="25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RINEX + NMEA per epoch</a:t>
            </a:r>
            <a:endParaRPr lang="en-US" sz="1200" b="1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71C799-BD83-0553-C789-2F6AD278BC9F}"/>
              </a:ext>
            </a:extLst>
          </p:cNvPr>
          <p:cNvGrpSpPr/>
          <p:nvPr/>
        </p:nvGrpSpPr>
        <p:grpSpPr>
          <a:xfrm>
            <a:off x="-95624" y="-46134"/>
            <a:ext cx="12287624" cy="767311"/>
            <a:chOff x="-71718" y="-18464"/>
            <a:chExt cx="9215718" cy="575483"/>
          </a:xfrm>
        </p:grpSpPr>
        <p:sp>
          <p:nvSpPr>
            <p:cNvPr id="35" name="Shape 0">
              <a:extLst>
                <a:ext uri="{FF2B5EF4-FFF2-40B4-BE49-F238E27FC236}">
                  <a16:creationId xmlns:a16="http://schemas.microsoft.com/office/drawing/2014/main" id="{6CE38917-AB98-BDC4-77F8-DD2A9D564AEA}"/>
                </a:ext>
              </a:extLst>
            </p:cNvPr>
            <p:cNvSpPr/>
            <p:nvPr/>
          </p:nvSpPr>
          <p:spPr>
            <a:xfrm>
              <a:off x="0" y="1451"/>
              <a:ext cx="9144000" cy="555306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hape 1">
              <a:extLst>
                <a:ext uri="{FF2B5EF4-FFF2-40B4-BE49-F238E27FC236}">
                  <a16:creationId xmlns:a16="http://schemas.microsoft.com/office/drawing/2014/main" id="{B94ABE1A-90E2-690E-3C7C-DE5083632610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hape 4">
              <a:extLst>
                <a:ext uri="{FF2B5EF4-FFF2-40B4-BE49-F238E27FC236}">
                  <a16:creationId xmlns:a16="http://schemas.microsoft.com/office/drawing/2014/main" id="{8C25F906-D66A-A74B-2C37-382EAA0980B6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hape 5">
              <a:extLst>
                <a:ext uri="{FF2B5EF4-FFF2-40B4-BE49-F238E27FC236}">
                  <a16:creationId xmlns:a16="http://schemas.microsoft.com/office/drawing/2014/main" id="{E9AEE26E-87E7-AC1B-D772-AA4B9D3A604B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hape 6">
              <a:extLst>
                <a:ext uri="{FF2B5EF4-FFF2-40B4-BE49-F238E27FC236}">
                  <a16:creationId xmlns:a16="http://schemas.microsoft.com/office/drawing/2014/main" id="{9F6B7D67-D278-A536-A364-DC4CA17A5A46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E1EF7C92-825B-36C6-FE31-9E2CEF3ABF4C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hape 8">
              <a:extLst>
                <a:ext uri="{FF2B5EF4-FFF2-40B4-BE49-F238E27FC236}">
                  <a16:creationId xmlns:a16="http://schemas.microsoft.com/office/drawing/2014/main" id="{6090DF5B-325C-DFDF-215F-4F10AFDDE090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hape 9">
              <a:extLst>
                <a:ext uri="{FF2B5EF4-FFF2-40B4-BE49-F238E27FC236}">
                  <a16:creationId xmlns:a16="http://schemas.microsoft.com/office/drawing/2014/main" id="{28707B0A-F92B-9522-9FD5-3A3FD8ABA37E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hape 10">
              <a:extLst>
                <a:ext uri="{FF2B5EF4-FFF2-40B4-BE49-F238E27FC236}">
                  <a16:creationId xmlns:a16="http://schemas.microsoft.com/office/drawing/2014/main" id="{08CD6C0F-BCEC-61BC-02BA-8D78C6A3DF29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hape 11">
              <a:extLst>
                <a:ext uri="{FF2B5EF4-FFF2-40B4-BE49-F238E27FC236}">
                  <a16:creationId xmlns:a16="http://schemas.microsoft.com/office/drawing/2014/main" id="{CB4692AB-7E21-55E3-C959-B99FBF5A2BA2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hape 12">
              <a:extLst>
                <a:ext uri="{FF2B5EF4-FFF2-40B4-BE49-F238E27FC236}">
                  <a16:creationId xmlns:a16="http://schemas.microsoft.com/office/drawing/2014/main" id="{104690DC-2AA0-AD78-A48E-80EE7631EE6E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hape 13">
              <a:extLst>
                <a:ext uri="{FF2B5EF4-FFF2-40B4-BE49-F238E27FC236}">
                  <a16:creationId xmlns:a16="http://schemas.microsoft.com/office/drawing/2014/main" id="{A312E4E3-1090-CF90-DD85-8CFEC78FB3EB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hape 14">
              <a:extLst>
                <a:ext uri="{FF2B5EF4-FFF2-40B4-BE49-F238E27FC236}">
                  <a16:creationId xmlns:a16="http://schemas.microsoft.com/office/drawing/2014/main" id="{5A4773D0-ADF6-8B8C-4174-A5E64C07F16A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hape 15">
              <a:extLst>
                <a:ext uri="{FF2B5EF4-FFF2-40B4-BE49-F238E27FC236}">
                  <a16:creationId xmlns:a16="http://schemas.microsoft.com/office/drawing/2014/main" id="{4222439E-60A8-3572-6BCD-B9A09E0F3360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hape 16">
              <a:extLst>
                <a:ext uri="{FF2B5EF4-FFF2-40B4-BE49-F238E27FC236}">
                  <a16:creationId xmlns:a16="http://schemas.microsoft.com/office/drawing/2014/main" id="{46FAE77C-6ABE-4A29-559D-7AEE501589AF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9718EB6C-8904-5EED-AC95-F9C1535FF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sp>
        <p:nvSpPr>
          <p:cNvPr id="5" name="TopLabel">
            <a:extLst>
              <a:ext uri="{FF2B5EF4-FFF2-40B4-BE49-F238E27FC236}">
                <a16:creationId xmlns:a16="http://schemas.microsoft.com/office/drawing/2014/main" id="{3EF71C49-036E-8725-EE0C-BC63418483EC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DATASET - Three sources, one unified schema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F52795-39A9-BC37-E7CB-CD69825326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71" y="1094779"/>
            <a:ext cx="6410998" cy="4254369"/>
          </a:xfrm>
          <a:prstGeom prst="rect">
            <a:avLst/>
          </a:prstGeom>
        </p:spPr>
      </p:pic>
      <p:sp>
        <p:nvSpPr>
          <p:cNvPr id="3" name="Shape 2">
            <a:extLst>
              <a:ext uri="{FF2B5EF4-FFF2-40B4-BE49-F238E27FC236}">
                <a16:creationId xmlns:a16="http://schemas.microsoft.com/office/drawing/2014/main" id="{032576AD-3ADD-1385-E994-3706ACDD53DE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59945E74-F2C7-3784-A1DE-2B4C3266DB93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3 ·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40638-9874-946D-33AE-BDF2E60B6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F5FDB16D-4345-4755-A51E-2AD6D8A8BC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-20046"/>
            <a:ext cx="12191928" cy="6857928"/>
          </a:xfrm>
          <a:prstGeom prst="rect">
            <a:avLst/>
          </a:prstGeom>
        </p:spPr>
      </p:pic>
      <p:sp>
        <p:nvSpPr>
          <p:cNvPr id="2" name="TopBar">
            <a:extLst>
              <a:ext uri="{FF2B5EF4-FFF2-40B4-BE49-F238E27FC236}">
                <a16:creationId xmlns:a16="http://schemas.microsoft.com/office/drawing/2014/main" id="{8768DF91-B049-BEA0-F881-B7AAD8DC7E33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BottomBar">
            <a:extLst>
              <a:ext uri="{FF2B5EF4-FFF2-40B4-BE49-F238E27FC236}">
                <a16:creationId xmlns:a16="http://schemas.microsoft.com/office/drawing/2014/main" id="{DEEEC112-00FD-430D-BD46-36B875CC444E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LogoTab">
            <a:extLst>
              <a:ext uri="{FF2B5EF4-FFF2-40B4-BE49-F238E27FC236}">
                <a16:creationId xmlns:a16="http://schemas.microsoft.com/office/drawing/2014/main" id="{6E17C71F-03EC-9127-86EB-4B7016F84A32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Logo">
            <a:extLst>
              <a:ext uri="{FF2B5EF4-FFF2-40B4-BE49-F238E27FC236}">
                <a16:creationId xmlns:a16="http://schemas.microsoft.com/office/drawing/2014/main" id="{F4666B28-AB11-6BFC-4B22-6250B60FB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0" name="TopLabel">
            <a:extLst>
              <a:ext uri="{FF2B5EF4-FFF2-40B4-BE49-F238E27FC236}">
                <a16:creationId xmlns:a16="http://schemas.microsoft.com/office/drawing/2014/main" id="{2003361C-62C7-F418-4173-1346A2D7BAFD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 PIPELINE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AD14E39-696E-A2EA-4277-AF55CE274FA6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DBF300E5-AF06-2E0F-4E9B-63BF87D22601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7760B6AD-6BA4-2BC0-20B7-4133FFFD1F5B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E28DFD7E-D1A4-BE0E-BD04-7A003A4C8F2D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EC041BB4-F568-8B66-A7D9-0912B5AE57DC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15C897A9-41A9-ED90-6455-1726E1BD8B1E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81DDFF98-AEF5-55FC-42F1-E1FC689FB3C2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F0C38718-30EC-A2E1-ACA8-5B42382A2E6E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F223B489-1BFC-6594-AFF3-6CBFCF17E0CA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F343436C-9FE4-A5C4-B044-736D5308C4A1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20B36607-1727-E03D-B0D3-979FD09B93D0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3B613D6A-C6CE-2ACD-0859-416C79B8CAA4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39512386-7A1C-3925-182A-CCC6B6EF04CE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1A1AD1B5-282F-CB39-0D7A-B40B3D6EB38D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13CB4BAD-1F8D-FA96-8DFA-03DC27ABE0C5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7BB0411-E02E-44C2-7B73-FDF1F4F37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sp>
        <p:nvSpPr>
          <p:cNvPr id="27" name="Shape 14"/>
          <p:cNvSpPr/>
          <p:nvPr/>
        </p:nvSpPr>
        <p:spPr>
          <a:xfrm>
            <a:off x="13916049" y="5116379"/>
            <a:ext cx="1247683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1C1605F-4006-9985-0C56-AD999B18C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984" y="1004917"/>
            <a:ext cx="9457095" cy="531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11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81588"/>
            <a:ext cx="12191928" cy="6763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4833" y="899811"/>
            <a:ext cx="10988117" cy="46585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04000"/>
              </a:lnSpc>
            </a:pPr>
            <a:endParaRPr lang="en-US" sz="3336" dirty="0"/>
          </a:p>
        </p:txBody>
      </p:sp>
      <p:sp>
        <p:nvSpPr>
          <p:cNvPr id="13" name="Shape 8"/>
          <p:cNvSpPr/>
          <p:nvPr/>
        </p:nvSpPr>
        <p:spPr>
          <a:xfrm>
            <a:off x="734833" y="6028419"/>
            <a:ext cx="180959" cy="139260"/>
          </a:xfrm>
          <a:prstGeom prst="roundRect">
            <a:avLst>
              <a:gd name="adj" fmla="val 22225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946034" y="5979973"/>
            <a:ext cx="745389" cy="2430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400" b="1" kern="0" spc="32" dirty="0">
                <a:solidFill>
                  <a:srgbClr val="2E9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</a:t>
            </a:r>
            <a:endParaRPr lang="en-US" sz="1333" dirty="0"/>
          </a:p>
        </p:txBody>
      </p:sp>
      <p:sp>
        <p:nvSpPr>
          <p:cNvPr id="15" name="Shape 10"/>
          <p:cNvSpPr/>
          <p:nvPr/>
        </p:nvSpPr>
        <p:spPr>
          <a:xfrm>
            <a:off x="1597051" y="6028419"/>
            <a:ext cx="180959" cy="139260"/>
          </a:xfrm>
          <a:prstGeom prst="roundRect">
            <a:avLst>
              <a:gd name="adj" fmla="val 22225"/>
            </a:avLst>
          </a:prstGeom>
          <a:solidFill>
            <a:srgbClr val="E0A01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1"/>
          <p:cNvSpPr/>
          <p:nvPr/>
        </p:nvSpPr>
        <p:spPr>
          <a:xfrm>
            <a:off x="1835345" y="5979973"/>
            <a:ext cx="826576" cy="2430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400" b="1" kern="0" spc="32" dirty="0">
                <a:solidFill>
                  <a:srgbClr val="B982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WARNING</a:t>
            </a:r>
            <a:endParaRPr lang="en-US" sz="1333" dirty="0"/>
          </a:p>
        </p:txBody>
      </p:sp>
      <p:sp>
        <p:nvSpPr>
          <p:cNvPr id="17" name="Shape 12"/>
          <p:cNvSpPr/>
          <p:nvPr/>
        </p:nvSpPr>
        <p:spPr>
          <a:xfrm>
            <a:off x="2796539" y="6028419"/>
            <a:ext cx="180959" cy="139260"/>
          </a:xfrm>
          <a:prstGeom prst="roundRect">
            <a:avLst>
              <a:gd name="adj" fmla="val 22225"/>
            </a:avLst>
          </a:prstGeom>
          <a:solidFill>
            <a:srgbClr val="D645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3014514" y="5979973"/>
            <a:ext cx="1144313" cy="2430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400" b="1" kern="0" spc="32" dirty="0">
                <a:solidFill>
                  <a:srgbClr val="D645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DEGRADED</a:t>
            </a:r>
            <a:endParaRPr lang="en-US" sz="1333" dirty="0"/>
          </a:p>
        </p:txBody>
      </p:sp>
      <p:sp>
        <p:nvSpPr>
          <p:cNvPr id="19" name="Text 14"/>
          <p:cNvSpPr/>
          <p:nvPr/>
        </p:nvSpPr>
        <p:spPr>
          <a:xfrm>
            <a:off x="4910973" y="5979973"/>
            <a:ext cx="7181967" cy="37541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400" b="1" kern="0" spc="40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s of signal in → degradation class out at +5 / +15 / +30 s</a:t>
            </a:r>
            <a:endParaRPr lang="en-US" sz="1400" b="1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635D027-65E9-FFAD-0501-5AA931157D96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24" name="Shape 0">
              <a:extLst>
                <a:ext uri="{FF2B5EF4-FFF2-40B4-BE49-F238E27FC236}">
                  <a16:creationId xmlns:a16="http://schemas.microsoft.com/office/drawing/2014/main" id="{745CBA48-ADE7-E439-C5F9-88B6D826CEF5}"/>
                </a:ext>
              </a:extLst>
            </p:cNvPr>
            <p:cNvSpPr/>
            <p:nvPr/>
          </p:nvSpPr>
          <p:spPr>
            <a:xfrm>
              <a:off x="0" y="1451"/>
              <a:ext cx="9144000" cy="555306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hape 1">
              <a:extLst>
                <a:ext uri="{FF2B5EF4-FFF2-40B4-BE49-F238E27FC236}">
                  <a16:creationId xmlns:a16="http://schemas.microsoft.com/office/drawing/2014/main" id="{9AFA4D1D-905F-90DB-70E7-83562014A2B8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C8ECE362-EA46-E257-5946-741385C18B33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hape 5">
              <a:extLst>
                <a:ext uri="{FF2B5EF4-FFF2-40B4-BE49-F238E27FC236}">
                  <a16:creationId xmlns:a16="http://schemas.microsoft.com/office/drawing/2014/main" id="{42CF7C76-59C4-A2DD-D6BC-7A010782D0BA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hape 6">
              <a:extLst>
                <a:ext uri="{FF2B5EF4-FFF2-40B4-BE49-F238E27FC236}">
                  <a16:creationId xmlns:a16="http://schemas.microsoft.com/office/drawing/2014/main" id="{AAB3DDAE-A664-BB31-0819-E426E955EC6F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hape 7">
              <a:extLst>
                <a:ext uri="{FF2B5EF4-FFF2-40B4-BE49-F238E27FC236}">
                  <a16:creationId xmlns:a16="http://schemas.microsoft.com/office/drawing/2014/main" id="{A9D5A26F-A210-6B89-60B1-EE0A204621CD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hape 8">
              <a:extLst>
                <a:ext uri="{FF2B5EF4-FFF2-40B4-BE49-F238E27FC236}">
                  <a16:creationId xmlns:a16="http://schemas.microsoft.com/office/drawing/2014/main" id="{CE790845-BCD7-139D-25C5-F7E89E6B53CE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hape 9">
              <a:extLst>
                <a:ext uri="{FF2B5EF4-FFF2-40B4-BE49-F238E27FC236}">
                  <a16:creationId xmlns:a16="http://schemas.microsoft.com/office/drawing/2014/main" id="{CCFACD4A-8090-3777-11A2-4C3353CF12F3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hape 10">
              <a:extLst>
                <a:ext uri="{FF2B5EF4-FFF2-40B4-BE49-F238E27FC236}">
                  <a16:creationId xmlns:a16="http://schemas.microsoft.com/office/drawing/2014/main" id="{ACB99CCE-835B-CA5D-9DB0-AD88370FC222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hape 11">
              <a:extLst>
                <a:ext uri="{FF2B5EF4-FFF2-40B4-BE49-F238E27FC236}">
                  <a16:creationId xmlns:a16="http://schemas.microsoft.com/office/drawing/2014/main" id="{9BD5C7BB-A7CC-B83C-290A-95364549F8A7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hape 12">
              <a:extLst>
                <a:ext uri="{FF2B5EF4-FFF2-40B4-BE49-F238E27FC236}">
                  <a16:creationId xmlns:a16="http://schemas.microsoft.com/office/drawing/2014/main" id="{6E28E5B2-FC44-408A-1776-4C4DE7F2F993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hape 13">
              <a:extLst>
                <a:ext uri="{FF2B5EF4-FFF2-40B4-BE49-F238E27FC236}">
                  <a16:creationId xmlns:a16="http://schemas.microsoft.com/office/drawing/2014/main" id="{10E84644-CC2A-F723-D75B-EA9F05115486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hape 14">
              <a:extLst>
                <a:ext uri="{FF2B5EF4-FFF2-40B4-BE49-F238E27FC236}">
                  <a16:creationId xmlns:a16="http://schemas.microsoft.com/office/drawing/2014/main" id="{D6A86F6B-18FF-7785-F5F4-13DC80D8BAD2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hape 15">
              <a:extLst>
                <a:ext uri="{FF2B5EF4-FFF2-40B4-BE49-F238E27FC236}">
                  <a16:creationId xmlns:a16="http://schemas.microsoft.com/office/drawing/2014/main" id="{238F248F-DABF-8EAB-DF36-94C9CDC74C58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hape 16">
              <a:extLst>
                <a:ext uri="{FF2B5EF4-FFF2-40B4-BE49-F238E27FC236}">
                  <a16:creationId xmlns:a16="http://schemas.microsoft.com/office/drawing/2014/main" id="{DC81E306-0012-4F2E-98F4-37216D9AC261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B8216D8D-5226-DB04-835E-92EA01732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sp>
        <p:nvSpPr>
          <p:cNvPr id="3" name="TopLabel">
            <a:extLst>
              <a:ext uri="{FF2B5EF4-FFF2-40B4-BE49-F238E27FC236}">
                <a16:creationId xmlns:a16="http://schemas.microsoft.com/office/drawing/2014/main" id="{7F7D13F6-4D45-BFFD-0F86-8AF1D5E3090A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8078501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METHODOLOGY - Three classes, predicted three steps ahead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9BD67AC-60E6-DF8D-97B6-2398BA43E319}"/>
              </a:ext>
            </a:extLst>
          </p:cNvPr>
          <p:cNvSpPr/>
          <p:nvPr/>
        </p:nvSpPr>
        <p:spPr>
          <a:xfrm>
            <a:off x="-72" y="6831378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F196365C-9AD7-9293-D07F-CE6081F490F4}"/>
              </a:ext>
            </a:extLst>
          </p:cNvPr>
          <p:cNvSpPr/>
          <p:nvPr/>
        </p:nvSpPr>
        <p:spPr>
          <a:xfrm>
            <a:off x="-72" y="680819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200180-F778-EE7F-C1E6-5BCD41E255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607" y="1097457"/>
            <a:ext cx="11498786" cy="43152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" y="-24618"/>
            <a:ext cx="12191928" cy="6857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1941" y="1065803"/>
            <a:ext cx="10988117" cy="46585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algn="ctr">
              <a:lnSpc>
                <a:spcPct val="104000"/>
              </a:lnSpc>
            </a:pPr>
            <a:endParaRPr lang="en-US" sz="3336" dirty="0"/>
          </a:p>
        </p:txBody>
      </p:sp>
      <p:sp>
        <p:nvSpPr>
          <p:cNvPr id="12" name="Shape 8"/>
          <p:cNvSpPr/>
          <p:nvPr/>
        </p:nvSpPr>
        <p:spPr>
          <a:xfrm>
            <a:off x="1266667" y="1043723"/>
            <a:ext cx="9502742" cy="5010389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7056">
            <a:solidFill>
              <a:srgbClr val="CDD9EA"/>
            </a:solidFill>
            <a:prstDash val="solid"/>
          </a:ln>
          <a:effectLst>
            <a:outerShdw blurRad="285750" dist="95250" dir="5400000" algn="bl" rotWithShape="0">
              <a:srgbClr val="002A6E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924E11-E98D-D243-957E-EA2ACE05C569}"/>
              </a:ext>
            </a:extLst>
          </p:cNvPr>
          <p:cNvGrpSpPr/>
          <p:nvPr/>
        </p:nvGrpSpPr>
        <p:grpSpPr>
          <a:xfrm>
            <a:off x="-106382" y="-46134"/>
            <a:ext cx="12287624" cy="767311"/>
            <a:chOff x="-71718" y="-18464"/>
            <a:chExt cx="9215718" cy="575483"/>
          </a:xfrm>
        </p:grpSpPr>
        <p:sp>
          <p:nvSpPr>
            <p:cNvPr id="27" name="Shape 0">
              <a:extLst>
                <a:ext uri="{FF2B5EF4-FFF2-40B4-BE49-F238E27FC236}">
                  <a16:creationId xmlns:a16="http://schemas.microsoft.com/office/drawing/2014/main" id="{9122362D-F64B-24F0-067B-9100D7DB0AC9}"/>
                </a:ext>
              </a:extLst>
            </p:cNvPr>
            <p:cNvSpPr/>
            <p:nvPr/>
          </p:nvSpPr>
          <p:spPr>
            <a:xfrm>
              <a:off x="0" y="1451"/>
              <a:ext cx="9144000" cy="555306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hape 1">
              <a:extLst>
                <a:ext uri="{FF2B5EF4-FFF2-40B4-BE49-F238E27FC236}">
                  <a16:creationId xmlns:a16="http://schemas.microsoft.com/office/drawing/2014/main" id="{58427887-7980-4D37-DB5F-41296FDFBF42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hape 4">
              <a:extLst>
                <a:ext uri="{FF2B5EF4-FFF2-40B4-BE49-F238E27FC236}">
                  <a16:creationId xmlns:a16="http://schemas.microsoft.com/office/drawing/2014/main" id="{6A9D3119-1BD6-2777-36C3-7D69350A7815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hape 5">
              <a:extLst>
                <a:ext uri="{FF2B5EF4-FFF2-40B4-BE49-F238E27FC236}">
                  <a16:creationId xmlns:a16="http://schemas.microsoft.com/office/drawing/2014/main" id="{57CC8F4E-331B-AD91-A827-F5E5298F1512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hape 6">
              <a:extLst>
                <a:ext uri="{FF2B5EF4-FFF2-40B4-BE49-F238E27FC236}">
                  <a16:creationId xmlns:a16="http://schemas.microsoft.com/office/drawing/2014/main" id="{8680FC17-9C4D-5F25-0DB0-7C6E521A1101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hape 7">
              <a:extLst>
                <a:ext uri="{FF2B5EF4-FFF2-40B4-BE49-F238E27FC236}">
                  <a16:creationId xmlns:a16="http://schemas.microsoft.com/office/drawing/2014/main" id="{C0489106-098F-9CC6-71E5-18375CBCF1DF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hape 8">
              <a:extLst>
                <a:ext uri="{FF2B5EF4-FFF2-40B4-BE49-F238E27FC236}">
                  <a16:creationId xmlns:a16="http://schemas.microsoft.com/office/drawing/2014/main" id="{19D98C45-D9CC-CE2B-74F3-57BC17B5B69E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hape 9">
              <a:extLst>
                <a:ext uri="{FF2B5EF4-FFF2-40B4-BE49-F238E27FC236}">
                  <a16:creationId xmlns:a16="http://schemas.microsoft.com/office/drawing/2014/main" id="{2DBCEF41-DC97-BB00-869C-3DF77E44FBF9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hape 10">
              <a:extLst>
                <a:ext uri="{FF2B5EF4-FFF2-40B4-BE49-F238E27FC236}">
                  <a16:creationId xmlns:a16="http://schemas.microsoft.com/office/drawing/2014/main" id="{BA83516F-3A9F-98F8-4009-F619C2AF3577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hape 11">
              <a:extLst>
                <a:ext uri="{FF2B5EF4-FFF2-40B4-BE49-F238E27FC236}">
                  <a16:creationId xmlns:a16="http://schemas.microsoft.com/office/drawing/2014/main" id="{38960180-8A8D-6DFC-3A0E-0398E1C665B3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hape 12">
              <a:extLst>
                <a:ext uri="{FF2B5EF4-FFF2-40B4-BE49-F238E27FC236}">
                  <a16:creationId xmlns:a16="http://schemas.microsoft.com/office/drawing/2014/main" id="{A72A36A9-9807-F829-55BB-18F60DA2A9CD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hape 13">
              <a:extLst>
                <a:ext uri="{FF2B5EF4-FFF2-40B4-BE49-F238E27FC236}">
                  <a16:creationId xmlns:a16="http://schemas.microsoft.com/office/drawing/2014/main" id="{AD782100-A76A-6E56-01D4-64219AA44436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hape 14">
              <a:extLst>
                <a:ext uri="{FF2B5EF4-FFF2-40B4-BE49-F238E27FC236}">
                  <a16:creationId xmlns:a16="http://schemas.microsoft.com/office/drawing/2014/main" id="{350EBA46-9079-6CB5-6AC0-E62E30B627ED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hape 15">
              <a:extLst>
                <a:ext uri="{FF2B5EF4-FFF2-40B4-BE49-F238E27FC236}">
                  <a16:creationId xmlns:a16="http://schemas.microsoft.com/office/drawing/2014/main" id="{72DA8FD2-22F2-2D7C-ABB8-60A7B8E7784A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hape 16">
              <a:extLst>
                <a:ext uri="{FF2B5EF4-FFF2-40B4-BE49-F238E27FC236}">
                  <a16:creationId xmlns:a16="http://schemas.microsoft.com/office/drawing/2014/main" id="{90750C28-99EE-E507-F163-EE5FFB70EB3B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97A2DFA-17FE-4730-E1E9-E6134E5D4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sp>
        <p:nvSpPr>
          <p:cNvPr id="3" name="TopLabel">
            <a:extLst>
              <a:ext uri="{FF2B5EF4-FFF2-40B4-BE49-F238E27FC236}">
                <a16:creationId xmlns:a16="http://schemas.microsoft.com/office/drawing/2014/main" id="{5915431F-4D49-014E-4C44-9F15A0C1ECD9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METHODOLOGY - Inside SENTINEL-GNSS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AFC1B39-3751-98B4-DCD8-D50351BCC446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E99C8D0-9DDD-914B-41EA-0707AC7EDD88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139AD1-F946-80B6-E059-F575286B0E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7989" y="1144426"/>
            <a:ext cx="8640097" cy="48567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0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 dirty="0">
                <a:solidFill>
                  <a:srgbClr val="FFFFFF"/>
                </a:solidFill>
                <a:latin typeface="Calibri"/>
              </a:rPr>
              <a:t>4 · Results 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94A06CA-A6B0-B444-889C-B28506C606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8" y="-291"/>
            <a:ext cx="12191928" cy="6857928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717804" y="858907"/>
            <a:ext cx="2905724" cy="1614649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2281" y="1005212"/>
            <a:ext cx="2731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0.821</a:t>
            </a:r>
            <a:endParaRPr lang="en-US" sz="4533" dirty="0"/>
          </a:p>
        </p:txBody>
      </p:sp>
      <p:sp>
        <p:nvSpPr>
          <p:cNvPr id="6" name="Text 4"/>
          <p:cNvSpPr/>
          <p:nvPr/>
        </p:nvSpPr>
        <p:spPr>
          <a:xfrm>
            <a:off x="862281" y="1712348"/>
            <a:ext cx="2731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 +5 s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862281" y="2065916"/>
            <a:ext cx="2731855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= 0.773  |  CI [0.798-0.840]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1416" y="851527"/>
            <a:ext cx="2981488" cy="1614649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626844" y="997832"/>
            <a:ext cx="27041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0.741</a:t>
            </a:r>
            <a:endParaRPr lang="en-US" sz="4533" dirty="0"/>
          </a:p>
        </p:txBody>
      </p:sp>
      <p:sp>
        <p:nvSpPr>
          <p:cNvPr id="10" name="Text 8"/>
          <p:cNvSpPr/>
          <p:nvPr/>
        </p:nvSpPr>
        <p:spPr>
          <a:xfrm>
            <a:off x="4626844" y="1621208"/>
            <a:ext cx="27041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 +15 s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4626844" y="1926524"/>
            <a:ext cx="2704140" cy="368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= 0.691  |  CI [0.717-0.764]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72207" y="851527"/>
            <a:ext cx="2946873" cy="158586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394128" y="997832"/>
            <a:ext cx="277054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0.783</a:t>
            </a:r>
            <a:endParaRPr lang="en-US" sz="4533" dirty="0"/>
          </a:p>
        </p:txBody>
      </p:sp>
      <p:sp>
        <p:nvSpPr>
          <p:cNvPr id="14" name="Text 12"/>
          <p:cNvSpPr/>
          <p:nvPr/>
        </p:nvSpPr>
        <p:spPr>
          <a:xfrm>
            <a:off x="8394128" y="1704968"/>
            <a:ext cx="27705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 +30 s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8394128" y="2058536"/>
            <a:ext cx="2770542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= 0.731  |  CI [0.758-0.804]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995" y="2777863"/>
            <a:ext cx="6307111" cy="731519"/>
          </a:xfrm>
          <a:prstGeom prst="rect">
            <a:avLst/>
          </a:prstGeom>
          <a:solidFill>
            <a:srgbClr val="0A1F44">
              <a:alpha val="94000"/>
            </a:srgbClr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968" y="2833795"/>
            <a:ext cx="6050032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warning with Macro-F1 = 0.783  which is  nearly as strong as 5-second prediction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866956"/>
              </p:ext>
            </p:extLst>
          </p:nvPr>
        </p:nvGraphicFramePr>
        <p:xfrm>
          <a:off x="19994" y="3625596"/>
          <a:ext cx="6307112" cy="2530057"/>
        </p:xfrm>
        <a:graphic>
          <a:graphicData uri="http://schemas.openxmlformats.org/drawingml/2006/table">
            <a:tbl>
              <a:tblPr/>
              <a:tblGrid>
                <a:gridCol w="1206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8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0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0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Shape 0">
            <a:extLst>
              <a:ext uri="{FF2B5EF4-FFF2-40B4-BE49-F238E27FC236}">
                <a16:creationId xmlns:a16="http://schemas.microsoft.com/office/drawing/2014/main" id="{87CCF24D-1AF1-74F9-4D19-8346C5980538}"/>
              </a:ext>
            </a:extLst>
          </p:cNvPr>
          <p:cNvSpPr/>
          <p:nvPr/>
        </p:nvSpPr>
        <p:spPr>
          <a:xfrm>
            <a:off x="0" y="-14999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663E9366-47C3-8641-F5B7-123771E660C8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0D9DC2BD-BC63-EBDB-0052-59AE0B3C4F45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C922562E-0B77-6BAC-5F8F-4566B6333A1C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2B92A2B3-9D01-B300-94E2-D21B241542C9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352A548A-6F0E-C929-38E1-82A226D518D6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66B99675-A0B4-9F6F-DF59-2B8FFC884DC4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5D4B0EAF-18B6-F4A9-D163-238D1E892E53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FDB21CF5-E1A0-61B9-6470-3D9D980BA57D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44750F87-FBBE-A3BD-4EF4-FBAB65F35E86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B995F669-75CB-AE61-9296-7F3725091ED0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A80B4136-791B-8E12-B7F0-75F94EE1B07A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C8025F57-DAAB-FC28-FE33-560C29845DC0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D5285F09-3CFF-D55E-CD36-88CCB91C96EC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1DDE3261-B8D6-21E5-A8B5-740211AA11B0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8A995811-FF1E-EF32-E8C7-5C6089A4C869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1028A888-F4A9-CD42-FDB6-DA80835069F8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6626372-6B6A-6683-4783-9E74580BB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192377" y="22673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MULTI-HORIZON PREDICTION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2921957-1BC1-9292-A76D-B567F729A8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977"/>
          <a:stretch>
            <a:fillRect/>
          </a:stretch>
        </p:blipFill>
        <p:spPr>
          <a:xfrm>
            <a:off x="6486721" y="2571333"/>
            <a:ext cx="5463171" cy="3591705"/>
          </a:xfrm>
          <a:prstGeom prst="rect">
            <a:avLst/>
          </a:prstGeom>
        </p:spPr>
      </p:pic>
      <p:sp>
        <p:nvSpPr>
          <p:cNvPr id="18" name="Shape 5">
            <a:extLst>
              <a:ext uri="{FF2B5EF4-FFF2-40B4-BE49-F238E27FC236}">
                <a16:creationId xmlns:a16="http://schemas.microsoft.com/office/drawing/2014/main" id="{7BFC57F7-6000-5F78-FB96-361D1FF7F77D}"/>
              </a:ext>
            </a:extLst>
          </p:cNvPr>
          <p:cNvSpPr/>
          <p:nvPr/>
        </p:nvSpPr>
        <p:spPr>
          <a:xfrm>
            <a:off x="7635785" y="6268667"/>
            <a:ext cx="2946872" cy="30807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0AE0FD-5723-C9F3-0F0F-778E37941D3D}"/>
              </a:ext>
            </a:extLst>
          </p:cNvPr>
          <p:cNvSpPr txBox="1"/>
          <p:nvPr/>
        </p:nvSpPr>
        <p:spPr>
          <a:xfrm>
            <a:off x="7786357" y="6233375"/>
            <a:ext cx="2559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Horizon</a:t>
            </a:r>
            <a:endParaRPr lang="en-US" sz="1600" b="1" i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89D4A98-EFEC-0F49-1B35-30DFDDDBAF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8" y="8176"/>
            <a:ext cx="12191928" cy="6857928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437770"/>
              </p:ext>
            </p:extLst>
          </p:nvPr>
        </p:nvGraphicFramePr>
        <p:xfrm>
          <a:off x="170269" y="865639"/>
          <a:ext cx="6356657" cy="2060443"/>
        </p:xfrm>
        <a:graphic>
          <a:graphicData uri="http://schemas.openxmlformats.org/drawingml/2006/table">
            <a:tbl>
              <a:tblPr/>
              <a:tblGrid>
                <a:gridCol w="1616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2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2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5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2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DA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2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2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00434" y="866754"/>
            <a:ext cx="4590917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507698" y="903330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Recall = 0.847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07698" y="1220322"/>
            <a:ext cx="6827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85% of impending signal failures  -  5 s ahead</a:t>
            </a:r>
            <a:endParaRPr lang="en-US" sz="1333" dirty="0"/>
          </a:p>
        </p:txBody>
      </p:sp>
      <p:sp>
        <p:nvSpPr>
          <p:cNvPr id="9" name="Shape 6"/>
          <p:cNvSpPr/>
          <p:nvPr/>
        </p:nvSpPr>
        <p:spPr>
          <a:xfrm>
            <a:off x="7300434" y="1695810"/>
            <a:ext cx="4590917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507698" y="1732386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Precision = 0.947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07698" y="2049378"/>
            <a:ext cx="6827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says WARNING, it is right 95% of the time</a:t>
            </a:r>
            <a:endParaRPr lang="en-US" sz="1333" dirty="0"/>
          </a:p>
        </p:txBody>
      </p:sp>
      <p:sp>
        <p:nvSpPr>
          <p:cNvPr id="13" name="Shape 10"/>
          <p:cNvSpPr/>
          <p:nvPr/>
        </p:nvSpPr>
        <p:spPr>
          <a:xfrm>
            <a:off x="7300434" y="2524866"/>
            <a:ext cx="4590917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507698" y="2561442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F1 = 0.927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07698" y="2878434"/>
            <a:ext cx="6827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triggers false alarms on healthy signal</a:t>
            </a:r>
            <a:endParaRPr lang="en-US" sz="1333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A14D145E-0E6A-5973-0C2D-7764A01920D5}"/>
              </a:ext>
            </a:extLst>
          </p:cNvPr>
          <p:cNvSpPr/>
          <p:nvPr/>
        </p:nvSpPr>
        <p:spPr>
          <a:xfrm>
            <a:off x="0" y="1935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7B8AFFDE-7208-0B66-48FE-30057776A33B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74C0587E-D210-81DD-A9EA-3E65BEB90083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D608C570-17AD-ACC5-3A85-AF39FBC2B947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E3F61359-9AAC-C734-216A-3C542EB9D68A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6E77782E-AE5D-88CE-EF76-54DAAC31264F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230C0635-461E-5303-F4C8-84EE9050F1E0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2965746F-EEF4-3DC0-712B-CAEA42E9AC00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63649464-B911-C181-1DD7-FF7B061E705A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D97AC1ED-48BC-6C7D-0BB9-25E475C8136F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60B597F6-7C19-97FD-F8DA-7F54E9716E46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8781245C-4E47-52EC-1547-25F7200ED994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1078C86E-097B-B07E-E970-04FDE6723027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A15582DA-07DA-9A5B-65E7-64C83370FCCE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A88A0669-05E1-0BF2-C3BB-D54F27D8727A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CE4AF859-2630-8FB1-D936-BD2C16336EC8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1AFA0504-FCB5-AD1C-42D5-5646A656EDD8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38C8458-92C2-B7D4-07AC-FFFA7A6AE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219200" y="-672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 @ +5S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CC67EC6-2461-26E5-0A92-0BDABE251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7789" y="3358034"/>
            <a:ext cx="4950259" cy="320735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D356BCF-73A7-E1F3-C1FD-7411C1EA14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625" y="3055362"/>
            <a:ext cx="6321862" cy="35100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327084"/>
              </p:ext>
            </p:extLst>
          </p:nvPr>
        </p:nvGraphicFramePr>
        <p:xfrm>
          <a:off x="396240" y="926766"/>
          <a:ext cx="7315200" cy="5539740"/>
        </p:xfrm>
        <a:graphic>
          <a:graphicData uri="http://schemas.openxmlformats.org/drawingml/2006/table">
            <a:tbl>
              <a:tblPr/>
              <a:tblGrid>
                <a:gridCol w="316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65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+5s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+15s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+30s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CNR Threshold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 (SMOTE)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(SMOTE)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 (no-SMOTE)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(no-SMOTE)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Transformer-only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LSTM-only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SENTINEL-GNSS 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07680" y="1280160"/>
            <a:ext cx="37795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177176" y="1467447"/>
            <a:ext cx="3710024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In-domain: XGBoost 0.919 outperforms DL 0.821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107680" y="3048000"/>
            <a:ext cx="37795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177176" y="3248045"/>
            <a:ext cx="35966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Cross-city: DL retains DEGRADED F1 trees collapse 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107680" y="4815840"/>
            <a:ext cx="37795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107680" y="5021181"/>
            <a:ext cx="377952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one pass; 9.46× faster than 3 tree models</a:t>
            </a:r>
            <a:endParaRPr lang="en-US" sz="2000" dirty="0"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B570CCFD-A047-15D1-BF8D-23418727A91D}"/>
              </a:ext>
            </a:extLst>
          </p:cNvPr>
          <p:cNvSpPr/>
          <p:nvPr/>
        </p:nvSpPr>
        <p:spPr>
          <a:xfrm>
            <a:off x="0" y="1935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C2C4C3B7-014C-6DC4-1581-E89B3D17E3C1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22A156EB-254A-2DDC-AA80-45FB291DA5DA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6865D83D-AD8E-B397-808A-8F92ED3EB453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ACD99FE7-4B79-207F-F9DE-AF03324E7599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4801523F-29D2-7B9D-9AC5-BEB38D7BF447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45A17A2E-D4DA-C315-C171-AC7E78132AEB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70C00E26-EF90-9110-7E33-FC2C22C0E5F2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A093B432-C31C-9796-A3B7-34AEDCC7D3DC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C83956FF-F365-7318-D3D6-862BF6EDC9A0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AB5D4F69-28E0-FB4A-3B59-34AE5E6C5E8C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A08A8AE0-1DB2-962B-E28B-2C2BF05C76EC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BB006D42-6E44-D7C8-E538-BC1723FC39D3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094E3A13-2DB9-F465-2443-8D327604B0A9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B7B7E4B0-D803-7938-DE55-F8504DBA8C64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5C823072-BD26-63CD-EBFB-99D27BEE42EC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55F16D79-1036-0ED0-DADB-D7989C3B9817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1AC392E-B0D1-61CE-9F5C-3099FA8C1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2736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192376" y="-13619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TO ALL BASELINES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71980932-8472-BF1C-F416-04008536DC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8" y="8176"/>
            <a:ext cx="12191928" cy="6857928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585956"/>
              </p:ext>
            </p:extLst>
          </p:nvPr>
        </p:nvGraphicFramePr>
        <p:xfrm>
          <a:off x="7529815" y="1219200"/>
          <a:ext cx="4296424" cy="2286000"/>
        </p:xfrm>
        <a:graphic>
          <a:graphicData uri="http://schemas.openxmlformats.org/drawingml/2006/table">
            <a:tbl>
              <a:tblPr/>
              <a:tblGrid>
                <a:gridCol w="185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+5s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+15s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+30s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Transformer-only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LSTM-only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SENTINEL-GNSS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A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A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529815" y="3596640"/>
            <a:ext cx="4296425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533635" y="3596640"/>
            <a:ext cx="73152" cy="7559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7614655" y="3621024"/>
            <a:ext cx="4114049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beats both ablations at +5s and +30s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529815" y="4474464"/>
            <a:ext cx="4296425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533635" y="4474464"/>
            <a:ext cx="73152" cy="7559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7614655" y="4498848"/>
            <a:ext cx="4296424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alone is strong for longer horizons (+30s)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529815" y="5352288"/>
            <a:ext cx="4296425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7533638" y="5352288"/>
            <a:ext cx="73152" cy="7559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7614655" y="5376672"/>
            <a:ext cx="4114049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Transformer-only struggles at +30s; sequence matters there</a:t>
            </a:r>
            <a:endParaRPr lang="en-US" sz="1600" dirty="0"/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AC1A5C5D-C4D2-32FD-5A21-FDA4C9997980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898C5B56-03C4-5EDD-06AC-3D5FCA09E204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3EE4D281-E67B-2B86-2DE0-278B43A52026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2FA483A2-3DF3-68E2-F406-0707EB929F23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34D5E15C-6FF5-9C58-FBD2-00A735945679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665B2162-0218-8747-3DCE-DF0C50089CA9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13D8CC4F-6EB8-9727-BCA7-6AF5F7233D1A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B9012DF-6326-950E-3A70-4C3F77E2F042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2430C0FB-CB35-34FA-962F-38B4D30F2A26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8264C17E-BA07-0DDB-1052-09597875DBCC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89ACB0C6-8B97-A678-0F96-BE6BC3E2F77B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DF9A11AE-2B54-9802-7A75-DB71683F69A5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B7BCC867-2BA2-8A44-FF50-9296202F6636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ABB75E9A-B639-CBE4-3734-CFB7308BB902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573C36D8-1F7A-1379-CA9D-AFCE6D5DCCB6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08784C98-365D-F7DF-BBAA-1EB31B5D09FB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50A54B14-3F28-D694-3511-941E1B195DA0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1A711E8-471E-4FE9-38F6-096172ED0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192376" y="-13619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 -  WHAT EACH COMPONENT ADDS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2DDD521-4E7D-9A72-1FDD-9E7428DC4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537" y="1229718"/>
            <a:ext cx="6904060" cy="49836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65BAB-F4EB-5564-571F-4F9F25561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1E958374-EFFF-50EC-32A8-4D35340758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8" y="-4016"/>
            <a:ext cx="12191928" cy="6857928"/>
          </a:xfrm>
          <a:prstGeom prst="rect">
            <a:avLst/>
          </a:prstGeom>
        </p:spPr>
      </p:pic>
      <p:sp>
        <p:nvSpPr>
          <p:cNvPr id="17" name="Shape 0">
            <a:extLst>
              <a:ext uri="{FF2B5EF4-FFF2-40B4-BE49-F238E27FC236}">
                <a16:creationId xmlns:a16="http://schemas.microsoft.com/office/drawing/2014/main" id="{3F26C8C6-7038-B2ED-8DF1-4CA92EDCA667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F59E9F50-C2EB-EC13-E585-E43B266EA03F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8EF19A03-3B7E-582D-2649-5C5AD979A5DD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89B6098D-C117-7703-45D0-D76622DBA1AA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1F6337B8-B5E3-226A-F0E7-9F427E0602D3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2B21CEE2-F38E-7205-FE5D-01BDFE5510A7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BCE43695-298E-7FEA-E3E7-D5C881F276CC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0AE8C22A-5A7F-3017-13E0-203B3A6FDD4A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C3AB7FE7-8B5E-31E6-8A80-C965D4F5EA0B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5E96F7C1-0780-FFB0-3092-145F9B02E48F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CCA70255-83D7-D7AB-D09F-EF1F7EBF5C19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F62D0FE1-945F-DA8D-EAD5-2F5D54918631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1ED2EA50-A3AE-76C3-574B-F759B439395B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9A09FBAF-7955-5ECA-2173-28677AE87409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B6E46CF8-E3ED-892B-5D5A-A7FA9EE66F76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DF07F8B3-A180-5F5F-E012-51B6BFCF82C6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03B84A2D-D4DC-87B2-E1D3-23F0DB348AF6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9E1FE22-9800-FBF1-DC4A-8E7B2ACCA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1087B050-B0D6-5444-CD10-1F30CD033852}"/>
              </a:ext>
            </a:extLst>
          </p:cNvPr>
          <p:cNvSpPr/>
          <p:nvPr/>
        </p:nvSpPr>
        <p:spPr>
          <a:xfrm>
            <a:off x="1192376" y="-13619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3200" b="1" dirty="0">
                <a:solidFill>
                  <a:srgbClr val="FFFFFF"/>
                </a:solidFill>
              </a:rPr>
              <a:t>CROSS-CITY GENERALISATION  -  THE CHALLENGE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960120"/>
            <a:ext cx="109728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b="1" dirty="0">
                <a:solidFill>
                  <a:srgbClr val="003366"/>
                </a:solidFill>
              </a:rPr>
              <a:t>Can a model trained in Beijing and Hong Kong predict GNSS quality in Tokyo - a city it has never seen?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1600200"/>
            <a:ext cx="5349240" cy="214884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just">
              <a:lnSpc>
                <a:spcPct val="150000"/>
              </a:lnSpc>
            </a:pPr>
            <a:r>
              <a:rPr sz="2000" b="1" dirty="0">
                <a:solidFill>
                  <a:srgbClr val="003366"/>
                </a:solidFill>
              </a:rPr>
              <a:t>Different skyline geometry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dirty="0">
                <a:solidFill>
                  <a:srgbClr val="202833"/>
                </a:solidFill>
              </a:rPr>
              <a:t>Tokyo Shinjuku has a distinct building density and canyon profile versus Beijing ring-roads.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200" y="1600200"/>
            <a:ext cx="5349240" cy="214884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just">
              <a:lnSpc>
                <a:spcPct val="150000"/>
              </a:lnSpc>
            </a:pPr>
            <a:r>
              <a:rPr sz="2000" b="1" dirty="0">
                <a:solidFill>
                  <a:srgbClr val="003366"/>
                </a:solidFill>
              </a:rPr>
              <a:t>Different satellite visibility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dirty="0">
                <a:solidFill>
                  <a:srgbClr val="202833"/>
                </a:solidFill>
              </a:rPr>
              <a:t>Latitude difference shifts GNSS constellation elevation angles and multipath patterns.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3977639"/>
            <a:ext cx="5349240" cy="214884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just">
              <a:lnSpc>
                <a:spcPct val="150000"/>
              </a:lnSpc>
            </a:pPr>
            <a:r>
              <a:rPr sz="2000" b="1" dirty="0">
                <a:solidFill>
                  <a:srgbClr val="003366"/>
                </a:solidFill>
              </a:rPr>
              <a:t>Different receiver hardware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dirty="0">
                <a:solidFill>
                  <a:srgbClr val="202833"/>
                </a:solidFill>
              </a:rPr>
              <a:t>Trimble + u-</a:t>
            </a:r>
            <a:r>
              <a:rPr dirty="0" err="1">
                <a:solidFill>
                  <a:srgbClr val="202833"/>
                </a:solidFill>
              </a:rPr>
              <a:t>blox</a:t>
            </a:r>
            <a:r>
              <a:rPr dirty="0">
                <a:solidFill>
                  <a:srgbClr val="202833"/>
                </a:solidFill>
              </a:rPr>
              <a:t> F9P in Tokyo versus </a:t>
            </a:r>
            <a:r>
              <a:rPr dirty="0" err="1">
                <a:solidFill>
                  <a:srgbClr val="202833"/>
                </a:solidFill>
              </a:rPr>
              <a:t>Septentrio</a:t>
            </a:r>
            <a:r>
              <a:rPr dirty="0">
                <a:solidFill>
                  <a:srgbClr val="202833"/>
                </a:solidFill>
              </a:rPr>
              <a:t> survey-grade in Beihang - different noise floors.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2200" y="3977639"/>
            <a:ext cx="5349240" cy="214884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just">
              <a:lnSpc>
                <a:spcPct val="150000"/>
              </a:lnSpc>
            </a:pPr>
            <a:r>
              <a:rPr sz="2000" b="1" dirty="0">
                <a:solidFill>
                  <a:srgbClr val="003366"/>
                </a:solidFill>
              </a:rPr>
              <a:t>Zero training data from Tokyo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dirty="0">
                <a:solidFill>
                  <a:srgbClr val="202833"/>
                </a:solidFill>
              </a:rPr>
              <a:t>Tokyo is excluded from training entirely. Not one Tokyo window was used - a true zero-shot test.</a:t>
            </a:r>
          </a:p>
        </p:txBody>
      </p:sp>
    </p:spTree>
    <p:extLst>
      <p:ext uri="{BB962C8B-B14F-4D97-AF65-F5344CB8AC3E}">
        <p14:creationId xmlns:p14="http://schemas.microsoft.com/office/powerpoint/2010/main" val="1704787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21236-7B22-0211-0D49-36E7A4E9D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590B1BC8-929B-1933-D1A6-BFA3E84FE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75"/>
            <a:ext cx="12192000" cy="6858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0EF1E95-7BA4-B101-D072-ECEE62FA2322}"/>
              </a:ext>
            </a:extLst>
          </p:cNvPr>
          <p:cNvSpPr/>
          <p:nvPr/>
        </p:nvSpPr>
        <p:spPr>
          <a:xfrm>
            <a:off x="10363200" y="182880"/>
            <a:ext cx="1524000" cy="39014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844E13-DA2D-AF88-8063-45F5D9C2F225}"/>
              </a:ext>
            </a:extLst>
          </p:cNvPr>
          <p:cNvSpPr/>
          <p:nvPr/>
        </p:nvSpPr>
        <p:spPr>
          <a:xfrm>
            <a:off x="10363200" y="182880"/>
            <a:ext cx="15240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133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AF4F981-4D91-F961-B380-E21874F23C2E}"/>
              </a:ext>
            </a:extLst>
          </p:cNvPr>
          <p:cNvSpPr/>
          <p:nvPr/>
        </p:nvSpPr>
        <p:spPr>
          <a:xfrm>
            <a:off x="272984" y="2117201"/>
            <a:ext cx="2904477" cy="199891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414A5E-E45B-2A10-5585-4A6F57A5CFBA}"/>
              </a:ext>
            </a:extLst>
          </p:cNvPr>
          <p:cNvSpPr/>
          <p:nvPr/>
        </p:nvSpPr>
        <p:spPr>
          <a:xfrm>
            <a:off x="97724" y="2209247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EB175F3-7B6A-F8DE-D26E-17C38E800846}"/>
              </a:ext>
            </a:extLst>
          </p:cNvPr>
          <p:cNvSpPr/>
          <p:nvPr/>
        </p:nvSpPr>
        <p:spPr>
          <a:xfrm>
            <a:off x="97724" y="2597218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0.789 → 0.148</a:t>
            </a:r>
            <a:endParaRPr lang="en-US" sz="2933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FAF9DDC-C7D8-AF9E-8640-ABE94CF753C5}"/>
              </a:ext>
            </a:extLst>
          </p:cNvPr>
          <p:cNvSpPr/>
          <p:nvPr/>
        </p:nvSpPr>
        <p:spPr>
          <a:xfrm>
            <a:off x="135132" y="3264400"/>
            <a:ext cx="29947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F1 in-domain → Tokyo</a:t>
            </a:r>
            <a:endParaRPr lang="en-US" sz="1333" dirty="0"/>
          </a:p>
          <a:p>
            <a:pPr algn="ctr"/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−81% collapse</a:t>
            </a:r>
            <a:endParaRPr lang="en-US" sz="1333" dirty="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B4268C45-E74B-E81A-3971-879281491439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69E4828C-969E-C0FB-C0F0-DF962A59B99F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D7C653CC-62E6-6C4C-4D33-E147AB9B582E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E13C3694-30CC-C348-F99D-594A4F913375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D2E27570-1828-CB3B-B392-6B3D92CAB739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26320C1F-993B-3DD7-F8FE-653FE7123CAE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47487BB2-3148-BD9B-A029-D9311F88F592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5D435034-5F45-BB15-B59B-491B7518042B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FD42E6FF-9D1E-2937-BD4E-C285D00DB64F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D33C15C5-19B2-4695-8ED7-C9BBC7A07BBE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D2733582-E837-5CE3-CF69-DE72563476BB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5C87E9D6-6AE6-E710-FD4A-C32E9AEB14C4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D2DF1222-2CB1-B5FE-21FE-0290A36AA6EB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4015D7CD-FF44-85CE-CEF9-C608B57DAA96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9CAD32DF-A476-6AE8-F798-4B35B4267FE3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35572C2E-3553-7942-B269-31E5DB5FA2CA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46ED58E7-58F0-9FD9-7025-1EC1D0CABDDC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D719333-F02C-801C-D970-367D9582B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F4560CBD-63BD-150C-AF29-98AD013A1CDF}"/>
              </a:ext>
            </a:extLst>
          </p:cNvPr>
          <p:cNvSpPr/>
          <p:nvPr/>
        </p:nvSpPr>
        <p:spPr>
          <a:xfrm>
            <a:off x="1219200" y="-1390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CROSS-CITY GENERALISATION  -  THE RESULT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1EEC1081-0D5B-F61C-D497-73ED52DA7008}"/>
              </a:ext>
            </a:extLst>
          </p:cNvPr>
          <p:cNvSpPr/>
          <p:nvPr/>
        </p:nvSpPr>
        <p:spPr>
          <a:xfrm>
            <a:off x="3428363" y="2094413"/>
            <a:ext cx="2816729" cy="199891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AF6F75C-8182-F086-AA2E-A5B3A8A9F4B1}"/>
              </a:ext>
            </a:extLst>
          </p:cNvPr>
          <p:cNvSpPr/>
          <p:nvPr/>
        </p:nvSpPr>
        <p:spPr>
          <a:xfrm>
            <a:off x="3245483" y="2654799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0.718 → 0.753</a:t>
            </a:r>
            <a:endParaRPr lang="en-US" sz="2933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AB1D6F9-067D-AE52-BB00-9460FA3B8C98}"/>
              </a:ext>
            </a:extLst>
          </p:cNvPr>
          <p:cNvSpPr/>
          <p:nvPr/>
        </p:nvSpPr>
        <p:spPr>
          <a:xfrm>
            <a:off x="3129847" y="2264654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B4C0C22-C91D-A0E9-91D9-0CEB3E4372A0}"/>
              </a:ext>
            </a:extLst>
          </p:cNvPr>
          <p:cNvSpPr/>
          <p:nvPr/>
        </p:nvSpPr>
        <p:spPr>
          <a:xfrm>
            <a:off x="3511484" y="3245321"/>
            <a:ext cx="2691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F1 in-domain → Tokyo</a:t>
            </a:r>
            <a:endParaRPr lang="en-US" sz="1333" dirty="0"/>
          </a:p>
          <a:p>
            <a:pPr algn="ctr"/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improvement</a:t>
            </a:r>
            <a:endParaRPr lang="en-US" sz="1333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4F35E8F-1E62-6B03-ED81-69DE8AC3B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044557"/>
              </p:ext>
            </p:extLst>
          </p:nvPr>
        </p:nvGraphicFramePr>
        <p:xfrm>
          <a:off x="315517" y="4316610"/>
          <a:ext cx="11071812" cy="224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6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9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6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9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75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Hangzhou</a:t>
                      </a:r>
                      <a:endParaRPr sz="15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Tokyo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Tokyo DEGRADED F1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756"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A1A1A"/>
                          </a:solidFill>
                        </a:rPr>
                        <a:t>DL + </a:t>
                      </a:r>
                      <a:r>
                        <a:rPr sz="1500" dirty="0" err="1">
                          <a:solidFill>
                            <a:srgbClr val="1A1A1A"/>
                          </a:solidFill>
                        </a:rPr>
                        <a:t>XGBoost</a:t>
                      </a:r>
                      <a:r>
                        <a:rPr sz="1500" dirty="0">
                          <a:solidFill>
                            <a:srgbClr val="1A1A1A"/>
                          </a:solidFill>
                        </a:rPr>
                        <a:t>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75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</a:rPr>
                        <a:t>SENTINEL-GNSS (DL)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1A1A1A"/>
                          </a:solidFill>
                        </a:rPr>
                        <a:t>0.822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1A1A1A"/>
                          </a:solidFill>
                        </a:rPr>
                        <a:t>0.649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0.753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75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756">
                <a:tc>
                  <a:txBody>
                    <a:bodyPr/>
                    <a:lstStyle/>
                    <a:p>
                      <a:pPr algn="l"/>
                      <a:r>
                        <a:rPr sz="1500" dirty="0" err="1">
                          <a:solidFill>
                            <a:srgbClr val="1A1A1A"/>
                          </a:solidFill>
                        </a:rPr>
                        <a:t>RandomForest</a:t>
                      </a:r>
                      <a:endParaRPr sz="1500" dirty="0">
                        <a:solidFill>
                          <a:srgbClr val="1A1A1A"/>
                        </a:solidFill>
                      </a:endParaRP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0.910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0.618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1A1A1A"/>
                          </a:solidFill>
                        </a:rPr>
                        <a:t>0.148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091A0C11-1CE7-3CFB-743B-9DD89CBE6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820" y="859100"/>
            <a:ext cx="5315661" cy="3399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281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56A7F3C4-1F9B-0DD8-64E2-70BF28213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678730" y="1321468"/>
            <a:ext cx="3527510" cy="21532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341120"/>
            <a:ext cx="36576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9.46×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231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3 separate tree models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0.0449 ms / sample  vs  0.425 ms / sample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548640" y="3814035"/>
            <a:ext cx="282615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0560" y="3874995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670560" y="4216371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0.0449 ms</a:t>
            </a:r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670560" y="4557747"/>
            <a:ext cx="34137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horizons in one forward pass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529784" y="5094195"/>
            <a:ext cx="284501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70560" y="5155155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Tree models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670560" y="5496531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0.425 ms</a:t>
            </a:r>
            <a:endParaRPr lang="en-US" sz="2133" dirty="0"/>
          </a:p>
        </p:txBody>
      </p:sp>
      <p:sp>
        <p:nvSpPr>
          <p:cNvPr id="15" name="Text 13"/>
          <p:cNvSpPr/>
          <p:nvPr/>
        </p:nvSpPr>
        <p:spPr>
          <a:xfrm>
            <a:off x="670560" y="5837907"/>
            <a:ext cx="34137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per horizon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3521851" y="3814035"/>
            <a:ext cx="254615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643771" y="3874995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 MB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3643771" y="4216371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2133" dirty="0"/>
          </a:p>
        </p:txBody>
      </p:sp>
      <p:sp>
        <p:nvSpPr>
          <p:cNvPr id="19" name="Text 17"/>
          <p:cNvSpPr/>
          <p:nvPr/>
        </p:nvSpPr>
        <p:spPr>
          <a:xfrm>
            <a:off x="3643771" y="4557747"/>
            <a:ext cx="34137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1,456,652 parameters</a:t>
            </a:r>
            <a:endParaRPr lang="en-US" sz="1267" dirty="0"/>
          </a:p>
        </p:txBody>
      </p:sp>
      <p:sp>
        <p:nvSpPr>
          <p:cNvPr id="20" name="Shape 18"/>
          <p:cNvSpPr/>
          <p:nvPr/>
        </p:nvSpPr>
        <p:spPr>
          <a:xfrm>
            <a:off x="3521851" y="5094195"/>
            <a:ext cx="254615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643771" y="5155155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0.04%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3643771" y="5496531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budget</a:t>
            </a:r>
            <a:endParaRPr lang="en-US" sz="2133" dirty="0"/>
          </a:p>
        </p:txBody>
      </p:sp>
      <p:sp>
        <p:nvSpPr>
          <p:cNvPr id="23" name="Text 21"/>
          <p:cNvSpPr/>
          <p:nvPr/>
        </p:nvSpPr>
        <p:spPr>
          <a:xfrm>
            <a:off x="3643771" y="5837907"/>
            <a:ext cx="34137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Hz vehicle compute</a:t>
            </a:r>
            <a:endParaRPr lang="en-US" sz="1267" dirty="0"/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DF7F4A77-5B51-9D4F-18CC-4560E8985F85}"/>
              </a:ext>
            </a:extLst>
          </p:cNvPr>
          <p:cNvSpPr/>
          <p:nvPr/>
        </p:nvSpPr>
        <p:spPr>
          <a:xfrm>
            <a:off x="0" y="-6532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AF50A34E-23FC-434C-7A90-6FEDAD362BFB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F5CD1D30-E861-7184-2B38-181B6D78686E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29F94866-2355-C124-1559-8340EC8A629D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A44A01F6-B201-9558-22D7-ED258CA0FFB0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9D08145D-4E20-4C23-5C9B-BA7280103EBD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17C43C7B-0C9A-E6ED-183A-D1B42C581CE3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2574541A-9A98-D1F0-45B1-3DEFBCC41EF6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68A6695B-EE03-148B-3B4A-BC47BCA3E2FD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97DC82AC-59D2-B198-36B9-306A4643DFB4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2F54EBC7-8F7A-2F77-E643-4ED1655A65B6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6D1192C0-A2D9-6EB0-9600-38AFC11BED40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29D9D7D0-D49A-15F4-B29A-D064C19D3644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61DE9218-E6DE-6FBF-2103-C7573DD1D526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5B9BBF74-A7B7-3F99-D547-68537B761D87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9DC84B28-4DC3-5915-F152-39F9C0807E7A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421B3511-BD4D-1865-FAA4-FE2DB8631CA9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9B6A5A1-526B-E825-CE0E-D5B423622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3EB849B-B690-55BA-1355-F0A5F9676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980" y="1216850"/>
            <a:ext cx="5975119" cy="4263727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316497" y="-120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 &amp; EFFICIENCY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0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sz="4600" b="1" dirty="0">
                <a:solidFill>
                  <a:srgbClr val="FFFFFF"/>
                </a:solidFill>
              </a:rPr>
              <a:t>5 · EKF: From Prediction to 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20F166AB-AD91-4B64-DD52-0AA449DE6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112" y="1214166"/>
            <a:ext cx="6929844" cy="3884960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2A5CD850-1EE3-E023-1963-A9830CA6085F}"/>
              </a:ext>
            </a:extLst>
          </p:cNvPr>
          <p:cNvSpPr/>
          <p:nvPr/>
        </p:nvSpPr>
        <p:spPr>
          <a:xfrm>
            <a:off x="0" y="1935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4B11008E-3F8F-2016-02E4-C16E994BFA62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8FDA0D68-1543-D2AF-2FDD-A28825502698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4A347C5-EA8E-E2A0-B1ED-619311389981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30D7D544-2629-1C9E-0AA8-5C2D0742251C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F41290F9-B946-0B81-3AA6-689959E796AD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49213CD4-20D1-2349-833A-8579C7A1F52C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73A25FF2-D5A5-7D85-66E2-41652C7BA8FE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53C000BD-A3A2-2298-CEF1-91064FEA507D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4804119C-604B-18AB-B986-4E61858A97B9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4704A2BA-D64B-C75E-5B57-960050596FA8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F36DB7F0-0C58-C68B-D0DD-9CBB930368BB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47B07F77-80C9-CFF0-AFAA-76FA0ABA01BB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F47F3185-6D39-6EFF-FADF-5C90C1B64F04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8A5361BD-34AA-8504-C463-91085F6E9A8A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E808E64E-550C-2AD7-B939-56DF6F8B9210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5577" y="1451647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tx2"/>
                </a:solidFill>
              </a:rPr>
              <a:t>●  R = fixed (e.g. 9 m²)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188" y="1845564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33333"/>
                </a:solidFill>
              </a:rPr>
              <a:t>●  Always trusts GNSS equally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268" y="2275332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33333"/>
                </a:solidFill>
              </a:rPr>
              <a:t>●  Reactive  -  waits until GNSS fails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268" y="2631150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33333"/>
                </a:solidFill>
              </a:rPr>
              <a:t>●  Position jumps during blockage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268" y="300186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33333"/>
                </a:solidFill>
              </a:rPr>
              <a:t>●  No advance warning used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718D38D-47F4-AE66-6E6B-0B0AC8FD7FA4}"/>
              </a:ext>
            </a:extLst>
          </p:cNvPr>
          <p:cNvSpPr/>
          <p:nvPr/>
        </p:nvSpPr>
        <p:spPr>
          <a:xfrm>
            <a:off x="1192376" y="-48531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STANDARD VS ADAPTIVE EKF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A3E492C-4FBC-66B4-714B-49F6ACDF97C3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CE18866-A97B-CF65-6680-DFA13BB39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4736" y="-250852"/>
            <a:ext cx="1776568" cy="12459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E3B3569-4BBC-17FF-B73E-C226BBCC9172}"/>
              </a:ext>
            </a:extLst>
          </p:cNvPr>
          <p:cNvSpPr/>
          <p:nvPr/>
        </p:nvSpPr>
        <p:spPr>
          <a:xfrm>
            <a:off x="480569" y="916549"/>
            <a:ext cx="4239538" cy="375963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99666" y="953807"/>
            <a:ext cx="4356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Standard Kalman Filter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80568" y="3476013"/>
            <a:ext cx="4239539" cy="384048"/>
          </a:xfrm>
          <a:prstGeom prst="rect">
            <a:avLst/>
          </a:prstGeom>
          <a:solidFill>
            <a:srgbClr val="1B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680" y="3534880"/>
            <a:ext cx="45230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 Adaptive EKF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388" y="3980950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B873A"/>
                </a:solidFill>
              </a:rPr>
              <a:t>✔  R(t) grows with P̂(DEGRADED)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9388" y="4359918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A1733"/>
                </a:solidFill>
              </a:rPr>
              <a:t>✔  Pre-emptively distrusts GNSS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9388" y="4713486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A1733"/>
                </a:solidFill>
              </a:rPr>
              <a:t>✔  Shifts to dead-reckoning before failure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388" y="5028374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A1733"/>
                </a:solidFill>
              </a:rPr>
              <a:t>✔  Smooth handoff during blockage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388" y="5429859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A1733"/>
                </a:solidFill>
              </a:rPr>
              <a:t>✔  5 s early warning from SENTINEL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5F86829-A4CD-0FA4-77FE-4EA78AA6B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112" y="1214166"/>
            <a:ext cx="6929844" cy="43147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71DDAC8F-5845-D742-845D-BF1EBA0E1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774"/>
            <a:ext cx="12192000" cy="6858000"/>
          </a:xfrm>
          <a:prstGeom prst="rect">
            <a:avLst/>
          </a:prstGeom>
        </p:spPr>
      </p:pic>
      <p:sp>
        <p:nvSpPr>
          <p:cNvPr id="19" name="Shape 5">
            <a:extLst>
              <a:ext uri="{FF2B5EF4-FFF2-40B4-BE49-F238E27FC236}">
                <a16:creationId xmlns:a16="http://schemas.microsoft.com/office/drawing/2014/main" id="{8872508D-6A3F-2D35-A7F6-C07ADDC68FE9}"/>
              </a:ext>
            </a:extLst>
          </p:cNvPr>
          <p:cNvSpPr/>
          <p:nvPr/>
        </p:nvSpPr>
        <p:spPr>
          <a:xfrm>
            <a:off x="11049001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75A50ADA-8B46-180C-0D2C-4E0AD2D16051}"/>
              </a:ext>
            </a:extLst>
          </p:cNvPr>
          <p:cNvSpPr/>
          <p:nvPr/>
        </p:nvSpPr>
        <p:spPr>
          <a:xfrm>
            <a:off x="11268457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AA1D791E-6EA7-523C-9308-59F4E8645EE5}"/>
              </a:ext>
            </a:extLst>
          </p:cNvPr>
          <p:cNvSpPr/>
          <p:nvPr/>
        </p:nvSpPr>
        <p:spPr>
          <a:xfrm>
            <a:off x="11487913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5AFF812F-BFB4-15A7-DE8F-D84BC2E19CB6}"/>
              </a:ext>
            </a:extLst>
          </p:cNvPr>
          <p:cNvSpPr/>
          <p:nvPr/>
        </p:nvSpPr>
        <p:spPr>
          <a:xfrm>
            <a:off x="11707369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FEC3A0EE-7C16-E653-628A-BE5C591ED646}"/>
              </a:ext>
            </a:extLst>
          </p:cNvPr>
          <p:cNvSpPr/>
          <p:nvPr/>
        </p:nvSpPr>
        <p:spPr>
          <a:xfrm>
            <a:off x="11049001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F3D5177C-7A3A-3184-4D2C-86D8D6B0541F}"/>
              </a:ext>
            </a:extLst>
          </p:cNvPr>
          <p:cNvSpPr/>
          <p:nvPr/>
        </p:nvSpPr>
        <p:spPr>
          <a:xfrm>
            <a:off x="11268457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2327092D-B802-8361-2993-C84DB5DC8BAB}"/>
              </a:ext>
            </a:extLst>
          </p:cNvPr>
          <p:cNvSpPr/>
          <p:nvPr/>
        </p:nvSpPr>
        <p:spPr>
          <a:xfrm>
            <a:off x="11487913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3B110EB0-2F04-D604-DCBB-DD4B2EA50A16}"/>
              </a:ext>
            </a:extLst>
          </p:cNvPr>
          <p:cNvSpPr/>
          <p:nvPr/>
        </p:nvSpPr>
        <p:spPr>
          <a:xfrm>
            <a:off x="11707369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EFD109DE-75FC-4B9E-FB66-813B40677D4B}"/>
              </a:ext>
            </a:extLst>
          </p:cNvPr>
          <p:cNvSpPr/>
          <p:nvPr/>
        </p:nvSpPr>
        <p:spPr>
          <a:xfrm>
            <a:off x="11487913" y="676658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0BFBBE2E-F646-1A9B-BB1A-47429AC24A32}"/>
              </a:ext>
            </a:extLst>
          </p:cNvPr>
          <p:cNvSpPr/>
          <p:nvPr/>
        </p:nvSpPr>
        <p:spPr>
          <a:xfrm>
            <a:off x="11707369" y="676658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9614D7F0-7ED1-E89D-8CB7-193F22809D36}"/>
              </a:ext>
            </a:extLst>
          </p:cNvPr>
          <p:cNvSpPr/>
          <p:nvPr/>
        </p:nvSpPr>
        <p:spPr>
          <a:xfrm>
            <a:off x="10312490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31C5FC57-2948-B0A0-BDD3-8C295E5B919A}"/>
              </a:ext>
            </a:extLst>
          </p:cNvPr>
          <p:cNvSpPr/>
          <p:nvPr/>
        </p:nvSpPr>
        <p:spPr>
          <a:xfrm>
            <a:off x="10531946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9477E42D-4449-D8CF-FB58-82C0D674561A}"/>
              </a:ext>
            </a:extLst>
          </p:cNvPr>
          <p:cNvSpPr/>
          <p:nvPr/>
        </p:nvSpPr>
        <p:spPr>
          <a:xfrm>
            <a:off x="10751402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B028FACA-81FF-C91C-083C-E2EE75EDF48F}"/>
              </a:ext>
            </a:extLst>
          </p:cNvPr>
          <p:cNvSpPr/>
          <p:nvPr/>
        </p:nvSpPr>
        <p:spPr>
          <a:xfrm>
            <a:off x="10970858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33E7CDD6-B0D6-B830-355B-A6344B84EF1F}"/>
              </a:ext>
            </a:extLst>
          </p:cNvPr>
          <p:cNvSpPr/>
          <p:nvPr/>
        </p:nvSpPr>
        <p:spPr>
          <a:xfrm>
            <a:off x="10312490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66AF2529-8FF3-A3CE-3B55-CE7132CB5020}"/>
              </a:ext>
            </a:extLst>
          </p:cNvPr>
          <p:cNvSpPr/>
          <p:nvPr/>
        </p:nvSpPr>
        <p:spPr>
          <a:xfrm>
            <a:off x="10531946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11">
            <a:extLst>
              <a:ext uri="{FF2B5EF4-FFF2-40B4-BE49-F238E27FC236}">
                <a16:creationId xmlns:a16="http://schemas.microsoft.com/office/drawing/2014/main" id="{7F8D144D-D2A0-E82A-F8F0-82FF6882325B}"/>
              </a:ext>
            </a:extLst>
          </p:cNvPr>
          <p:cNvSpPr/>
          <p:nvPr/>
        </p:nvSpPr>
        <p:spPr>
          <a:xfrm>
            <a:off x="10751402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4D8FBE6C-6C61-C68B-FE0A-224D31A9FAC0}"/>
              </a:ext>
            </a:extLst>
          </p:cNvPr>
          <p:cNvSpPr/>
          <p:nvPr/>
        </p:nvSpPr>
        <p:spPr>
          <a:xfrm>
            <a:off x="10970858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E9980BA6-E76C-FA86-56AA-FAD39352EB25}"/>
              </a:ext>
            </a:extLst>
          </p:cNvPr>
          <p:cNvSpPr/>
          <p:nvPr/>
        </p:nvSpPr>
        <p:spPr>
          <a:xfrm>
            <a:off x="10312490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5BF94415-AA36-5B3A-060D-CB1BB57D8B0C}"/>
              </a:ext>
            </a:extLst>
          </p:cNvPr>
          <p:cNvSpPr/>
          <p:nvPr/>
        </p:nvSpPr>
        <p:spPr>
          <a:xfrm>
            <a:off x="10531946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21F2FAC0-6909-F068-3638-C59BABBE4995}"/>
              </a:ext>
            </a:extLst>
          </p:cNvPr>
          <p:cNvSpPr/>
          <p:nvPr/>
        </p:nvSpPr>
        <p:spPr>
          <a:xfrm>
            <a:off x="10751402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16">
            <a:extLst>
              <a:ext uri="{FF2B5EF4-FFF2-40B4-BE49-F238E27FC236}">
                <a16:creationId xmlns:a16="http://schemas.microsoft.com/office/drawing/2014/main" id="{72D4CADE-CE6C-4FEE-B1E1-94A7D4E12C14}"/>
              </a:ext>
            </a:extLst>
          </p:cNvPr>
          <p:cNvSpPr/>
          <p:nvPr/>
        </p:nvSpPr>
        <p:spPr>
          <a:xfrm>
            <a:off x="10970858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FBE3CFFD-53F7-E238-BEEB-0DFAC08C0F27}"/>
              </a:ext>
            </a:extLst>
          </p:cNvPr>
          <p:cNvSpPr/>
          <p:nvPr/>
        </p:nvSpPr>
        <p:spPr>
          <a:xfrm>
            <a:off x="0" y="1935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433E4C01-9D65-6FD0-D51D-0DA77783C8FE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CC1376D2-7D95-F94F-B473-07FC35093AA0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D3AB4A-9466-DA54-36D9-15D4BDBE5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4860" y="-252322"/>
            <a:ext cx="1776568" cy="1245981"/>
          </a:xfrm>
          <a:prstGeom prst="rect">
            <a:avLst/>
          </a:prstGeom>
        </p:spPr>
      </p:pic>
      <p:sp>
        <p:nvSpPr>
          <p:cNvPr id="18" name="Shape 2">
            <a:extLst>
              <a:ext uri="{FF2B5EF4-FFF2-40B4-BE49-F238E27FC236}">
                <a16:creationId xmlns:a16="http://schemas.microsoft.com/office/drawing/2014/main" id="{C4E196DD-7F57-2AE3-C409-4534A34164ED}"/>
              </a:ext>
            </a:extLst>
          </p:cNvPr>
          <p:cNvSpPr/>
          <p:nvPr/>
        </p:nvSpPr>
        <p:spPr>
          <a:xfrm>
            <a:off x="-12192" y="6780320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A4C0ADD0-00BE-5486-310D-217165B01BAA}"/>
              </a:ext>
            </a:extLst>
          </p:cNvPr>
          <p:cNvSpPr/>
          <p:nvPr/>
        </p:nvSpPr>
        <p:spPr>
          <a:xfrm>
            <a:off x="-12192" y="6757135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0D1EA45F-1FD1-AF90-784A-971BF559A9AA}"/>
              </a:ext>
            </a:extLst>
          </p:cNvPr>
          <p:cNvSpPr/>
          <p:nvPr/>
        </p:nvSpPr>
        <p:spPr>
          <a:xfrm>
            <a:off x="1192376" y="-48531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EKF FORMULA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DDAD9F0-4EB4-75ED-B57F-83AFD61AE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23" y="1062387"/>
            <a:ext cx="10049478" cy="5279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71DDAC8F-5845-D742-845D-BF1EBA0E1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774"/>
            <a:ext cx="12192000" cy="6858000"/>
          </a:xfrm>
          <a:prstGeom prst="rect">
            <a:avLst/>
          </a:prstGeom>
        </p:spPr>
      </p:pic>
      <p:sp>
        <p:nvSpPr>
          <p:cNvPr id="19" name="Shape 5">
            <a:extLst>
              <a:ext uri="{FF2B5EF4-FFF2-40B4-BE49-F238E27FC236}">
                <a16:creationId xmlns:a16="http://schemas.microsoft.com/office/drawing/2014/main" id="{8872508D-6A3F-2D35-A7F6-C07ADDC68FE9}"/>
              </a:ext>
            </a:extLst>
          </p:cNvPr>
          <p:cNvSpPr/>
          <p:nvPr/>
        </p:nvSpPr>
        <p:spPr>
          <a:xfrm>
            <a:off x="11049001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75A50ADA-8B46-180C-0D2C-4E0AD2D16051}"/>
              </a:ext>
            </a:extLst>
          </p:cNvPr>
          <p:cNvSpPr/>
          <p:nvPr/>
        </p:nvSpPr>
        <p:spPr>
          <a:xfrm>
            <a:off x="11268457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AA1D791E-6EA7-523C-9308-59F4E8645EE5}"/>
              </a:ext>
            </a:extLst>
          </p:cNvPr>
          <p:cNvSpPr/>
          <p:nvPr/>
        </p:nvSpPr>
        <p:spPr>
          <a:xfrm>
            <a:off x="11487913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5AFF812F-BFB4-15A7-DE8F-D84BC2E19CB6}"/>
              </a:ext>
            </a:extLst>
          </p:cNvPr>
          <p:cNvSpPr/>
          <p:nvPr/>
        </p:nvSpPr>
        <p:spPr>
          <a:xfrm>
            <a:off x="11707369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FEC3A0EE-7C16-E653-628A-BE5C591ED646}"/>
              </a:ext>
            </a:extLst>
          </p:cNvPr>
          <p:cNvSpPr/>
          <p:nvPr/>
        </p:nvSpPr>
        <p:spPr>
          <a:xfrm>
            <a:off x="11049001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F3D5177C-7A3A-3184-4D2C-86D8D6B0541F}"/>
              </a:ext>
            </a:extLst>
          </p:cNvPr>
          <p:cNvSpPr/>
          <p:nvPr/>
        </p:nvSpPr>
        <p:spPr>
          <a:xfrm>
            <a:off x="11268457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2327092D-B802-8361-2993-C84DB5DC8BAB}"/>
              </a:ext>
            </a:extLst>
          </p:cNvPr>
          <p:cNvSpPr/>
          <p:nvPr/>
        </p:nvSpPr>
        <p:spPr>
          <a:xfrm>
            <a:off x="11487913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3B110EB0-2F04-D604-DCBB-DD4B2EA50A16}"/>
              </a:ext>
            </a:extLst>
          </p:cNvPr>
          <p:cNvSpPr/>
          <p:nvPr/>
        </p:nvSpPr>
        <p:spPr>
          <a:xfrm>
            <a:off x="11707369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EFD109DE-75FC-4B9E-FB66-813B40677D4B}"/>
              </a:ext>
            </a:extLst>
          </p:cNvPr>
          <p:cNvSpPr/>
          <p:nvPr/>
        </p:nvSpPr>
        <p:spPr>
          <a:xfrm>
            <a:off x="11487913" y="676658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0BFBBE2E-F646-1A9B-BB1A-47429AC24A32}"/>
              </a:ext>
            </a:extLst>
          </p:cNvPr>
          <p:cNvSpPr/>
          <p:nvPr/>
        </p:nvSpPr>
        <p:spPr>
          <a:xfrm>
            <a:off x="11707369" y="676658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9614D7F0-7ED1-E89D-8CB7-193F22809D36}"/>
              </a:ext>
            </a:extLst>
          </p:cNvPr>
          <p:cNvSpPr/>
          <p:nvPr/>
        </p:nvSpPr>
        <p:spPr>
          <a:xfrm>
            <a:off x="10312490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31C5FC57-2948-B0A0-BDD3-8C295E5B919A}"/>
              </a:ext>
            </a:extLst>
          </p:cNvPr>
          <p:cNvSpPr/>
          <p:nvPr/>
        </p:nvSpPr>
        <p:spPr>
          <a:xfrm>
            <a:off x="10531946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9477E42D-4449-D8CF-FB58-82C0D674561A}"/>
              </a:ext>
            </a:extLst>
          </p:cNvPr>
          <p:cNvSpPr/>
          <p:nvPr/>
        </p:nvSpPr>
        <p:spPr>
          <a:xfrm>
            <a:off x="10751402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B028FACA-81FF-C91C-083C-E2EE75EDF48F}"/>
              </a:ext>
            </a:extLst>
          </p:cNvPr>
          <p:cNvSpPr/>
          <p:nvPr/>
        </p:nvSpPr>
        <p:spPr>
          <a:xfrm>
            <a:off x="10970858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33E7CDD6-B0D6-B830-355B-A6344B84EF1F}"/>
              </a:ext>
            </a:extLst>
          </p:cNvPr>
          <p:cNvSpPr/>
          <p:nvPr/>
        </p:nvSpPr>
        <p:spPr>
          <a:xfrm>
            <a:off x="10312490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66AF2529-8FF3-A3CE-3B55-CE7132CB5020}"/>
              </a:ext>
            </a:extLst>
          </p:cNvPr>
          <p:cNvSpPr/>
          <p:nvPr/>
        </p:nvSpPr>
        <p:spPr>
          <a:xfrm>
            <a:off x="10531946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11">
            <a:extLst>
              <a:ext uri="{FF2B5EF4-FFF2-40B4-BE49-F238E27FC236}">
                <a16:creationId xmlns:a16="http://schemas.microsoft.com/office/drawing/2014/main" id="{7F8D144D-D2A0-E82A-F8F0-82FF6882325B}"/>
              </a:ext>
            </a:extLst>
          </p:cNvPr>
          <p:cNvSpPr/>
          <p:nvPr/>
        </p:nvSpPr>
        <p:spPr>
          <a:xfrm>
            <a:off x="10751402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4D8FBE6C-6C61-C68B-FE0A-224D31A9FAC0}"/>
              </a:ext>
            </a:extLst>
          </p:cNvPr>
          <p:cNvSpPr/>
          <p:nvPr/>
        </p:nvSpPr>
        <p:spPr>
          <a:xfrm>
            <a:off x="10970858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E9980BA6-E76C-FA86-56AA-FAD39352EB25}"/>
              </a:ext>
            </a:extLst>
          </p:cNvPr>
          <p:cNvSpPr/>
          <p:nvPr/>
        </p:nvSpPr>
        <p:spPr>
          <a:xfrm>
            <a:off x="10312490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5BF94415-AA36-5B3A-060D-CB1BB57D8B0C}"/>
              </a:ext>
            </a:extLst>
          </p:cNvPr>
          <p:cNvSpPr/>
          <p:nvPr/>
        </p:nvSpPr>
        <p:spPr>
          <a:xfrm>
            <a:off x="10531946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21F2FAC0-6909-F068-3638-C59BABBE4995}"/>
              </a:ext>
            </a:extLst>
          </p:cNvPr>
          <p:cNvSpPr/>
          <p:nvPr/>
        </p:nvSpPr>
        <p:spPr>
          <a:xfrm>
            <a:off x="10751402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16">
            <a:extLst>
              <a:ext uri="{FF2B5EF4-FFF2-40B4-BE49-F238E27FC236}">
                <a16:creationId xmlns:a16="http://schemas.microsoft.com/office/drawing/2014/main" id="{72D4CADE-CE6C-4FEE-B1E1-94A7D4E12C14}"/>
              </a:ext>
            </a:extLst>
          </p:cNvPr>
          <p:cNvSpPr/>
          <p:nvPr/>
        </p:nvSpPr>
        <p:spPr>
          <a:xfrm>
            <a:off x="10970858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FBE3CFFD-53F7-E238-BEEB-0DFAC08C0F27}"/>
              </a:ext>
            </a:extLst>
          </p:cNvPr>
          <p:cNvSpPr/>
          <p:nvPr/>
        </p:nvSpPr>
        <p:spPr>
          <a:xfrm>
            <a:off x="0" y="1935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433E4C01-9D65-6FD0-D51D-0DA77783C8FE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CC1376D2-7D95-F94F-B473-07FC35093AA0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D3AB4A-9466-DA54-36D9-15D4BDBE5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4860" y="-252322"/>
            <a:ext cx="1776568" cy="1245981"/>
          </a:xfrm>
          <a:prstGeom prst="rect">
            <a:avLst/>
          </a:prstGeom>
        </p:spPr>
      </p:pic>
      <p:sp>
        <p:nvSpPr>
          <p:cNvPr id="18" name="Shape 2">
            <a:extLst>
              <a:ext uri="{FF2B5EF4-FFF2-40B4-BE49-F238E27FC236}">
                <a16:creationId xmlns:a16="http://schemas.microsoft.com/office/drawing/2014/main" id="{C4E196DD-7F57-2AE3-C409-4534A34164ED}"/>
              </a:ext>
            </a:extLst>
          </p:cNvPr>
          <p:cNvSpPr/>
          <p:nvPr/>
        </p:nvSpPr>
        <p:spPr>
          <a:xfrm>
            <a:off x="-12192" y="6780320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A4C0ADD0-00BE-5486-310D-217165B01BAA}"/>
              </a:ext>
            </a:extLst>
          </p:cNvPr>
          <p:cNvSpPr/>
          <p:nvPr/>
        </p:nvSpPr>
        <p:spPr>
          <a:xfrm>
            <a:off x="-12192" y="6757135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0D1EA45F-1FD1-AF90-784A-971BF559A9AA}"/>
              </a:ext>
            </a:extLst>
          </p:cNvPr>
          <p:cNvSpPr/>
          <p:nvPr/>
        </p:nvSpPr>
        <p:spPr>
          <a:xfrm>
            <a:off x="1192376" y="-48531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EKF FORMULA: Kalman Gain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AF9BE8D-A2B7-80A9-780B-2F12E703E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117" y="826326"/>
            <a:ext cx="10406399" cy="584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36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 dirty="0">
                <a:solidFill>
                  <a:srgbClr val="202833"/>
                </a:solidFill>
              </a:rPr>
              <a:t>Degraded-Segment RMSE gain vs. Raw GPS</a:t>
            </a:r>
          </a:p>
        </p:txBody>
      </p:sp>
      <p:pic>
        <p:nvPicPr>
          <p:cNvPr id="4" name="Picture 3" descr="figC4_robus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11384280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3157" y="5298948"/>
            <a:ext cx="11064240" cy="9573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b="1" dirty="0">
                <a:solidFill>
                  <a:srgbClr val="003366"/>
                </a:solidFill>
              </a:rPr>
              <a:t>Trimble Shinjuku: EKF fixed-R wins (24.3 m).   u-</a:t>
            </a:r>
            <a:r>
              <a:rPr b="1" dirty="0" err="1">
                <a:solidFill>
                  <a:srgbClr val="003366"/>
                </a:solidFill>
              </a:rPr>
              <a:t>blox</a:t>
            </a:r>
            <a:r>
              <a:rPr b="1" dirty="0">
                <a:solidFill>
                  <a:srgbClr val="003366"/>
                </a:solidFill>
              </a:rPr>
              <a:t>: Huber EKF wins.   Odaiba: Student-t PF wins.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b="0" dirty="0">
                <a:solidFill>
                  <a:srgbClr val="202833"/>
                </a:solidFill>
              </a:rPr>
              <a:t>No single method dominates - SENTINEL adaptive-R pairs best with clean GPS, the most common case.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92000" cy="30175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647688"/>
            <a:ext cx="12192000" cy="211226"/>
          </a:xfrm>
          <a:prstGeom prst="rect">
            <a:avLst/>
          </a:prstGeom>
          <a:solidFill>
            <a:srgbClr val="0038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F5EE186-FE54-F942-DD04-4BEB9224E419}"/>
              </a:ext>
            </a:extLst>
          </p:cNvPr>
          <p:cNvGrpSpPr/>
          <p:nvPr/>
        </p:nvGrpSpPr>
        <p:grpSpPr>
          <a:xfrm>
            <a:off x="-404351" y="-276714"/>
            <a:ext cx="12645212" cy="1245981"/>
            <a:chOff x="-453212" y="-263954"/>
            <a:chExt cx="12645212" cy="1245981"/>
          </a:xfrm>
        </p:grpSpPr>
        <p:sp>
          <p:nvSpPr>
            <p:cNvPr id="11" name="Shape 0">
              <a:extLst>
                <a:ext uri="{FF2B5EF4-FFF2-40B4-BE49-F238E27FC236}">
                  <a16:creationId xmlns:a16="http://schemas.microsoft.com/office/drawing/2014/main" id="{2D36C532-557B-1F4E-27E1-53AB660C710F}"/>
                </a:ext>
              </a:extLst>
            </p:cNvPr>
            <p:cNvSpPr/>
            <p:nvPr/>
          </p:nvSpPr>
          <p:spPr>
            <a:xfrm>
              <a:off x="0" y="-7492"/>
              <a:ext cx="12192000" cy="740408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hape 1">
              <a:extLst>
                <a:ext uri="{FF2B5EF4-FFF2-40B4-BE49-F238E27FC236}">
                  <a16:creationId xmlns:a16="http://schemas.microsoft.com/office/drawing/2014/main" id="{DCF7C0FB-3AAB-468E-BB7A-A41EED460B0E}"/>
                </a:ext>
              </a:extLst>
            </p:cNvPr>
            <p:cNvSpPr/>
            <p:nvPr/>
          </p:nvSpPr>
          <p:spPr>
            <a:xfrm>
              <a:off x="0" y="702347"/>
              <a:ext cx="12192000" cy="36576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E44A2A7C-0F19-9E86-298B-B28FC420D6E0}"/>
                </a:ext>
              </a:extLst>
            </p:cNvPr>
            <p:cNvSpPr/>
            <p:nvPr/>
          </p:nvSpPr>
          <p:spPr>
            <a:xfrm>
              <a:off x="0" y="-24618"/>
              <a:ext cx="1128763" cy="767311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hape 5">
              <a:extLst>
                <a:ext uri="{FF2B5EF4-FFF2-40B4-BE49-F238E27FC236}">
                  <a16:creationId xmlns:a16="http://schemas.microsoft.com/office/drawing/2014/main" id="{0721C87C-F718-CFC7-EC94-ED03C5B96428}"/>
                </a:ext>
              </a:extLst>
            </p:cNvPr>
            <p:cNvSpPr/>
            <p:nvPr/>
          </p:nvSpPr>
          <p:spPr>
            <a:xfrm>
              <a:off x="10728961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hape 6">
              <a:extLst>
                <a:ext uri="{FF2B5EF4-FFF2-40B4-BE49-F238E27FC236}">
                  <a16:creationId xmlns:a16="http://schemas.microsoft.com/office/drawing/2014/main" id="{616AA7D2-0B8D-9E96-74E7-8656C91B9FE4}"/>
                </a:ext>
              </a:extLst>
            </p:cNvPr>
            <p:cNvSpPr/>
            <p:nvPr/>
          </p:nvSpPr>
          <p:spPr>
            <a:xfrm>
              <a:off x="10948417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hape 7">
              <a:extLst>
                <a:ext uri="{FF2B5EF4-FFF2-40B4-BE49-F238E27FC236}">
                  <a16:creationId xmlns:a16="http://schemas.microsoft.com/office/drawing/2014/main" id="{4204035B-096F-F9C7-DED9-BB8486B69564}"/>
                </a:ext>
              </a:extLst>
            </p:cNvPr>
            <p:cNvSpPr/>
            <p:nvPr/>
          </p:nvSpPr>
          <p:spPr>
            <a:xfrm>
              <a:off x="11167873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hape 8">
              <a:extLst>
                <a:ext uri="{FF2B5EF4-FFF2-40B4-BE49-F238E27FC236}">
                  <a16:creationId xmlns:a16="http://schemas.microsoft.com/office/drawing/2014/main" id="{0A7A383F-A0CF-6D64-CD4F-8C3935D914FB}"/>
                </a:ext>
              </a:extLst>
            </p:cNvPr>
            <p:cNvSpPr/>
            <p:nvPr/>
          </p:nvSpPr>
          <p:spPr>
            <a:xfrm>
              <a:off x="11387329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hape 9">
              <a:extLst>
                <a:ext uri="{FF2B5EF4-FFF2-40B4-BE49-F238E27FC236}">
                  <a16:creationId xmlns:a16="http://schemas.microsoft.com/office/drawing/2014/main" id="{AEF88113-BFC0-713C-898B-18CB22264637}"/>
                </a:ext>
              </a:extLst>
            </p:cNvPr>
            <p:cNvSpPr/>
            <p:nvPr/>
          </p:nvSpPr>
          <p:spPr>
            <a:xfrm>
              <a:off x="10728961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hape 10">
              <a:extLst>
                <a:ext uri="{FF2B5EF4-FFF2-40B4-BE49-F238E27FC236}">
                  <a16:creationId xmlns:a16="http://schemas.microsoft.com/office/drawing/2014/main" id="{BFEFE36B-0DB7-0EBF-AE9D-F1AE54568912}"/>
                </a:ext>
              </a:extLst>
            </p:cNvPr>
            <p:cNvSpPr/>
            <p:nvPr/>
          </p:nvSpPr>
          <p:spPr>
            <a:xfrm>
              <a:off x="10948417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hape 11">
              <a:extLst>
                <a:ext uri="{FF2B5EF4-FFF2-40B4-BE49-F238E27FC236}">
                  <a16:creationId xmlns:a16="http://schemas.microsoft.com/office/drawing/2014/main" id="{9366EDD7-3846-90D4-4B23-5618A9F1A267}"/>
                </a:ext>
              </a:extLst>
            </p:cNvPr>
            <p:cNvSpPr/>
            <p:nvPr/>
          </p:nvSpPr>
          <p:spPr>
            <a:xfrm>
              <a:off x="11167873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hape 12">
              <a:extLst>
                <a:ext uri="{FF2B5EF4-FFF2-40B4-BE49-F238E27FC236}">
                  <a16:creationId xmlns:a16="http://schemas.microsoft.com/office/drawing/2014/main" id="{3562881F-1DB7-AC8D-661B-1E283E8045E0}"/>
                </a:ext>
              </a:extLst>
            </p:cNvPr>
            <p:cNvSpPr/>
            <p:nvPr/>
          </p:nvSpPr>
          <p:spPr>
            <a:xfrm>
              <a:off x="11387329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hape 13">
              <a:extLst>
                <a:ext uri="{FF2B5EF4-FFF2-40B4-BE49-F238E27FC236}">
                  <a16:creationId xmlns:a16="http://schemas.microsoft.com/office/drawing/2014/main" id="{E1A8399B-F5F7-F8A4-DE26-0CF877D6C1AA}"/>
                </a:ext>
              </a:extLst>
            </p:cNvPr>
            <p:cNvSpPr/>
            <p:nvPr/>
          </p:nvSpPr>
          <p:spPr>
            <a:xfrm>
              <a:off x="10728961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hape 14">
              <a:extLst>
                <a:ext uri="{FF2B5EF4-FFF2-40B4-BE49-F238E27FC236}">
                  <a16:creationId xmlns:a16="http://schemas.microsoft.com/office/drawing/2014/main" id="{83F05CA4-78DE-0E75-2E3B-476EAECE9DC7}"/>
                </a:ext>
              </a:extLst>
            </p:cNvPr>
            <p:cNvSpPr/>
            <p:nvPr/>
          </p:nvSpPr>
          <p:spPr>
            <a:xfrm>
              <a:off x="10948417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hape 15">
              <a:extLst>
                <a:ext uri="{FF2B5EF4-FFF2-40B4-BE49-F238E27FC236}">
                  <a16:creationId xmlns:a16="http://schemas.microsoft.com/office/drawing/2014/main" id="{73EDAE62-829B-4FF0-882D-156E256164A3}"/>
                </a:ext>
              </a:extLst>
            </p:cNvPr>
            <p:cNvSpPr/>
            <p:nvPr/>
          </p:nvSpPr>
          <p:spPr>
            <a:xfrm>
              <a:off x="11167873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hape 16">
              <a:extLst>
                <a:ext uri="{FF2B5EF4-FFF2-40B4-BE49-F238E27FC236}">
                  <a16:creationId xmlns:a16="http://schemas.microsoft.com/office/drawing/2014/main" id="{E28CE842-8F28-29C6-1FF1-D7F2DD173BE8}"/>
                </a:ext>
              </a:extLst>
            </p:cNvPr>
            <p:cNvSpPr/>
            <p:nvPr/>
          </p:nvSpPr>
          <p:spPr>
            <a:xfrm>
              <a:off x="11387329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FD358D8-C270-D79F-8684-69CA9CB84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453212" y="-263954"/>
              <a:ext cx="1776568" cy="1245981"/>
            </a:xfrm>
            <a:prstGeom prst="rect">
              <a:avLst/>
            </a:prstGeom>
          </p:spPr>
        </p:pic>
        <p:sp>
          <p:nvSpPr>
            <p:cNvPr id="27" name="Text 1">
              <a:extLst>
                <a:ext uri="{FF2B5EF4-FFF2-40B4-BE49-F238E27FC236}">
                  <a16:creationId xmlns:a16="http://schemas.microsoft.com/office/drawing/2014/main" id="{60C133A8-FCB4-FC53-A11B-CD8DCA1AF3FB}"/>
                </a:ext>
              </a:extLst>
            </p:cNvPr>
            <p:cNvSpPr/>
            <p:nvPr/>
          </p:nvSpPr>
          <p:spPr>
            <a:xfrm>
              <a:off x="-195444" y="-42889"/>
              <a:ext cx="9079948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</a:rPr>
                <a:t>EKF MULTI-ENVIRONMENT RESULTS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" y="-13499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5FDD130-C013-C480-6834-7ECC3E55D88E}"/>
              </a:ext>
            </a:extLst>
          </p:cNvPr>
          <p:cNvGrpSpPr/>
          <p:nvPr/>
        </p:nvGrpSpPr>
        <p:grpSpPr>
          <a:xfrm>
            <a:off x="-453212" y="-263954"/>
            <a:ext cx="12695766" cy="1245981"/>
            <a:chOff x="-453212" y="-263954"/>
            <a:chExt cx="12695766" cy="1245981"/>
          </a:xfrm>
        </p:grpSpPr>
        <p:sp>
          <p:nvSpPr>
            <p:cNvPr id="13" name="Shape 0">
              <a:extLst>
                <a:ext uri="{FF2B5EF4-FFF2-40B4-BE49-F238E27FC236}">
                  <a16:creationId xmlns:a16="http://schemas.microsoft.com/office/drawing/2014/main" id="{F0567383-7426-103E-CCD9-19B66F20B26F}"/>
                </a:ext>
              </a:extLst>
            </p:cNvPr>
            <p:cNvSpPr/>
            <p:nvPr/>
          </p:nvSpPr>
          <p:spPr>
            <a:xfrm>
              <a:off x="0" y="-7492"/>
              <a:ext cx="12192000" cy="740408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hape 1">
              <a:extLst>
                <a:ext uri="{FF2B5EF4-FFF2-40B4-BE49-F238E27FC236}">
                  <a16:creationId xmlns:a16="http://schemas.microsoft.com/office/drawing/2014/main" id="{FD3BD93E-5CFD-8421-6DCB-1BE896EFAE1E}"/>
                </a:ext>
              </a:extLst>
            </p:cNvPr>
            <p:cNvSpPr/>
            <p:nvPr/>
          </p:nvSpPr>
          <p:spPr>
            <a:xfrm>
              <a:off x="0" y="702347"/>
              <a:ext cx="12192000" cy="36576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hape 4">
              <a:extLst>
                <a:ext uri="{FF2B5EF4-FFF2-40B4-BE49-F238E27FC236}">
                  <a16:creationId xmlns:a16="http://schemas.microsoft.com/office/drawing/2014/main" id="{B3F303A1-7F46-2EDC-FD4C-4DF7A09F38DE}"/>
                </a:ext>
              </a:extLst>
            </p:cNvPr>
            <p:cNvSpPr/>
            <p:nvPr/>
          </p:nvSpPr>
          <p:spPr>
            <a:xfrm>
              <a:off x="0" y="-24618"/>
              <a:ext cx="1128763" cy="767311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hape 5">
              <a:extLst>
                <a:ext uri="{FF2B5EF4-FFF2-40B4-BE49-F238E27FC236}">
                  <a16:creationId xmlns:a16="http://schemas.microsoft.com/office/drawing/2014/main" id="{6B114785-E93C-C872-FB10-5E36BA1F87DF}"/>
                </a:ext>
              </a:extLst>
            </p:cNvPr>
            <p:cNvSpPr/>
            <p:nvPr/>
          </p:nvSpPr>
          <p:spPr>
            <a:xfrm>
              <a:off x="10728961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hape 6">
              <a:extLst>
                <a:ext uri="{FF2B5EF4-FFF2-40B4-BE49-F238E27FC236}">
                  <a16:creationId xmlns:a16="http://schemas.microsoft.com/office/drawing/2014/main" id="{DC5BBE2C-3613-1FCF-4026-5B0A3FF93B86}"/>
                </a:ext>
              </a:extLst>
            </p:cNvPr>
            <p:cNvSpPr/>
            <p:nvPr/>
          </p:nvSpPr>
          <p:spPr>
            <a:xfrm>
              <a:off x="10948417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hape 7">
              <a:extLst>
                <a:ext uri="{FF2B5EF4-FFF2-40B4-BE49-F238E27FC236}">
                  <a16:creationId xmlns:a16="http://schemas.microsoft.com/office/drawing/2014/main" id="{2C4B2E57-5B56-1EE2-DDB4-98212E94D851}"/>
                </a:ext>
              </a:extLst>
            </p:cNvPr>
            <p:cNvSpPr/>
            <p:nvPr/>
          </p:nvSpPr>
          <p:spPr>
            <a:xfrm>
              <a:off x="11167873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hape 8">
              <a:extLst>
                <a:ext uri="{FF2B5EF4-FFF2-40B4-BE49-F238E27FC236}">
                  <a16:creationId xmlns:a16="http://schemas.microsoft.com/office/drawing/2014/main" id="{85356E53-C788-2D75-F5D9-0EFD8590F88C}"/>
                </a:ext>
              </a:extLst>
            </p:cNvPr>
            <p:cNvSpPr/>
            <p:nvPr/>
          </p:nvSpPr>
          <p:spPr>
            <a:xfrm>
              <a:off x="11387329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hape 9">
              <a:extLst>
                <a:ext uri="{FF2B5EF4-FFF2-40B4-BE49-F238E27FC236}">
                  <a16:creationId xmlns:a16="http://schemas.microsoft.com/office/drawing/2014/main" id="{B36865FA-86E2-18ED-B587-7849C6B9B366}"/>
                </a:ext>
              </a:extLst>
            </p:cNvPr>
            <p:cNvSpPr/>
            <p:nvPr/>
          </p:nvSpPr>
          <p:spPr>
            <a:xfrm>
              <a:off x="10728961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hape 10">
              <a:extLst>
                <a:ext uri="{FF2B5EF4-FFF2-40B4-BE49-F238E27FC236}">
                  <a16:creationId xmlns:a16="http://schemas.microsoft.com/office/drawing/2014/main" id="{FA444749-A0AD-3120-E586-513EAF47D6FC}"/>
                </a:ext>
              </a:extLst>
            </p:cNvPr>
            <p:cNvSpPr/>
            <p:nvPr/>
          </p:nvSpPr>
          <p:spPr>
            <a:xfrm>
              <a:off x="10948417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hape 11">
              <a:extLst>
                <a:ext uri="{FF2B5EF4-FFF2-40B4-BE49-F238E27FC236}">
                  <a16:creationId xmlns:a16="http://schemas.microsoft.com/office/drawing/2014/main" id="{317584CF-5802-C31D-2E7D-3B38870635FB}"/>
                </a:ext>
              </a:extLst>
            </p:cNvPr>
            <p:cNvSpPr/>
            <p:nvPr/>
          </p:nvSpPr>
          <p:spPr>
            <a:xfrm>
              <a:off x="11167873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hape 12">
              <a:extLst>
                <a:ext uri="{FF2B5EF4-FFF2-40B4-BE49-F238E27FC236}">
                  <a16:creationId xmlns:a16="http://schemas.microsoft.com/office/drawing/2014/main" id="{B35474DB-497B-FF3E-5354-3BE5B4E17A26}"/>
                </a:ext>
              </a:extLst>
            </p:cNvPr>
            <p:cNvSpPr/>
            <p:nvPr/>
          </p:nvSpPr>
          <p:spPr>
            <a:xfrm>
              <a:off x="11387329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hape 13">
              <a:extLst>
                <a:ext uri="{FF2B5EF4-FFF2-40B4-BE49-F238E27FC236}">
                  <a16:creationId xmlns:a16="http://schemas.microsoft.com/office/drawing/2014/main" id="{76D853C4-B789-95C3-5EED-B0C506406BD6}"/>
                </a:ext>
              </a:extLst>
            </p:cNvPr>
            <p:cNvSpPr/>
            <p:nvPr/>
          </p:nvSpPr>
          <p:spPr>
            <a:xfrm>
              <a:off x="10728961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hape 14">
              <a:extLst>
                <a:ext uri="{FF2B5EF4-FFF2-40B4-BE49-F238E27FC236}">
                  <a16:creationId xmlns:a16="http://schemas.microsoft.com/office/drawing/2014/main" id="{32E0F742-EBC2-E832-587D-00AB2F757C32}"/>
                </a:ext>
              </a:extLst>
            </p:cNvPr>
            <p:cNvSpPr/>
            <p:nvPr/>
          </p:nvSpPr>
          <p:spPr>
            <a:xfrm>
              <a:off x="10948417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hape 15">
              <a:extLst>
                <a:ext uri="{FF2B5EF4-FFF2-40B4-BE49-F238E27FC236}">
                  <a16:creationId xmlns:a16="http://schemas.microsoft.com/office/drawing/2014/main" id="{0CAC0353-8A38-5B5E-E328-0D2D387BE04B}"/>
                </a:ext>
              </a:extLst>
            </p:cNvPr>
            <p:cNvSpPr/>
            <p:nvPr/>
          </p:nvSpPr>
          <p:spPr>
            <a:xfrm>
              <a:off x="11167873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hape 16">
              <a:extLst>
                <a:ext uri="{FF2B5EF4-FFF2-40B4-BE49-F238E27FC236}">
                  <a16:creationId xmlns:a16="http://schemas.microsoft.com/office/drawing/2014/main" id="{9988BBFD-1648-9BE5-2853-478BA3B6163D}"/>
                </a:ext>
              </a:extLst>
            </p:cNvPr>
            <p:cNvSpPr/>
            <p:nvPr/>
          </p:nvSpPr>
          <p:spPr>
            <a:xfrm>
              <a:off x="11387329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081D7F5-2434-9EA9-1751-E99A7C214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453212" y="-263954"/>
              <a:ext cx="1776568" cy="1245981"/>
            </a:xfrm>
            <a:prstGeom prst="rect">
              <a:avLst/>
            </a:prstGeom>
          </p:spPr>
        </p:pic>
        <p:sp>
          <p:nvSpPr>
            <p:cNvPr id="29" name="Text 1">
              <a:extLst>
                <a:ext uri="{FF2B5EF4-FFF2-40B4-BE49-F238E27FC236}">
                  <a16:creationId xmlns:a16="http://schemas.microsoft.com/office/drawing/2014/main" id="{9022D089-7F9B-943B-E9EE-B5C97F069A16}"/>
                </a:ext>
              </a:extLst>
            </p:cNvPr>
            <p:cNvSpPr/>
            <p:nvPr/>
          </p:nvSpPr>
          <p:spPr>
            <a:xfrm>
              <a:off x="1269754" y="318153"/>
              <a:ext cx="10972800" cy="5058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3200" b="1" i="0" kern="12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+mn-ea"/>
                  <a:cs typeface="+mn-cs"/>
                </a:rPr>
                <a:t>WHEN IS ADAPTIVE-R WORTH IT? </a:t>
              </a:r>
              <a:endParaRPr lang="en-US" sz="3200" dirty="0">
                <a:effectLst/>
              </a:endParaRPr>
            </a:p>
            <a:p>
              <a:pPr marL="0" algn="l" rtl="0" eaLnBrk="1" latinLnBrk="0" hangingPunct="1">
                <a:spcBef>
                  <a:spcPts val="0"/>
                </a:spcBef>
                <a:spcAft>
                  <a:spcPts val="0"/>
                </a:spcAft>
              </a:pPr>
              <a:endParaRPr lang="en-US" sz="3200" dirty="0">
                <a:effectLst/>
              </a:endParaRP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7594861" y="1043391"/>
            <a:ext cx="4430268" cy="49785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sz="2000" b="1" dirty="0">
                <a:solidFill>
                  <a:srgbClr val="003366"/>
                </a:solidFill>
              </a:rPr>
              <a:t>When adaptive-R helps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sz="1600" b="0" dirty="0">
                <a:solidFill>
                  <a:srgbClr val="202833"/>
                </a:solidFill>
              </a:rPr>
              <a:t>GNSS-only platform: adaptive-R wins above ~</a:t>
            </a:r>
            <a:r>
              <a:rPr lang="en-US" sz="1600" b="0" dirty="0">
                <a:solidFill>
                  <a:srgbClr val="202833"/>
                </a:solidFill>
              </a:rPr>
              <a:t>8</a:t>
            </a:r>
            <a:r>
              <a:rPr sz="1600" b="0" dirty="0">
                <a:solidFill>
                  <a:srgbClr val="202833"/>
                </a:solidFill>
              </a:rPr>
              <a:t>0 m multipath - deep canyons and tunnels, exactly the target regime.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sz="1600" b="0" dirty="0">
                <a:solidFill>
                  <a:srgbClr val="202833"/>
                </a:solidFill>
              </a:rPr>
              <a:t>Well-aided platform (odometry + NHC + ZUPT): fixed-R wins; the crossover appears only near ~80 m bias.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sz="2000" b="1" dirty="0">
                <a:solidFill>
                  <a:srgbClr val="003366"/>
                </a:solidFill>
              </a:rPr>
              <a:t>Role in the AV stack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sz="1600" b="0" dirty="0">
                <a:solidFill>
                  <a:srgbClr val="202833"/>
                </a:solidFill>
              </a:rPr>
              <a:t>Trigger the fusion mode switch (GNSS-primary to odometry-primary), alert the path planner to a predicted blockage zone, and activate ZUPT in blocked zones.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0" y="-274320"/>
            <a:ext cx="1737360" cy="1280160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0" y="6620256"/>
            <a:ext cx="12192000" cy="30175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0" y="6647688"/>
            <a:ext cx="12192000" cy="211226"/>
          </a:xfrm>
          <a:prstGeom prst="rect">
            <a:avLst/>
          </a:prstGeom>
          <a:solidFill>
            <a:srgbClr val="0038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927DD4-7687-CBAE-97DF-FAB597B94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1" y="1232482"/>
            <a:ext cx="7340353" cy="46881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F21A7-6117-3FCB-D2B5-383C882DB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104CEF9-ED78-4D03-DB9A-268FCC0D0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60"/>
            <a:ext cx="12192000" cy="68580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2D7F999D-3F9D-1DB0-F84A-F6FCA8FE573A}"/>
              </a:ext>
            </a:extLst>
          </p:cNvPr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5252F82-DE25-7BDC-8D2A-F0F240EA0D18}"/>
              </a:ext>
            </a:extLst>
          </p:cNvPr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B7024AA-639C-291B-9004-3C0B23DE15B5}"/>
              </a:ext>
            </a:extLst>
          </p:cNvPr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97F40D78-AFD0-C649-33A7-4433FBA401F4}"/>
              </a:ext>
            </a:extLst>
          </p:cNvPr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28961121-1312-0B32-D507-E2D1AD7DA226}"/>
              </a:ext>
            </a:extLst>
          </p:cNvPr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ED977EF-125E-A906-B120-F38DE5721D11}"/>
              </a:ext>
            </a:extLst>
          </p:cNvPr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C87921BC-4D3F-F056-2624-98640177C260}"/>
              </a:ext>
            </a:extLst>
          </p:cNvPr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2463A6B6-F340-53E4-87D7-19D05DDF6EB0}"/>
              </a:ext>
            </a:extLst>
          </p:cNvPr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07F23159-8B1C-EB05-A24D-93F9F7F0B1C7}"/>
              </a:ext>
            </a:extLst>
          </p:cNvPr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7126EFF6-9328-80B0-72DE-67D255A43E93}"/>
              </a:ext>
            </a:extLst>
          </p:cNvPr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78112812-D0FB-FA14-15F7-5DC4EED7F1E7}"/>
              </a:ext>
            </a:extLst>
          </p:cNvPr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D13584E1-F063-6722-7CE1-1B0E8621DE3A}"/>
              </a:ext>
            </a:extLst>
          </p:cNvPr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B57AD538-43D2-D63D-4EAC-041302489905}"/>
              </a:ext>
            </a:extLst>
          </p:cNvPr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AF2A296D-EE48-06D3-51C8-51BC6683750D}"/>
              </a:ext>
            </a:extLst>
          </p:cNvPr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0">
            <a:extLst>
              <a:ext uri="{FF2B5EF4-FFF2-40B4-BE49-F238E27FC236}">
                <a16:creationId xmlns:a16="http://schemas.microsoft.com/office/drawing/2014/main" id="{831495C9-E884-FC75-A8F6-EC4896B216EF}"/>
              </a:ext>
            </a:extLst>
          </p:cNvPr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hape 4">
            <a:extLst>
              <a:ext uri="{FF2B5EF4-FFF2-40B4-BE49-F238E27FC236}">
                <a16:creationId xmlns:a16="http://schemas.microsoft.com/office/drawing/2014/main" id="{C989B863-D714-D297-C99B-14BEF450A884}"/>
              </a:ext>
            </a:extLst>
          </p:cNvPr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CCDE87AC-D365-0797-9DF9-186049E78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372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AB1B4F76-ABD6-6B21-1EA1-85096C600B68}"/>
              </a:ext>
            </a:extLst>
          </p:cNvPr>
          <p:cNvSpPr/>
          <p:nvPr/>
        </p:nvSpPr>
        <p:spPr>
          <a:xfrm>
            <a:off x="1273155" y="40844"/>
            <a:ext cx="10972800" cy="624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706E7F-6333-2AE8-ED19-959DD6DD5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164" y="794783"/>
            <a:ext cx="11286267" cy="575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01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4256D-8EE1-4F6A-876A-16E6C1F8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DE8850A-6377-EC20-A10D-91E34C139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60"/>
            <a:ext cx="12192000" cy="68580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C1789850-A2E4-4D7A-07A6-2DD50DA7FBDA}"/>
              </a:ext>
            </a:extLst>
          </p:cNvPr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8A91033-3574-DC34-379B-587D91F0BDB2}"/>
              </a:ext>
            </a:extLst>
          </p:cNvPr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42D1558-EC71-3010-4E6D-0D30EBFC0E43}"/>
              </a:ext>
            </a:extLst>
          </p:cNvPr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EDF54D8-50F2-63BB-A029-8F664FE636D4}"/>
              </a:ext>
            </a:extLst>
          </p:cNvPr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F76545EB-4575-EC1A-C622-F6A62E8E3159}"/>
              </a:ext>
            </a:extLst>
          </p:cNvPr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5E970AC3-56DE-C576-DF8A-13B644298787}"/>
              </a:ext>
            </a:extLst>
          </p:cNvPr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67F0280D-0F9D-E372-1CFC-5ABAECCFAF9D}"/>
              </a:ext>
            </a:extLst>
          </p:cNvPr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092B6112-34D7-7DB4-1891-11C4E810CF51}"/>
              </a:ext>
            </a:extLst>
          </p:cNvPr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ED186A24-FC30-A136-4BBA-9A0174130AD9}"/>
              </a:ext>
            </a:extLst>
          </p:cNvPr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705B7187-02B7-EF8C-AE3D-0347FA320E67}"/>
              </a:ext>
            </a:extLst>
          </p:cNvPr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985A11CA-1D63-09F3-CB9A-B95634EA1E15}"/>
              </a:ext>
            </a:extLst>
          </p:cNvPr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87451654-1C25-0700-415F-88D5658772D5}"/>
              </a:ext>
            </a:extLst>
          </p:cNvPr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9C3B503F-CFA3-EEAE-9549-A04BC6661C17}"/>
              </a:ext>
            </a:extLst>
          </p:cNvPr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837ABA60-0874-68F5-1D01-131C670789B6}"/>
              </a:ext>
            </a:extLst>
          </p:cNvPr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0">
            <a:extLst>
              <a:ext uri="{FF2B5EF4-FFF2-40B4-BE49-F238E27FC236}">
                <a16:creationId xmlns:a16="http://schemas.microsoft.com/office/drawing/2014/main" id="{10C18C00-F5E5-4797-E52F-2E6AFF6FB237}"/>
              </a:ext>
            </a:extLst>
          </p:cNvPr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hape 4">
            <a:extLst>
              <a:ext uri="{FF2B5EF4-FFF2-40B4-BE49-F238E27FC236}">
                <a16:creationId xmlns:a16="http://schemas.microsoft.com/office/drawing/2014/main" id="{B0531AAA-9D55-16E2-4C61-1BBE35E04F3C}"/>
              </a:ext>
            </a:extLst>
          </p:cNvPr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A19DF28E-EDE5-D851-2111-0C73C0D90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372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9357310F-461C-8BB2-96B9-56D50AE17D23}"/>
              </a:ext>
            </a:extLst>
          </p:cNvPr>
          <p:cNvSpPr/>
          <p:nvPr/>
        </p:nvSpPr>
        <p:spPr>
          <a:xfrm>
            <a:off x="1273155" y="40844"/>
            <a:ext cx="10972800" cy="624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 DASHBOARD  -  SENSOR FUSION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4E7682D-3028-C55F-1DAE-9B9E131616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462"/>
          <a:stretch/>
        </p:blipFill>
        <p:spPr>
          <a:xfrm>
            <a:off x="6116278" y="876000"/>
            <a:ext cx="5507515" cy="538641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AA8CE7C-BF43-5DE0-F316-29AC520A105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996"/>
          <a:stretch/>
        </p:blipFill>
        <p:spPr>
          <a:xfrm>
            <a:off x="274412" y="895551"/>
            <a:ext cx="5588287" cy="536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03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AD616-B625-CC08-A7D1-C808E980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661AA7-E12C-5C40-0C7C-652658737F29}"/>
              </a:ext>
            </a:extLst>
          </p:cNvPr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5 · Novelty &amp; 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B6CACF-551A-4896-CC1E-2B9E03C87905}"/>
              </a:ext>
            </a:extLst>
          </p:cNvPr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29302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6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702259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208955" y="941325"/>
            <a:ext cx="5730240" cy="10443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208955" y="941326"/>
            <a:ext cx="85344" cy="10443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0"/>
          <p:cNvSpPr/>
          <p:nvPr/>
        </p:nvSpPr>
        <p:spPr>
          <a:xfrm>
            <a:off x="379643" y="1203454"/>
            <a:ext cx="365760" cy="3657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379643" y="120345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1</a:t>
            </a:r>
            <a:endParaRPr lang="en-US" sz="1467" dirty="0"/>
          </a:p>
        </p:txBody>
      </p:sp>
      <p:sp>
        <p:nvSpPr>
          <p:cNvPr id="26" name="Text 22"/>
          <p:cNvSpPr/>
          <p:nvPr/>
        </p:nvSpPr>
        <p:spPr>
          <a:xfrm>
            <a:off x="867323" y="1026670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Reactive → Proactive Predictor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867323" y="1380238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867323" y="1416814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475569"/>
                </a:solidFill>
              </a:rPr>
              <a:t>First system to predict GNSS degradation 5 s, 15 s, 30 s ahead  -  Liu et al. (2023) only classifies t+0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208955" y="2173765"/>
            <a:ext cx="5730240" cy="100334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6"/>
          <p:cNvSpPr/>
          <p:nvPr/>
        </p:nvSpPr>
        <p:spPr>
          <a:xfrm>
            <a:off x="208955" y="2173766"/>
            <a:ext cx="85344" cy="978751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379643" y="2435895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379643" y="243589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2</a:t>
            </a:r>
            <a:endParaRPr lang="en-US" sz="1467" dirty="0"/>
          </a:p>
        </p:txBody>
      </p:sp>
      <p:sp>
        <p:nvSpPr>
          <p:cNvPr id="33" name="Text 29"/>
          <p:cNvSpPr/>
          <p:nvPr/>
        </p:nvSpPr>
        <p:spPr>
          <a:xfrm>
            <a:off x="867323" y="2259111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Cross-City Generalisation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867323" y="2612679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1"/>
          <p:cNvSpPr/>
          <p:nvPr/>
        </p:nvSpPr>
        <p:spPr>
          <a:xfrm>
            <a:off x="867323" y="2628315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475569"/>
                </a:solidFill>
              </a:rPr>
              <a:t>Hangzhou → Tokyo: DEGRADED F1 = 0.753 (ours) vs. 0.148 (Random Forest)  -  unseen city, zero retraining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208955" y="3293268"/>
            <a:ext cx="5730240" cy="890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33"/>
          <p:cNvSpPr/>
          <p:nvPr/>
        </p:nvSpPr>
        <p:spPr>
          <a:xfrm>
            <a:off x="208955" y="3301735"/>
            <a:ext cx="79248" cy="890016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4"/>
          <p:cNvSpPr/>
          <p:nvPr/>
        </p:nvSpPr>
        <p:spPr>
          <a:xfrm>
            <a:off x="379643" y="3555396"/>
            <a:ext cx="365760" cy="365760"/>
          </a:xfrm>
          <a:prstGeom prst="ellipse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5"/>
          <p:cNvSpPr/>
          <p:nvPr/>
        </p:nvSpPr>
        <p:spPr>
          <a:xfrm>
            <a:off x="379643" y="35553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3</a:t>
            </a:r>
            <a:endParaRPr lang="en-US" sz="1467" dirty="0"/>
          </a:p>
        </p:txBody>
      </p:sp>
      <p:sp>
        <p:nvSpPr>
          <p:cNvPr id="40" name="Text 36"/>
          <p:cNvSpPr/>
          <p:nvPr/>
        </p:nvSpPr>
        <p:spPr>
          <a:xfrm>
            <a:off x="867323" y="3378612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Unified Multi-Horizon Model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867323" y="3690300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8"/>
          <p:cNvSpPr/>
          <p:nvPr/>
        </p:nvSpPr>
        <p:spPr>
          <a:xfrm>
            <a:off x="867323" y="3650096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475569"/>
                </a:solidFill>
              </a:rPr>
              <a:t>One forward pass, three prediction heads  -  9.46× faster than three separate traditional models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208955" y="4385879"/>
            <a:ext cx="5730240" cy="890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4" name="Shape 40"/>
          <p:cNvSpPr/>
          <p:nvPr/>
        </p:nvSpPr>
        <p:spPr>
          <a:xfrm>
            <a:off x="208955" y="4378899"/>
            <a:ext cx="79248" cy="890016"/>
          </a:xfrm>
          <a:prstGeom prst="rect">
            <a:avLst/>
          </a:prstGeom>
          <a:solidFill>
            <a:srgbClr val="3B37A0"/>
          </a:solidFill>
          <a:ln w="12700">
            <a:solidFill>
              <a:srgbClr val="3B37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1"/>
          <p:cNvSpPr/>
          <p:nvPr/>
        </p:nvSpPr>
        <p:spPr>
          <a:xfrm>
            <a:off x="379643" y="4641027"/>
            <a:ext cx="365760" cy="365760"/>
          </a:xfrm>
          <a:prstGeom prst="ellipse">
            <a:avLst/>
          </a:prstGeom>
          <a:solidFill>
            <a:srgbClr val="3B37A0"/>
          </a:solidFill>
          <a:ln w="12700">
            <a:solidFill>
              <a:srgbClr val="3B37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2"/>
          <p:cNvSpPr/>
          <p:nvPr/>
        </p:nvSpPr>
        <p:spPr>
          <a:xfrm>
            <a:off x="379643" y="464102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4</a:t>
            </a:r>
            <a:endParaRPr lang="en-US" sz="1467" dirty="0"/>
          </a:p>
        </p:txBody>
      </p:sp>
      <p:sp>
        <p:nvSpPr>
          <p:cNvPr id="47" name="Text 43"/>
          <p:cNvSpPr/>
          <p:nvPr/>
        </p:nvSpPr>
        <p:spPr>
          <a:xfrm>
            <a:off x="867323" y="4422363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Open Multi-City Benchmark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867323" y="4748011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5"/>
          <p:cNvSpPr/>
          <p:nvPr/>
        </p:nvSpPr>
        <p:spPr>
          <a:xfrm>
            <a:off x="855131" y="4728503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475569"/>
                </a:solidFill>
              </a:rPr>
              <a:t>149,662 labelled epochs · Beijing, Hong Kong, Tokyo, Oxford, Ann Arbor · 9+ receiver types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208955" y="5466391"/>
            <a:ext cx="5730240" cy="890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1" name="Shape 47"/>
          <p:cNvSpPr/>
          <p:nvPr/>
        </p:nvSpPr>
        <p:spPr>
          <a:xfrm>
            <a:off x="208955" y="5466391"/>
            <a:ext cx="79248" cy="890016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48"/>
          <p:cNvSpPr/>
          <p:nvPr/>
        </p:nvSpPr>
        <p:spPr>
          <a:xfrm>
            <a:off x="379643" y="5728519"/>
            <a:ext cx="365760" cy="3657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9"/>
          <p:cNvSpPr/>
          <p:nvPr/>
        </p:nvSpPr>
        <p:spPr>
          <a:xfrm>
            <a:off x="379643" y="572851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5</a:t>
            </a:r>
            <a:endParaRPr lang="en-US" sz="1467" dirty="0"/>
          </a:p>
        </p:txBody>
      </p:sp>
      <p:sp>
        <p:nvSpPr>
          <p:cNvPr id="54" name="Text 50"/>
          <p:cNvSpPr/>
          <p:nvPr/>
        </p:nvSpPr>
        <p:spPr>
          <a:xfrm>
            <a:off x="867323" y="5551735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Hardware-Aware Design</a:t>
            </a:r>
            <a:endParaRPr lang="en-US" sz="1400" dirty="0"/>
          </a:p>
        </p:txBody>
      </p:sp>
      <p:sp>
        <p:nvSpPr>
          <p:cNvPr id="55" name="Shape 51"/>
          <p:cNvSpPr/>
          <p:nvPr/>
        </p:nvSpPr>
        <p:spPr>
          <a:xfrm>
            <a:off x="867323" y="5856443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2"/>
          <p:cNvSpPr/>
          <p:nvPr/>
        </p:nvSpPr>
        <p:spPr>
          <a:xfrm>
            <a:off x="867323" y="5851138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475569"/>
                </a:solidFill>
              </a:rPr>
              <a:t>Explicit receiver_tier feature bridges Septentrio survey-grade → consumer smartphone, no retraining</a:t>
            </a:r>
            <a:endParaRPr lang="en-US" sz="1200" dirty="0"/>
          </a:p>
        </p:txBody>
      </p:sp>
      <p:sp>
        <p:nvSpPr>
          <p:cNvPr id="57" name="Shape 53"/>
          <p:cNvSpPr/>
          <p:nvPr/>
        </p:nvSpPr>
        <p:spPr>
          <a:xfrm>
            <a:off x="6368292" y="935397"/>
            <a:ext cx="5705856" cy="670560"/>
          </a:xfrm>
          <a:prstGeom prst="rect">
            <a:avLst/>
          </a:prstGeom>
          <a:solidFill>
            <a:srgbClr val="0D1F3C"/>
          </a:solidFill>
          <a:ln w="12700">
            <a:solidFill>
              <a:srgbClr val="4FC3F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8" name="Text 54"/>
          <p:cNvSpPr/>
          <p:nvPr/>
        </p:nvSpPr>
        <p:spPr>
          <a:xfrm>
            <a:off x="6563364" y="947589"/>
            <a:ext cx="531571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4FC3F7"/>
                </a:solidFill>
              </a:rPr>
              <a:t>9.46×  faster · one pass · three horizons</a:t>
            </a:r>
            <a:r>
              <a:rPr lang="en-US" sz="1400" dirty="0">
                <a:solidFill>
                  <a:srgbClr val="FFFFFF"/>
                </a:solidFill>
              </a:rPr>
              <a:t/>
            </a:r>
            <a:endParaRPr lang="en-US" sz="3200" dirty="0"/>
          </a:p>
        </p:txBody>
      </p:sp>
      <p:sp>
        <p:nvSpPr>
          <p:cNvPr id="59" name="Text 55"/>
          <p:cNvSpPr/>
          <p:nvPr/>
        </p:nvSpPr>
        <p:spPr>
          <a:xfrm>
            <a:off x="6563364" y="1325541"/>
            <a:ext cx="53157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4FC3F7"/>
                </a:solidFill>
              </a:rPr>
              <a:t>DEGRADED F1: 0.753 (ours) vs 0.148 (RF) on unseen Tokyo</a:t>
            </a:r>
            <a:endParaRPr lang="en-US" sz="1200" dirty="0"/>
          </a:p>
        </p:txBody>
      </p:sp>
      <p:sp>
        <p:nvSpPr>
          <p:cNvPr id="60" name="Shape 56"/>
          <p:cNvSpPr/>
          <p:nvPr/>
        </p:nvSpPr>
        <p:spPr>
          <a:xfrm>
            <a:off x="6368292" y="1703493"/>
            <a:ext cx="5705856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1" name="Shape 57"/>
          <p:cNvSpPr/>
          <p:nvPr/>
        </p:nvSpPr>
        <p:spPr>
          <a:xfrm>
            <a:off x="6368292" y="1703493"/>
            <a:ext cx="85344" cy="136550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58"/>
          <p:cNvSpPr/>
          <p:nvPr/>
        </p:nvSpPr>
        <p:spPr>
          <a:xfrm>
            <a:off x="6551172" y="1825413"/>
            <a:ext cx="877824" cy="426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59"/>
          <p:cNvSpPr/>
          <p:nvPr/>
        </p:nvSpPr>
        <p:spPr>
          <a:xfrm>
            <a:off x="6551172" y="1825413"/>
            <a:ext cx="8778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5 s</a:t>
            </a:r>
            <a:endParaRPr lang="en-US" sz="2000" dirty="0"/>
          </a:p>
        </p:txBody>
      </p:sp>
      <p:sp>
        <p:nvSpPr>
          <p:cNvPr id="64" name="Text 60"/>
          <p:cNvSpPr/>
          <p:nvPr/>
        </p:nvSpPr>
        <p:spPr>
          <a:xfrm>
            <a:off x="7514340" y="1813221"/>
            <a:ext cx="134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03893"/>
                </a:solidFill>
              </a:rPr>
              <a:t>≈ 83 m</a:t>
            </a:r>
            <a:endParaRPr lang="en-US" sz="2667" dirty="0"/>
          </a:p>
        </p:txBody>
      </p:sp>
      <p:sp>
        <p:nvSpPr>
          <p:cNvPr id="65" name="Text 61"/>
          <p:cNvSpPr/>
          <p:nvPr/>
        </p:nvSpPr>
        <p:spPr>
          <a:xfrm>
            <a:off x="8928612" y="1861989"/>
            <a:ext cx="299923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93" dirty="0">
                <a:solidFill>
                  <a:srgbClr val="0369A1"/>
                </a:solidFill>
              </a:rPr>
              <a:t>SENSOR TIGHTENING</a:t>
            </a:r>
            <a:endParaRPr lang="en-US" sz="1100" dirty="0"/>
          </a:p>
        </p:txBody>
      </p:sp>
      <p:sp>
        <p:nvSpPr>
          <p:cNvPr id="66" name="Shape 62"/>
          <p:cNvSpPr/>
          <p:nvPr/>
        </p:nvSpPr>
        <p:spPr>
          <a:xfrm>
            <a:off x="6551172" y="2300901"/>
            <a:ext cx="5340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3"/>
          <p:cNvSpPr/>
          <p:nvPr/>
        </p:nvSpPr>
        <p:spPr>
          <a:xfrm>
            <a:off x="6551172" y="2337477"/>
            <a:ext cx="5340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dirty="0">
                <a:solidFill>
                  <a:srgbClr val="475569"/>
                </a:solidFill>
              </a:rPr>
              <a:t>Fuse IMU/LiDAR · tighten tracking loops before canyon entry</a:t>
            </a:r>
            <a:endParaRPr lang="en-US" dirty="0"/>
          </a:p>
        </p:txBody>
      </p:sp>
      <p:sp>
        <p:nvSpPr>
          <p:cNvPr id="68" name="Shape 64"/>
          <p:cNvSpPr/>
          <p:nvPr/>
        </p:nvSpPr>
        <p:spPr>
          <a:xfrm>
            <a:off x="6368292" y="3161656"/>
            <a:ext cx="5705856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9" name="Shape 65"/>
          <p:cNvSpPr/>
          <p:nvPr/>
        </p:nvSpPr>
        <p:spPr>
          <a:xfrm>
            <a:off x="6368292" y="3161656"/>
            <a:ext cx="85344" cy="136550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6"/>
          <p:cNvSpPr/>
          <p:nvPr/>
        </p:nvSpPr>
        <p:spPr>
          <a:xfrm>
            <a:off x="6551172" y="3283576"/>
            <a:ext cx="877824" cy="426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7"/>
          <p:cNvSpPr/>
          <p:nvPr/>
        </p:nvSpPr>
        <p:spPr>
          <a:xfrm>
            <a:off x="6551172" y="3283576"/>
            <a:ext cx="8778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15 s</a:t>
            </a:r>
            <a:endParaRPr lang="en-US" sz="2000" dirty="0"/>
          </a:p>
        </p:txBody>
      </p:sp>
      <p:sp>
        <p:nvSpPr>
          <p:cNvPr id="72" name="Text 68"/>
          <p:cNvSpPr/>
          <p:nvPr/>
        </p:nvSpPr>
        <p:spPr>
          <a:xfrm>
            <a:off x="7514340" y="3271384"/>
            <a:ext cx="134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03893"/>
                </a:solidFill>
              </a:rPr>
              <a:t>≈ 250 m</a:t>
            </a:r>
            <a:endParaRPr lang="en-US" sz="2667" dirty="0"/>
          </a:p>
        </p:txBody>
      </p:sp>
      <p:sp>
        <p:nvSpPr>
          <p:cNvPr id="73" name="Text 69"/>
          <p:cNvSpPr/>
          <p:nvPr/>
        </p:nvSpPr>
        <p:spPr>
          <a:xfrm>
            <a:off x="8928612" y="3320152"/>
            <a:ext cx="299923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93" dirty="0">
                <a:solidFill>
                  <a:srgbClr val="0E7490"/>
                </a:solidFill>
              </a:rPr>
              <a:t>SENSOR HANDOFF</a:t>
            </a:r>
            <a:endParaRPr lang="en-US" sz="1100" dirty="0"/>
          </a:p>
        </p:txBody>
      </p:sp>
      <p:sp>
        <p:nvSpPr>
          <p:cNvPr id="74" name="Shape 70"/>
          <p:cNvSpPr/>
          <p:nvPr/>
        </p:nvSpPr>
        <p:spPr>
          <a:xfrm>
            <a:off x="6551172" y="3759064"/>
            <a:ext cx="5340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1"/>
          <p:cNvSpPr/>
          <p:nvPr/>
        </p:nvSpPr>
        <p:spPr>
          <a:xfrm>
            <a:off x="6551172" y="3795640"/>
            <a:ext cx="5340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dirty="0">
                <a:solidFill>
                  <a:srgbClr val="475569"/>
                </a:solidFill>
              </a:rPr>
              <a:t>Shift EKF authority to dead-reckoning before signal loss</a:t>
            </a:r>
            <a:endParaRPr lang="en-US" dirty="0"/>
          </a:p>
        </p:txBody>
      </p:sp>
      <p:sp>
        <p:nvSpPr>
          <p:cNvPr id="76" name="Shape 72"/>
          <p:cNvSpPr/>
          <p:nvPr/>
        </p:nvSpPr>
        <p:spPr>
          <a:xfrm>
            <a:off x="6368292" y="4619820"/>
            <a:ext cx="5705856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55E7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7" name="Shape 73"/>
          <p:cNvSpPr/>
          <p:nvPr/>
        </p:nvSpPr>
        <p:spPr>
          <a:xfrm>
            <a:off x="6368292" y="4619820"/>
            <a:ext cx="85344" cy="1365504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74"/>
          <p:cNvSpPr/>
          <p:nvPr/>
        </p:nvSpPr>
        <p:spPr>
          <a:xfrm>
            <a:off x="6551172" y="4741740"/>
            <a:ext cx="877824" cy="42672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75"/>
          <p:cNvSpPr/>
          <p:nvPr/>
        </p:nvSpPr>
        <p:spPr>
          <a:xfrm>
            <a:off x="6551172" y="4741740"/>
            <a:ext cx="8778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30 s</a:t>
            </a:r>
            <a:endParaRPr lang="en-US" sz="2000" dirty="0"/>
          </a:p>
        </p:txBody>
      </p:sp>
      <p:sp>
        <p:nvSpPr>
          <p:cNvPr id="80" name="Text 76"/>
          <p:cNvSpPr/>
          <p:nvPr/>
        </p:nvSpPr>
        <p:spPr>
          <a:xfrm>
            <a:off x="7514340" y="4729548"/>
            <a:ext cx="134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03893"/>
                </a:solidFill>
              </a:rPr>
              <a:t>≈ 500 m</a:t>
            </a:r>
            <a:endParaRPr lang="en-US" sz="2667" dirty="0"/>
          </a:p>
        </p:txBody>
      </p:sp>
      <p:sp>
        <p:nvSpPr>
          <p:cNvPr id="81" name="Text 77"/>
          <p:cNvSpPr/>
          <p:nvPr/>
        </p:nvSpPr>
        <p:spPr>
          <a:xfrm>
            <a:off x="8928612" y="4778316"/>
            <a:ext cx="299923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93" dirty="0">
                <a:solidFill>
                  <a:srgbClr val="155E75"/>
                </a:solidFill>
              </a:rPr>
              <a:t>ROUTE REPLANNING</a:t>
            </a:r>
            <a:endParaRPr lang="en-US" sz="1100" dirty="0"/>
          </a:p>
        </p:txBody>
      </p:sp>
      <p:sp>
        <p:nvSpPr>
          <p:cNvPr id="82" name="Shape 78"/>
          <p:cNvSpPr/>
          <p:nvPr/>
        </p:nvSpPr>
        <p:spPr>
          <a:xfrm>
            <a:off x="6551172" y="5217228"/>
            <a:ext cx="5340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Text 79"/>
          <p:cNvSpPr/>
          <p:nvPr/>
        </p:nvSpPr>
        <p:spPr>
          <a:xfrm>
            <a:off x="6551172" y="5253804"/>
            <a:ext cx="5340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dirty="0">
                <a:solidFill>
                  <a:srgbClr val="475569"/>
                </a:solidFill>
              </a:rPr>
              <a:t>Full lead time to commit to an alternative route</a:t>
            </a:r>
            <a:endParaRPr lang="en-US" dirty="0"/>
          </a:p>
        </p:txBody>
      </p:sp>
      <p:sp>
        <p:nvSpPr>
          <p:cNvPr id="84" name="Shape 0"/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hape 4"/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6BF679AE-4199-10E8-76D5-569080AF8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372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1A39884D-750F-158A-73D2-5A8E63E41188}"/>
              </a:ext>
            </a:extLst>
          </p:cNvPr>
          <p:cNvSpPr/>
          <p:nvPr/>
        </p:nvSpPr>
        <p:spPr>
          <a:xfrm>
            <a:off x="1273155" y="4084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NOVELTIES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844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702259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268224" y="1036995"/>
            <a:ext cx="2816352" cy="1121664"/>
          </a:xfrm>
          <a:prstGeom prst="rect">
            <a:avLst/>
          </a:prstGeom>
          <a:solidFill>
            <a:srgbClr val="003893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365760" y="1085763"/>
            <a:ext cx="262128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0.8206</a:t>
            </a:r>
            <a:endParaRPr lang="en-US" sz="3200" dirty="0"/>
          </a:p>
        </p:txBody>
      </p:sp>
      <p:sp>
        <p:nvSpPr>
          <p:cNvPr id="24" name="Text 20"/>
          <p:cNvSpPr/>
          <p:nvPr/>
        </p:nvSpPr>
        <p:spPr>
          <a:xfrm>
            <a:off x="365760" y="1646595"/>
            <a:ext cx="262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Macro-F1  (+5 s)</a:t>
            </a:r>
          </a:p>
        </p:txBody>
      </p:sp>
      <p:sp>
        <p:nvSpPr>
          <p:cNvPr id="25" name="Text 21"/>
          <p:cNvSpPr/>
          <p:nvPr/>
        </p:nvSpPr>
        <p:spPr>
          <a:xfrm>
            <a:off x="365760" y="1890435"/>
            <a:ext cx="262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b="1" i="1" dirty="0">
                <a:solidFill>
                  <a:srgbClr val="B0C4D8"/>
                </a:solidFill>
              </a:rPr>
              <a:t>95% CI [0.798, 0.840]</a:t>
            </a:r>
            <a:endParaRPr lang="en-US" sz="1200" b="1" dirty="0"/>
          </a:p>
        </p:txBody>
      </p:sp>
      <p:sp>
        <p:nvSpPr>
          <p:cNvPr id="26" name="Shape 22"/>
          <p:cNvSpPr/>
          <p:nvPr/>
        </p:nvSpPr>
        <p:spPr>
          <a:xfrm>
            <a:off x="3182112" y="1036995"/>
            <a:ext cx="2816352" cy="1121664"/>
          </a:xfrm>
          <a:prstGeom prst="rect">
            <a:avLst/>
          </a:prstGeom>
          <a:solidFill>
            <a:srgbClr val="0E7490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3279648" y="1085763"/>
            <a:ext cx="262128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85%</a:t>
            </a:r>
            <a:endParaRPr lang="en-US" sz="3200" dirty="0"/>
          </a:p>
        </p:txBody>
      </p:sp>
      <p:sp>
        <p:nvSpPr>
          <p:cNvPr id="28" name="Text 24"/>
          <p:cNvSpPr/>
          <p:nvPr/>
        </p:nvSpPr>
        <p:spPr>
          <a:xfrm>
            <a:off x="3279648" y="1646595"/>
            <a:ext cx="262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DEGRADED Recall</a:t>
            </a:r>
          </a:p>
        </p:txBody>
      </p:sp>
      <p:sp>
        <p:nvSpPr>
          <p:cNvPr id="29" name="Text 25"/>
          <p:cNvSpPr/>
          <p:nvPr/>
        </p:nvSpPr>
        <p:spPr>
          <a:xfrm>
            <a:off x="3279648" y="1890435"/>
            <a:ext cx="262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b="1" i="1" dirty="0">
                <a:solidFill>
                  <a:srgbClr val="B0C4D8"/>
                </a:solidFill>
              </a:rPr>
              <a:t>safety-critical class</a:t>
            </a:r>
            <a:endParaRPr lang="en-US" sz="1200" b="1" dirty="0"/>
          </a:p>
        </p:txBody>
      </p:sp>
      <p:sp>
        <p:nvSpPr>
          <p:cNvPr id="30" name="Shape 26"/>
          <p:cNvSpPr/>
          <p:nvPr/>
        </p:nvSpPr>
        <p:spPr>
          <a:xfrm>
            <a:off x="6096000" y="1036995"/>
            <a:ext cx="2816352" cy="1121664"/>
          </a:xfrm>
          <a:prstGeom prst="rect">
            <a:avLst/>
          </a:prstGeom>
          <a:solidFill>
            <a:srgbClr val="0369A1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Text 27"/>
          <p:cNvSpPr/>
          <p:nvPr/>
        </p:nvSpPr>
        <p:spPr>
          <a:xfrm>
            <a:off x="6193536" y="1085763"/>
            <a:ext cx="262128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0.753</a:t>
            </a:r>
            <a:endParaRPr lang="en-US" sz="3200" dirty="0"/>
          </a:p>
        </p:txBody>
      </p:sp>
      <p:sp>
        <p:nvSpPr>
          <p:cNvPr id="32" name="Text 28"/>
          <p:cNvSpPr/>
          <p:nvPr/>
        </p:nvSpPr>
        <p:spPr>
          <a:xfrm>
            <a:off x="6193536" y="1646595"/>
            <a:ext cx="262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DEGRADED F1  -  Tokyo</a:t>
            </a:r>
          </a:p>
        </p:txBody>
      </p:sp>
      <p:sp>
        <p:nvSpPr>
          <p:cNvPr id="33" name="Text 29"/>
          <p:cNvSpPr/>
          <p:nvPr/>
        </p:nvSpPr>
        <p:spPr>
          <a:xfrm>
            <a:off x="6193536" y="1890435"/>
            <a:ext cx="262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b="1" i="1" dirty="0">
                <a:solidFill>
                  <a:srgbClr val="B0C4D8"/>
                </a:solidFill>
              </a:rPr>
              <a:t>vs. RF = 0.148 out-of-domain</a:t>
            </a:r>
            <a:endParaRPr lang="en-US" sz="1200" b="1" dirty="0"/>
          </a:p>
        </p:txBody>
      </p:sp>
      <p:sp>
        <p:nvSpPr>
          <p:cNvPr id="34" name="Shape 30"/>
          <p:cNvSpPr/>
          <p:nvPr/>
        </p:nvSpPr>
        <p:spPr>
          <a:xfrm>
            <a:off x="9009888" y="1036995"/>
            <a:ext cx="2816352" cy="1121664"/>
          </a:xfrm>
          <a:prstGeom prst="rect">
            <a:avLst/>
          </a:prstGeom>
          <a:solidFill>
            <a:srgbClr val="155E75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Text 31"/>
          <p:cNvSpPr/>
          <p:nvPr/>
        </p:nvSpPr>
        <p:spPr>
          <a:xfrm>
            <a:off x="9107424" y="1085763"/>
            <a:ext cx="262128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±5 cm</a:t>
            </a:r>
            <a:endParaRPr lang="en-US" sz="3200" dirty="0"/>
          </a:p>
        </p:txBody>
      </p:sp>
      <p:sp>
        <p:nvSpPr>
          <p:cNvPr id="36" name="Text 32"/>
          <p:cNvSpPr/>
          <p:nvPr/>
        </p:nvSpPr>
        <p:spPr>
          <a:xfrm>
            <a:off x="9107424" y="1646595"/>
            <a:ext cx="262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Ground-truth accuracy</a:t>
            </a:r>
          </a:p>
        </p:txBody>
      </p:sp>
      <p:sp>
        <p:nvSpPr>
          <p:cNvPr id="37" name="Text 33"/>
          <p:cNvSpPr/>
          <p:nvPr/>
        </p:nvSpPr>
        <p:spPr>
          <a:xfrm>
            <a:off x="9119616" y="1877118"/>
            <a:ext cx="262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b="1" i="1" dirty="0">
                <a:solidFill>
                  <a:srgbClr val="B0C4D8"/>
                </a:solidFill>
              </a:rPr>
              <a:t>RTK ground truth accuracy (Trimble)</a:t>
            </a:r>
            <a:endParaRPr lang="en-US" sz="1200" b="1" dirty="0"/>
          </a:p>
        </p:txBody>
      </p:sp>
      <p:sp>
        <p:nvSpPr>
          <p:cNvPr id="38" name="Shape 34"/>
          <p:cNvSpPr/>
          <p:nvPr/>
        </p:nvSpPr>
        <p:spPr>
          <a:xfrm>
            <a:off x="268224" y="2450928"/>
            <a:ext cx="5693664" cy="1853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268224" y="2450928"/>
            <a:ext cx="85344" cy="1853184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6"/>
          <p:cNvSpPr/>
          <p:nvPr/>
        </p:nvSpPr>
        <p:spPr>
          <a:xfrm>
            <a:off x="353568" y="2450928"/>
            <a:ext cx="5608320" cy="365760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7"/>
          <p:cNvSpPr/>
          <p:nvPr/>
        </p:nvSpPr>
        <p:spPr>
          <a:xfrm>
            <a:off x="487680" y="246312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Session-Based Split  -  No Data Leakage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487680" y="2865456"/>
            <a:ext cx="5352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003893"/>
                </a:solidFill>
              </a:rPr>
              <a:t>▸  </a:t>
            </a:r>
            <a:r>
              <a:rPr lang="en-US" sz="1400" dirty="0">
                <a:solidFill>
                  <a:srgbClr val="1E293B"/>
                </a:solidFill>
              </a:rPr>
              <a:t>Whole drives assigned to train / val / test  -  never individual seconds</a:t>
            </a:r>
            <a:endParaRPr lang="en-US" sz="1400" dirty="0"/>
          </a:p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003893"/>
                </a:solidFill>
              </a:rPr>
              <a:t>▸  </a:t>
            </a:r>
            <a:r>
              <a:rPr lang="en-US" sz="1400" dirty="0">
                <a:solidFill>
                  <a:srgbClr val="1E293B"/>
                </a:solidFill>
              </a:rPr>
              <a:t>Tokyo Shinjuku (31,236 windows) fully held out as cross-city test (E6)</a:t>
            </a:r>
            <a:endParaRPr lang="en-US" sz="1400" dirty="0"/>
          </a:p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003893"/>
                </a:solidFill>
              </a:rPr>
              <a:t>▸  </a:t>
            </a:r>
            <a:r>
              <a:rPr lang="en-US" sz="1400" dirty="0">
                <a:solidFill>
                  <a:srgbClr val="1E293B"/>
                </a:solidFill>
              </a:rPr>
              <a:t>StandardScaler + SMOTE fitted on training set only  ·  Seed = 42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6230112" y="2450927"/>
            <a:ext cx="5693664" cy="197876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4" name="Shape 40"/>
          <p:cNvSpPr/>
          <p:nvPr/>
        </p:nvSpPr>
        <p:spPr>
          <a:xfrm>
            <a:off x="6230112" y="2450928"/>
            <a:ext cx="83699" cy="1978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1"/>
          <p:cNvSpPr/>
          <p:nvPr/>
        </p:nvSpPr>
        <p:spPr>
          <a:xfrm>
            <a:off x="6315456" y="2450928"/>
            <a:ext cx="5608320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2"/>
          <p:cNvSpPr/>
          <p:nvPr/>
        </p:nvSpPr>
        <p:spPr>
          <a:xfrm>
            <a:off x="6449568" y="246312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Physically Verified Labels</a:t>
            </a:r>
            <a:endParaRPr lang="en-US" sz="1600" dirty="0"/>
          </a:p>
        </p:txBody>
      </p:sp>
      <p:sp>
        <p:nvSpPr>
          <p:cNvPr id="47" name="Text 43"/>
          <p:cNvSpPr/>
          <p:nvPr/>
        </p:nvSpPr>
        <p:spPr>
          <a:xfrm>
            <a:off x="6449568" y="2865456"/>
            <a:ext cx="5352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0E7490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NCLT: labels from |GPS − LiDAR SLAM|  -  actual positioning error, ±5 cm</a:t>
            </a:r>
            <a:endParaRPr lang="en-US" sz="1200" dirty="0"/>
          </a:p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rgbClr val="0E7490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Septentrio thresholds 35 / 25 dBHz confirmed by hardware signal charts</a:t>
            </a:r>
            <a:endParaRPr lang="en-US" sz="1200" dirty="0"/>
          </a:p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rgbClr val="0E7490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NMEA no-fix epochs (quality = 0) correctly captured as DEGRADED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268224" y="4645152"/>
            <a:ext cx="5693664" cy="1853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9" name="Shape 45"/>
          <p:cNvSpPr/>
          <p:nvPr/>
        </p:nvSpPr>
        <p:spPr>
          <a:xfrm>
            <a:off x="268224" y="4645152"/>
            <a:ext cx="85344" cy="1853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6"/>
          <p:cNvSpPr/>
          <p:nvPr/>
        </p:nvSpPr>
        <p:spPr>
          <a:xfrm>
            <a:off x="353568" y="4645152"/>
            <a:ext cx="5608320" cy="365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7"/>
          <p:cNvSpPr/>
          <p:nvPr/>
        </p:nvSpPr>
        <p:spPr>
          <a:xfrm>
            <a:off x="487680" y="4657344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Honest Comparison with Classical Baselines</a:t>
            </a:r>
            <a:endParaRPr lang="en-US" sz="1600" dirty="0"/>
          </a:p>
        </p:txBody>
      </p:sp>
      <p:sp>
        <p:nvSpPr>
          <p:cNvPr id="52" name="Text 48"/>
          <p:cNvSpPr/>
          <p:nvPr/>
        </p:nvSpPr>
        <p:spPr>
          <a:xfrm>
            <a:off x="487680" y="5059680"/>
            <a:ext cx="5352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</a:pPr>
            <a:r>
              <a:rPr lang="en-US" sz="1300" b="1" dirty="0">
                <a:solidFill>
                  <a:srgbClr val="0369A1"/>
                </a:solidFill>
              </a:rPr>
              <a:t>▸  </a:t>
            </a:r>
            <a:r>
              <a:rPr lang="en-US" sz="1300" dirty="0">
                <a:solidFill>
                  <a:srgbClr val="1E293B"/>
                </a:solidFill>
              </a:rPr>
              <a:t>XGBoost Macro-F1 = 0.919 vs. ours 0.821 in-domain  -  disclosed openly</a:t>
            </a:r>
            <a:endParaRPr lang="en-US" sz="1300" dirty="0"/>
          </a:p>
          <a:p>
            <a:pPr>
              <a:lnSpc>
                <a:spcPct val="200000"/>
              </a:lnSpc>
            </a:pPr>
            <a:r>
              <a:rPr lang="en-US" sz="1300" b="1" dirty="0">
                <a:solidFill>
                  <a:srgbClr val="0369A1"/>
                </a:solidFill>
              </a:rPr>
              <a:t>▸  </a:t>
            </a:r>
            <a:r>
              <a:rPr lang="en-US" sz="1300" dirty="0">
                <a:solidFill>
                  <a:srgbClr val="1E293B"/>
                </a:solidFill>
              </a:rPr>
              <a:t>Cross-city: RF DEGRADED F1 collapses to 0.148 · ours holds at 0.753</a:t>
            </a:r>
            <a:endParaRPr lang="en-US" sz="1300" dirty="0"/>
          </a:p>
          <a:p>
            <a:pPr>
              <a:lnSpc>
                <a:spcPct val="200000"/>
              </a:lnSpc>
            </a:pPr>
            <a:r>
              <a:rPr lang="en-US" sz="1300" b="1" dirty="0">
                <a:solidFill>
                  <a:srgbClr val="0369A1"/>
                </a:solidFill>
              </a:rPr>
              <a:t>▸  </a:t>
            </a:r>
            <a:r>
              <a:rPr lang="en-US" sz="1300" dirty="0">
                <a:solidFill>
                  <a:srgbClr val="1E293B"/>
                </a:solidFill>
              </a:rPr>
              <a:t>One model, 9.46× faster, calibrated probabilities (ECE &lt; 0.05)</a:t>
            </a:r>
            <a:endParaRPr lang="en-US" sz="1300" dirty="0"/>
          </a:p>
        </p:txBody>
      </p:sp>
      <p:sp>
        <p:nvSpPr>
          <p:cNvPr id="53" name="Shape 49"/>
          <p:cNvSpPr/>
          <p:nvPr/>
        </p:nvSpPr>
        <p:spPr>
          <a:xfrm>
            <a:off x="6230112" y="4645152"/>
            <a:ext cx="5693664" cy="1853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4" name="Shape 50"/>
          <p:cNvSpPr/>
          <p:nvPr/>
        </p:nvSpPr>
        <p:spPr>
          <a:xfrm>
            <a:off x="6230112" y="4645152"/>
            <a:ext cx="85344" cy="1853184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1"/>
          <p:cNvSpPr/>
          <p:nvPr/>
        </p:nvSpPr>
        <p:spPr>
          <a:xfrm>
            <a:off x="6315456" y="4645152"/>
            <a:ext cx="5608320" cy="36576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2"/>
          <p:cNvSpPr/>
          <p:nvPr/>
        </p:nvSpPr>
        <p:spPr>
          <a:xfrm>
            <a:off x="6449568" y="4657344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Uncertainty &amp; Ablation Evidence</a:t>
            </a:r>
            <a:endParaRPr lang="en-US" sz="1600" dirty="0"/>
          </a:p>
        </p:txBody>
      </p:sp>
      <p:sp>
        <p:nvSpPr>
          <p:cNvPr id="57" name="Text 53"/>
          <p:cNvSpPr/>
          <p:nvPr/>
        </p:nvSpPr>
        <p:spPr>
          <a:xfrm>
            <a:off x="6449568" y="5059680"/>
            <a:ext cx="5352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rgbClr val="155E75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Bootstrap 95% CIs on all metrics: DEGRADED F1 [0.647, 0.789]</a:t>
            </a:r>
            <a:endParaRPr lang="en-US" sz="1200" dirty="0"/>
          </a:p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rgbClr val="155E75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Permutation test (E5): temporal order adds ~3 pp  -  gain is representation transfer</a:t>
            </a:r>
            <a:endParaRPr lang="en-US" sz="1200" dirty="0"/>
          </a:p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rgbClr val="155E75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Ablation: full model &gt; Transformer-only &gt; LSTM-only on DEGRADED F1</a:t>
            </a:r>
            <a:endParaRPr lang="en-US" sz="1200" dirty="0"/>
          </a:p>
        </p:txBody>
      </p:sp>
      <p:sp>
        <p:nvSpPr>
          <p:cNvPr id="59" name="Shape 0"/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4"/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BF679AE-4199-10E8-76D5-569080AF8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459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19B4DF7B-F2C0-5819-3D1B-82B7FE2383BC}"/>
              </a:ext>
            </a:extLst>
          </p:cNvPr>
          <p:cNvSpPr/>
          <p:nvPr/>
        </p:nvSpPr>
        <p:spPr>
          <a:xfrm>
            <a:off x="1273155" y="4084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AD616-B625-CC08-A7D1-C808E980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2193" y="2681777"/>
            <a:ext cx="4782103" cy="10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 dirty="0">
                <a:solidFill>
                  <a:srgbClr val="FFFFFF"/>
                </a:solidFill>
                <a:latin typeface="Calibri"/>
              </a:rPr>
              <a:t>6 ·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27913" y="3824777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91212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 0" descr="preencoded.png">
            <a:extLst>
              <a:ext uri="{FF2B5EF4-FFF2-40B4-BE49-F238E27FC236}">
                <a16:creationId xmlns:a16="http://schemas.microsoft.com/office/drawing/2014/main" id="{C56D4B79-7EED-2C38-2117-7F7B4C6D9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48640" y="889635"/>
            <a:ext cx="11277600" cy="1231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889635"/>
            <a:ext cx="1219200" cy="1225963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316355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1950720" y="950595"/>
            <a:ext cx="6461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Multi-Horizon GNSS Degradation Prediction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1950720" y="1401699"/>
            <a:ext cx="6461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Solutions (Springer, Q1)  ·  Target: Post-ION GNSS+ 2026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8656320" y="1340739"/>
            <a:ext cx="2926080" cy="487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56320" y="1352931"/>
            <a:ext cx="2926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Drafting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1277600" cy="1157859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1219200" cy="11430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8640" y="271272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1950720" y="2346960"/>
            <a:ext cx="6461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Position: Adaptive EKF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1950720" y="2798064"/>
            <a:ext cx="6461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T-ITS / Journal of Navigation (Q1)  ·  Target: After Paper A submission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8656320" y="2737104"/>
            <a:ext cx="2926080" cy="487680"/>
          </a:xfrm>
          <a:prstGeom prst="rect">
            <a:avLst/>
          </a:prstGeom>
          <a:solidFill>
            <a:srgbClr val="8493A8"/>
          </a:solidFill>
          <a:ln w="12700">
            <a:solidFill>
              <a:srgbClr val="8493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656320" y="2749296"/>
            <a:ext cx="2926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Outlined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548640" y="4968240"/>
            <a:ext cx="11277600" cy="1245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48640" y="4968240"/>
            <a:ext cx="1219200" cy="12313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48640" y="539496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</a:t>
            </a:r>
            <a:endParaRPr lang="en-US" sz="1867" dirty="0"/>
          </a:p>
        </p:txBody>
      </p:sp>
      <p:sp>
        <p:nvSpPr>
          <p:cNvPr id="23" name="Text 21"/>
          <p:cNvSpPr/>
          <p:nvPr/>
        </p:nvSpPr>
        <p:spPr>
          <a:xfrm>
            <a:off x="1950720" y="5029200"/>
            <a:ext cx="6461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Cross-City Transfer  -  Short Paper</a:t>
            </a:r>
            <a:endParaRPr lang="en-US" sz="1733" dirty="0"/>
          </a:p>
        </p:txBody>
      </p:sp>
      <p:sp>
        <p:nvSpPr>
          <p:cNvPr id="24" name="Text 22"/>
          <p:cNvSpPr/>
          <p:nvPr/>
        </p:nvSpPr>
        <p:spPr>
          <a:xfrm>
            <a:off x="1950720" y="5480304"/>
            <a:ext cx="6461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GNSS+ 2026  ·  Target: Check deadline</a:t>
            </a:r>
            <a:endParaRPr lang="en-US" sz="1467" dirty="0"/>
          </a:p>
        </p:txBody>
      </p:sp>
      <p:sp>
        <p:nvSpPr>
          <p:cNvPr id="26" name="Shape 24"/>
          <p:cNvSpPr/>
          <p:nvPr/>
        </p:nvSpPr>
        <p:spPr>
          <a:xfrm>
            <a:off x="8656320" y="5419344"/>
            <a:ext cx="2926080" cy="487680"/>
          </a:xfrm>
          <a:prstGeom prst="rect">
            <a:avLst/>
          </a:prstGeom>
          <a:solidFill>
            <a:srgbClr val="8493A8"/>
          </a:solidFill>
          <a:ln w="12700">
            <a:solidFill>
              <a:srgbClr val="8493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56320" y="5431536"/>
            <a:ext cx="2926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Outlined</a:t>
            </a:r>
            <a:endParaRPr lang="en-US" sz="1467" dirty="0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8CB8C325-269A-34A7-B913-0C8103C4870D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5B057CEB-9151-4C4F-8907-258513BEEE6C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5EC20E52-FCF1-91E2-9C9A-A6CF47370172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99BDAAFA-C6CF-316C-9DDC-872F360E6E07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0ED74389-4A40-7A12-343F-05F49A5C1912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0CD44AF3-50C0-6399-9EB6-723929A2CC24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C6904B11-FD2C-BF27-31C6-910C2A04CE22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2CEDF857-0E50-E12F-DD22-AA656A583339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BE60D477-A7A1-E54E-AA06-1947D7B4BCBB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075F713E-578C-D17F-0AF6-0575DD073583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DA050839-367E-44D7-EE2D-946D801AB208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118BA531-9153-8AEE-6F64-F4145AAF1921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16494F83-CC8D-6BA1-3071-0F6A72DC7F5C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416B7AFC-F29B-7799-0BC7-1149DF6AA52B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DA6416FE-D50B-415A-2605-1C6D22A95AE9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B3FA2F6D-EE5F-EF23-DCFD-4D4AC97AA0A8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22B94A8D-428E-8C32-6CA6-8E662C221374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AC47232-D3C2-B140-F9D9-65389A918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211844" y="407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BFD081D9-66C0-4DC2-DF81-F53D3B203F60}"/>
              </a:ext>
            </a:extLst>
          </p:cNvPr>
          <p:cNvSpPr/>
          <p:nvPr/>
        </p:nvSpPr>
        <p:spPr>
          <a:xfrm>
            <a:off x="548640" y="3554017"/>
            <a:ext cx="11277600" cy="1245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2A887426-68F0-8B2C-2558-AD5D71863AE9}"/>
              </a:ext>
            </a:extLst>
          </p:cNvPr>
          <p:cNvSpPr/>
          <p:nvPr/>
        </p:nvSpPr>
        <p:spPr>
          <a:xfrm>
            <a:off x="1950720" y="3614977"/>
            <a:ext cx="6461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733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DADB5FDC-DD3E-43A2-B415-2642F51E00DF}"/>
              </a:ext>
            </a:extLst>
          </p:cNvPr>
          <p:cNvSpPr/>
          <p:nvPr/>
        </p:nvSpPr>
        <p:spPr>
          <a:xfrm>
            <a:off x="1950720" y="4097659"/>
            <a:ext cx="6461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Evolution of Intelligent GNSS Signal Degradation Prediction Techniques for Autonomous Vehicle Navigation</a:t>
            </a:r>
            <a:endParaRPr lang="en-US" sz="1467" dirty="0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0A6D07CE-9AF7-4778-9CA7-446ED62AAB36}"/>
              </a:ext>
            </a:extLst>
          </p:cNvPr>
          <p:cNvSpPr/>
          <p:nvPr/>
        </p:nvSpPr>
        <p:spPr>
          <a:xfrm>
            <a:off x="8656320" y="4005121"/>
            <a:ext cx="2926080" cy="487680"/>
          </a:xfrm>
          <a:prstGeom prst="rect">
            <a:avLst/>
          </a:prstGeom>
          <a:solidFill>
            <a:srgbClr val="8493A8"/>
          </a:solidFill>
          <a:ln w="12700">
            <a:solidFill>
              <a:srgbClr val="8493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5BB42257-C84A-B10F-6AAC-4BC38938E6AB}"/>
              </a:ext>
            </a:extLst>
          </p:cNvPr>
          <p:cNvSpPr/>
          <p:nvPr/>
        </p:nvSpPr>
        <p:spPr>
          <a:xfrm>
            <a:off x="8656320" y="4017313"/>
            <a:ext cx="2926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Outlined</a:t>
            </a:r>
            <a:endParaRPr lang="en-US" sz="1467" dirty="0"/>
          </a:p>
        </p:txBody>
      </p:sp>
      <p:sp>
        <p:nvSpPr>
          <p:cNvPr id="56" name="Shape 3">
            <a:extLst>
              <a:ext uri="{FF2B5EF4-FFF2-40B4-BE49-F238E27FC236}">
                <a16:creationId xmlns:a16="http://schemas.microsoft.com/office/drawing/2014/main" id="{154CCE3C-453B-A172-EBC6-7FDD22AEE1C8}"/>
              </a:ext>
            </a:extLst>
          </p:cNvPr>
          <p:cNvSpPr/>
          <p:nvPr/>
        </p:nvSpPr>
        <p:spPr>
          <a:xfrm>
            <a:off x="548640" y="3537470"/>
            <a:ext cx="1219200" cy="1225963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EA13F8C5-D22C-AB17-A502-89550672A237}"/>
              </a:ext>
            </a:extLst>
          </p:cNvPr>
          <p:cNvSpPr/>
          <p:nvPr/>
        </p:nvSpPr>
        <p:spPr>
          <a:xfrm>
            <a:off x="542975" y="3932864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</a:t>
            </a:r>
            <a:endParaRPr lang="en-US" sz="1867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3774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200" b="0">
                <a:solidFill>
                  <a:srgbClr val="E6F2FB"/>
                </a:solidFill>
                <a:latin typeface="Calibri"/>
              </a:rPr>
              <a:t>SENTINEL-GNSS  -  predicting GNSS degradation before it happens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Team Pilot Project · Beihang University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CFE3F5"/>
                </a:solidFill>
                <a:latin typeface="Calibri"/>
              </a:rPr>
              <a:t>github.com/Jorshuare/AI-Based-Prediction-for-GNSS-Signal-Degradation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844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702259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0"/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4"/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BF679AE-4199-10E8-76D5-569080AF8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459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19B4DF7B-F2C0-5819-3D1B-82B7FE2383BC}"/>
              </a:ext>
            </a:extLst>
          </p:cNvPr>
          <p:cNvSpPr/>
          <p:nvPr/>
        </p:nvSpPr>
        <p:spPr>
          <a:xfrm>
            <a:off x="1273155" y="4084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821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1210</TotalTime>
  <Words>1696</Words>
  <Application>Microsoft Office PowerPoint</Application>
  <PresentationFormat>Widescreen</PresentationFormat>
  <Paragraphs>404</Paragraphs>
  <Slides>34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</vt:lpstr>
      <vt:lpstr>Arial</vt:lpstr>
      <vt:lpstr>Calibri</vt:lpstr>
      <vt:lpstr>IBM Plex Mono</vt:lpstr>
      <vt:lpstr>IBM Plex Sans</vt:lpstr>
      <vt:lpstr>Quattrocento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Joel Ojerinde</cp:lastModifiedBy>
  <cp:revision>47</cp:revision>
  <dcterms:created xsi:type="dcterms:W3CDTF">2013-01-27T09:14:16Z</dcterms:created>
  <dcterms:modified xsi:type="dcterms:W3CDTF">2026-06-30T22:53:02Z</dcterms:modified>
  <cp:category/>
</cp:coreProperties>
</file>