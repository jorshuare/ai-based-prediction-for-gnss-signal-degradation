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205400" cy="32405638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2902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05805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58707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11609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64512" algn="l" defTabSz="452902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17414" algn="l" defTabSz="452902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170316" algn="l" defTabSz="452902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23219" algn="l" defTabSz="452902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9F"/>
    <a:srgbClr val="01519A"/>
    <a:srgbClr val="426CAE"/>
    <a:srgbClr val="B41E29"/>
    <a:srgbClr val="31787E"/>
    <a:srgbClr val="296267"/>
    <a:srgbClr val="B40000"/>
    <a:srgbClr val="4E7398"/>
    <a:srgbClr val="4E99C1"/>
    <a:srgbClr val="A79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94" autoAdjust="0"/>
    <p:restoredTop sz="88448" autoAdjust="0"/>
  </p:normalViewPr>
  <p:slideViewPr>
    <p:cSldViewPr>
      <p:cViewPr>
        <p:scale>
          <a:sx n="25" d="100"/>
          <a:sy n="25" d="100"/>
        </p:scale>
        <p:origin x="1205" y="-5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-3368" y="-104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0841615-1DF9-A448-9A9B-BCE9DBD29FE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875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84" charset="-128"/>
        <a:cs typeface="ＭＳ Ｐゴシック" pitchFamily="-84" charset="-128"/>
      </a:defRPr>
    </a:lvl1pPr>
    <a:lvl2pPr marL="45290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2pPr>
    <a:lvl3pPr marL="90580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3pPr>
    <a:lvl4pPr marL="135870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4pPr>
    <a:lvl5pPr marL="18116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5pPr>
    <a:lvl6pPr marL="2264512" algn="l" defTabSz="45290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17414" algn="l" defTabSz="45290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70316" algn="l" defTabSz="45290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23219" algn="l" defTabSz="45290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5C66430-FF76-7B4E-9DC1-A2D9C309AAB8}" type="slidenum">
              <a:rPr lang="en-US" sz="1200"/>
              <a:pPr/>
              <a:t>1</a:t>
            </a:fld>
            <a:endParaRPr lang="en-US" sz="1200" dirty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5773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0405" y="10066752"/>
            <a:ext cx="36724590" cy="6946208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80810" y="18363195"/>
            <a:ext cx="30243780" cy="8281441"/>
          </a:xfrm>
        </p:spPr>
        <p:txBody>
          <a:bodyPr/>
          <a:lstStyle>
            <a:lvl1pPr marL="0" indent="0" algn="ctr">
              <a:buNone/>
              <a:defRPr/>
            </a:lvl1pPr>
            <a:lvl2pPr marL="452902" indent="0" algn="ctr">
              <a:buNone/>
              <a:defRPr/>
            </a:lvl2pPr>
            <a:lvl3pPr marL="905805" indent="0" algn="ctr">
              <a:buNone/>
              <a:defRPr/>
            </a:lvl3pPr>
            <a:lvl4pPr marL="1358707" indent="0" algn="ctr">
              <a:buNone/>
              <a:defRPr/>
            </a:lvl4pPr>
            <a:lvl5pPr marL="1811609" indent="0" algn="ctr">
              <a:buNone/>
              <a:defRPr/>
            </a:lvl5pPr>
            <a:lvl6pPr marL="2264512" indent="0" algn="ctr">
              <a:buNone/>
              <a:defRPr/>
            </a:lvl6pPr>
            <a:lvl7pPr marL="2717414" indent="0" algn="ctr">
              <a:buNone/>
              <a:defRPr/>
            </a:lvl7pPr>
            <a:lvl8pPr marL="3170316" indent="0" algn="ctr">
              <a:buNone/>
              <a:defRPr/>
            </a:lvl8pPr>
            <a:lvl9pPr marL="3623219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408F8E-6FB3-464A-9C30-2A3F5C4211B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81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4C6583-A371-E440-BCED-D2D0D131BD2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73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927" y="20823624"/>
            <a:ext cx="36724590" cy="643612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2927" y="13734890"/>
            <a:ext cx="36724590" cy="708873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2902" indent="0">
              <a:buNone/>
              <a:defRPr sz="1800"/>
            </a:lvl2pPr>
            <a:lvl3pPr marL="905805" indent="0">
              <a:buNone/>
              <a:defRPr sz="1600"/>
            </a:lvl3pPr>
            <a:lvl4pPr marL="1358707" indent="0">
              <a:buNone/>
              <a:defRPr sz="1400"/>
            </a:lvl4pPr>
            <a:lvl5pPr marL="1811609" indent="0">
              <a:buNone/>
              <a:defRPr sz="1400"/>
            </a:lvl5pPr>
            <a:lvl6pPr marL="2264512" indent="0">
              <a:buNone/>
              <a:defRPr sz="1400"/>
            </a:lvl6pPr>
            <a:lvl7pPr marL="2717414" indent="0">
              <a:buNone/>
              <a:defRPr sz="1400"/>
            </a:lvl7pPr>
            <a:lvl8pPr marL="3170316" indent="0">
              <a:buNone/>
              <a:defRPr sz="1400"/>
            </a:lvl8pPr>
            <a:lvl9pPr marL="3623219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ED8963-7EB0-0B4B-83FE-B728280DABD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5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42282" y="9362879"/>
            <a:ext cx="18270408" cy="194421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92712" y="9362879"/>
            <a:ext cx="18270409" cy="194421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8F32F2-82B6-9049-BEB3-E621FD70951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80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1" y="1297726"/>
            <a:ext cx="38884860" cy="540094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270" y="7253763"/>
            <a:ext cx="19089886" cy="30230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902" indent="0">
              <a:buNone/>
              <a:defRPr sz="2000" b="1"/>
            </a:lvl2pPr>
            <a:lvl3pPr marL="905805" indent="0">
              <a:buNone/>
              <a:defRPr sz="1800" b="1"/>
            </a:lvl3pPr>
            <a:lvl4pPr marL="1358707" indent="0">
              <a:buNone/>
              <a:defRPr sz="1600" b="1"/>
            </a:lvl4pPr>
            <a:lvl5pPr marL="1811609" indent="0">
              <a:buNone/>
              <a:defRPr sz="1600" b="1"/>
            </a:lvl5pPr>
            <a:lvl6pPr marL="2264512" indent="0">
              <a:buNone/>
              <a:defRPr sz="1600" b="1"/>
            </a:lvl6pPr>
            <a:lvl7pPr marL="2717414" indent="0">
              <a:buNone/>
              <a:defRPr sz="1600" b="1"/>
            </a:lvl7pPr>
            <a:lvl8pPr marL="3170316" indent="0">
              <a:buNone/>
              <a:defRPr sz="1600" b="1"/>
            </a:lvl8pPr>
            <a:lvl9pPr marL="3623219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0270" y="10276788"/>
            <a:ext cx="19089886" cy="186707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947744" y="7253763"/>
            <a:ext cx="19097387" cy="30230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902" indent="0">
              <a:buNone/>
              <a:defRPr sz="2000" b="1"/>
            </a:lvl2pPr>
            <a:lvl3pPr marL="905805" indent="0">
              <a:buNone/>
              <a:defRPr sz="1800" b="1"/>
            </a:lvl3pPr>
            <a:lvl4pPr marL="1358707" indent="0">
              <a:buNone/>
              <a:defRPr sz="1600" b="1"/>
            </a:lvl4pPr>
            <a:lvl5pPr marL="1811609" indent="0">
              <a:buNone/>
              <a:defRPr sz="1600" b="1"/>
            </a:lvl5pPr>
            <a:lvl6pPr marL="2264512" indent="0">
              <a:buNone/>
              <a:defRPr sz="1600" b="1"/>
            </a:lvl6pPr>
            <a:lvl7pPr marL="2717414" indent="0">
              <a:buNone/>
              <a:defRPr sz="1600" b="1"/>
            </a:lvl7pPr>
            <a:lvl8pPr marL="3170316" indent="0">
              <a:buNone/>
              <a:defRPr sz="1600" b="1"/>
            </a:lvl8pPr>
            <a:lvl9pPr marL="3623219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947744" y="10276788"/>
            <a:ext cx="19097387" cy="186707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036F31-6EE5-7643-9611-011E51138A6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1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B67582-577B-874D-A3AC-1F3095A41DB5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8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A3B30-A64E-324C-82F5-1C1A069C885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0" y="1290225"/>
            <a:ext cx="14214277" cy="54909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2112" y="1290225"/>
            <a:ext cx="24153019" cy="276573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0270" y="6781180"/>
            <a:ext cx="14214277" cy="22166356"/>
          </a:xfrm>
        </p:spPr>
        <p:txBody>
          <a:bodyPr/>
          <a:lstStyle>
            <a:lvl1pPr marL="0" indent="0">
              <a:buNone/>
              <a:defRPr sz="1400"/>
            </a:lvl1pPr>
            <a:lvl2pPr marL="452902" indent="0">
              <a:buNone/>
              <a:defRPr sz="1200"/>
            </a:lvl2pPr>
            <a:lvl3pPr marL="905805" indent="0">
              <a:buNone/>
              <a:defRPr sz="1000"/>
            </a:lvl3pPr>
            <a:lvl4pPr marL="1358707" indent="0">
              <a:buNone/>
              <a:defRPr sz="900"/>
            </a:lvl4pPr>
            <a:lvl5pPr marL="1811609" indent="0">
              <a:buNone/>
              <a:defRPr sz="900"/>
            </a:lvl5pPr>
            <a:lvl6pPr marL="2264512" indent="0">
              <a:buNone/>
              <a:defRPr sz="900"/>
            </a:lvl6pPr>
            <a:lvl7pPr marL="2717414" indent="0">
              <a:buNone/>
              <a:defRPr sz="900"/>
            </a:lvl7pPr>
            <a:lvl8pPr marL="3170316" indent="0">
              <a:buNone/>
              <a:defRPr sz="900"/>
            </a:lvl8pPr>
            <a:lvl9pPr marL="3623219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66B38C-B96F-6041-B6E5-E3AC3CAB1B4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4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559" y="22683948"/>
            <a:ext cx="25923240" cy="267796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68559" y="2895504"/>
            <a:ext cx="25923240" cy="19443383"/>
          </a:xfrm>
        </p:spPr>
        <p:txBody>
          <a:bodyPr/>
          <a:lstStyle>
            <a:lvl1pPr marL="0" indent="0">
              <a:buNone/>
              <a:defRPr sz="3200"/>
            </a:lvl1pPr>
            <a:lvl2pPr marL="452902" indent="0">
              <a:buNone/>
              <a:defRPr sz="2800"/>
            </a:lvl2pPr>
            <a:lvl3pPr marL="905805" indent="0">
              <a:buNone/>
              <a:defRPr sz="2400"/>
            </a:lvl3pPr>
            <a:lvl4pPr marL="1358707" indent="0">
              <a:buNone/>
              <a:defRPr sz="2000"/>
            </a:lvl4pPr>
            <a:lvl5pPr marL="1811609" indent="0">
              <a:buNone/>
              <a:defRPr sz="2000"/>
            </a:lvl5pPr>
            <a:lvl6pPr marL="2264512" indent="0">
              <a:buNone/>
              <a:defRPr sz="2000"/>
            </a:lvl6pPr>
            <a:lvl7pPr marL="2717414" indent="0">
              <a:buNone/>
              <a:defRPr sz="2000"/>
            </a:lvl7pPr>
            <a:lvl8pPr marL="3170316" indent="0">
              <a:buNone/>
              <a:defRPr sz="2000"/>
            </a:lvl8pPr>
            <a:lvl9pPr marL="3623219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8559" y="25361913"/>
            <a:ext cx="25923240" cy="3803162"/>
          </a:xfrm>
        </p:spPr>
        <p:txBody>
          <a:bodyPr/>
          <a:lstStyle>
            <a:lvl1pPr marL="0" indent="0">
              <a:buNone/>
              <a:defRPr sz="1400"/>
            </a:lvl1pPr>
            <a:lvl2pPr marL="452902" indent="0">
              <a:buNone/>
              <a:defRPr sz="1200"/>
            </a:lvl2pPr>
            <a:lvl3pPr marL="905805" indent="0">
              <a:buNone/>
              <a:defRPr sz="1000"/>
            </a:lvl3pPr>
            <a:lvl4pPr marL="1358707" indent="0">
              <a:buNone/>
              <a:defRPr sz="900"/>
            </a:lvl4pPr>
            <a:lvl5pPr marL="1811609" indent="0">
              <a:buNone/>
              <a:defRPr sz="900"/>
            </a:lvl5pPr>
            <a:lvl6pPr marL="2264512" indent="0">
              <a:buNone/>
              <a:defRPr sz="900"/>
            </a:lvl6pPr>
            <a:lvl7pPr marL="2717414" indent="0">
              <a:buNone/>
              <a:defRPr sz="900"/>
            </a:lvl7pPr>
            <a:lvl8pPr marL="3170316" indent="0">
              <a:buNone/>
              <a:defRPr sz="900"/>
            </a:lvl8pPr>
            <a:lvl9pPr marL="3623219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E02177-8C81-9B4A-BBDB-E5F540E3940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7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6E4779-C9D0-1546-BDA3-D15D6350C8C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35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783848" y="2880501"/>
            <a:ext cx="9179273" cy="2592451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42281" y="2880501"/>
            <a:ext cx="27361544" cy="2592451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4E3DF7-D832-E64A-A100-1F0D711245C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9480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41862" y="2879734"/>
            <a:ext cx="36721676" cy="540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34744" tIns="217372" rIns="434744" bIns="21737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41862" y="9363060"/>
            <a:ext cx="36721676" cy="1944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34744" tIns="217372" rIns="434744" bIns="2173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41862" y="29525905"/>
            <a:ext cx="9001321" cy="2159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44" tIns="217372" rIns="434744" bIns="217372" numCol="1" anchor="t" anchorCtr="0" compatLnSpc="1">
            <a:prstTxWarp prst="textNoShape">
              <a:avLst/>
            </a:prstTxWarp>
          </a:bodyPr>
          <a:lstStyle>
            <a:lvl1pPr>
              <a:defRPr sz="6600">
                <a:latin typeface="Times" charset="0"/>
              </a:defRPr>
            </a:lvl1pPr>
          </a:lstStyle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59208" y="29525905"/>
            <a:ext cx="13686985" cy="2159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44" tIns="217372" rIns="434744" bIns="217372" numCol="1" anchor="t" anchorCtr="0" compatLnSpc="1">
            <a:prstTxWarp prst="textNoShape">
              <a:avLst/>
            </a:prstTxWarp>
          </a:bodyPr>
          <a:lstStyle>
            <a:lvl1pPr algn="ctr">
              <a:defRPr sz="6600">
                <a:latin typeface="Times" charset="0"/>
              </a:defRPr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962218" y="29525905"/>
            <a:ext cx="9001321" cy="2159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44" tIns="217372" rIns="434744" bIns="217372" numCol="1" anchor="t" anchorCtr="0" compatLnSpc="1">
            <a:prstTxWarp prst="textNoShape">
              <a:avLst/>
            </a:prstTxWarp>
          </a:bodyPr>
          <a:lstStyle>
            <a:lvl1pPr algn="r">
              <a:defRPr sz="6600">
                <a:latin typeface="Times" charset="0"/>
              </a:defRPr>
            </a:lvl1pPr>
          </a:lstStyle>
          <a:p>
            <a:fld id="{95E46882-1281-924A-8848-F951F22FAA83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+mj-lt"/>
          <a:ea typeface="ＭＳ Ｐゴシック" pitchFamily="-84" charset="-128"/>
          <a:cs typeface="ＭＳ Ｐゴシック" pitchFamily="-84" charset="-128"/>
        </a:defRPr>
      </a:lvl1pPr>
      <a:lvl2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  <a:ea typeface="ＭＳ Ｐゴシック" pitchFamily="-84" charset="-128"/>
          <a:cs typeface="ＭＳ Ｐゴシック" pitchFamily="-84" charset="-128"/>
        </a:defRPr>
      </a:lvl2pPr>
      <a:lvl3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  <a:ea typeface="ＭＳ Ｐゴシック" pitchFamily="-84" charset="-128"/>
          <a:cs typeface="ＭＳ Ｐゴシック" pitchFamily="-84" charset="-128"/>
        </a:defRPr>
      </a:lvl3pPr>
      <a:lvl4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  <a:ea typeface="ＭＳ Ｐゴシック" pitchFamily="-84" charset="-128"/>
          <a:cs typeface="ＭＳ Ｐゴシック" pitchFamily="-84" charset="-128"/>
        </a:defRPr>
      </a:lvl4pPr>
      <a:lvl5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  <a:ea typeface="ＭＳ Ｐゴシック" pitchFamily="-84" charset="-128"/>
          <a:cs typeface="ＭＳ Ｐゴシック" pitchFamily="-84" charset="-128"/>
        </a:defRPr>
      </a:lvl5pPr>
      <a:lvl6pPr marL="452902" algn="ctr" defTabSz="4348177" rtl="0" fontAlgn="base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</a:defRPr>
      </a:lvl6pPr>
      <a:lvl7pPr marL="905805" algn="ctr" defTabSz="4348177" rtl="0" fontAlgn="base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</a:defRPr>
      </a:lvl7pPr>
      <a:lvl8pPr marL="1358707" algn="ctr" defTabSz="4348177" rtl="0" fontAlgn="base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</a:defRPr>
      </a:lvl8pPr>
      <a:lvl9pPr marL="1811609" algn="ctr" defTabSz="4348177" rtl="0" fontAlgn="base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</a:defRPr>
      </a:lvl9pPr>
    </p:titleStyle>
    <p:bodyStyle>
      <a:lvl1pPr marL="1630763" indent="-1630763" algn="l" defTabSz="4348177" rtl="0" eaLnBrk="0" fontAlgn="base" hangingPunct="0">
        <a:spcBef>
          <a:spcPct val="20000"/>
        </a:spcBef>
        <a:spcAft>
          <a:spcPct val="0"/>
        </a:spcAft>
        <a:buChar char="•"/>
        <a:defRPr sz="15300">
          <a:solidFill>
            <a:schemeClr val="tx1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3532009" indent="-1358707" algn="l" defTabSz="4348177" rtl="0" eaLnBrk="0" fontAlgn="base" hangingPunct="0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ＭＳ Ｐゴシック" pitchFamily="-108" charset="-128"/>
        </a:defRPr>
      </a:lvl2pPr>
      <a:lvl3pPr marL="5433256" indent="-1085078" algn="l" defTabSz="4348177" rtl="0" eaLnBrk="0" fontAlgn="base" hangingPunct="0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ＭＳ Ｐゴシック" pitchFamily="-108" charset="-128"/>
        </a:defRPr>
      </a:lvl3pPr>
      <a:lvl4pPr marL="7608130" indent="-1086652" algn="l" defTabSz="4348177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ＭＳ Ｐゴシック" pitchFamily="-108" charset="-128"/>
        </a:defRPr>
      </a:lvl4pPr>
      <a:lvl5pPr marL="9781432" indent="-1085078" algn="l" defTabSz="4348177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5pPr>
      <a:lvl6pPr marL="10234334" indent="-1085078" algn="l" defTabSz="4348177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6pPr>
      <a:lvl7pPr marL="10687237" indent="-1085078" algn="l" defTabSz="4348177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7pPr>
      <a:lvl8pPr marL="11140139" indent="-1085078" algn="l" defTabSz="4348177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8pPr>
      <a:lvl9pPr marL="11593041" indent="-1085078" algn="l" defTabSz="4348177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en-US"/>
      </a:defPPr>
      <a:lvl1pPr marL="0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902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5805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8707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1609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4512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7414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70316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23219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279F450-DBFD-A9CF-3E71-9DD7075C5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286" y="8338534"/>
            <a:ext cx="11165266" cy="3183765"/>
          </a:xfrm>
          <a:prstGeom prst="rect">
            <a:avLst/>
          </a:prstGeom>
        </p:spPr>
      </p:pic>
      <p:sp>
        <p:nvSpPr>
          <p:cNvPr id="14341" name="Rectangle 12"/>
          <p:cNvSpPr>
            <a:spLocks noChangeArrowheads="1"/>
          </p:cNvSpPr>
          <p:nvPr/>
        </p:nvSpPr>
        <p:spPr bwMode="auto">
          <a:xfrm>
            <a:off x="37929038" y="16119237"/>
            <a:ext cx="4285744" cy="885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72" tIns="45286" rIns="90572" bIns="45286">
            <a:spAutoFit/>
          </a:bodyPr>
          <a:lstStyle/>
          <a:p>
            <a:pPr algn="just">
              <a:spcBef>
                <a:spcPts val="483"/>
              </a:spcBef>
              <a:spcAft>
                <a:spcPts val="483"/>
              </a:spcAft>
            </a:pPr>
            <a:endParaRPr lang="en-US" dirty="0">
              <a:latin typeface="Times New Roman" charset="0"/>
            </a:endParaRPr>
          </a:p>
          <a:p>
            <a:pPr algn="just"/>
            <a:endParaRPr lang="en-US" dirty="0">
              <a:latin typeface="Times" charset="0"/>
            </a:endParaRPr>
          </a:p>
        </p:txBody>
      </p:sp>
      <p:sp>
        <p:nvSpPr>
          <p:cNvPr id="14344" name="Rectangle 18"/>
          <p:cNvSpPr>
            <a:spLocks noChangeArrowheads="1"/>
          </p:cNvSpPr>
          <p:nvPr/>
        </p:nvSpPr>
        <p:spPr bwMode="auto">
          <a:xfrm>
            <a:off x="456583" y="12463652"/>
            <a:ext cx="13619772" cy="4170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572" tIns="45286" rIns="90572" bIns="45286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1" i="0" dirty="0">
                <a:solidFill>
                  <a:srgbClr val="1C222B"/>
                </a:solidFill>
                <a:latin typeface="Calibri"/>
              </a:rPr>
              <a:t>Dataset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: 149,662 labelled epochs across 4 cities and 9+ receiver types. Hangzhou (Beihang campus, Scenarios A to E,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Septentrio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Mosaic-X5C); Hong Kong (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UrbanNav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: Medium, Deep, Harsh, Tunnel); Tokyo held-out (Shinjuku Trimble, Shinjuku u-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blox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F9P, Odaiba).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1" i="0" dirty="0">
                <a:solidFill>
                  <a:srgbClr val="1C222B"/>
                </a:solidFill>
                <a:latin typeface="Calibri"/>
              </a:rPr>
              <a:t>Features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: 3</a:t>
            </a:r>
            <a:r>
              <a:rPr lang="en-US" sz="2200" b="0" i="0" dirty="0">
                <a:solidFill>
                  <a:srgbClr val="1C222B"/>
                </a:solidFill>
                <a:latin typeface="Calibri"/>
              </a:rPr>
              <a:t>7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features in 7 groups, position quality, signal strength, satellite geometry, pseudorange residuals, temporal patterns, atmospheric delays, and receiver status. The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receiver_tier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feature encodes hardware class so one model handles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Septentrio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(48 dB-Hz) and u-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blox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(38 dB-Hz) identically.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1" i="0" dirty="0">
                <a:solidFill>
                  <a:srgbClr val="1C222B"/>
                </a:solidFill>
                <a:latin typeface="Calibri"/>
              </a:rPr>
              <a:t>Model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: a hybrid Transformer-LSTM. The Transformer (2 layers, 8 heads,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d_model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=128) reads global patterns across the 30 s window; a 2-layer LSTM (hidden=256) tracks the directional approach to blockage. Three heads predict +5, +15, and +30 s. 1.46 M parameters, 0.039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ms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per sample.</a:t>
            </a:r>
          </a:p>
        </p:txBody>
      </p:sp>
      <p:sp>
        <p:nvSpPr>
          <p:cNvPr id="14346" name="Rectangle 102"/>
          <p:cNvSpPr>
            <a:spLocks noChangeArrowheads="1"/>
          </p:cNvSpPr>
          <p:nvPr/>
        </p:nvSpPr>
        <p:spPr bwMode="auto">
          <a:xfrm>
            <a:off x="28935866" y="13768732"/>
            <a:ext cx="13527962" cy="261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572" tIns="45286" rIns="90572" bIns="45286" anchor="t">
            <a:spAutoFit/>
          </a:bodyPr>
          <a:lstStyle/>
          <a:p>
            <a:pPr marL="342900" indent="-34290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sz="1600" b="1" dirty="0">
                <a:solidFill>
                  <a:srgbClr val="102A43"/>
                </a:solidFill>
                <a:latin typeface="Consolas"/>
              </a:rPr>
              <a:t>Prediction inflates GPS noise R before bad epochs arrive (Joseph-form EKF):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dirty="0">
                <a:solidFill>
                  <a:srgbClr val="102A43"/>
                </a:solidFill>
                <a:latin typeface="Consolas"/>
              </a:rPr>
              <a:t>Predict:   </a:t>
            </a:r>
            <a:r>
              <a:rPr sz="1600" b="0" dirty="0" err="1">
                <a:solidFill>
                  <a:srgbClr val="102A43"/>
                </a:solidFill>
                <a:latin typeface="Consolas"/>
              </a:rPr>
              <a:t>xp</a:t>
            </a:r>
            <a:r>
              <a:rPr sz="1600" b="0" dirty="0">
                <a:solidFill>
                  <a:srgbClr val="102A43"/>
                </a:solidFill>
                <a:latin typeface="Consolas"/>
              </a:rPr>
              <a:t> = f(x, u);   Pp = F P F^T + Q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dirty="0">
                <a:solidFill>
                  <a:srgbClr val="102A43"/>
                </a:solidFill>
                <a:latin typeface="Consolas"/>
              </a:rPr>
              <a:t>Update:    K = Pp H^T (H Pp H^T + R)^-1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dirty="0">
                <a:solidFill>
                  <a:srgbClr val="102A43"/>
                </a:solidFill>
                <a:latin typeface="Consolas"/>
              </a:rPr>
              <a:t>           x = </a:t>
            </a:r>
            <a:r>
              <a:rPr sz="1600" b="0" dirty="0" err="1">
                <a:solidFill>
                  <a:srgbClr val="102A43"/>
                </a:solidFill>
                <a:latin typeface="Consolas"/>
              </a:rPr>
              <a:t>xp</a:t>
            </a:r>
            <a:r>
              <a:rPr sz="1600" b="0" dirty="0">
                <a:solidFill>
                  <a:srgbClr val="102A43"/>
                </a:solidFill>
                <a:latin typeface="Consolas"/>
              </a:rPr>
              <a:t> + K (z - H </a:t>
            </a:r>
            <a:r>
              <a:rPr sz="1600" b="0" dirty="0" err="1">
                <a:solidFill>
                  <a:srgbClr val="102A43"/>
                </a:solidFill>
                <a:latin typeface="Consolas"/>
              </a:rPr>
              <a:t>xp</a:t>
            </a:r>
            <a:r>
              <a:rPr sz="1600" b="0" dirty="0">
                <a:solidFill>
                  <a:srgbClr val="102A43"/>
                </a:solidFill>
                <a:latin typeface="Consolas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dirty="0">
                <a:solidFill>
                  <a:srgbClr val="102A43"/>
                </a:solidFill>
                <a:latin typeface="Consolas"/>
              </a:rPr>
              <a:t>           P = (I - K H) Pp (I - K H)^T + K R K^T   [Joseph form]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dirty="0">
                <a:solidFill>
                  <a:srgbClr val="102A43"/>
                </a:solidFill>
                <a:latin typeface="Consolas"/>
              </a:rPr>
              <a:t>Adaptive:  R = (40 m)^2 I2 if P(DEGRADED) &gt; 0.45, else r_base^2 I2</a:t>
            </a:r>
            <a:endParaRPr lang="en-US" sz="1600" b="0" dirty="0">
              <a:solidFill>
                <a:srgbClr val="102A43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sz="1600" b="0" dirty="0">
              <a:solidFill>
                <a:srgbClr val="102A43"/>
              </a:solidFill>
              <a:latin typeface="Consolas"/>
            </a:endParaRPr>
          </a:p>
        </p:txBody>
      </p:sp>
      <p:sp>
        <p:nvSpPr>
          <p:cNvPr id="14347" name="TextBox 53"/>
          <p:cNvSpPr txBox="1">
            <a:spLocks noChangeArrowheads="1"/>
          </p:cNvSpPr>
          <p:nvPr/>
        </p:nvSpPr>
        <p:spPr bwMode="auto">
          <a:xfrm>
            <a:off x="534514" y="4308585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5900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4348" name="TextBox 54"/>
          <p:cNvSpPr txBox="1">
            <a:spLocks noChangeArrowheads="1"/>
          </p:cNvSpPr>
          <p:nvPr/>
        </p:nvSpPr>
        <p:spPr bwMode="auto">
          <a:xfrm>
            <a:off x="504355" y="10730211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5900" dirty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14349" name="TextBox 55"/>
          <p:cNvSpPr txBox="1">
            <a:spLocks noChangeArrowheads="1"/>
          </p:cNvSpPr>
          <p:nvPr/>
        </p:nvSpPr>
        <p:spPr bwMode="auto">
          <a:xfrm>
            <a:off x="14733694" y="4321499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sz="5900">
                <a:solidFill>
                  <a:srgbClr val="FFFFFF"/>
                </a:solidFill>
              </a:rPr>
              <a:t>System Architecture &amp; Pipeline</a:t>
            </a:r>
          </a:p>
        </p:txBody>
      </p:sp>
      <p:sp>
        <p:nvSpPr>
          <p:cNvPr id="14350" name="TextBox 56"/>
          <p:cNvSpPr txBox="1">
            <a:spLocks noChangeArrowheads="1"/>
          </p:cNvSpPr>
          <p:nvPr/>
        </p:nvSpPr>
        <p:spPr bwMode="auto">
          <a:xfrm>
            <a:off x="28989704" y="12567327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sz="5900" dirty="0">
                <a:solidFill>
                  <a:srgbClr val="FFFFFF"/>
                </a:solidFill>
              </a:rPr>
              <a:t>Prediction-Informed EKF</a:t>
            </a:r>
          </a:p>
        </p:txBody>
      </p:sp>
      <p:sp>
        <p:nvSpPr>
          <p:cNvPr id="14353" name="Rectangle 49"/>
          <p:cNvSpPr>
            <a:spLocks noChangeArrowheads="1"/>
          </p:cNvSpPr>
          <p:nvPr/>
        </p:nvSpPr>
        <p:spPr bwMode="auto">
          <a:xfrm>
            <a:off x="504355" y="11844063"/>
            <a:ext cx="13572000" cy="45925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1" i="0" dirty="0">
                <a:solidFill>
                  <a:schemeClr val="bg1"/>
                </a:solidFill>
                <a:latin typeface="Calibri"/>
              </a:rPr>
              <a:t>A unified pipeline turns raw multi-city GNSS into 3</a:t>
            </a:r>
            <a:r>
              <a:rPr lang="en-US" sz="2000" b="1" i="0" dirty="0">
                <a:solidFill>
                  <a:schemeClr val="bg1"/>
                </a:solidFill>
                <a:latin typeface="Calibri"/>
              </a:rPr>
              <a:t>7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engineered features and multi-horizon degradation labels.</a:t>
            </a:r>
          </a:p>
        </p:txBody>
      </p:sp>
      <p:sp>
        <p:nvSpPr>
          <p:cNvPr id="14358" name="Rectangle 49"/>
          <p:cNvSpPr>
            <a:spLocks noChangeArrowheads="1"/>
          </p:cNvSpPr>
          <p:nvPr/>
        </p:nvSpPr>
        <p:spPr bwMode="auto">
          <a:xfrm>
            <a:off x="28989704" y="4321499"/>
            <a:ext cx="13572000" cy="45925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1" i="0" dirty="0">
                <a:solidFill>
                  <a:schemeClr val="bg1"/>
                </a:solidFill>
                <a:latin typeface="Calibri"/>
              </a:rPr>
              <a:t>Cross-city zero-shot: SENTINEL holds DEGRADED F1 = 0.75 on unseen Tokyo while Random Forest collapses to 0.15</a:t>
            </a:r>
          </a:p>
        </p:txBody>
      </p:sp>
      <p:sp>
        <p:nvSpPr>
          <p:cNvPr id="14365" name="Rectangle 49"/>
          <p:cNvSpPr>
            <a:spLocks noChangeArrowheads="1"/>
          </p:cNvSpPr>
          <p:nvPr/>
        </p:nvSpPr>
        <p:spPr bwMode="auto">
          <a:xfrm>
            <a:off x="14647235" y="12001315"/>
            <a:ext cx="13572000" cy="45925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1" i="0" dirty="0">
                <a:solidFill>
                  <a:schemeClr val="bg1"/>
                </a:solidFill>
                <a:latin typeface="Calibri"/>
              </a:rPr>
              <a:t>Multi-horizon classification (held-out test, n=1,686): strong +5 s performance that degrades gracefully with horizon.</a:t>
            </a:r>
          </a:p>
        </p:txBody>
      </p:sp>
      <p:sp>
        <p:nvSpPr>
          <p:cNvPr id="14366" name="TextBox 36"/>
          <p:cNvSpPr txBox="1">
            <a:spLocks noChangeArrowheads="1"/>
          </p:cNvSpPr>
          <p:nvPr/>
        </p:nvSpPr>
        <p:spPr bwMode="auto">
          <a:xfrm>
            <a:off x="21102906" y="16143172"/>
            <a:ext cx="6912725" cy="64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sz="1800" b="0" i="1" dirty="0">
                <a:solidFill>
                  <a:srgbClr val="444A52"/>
                </a:solidFill>
                <a:latin typeface="Calibri"/>
              </a:rPr>
              <a:t>Macro-F1 and MCC across prediction horizons with bootstrap 95% CI. Performance degrades gracefully as the horizon extends.</a:t>
            </a:r>
            <a:endParaRPr lang="en-US" sz="1800" baseline="30000" dirty="0"/>
          </a:p>
        </p:txBody>
      </p:sp>
      <p:sp>
        <p:nvSpPr>
          <p:cNvPr id="14398" name="Right Arrow 54"/>
          <p:cNvSpPr>
            <a:spLocks noChangeArrowheads="1"/>
          </p:cNvSpPr>
          <p:nvPr/>
        </p:nvSpPr>
        <p:spPr bwMode="auto">
          <a:xfrm rot="5400000">
            <a:off x="607635" y="19628272"/>
            <a:ext cx="452216" cy="226726"/>
          </a:xfrm>
          <a:prstGeom prst="rightArrow">
            <a:avLst>
              <a:gd name="adj1" fmla="val 16667"/>
              <a:gd name="adj2" fmla="val 6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580" tIns="45290" rIns="90580" bIns="45290"/>
          <a:lstStyle/>
          <a:p>
            <a:endParaRPr lang="en-US" dirty="0"/>
          </a:p>
        </p:txBody>
      </p:sp>
      <p:sp>
        <p:nvSpPr>
          <p:cNvPr id="14399" name="Right Arrow 54"/>
          <p:cNvSpPr>
            <a:spLocks noChangeArrowheads="1"/>
          </p:cNvSpPr>
          <p:nvPr/>
        </p:nvSpPr>
        <p:spPr bwMode="auto">
          <a:xfrm rot="10800000">
            <a:off x="10780097" y="18291051"/>
            <a:ext cx="453451" cy="226108"/>
          </a:xfrm>
          <a:prstGeom prst="rightArrow">
            <a:avLst>
              <a:gd name="adj1" fmla="val 16667"/>
              <a:gd name="adj2" fmla="val 6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580" tIns="45290" rIns="90580" bIns="45290"/>
          <a:lstStyle/>
          <a:p>
            <a:endParaRPr lang="en-US" dirty="0"/>
          </a:p>
        </p:txBody>
      </p:sp>
      <p:sp>
        <p:nvSpPr>
          <p:cNvPr id="32" name="Rectangle 49"/>
          <p:cNvSpPr>
            <a:spLocks noChangeArrowheads="1"/>
          </p:cNvSpPr>
          <p:nvPr/>
        </p:nvSpPr>
        <p:spPr bwMode="auto">
          <a:xfrm>
            <a:off x="469860" y="26474741"/>
            <a:ext cx="13572000" cy="4572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1" i="0" dirty="0">
                <a:solidFill>
                  <a:schemeClr val="bg1"/>
                </a:solidFill>
                <a:latin typeface="Calibri"/>
              </a:rPr>
              <a:t>Dataset composition across four cities, with Tokyo strictly held out.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33" name="Rectangle 49"/>
          <p:cNvSpPr>
            <a:spLocks noChangeArrowheads="1"/>
          </p:cNvSpPr>
          <p:nvPr/>
        </p:nvSpPr>
        <p:spPr bwMode="auto">
          <a:xfrm>
            <a:off x="469860" y="20897234"/>
            <a:ext cx="13572000" cy="45925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1" i="0" dirty="0">
                <a:solidFill>
                  <a:schemeClr val="bg1"/>
                </a:solidFill>
                <a:latin typeface="Calibri"/>
              </a:rPr>
              <a:t>Classification performance across all horizons on the held-out test set.</a:t>
            </a:r>
            <a:endParaRPr lang="en-US" sz="2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7646" y="25174563"/>
            <a:ext cx="13572000" cy="860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0" i="1" dirty="0">
                <a:solidFill>
                  <a:srgbClr val="444A52"/>
                </a:solidFill>
                <a:latin typeface="Calibri"/>
              </a:rPr>
              <a:t>Row-</a:t>
            </a:r>
            <a:r>
              <a:rPr sz="2000" b="0" i="1" dirty="0" err="1">
                <a:solidFill>
                  <a:srgbClr val="444A52"/>
                </a:solidFill>
                <a:latin typeface="Calibri"/>
              </a:rPr>
              <a:t>normalised</a:t>
            </a:r>
            <a:r>
              <a:rPr sz="2000" b="0" i="1" dirty="0">
                <a:solidFill>
                  <a:srgbClr val="444A52"/>
                </a:solidFill>
                <a:latin typeface="Calibri"/>
              </a:rPr>
              <a:t> confusion matrices (+5 s, +15 s, +30 s). CLEAN recall stays above 0.97 at all horizons; DEGRADED recall falls from 0.85 to 0.73 as the horizon extends.</a:t>
            </a:r>
          </a:p>
        </p:txBody>
      </p:sp>
      <p:sp>
        <p:nvSpPr>
          <p:cNvPr id="42" name="TextBox 56"/>
          <p:cNvSpPr txBox="1">
            <a:spLocks noChangeArrowheads="1"/>
          </p:cNvSpPr>
          <p:nvPr/>
        </p:nvSpPr>
        <p:spPr bwMode="auto">
          <a:xfrm>
            <a:off x="28768627" y="26846393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sz="590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3" name="TextBox 56"/>
          <p:cNvSpPr txBox="1">
            <a:spLocks noChangeArrowheads="1"/>
          </p:cNvSpPr>
          <p:nvPr/>
        </p:nvSpPr>
        <p:spPr bwMode="auto">
          <a:xfrm>
            <a:off x="28875507" y="29988195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5900" dirty="0">
                <a:solidFill>
                  <a:srgbClr val="FFFFFF"/>
                </a:solidFill>
              </a:rPr>
              <a:t>Acknowledgments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68627" y="31325882"/>
            <a:ext cx="13572000" cy="937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0" i="0" dirty="0">
                <a:solidFill>
                  <a:srgbClr val="1C222B"/>
                </a:solidFill>
                <a:latin typeface="Calibri"/>
              </a:rPr>
              <a:t>We thank our supervisor Dr. Ahmed Wasiu and RCSSTEAP program at Beihang University for guidance, equipment, and field-collection support throughout the SENTINEL-GNSS pilot project.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232" y="31781417"/>
            <a:ext cx="13572000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0" i="1" dirty="0">
                <a:solidFill>
                  <a:srgbClr val="444A52"/>
                </a:solidFill>
                <a:latin typeface="Calibri"/>
              </a:rPr>
              <a:t>Dataset composition. Tokyo (49,868 epochs) is strictly held out and never seen during training or validation.</a:t>
            </a:r>
          </a:p>
        </p:txBody>
      </p:sp>
      <p:sp>
        <p:nvSpPr>
          <p:cNvPr id="77" name="Rectangle 49"/>
          <p:cNvSpPr>
            <a:spLocks noChangeArrowheads="1"/>
          </p:cNvSpPr>
          <p:nvPr/>
        </p:nvSpPr>
        <p:spPr bwMode="auto">
          <a:xfrm>
            <a:off x="14632787" y="20873247"/>
            <a:ext cx="13572000" cy="45925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1" i="0" dirty="0">
                <a:solidFill>
                  <a:schemeClr val="bg1"/>
                </a:solidFill>
                <a:latin typeface="Calibri"/>
              </a:rPr>
              <a:t>Ablation: both the Transformer and the LSTM are necessary;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receiver_tier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is the most important feature.</a:t>
            </a:r>
          </a:p>
        </p:txBody>
      </p:sp>
      <p:sp>
        <p:nvSpPr>
          <p:cNvPr id="14378" name="TextBox 14377"/>
          <p:cNvSpPr txBox="1"/>
          <p:nvPr/>
        </p:nvSpPr>
        <p:spPr>
          <a:xfrm>
            <a:off x="14616603" y="11269490"/>
            <a:ext cx="13572000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sz="2000" i="1" dirty="0">
                <a:solidFill>
                  <a:srgbClr val="444A52"/>
                </a:solidFill>
                <a:latin typeface="Calibri"/>
              </a:rPr>
              <a:t>Fig. 4: E</a:t>
            </a:r>
            <a:r>
              <a:rPr sz="2000" b="0" i="1" dirty="0">
                <a:solidFill>
                  <a:srgbClr val="444A52"/>
                </a:solidFill>
                <a:latin typeface="Calibri"/>
              </a:rPr>
              <a:t>nd-to-end SENTINEL-GNSS pipeline, from raw GNSS signals to multi-horizon AV-planner inputs via the Transformer-LSTM.</a:t>
            </a:r>
          </a:p>
        </p:txBody>
      </p:sp>
      <p:sp>
        <p:nvSpPr>
          <p:cNvPr id="14337" name="TextBox 14336"/>
          <p:cNvSpPr txBox="1"/>
          <p:nvPr/>
        </p:nvSpPr>
        <p:spPr>
          <a:xfrm>
            <a:off x="14447667" y="25604680"/>
            <a:ext cx="13537504" cy="860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0" i="1" dirty="0">
                <a:solidFill>
                  <a:srgbClr val="444A52"/>
                </a:solidFill>
                <a:latin typeface="Calibri"/>
              </a:rPr>
              <a:t>Ablation across architecture variants (Macro-F1, MCC, DEGRADED-F1). Each component contributes independently to performance.</a:t>
            </a:r>
          </a:p>
        </p:txBody>
      </p:sp>
      <p:sp>
        <p:nvSpPr>
          <p:cNvPr id="113" name="Rectangle 49"/>
          <p:cNvSpPr>
            <a:spLocks noChangeArrowheads="1"/>
          </p:cNvSpPr>
          <p:nvPr/>
        </p:nvSpPr>
        <p:spPr bwMode="auto">
          <a:xfrm>
            <a:off x="14816700" y="26472753"/>
            <a:ext cx="13572000" cy="45925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1" i="0" dirty="0">
                <a:solidFill>
                  <a:schemeClr val="bg1"/>
                </a:solidFill>
                <a:latin typeface="Calibri"/>
              </a:rPr>
              <a:t>Prediction-informed EKF keeps the trajectory accurate through blockage.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755934" y="28156147"/>
            <a:ext cx="13572000" cy="1449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lang="en-US" sz="1600" dirty="0">
                <a:solidFill>
                  <a:srgbClr val="1C222B"/>
                </a:solidFill>
                <a:latin typeface="Calibri"/>
              </a:rPr>
              <a:t>Key results: to our knowledge, the first system to predict GNSS degradation 5 to 30 s ahead; Macro-F1 = 0.821 at +5 s (DEGRADED recall 0.847); cross-city DEGRADED F1 of 0.75 vs 0.15 for RF; 48.8% degraded-RMSE reduction via prediction-informed EKF; 0.039 ms inference.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600" b="0" dirty="0">
                <a:solidFill>
                  <a:srgbClr val="1C222B"/>
                </a:solidFill>
                <a:latin typeface="Calibri"/>
              </a:rPr>
              <a:t>Honest disclosure: RF and </a:t>
            </a:r>
            <a:r>
              <a:rPr sz="1600" b="0" dirty="0" err="1">
                <a:solidFill>
                  <a:srgbClr val="1C222B"/>
                </a:solidFill>
                <a:latin typeface="Calibri"/>
              </a:rPr>
              <a:t>XGBoost</a:t>
            </a:r>
            <a:r>
              <a:rPr sz="1600" b="0" dirty="0">
                <a:solidFill>
                  <a:srgbClr val="1C222B"/>
                </a:solidFill>
                <a:latin typeface="Calibri"/>
              </a:rPr>
              <a:t> beat SENTINEL in-domain (F1 0.926 vs 0.821), but cross-city </a:t>
            </a:r>
            <a:r>
              <a:rPr sz="1600" b="0" dirty="0" err="1">
                <a:solidFill>
                  <a:srgbClr val="1C222B"/>
                </a:solidFill>
                <a:latin typeface="Calibri"/>
              </a:rPr>
              <a:t>generalisation</a:t>
            </a:r>
            <a:r>
              <a:rPr sz="1600" b="0" dirty="0">
                <a:solidFill>
                  <a:srgbClr val="1C222B"/>
                </a:solidFill>
                <a:latin typeface="Calibri"/>
              </a:rPr>
              <a:t> is the deployment-relevant metric.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600" b="0" dirty="0">
                <a:solidFill>
                  <a:srgbClr val="1C222B"/>
                </a:solidFill>
                <a:latin typeface="Calibri"/>
              </a:rPr>
              <a:t>Key finding: no single fusion method dominates every environment, so environment-aware method selection is a productive direction.</a:t>
            </a:r>
          </a:p>
        </p:txBody>
      </p:sp>
      <p:sp>
        <p:nvSpPr>
          <p:cNvPr id="115" name="Rectangle 18"/>
          <p:cNvSpPr>
            <a:spLocks noChangeArrowheads="1"/>
          </p:cNvSpPr>
          <p:nvPr/>
        </p:nvSpPr>
        <p:spPr bwMode="auto">
          <a:xfrm>
            <a:off x="7849172" y="5473627"/>
            <a:ext cx="6299192" cy="48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572" tIns="45286" rIns="90572" bIns="45286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0" i="0" dirty="0">
                <a:solidFill>
                  <a:srgbClr val="1C222B"/>
                </a:solidFill>
                <a:latin typeface="Calibri"/>
              </a:rPr>
              <a:t>GNSS is the only drift-free absolute position source for autonomous vehicles. At 60 km/h, a 5-second positioning gap can place the vehicle in the wrong lane or miss a junction.</a:t>
            </a:r>
            <a:r>
              <a:rPr lang="en-US" sz="2200" b="0" i="0" dirty="0">
                <a:solidFill>
                  <a:srgbClr val="1C222B"/>
                </a:solidFill>
                <a:latin typeface="Calibri"/>
              </a:rPr>
              <a:t>  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In urban areas GNSS fails silently: NLOS multipath injects 10 to 200 m errors while the receiver still reports a 'valid' fix. Existing monitors (RAIM, Q-codes, ML classifiers) are reactive, acting only after degradation begins.</a:t>
            </a:r>
            <a:r>
              <a:rPr lang="en-US" sz="2200" b="0" i="0" dirty="0">
                <a:solidFill>
                  <a:srgbClr val="1C222B"/>
                </a:solidFill>
                <a:latin typeface="Calibri"/>
              </a:rPr>
              <a:t> 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SENTINEL-GNSS instead predicts degradation 5 to 30 s in advance, giving the controller time to pre-activate dead reckoning.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45116" y="27076027"/>
            <a:ext cx="304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667283" y="31743512"/>
            <a:ext cx="13537504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0" i="1" dirty="0">
                <a:solidFill>
                  <a:srgbClr val="444A52"/>
                </a:solidFill>
                <a:latin typeface="Calibri"/>
              </a:rPr>
              <a:t>SENTINEL trajectory (blue) hugs ground truth through blockage while the Fixed-R EKF and raw GNSS diverge.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186885" y="9312941"/>
            <a:ext cx="6652163" cy="126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0" i="1" dirty="0">
                <a:solidFill>
                  <a:srgbClr val="444A52"/>
                </a:solidFill>
                <a:latin typeface="Calibri"/>
              </a:rPr>
              <a:t>Fig. 7: Cross-city DEGRADED-class F1 at +5 s. SENTINEL 0.75 versus RF 0.15, a 5x </a:t>
            </a:r>
            <a:r>
              <a:rPr sz="2000" b="0" i="1" dirty="0" err="1">
                <a:solidFill>
                  <a:srgbClr val="444A52"/>
                </a:solidFill>
                <a:latin typeface="Calibri"/>
              </a:rPr>
              <a:t>generalisation</a:t>
            </a:r>
            <a:r>
              <a:rPr sz="2000" b="0" i="1" dirty="0">
                <a:solidFill>
                  <a:srgbClr val="444A52"/>
                </a:solidFill>
                <a:latin typeface="Calibri"/>
              </a:rPr>
              <a:t> gap that widens further at +15 s and +30 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ECCCB-F5D0-6D7C-D201-6BA1A3CCD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46" y="111873"/>
            <a:ext cx="3132348" cy="3148454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4DAAA8-4EE1-A4D0-F06C-4CB1DE87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05558" y="127683"/>
            <a:ext cx="3116300" cy="3116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BF51BD-8C16-9B13-EF73-7B7D41C1CFE5}"/>
              </a:ext>
            </a:extLst>
          </p:cNvPr>
          <p:cNvSpPr txBox="1"/>
          <p:nvPr/>
        </p:nvSpPr>
        <p:spPr>
          <a:xfrm>
            <a:off x="9259008" y="422367"/>
            <a:ext cx="22538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AI-Based Proactive Prediction Of GNSS Signal Degradation for Autonomous Vehicle Navigation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0A3310-5F67-98A7-813A-E2ECC246CE0C}"/>
              </a:ext>
            </a:extLst>
          </p:cNvPr>
          <p:cNvSpPr/>
          <p:nvPr/>
        </p:nvSpPr>
        <p:spPr bwMode="auto">
          <a:xfrm>
            <a:off x="4050860" y="0"/>
            <a:ext cx="34257696" cy="3265774"/>
          </a:xfrm>
          <a:prstGeom prst="rect">
            <a:avLst/>
          </a:prstGeom>
          <a:solidFill>
            <a:srgbClr val="00439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426CAE"/>
              </a:highlight>
              <a:latin typeface="Arial" pitchFamily="-10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CC2E4-198A-37AF-2B14-0605467FF539}"/>
              </a:ext>
            </a:extLst>
          </p:cNvPr>
          <p:cNvSpPr txBox="1"/>
          <p:nvPr/>
        </p:nvSpPr>
        <p:spPr>
          <a:xfrm>
            <a:off x="5328892" y="394158"/>
            <a:ext cx="331505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rial Black" panose="020B0A04020102020204" pitchFamily="34" charset="0"/>
              </a:rPr>
              <a:t>AI-Based Proactive Prediction Of GNSS Signal Degradation For Autonomous Vehicle Navigation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2D7A8-B575-567F-3F7D-64FC82A2312E}"/>
              </a:ext>
            </a:extLst>
          </p:cNvPr>
          <p:cNvSpPr txBox="1"/>
          <p:nvPr/>
        </p:nvSpPr>
        <p:spPr>
          <a:xfrm>
            <a:off x="8345531" y="1418038"/>
            <a:ext cx="27341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Ojerinde Joel Segun,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Mustapha Ibrahim Ishola,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Ogunlade Joshua Oluwaseun,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i="0" u="none" strike="noStrike" kern="1200" dirty="0" err="1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Ingeriyinkindi</a:t>
            </a: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Claudine,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Rashid Md Harun Or</a:t>
            </a:r>
            <a:endParaRPr lang="en-US" sz="3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29472-1477-E422-4FDF-F13BB4749E87}"/>
              </a:ext>
            </a:extLst>
          </p:cNvPr>
          <p:cNvSpPr txBox="1"/>
          <p:nvPr/>
        </p:nvSpPr>
        <p:spPr>
          <a:xfrm>
            <a:off x="11028606" y="2082573"/>
            <a:ext cx="21898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Regional Centre for Space Science and Technology Education in Asia and the Pacific | </a:t>
            </a:r>
            <a:r>
              <a:rPr 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Beihang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University</a:t>
            </a:r>
            <a:endParaRPr lang="en-US" sz="320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400" name="Table 143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511444"/>
              </p:ext>
            </p:extLst>
          </p:nvPr>
        </p:nvGraphicFramePr>
        <p:xfrm>
          <a:off x="14639353" y="12624039"/>
          <a:ext cx="5678146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 dirty="0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DEGRADED-F1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MCC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+5 s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0.718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0.773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+15 s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0.741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0.583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0.691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200" b="0" dirty="0">
                          <a:solidFill>
                            <a:srgbClr val="1C222B"/>
                          </a:solidFill>
                          <a:latin typeface="Calibri"/>
                        </a:rPr>
                        <a:t>+30 s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solidFill>
                            <a:srgbClr val="1C222B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0.629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solidFill>
                            <a:srgbClr val="1C222B"/>
                          </a:solidFill>
                          <a:latin typeface="Calibri"/>
                        </a:rPr>
                        <a:t>0.731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01" name="TextBox 14400"/>
          <p:cNvSpPr txBox="1"/>
          <p:nvPr/>
        </p:nvSpPr>
        <p:spPr>
          <a:xfrm>
            <a:off x="14640436" y="15996026"/>
            <a:ext cx="5678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 dirty="0">
                <a:solidFill>
                  <a:srgbClr val="444A52"/>
                </a:solidFill>
                <a:latin typeface="Calibri"/>
              </a:rPr>
              <a:t>Multi-horizon classification metrics. Held-out test (n=1,686); 95% CI via 1,000 bootstrap iterations. DEGRADED recall = 0.847 at +5 s.</a:t>
            </a:r>
          </a:p>
        </p:txBody>
      </p:sp>
      <p:graphicFrame>
        <p:nvGraphicFramePr>
          <p:cNvPr id="14403" name="Table 144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82850"/>
              </p:ext>
            </p:extLst>
          </p:nvPr>
        </p:nvGraphicFramePr>
        <p:xfrm>
          <a:off x="28989704" y="16316145"/>
          <a:ext cx="13533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RMSE red.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C222B"/>
                          </a:solidFill>
                          <a:latin typeface="Calibri"/>
                        </a:rPr>
                        <a:t>EKF Fixed-R + SENTINEL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Trimble Shinjuku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48.8%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Huber EKF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u-blox Shinjuku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25.2%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Student-t PF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Odaiba harbour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C222B"/>
                          </a:solidFill>
                          <a:latin typeface="Calibri"/>
                        </a:rPr>
                        <a:t>40.1%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046050-CCC0-4B04-AD2D-7E227D9930E3}"/>
              </a:ext>
            </a:extLst>
          </p:cNvPr>
          <p:cNvSpPr txBox="1"/>
          <p:nvPr/>
        </p:nvSpPr>
        <p:spPr>
          <a:xfrm>
            <a:off x="14723120" y="5412344"/>
            <a:ext cx="13582573" cy="2985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lang="en-US" sz="2400" b="0" dirty="0">
                <a:solidFill>
                  <a:srgbClr val="1C222B"/>
                </a:solidFill>
                <a:latin typeface="Calibri"/>
              </a:rPr>
              <a:t>SENTINEL-GNSS is a hybrid Transformer-LSTM. The Transformer (2 layers, 8 heads, </a:t>
            </a:r>
            <a:r>
              <a:rPr lang="en-US" sz="2400" b="0" dirty="0" err="1">
                <a:solidFill>
                  <a:srgbClr val="1C222B"/>
                </a:solidFill>
                <a:latin typeface="Calibri"/>
              </a:rPr>
              <a:t>d_model</a:t>
            </a:r>
            <a:r>
              <a:rPr lang="en-US" sz="2400" b="0" dirty="0">
                <a:solidFill>
                  <a:srgbClr val="1C222B"/>
                </a:solidFill>
                <a:latin typeface="Calibri"/>
              </a:rPr>
              <a:t>=128) reads global patterns across the 30 s window, while the stacked LSTM (hidden=256) tracks the directional approach to blockage as C/N0 declines and residuals grow. Three heads forecast +5 / +15 / +30 s in one forward pass.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lang="en-US" sz="2400" b="1" dirty="0">
                <a:solidFill>
                  <a:srgbClr val="1C222B"/>
                </a:solidFill>
                <a:latin typeface="Calibri"/>
              </a:rPr>
              <a:t>Inference &amp; Deployment: </a:t>
            </a:r>
            <a:r>
              <a:rPr lang="en-US" sz="2400" b="0" dirty="0">
                <a:solidFill>
                  <a:srgbClr val="1C222B"/>
                </a:solidFill>
                <a:latin typeface="Calibri"/>
              </a:rPr>
              <a:t>1.46 M parameters, 0.039 </a:t>
            </a:r>
            <a:r>
              <a:rPr lang="en-US" sz="2400" b="0" dirty="0" err="1">
                <a:solidFill>
                  <a:srgbClr val="1C222B"/>
                </a:solidFill>
                <a:latin typeface="Calibri"/>
              </a:rPr>
              <a:t>ms</a:t>
            </a:r>
            <a:r>
              <a:rPr lang="en-US" sz="2400" b="0" dirty="0">
                <a:solidFill>
                  <a:srgbClr val="1C222B"/>
                </a:solidFill>
                <a:latin typeface="Calibri"/>
              </a:rPr>
              <a:t> per sample, all three horizons in one pass, 10.5x faster than three tree models, within a 10 Hz vehicle-compute budget.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A31EFB-66C6-FE60-0FD1-EC3DAC320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60" y="5369384"/>
            <a:ext cx="7179696" cy="5058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E2B2CC-9568-347C-39C4-EC756CED5A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0339" y="16774155"/>
            <a:ext cx="10645786" cy="3502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790CB9-2079-3011-574C-F69C7EFBF0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4908" y="21697064"/>
            <a:ext cx="10047813" cy="33572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BCB616-AE27-CE03-6D3F-55AAA4B96D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4596" y="27505138"/>
            <a:ext cx="8364010" cy="42566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78A299-A69B-8684-2093-0AB1F50826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78123" y="12611490"/>
            <a:ext cx="6729233" cy="35913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7A63A3-798B-E880-A38A-E8410D85B8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18124" y="21629217"/>
            <a:ext cx="9664304" cy="39483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10F7F0-A5E6-ECBB-E530-1CF98455A9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77155" y="27375912"/>
            <a:ext cx="6525545" cy="41823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A6F2E3-C74F-B61E-9648-1FA2F2E6150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980066" y="18627149"/>
            <a:ext cx="13552395" cy="45318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28FA2BF-57A6-E5F0-BCDE-921427AC77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039848" y="5059150"/>
            <a:ext cx="6946239" cy="4253791"/>
          </a:xfrm>
          <a:prstGeom prst="rect">
            <a:avLst/>
          </a:prstGeom>
        </p:spPr>
      </p:pic>
      <p:sp>
        <p:nvSpPr>
          <p:cNvPr id="14404" name="TextBox 14403"/>
          <p:cNvSpPr txBox="1"/>
          <p:nvPr/>
        </p:nvSpPr>
        <p:spPr>
          <a:xfrm>
            <a:off x="548640" y="31912560"/>
            <a:ext cx="4169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444A52"/>
                </a:solidFill>
                <a:latin typeface="Calibri"/>
              </a:rPr>
              <a:t>Key references: Brown 1997 (RAIM)  -  Hsu 2021 (UrbanNav)  -  Liu 2023 (GBT GNSS)  -  Chen 2019 (LSTM GPS)  -  Vaswani 2017 (Transformer)  -  Hochreiter 1997 (LSTM)  -  Mehra 1970 (Adaptive Kalman)  -  Kalman 1960 (EKF).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Blank Pre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394EC1-E879-44C1-B991-638B445E64C2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af7e8f62-3041-4644-8b60-4750dce6cd4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Custom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Consolas</vt:lpstr>
      <vt:lpstr>Times</vt:lpstr>
      <vt:lpstr>Times New Roman</vt:lpstr>
      <vt:lpstr>Blank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Template</dc:title>
  <dc:creator/>
  <cp:lastModifiedBy/>
  <cp:revision>1</cp:revision>
  <dcterms:created xsi:type="dcterms:W3CDTF">2015-02-13T18:11:21Z</dcterms:created>
  <dcterms:modified xsi:type="dcterms:W3CDTF">2026-06-30T12:55:46Z</dcterms:modified>
</cp:coreProperties>
</file>