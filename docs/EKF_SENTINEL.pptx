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89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1"/>
            <a:ext cx="9144000" cy="55530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6760"/>
            <a:ext cx="91440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5146"/>
            <a:ext cx="9144000" cy="158353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67758"/>
            <a:ext cx="9144000" cy="228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-18464"/>
            <a:ext cx="846572" cy="575483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11312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75904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40496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11312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75904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40496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11312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75904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0496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9909" y="-197966"/>
            <a:ext cx="1332426" cy="934486"/>
          </a:xfrm>
          <a:prstGeom prst="rect">
            <a:avLst/>
          </a:prstGeom>
        </p:spPr>
      </p:pic>
      <p:sp>
        <p:nvSpPr>
          <p:cNvPr id="30" name="title"/>
          <p:cNvSpPr txBox="1"/>
          <p:nvPr/>
        </p:nvSpPr>
        <p:spPr>
          <a:xfrm>
            <a:off x="640080" y="1417320"/>
            <a:ext cx="7863840" cy="16916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8000"/>
              </a:lnSpc>
              <a:spcBef>
                <a:spcPts val="0"/>
              </a:spcBef>
              <a:buNone/>
            </a:pPr>
            <a:r>
              <a:rPr lang="en-US" sz="3400" b="1" i="0" dirty="0">
                <a:solidFill>
                  <a:srgbClr val="003893"/>
                </a:solidFill>
                <a:latin typeface="Calibri"/>
                <a:cs typeface="Calibri"/>
              </a:rPr>
              <a:t>Integration of an Extended Kalman Filter</a:t>
            </a:r>
          </a:p>
          <a:p>
            <a:pPr marL="0" indent="0" algn="l">
              <a:lnSpc>
                <a:spcPct val="108000"/>
              </a:lnSpc>
              <a:spcBef>
                <a:spcPts val="200"/>
              </a:spcBef>
              <a:buNone/>
            </a:pPr>
            <a:r>
              <a:rPr lang="en-US" sz="3400" b="1" i="0" dirty="0">
                <a:solidFill>
                  <a:srgbClr val="003893"/>
                </a:solidFill>
                <a:latin typeface="Calibri"/>
                <a:cs typeface="Calibri"/>
              </a:rPr>
              <a:t>into the SENTINEL-GNSS Project</a:t>
            </a:r>
          </a:p>
        </p:txBody>
      </p:sp>
      <p:sp>
        <p:nvSpPr>
          <p:cNvPr id="31" name="subtitle"/>
          <p:cNvSpPr txBox="1"/>
          <p:nvPr/>
        </p:nvSpPr>
        <p:spPr>
          <a:xfrm>
            <a:off x="658368" y="3154680"/>
            <a:ext cx="7863840" cy="822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000" b="0" i="0" dirty="0">
                <a:solidFill>
                  <a:srgbClr val="444444"/>
                </a:solidFill>
                <a:latin typeface="Calibri"/>
                <a:cs typeface="Calibri"/>
              </a:rPr>
              <a:t>Degradation-Aware GNSS / IMU Sensor Fusion for Urban Autonomous Driving</a:t>
            </a:r>
          </a:p>
        </p:txBody>
      </p:sp>
      <p:sp>
        <p:nvSpPr>
          <p:cNvPr id="32" name="byline"/>
          <p:cNvSpPr txBox="1"/>
          <p:nvPr/>
        </p:nvSpPr>
        <p:spPr>
          <a:xfrm>
            <a:off x="658368" y="4069080"/>
            <a:ext cx="7863840" cy="6400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003893"/>
                </a:solidFill>
                <a:latin typeface="Calibri"/>
                <a:cs typeface="Calibri"/>
              </a:rPr>
              <a:t>Team Pilot Project    ·    Beihang University    ·    June 2026</a:t>
            </a:r>
          </a:p>
          <a:p>
            <a:pPr marL="0" indent="0" algn="l">
              <a:lnSpc>
                <a:spcPct val="110000"/>
              </a:lnSpc>
              <a:spcBef>
                <a:spcPts val="300"/>
              </a:spcBef>
              <a:buNone/>
            </a:pPr>
            <a:endParaRPr lang="en-US" sz="1200" b="0" i="0" dirty="0">
              <a:solidFill>
                <a:srgbClr val="666666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1"/>
            <a:ext cx="9144000" cy="55530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6760"/>
            <a:ext cx="91440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5146"/>
            <a:ext cx="9144000" cy="158353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67758"/>
            <a:ext cx="9144000" cy="228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-18464"/>
            <a:ext cx="846572" cy="575483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11312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75904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40496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11312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75904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40496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11312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75904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0496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9909" y="-197966"/>
            <a:ext cx="1332426" cy="934486"/>
          </a:xfrm>
          <a:prstGeom prst="rect">
            <a:avLst/>
          </a:prstGeom>
        </p:spPr>
      </p:pic>
      <p:sp>
        <p:nvSpPr>
          <p:cNvPr id="30" name="title"/>
          <p:cNvSpPr txBox="1"/>
          <p:nvPr/>
        </p:nvSpPr>
        <p:spPr>
          <a:xfrm>
            <a:off x="457200" y="640080"/>
            <a:ext cx="8229600" cy="5669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200" b="1" i="0" dirty="0">
                <a:solidFill>
                  <a:srgbClr val="003893"/>
                </a:solidFill>
                <a:latin typeface="Calibri"/>
                <a:cs typeface="Calibri"/>
              </a:rPr>
              <a:t>Why EKF for this Project?</a:t>
            </a:r>
          </a:p>
        </p:txBody>
      </p:sp>
      <p:sp>
        <p:nvSpPr>
          <p:cNvPr id="31" name="reasons"/>
          <p:cNvSpPr txBox="1"/>
          <p:nvPr/>
        </p:nvSpPr>
        <p:spPr>
          <a:xfrm>
            <a:off x="502920" y="1417320"/>
            <a:ext cx="4892040" cy="31089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74320" indent="-274320" algn="l">
              <a:lnSpc>
                <a:spcPct val="108000"/>
              </a:lnSpc>
              <a:spcBef>
                <a:spcPts val="0"/>
              </a:spcBef>
              <a:buFont typeface="Arial"/>
              <a:buChar char="•"/>
            </a:pPr>
            <a:r>
              <a:rPr lang="en-US" sz="1500" b="1" i="0" dirty="0">
                <a:solidFill>
                  <a:srgbClr val="003893"/>
                </a:solidFill>
                <a:latin typeface="Calibri"/>
                <a:cs typeface="Calibri"/>
              </a:rPr>
              <a:t>Urban canyons, tunnels, multipath and NLOS break GNSS</a:t>
            </a: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 — the exact conditions SENTINEL-GNSS targets.</a:t>
            </a:r>
          </a:p>
          <a:p>
            <a:pPr marL="274320" indent="-274320" algn="l">
              <a:lnSpc>
                <a:spcPct val="1080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b="1" i="0" dirty="0">
                <a:solidFill>
                  <a:srgbClr val="003893"/>
                </a:solidFill>
                <a:latin typeface="Calibri"/>
                <a:cs typeface="Calibri"/>
              </a:rPr>
              <a:t>Continuous navigation needs sensor fusion</a:t>
            </a: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: GNSS + IMU + odometry, not GNSS alone.</a:t>
            </a:r>
          </a:p>
          <a:p>
            <a:pPr marL="274320" indent="-274320" algn="l">
              <a:lnSpc>
                <a:spcPct val="1080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b="1" i="0" dirty="0">
                <a:solidFill>
                  <a:srgbClr val="003893"/>
                </a:solidFill>
                <a:latin typeface="Calibri"/>
                <a:cs typeface="Calibri"/>
              </a:rPr>
              <a:t>The motion model is nonlinear</a:t>
            </a: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 — body-frame IMU accelerations rotate into the navigation frame by vehicle heading.</a:t>
            </a:r>
          </a:p>
          <a:p>
            <a:pPr marL="274320" indent="-274320" algn="l">
              <a:lnSpc>
                <a:spcPct val="1080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b="1" i="0" dirty="0">
                <a:solidFill>
                  <a:srgbClr val="003893"/>
                </a:solidFill>
                <a:latin typeface="Calibri"/>
                <a:cs typeface="Calibri"/>
              </a:rPr>
              <a:t>The EKF linearizes it with Jacobians</a:t>
            </a: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: accurate for our mild nonlinearity, fast enough for real time.</a:t>
            </a:r>
          </a:p>
          <a:p>
            <a:pPr marL="274320" indent="-274320" algn="l">
              <a:lnSpc>
                <a:spcPct val="108000"/>
              </a:lnSpc>
              <a:spcBef>
                <a:spcPts val="700"/>
              </a:spcBef>
              <a:buFont typeface="Arial"/>
              <a:buChar char="•"/>
            </a:pPr>
            <a:r>
              <a:rPr lang="en-US" sz="1500" b="1" i="0" dirty="0">
                <a:solidFill>
                  <a:srgbClr val="003893"/>
                </a:solidFill>
                <a:latin typeface="Calibri"/>
                <a:cs typeface="Calibri"/>
              </a:rPr>
              <a:t>EKF over UKF for the pilot</a:t>
            </a:r>
            <a:r>
              <a:rPr lang="en-US" sz="1500" b="0" i="0" dirty="0">
                <a:solidFill>
                  <a:srgbClr val="333333"/>
                </a:solidFill>
                <a:latin typeface="Calibri"/>
                <a:cs typeface="Calibri"/>
              </a:rPr>
              <a:t> — lower compute, simpler to validate; UKF kept as an advanced comparison.</a:t>
            </a:r>
          </a:p>
        </p:txBody>
      </p:sp>
      <p:sp>
        <p:nvSpPr>
          <p:cNvPr id="32" name="panel"/>
          <p:cNvSpPr/>
          <p:nvPr/>
        </p:nvSpPr>
        <p:spPr>
          <a:xfrm>
            <a:off x="5623560" y="1600200"/>
            <a:ext cx="3063240" cy="192024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4FC3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panel-label"/>
          <p:cNvSpPr txBox="1"/>
          <p:nvPr/>
        </p:nvSpPr>
        <p:spPr>
          <a:xfrm>
            <a:off x="5623560" y="1783080"/>
            <a:ext cx="306324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003893"/>
                </a:solidFill>
                <a:latin typeface="Calibri"/>
                <a:cs typeface="Calibri"/>
              </a:rPr>
              <a:t>Nonlinear state-space form</a:t>
            </a:r>
          </a:p>
        </p:txBody>
      </p:sp>
      <p:pic>
        <p:nvPicPr>
          <p:cNvPr id="34" name="f_nonline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331720"/>
            <a:ext cx="2331720" cy="5367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1"/>
            <a:ext cx="9144000" cy="55530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6760"/>
            <a:ext cx="91440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5146"/>
            <a:ext cx="9144000" cy="158353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67758"/>
            <a:ext cx="9144000" cy="228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-18464"/>
            <a:ext cx="846572" cy="575483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11312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75904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40496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11312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75904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40496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11312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75904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0496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9909" y="-197966"/>
            <a:ext cx="1332426" cy="934486"/>
          </a:xfrm>
          <a:prstGeom prst="rect">
            <a:avLst/>
          </a:prstGeom>
        </p:spPr>
      </p:pic>
      <p:sp>
        <p:nvSpPr>
          <p:cNvPr id="30" name="title"/>
          <p:cNvSpPr txBox="1"/>
          <p:nvPr/>
        </p:nvSpPr>
        <p:spPr>
          <a:xfrm>
            <a:off x="457200" y="640080"/>
            <a:ext cx="8229600" cy="5669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000" b="1" i="0" dirty="0">
                <a:solidFill>
                  <a:srgbClr val="003893"/>
                </a:solidFill>
                <a:latin typeface="Calibri"/>
                <a:cs typeface="Calibri"/>
              </a:rPr>
              <a:t>The Project-Specific EKF Architecture</a:t>
            </a:r>
          </a:p>
        </p:txBody>
      </p:sp>
      <p:sp>
        <p:nvSpPr>
          <p:cNvPr id="31" name="state-label"/>
          <p:cNvSpPr txBox="1"/>
          <p:nvPr/>
        </p:nvSpPr>
        <p:spPr>
          <a:xfrm>
            <a:off x="502920" y="1371600"/>
            <a:ext cx="420624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003893"/>
                </a:solidFill>
                <a:latin typeface="Calibri"/>
                <a:cs typeface="Calibri"/>
              </a:rPr>
              <a:t>9-state vector</a:t>
            </a:r>
          </a:p>
        </p:txBody>
      </p:sp>
      <p:pic>
        <p:nvPicPr>
          <p:cNvPr id="32" name="f_st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55648"/>
            <a:ext cx="4023360" cy="423367"/>
          </a:xfrm>
          <a:prstGeom prst="rect">
            <a:avLst/>
          </a:prstGeom>
        </p:spPr>
      </p:pic>
      <p:sp>
        <p:nvSpPr>
          <p:cNvPr id="33" name="arch-bullets"/>
          <p:cNvSpPr txBox="1"/>
          <p:nvPr/>
        </p:nvSpPr>
        <p:spPr>
          <a:xfrm>
            <a:off x="502920" y="2331720"/>
            <a:ext cx="4206240" cy="11430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74320" indent="-274320" algn="l">
              <a:lnSpc>
                <a:spcPct val="106000"/>
              </a:lnSpc>
              <a:spcBef>
                <a:spcPts val="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003893"/>
                </a:solidFill>
                <a:latin typeface="Calibri"/>
                <a:cs typeface="Calibri"/>
              </a:rPr>
              <a:t>Predict step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 — driven by the IMU (accelerometer + yaw rate).</a:t>
            </a:r>
          </a:p>
          <a:p>
            <a:pPr marL="274320" indent="-274320" algn="l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003893"/>
                </a:solidFill>
                <a:latin typeface="Calibri"/>
                <a:cs typeface="Calibri"/>
              </a:rPr>
              <a:t>Update step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 — GNSS position / velocity; linear measurement H.</a:t>
            </a:r>
          </a:p>
          <a:p>
            <a:pPr marL="274320" indent="-274320" algn="l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1" i="0" dirty="0">
                <a:solidFill>
                  <a:srgbClr val="003893"/>
                </a:solidFill>
                <a:latin typeface="Calibri"/>
                <a:cs typeface="Calibri"/>
              </a:rPr>
              <a:t>Estimated online</a:t>
            </a: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: GNSS clock bias and drift, plus accelerometer biases.</a:t>
            </a:r>
          </a:p>
        </p:txBody>
      </p:sp>
      <p:sp>
        <p:nvSpPr>
          <p:cNvPr id="34" name="ext-label"/>
          <p:cNvSpPr txBox="1"/>
          <p:nvPr/>
        </p:nvSpPr>
        <p:spPr>
          <a:xfrm>
            <a:off x="525780" y="3855479"/>
            <a:ext cx="420624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400" b="1" i="0" dirty="0">
                <a:solidFill>
                  <a:srgbClr val="003893"/>
                </a:solidFill>
                <a:latin typeface="Calibri"/>
                <a:cs typeface="Calibri"/>
              </a:rPr>
              <a:t>Why “Extended”?</a:t>
            </a:r>
          </a:p>
        </p:txBody>
      </p:sp>
      <p:pic>
        <p:nvPicPr>
          <p:cNvPr id="35" name="f_rot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" y="4107830"/>
            <a:ext cx="2468880" cy="414223"/>
          </a:xfrm>
          <a:prstGeom prst="rect">
            <a:avLst/>
          </a:prstGeom>
        </p:spPr>
      </p:pic>
      <p:sp>
        <p:nvSpPr>
          <p:cNvPr id="36" name="ext-note"/>
          <p:cNvSpPr txBox="1"/>
          <p:nvPr/>
        </p:nvSpPr>
        <p:spPr>
          <a:xfrm>
            <a:off x="3063240" y="3931920"/>
            <a:ext cx="1691640" cy="457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i="1" dirty="0">
                <a:solidFill>
                  <a:srgbClr val="666666"/>
                </a:solidFill>
                <a:latin typeface="Calibri"/>
                <a:cs typeface="Calibri"/>
              </a:rPr>
              <a:t>body → nav rotation by heading makes f(·) nonlinear</a:t>
            </a:r>
          </a:p>
        </p:txBody>
      </p:sp>
      <p:pic>
        <p:nvPicPr>
          <p:cNvPr id="37" name="diagra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371600"/>
            <a:ext cx="3657600" cy="28739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1"/>
            <a:ext cx="9144000" cy="55530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6760"/>
            <a:ext cx="91440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5146"/>
            <a:ext cx="9144000" cy="158353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67758"/>
            <a:ext cx="9144000" cy="228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-18464"/>
            <a:ext cx="846572" cy="575483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11312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75904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40496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11312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75904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40496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11312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75904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0496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9909" y="-197966"/>
            <a:ext cx="1332426" cy="934486"/>
          </a:xfrm>
          <a:prstGeom prst="rect">
            <a:avLst/>
          </a:prstGeom>
        </p:spPr>
      </p:pic>
      <p:sp>
        <p:nvSpPr>
          <p:cNvPr id="30" name="title"/>
          <p:cNvSpPr txBox="1"/>
          <p:nvPr/>
        </p:nvSpPr>
        <p:spPr>
          <a:xfrm>
            <a:off x="457200" y="640080"/>
            <a:ext cx="8229600" cy="5669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3000" b="1" i="0" dirty="0">
                <a:solidFill>
                  <a:srgbClr val="003893"/>
                </a:solidFill>
                <a:latin typeface="Calibri"/>
                <a:cs typeface="Calibri"/>
              </a:rPr>
              <a:t>Wiring the AI Prediction into the EKF</a:t>
            </a:r>
          </a:p>
        </p:txBody>
      </p:sp>
      <p:pic>
        <p:nvPicPr>
          <p:cNvPr id="31" name="f_radaptiv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1280160"/>
            <a:ext cx="5120640" cy="553212"/>
          </a:xfrm>
          <a:prstGeom prst="rect">
            <a:avLst/>
          </a:prstGeom>
        </p:spPr>
      </p:pic>
      <p:sp>
        <p:nvSpPr>
          <p:cNvPr id="32" name="insight"/>
          <p:cNvSpPr txBox="1"/>
          <p:nvPr/>
        </p:nvSpPr>
        <p:spPr>
          <a:xfrm>
            <a:off x="457200" y="1901952"/>
            <a:ext cx="82296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350" b="0" i="1" dirty="0">
                <a:solidFill>
                  <a:srgbClr val="003893"/>
                </a:solidFill>
                <a:latin typeface="Calibri"/>
                <a:cs typeface="Calibri"/>
              </a:rPr>
              <a:t>The AI prediction enters the UPDATE step (via R) — not the predict step.</a:t>
            </a:r>
          </a:p>
        </p:txBody>
      </p:sp>
      <p:sp>
        <p:nvSpPr>
          <p:cNvPr id="33" name="steps"/>
          <p:cNvSpPr txBox="1"/>
          <p:nvPr/>
        </p:nvSpPr>
        <p:spPr>
          <a:xfrm>
            <a:off x="502920" y="2377440"/>
            <a:ext cx="4754880" cy="2057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320040" indent="-320040" algn="l">
              <a:lnSpc>
                <a:spcPct val="106000"/>
              </a:lnSpc>
              <a:spcBef>
                <a:spcPts val="0"/>
              </a:spcBef>
              <a:buFont typeface="Calibri"/>
              <a:buAutoNum type="arabicPeriod"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Take the calibrated P(DEGRADED) at the +5 s horizon from SENTINEL-GNSS.</a:t>
            </a:r>
          </a:p>
          <a:p>
            <a:pPr marL="320040" indent="-320040" algn="l">
              <a:lnSpc>
                <a:spcPct val="106000"/>
              </a:lnSpc>
              <a:spcBef>
                <a:spcPts val="560"/>
              </a:spcBef>
              <a:buFont typeface="Calibri"/>
              <a:buAutoNum type="arabicPeriod"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Zero-order-hold the latest prediction to align predictor and filter rates.</a:t>
            </a:r>
          </a:p>
          <a:p>
            <a:pPr marL="320040" indent="-320040" algn="l">
              <a:lnSpc>
                <a:spcPct val="106000"/>
              </a:lnSpc>
              <a:spcBef>
                <a:spcPts val="560"/>
              </a:spcBef>
              <a:buFont typeface="Calibri"/>
              <a:buAutoNum type="arabicPeriod"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Inflate the GNSS noise covariance R in proportion to it (hero formula).</a:t>
            </a:r>
          </a:p>
          <a:p>
            <a:pPr marL="320040" indent="-320040" algn="l">
              <a:lnSpc>
                <a:spcPct val="106000"/>
              </a:lnSpc>
              <a:spcBef>
                <a:spcPts val="560"/>
              </a:spcBef>
              <a:buFont typeface="Calibri"/>
              <a:buAutoNum type="arabicPeriod"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Run the EKF update with the inflated R; tune scaling and threshold on validation.</a:t>
            </a:r>
          </a:p>
          <a:p>
            <a:pPr marL="320040" indent="-320040" algn="l">
              <a:lnSpc>
                <a:spcPct val="106000"/>
              </a:lnSpc>
              <a:spcBef>
                <a:spcPts val="560"/>
              </a:spcBef>
              <a:buFont typeface="Calibri"/>
              <a:buAutoNum type="arabicPeriod"/>
            </a:pPr>
            <a:r>
              <a:rPr lang="en-US" sz="1300" b="0" i="0" dirty="0">
                <a:solidFill>
                  <a:srgbClr val="333333"/>
                </a:solidFill>
                <a:latin typeface="Calibri"/>
                <a:cs typeface="Calibri"/>
              </a:rPr>
              <a:t>If the prediction exceeds the threshold, coast on IMU (skip GNSS) for continuity.</a:t>
            </a:r>
          </a:p>
        </p:txBody>
      </p:sp>
      <p:sp>
        <p:nvSpPr>
          <p:cNvPr id="34" name="rpanel"/>
          <p:cNvSpPr/>
          <p:nvPr/>
        </p:nvSpPr>
        <p:spPr>
          <a:xfrm>
            <a:off x="5440680" y="2331720"/>
            <a:ext cx="3246120" cy="210312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4FC3F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u-label"/>
          <p:cNvSpPr txBox="1"/>
          <p:nvPr/>
        </p:nvSpPr>
        <p:spPr>
          <a:xfrm>
            <a:off x="5532120" y="2450592"/>
            <a:ext cx="3108960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50" b="1" i="0" dirty="0">
                <a:solidFill>
                  <a:srgbClr val="003893"/>
                </a:solidFill>
                <a:latin typeface="Calibri"/>
                <a:cs typeface="Calibri"/>
              </a:rPr>
              <a:t>EKF update with adaptive R</a:t>
            </a:r>
          </a:p>
        </p:txBody>
      </p:sp>
      <p:pic>
        <p:nvPicPr>
          <p:cNvPr id="36" name="f_upd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788920"/>
            <a:ext cx="2971800" cy="575158"/>
          </a:xfrm>
          <a:prstGeom prst="rect">
            <a:avLst/>
          </a:prstGeom>
        </p:spPr>
      </p:pic>
      <p:sp>
        <p:nvSpPr>
          <p:cNvPr id="37" name="c-label"/>
          <p:cNvSpPr txBox="1"/>
          <p:nvPr/>
        </p:nvSpPr>
        <p:spPr>
          <a:xfrm>
            <a:off x="5532120" y="3493008"/>
            <a:ext cx="3108960" cy="32004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250" b="1" i="0" dirty="0">
                <a:solidFill>
                  <a:srgbClr val="003893"/>
                </a:solidFill>
                <a:latin typeface="Calibri"/>
                <a:cs typeface="Calibri"/>
              </a:rPr>
              <a:t>Fallback — coasting</a:t>
            </a:r>
          </a:p>
        </p:txBody>
      </p:sp>
      <p:pic>
        <p:nvPicPr>
          <p:cNvPr id="38" name="f_coa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822192"/>
            <a:ext cx="1234440" cy="343814"/>
          </a:xfrm>
          <a:prstGeom prst="rect">
            <a:avLst/>
          </a:prstGeom>
        </p:spPr>
      </p:pic>
      <p:sp>
        <p:nvSpPr>
          <p:cNvPr id="39" name="c-note"/>
          <p:cNvSpPr txBox="1"/>
          <p:nvPr/>
        </p:nvSpPr>
        <p:spPr>
          <a:xfrm>
            <a:off x="6903720" y="3803904"/>
            <a:ext cx="1737360" cy="41148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050" b="0" i="1" dirty="0">
                <a:solidFill>
                  <a:srgbClr val="666666"/>
                </a:solidFill>
                <a:latin typeface="Calibri"/>
                <a:cs typeface="Calibri"/>
              </a:rPr>
              <a:t>then coast on IMU, skip GNSS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51"/>
            <a:ext cx="9144000" cy="555306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26760"/>
            <a:ext cx="9144000" cy="274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85146"/>
            <a:ext cx="9144000" cy="158353"/>
          </a:xfrm>
          <a:prstGeom prst="rect">
            <a:avLst/>
          </a:prstGeom>
          <a:solidFill>
            <a:srgbClr val="003893"/>
          </a:solidFill>
          <a:ln w="12700">
            <a:solidFill>
              <a:srgbClr val="0038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967758"/>
            <a:ext cx="9144000" cy="228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-18464"/>
            <a:ext cx="846572" cy="575483"/>
          </a:xfrm>
          <a:prstGeom prst="homePlate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046720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11312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75904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40496" y="91440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0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11312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75904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40496" y="219456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46720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11312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75904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0496" y="347472"/>
            <a:ext cx="38405" cy="38405"/>
          </a:xfrm>
          <a:prstGeom prst="ellipse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BF679AE-4199-10E8-76D5-569080AF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9909" y="-197966"/>
            <a:ext cx="1332426" cy="934486"/>
          </a:xfrm>
          <a:prstGeom prst="rect">
            <a:avLst/>
          </a:prstGeom>
        </p:spPr>
      </p:pic>
      <p:sp>
        <p:nvSpPr>
          <p:cNvPr id="30" name="title"/>
          <p:cNvSpPr txBox="1"/>
          <p:nvPr/>
        </p:nvSpPr>
        <p:spPr>
          <a:xfrm>
            <a:off x="457200" y="640080"/>
            <a:ext cx="8229600" cy="5669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2800" b="1" i="0" dirty="0">
                <a:solidFill>
                  <a:srgbClr val="003893"/>
                </a:solidFill>
                <a:latin typeface="Calibri"/>
                <a:cs typeface="Calibri"/>
              </a:rPr>
              <a:t>Implementation Results &amp; Expected Outcome</a:t>
            </a:r>
          </a:p>
        </p:txBody>
      </p:sp>
      <p:sp>
        <p:nvSpPr>
          <p:cNvPr id="31" name="card31"/>
          <p:cNvSpPr/>
          <p:nvPr/>
        </p:nvSpPr>
        <p:spPr>
          <a:xfrm>
            <a:off x="502920" y="137160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0038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ardtxt32"/>
          <p:cNvSpPr txBox="1"/>
          <p:nvPr/>
        </p:nvSpPr>
        <p:spPr>
          <a:xfrm>
            <a:off x="502920" y="1463040"/>
            <a:ext cx="2606040" cy="11887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Calibri"/>
                <a:cs typeface="Calibri"/>
              </a:rPr>
              <a:t>0.8206</a:t>
            </a:r>
          </a:p>
          <a:p>
            <a:pPr marL="0" indent="0" algn="ctr">
              <a:lnSpc>
                <a:spcPct val="100000"/>
              </a:lnSpc>
              <a:spcBef>
                <a:spcPts val="350"/>
              </a:spcBef>
              <a:buNone/>
            </a:pPr>
            <a:r>
              <a:rPr lang="en-US" sz="1200" b="1" i="0" dirty="0">
                <a:solidFill>
                  <a:srgbClr val="BFE3FA"/>
                </a:solidFill>
                <a:latin typeface="Calibri"/>
                <a:cs typeface="Calibri"/>
              </a:rPr>
              <a:t>+5 s Macro-F1</a:t>
            </a:r>
          </a:p>
        </p:txBody>
      </p:sp>
      <p:sp>
        <p:nvSpPr>
          <p:cNvPr id="33" name="card33"/>
          <p:cNvSpPr/>
          <p:nvPr/>
        </p:nvSpPr>
        <p:spPr>
          <a:xfrm>
            <a:off x="3268980" y="137160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0038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cardtxt34"/>
          <p:cNvSpPr txBox="1"/>
          <p:nvPr/>
        </p:nvSpPr>
        <p:spPr>
          <a:xfrm>
            <a:off x="3268980" y="1463040"/>
            <a:ext cx="2606040" cy="11887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FFFFFF"/>
                </a:solidFill>
                <a:latin typeface="Calibri"/>
                <a:cs typeface="Calibri"/>
              </a:rPr>
              <a:t>0.773</a:t>
            </a:r>
          </a:p>
          <a:p>
            <a:pPr marL="0" indent="0" algn="ctr">
              <a:lnSpc>
                <a:spcPct val="100000"/>
              </a:lnSpc>
              <a:spcBef>
                <a:spcPts val="350"/>
              </a:spcBef>
              <a:buNone/>
            </a:pPr>
            <a:r>
              <a:rPr lang="en-US" sz="1200" b="1" i="0" dirty="0">
                <a:solidFill>
                  <a:srgbClr val="BFE3FA"/>
                </a:solidFill>
                <a:latin typeface="Calibri"/>
                <a:cs typeface="Calibri"/>
              </a:rPr>
              <a:t>MCC  (+5 s)</a:t>
            </a:r>
          </a:p>
        </p:txBody>
      </p:sp>
      <p:sp>
        <p:nvSpPr>
          <p:cNvPr id="35" name="card35"/>
          <p:cNvSpPr/>
          <p:nvPr/>
        </p:nvSpPr>
        <p:spPr>
          <a:xfrm>
            <a:off x="6035040" y="137160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00389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cardtxt36"/>
          <p:cNvSpPr txBox="1"/>
          <p:nvPr/>
        </p:nvSpPr>
        <p:spPr>
          <a:xfrm>
            <a:off x="6035040" y="1463040"/>
            <a:ext cx="2606040" cy="118872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0.75 / 0.15</a:t>
            </a:r>
          </a:p>
          <a:p>
            <a:pPr marL="0" indent="0" algn="ctr">
              <a:lnSpc>
                <a:spcPct val="100000"/>
              </a:lnSpc>
              <a:spcBef>
                <a:spcPts val="350"/>
              </a:spcBef>
              <a:buNone/>
            </a:pPr>
            <a:r>
              <a:rPr lang="en-US" sz="1200" b="1" i="0" dirty="0">
                <a:solidFill>
                  <a:srgbClr val="BFE3FA"/>
                </a:solidFill>
                <a:latin typeface="Calibri"/>
                <a:cs typeface="Calibri"/>
              </a:rPr>
              <a:t>Tokyo DEGRADED F1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200" b="1" i="0" dirty="0">
                <a:solidFill>
                  <a:srgbClr val="BFE3FA"/>
                </a:solidFill>
                <a:latin typeface="Calibri"/>
                <a:cs typeface="Calibri"/>
              </a:rPr>
              <a:t>DL vs RF baseline</a:t>
            </a:r>
          </a:p>
        </p:txBody>
      </p:sp>
      <p:sp>
        <p:nvSpPr>
          <p:cNvPr id="37" name="out-label"/>
          <p:cNvSpPr txBox="1"/>
          <p:nvPr/>
        </p:nvSpPr>
        <p:spPr>
          <a:xfrm>
            <a:off x="502920" y="2880360"/>
            <a:ext cx="82296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600" b="1" i="0" dirty="0">
                <a:solidFill>
                  <a:srgbClr val="003893"/>
                </a:solidFill>
                <a:latin typeface="Calibri"/>
                <a:cs typeface="Calibri"/>
              </a:rPr>
              <a:t>Expected fusion outcome</a:t>
            </a:r>
          </a:p>
        </p:txBody>
      </p:sp>
      <p:sp>
        <p:nvSpPr>
          <p:cNvPr id="38" name="outcomes"/>
          <p:cNvSpPr txBox="1"/>
          <p:nvPr/>
        </p:nvSpPr>
        <p:spPr>
          <a:xfrm>
            <a:off x="502920" y="3246120"/>
            <a:ext cx="8229600" cy="9144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274320" indent="-274320" algn="l">
              <a:lnSpc>
                <a:spcPct val="106000"/>
              </a:lnSpc>
              <a:spcBef>
                <a:spcPts val="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Lower position RMSE during DEGRADED epochs vs a fixed-R baseline EKF.</a:t>
            </a:r>
          </a:p>
          <a:p>
            <a:pPr marL="274320" indent="-274320" algn="l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Maintained continuity — coasting holds the track through full GNSS loss.</a:t>
            </a:r>
          </a:p>
          <a:p>
            <a:pPr marL="274320" indent="-274320" algn="l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US" sz="1400" b="0" i="0" dirty="0">
                <a:solidFill>
                  <a:srgbClr val="333333"/>
                </a:solidFill>
                <a:latin typeface="Calibri"/>
                <a:cs typeface="Calibri"/>
              </a:rPr>
              <a:t>Degradation-aware trust: fewer multipath-driven position jumps.</a:t>
            </a:r>
          </a:p>
        </p:txBody>
      </p:sp>
      <p:sp>
        <p:nvSpPr>
          <p:cNvPr id="39" name="note"/>
          <p:cNvSpPr txBox="1"/>
          <p:nvPr/>
        </p:nvSpPr>
        <p:spPr>
          <a:xfrm>
            <a:off x="502920" y="4370832"/>
            <a:ext cx="8229600" cy="3657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100" b="0" i="1" dirty="0">
                <a:solidFill>
                  <a:srgbClr val="666666"/>
                </a:solidFill>
                <a:latin typeface="Calibri"/>
                <a:cs typeface="Calibri"/>
              </a:rPr>
              <a:t>Predictor metrics from Run 14 (current best). Fusion-stage RMSE pending — integration evaluation in progress.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380</Words>
  <Application>Microsoft Office PowerPoint</Application>
  <PresentationFormat>On-screen Show (16:9)</PresentationFormat>
  <Paragraphs>42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Ibrahim Mustapha</cp:lastModifiedBy>
  <cp:revision>5</cp:revision>
  <dcterms:created xsi:type="dcterms:W3CDTF">2026-06-02T02:44:36Z</dcterms:created>
  <dcterms:modified xsi:type="dcterms:W3CDTF">2026-06-03T16:31:24Z</dcterms:modified>
</cp:coreProperties>
</file>