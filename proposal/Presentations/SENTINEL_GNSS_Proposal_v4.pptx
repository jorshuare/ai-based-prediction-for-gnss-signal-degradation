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82880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SENTINEL-GNSS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400" b="0">
                <a:solidFill>
                  <a:srgbClr val="E6F2FB"/>
                </a:solidFill>
                <a:latin typeface="Calibri"/>
              </a:rPr>
              <a:t>Proactive Multi-Horizon Prediction of GNSS Signal Degradation for Autonomous Vehicle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Team Pilot Project —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CFE3F5"/>
                </a:solidFill>
                <a:latin typeface="Calibri"/>
              </a:rPr>
              <a:t>Progress Presentation · Version 4 · Run 14 results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CFE3F5"/>
                </a:solidFill>
                <a:latin typeface="Calibri"/>
              </a:rPr>
              <a:t>Forecasting GNSS degradation 5, 15 and 30 seconds before it happens.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Why GNSS prediction matters for autonomous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GNSS is the primary absolute-positioning sensor for autonomous vehicles.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It fails abruptly: urban canyons, tunnels, foliage, multipath.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 car at 60 km/h travels 17 metres every second.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44336"/>
                </a:solidFill>
                <a:latin typeface="Calibri"/>
              </a:rPr>
              <a:t>•  Every existing monitor (RTKLIB codes, RAIM, ML classifiers) is REACTIVE — it reports degradation only after it happens.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Our question is harder: will the signal degrade in the next 5 / 15 / 30 seconds?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proactive warning buys the vehicle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60350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Distance @ 60 km/h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Action the planner can take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83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Tighten IMU fusion, slow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+15 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250 m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Pre-engage dead-reckoning, adjust speed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500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Re-route to avoid the degradation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Prediction converts a sudden failure into a planned hand-off to backup localisation.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 multi-city, multi-receiver dataset (149,662 labelled epochs)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011680"/>
                <a:gridCol w="25603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City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Receivers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Field Scenarios A–E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Beijing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Septentrio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train /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UrbanNav Medium/Tunnel/Deep/Harsh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Hong Kong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9+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train / val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Tokyo Shinjuku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Trimble + u-blox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HELD-OUT 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5 controlled degradation scenarios (A–E). 4 cities, 9+ receiver types, one 3-class schema.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From raw signals to model-ready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Raw RINEX + NMEA  →  37 engineered features in 7 groups, per 1-second epoch.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Groups: position, C/N0 signal strength, satellite count, DOP, receiver status, temporal patterns, atmospheric.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 30-second sliding window → tensor (30 × 37); labels at t+5 / t+15 / t+30 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4CAF50"/>
                </a:solidFill>
                <a:latin typeface="Calibri"/>
              </a:rPr>
              <a:t>•  CLEAN = healthy fix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F9800"/>
                </a:solidFill>
                <a:latin typeface="Calibri"/>
              </a:rPr>
              <a:t>•  WARNING = partial degradation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F44336"/>
                </a:solidFill>
                <a:latin typeface="Calibri"/>
              </a:rPr>
              <a:t>•  DEGRADED = loss of fix / severe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The SENTINEL-GNSS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Transformer encoder (2 layers, 8 heads, d=128) — long-range dependencies in the window.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BiLSTM (2 layers, hidden=256) — directional trajectory toward degradation.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Three output heads (+5s, +15s, +30s) + auxiliary head — one model, one forward pass.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1.46 M parameters; focal loss (gamma=1.0) + class weights [1, 2, 5]; NO SMOTE for the network.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Honest validation: ablations + permutation test + temporal-feature ablation — we report negative results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828800"/>
            <a:ext cx="7589520" cy="3657600"/>
          </a:xfrm>
          <a:prstGeom prst="rect">
            <a:avLst/>
          </a:prstGeom>
          <a:solidFill>
            <a:srgbClr val="E3ECF5"/>
          </a:solidFill>
          <a:ln>
            <a:solidFill>
              <a:srgbClr val="005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005BAC"/>
                </a:solidFill>
                <a:latin typeface="Calibri"/>
              </a:rPr>
              <a:t>[ INSERT FIGURE ]
fig_architecture.pdf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Block diagram: input 30×37 → projection → Transformer ×2 → BiLSTM ×2 → 3 heads.  (drop in results/figures/fig_architecture.pdf)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4 · Results (Run 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Headline: multi-horizon prediction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103120"/>
                <a:gridCol w="1828800"/>
                <a:gridCol w="31089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MCC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95% CI (Macro-F1)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[0.800, 0.843]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+15 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0.741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0.691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[0.717, 0.764]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+30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[0.758, 0.804]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DEGRADED recall = 0.85 at +5 s. DEGRADED F1 improved 0.274 → 0.718 across runs (2.6×).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Per-class performance at +5 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011680"/>
                <a:gridCol w="201168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Support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WARNING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0.817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746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1A1A1A"/>
                          </a:solidFill>
                        </a:rPr>
                        <a:t>DEGRADED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High recall on the safety-critical DEGRADED class is the priority for an AV system.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Confusion + multi-horizon</a:t>
            </a:r>
          </a:p>
        </p:txBody>
      </p:sp>
      <p:pic>
        <p:nvPicPr>
          <p:cNvPr id="4" name="Picture 3" descr="confusion_matrice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45920"/>
            <a:ext cx="734575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43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Insert confusion_matrices_test.png and multi_horizon_comparison.png.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Ablation — every component contributes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1887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2377440"/>
                <a:gridCol w="182880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Architecture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+5s Macro-F1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+5s MCC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Transformer-only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0.43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LSTM-only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1.03 M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0.645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Full (Transformer+LSTM)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1.46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3227832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Full model wins on Macro-F1 (+5s) and on MCC at every horizon.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KEY RESULT — cross-city generalisation (Tokyo, never seen)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1887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1645920"/>
                <a:gridCol w="31089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Beijing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SENTINEL-GNSS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-0.173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1A1A1A"/>
                          </a:solidFill>
                        </a:rPr>
                        <a:t>RandomForest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-0.308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68680" y="2843784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In-domain trees win; out-of-domain the network keeps DEGRADED (0.75) while the tree collapses (0.15). Trees memorise; the network learns a transferable representation.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Efficiency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Inference: 0.039 ms/sample on GPU — 10.5× faster than three separate tree models.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One 17.8 MB checkpoint serves all three horizons; real-time at 10 Hz.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Calibration: temperature scaling applied (Guo et al., 2017); ECE re-measured with the corrected temperature before any 'well-calibrated' claim.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is genuinely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1. Reactive → proactive: first multi-horizon GNSS degradation PREDICTOR.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2. Cross-city generalisation as the deciding metric (DEGRADED 0.75 vs 0.15).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3. Unified multi-horizon model — one pass, three horizons, 10.5× faster.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4. Multi-city, multi-receiver open benchmark (149,662 epochs, reproducible).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5. Hardware-aware design — explicit receiver-tier conditioning across 9+ receivers.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How we defend it to reviewers (honest narrative)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"Trees beat you in-domain" → true; out-of-domain we win on DEGRADED, 10.5× faster, one model.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"Does the Transformer use time?" → order adds ~3% (permutation test); the win is representation transfer, not order modelling.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"Small DEGRADED test set" → bootstrap 95% CIs on every per-class metric.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"Data leakage?" → session-level split; scaler/SMOTE on train only; Tokyo fully held out.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We lead with generalisation + efficiency, not an in-domain leaderboard score.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6 · Roadmap &amp;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Publication plan — 2 papers + 1 conference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005BAC"/>
                </a:solidFill>
                <a:latin typeface="Calibri"/>
              </a:rPr>
              <a:t>•  Paper A (GPS Solutions, Q1): method + multi-horizon + cross-receiver + cross-city + EKF.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Paper B (Scientific Data / Data in Brief): the benchmark / dataset descriptor.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Conference (ION GNSS+ 2026): cross-city result as a short paper, later extended.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Two substantial papers avoid salami-slicing and carry more impact than four thin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What is left to build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600200"/>
          <a:ext cx="109727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98079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Re-run calibration (E7) with correct 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done in notebooks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Read median lead-time from histogram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pending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inference.py — NMEA stream → live prediction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Per-receiver evaluation (Paper A §6)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pending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Adaptive EKF — navigation RMSE during blockage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pending (key)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Web app — Next.js + FastAPI dashboards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pending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Paper A full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64592" cy="82296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3400" b="1">
                <a:solidFill>
                  <a:srgbClr val="003366"/>
                </a:solidFill>
                <a:latin typeface="Calibri"/>
              </a:rPr>
              <a:t>The application (Next.js + FastAPI)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Real-time monitor (1 Hz): C/N0, DOP, satellite count + live 3-horizon prediction bars.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Route map (Mapbox): colour-coded predicted signal quality along the path.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Prediction timeline with lead-time annotations; live attention heatmap.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DL-vs-baseline comparison; dataset explorer (149k epochs); metrics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—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