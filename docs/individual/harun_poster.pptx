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"/>
            <a:ext cx="9144000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eiha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73152"/>
            <a:ext cx="420624" cy="420624"/>
          </a:xfrm>
          <a:prstGeom prst="rect">
            <a:avLst/>
          </a:prstGeom>
        </p:spPr>
      </p:pic>
      <p:pic>
        <p:nvPicPr>
          <p:cNvPr id="5" name="Picture 4" descr="rcsst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73152"/>
            <a:ext cx="420624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7784" y="27432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AI-Based Proactive Prediction of GNSS Signal Degradation for Autonomous Vehicle Navigation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246888"/>
            <a:ext cx="802843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C3F7"/>
                </a:solidFill>
              </a:rPr>
              <a:t>Rashid Md Harun 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402336"/>
            <a:ext cx="80284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Literature Survey · Baseline Models · Cross-City RF Evaluation   |   RCSSTEAP / Beihang University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" y="658368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My Contributions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" y="896112"/>
            <a:ext cx="4398264" cy="1572768"/>
          </a:xfrm>
          <a:prstGeom prst="rect">
            <a:avLst/>
          </a:prstGeom>
          <a:solidFill>
            <a:srgbClr val="EBF3FC"/>
          </a:solidFill>
          <a:ln w="1016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Systematic literature survey: 30 papers across 3 subsections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(GNSS quality monitoring, ML for GNSS, sensor fusion for degraded nav).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Built all 4 baseline models: SNR threshold classifier, RAIM consistency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check, RandomForest (200 trees, Optuna-tuned), XGBoost (Optuna-tuned).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Ran cross-city RandomForest evaluation on Tokyo: confirmed RF DEGRADED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F1 collapses to 0.148 on unseen city (in-domain: 0.926).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Wrote paper Introduction (motivation, AV safety gap, claims) and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Related Work (Section 2, ~1,000 words, 30 citations).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Identified key literature gap: every prior work labels only the current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epoch; SENTINEL is first to predict 5–30 s ahead.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" y="2542032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Baseline Comparison  (+5 s, in-domain test)</a:t>
            </a:r>
          </a:p>
        </p:txBody>
      </p:sp>
      <p:pic>
        <p:nvPicPr>
          <p:cNvPr id="12" name="Picture 11" descr="fig03_model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509" y="2779776"/>
            <a:ext cx="3534700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" y="4700016"/>
            <a:ext cx="4398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1">
                <a:solidFill>
                  <a:srgbClr val="446480"/>
                </a:solidFill>
              </a:rPr>
              <a:t>Fig: In-domain Macro-F1 — RF (0.926) and XGBoost (0.919) outperform SENTINEL (0.821). Cross-city reverses this ranking entirely.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36007" y="658368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Cross-City RandomForest Collapse (Tokyo)</a:t>
            </a:r>
          </a:p>
        </p:txBody>
      </p:sp>
      <p:pic>
        <p:nvPicPr>
          <p:cNvPr id="15" name="Picture 14" descr="fig05_crosscity_degra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2650" y="896112"/>
            <a:ext cx="3284978" cy="2011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36007" y="2907792"/>
            <a:ext cx="4398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1">
                <a:solidFill>
                  <a:srgbClr val="446480"/>
                </a:solidFill>
              </a:rPr>
              <a:t>Fig: DEGRADED-class F1 on unseen Tokyo. RF collapses (0.148); SENTINEL holds (0.75). XGBoost transfers partially (0.784).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36007" y="3218688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Why RF Fails Cross-City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36007" y="3456432"/>
            <a:ext cx="4398264" cy="1024128"/>
          </a:xfrm>
          <a:prstGeom prst="rect">
            <a:avLst/>
          </a:prstGeom>
          <a:solidFill>
            <a:srgbClr val="EBF3FC"/>
          </a:solidFill>
          <a:ln w="10160">
            <a:solidFill>
              <a:srgbClr val="1A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RF builds decision trees on city-specific C/N₀ thresholds: e.g., 'if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max_cnr &lt; 32 dB·Hz → DEGRADED'. These thresholds shift between cities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due to different receiver hardware and building materials.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SENTINEL learns temporal dynamics: DOP drift rate, C/N₀ decay slope,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satellite-count drop trajectory — physics that transfer across geographies.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• XGBoost partially transfers (0.784) because gradient boosting overfits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1A2436"/>
                </a:solidFill>
              </a:rPr>
              <a:t>  less aggressively than RF to site-specific decision boundaries.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36007" y="4535424"/>
            <a:ext cx="4398264" cy="219456"/>
          </a:xfrm>
          <a:prstGeom prst="rect">
            <a:avLst/>
          </a:prstGeom>
          <a:solidFill>
            <a:srgbClr val="003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Literature Gap Identified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36007" y="4773168"/>
            <a:ext cx="4398264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003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003893"/>
                </a:solidFill>
              </a:rPr>
              <a:t>Every prior GNSS ML paper classifies only the CURRENT epoch.</a:t>
            </a:r>
          </a:p>
          <a:p>
            <a:r>
              <a:rPr sz="800" b="0">
                <a:solidFill>
                  <a:srgbClr val="1A2436"/>
                </a:solidFill>
              </a:rPr>
              <a:t>SENTINEL is the first system (to our knowledge) to provide multi-horizon</a:t>
            </a:r>
          </a:p>
          <a:p>
            <a:r>
              <a:rPr sz="800" b="0">
                <a:solidFill>
                  <a:srgbClr val="1A2436"/>
                </a:solidFill>
              </a:rPr>
              <a:t>proactive prediction: +5 s, +15 s, and +30 s in a single forward pass.</a:t>
            </a:r>
          </a:p>
          <a:p>
            <a:r>
              <a:rPr sz="750" b="0">
                <a:solidFill>
                  <a:srgbClr val="446480"/>
                </a:solidFill>
              </a:rPr>
              <a:t>This is the core novelty gap, identified through the 30-paper survey.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