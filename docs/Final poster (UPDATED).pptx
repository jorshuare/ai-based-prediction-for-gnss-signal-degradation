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205400" cy="32405638"/>
  <p:notesSz cx="9144000" cy="6858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1pPr>
    <a:lvl2pPr marL="452902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2pPr>
    <a:lvl3pPr marL="905805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3pPr>
    <a:lvl4pPr marL="1358707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4pPr>
    <a:lvl5pPr marL="1811609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5pPr>
    <a:lvl6pPr marL="2264512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6pPr>
    <a:lvl7pPr marL="2717414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7pPr>
    <a:lvl8pPr marL="3170316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8pPr>
    <a:lvl9pPr marL="3623219" algn="l" defTabSz="452902" rtl="0" eaLnBrk="1" latinLnBrk="0" hangingPunct="1">
      <a:defRPr sz="2400" kern="1200">
        <a:solidFill>
          <a:schemeClr val="tx1"/>
        </a:solidFill>
        <a:latin typeface="Arial" charset="0"/>
        <a:ea typeface="ＭＳ Ｐゴシック" charset="0"/>
        <a:cs typeface="ＭＳ Ｐゴシック" charset="0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39F"/>
    <a:srgbClr val="01519A"/>
    <a:srgbClr val="426CAE"/>
    <a:srgbClr val="B41E29"/>
    <a:srgbClr val="31787E"/>
    <a:srgbClr val="296267"/>
    <a:srgbClr val="B40000"/>
    <a:srgbClr val="4E7398"/>
    <a:srgbClr val="4E99C1"/>
    <a:srgbClr val="A79D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894" autoAdjust="0"/>
    <p:restoredTop sz="88448" autoAdjust="0"/>
  </p:normalViewPr>
  <p:slideViewPr>
    <p:cSldViewPr>
      <p:cViewPr>
        <p:scale>
          <a:sx n="66" d="100"/>
          <a:sy n="66" d="100"/>
        </p:scale>
        <p:origin x="21" y="-8997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91" d="100"/>
          <a:sy n="91" d="100"/>
        </p:scale>
        <p:origin x="-3368" y="-104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181600" y="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U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857500" y="514350"/>
            <a:ext cx="3429000" cy="2571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1219200" y="3257550"/>
            <a:ext cx="6705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US" dirty="0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181600" y="6515100"/>
            <a:ext cx="3962400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0841615-1DF9-A448-9A9B-BCE9DBD29FE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28751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84" charset="-128"/>
        <a:cs typeface="ＭＳ Ｐゴシック" pitchFamily="-84" charset="-128"/>
      </a:defRPr>
    </a:lvl1pPr>
    <a:lvl2pPr marL="452902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2pPr>
    <a:lvl3pPr marL="905805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3pPr>
    <a:lvl4pPr marL="1358707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4pPr>
    <a:lvl5pPr marL="1811609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-108" charset="0"/>
        <a:ea typeface="ＭＳ Ｐゴシック" pitchFamily="-108" charset="-128"/>
        <a:cs typeface="+mn-cs"/>
      </a:defRPr>
    </a:lvl5pPr>
    <a:lvl6pPr marL="2264512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17414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70316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23219" algn="l" defTabSz="452902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fld id="{25C66430-FF76-7B4E-9DC1-A2D9C309AAB8}" type="slidenum">
              <a:rPr lang="en-US" sz="1200"/>
              <a:pPr/>
              <a:t>1</a:t>
            </a:fld>
            <a:endParaRPr lang="en-US" sz="1200" dirty="0"/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2857500" y="514350"/>
            <a:ext cx="3429000" cy="2571750"/>
          </a:xfrm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577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40405" y="10066752"/>
            <a:ext cx="36724590" cy="6946208"/>
          </a:xfrm>
        </p:spPr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80810" y="18363195"/>
            <a:ext cx="30243780" cy="8281441"/>
          </a:xfrm>
        </p:spPr>
        <p:txBody>
          <a:bodyPr/>
          <a:lstStyle>
            <a:lvl1pPr marL="0" indent="0" algn="ctr">
              <a:buNone/>
              <a:defRPr/>
            </a:lvl1pPr>
            <a:lvl2pPr marL="452902" indent="0" algn="ctr">
              <a:buNone/>
              <a:defRPr/>
            </a:lvl2pPr>
            <a:lvl3pPr marL="905805" indent="0" algn="ctr">
              <a:buNone/>
              <a:defRPr/>
            </a:lvl3pPr>
            <a:lvl4pPr marL="1358707" indent="0" algn="ctr">
              <a:buNone/>
              <a:defRPr/>
            </a:lvl4pPr>
            <a:lvl5pPr marL="1811609" indent="0" algn="ctr">
              <a:buNone/>
              <a:defRPr/>
            </a:lvl5pPr>
            <a:lvl6pPr marL="2264512" indent="0" algn="ctr">
              <a:buNone/>
              <a:defRPr/>
            </a:lvl6pPr>
            <a:lvl7pPr marL="2717414" indent="0" algn="ctr">
              <a:buNone/>
              <a:defRPr/>
            </a:lvl7pPr>
            <a:lvl8pPr marL="3170316" indent="0" algn="ctr">
              <a:buNone/>
              <a:defRPr/>
            </a:lvl8pPr>
            <a:lvl9pPr marL="3623219" indent="0" algn="ctr">
              <a:buNone/>
              <a:defRPr/>
            </a:lvl9pPr>
          </a:lstStyle>
          <a:p>
            <a:r>
              <a:rPr lang="en-CA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B408F8E-6FB3-464A-9C30-2A3F5C4211BF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28177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84C6583-A371-E440-BCED-D2D0D131BD2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157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2927" y="20823624"/>
            <a:ext cx="36724590" cy="643612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12927" y="13734890"/>
            <a:ext cx="36724590" cy="7088733"/>
          </a:xfrm>
        </p:spPr>
        <p:txBody>
          <a:bodyPr anchor="b"/>
          <a:lstStyle>
            <a:lvl1pPr marL="0" indent="0">
              <a:buNone/>
              <a:defRPr sz="2000"/>
            </a:lvl1pPr>
            <a:lvl2pPr marL="452902" indent="0">
              <a:buNone/>
              <a:defRPr sz="1800"/>
            </a:lvl2pPr>
            <a:lvl3pPr marL="905805" indent="0">
              <a:buNone/>
              <a:defRPr sz="1600"/>
            </a:lvl3pPr>
            <a:lvl4pPr marL="1358707" indent="0">
              <a:buNone/>
              <a:defRPr sz="1400"/>
            </a:lvl4pPr>
            <a:lvl5pPr marL="1811609" indent="0">
              <a:buNone/>
              <a:defRPr sz="1400"/>
            </a:lvl5pPr>
            <a:lvl6pPr marL="2264512" indent="0">
              <a:buNone/>
              <a:defRPr sz="1400"/>
            </a:lvl6pPr>
            <a:lvl7pPr marL="2717414" indent="0">
              <a:buNone/>
              <a:defRPr sz="1400"/>
            </a:lvl7pPr>
            <a:lvl8pPr marL="3170316" indent="0">
              <a:buNone/>
              <a:defRPr sz="1400"/>
            </a:lvl8pPr>
            <a:lvl9pPr marL="3623219" indent="0">
              <a:buNone/>
              <a:defRPr sz="14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AED8963-7EB0-0B4B-83FE-B728280DABD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5512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42282" y="9362879"/>
            <a:ext cx="18270408" cy="194421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92712" y="9362879"/>
            <a:ext cx="18270409" cy="194421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8F32F2-82B6-9049-BEB3-E621FD709512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06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1" y="1297726"/>
            <a:ext cx="38884860" cy="5400940"/>
          </a:xfrm>
        </p:spPr>
        <p:txBody>
          <a:bodyPr/>
          <a:lstStyle>
            <a:lvl1pPr>
              <a:defRPr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0270" y="7253763"/>
            <a:ext cx="19089886" cy="30230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902" indent="0">
              <a:buNone/>
              <a:defRPr sz="2000" b="1"/>
            </a:lvl2pPr>
            <a:lvl3pPr marL="905805" indent="0">
              <a:buNone/>
              <a:defRPr sz="1800" b="1"/>
            </a:lvl3pPr>
            <a:lvl4pPr marL="1358707" indent="0">
              <a:buNone/>
              <a:defRPr sz="1600" b="1"/>
            </a:lvl4pPr>
            <a:lvl5pPr marL="1811609" indent="0">
              <a:buNone/>
              <a:defRPr sz="1600" b="1"/>
            </a:lvl5pPr>
            <a:lvl6pPr marL="2264512" indent="0">
              <a:buNone/>
              <a:defRPr sz="1600" b="1"/>
            </a:lvl6pPr>
            <a:lvl7pPr marL="2717414" indent="0">
              <a:buNone/>
              <a:defRPr sz="1600" b="1"/>
            </a:lvl7pPr>
            <a:lvl8pPr marL="3170316" indent="0">
              <a:buNone/>
              <a:defRPr sz="1600" b="1"/>
            </a:lvl8pPr>
            <a:lvl9pPr marL="3623219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160270" y="10276788"/>
            <a:ext cx="19089886" cy="186707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1947744" y="7253763"/>
            <a:ext cx="19097387" cy="302302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2902" indent="0">
              <a:buNone/>
              <a:defRPr sz="2000" b="1"/>
            </a:lvl2pPr>
            <a:lvl3pPr marL="905805" indent="0">
              <a:buNone/>
              <a:defRPr sz="1800" b="1"/>
            </a:lvl3pPr>
            <a:lvl4pPr marL="1358707" indent="0">
              <a:buNone/>
              <a:defRPr sz="1600" b="1"/>
            </a:lvl4pPr>
            <a:lvl5pPr marL="1811609" indent="0">
              <a:buNone/>
              <a:defRPr sz="1600" b="1"/>
            </a:lvl5pPr>
            <a:lvl6pPr marL="2264512" indent="0">
              <a:buNone/>
              <a:defRPr sz="1600" b="1"/>
            </a:lvl6pPr>
            <a:lvl7pPr marL="2717414" indent="0">
              <a:buNone/>
              <a:defRPr sz="1600" b="1"/>
            </a:lvl7pPr>
            <a:lvl8pPr marL="3170316" indent="0">
              <a:buNone/>
              <a:defRPr sz="1600" b="1"/>
            </a:lvl8pPr>
            <a:lvl9pPr marL="3623219" indent="0">
              <a:buNone/>
              <a:defRPr sz="1600" b="1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1947744" y="10276788"/>
            <a:ext cx="19097387" cy="186707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036F31-6EE5-7643-9611-011E51138A68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7212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9B67582-577B-874D-A3AC-1F3095A41DB5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4878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88A3B30-A64E-324C-82F5-1C1A069C8850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06321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0270" y="1290225"/>
            <a:ext cx="14214277" cy="549095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6892112" y="1290225"/>
            <a:ext cx="24153019" cy="2765731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160270" y="6781180"/>
            <a:ext cx="14214277" cy="22166356"/>
          </a:xfrm>
        </p:spPr>
        <p:txBody>
          <a:bodyPr/>
          <a:lstStyle>
            <a:lvl1pPr marL="0" indent="0">
              <a:buNone/>
              <a:defRPr sz="1400"/>
            </a:lvl1pPr>
            <a:lvl2pPr marL="452902" indent="0">
              <a:buNone/>
              <a:defRPr sz="1200"/>
            </a:lvl2pPr>
            <a:lvl3pPr marL="905805" indent="0">
              <a:buNone/>
              <a:defRPr sz="1000"/>
            </a:lvl3pPr>
            <a:lvl4pPr marL="1358707" indent="0">
              <a:buNone/>
              <a:defRPr sz="900"/>
            </a:lvl4pPr>
            <a:lvl5pPr marL="1811609" indent="0">
              <a:buNone/>
              <a:defRPr sz="900"/>
            </a:lvl5pPr>
            <a:lvl6pPr marL="2264512" indent="0">
              <a:buNone/>
              <a:defRPr sz="900"/>
            </a:lvl6pPr>
            <a:lvl7pPr marL="2717414" indent="0">
              <a:buNone/>
              <a:defRPr sz="900"/>
            </a:lvl7pPr>
            <a:lvl8pPr marL="3170316" indent="0">
              <a:buNone/>
              <a:defRPr sz="900"/>
            </a:lvl8pPr>
            <a:lvl9pPr marL="3623219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366B38C-B96F-6041-B6E5-E3AC3CAB1B4D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487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68559" y="22683948"/>
            <a:ext cx="25923240" cy="267796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8468559" y="2895504"/>
            <a:ext cx="25923240" cy="19443383"/>
          </a:xfrm>
        </p:spPr>
        <p:txBody>
          <a:bodyPr/>
          <a:lstStyle>
            <a:lvl1pPr marL="0" indent="0">
              <a:buNone/>
              <a:defRPr sz="3200"/>
            </a:lvl1pPr>
            <a:lvl2pPr marL="452902" indent="0">
              <a:buNone/>
              <a:defRPr sz="2800"/>
            </a:lvl2pPr>
            <a:lvl3pPr marL="905805" indent="0">
              <a:buNone/>
              <a:defRPr sz="2400"/>
            </a:lvl3pPr>
            <a:lvl4pPr marL="1358707" indent="0">
              <a:buNone/>
              <a:defRPr sz="2000"/>
            </a:lvl4pPr>
            <a:lvl5pPr marL="1811609" indent="0">
              <a:buNone/>
              <a:defRPr sz="2000"/>
            </a:lvl5pPr>
            <a:lvl6pPr marL="2264512" indent="0">
              <a:buNone/>
              <a:defRPr sz="2000"/>
            </a:lvl6pPr>
            <a:lvl7pPr marL="2717414" indent="0">
              <a:buNone/>
              <a:defRPr sz="2000"/>
            </a:lvl7pPr>
            <a:lvl8pPr marL="3170316" indent="0">
              <a:buNone/>
              <a:defRPr sz="2000"/>
            </a:lvl8pPr>
            <a:lvl9pPr marL="3623219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68559" y="25361913"/>
            <a:ext cx="25923240" cy="3803162"/>
          </a:xfrm>
        </p:spPr>
        <p:txBody>
          <a:bodyPr/>
          <a:lstStyle>
            <a:lvl1pPr marL="0" indent="0">
              <a:buNone/>
              <a:defRPr sz="1400"/>
            </a:lvl1pPr>
            <a:lvl2pPr marL="452902" indent="0">
              <a:buNone/>
              <a:defRPr sz="1200"/>
            </a:lvl2pPr>
            <a:lvl3pPr marL="905805" indent="0">
              <a:buNone/>
              <a:defRPr sz="1000"/>
            </a:lvl3pPr>
            <a:lvl4pPr marL="1358707" indent="0">
              <a:buNone/>
              <a:defRPr sz="900"/>
            </a:lvl4pPr>
            <a:lvl5pPr marL="1811609" indent="0">
              <a:buNone/>
              <a:defRPr sz="900"/>
            </a:lvl5pPr>
            <a:lvl6pPr marL="2264512" indent="0">
              <a:buNone/>
              <a:defRPr sz="900"/>
            </a:lvl6pPr>
            <a:lvl7pPr marL="2717414" indent="0">
              <a:buNone/>
              <a:defRPr sz="900"/>
            </a:lvl7pPr>
            <a:lvl8pPr marL="3170316" indent="0">
              <a:buNone/>
              <a:defRPr sz="900"/>
            </a:lvl8pPr>
            <a:lvl9pPr marL="3623219" indent="0">
              <a:buNone/>
              <a:defRPr sz="900"/>
            </a:lvl9pPr>
          </a:lstStyle>
          <a:p>
            <a:pPr lvl="0"/>
            <a:r>
              <a:rPr lang="en-CA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BE02177-8C81-9B4A-BBDB-E5F540E3940E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8743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B6E4779-C9D0-1546-BDA3-D15D6350C8C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535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0783848" y="2880501"/>
            <a:ext cx="9179273" cy="25924510"/>
          </a:xfrm>
        </p:spPr>
        <p:txBody>
          <a:bodyPr vert="eaVert"/>
          <a:lstStyle/>
          <a:p>
            <a:r>
              <a:rPr lang="en-CA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42281" y="2880501"/>
            <a:ext cx="27361544" cy="25924510"/>
          </a:xfrm>
        </p:spPr>
        <p:txBody>
          <a:bodyPr vert="eaVert"/>
          <a:lstStyle/>
          <a:p>
            <a:pPr lvl="0"/>
            <a:r>
              <a:rPr lang="en-CA"/>
              <a:t>Click to edit Master text styles</a:t>
            </a:r>
          </a:p>
          <a:p>
            <a:pPr lvl="1"/>
            <a:r>
              <a:rPr lang="en-CA"/>
              <a:t>Second level</a:t>
            </a:r>
          </a:p>
          <a:p>
            <a:pPr lvl="2"/>
            <a:r>
              <a:rPr lang="en-CA"/>
              <a:t>Third level</a:t>
            </a:r>
          </a:p>
          <a:p>
            <a:pPr lvl="3"/>
            <a:r>
              <a:rPr lang="en-CA"/>
              <a:t>Fourth level</a:t>
            </a:r>
          </a:p>
          <a:p>
            <a:pPr lvl="4"/>
            <a:r>
              <a:rPr lang="en-CA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 dirty="0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4E3DF7-D832-E64A-A100-1F0D711245C3}" type="slidenum">
              <a:rPr lang="en-US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948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41862" y="2879734"/>
            <a:ext cx="36721676" cy="5401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34744" tIns="217372" rIns="434744" bIns="21737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41862" y="9363060"/>
            <a:ext cx="36721676" cy="194421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241862" y="29525905"/>
            <a:ext cx="9001321" cy="215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>
            <a:lvl1pPr>
              <a:defRPr sz="6600">
                <a:latin typeface="Times" charset="0"/>
              </a:defRPr>
            </a:lvl1pPr>
          </a:lstStyle>
          <a:p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759208" y="29525905"/>
            <a:ext cx="13686985" cy="215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>
            <a:lvl1pPr algn="ctr">
              <a:defRPr sz="6600">
                <a:latin typeface="Times" charset="0"/>
              </a:defRPr>
            </a:lvl1pPr>
          </a:lstStyle>
          <a:p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30962218" y="29525905"/>
            <a:ext cx="9001321" cy="215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434744" tIns="217372" rIns="434744" bIns="217372" numCol="1" anchor="t" anchorCtr="0" compatLnSpc="1">
            <a:prstTxWarp prst="textNoShape">
              <a:avLst/>
            </a:prstTxWarp>
          </a:bodyPr>
          <a:lstStyle>
            <a:lvl1pPr algn="r">
              <a:defRPr sz="6600">
                <a:latin typeface="Times" charset="0"/>
              </a:defRPr>
            </a:lvl1pPr>
          </a:lstStyle>
          <a:p>
            <a:fld id="{95E46882-1281-924A-8848-F951F22FAA83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+mj-lt"/>
          <a:ea typeface="ＭＳ Ｐゴシック" pitchFamily="-84" charset="-128"/>
          <a:cs typeface="ＭＳ Ｐゴシック" pitchFamily="-84" charset="-128"/>
        </a:defRPr>
      </a:lvl1pPr>
      <a:lvl2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2pPr>
      <a:lvl3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3pPr>
      <a:lvl4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4pPr>
      <a:lvl5pPr algn="ctr" defTabSz="4348177" rtl="0" eaLnBrk="0" fontAlgn="base" hangingPunct="0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  <a:ea typeface="ＭＳ Ｐゴシック" pitchFamily="-84" charset="-128"/>
          <a:cs typeface="ＭＳ Ｐゴシック" pitchFamily="-84" charset="-128"/>
        </a:defRPr>
      </a:lvl5pPr>
      <a:lvl6pPr marL="452902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6pPr>
      <a:lvl7pPr marL="905805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7pPr>
      <a:lvl8pPr marL="1358707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8pPr>
      <a:lvl9pPr marL="1811609" algn="ctr" defTabSz="4348177" rtl="0" fontAlgn="base">
        <a:spcBef>
          <a:spcPct val="0"/>
        </a:spcBef>
        <a:spcAft>
          <a:spcPct val="0"/>
        </a:spcAft>
        <a:defRPr sz="20900">
          <a:solidFill>
            <a:schemeClr val="tx2"/>
          </a:solidFill>
          <a:latin typeface="Times" pitchFamily="-108" charset="0"/>
        </a:defRPr>
      </a:lvl9pPr>
    </p:titleStyle>
    <p:bodyStyle>
      <a:lvl1pPr marL="1630763" indent="-1630763" algn="l" defTabSz="4348177" rtl="0" eaLnBrk="0" fontAlgn="base" hangingPunct="0">
        <a:spcBef>
          <a:spcPct val="20000"/>
        </a:spcBef>
        <a:spcAft>
          <a:spcPct val="0"/>
        </a:spcAft>
        <a:buChar char="•"/>
        <a:defRPr sz="15300">
          <a:solidFill>
            <a:schemeClr val="tx1"/>
          </a:solidFill>
          <a:latin typeface="+mn-lt"/>
          <a:ea typeface="ＭＳ Ｐゴシック" pitchFamily="-84" charset="-128"/>
          <a:cs typeface="ＭＳ Ｐゴシック" pitchFamily="-84" charset="-128"/>
        </a:defRPr>
      </a:lvl1pPr>
      <a:lvl2pPr marL="3532009" indent="-1358707" algn="l" defTabSz="4348177" rtl="0" eaLnBrk="0" fontAlgn="base" hangingPunct="0">
        <a:spcBef>
          <a:spcPct val="20000"/>
        </a:spcBef>
        <a:spcAft>
          <a:spcPct val="0"/>
        </a:spcAft>
        <a:buChar char="–"/>
        <a:defRPr sz="13400">
          <a:solidFill>
            <a:schemeClr val="tx1"/>
          </a:solidFill>
          <a:latin typeface="+mn-lt"/>
          <a:ea typeface="ＭＳ Ｐゴシック" pitchFamily="-108" charset="-128"/>
        </a:defRPr>
      </a:lvl2pPr>
      <a:lvl3pPr marL="5433256" indent="-1085078" algn="l" defTabSz="4348177" rtl="0" eaLnBrk="0" fontAlgn="base" hangingPunct="0">
        <a:spcBef>
          <a:spcPct val="20000"/>
        </a:spcBef>
        <a:spcAft>
          <a:spcPct val="0"/>
        </a:spcAft>
        <a:buChar char="•"/>
        <a:defRPr sz="11500">
          <a:solidFill>
            <a:schemeClr val="tx1"/>
          </a:solidFill>
          <a:latin typeface="+mn-lt"/>
          <a:ea typeface="ＭＳ Ｐゴシック" pitchFamily="-108" charset="-128"/>
        </a:defRPr>
      </a:lvl3pPr>
      <a:lvl4pPr marL="7608130" indent="-1086652" algn="l" defTabSz="4348177" rtl="0" eaLnBrk="0" fontAlgn="base" hangingPunct="0">
        <a:spcBef>
          <a:spcPct val="20000"/>
        </a:spcBef>
        <a:spcAft>
          <a:spcPct val="0"/>
        </a:spcAft>
        <a:buChar char="–"/>
        <a:defRPr sz="9600">
          <a:solidFill>
            <a:schemeClr val="tx1"/>
          </a:solidFill>
          <a:latin typeface="+mn-lt"/>
          <a:ea typeface="ＭＳ Ｐゴシック" pitchFamily="-108" charset="-128"/>
        </a:defRPr>
      </a:lvl4pPr>
      <a:lvl5pPr marL="9781432" indent="-1085078" algn="l" defTabSz="4348177" rtl="0" eaLnBrk="0" fontAlgn="base" hangingPunct="0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5pPr>
      <a:lvl6pPr marL="10234334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6pPr>
      <a:lvl7pPr marL="10687237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7pPr>
      <a:lvl8pPr marL="11140139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8pPr>
      <a:lvl9pPr marL="11593041" indent="-1085078" algn="l" defTabSz="4348177" rtl="0" fontAlgn="base">
        <a:spcBef>
          <a:spcPct val="20000"/>
        </a:spcBef>
        <a:spcAft>
          <a:spcPct val="0"/>
        </a:spcAft>
        <a:buChar char="»"/>
        <a:defRPr sz="9600">
          <a:solidFill>
            <a:schemeClr val="tx1"/>
          </a:solidFill>
          <a:latin typeface="+mn-lt"/>
          <a:ea typeface="ＭＳ Ｐゴシック" pitchFamily="-108" charset="-128"/>
        </a:defRPr>
      </a:lvl9pPr>
    </p:bodyStyle>
    <p:otherStyle>
      <a:defPPr>
        <a:defRPr lang="en-US"/>
      </a:defPPr>
      <a:lvl1pPr marL="0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2902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05805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58707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11609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64512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17414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70316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23219" algn="l" defTabSz="45290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72" name="Group 14371"/>
          <p:cNvGrpSpPr/>
          <p:nvPr/>
        </p:nvGrpSpPr>
        <p:grpSpPr>
          <a:xfrm>
            <a:off x="28875508" y="5041579"/>
            <a:ext cx="14106525" cy="7272808"/>
            <a:chOff x="28875508" y="5041579"/>
            <a:chExt cx="14106525" cy="7272808"/>
          </a:xfrm>
        </p:grpSpPr>
        <p:pic>
          <p:nvPicPr>
            <p:cNvPr id="14368" name="Picture 1436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8875508" y="5389712"/>
              <a:ext cx="14106525" cy="6924675"/>
            </a:xfrm>
            <a:prstGeom prst="rect">
              <a:avLst/>
            </a:prstGeom>
          </p:spPr>
        </p:pic>
        <p:sp>
          <p:nvSpPr>
            <p:cNvPr id="41" name="TextBox 40"/>
            <p:cNvSpPr txBox="1"/>
            <p:nvPr/>
          </p:nvSpPr>
          <p:spPr>
            <a:xfrm>
              <a:off x="31971852" y="5041579"/>
              <a:ext cx="4320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B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37444460" y="5041579"/>
              <a:ext cx="4320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C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28947516" y="8425955"/>
              <a:ext cx="5180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D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31971852" y="8425955"/>
              <a:ext cx="4320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E</a:t>
              </a: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37444460" y="8425955"/>
              <a:ext cx="43204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dirty="0"/>
                <a:t>F</a:t>
              </a:r>
            </a:p>
          </p:txBody>
        </p:sp>
      </p:grpSp>
      <p:sp>
        <p:nvSpPr>
          <p:cNvPr id="131" name="TextBox 130"/>
          <p:cNvSpPr txBox="1"/>
          <p:nvPr/>
        </p:nvSpPr>
        <p:spPr>
          <a:xfrm>
            <a:off x="23918391" y="25379779"/>
            <a:ext cx="4357745" cy="4154984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42975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Insert an image to visualize what is being quantified in the graph to the left</a:t>
            </a: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28" name="Picture 12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58801" y="12292071"/>
            <a:ext cx="3889791" cy="3122920"/>
          </a:xfrm>
          <a:prstGeom prst="rect">
            <a:avLst/>
          </a:prstGeom>
        </p:spPr>
      </p:pic>
      <p:pic>
        <p:nvPicPr>
          <p:cNvPr id="14361" name="Picture 143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17229" y="12211353"/>
            <a:ext cx="3889791" cy="312292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07838" y="17453659"/>
            <a:ext cx="13572000" cy="3416320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Insert a Diagram or image to help explain your methods</a:t>
            </a:r>
          </a:p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Use a letter system to label separate panels</a:t>
            </a:r>
          </a:p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Use arrows to direct viewers to important details</a:t>
            </a: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4341" name="Rectangle 12"/>
          <p:cNvSpPr>
            <a:spLocks noChangeArrowheads="1"/>
          </p:cNvSpPr>
          <p:nvPr/>
        </p:nvSpPr>
        <p:spPr bwMode="auto">
          <a:xfrm>
            <a:off x="37715176" y="24543683"/>
            <a:ext cx="4285744" cy="8855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572" tIns="45286" rIns="90572" bIns="45286">
            <a:spAutoFit/>
          </a:bodyPr>
          <a:lstStyle/>
          <a:p>
            <a:pPr algn="just">
              <a:spcBef>
                <a:spcPts val="483"/>
              </a:spcBef>
              <a:spcAft>
                <a:spcPts val="483"/>
              </a:spcAft>
            </a:pPr>
            <a:endParaRPr lang="en-US" dirty="0">
              <a:latin typeface="Times New Roman" charset="0"/>
            </a:endParaRPr>
          </a:p>
          <a:p>
            <a:pPr algn="just"/>
            <a:endParaRPr lang="en-US" dirty="0">
              <a:latin typeface="Times" charset="0"/>
            </a:endParaRPr>
          </a:p>
        </p:txBody>
      </p:sp>
      <p:sp>
        <p:nvSpPr>
          <p:cNvPr id="14344" name="Rectangle 18"/>
          <p:cNvSpPr>
            <a:spLocks noChangeArrowheads="1"/>
          </p:cNvSpPr>
          <p:nvPr/>
        </p:nvSpPr>
        <p:spPr bwMode="auto">
          <a:xfrm>
            <a:off x="501752" y="12544344"/>
            <a:ext cx="9649072" cy="45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72" tIns="45286" rIns="90572" bIns="45286">
            <a:spAutoFit/>
          </a:bodyPr>
          <a:lstStyle/>
          <a:p>
            <a:pPr marL="339677" indent="-339677" algn="just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Dataset: 149,662 labelled epochs across 4 cities and 9+ receiver types. Hangzhou (Beihang campus, Scenarios A to E,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Septentrio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Mosaic-X5C); Hong Kong (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UrbanNav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: Medium, Deep, Harsh, Tunnel); Tokyo held-out (Shinjuku Trimble, Shinjuku u-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blox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F9P, Odaiba).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Features: 37 features in 7 groups, position quality, signal strength, satellite geometry, pseudorange residuals, temporal patterns, atmospheric delays, and receiver status. The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receiver_tier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feature encodes hardware class so one model handles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Septentrio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(48 dB-Hz) and u-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blox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(38 dB-Hz) identically.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Model: a hybrid Transformer-LSTM. The Transformer (2 layers, 8 heads,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d_model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=128) reads global patterns across the 30 s window; a 2-layer LSTM (hidden=256) tracks the directional approach to blockage. Three heads predict +5, +15, and +30 s. 1.46 M parameters, 0.039 </a:t>
            </a:r>
            <a:r>
              <a:rPr sz="2200" b="0" i="0" dirty="0" err="1">
                <a:solidFill>
                  <a:srgbClr val="1C222B"/>
                </a:solidFill>
                <a:latin typeface="Calibri"/>
              </a:rPr>
              <a:t>ms</a:t>
            </a:r>
            <a:r>
              <a:rPr sz="2200" b="0" i="0" dirty="0">
                <a:solidFill>
                  <a:srgbClr val="1C222B"/>
                </a:solidFill>
                <a:latin typeface="Calibri"/>
              </a:rPr>
              <a:t> per sample.</a:t>
            </a:r>
          </a:p>
        </p:txBody>
      </p:sp>
      <p:sp>
        <p:nvSpPr>
          <p:cNvPr id="14345" name="Rectangle 62"/>
          <p:cNvSpPr>
            <a:spLocks noChangeArrowheads="1"/>
          </p:cNvSpPr>
          <p:nvPr/>
        </p:nvSpPr>
        <p:spPr bwMode="auto">
          <a:xfrm>
            <a:off x="29444659" y="30632400"/>
            <a:ext cx="5263497" cy="6454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580" tIns="45290" rIns="90580" bIns="45290">
            <a:spAutoFit/>
          </a:bodyPr>
          <a:lstStyle/>
          <a:p>
            <a:r>
              <a:rPr lang="en-US" sz="3600" dirty="0"/>
              <a:t>This work was funded by</a:t>
            </a:r>
          </a:p>
        </p:txBody>
      </p:sp>
      <p:sp>
        <p:nvSpPr>
          <p:cNvPr id="14346" name="Rectangle 102"/>
          <p:cNvSpPr>
            <a:spLocks noChangeArrowheads="1"/>
          </p:cNvSpPr>
          <p:nvPr/>
        </p:nvSpPr>
        <p:spPr bwMode="auto">
          <a:xfrm>
            <a:off x="28812665" y="14042579"/>
            <a:ext cx="13527962" cy="79397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72" tIns="45286" rIns="90572" bIns="45286" anchor="t">
            <a:spAutoFit/>
          </a:bodyPr>
          <a:lstStyle/>
          <a:p>
            <a:pPr marL="342900" indent="-342900" algn="l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sz="1600" b="1">
                <a:solidFill>
                  <a:srgbClr val="102A43"/>
                </a:solidFill>
                <a:latin typeface="Consolas"/>
              </a:rPr>
              <a:t>Prediction inflates GPS noise R before bad epochs arrive (Joseph-form EKF):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02A43"/>
                </a:solidFill>
                <a:latin typeface="Consolas"/>
              </a:rPr>
              <a:t>Predict:   xp = f(x, u);   Pp = F P F^T + Q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02A43"/>
                </a:solidFill>
                <a:latin typeface="Consolas"/>
              </a:rPr>
              <a:t>Update:    K = Pp H^T (H Pp H^T + R)^-1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02A43"/>
                </a:solidFill>
                <a:latin typeface="Consolas"/>
              </a:rPr>
              <a:t>           x = xp + K (z - H xp)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02A43"/>
                </a:solidFill>
                <a:latin typeface="Consolas"/>
              </a:rPr>
              <a:t>           P = (I - K H) Pp     [Joseph form]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02A43"/>
                </a:solidFill>
                <a:latin typeface="Consolas"/>
              </a:rPr>
              <a:t>Adaptive:  R = (40 m)^2 I2 if P(DEGRADED) &gt; 0.45, else r_base^2 I2</a:t>
            </a:r>
          </a:p>
        </p:txBody>
      </p:sp>
      <p:sp>
        <p:nvSpPr>
          <p:cNvPr id="14347" name="TextBox 53"/>
          <p:cNvSpPr txBox="1">
            <a:spLocks noChangeArrowheads="1"/>
          </p:cNvSpPr>
          <p:nvPr/>
        </p:nvSpPr>
        <p:spPr bwMode="auto">
          <a:xfrm>
            <a:off x="534514" y="4308585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5900" dirty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4348" name="TextBox 54"/>
          <p:cNvSpPr txBox="1">
            <a:spLocks noChangeArrowheads="1"/>
          </p:cNvSpPr>
          <p:nvPr/>
        </p:nvSpPr>
        <p:spPr bwMode="auto">
          <a:xfrm>
            <a:off x="504355" y="10730211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5900" dirty="0">
                <a:solidFill>
                  <a:srgbClr val="FFFFFF"/>
                </a:solidFill>
              </a:rPr>
              <a:t>Materials and Methods</a:t>
            </a:r>
          </a:p>
        </p:txBody>
      </p:sp>
      <p:sp>
        <p:nvSpPr>
          <p:cNvPr id="14349" name="TextBox 55"/>
          <p:cNvSpPr txBox="1">
            <a:spLocks noChangeArrowheads="1"/>
          </p:cNvSpPr>
          <p:nvPr/>
        </p:nvSpPr>
        <p:spPr bwMode="auto">
          <a:xfrm>
            <a:off x="14733694" y="4321499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sz="5900">
                <a:solidFill>
                  <a:srgbClr val="FFFFFF"/>
                </a:solidFill>
              </a:rPr>
              <a:t>System Architecture &amp; Pipeline</a:t>
            </a:r>
          </a:p>
        </p:txBody>
      </p:sp>
      <p:sp>
        <p:nvSpPr>
          <p:cNvPr id="14350" name="TextBox 56"/>
          <p:cNvSpPr txBox="1">
            <a:spLocks noChangeArrowheads="1"/>
          </p:cNvSpPr>
          <p:nvPr/>
        </p:nvSpPr>
        <p:spPr bwMode="auto">
          <a:xfrm>
            <a:off x="28875507" y="12890451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sz="5900">
                <a:solidFill>
                  <a:srgbClr val="FFFFFF"/>
                </a:solidFill>
              </a:rPr>
              <a:t>Prediction-Informed EKF</a:t>
            </a:r>
          </a:p>
        </p:txBody>
      </p:sp>
      <p:sp>
        <p:nvSpPr>
          <p:cNvPr id="14353" name="Rectangle 49"/>
          <p:cNvSpPr>
            <a:spLocks noChangeArrowheads="1"/>
          </p:cNvSpPr>
          <p:nvPr/>
        </p:nvSpPr>
        <p:spPr bwMode="auto">
          <a:xfrm>
            <a:off x="504356" y="11882339"/>
            <a:ext cx="13572000" cy="5223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A unified pipeline turns raw multi-city GNSS into 37 engineered features and multi-horizon degradation labels.</a:t>
            </a:r>
          </a:p>
        </p:txBody>
      </p:sp>
      <p:sp>
        <p:nvSpPr>
          <p:cNvPr id="14358" name="Rectangle 49"/>
          <p:cNvSpPr>
            <a:spLocks noChangeArrowheads="1"/>
          </p:cNvSpPr>
          <p:nvPr/>
        </p:nvSpPr>
        <p:spPr bwMode="auto">
          <a:xfrm>
            <a:off x="28989704" y="4321499"/>
            <a:ext cx="13572000" cy="522352"/>
          </a:xfrm>
          <a:prstGeom prst="rect">
            <a:avLst/>
          </a:prstGeom>
          <a:solidFill>
            <a:srgbClr val="637F2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Cross-city zero-shot: SENTINEL holds DEGRADED F1 = 0.75 on unseen Tokyo while Random Forest collapses to 0.15, a 5x generalisation gap.</a:t>
            </a:r>
          </a:p>
        </p:txBody>
      </p:sp>
      <p:sp>
        <p:nvSpPr>
          <p:cNvPr id="14365" name="Rectangle 49"/>
          <p:cNvSpPr>
            <a:spLocks noChangeArrowheads="1"/>
          </p:cNvSpPr>
          <p:nvPr/>
        </p:nvSpPr>
        <p:spPr bwMode="auto">
          <a:xfrm>
            <a:off x="14761940" y="10945019"/>
            <a:ext cx="13572000" cy="522352"/>
          </a:xfrm>
          <a:prstGeom prst="rect">
            <a:avLst/>
          </a:prstGeom>
          <a:solidFill>
            <a:srgbClr val="637F2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Multi-horizon classification (held-out test, n=1,686): strong +5 s performance that degrades gracefully with horizon.</a:t>
            </a:r>
          </a:p>
        </p:txBody>
      </p:sp>
      <p:sp>
        <p:nvSpPr>
          <p:cNvPr id="14366" name="TextBox 36"/>
          <p:cNvSpPr txBox="1">
            <a:spLocks noChangeArrowheads="1"/>
          </p:cNvSpPr>
          <p:nvPr/>
        </p:nvSpPr>
        <p:spPr bwMode="auto">
          <a:xfrm>
            <a:off x="14761940" y="15914787"/>
            <a:ext cx="13572000" cy="7070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5: Macro-F1 and MCC across prediction horizons with bootstrap 95% CI. Performance degrades gracefully as the horizon extends.</a:t>
            </a:r>
            <a:endParaRPr lang="en-US" sz="2000" baseline="30000" dirty="0"/>
          </a:p>
        </p:txBody>
      </p:sp>
      <p:sp>
        <p:nvSpPr>
          <p:cNvPr id="14398" name="Right Arrow 54"/>
          <p:cNvSpPr>
            <a:spLocks noChangeArrowheads="1"/>
          </p:cNvSpPr>
          <p:nvPr/>
        </p:nvSpPr>
        <p:spPr bwMode="auto">
          <a:xfrm rot="5400000">
            <a:off x="607635" y="19628272"/>
            <a:ext cx="452216" cy="226726"/>
          </a:xfrm>
          <a:prstGeom prst="rightArrow">
            <a:avLst>
              <a:gd name="adj1" fmla="val 16667"/>
              <a:gd name="adj2" fmla="val 6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580" tIns="45290" rIns="90580" bIns="45290"/>
          <a:lstStyle/>
          <a:p>
            <a:endParaRPr lang="en-US" dirty="0"/>
          </a:p>
        </p:txBody>
      </p:sp>
      <p:sp>
        <p:nvSpPr>
          <p:cNvPr id="14399" name="Right Arrow 54"/>
          <p:cNvSpPr>
            <a:spLocks noChangeArrowheads="1"/>
          </p:cNvSpPr>
          <p:nvPr/>
        </p:nvSpPr>
        <p:spPr bwMode="auto">
          <a:xfrm rot="10800000">
            <a:off x="10780097" y="18291051"/>
            <a:ext cx="453451" cy="226108"/>
          </a:xfrm>
          <a:prstGeom prst="rightArrow">
            <a:avLst>
              <a:gd name="adj1" fmla="val 16667"/>
              <a:gd name="adj2" fmla="val 60000"/>
            </a:avLst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580" tIns="45290" rIns="90580" bIns="45290"/>
          <a:lstStyle/>
          <a:p>
            <a:endParaRPr lang="en-US" dirty="0"/>
          </a:p>
        </p:txBody>
      </p:sp>
      <p:sp>
        <p:nvSpPr>
          <p:cNvPr id="32" name="Rectangle 49"/>
          <p:cNvSpPr>
            <a:spLocks noChangeArrowheads="1"/>
          </p:cNvSpPr>
          <p:nvPr/>
        </p:nvSpPr>
        <p:spPr bwMode="auto">
          <a:xfrm>
            <a:off x="432348" y="23619643"/>
            <a:ext cx="13572000" cy="52235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Dataset composition across four cities, with Tokyo strictly held out.</a:t>
            </a:r>
            <a:endParaRPr lang="en-GB" sz="2800" dirty="0"/>
          </a:p>
        </p:txBody>
      </p:sp>
      <p:sp>
        <p:nvSpPr>
          <p:cNvPr id="33" name="Rectangle 49"/>
          <p:cNvSpPr>
            <a:spLocks noChangeArrowheads="1"/>
          </p:cNvSpPr>
          <p:nvPr/>
        </p:nvSpPr>
        <p:spPr bwMode="auto">
          <a:xfrm>
            <a:off x="504356" y="16472555"/>
            <a:ext cx="13572000" cy="52235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Classification performance across all horizons on the held-out test set.</a:t>
            </a:r>
            <a:endParaRPr lang="en-GB" sz="2800" dirty="0"/>
          </a:p>
        </p:txBody>
      </p:sp>
      <p:sp>
        <p:nvSpPr>
          <p:cNvPr id="3" name="TextBox 2"/>
          <p:cNvSpPr txBox="1"/>
          <p:nvPr/>
        </p:nvSpPr>
        <p:spPr>
          <a:xfrm>
            <a:off x="541868" y="29092251"/>
            <a:ext cx="137456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39677" indent="-339677" algn="l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1: Reactive monitoring gives 0 s warning. SENTINEL emits CLEAN, WARNING, and DEGRADED labels 30, 15, and 5 s before blockage, enabling pre-emptive fusion decisions.</a:t>
            </a:r>
            <a:endParaRPr lang="en-GB" dirty="0"/>
          </a:p>
        </p:txBody>
      </p:sp>
      <p:sp>
        <p:nvSpPr>
          <p:cNvPr id="35" name="TextBox 34"/>
          <p:cNvSpPr txBox="1"/>
          <p:nvPr/>
        </p:nvSpPr>
        <p:spPr>
          <a:xfrm>
            <a:off x="404244" y="21141168"/>
            <a:ext cx="13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3: Row-normalised confusion matrices (+5 s, +15 s, +30 s). CLEAN recall stays above 0.97 at all horizons; DEGRADED recall falls from 0.85 to 0.73 as the horizon extends.</a:t>
            </a:r>
          </a:p>
        </p:txBody>
      </p:sp>
      <p:sp>
        <p:nvSpPr>
          <p:cNvPr id="42" name="TextBox 56"/>
          <p:cNvSpPr txBox="1">
            <a:spLocks noChangeArrowheads="1"/>
          </p:cNvSpPr>
          <p:nvPr/>
        </p:nvSpPr>
        <p:spPr bwMode="auto">
          <a:xfrm>
            <a:off x="28886001" y="22440650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sz="5900">
                <a:solidFill>
                  <a:srgbClr val="FFFFFF"/>
                </a:solidFill>
              </a:rPr>
              <a:t>Conclusions</a:t>
            </a:r>
          </a:p>
        </p:txBody>
      </p:sp>
      <p:sp>
        <p:nvSpPr>
          <p:cNvPr id="43" name="TextBox 56"/>
          <p:cNvSpPr txBox="1">
            <a:spLocks noChangeArrowheads="1"/>
          </p:cNvSpPr>
          <p:nvPr/>
        </p:nvSpPr>
        <p:spPr bwMode="auto">
          <a:xfrm>
            <a:off x="28875507" y="28346400"/>
            <a:ext cx="13572000" cy="999405"/>
          </a:xfrm>
          <a:prstGeom prst="rect">
            <a:avLst/>
          </a:prstGeom>
          <a:solidFill>
            <a:srgbClr val="00439F"/>
          </a:solidFill>
          <a:ln>
            <a:noFill/>
          </a:ln>
        </p:spPr>
        <p:txBody>
          <a:bodyPr lIns="90580" tIns="45290" rIns="90580" bIns="45290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/>
            <a:r>
              <a:rPr lang="en-US" sz="5900" dirty="0">
                <a:solidFill>
                  <a:srgbClr val="FFFFFF"/>
                </a:solidFill>
              </a:rPr>
              <a:t>Acknowledgments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75508" y="29443680"/>
            <a:ext cx="13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>
                <a:solidFill>
                  <a:srgbClr val="1C222B"/>
                </a:solidFill>
                <a:latin typeface="Calibri"/>
              </a:rPr>
              <a:t>We thank our supervisor Dr. Ahmed Wasiu and the H3I and RCSSTEAP programme at Beihang University for guidance, equipment, and field-collection support throughout the SENTINEL-GNSS pilot project.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9380" y="20020984"/>
            <a:ext cx="134624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A 						B 					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860" y="27218443"/>
            <a:ext cx="1357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2: Dataset composition. Tokyo (49,868 epochs) is strictly held out and never seen during training or validation.</a:t>
            </a:r>
          </a:p>
        </p:txBody>
      </p:sp>
      <p:sp>
        <p:nvSpPr>
          <p:cNvPr id="71" name="Rectangle 49"/>
          <p:cNvSpPr>
            <a:spLocks noChangeArrowheads="1"/>
          </p:cNvSpPr>
          <p:nvPr/>
        </p:nvSpPr>
        <p:spPr bwMode="auto">
          <a:xfrm>
            <a:off x="576364" y="28516187"/>
            <a:ext cx="13572000" cy="522352"/>
          </a:xfrm>
          <a:prstGeom prst="rect">
            <a:avLst/>
          </a:prstGeom>
          <a:solidFill>
            <a:srgbClr val="A6A6A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Reactive monitoring versus proactive prediction.</a:t>
            </a:r>
            <a:endParaRPr lang="en-GB" sz="2800" dirty="0"/>
          </a:p>
        </p:txBody>
      </p:sp>
      <p:sp>
        <p:nvSpPr>
          <p:cNvPr id="77" name="Rectangle 49"/>
          <p:cNvSpPr>
            <a:spLocks noChangeArrowheads="1"/>
          </p:cNvSpPr>
          <p:nvPr/>
        </p:nvSpPr>
        <p:spPr bwMode="auto">
          <a:xfrm>
            <a:off x="14761940" y="17138923"/>
            <a:ext cx="13572000" cy="522352"/>
          </a:xfrm>
          <a:prstGeom prst="rect">
            <a:avLst/>
          </a:prstGeom>
          <a:solidFill>
            <a:srgbClr val="637F2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Ablation: both the Transformer and the LSTM are necessary; receiver_tier is the most important feature.</a:t>
            </a:r>
          </a:p>
        </p:txBody>
      </p:sp>
      <p:sp>
        <p:nvSpPr>
          <p:cNvPr id="14378" name="TextBox 14377"/>
          <p:cNvSpPr txBox="1"/>
          <p:nvPr/>
        </p:nvSpPr>
        <p:spPr>
          <a:xfrm>
            <a:off x="14973300" y="10008533"/>
            <a:ext cx="13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4: End-to-end SENTINEL-GNSS pipeline, from raw GNSS signals to multi-horizon AV-planner inputs via the Transformer-LSTM.</a:t>
            </a:r>
          </a:p>
        </p:txBody>
      </p:sp>
      <p:sp>
        <p:nvSpPr>
          <p:cNvPr id="14337" name="TextBox 14336"/>
          <p:cNvSpPr txBox="1"/>
          <p:nvPr/>
        </p:nvSpPr>
        <p:spPr>
          <a:xfrm>
            <a:off x="14761940" y="23108036"/>
            <a:ext cx="1353750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6: Ablation across architecture variants (Macro-F1, MCC, DEGRADED-F1). Each component contributes independently to performance.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4668500" y="25194419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4977964" y="18148776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A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1265289" y="18147035"/>
            <a:ext cx="12735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113" name="Rectangle 49"/>
          <p:cNvSpPr>
            <a:spLocks noChangeArrowheads="1"/>
          </p:cNvSpPr>
          <p:nvPr/>
        </p:nvSpPr>
        <p:spPr bwMode="auto">
          <a:xfrm>
            <a:off x="14761940" y="24250580"/>
            <a:ext cx="13572000" cy="522352"/>
          </a:xfrm>
          <a:prstGeom prst="rect">
            <a:avLst/>
          </a:prstGeom>
          <a:solidFill>
            <a:srgbClr val="637F26"/>
          </a:solidFill>
          <a:ln>
            <a:noFill/>
          </a:ln>
        </p:spPr>
        <p:txBody>
          <a:bodyPr wrap="square" lIns="90580" tIns="45290" rIns="90580" bIns="4529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600" b="1" i="0">
                <a:solidFill>
                  <a:srgbClr val="003366"/>
                </a:solidFill>
                <a:latin typeface="Calibri"/>
              </a:rPr>
              <a:t>Prediction-informed EKF keeps the trajectory accurate through blockage.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9088100" y="25270619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000000"/>
                </a:solidFill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768627" y="23643450"/>
            <a:ext cx="1357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130000"/>
              </a:lnSpc>
              <a:spcAft>
                <a:spcPts val="400"/>
              </a:spcAft>
              <a:buFont typeface="Arial"/>
              <a:buChar char="•"/>
            </a:pPr>
            <a:r>
              <a:rPr sz="1600" b="0">
                <a:solidFill>
                  <a:srgbClr val="1C222B"/>
                </a:solidFill>
                <a:latin typeface="Calibri"/>
              </a:rPr>
              <a:t>Key results: first system to predict GNSS degradation 5 to 30 s ahead; Macro-F1 = 0.821 at +5 s (DEGRADED recall 0.847); cross-city DEGRADED F1 of 0.75 vs 0.15 for RF; 48.8% degraded-RMSE reduction via prediction-informed EKF; 0.039 ms inference for all horizons.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C222B"/>
                </a:solidFill>
                <a:latin typeface="Calibri"/>
              </a:rPr>
              <a:t>Honest disclosure: RF and XGBoost beat SENTINEL in-domain (F1 0.926 vs 0.821), but cross-city generalisation is the deployment-relevant metric.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1600" b="0">
                <a:solidFill>
                  <a:srgbClr val="1C222B"/>
                </a:solidFill>
                <a:latin typeface="Calibri"/>
              </a:rPr>
              <a:t>Key finding: no single fusion method dominates every environment, so environment-aware method selection is a productive direction.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947516" y="4969571"/>
            <a:ext cx="5052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A</a:t>
            </a:r>
          </a:p>
        </p:txBody>
      </p:sp>
      <p:sp>
        <p:nvSpPr>
          <p:cNvPr id="115" name="Rectangle 18"/>
          <p:cNvSpPr>
            <a:spLocks noChangeArrowheads="1"/>
          </p:cNvSpPr>
          <p:nvPr/>
        </p:nvSpPr>
        <p:spPr bwMode="auto">
          <a:xfrm>
            <a:off x="576364" y="5473627"/>
            <a:ext cx="13572000" cy="2850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572" tIns="45286" rIns="90572" bIns="45286">
            <a:spAutoFit/>
          </a:bodyPr>
          <a:lstStyle/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GNSS is the only drift-free absolute position source for autonomous vehicles. At 60 km/h, a 5-second positioning gap can place the vehicle in the wrong lane or miss a junction.</a:t>
            </a:r>
            <a:r>
              <a:rPr lang="en-US" sz="2200" b="0" i="0" dirty="0">
                <a:solidFill>
                  <a:srgbClr val="1C222B"/>
                </a:solidFill>
                <a:latin typeface="Calibri"/>
              </a:rPr>
              <a:t> </a:t>
            </a:r>
            <a:endParaRPr lang="en-GB" dirty="0"/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In urban areas GNSS fails silently: NLOS multipath injects 10 to 200 m errors while the receiver still reports a 'valid' fix. Existing monitors (RAIM, Q-codes, ML classifiers) are reactive, acting only after degradation begins.</a:t>
            </a:r>
          </a:p>
          <a:p>
            <a:pPr algn="just">
              <a:lnSpc>
                <a:spcPct val="130000"/>
              </a:lnSpc>
              <a:spcAft>
                <a:spcPts val="600"/>
              </a:spcAft>
            </a:pPr>
            <a:r>
              <a:rPr sz="2200" b="0" i="0" dirty="0">
                <a:solidFill>
                  <a:srgbClr val="1C222B"/>
                </a:solidFill>
                <a:latin typeface="Calibri"/>
              </a:rPr>
              <a:t>SENTINEL-GNSS instead predicts degradation 5 to 30 s in advance, giving the controller time to pre-activate dead reckoning.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7345116" y="27076027"/>
            <a:ext cx="30444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*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234978" y="12936955"/>
            <a:ext cx="3834660" cy="3046988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Insert a Diagram or image to help explain your methods</a:t>
            </a: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0" name="TextBox 119"/>
          <p:cNvSpPr txBox="1"/>
          <p:nvPr/>
        </p:nvSpPr>
        <p:spPr>
          <a:xfrm>
            <a:off x="432348" y="24256443"/>
            <a:ext cx="13572000" cy="2677656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Insert a Diagram or image to help explain your methods</a:t>
            </a: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21" name="TextBox 120"/>
          <p:cNvSpPr txBox="1"/>
          <p:nvPr/>
        </p:nvSpPr>
        <p:spPr>
          <a:xfrm>
            <a:off x="14704136" y="5735714"/>
            <a:ext cx="13572000" cy="4154984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spAutoFit/>
          </a:bodyPr>
          <a:lstStyle/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2200" b="0">
                <a:solidFill>
                  <a:srgbClr val="1C222B"/>
                </a:solidFill>
                <a:latin typeface="Calibri"/>
              </a:rPr>
              <a:t>SENTINEL-GNSS is a hybrid Transformer-LSTM. The Transformer (2 layers, 8 heads, d_model=128) reads global patterns across the 30 s window, while the stacked LSTM (hidden=256) tracks the directional approach to blockage as C/N0 declines and residuals grow. Three heads forecast +5 / +15 / +30 s in one forward pass.</a:t>
            </a:r>
          </a:p>
          <a:p>
            <a:pPr algn="just">
              <a:lnSpc>
                <a:spcPct val="130000"/>
              </a:lnSpc>
              <a:spcAft>
                <a:spcPts val="400"/>
              </a:spcAft>
            </a:pPr>
            <a:r>
              <a:rPr sz="2200" b="1">
                <a:solidFill>
                  <a:srgbClr val="1C222B"/>
                </a:solidFill>
                <a:latin typeface="Calibri"/>
              </a:rPr>
              <a:t>Inference &amp; Deployment: </a:t>
            </a:r>
            <a:r>
              <a:rPr sz="2200" b="0">
                <a:solidFill>
                  <a:srgbClr val="1C222B"/>
                </a:solidFill>
                <a:latin typeface="Calibri"/>
              </a:rPr>
              <a:t>1.46 M parameters, 0.039 ms per sample, all three horizons in one pass, 10.5x faster than three tree models, within a 10 Hz vehicle-compute budget.</a:t>
            </a:r>
          </a:p>
        </p:txBody>
      </p:sp>
      <p:pic>
        <p:nvPicPr>
          <p:cNvPr id="14362" name="Picture 1436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683956" y="18631797"/>
            <a:ext cx="13811250" cy="4286250"/>
          </a:xfrm>
          <a:prstGeom prst="rect">
            <a:avLst/>
          </a:prstGeom>
        </p:spPr>
      </p:pic>
      <p:pic>
        <p:nvPicPr>
          <p:cNvPr id="14363" name="Picture 1436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704136" y="25764559"/>
            <a:ext cx="9039225" cy="3924300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14668500" y="30204908"/>
            <a:ext cx="135375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8: SENTINEL trajectory (blue) hugs ground truth through blockage while the Fixed-R EKF and raw GNSS diverge.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28875508" y="12188653"/>
            <a:ext cx="135375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0" i="1">
                <a:solidFill>
                  <a:srgbClr val="444A52"/>
                </a:solidFill>
                <a:latin typeface="Calibri"/>
              </a:rPr>
              <a:t>Fig. 7: Cross-city DEGRADED-class F1 at +5 s. SENTINEL 0.75 versus RF 0.15, a 5x generalisation gap that widens further at +15 s and +30 s.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35062852" y="30358080"/>
            <a:ext cx="7330098" cy="1200329"/>
          </a:xfrm>
          <a:prstGeom prst="rect">
            <a:avLst/>
          </a:prstGeom>
          <a:solidFill>
            <a:schemeClr val="bg1"/>
          </a:solidFill>
          <a:ln w="762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 defTabSz="942975"/>
            <a:r>
              <a:rPr lang="en-CA" dirty="0">
                <a:solidFill>
                  <a:schemeClr val="bg1">
                    <a:lumMod val="50000"/>
                  </a:schemeClr>
                </a:solidFill>
              </a:rPr>
              <a:t>Add the logo(s) from your funding organization</a:t>
            </a:r>
          </a:p>
          <a:p>
            <a:pPr algn="ctr" defTabSz="942975"/>
            <a:endParaRPr lang="en-CA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endParaRPr lang="en-CA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EDECCCB-F5D0-6D7C-D201-6BA1A3CCDE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7646" y="111873"/>
            <a:ext cx="3132348" cy="3148454"/>
          </a:xfrm>
          <a:prstGeom prst="rect">
            <a:avLst/>
          </a:prstGeom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B4DAAA8-4EE1-A4D0-F06C-4CB1DE874614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705558" y="127683"/>
            <a:ext cx="3116300" cy="31163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5BF51BD-8C16-9B13-EF73-7B7D41C1CFE5}"/>
              </a:ext>
            </a:extLst>
          </p:cNvPr>
          <p:cNvSpPr txBox="1"/>
          <p:nvPr/>
        </p:nvSpPr>
        <p:spPr>
          <a:xfrm>
            <a:off x="9259008" y="422367"/>
            <a:ext cx="225385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bg1"/>
                </a:solidFill>
              </a:rPr>
              <a:t>AI-Based Proactive Prediction Of GNSS Signal Degradation for Autonomous Vehicle Navigation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90A3310-5F67-98A7-813A-E2ECC246CE0C}"/>
              </a:ext>
            </a:extLst>
          </p:cNvPr>
          <p:cNvSpPr/>
          <p:nvPr/>
        </p:nvSpPr>
        <p:spPr bwMode="auto">
          <a:xfrm>
            <a:off x="4050860" y="0"/>
            <a:ext cx="34257696" cy="3265774"/>
          </a:xfrm>
          <a:prstGeom prst="rect">
            <a:avLst/>
          </a:prstGeom>
          <a:solidFill>
            <a:srgbClr val="00439F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highlight>
                <a:srgbClr val="426CAE"/>
              </a:highlight>
              <a:latin typeface="Arial" pitchFamily="-108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5CC2E4-198A-37AF-2B14-0605467FF539}"/>
              </a:ext>
            </a:extLst>
          </p:cNvPr>
          <p:cNvSpPr txBox="1"/>
          <p:nvPr/>
        </p:nvSpPr>
        <p:spPr>
          <a:xfrm>
            <a:off x="5328892" y="394158"/>
            <a:ext cx="3315053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latin typeface="Arial Black" panose="020B0A04020102020204" pitchFamily="34" charset="0"/>
              </a:rPr>
              <a:t>AI-Based Proactive Prediction Of GNSS Signal Degradation For Autonomous Vehicle Navigation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182D7A8-B575-567F-3F7D-64FC82A2312E}"/>
              </a:ext>
            </a:extLst>
          </p:cNvPr>
          <p:cNvSpPr txBox="1"/>
          <p:nvPr/>
        </p:nvSpPr>
        <p:spPr>
          <a:xfrm>
            <a:off x="8345531" y="1418038"/>
            <a:ext cx="273419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fontAlgn="t" latinLnBrk="0" hangingPunct="1">
              <a:spcBef>
                <a:spcPts val="0"/>
              </a:spcBef>
              <a:spcAft>
                <a:spcPts val="0"/>
              </a:spcAft>
            </a:pP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Ojerinde Joel Segun, 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Mustapha Ibrahim Ishola,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Ogunlade Joshua Oluwaseun,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 err="1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Ingeriyinkindi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Claudine,</a:t>
            </a:r>
            <a:r>
              <a:rPr lang="en-US" sz="3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600" i="0" u="none" strike="noStrike" kern="1200" dirty="0">
                <a:solidFill>
                  <a:srgbClr val="FFFFFF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Rashid Md Harun Or</a:t>
            </a:r>
            <a:endParaRPr lang="en-US" sz="3600" i="0" u="none" strike="noStrike" dirty="0"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7629472-1477-E422-4FDF-F13BB4749E87}"/>
              </a:ext>
            </a:extLst>
          </p:cNvPr>
          <p:cNvSpPr txBox="1"/>
          <p:nvPr/>
        </p:nvSpPr>
        <p:spPr>
          <a:xfrm>
            <a:off x="11028606" y="2082573"/>
            <a:ext cx="218983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3600" u="none" strike="noStrike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Regional Centre for Space Science and Technology Education in Asia and the Pacific | </a:t>
            </a:r>
            <a:r>
              <a:rPr lang="en-US" sz="36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Beihang</a:t>
            </a:r>
            <a:r>
              <a:rPr lang="en-US" sz="3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University</a:t>
            </a:r>
            <a:endParaRPr lang="en-US" sz="3600" i="0" u="none" strike="noStrike" dirty="0">
              <a:solidFill>
                <a:schemeClr val="bg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400" name="Table 14399"/>
          <p:cNvGraphicFramePr>
            <a:graphicFrameLocks noGrp="1"/>
          </p:cNvGraphicFramePr>
          <p:nvPr/>
        </p:nvGraphicFramePr>
        <p:xfrm>
          <a:off x="14721840" y="11978640"/>
          <a:ext cx="1353312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Horizon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Macro-F1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DEGRADED-F1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300" b="1">
                          <a:solidFill>
                            <a:srgbClr val="FFFFFF"/>
                          </a:solidFill>
                          <a:latin typeface="Calibri"/>
                        </a:rPr>
                        <a:t>MCC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+5 s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0.821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0.718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0.773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+15 s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0.741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0.583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0.691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algn="l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+30 s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0.783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0.629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200" b="0">
                          <a:solidFill>
                            <a:srgbClr val="1C222B"/>
                          </a:solidFill>
                          <a:latin typeface="Calibri"/>
                        </a:rPr>
                        <a:t>0.731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401" name="TextBox 14400"/>
          <p:cNvSpPr txBox="1"/>
          <p:nvPr/>
        </p:nvSpPr>
        <p:spPr>
          <a:xfrm>
            <a:off x="14721840" y="15179040"/>
            <a:ext cx="13533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i="1">
                <a:solidFill>
                  <a:srgbClr val="444A52"/>
                </a:solidFill>
                <a:latin typeface="Calibri"/>
              </a:rPr>
              <a:t>Table 1: Multi-horizon classification metrics. Held-out test (n=1,686); 95% CI via 1,000 bootstrap iterations. DEGRADED recall = 0.847 at +5 s.</a:t>
            </a:r>
          </a:p>
        </p:txBody>
      </p:sp>
      <p:graphicFrame>
        <p:nvGraphicFramePr>
          <p:cNvPr id="14403" name="Table 14402"/>
          <p:cNvGraphicFramePr>
            <a:graphicFrameLocks noGrp="1"/>
          </p:cNvGraphicFramePr>
          <p:nvPr/>
        </p:nvGraphicFramePr>
        <p:xfrm>
          <a:off x="29032200" y="16916400"/>
          <a:ext cx="13533120" cy="178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35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Environment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FFFFFF"/>
                          </a:solidFill>
                          <a:latin typeface="Calibri"/>
                        </a:rPr>
                        <a:t>RMSE red.</a:t>
                      </a:r>
                    </a:p>
                  </a:txBody>
                  <a:tcPr marL="109728" marR="73152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EKF Fixed-R + SENTINEL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Trimble Shinjuku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48.8%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Huber EKF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u-blox Shinjuku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25.2%</a:t>
                      </a:r>
                    </a:p>
                  </a:txBody>
                  <a:tcPr marL="109728" marR="73152" anchor="ctr">
                    <a:solidFill>
                      <a:srgbClr val="DAE5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770">
                <a:tc>
                  <a:txBody>
                    <a:bodyPr/>
                    <a:lstStyle/>
                    <a:p>
                      <a:pPr algn="l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Student-t PF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Odaiba harbour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1C222B"/>
                          </a:solidFill>
                          <a:latin typeface="Calibri"/>
                        </a:rPr>
                        <a:t>40.1%</a:t>
                      </a:r>
                    </a:p>
                  </a:txBody>
                  <a:tcPr marL="109728" marR="73152" anchor="ctr">
                    <a:solidFill>
                      <a:srgbClr val="EC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Blank Presentation">
  <a:themeElements>
    <a:clrScheme name="Solstice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Blank Presentation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08" charset="0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10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7394EC1-E879-44C1-B991-638B445E64C2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af7e8f62-3041-4644-8b60-4750dce6cd42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1196</Words>
  <Application>Microsoft Office PowerPoint</Application>
  <PresentationFormat>Custom</PresentationFormat>
  <Paragraphs>111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Arial</vt:lpstr>
      <vt:lpstr>Arial Black</vt:lpstr>
      <vt:lpstr>Calibri</vt:lpstr>
      <vt:lpstr>Consolas</vt:lpstr>
      <vt:lpstr>Times</vt:lpstr>
      <vt:lpstr>Times New Roman</vt:lpstr>
      <vt:lpstr>Blank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Template</dc:title>
  <dc:creator/>
  <cp:lastModifiedBy/>
  <cp:revision>1</cp:revision>
  <dcterms:created xsi:type="dcterms:W3CDTF">2015-02-13T18:11:21Z</dcterms:created>
  <dcterms:modified xsi:type="dcterms:W3CDTF">2026-06-30T11:37:56Z</dcterms:modified>
</cp:coreProperties>
</file>