
<file path=[Content_Types].xml><?xml version="1.0" encoding="utf-8"?>
<Types xmlns="http://schemas.openxmlformats.org/package/2006/content-types">
  <Default Extension="emf" ContentType="image/x-emf"/>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34"/>
  </p:notesMasterIdLst>
  <p:sldIdLst>
    <p:sldId id="313" r:id="rId2"/>
    <p:sldId id="257" r:id="rId3"/>
    <p:sldId id="327" r:id="rId4"/>
    <p:sldId id="315" r:id="rId5"/>
    <p:sldId id="260" r:id="rId6"/>
    <p:sldId id="316" r:id="rId7"/>
    <p:sldId id="263" r:id="rId8"/>
    <p:sldId id="317" r:id="rId9"/>
    <p:sldId id="318" r:id="rId10"/>
    <p:sldId id="319" r:id="rId11"/>
    <p:sldId id="266" r:id="rId12"/>
    <p:sldId id="321" r:id="rId13"/>
    <p:sldId id="322" r:id="rId14"/>
    <p:sldId id="324" r:id="rId15"/>
    <p:sldId id="325" r:id="rId16"/>
    <p:sldId id="332" r:id="rId17"/>
    <p:sldId id="333" r:id="rId18"/>
    <p:sldId id="292" r:id="rId19"/>
    <p:sldId id="293" r:id="rId20"/>
    <p:sldId id="294" r:id="rId21"/>
    <p:sldId id="297" r:id="rId22"/>
    <p:sldId id="273" r:id="rId23"/>
    <p:sldId id="328" r:id="rId24"/>
    <p:sldId id="330" r:id="rId25"/>
    <p:sldId id="298" r:id="rId26"/>
    <p:sldId id="331" r:id="rId27"/>
    <p:sldId id="304" r:id="rId28"/>
    <p:sldId id="305" r:id="rId29"/>
    <p:sldId id="276" r:id="rId30"/>
    <p:sldId id="303" r:id="rId31"/>
    <p:sldId id="274" r:id="rId32"/>
    <p:sldId id="280" r:id="rId33"/>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0836"/>
    <p:restoredTop sz="94751"/>
  </p:normalViewPr>
  <p:slideViewPr>
    <p:cSldViewPr snapToGrid="0" snapToObjects="1">
      <p:cViewPr varScale="1">
        <p:scale>
          <a:sx n="119" d="100"/>
          <a:sy n="119" d="100"/>
        </p:scale>
        <p:origin x="376" y="19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presProps" Target="presProps.xml"/><Relationship Id="rId8" Type="http://schemas.openxmlformats.org/officeDocument/2006/relationships/slide" Target="slides/slide7.xml"/><Relationship Id="rId3"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F9C0949-C823-9546-B609-6FA0E32F4A5E}" type="datetimeFigureOut">
              <a:rPr lang="en-US" smtClean="0"/>
              <a:t>6/4/26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E9B195B-D80B-F543-88FA-918A8B18C3FD}" type="slidenum">
              <a:rPr lang="en-US" smtClean="0"/>
              <a:t>‹#›</a:t>
            </a:fld>
            <a:endParaRPr lang="en-US"/>
          </a:p>
        </p:txBody>
      </p:sp>
    </p:spTree>
    <p:extLst>
      <p:ext uri="{BB962C8B-B14F-4D97-AF65-F5344CB8AC3E}">
        <p14:creationId xmlns:p14="http://schemas.microsoft.com/office/powerpoint/2010/main" val="371601540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Start with the data, because that's where most of the work went. The key idea is on the right of this diagram: three quite different sources all funnel into one unified labelling schema. Beijing is our own field collection on a Septentrio, with the five controlled scenarios A through E. Hong Kong is the public UrbanNav data — that's where the receiver diversity comes from, nine-plus types. And Tokyo we deliberately hold out, so it's a genuine cross-city test. Altogether: just under a hundred and fifty thousand labelled epochs, four cities, nine-plus receivers from survey-grade down to a phone chip, all sampled once a second.</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Here's the actual problem in one picture. The vertical line is 'now'. To its left is the thirty seconds of signal we observe; to the right is what we predict. The model isn't classifying the present — it's forecasting. As the signal quality drops, it passes from CLEAN into WARNING and eventually DEGRADED, and we read off the predicted class at plus five, plus fifteen, and plus thirty seconds. So in this example it's already flagging a warning at five seconds and a full degradation by thirty — that early amber dot is the whole value proposition.</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the model, the feature pipeline. Raw RINEX and NMEA come in once a second and become thirty-seven engineered features in seven groups — position, signal strength, satellite count, DOP, receiver status, temporal patterns, and atmospheric. We stack thirty seconds of those into a thirty-by-thirty-seven tensor with a sliding window, and that tensor is what the model consumes — producing predictions at plus five, fifteen, and thirty seconds. Nothing exotic here on purpose: the features are all standard receiver outputs, which keeps the whole thing reproducible on any of our nine-plus receiver types.</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the model itself. The thirty-by-thirty-seven window is linearly projected and positionally encoded, then runs through two Transformer encoder layers — eight heads, dimension one-twenty-eight — to capture structure across the window, then two BiLSTM layers to model the directional trajectory toward failure, then four output heads: one per horizon plus an auxiliary head. The whole thing is just one-point-four-six million parameters in a single forward pass. Class imbalance is handled in the loss — focal loss with class weights one, two, five — not with resampling.</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46603305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2123865-24A8-E242-54E0-DCB57FD1BCC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554F111-E5FE-9D98-DA8C-150AA0E64FF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94E9862-C321-6FFC-6A8C-7C48B143062A}"/>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4B15047E-9370-1E43-177B-D6C245331AE6}"/>
              </a:ext>
            </a:extLst>
          </p:cNvPr>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62813366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457189" indent="-457189">
              <a:buSzPct val="100000"/>
              <a:buChar char="•"/>
            </a:pPr>
            <a:r>
              <a:rPr lang="en-US" sz="1200" dirty="0">
                <a:solidFill>
                  <a:srgbClr val="0A1F44"/>
                </a:solidFill>
                <a:latin typeface="Calibri" pitchFamily="34" charset="0"/>
                <a:ea typeface="Calibri" pitchFamily="34" charset="-122"/>
                <a:cs typeface="Calibri" pitchFamily="34" charset="-120"/>
              </a:rPr>
              <a:t>Model attends strongly to the most recent timesteps before failure</a:t>
            </a:r>
            <a:endParaRPr lang="en-US" sz="1200" dirty="0"/>
          </a:p>
          <a:p>
            <a:pPr marL="457189" indent="-457189">
              <a:buSzPct val="100000"/>
              <a:buChar char="•"/>
            </a:pPr>
            <a:r>
              <a:rPr lang="en-US" sz="1200" dirty="0">
                <a:solidFill>
                  <a:srgbClr val="0A1F44"/>
                </a:solidFill>
                <a:latin typeface="Calibri" pitchFamily="34" charset="0"/>
                <a:ea typeface="Calibri" pitchFamily="34" charset="-122"/>
                <a:cs typeface="Calibri" pitchFamily="34" charset="-120"/>
              </a:rPr>
              <a:t>Top saliency features: C/N₀, PDOP, </a:t>
            </a:r>
            <a:r>
              <a:rPr lang="en-US" sz="1200" dirty="0" err="1">
                <a:solidFill>
                  <a:srgbClr val="0A1F44"/>
                </a:solidFill>
                <a:latin typeface="Calibri" pitchFamily="34" charset="0"/>
                <a:ea typeface="Calibri" pitchFamily="34" charset="-122"/>
                <a:cs typeface="Calibri" pitchFamily="34" charset="-120"/>
              </a:rPr>
              <a:t>num_satellites</a:t>
            </a:r>
            <a:r>
              <a:rPr lang="en-US" sz="1200" dirty="0">
                <a:solidFill>
                  <a:srgbClr val="0A1F44"/>
                </a:solidFill>
                <a:latin typeface="Calibri" pitchFamily="34" charset="0"/>
                <a:ea typeface="Calibri" pitchFamily="34" charset="-122"/>
                <a:cs typeface="Calibri" pitchFamily="34" charset="-120"/>
              </a:rPr>
              <a:t>, fix quality</a:t>
            </a:r>
            <a:endParaRPr lang="en-US" sz="1200" dirty="0"/>
          </a:p>
          <a:p>
            <a:pPr marL="457189" indent="-457189">
              <a:buSzPct val="100000"/>
              <a:buChar char="•"/>
            </a:pPr>
            <a:r>
              <a:rPr lang="en-US" sz="1200" dirty="0">
                <a:solidFill>
                  <a:srgbClr val="0A1F44"/>
                </a:solidFill>
                <a:latin typeface="Calibri" pitchFamily="34" charset="0"/>
                <a:ea typeface="Calibri" pitchFamily="34" charset="-122"/>
                <a:cs typeface="Calibri" pitchFamily="34" charset="-120"/>
              </a:rPr>
              <a:t>Tree models cannot provide this mechanistic transparency</a:t>
            </a:r>
            <a:endParaRPr lang="en-US" sz="1200" dirty="0"/>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6/4/26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6/4/26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6/4/26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6/4/26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6/4/26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6/4/26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6/4/26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6/4/26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6/4/26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6/4/26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6/4/26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cSld name="DEFAULT">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428598185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6/4/26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2.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2.xml"/><Relationship Id="rId4" Type="http://schemas.openxmlformats.org/officeDocument/2006/relationships/image" Target="../media/image3.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12.xml"/><Relationship Id="rId5" Type="http://schemas.openxmlformats.org/officeDocument/2006/relationships/image" Target="../media/image4.jpg"/><Relationship Id="rId4" Type="http://schemas.openxmlformats.org/officeDocument/2006/relationships/image" Target="../media/image2.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12.xml"/><Relationship Id="rId5" Type="http://schemas.openxmlformats.org/officeDocument/2006/relationships/image" Target="../media/image2.png"/><Relationship Id="rId4" Type="http://schemas.openxmlformats.org/officeDocument/2006/relationships/image" Target="../media/image5.png"/></Relationships>
</file>

<file path=ppt/slides/_rels/slide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12.xml"/><Relationship Id="rId5" Type="http://schemas.openxmlformats.org/officeDocument/2006/relationships/image" Target="../media/image6.png"/><Relationship Id="rId4" Type="http://schemas.openxmlformats.org/officeDocument/2006/relationships/image" Target="../media/image2.png"/></Relationships>
</file>

<file path=ppt/slides/_rels/slide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12.xml"/><Relationship Id="rId5" Type="http://schemas.openxmlformats.org/officeDocument/2006/relationships/image" Target="../media/image2.png"/><Relationship Id="rId4" Type="http://schemas.openxmlformats.org/officeDocument/2006/relationships/image" Target="../media/image7.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xml"/><Relationship Id="rId1" Type="http://schemas.openxmlformats.org/officeDocument/2006/relationships/slideLayout" Target="../slideLayouts/slideLayout12.xml"/><Relationship Id="rId5" Type="http://schemas.openxmlformats.org/officeDocument/2006/relationships/image" Target="../media/image8.png"/><Relationship Id="rId4" Type="http://schemas.openxmlformats.org/officeDocument/2006/relationships/image" Target="../media/image2.png"/></Relationships>
</file>

<file path=ppt/slides/_rels/slide1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xml"/><Relationship Id="rId1" Type="http://schemas.openxmlformats.org/officeDocument/2006/relationships/slideLayout" Target="../slideLayouts/slideLayout12.xml"/><Relationship Id="rId6" Type="http://schemas.openxmlformats.org/officeDocument/2006/relationships/image" Target="../media/image10.png"/><Relationship Id="rId5" Type="http://schemas.openxmlformats.org/officeDocument/2006/relationships/image" Target="../media/image9.emf"/><Relationship Id="rId4" Type="http://schemas.openxmlformats.org/officeDocument/2006/relationships/image" Target="../media/image2.png"/></Relationships>
</file>

<file path=ppt/slides/_rels/slide1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8.xml"/><Relationship Id="rId1" Type="http://schemas.openxmlformats.org/officeDocument/2006/relationships/slideLayout" Target="../slideLayouts/slideLayout12.xml"/></Relationships>
</file>

<file path=ppt/slides/_rels/slide1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9.xml"/><Relationship Id="rId1" Type="http://schemas.openxmlformats.org/officeDocument/2006/relationships/slideLayout" Target="../slideLayouts/slideLayout12.xml"/><Relationship Id="rId5" Type="http://schemas.openxmlformats.org/officeDocument/2006/relationships/image" Target="../media/image11.emf"/><Relationship Id="rId4" Type="http://schemas.openxmlformats.org/officeDocument/2006/relationships/image" Target="../media/image2.png"/></Relationships>
</file>

<file path=ppt/slides/_rels/slide1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0.xml"/><Relationship Id="rId1" Type="http://schemas.openxmlformats.org/officeDocument/2006/relationships/slideLayout" Target="../slideLayouts/slideLayout12.xml"/><Relationship Id="rId5" Type="http://schemas.openxmlformats.org/officeDocument/2006/relationships/image" Target="../media/image12.png"/><Relationship Id="rId4" Type="http://schemas.openxmlformats.org/officeDocument/2006/relationships/image" Target="../media/image2.png"/></Relationships>
</file>

<file path=ppt/slides/_rels/slide1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1.xml"/><Relationship Id="rId1" Type="http://schemas.openxmlformats.org/officeDocument/2006/relationships/slideLayout" Target="../slideLayouts/slideLayout12.xml"/><Relationship Id="rId5" Type="http://schemas.openxmlformats.org/officeDocument/2006/relationships/image" Target="../media/image13.png"/><Relationship Id="rId4" Type="http://schemas.openxmlformats.org/officeDocument/2006/relationships/image" Target="../media/image2.png"/></Relationships>
</file>

<file path=ppt/slides/_rels/slide1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2.xml"/><Relationship Id="rId1" Type="http://schemas.openxmlformats.org/officeDocument/2006/relationships/slideLayout" Target="../slideLayouts/slideLayout12.xml"/><Relationship Id="rId5" Type="http://schemas.openxmlformats.org/officeDocument/2006/relationships/image" Target="../media/image14.png"/><Relationship Id="rId4" Type="http://schemas.openxmlformats.org/officeDocument/2006/relationships/image" Target="../media/image2.png"/></Relationships>
</file>

<file path=ppt/slides/_rels/slide1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3.xml"/><Relationship Id="rId1" Type="http://schemas.openxmlformats.org/officeDocument/2006/relationships/slideLayout" Target="../slideLayouts/slideLayout12.xml"/><Relationship Id="rId6" Type="http://schemas.openxmlformats.org/officeDocument/2006/relationships/image" Target="../media/image16.png"/><Relationship Id="rId5" Type="http://schemas.openxmlformats.org/officeDocument/2006/relationships/image" Target="../media/image15.png"/><Relationship Id="rId4" Type="http://schemas.openxmlformats.org/officeDocument/2006/relationships/image" Target="../media/image2.png"/></Relationships>
</file>

<file path=ppt/slides/_rels/slide2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4.xml"/><Relationship Id="rId1" Type="http://schemas.openxmlformats.org/officeDocument/2006/relationships/slideLayout" Target="../slideLayouts/slideLayout12.xml"/><Relationship Id="rId5" Type="http://schemas.openxmlformats.org/officeDocument/2006/relationships/image" Target="../media/image17.png"/><Relationship Id="rId4" Type="http://schemas.openxmlformats.org/officeDocument/2006/relationships/image" Target="../media/image2.png"/></Relationships>
</file>

<file path=ppt/slides/_rels/slide2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5.xml"/><Relationship Id="rId1" Type="http://schemas.openxmlformats.org/officeDocument/2006/relationships/slideLayout" Target="../slideLayouts/slideLayout12.xml"/><Relationship Id="rId5" Type="http://schemas.openxmlformats.org/officeDocument/2006/relationships/image" Target="../media/image18.emf"/><Relationship Id="rId4" Type="http://schemas.openxmlformats.org/officeDocument/2006/relationships/image" Target="../media/image2.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png"/><Relationship Id="rId1" Type="http://schemas.openxmlformats.org/officeDocument/2006/relationships/slideLayout" Target="../slideLayouts/slideLayout7.xml"/><Relationship Id="rId4" Type="http://schemas.openxmlformats.org/officeDocument/2006/relationships/image" Target="../media/image2.png"/></Relationships>
</file>

<file path=ppt/slides/_rels/slide24.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png"/><Relationship Id="rId1" Type="http://schemas.openxmlformats.org/officeDocument/2006/relationships/slideLayout" Target="../slideLayouts/slideLayout7.xml"/><Relationship Id="rId4" Type="http://schemas.openxmlformats.org/officeDocument/2006/relationships/image" Target="../media/image2.png"/></Relationships>
</file>

<file path=ppt/slides/_rels/slide2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6.xml"/><Relationship Id="rId1" Type="http://schemas.openxmlformats.org/officeDocument/2006/relationships/slideLayout" Target="../slideLayouts/slideLayout12.xml"/><Relationship Id="rId4" Type="http://schemas.openxmlformats.org/officeDocument/2006/relationships/image" Target="../media/image2.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7.xml"/><Relationship Id="rId1" Type="http://schemas.openxmlformats.org/officeDocument/2006/relationships/slideLayout" Target="../slideLayouts/slideLayout12.xml"/><Relationship Id="rId4" Type="http://schemas.openxmlformats.org/officeDocument/2006/relationships/image" Target="../media/image2.png"/></Relationships>
</file>

<file path=ppt/slides/_rels/slide2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8.xml"/><Relationship Id="rId1" Type="http://schemas.openxmlformats.org/officeDocument/2006/relationships/slideLayout" Target="../slideLayouts/slideLayout12.xml"/><Relationship Id="rId4" Type="http://schemas.openxmlformats.org/officeDocument/2006/relationships/image" Target="../media/image2.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9.xml"/><Relationship Id="rId1" Type="http://schemas.openxmlformats.org/officeDocument/2006/relationships/slideLayout" Target="../slideLayouts/slideLayout12.xml"/><Relationship Id="rId4" Type="http://schemas.openxmlformats.org/officeDocument/2006/relationships/image" Target="../media/image2.png"/></Relationships>
</file>

<file path=ppt/slides/_rels/slide3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0.xml"/><Relationship Id="rId1" Type="http://schemas.openxmlformats.org/officeDocument/2006/relationships/slideLayout" Target="../slideLayouts/slideLayout12.xml"/><Relationship Id="rId4" Type="http://schemas.openxmlformats.org/officeDocument/2006/relationships/image" Target="../media/image2.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Image 0" descr="preencoded.png">
            <a:extLst>
              <a:ext uri="{FF2B5EF4-FFF2-40B4-BE49-F238E27FC236}">
                <a16:creationId xmlns:a16="http://schemas.microsoft.com/office/drawing/2014/main" id="{78EE36E0-7FAA-382F-D779-23FFCCE1F5FB}"/>
              </a:ext>
            </a:extLst>
          </p:cNvPr>
          <p:cNvPicPr>
            <a:picLocks noChangeAspect="1"/>
          </p:cNvPicPr>
          <p:nvPr/>
        </p:nvPicPr>
        <p:blipFill>
          <a:blip r:embed="rId3"/>
          <a:srcRect/>
          <a:stretch/>
        </p:blipFill>
        <p:spPr>
          <a:xfrm>
            <a:off x="0" y="-33408"/>
            <a:ext cx="12191928" cy="6857928"/>
          </a:xfrm>
          <a:prstGeom prst="rect">
            <a:avLst/>
          </a:prstGeom>
        </p:spPr>
      </p:pic>
      <p:sp>
        <p:nvSpPr>
          <p:cNvPr id="30" name="TopLabel"/>
          <p:cNvSpPr>
            <a:spLocks noGrp="1"/>
          </p:cNvSpPr>
          <p:nvPr/>
        </p:nvSpPr>
        <p:spPr>
          <a:xfrm>
            <a:off x="1266667" y="66667"/>
            <a:ext cx="9333333" cy="600000"/>
          </a:xfrm>
          <a:prstGeom prst="rect">
            <a:avLst/>
          </a:prstGeom>
          <a:noFill/>
          <a:ln>
            <a:noFill/>
          </a:ln>
        </p:spPr>
        <p:txBody>
          <a:bodyPr wrap="square" lIns="0" tIns="0" rIns="0" bIns="0" rtlCol="0" anchor="ctr">
            <a:normAutofit/>
          </a:bodyPr>
          <a:lstStyle/>
          <a:p>
            <a:endParaRPr lang="en-US" sz="1867" b="1" dirty="0">
              <a:solidFill>
                <a:srgbClr val="FFFFFF"/>
              </a:solidFill>
              <a:latin typeface="Calibri"/>
              <a:ea typeface="Calibri"/>
              <a:cs typeface="Calibri"/>
            </a:endParaRPr>
          </a:p>
        </p:txBody>
      </p:sp>
      <p:sp>
        <p:nvSpPr>
          <p:cNvPr id="31" name="MainTitle"/>
          <p:cNvSpPr>
            <a:spLocks noGrp="1"/>
          </p:cNvSpPr>
          <p:nvPr/>
        </p:nvSpPr>
        <p:spPr>
          <a:xfrm>
            <a:off x="515799" y="427045"/>
            <a:ext cx="7442868" cy="1839622"/>
          </a:xfrm>
          <a:prstGeom prst="rect">
            <a:avLst/>
          </a:prstGeom>
          <a:noFill/>
          <a:ln>
            <a:noFill/>
          </a:ln>
        </p:spPr>
        <p:txBody>
          <a:bodyPr wrap="square" lIns="0" tIns="0" rIns="240000" bIns="160000" rtlCol="0" anchor="t">
            <a:normAutofit fontScale="85000" lnSpcReduction="20000"/>
          </a:bodyPr>
          <a:lstStyle/>
          <a:p>
            <a:pPr>
              <a:lnSpc>
                <a:spcPct val="110000"/>
              </a:lnSpc>
            </a:pPr>
            <a:r>
              <a:rPr lang="en-US" sz="5200" b="1" dirty="0">
                <a:solidFill>
                  <a:srgbClr val="003893"/>
                </a:solidFill>
                <a:latin typeface="Calibri"/>
                <a:ea typeface="Calibri"/>
                <a:cs typeface="Calibri"/>
              </a:rPr>
              <a:t>AI-Based Proactive Prediction </a:t>
            </a:r>
          </a:p>
          <a:p>
            <a:pPr>
              <a:lnSpc>
                <a:spcPct val="110000"/>
              </a:lnSpc>
            </a:pPr>
            <a:r>
              <a:rPr lang="en-US" sz="5200" b="1" dirty="0">
                <a:solidFill>
                  <a:srgbClr val="003893"/>
                </a:solidFill>
                <a:latin typeface="Calibri"/>
                <a:ea typeface="Calibri"/>
                <a:cs typeface="Calibri"/>
              </a:rPr>
              <a:t>Of GNSS Signal Degradation</a:t>
            </a:r>
          </a:p>
          <a:p>
            <a:pPr>
              <a:lnSpc>
                <a:spcPct val="110000"/>
              </a:lnSpc>
            </a:pPr>
            <a:r>
              <a:rPr lang="en-US" sz="3300" i="1" dirty="0">
                <a:solidFill>
                  <a:srgbClr val="555555"/>
                </a:solidFill>
                <a:latin typeface="Calibri"/>
                <a:ea typeface="Calibri"/>
                <a:cs typeface="Calibri"/>
              </a:rPr>
              <a:t>for Autonomous Vehicle Navigation</a:t>
            </a:r>
          </a:p>
        </p:txBody>
      </p:sp>
      <p:sp>
        <p:nvSpPr>
          <p:cNvPr id="32" name="AccentLine"/>
          <p:cNvSpPr/>
          <p:nvPr/>
        </p:nvSpPr>
        <p:spPr>
          <a:xfrm>
            <a:off x="609600" y="5199342"/>
            <a:ext cx="2400000" cy="60960"/>
          </a:xfrm>
          <a:prstGeom prst="rect">
            <a:avLst/>
          </a:prstGeom>
          <a:solidFill>
            <a:srgbClr val="4FC3F7"/>
          </a:solidFill>
          <a:ln w="12700">
            <a:solidFill>
              <a:srgbClr val="4FC3F7"/>
            </a:solidFill>
          </a:ln>
        </p:spPr>
      </p:sp>
      <p:sp>
        <p:nvSpPr>
          <p:cNvPr id="33" name="TeamInfo"/>
          <p:cNvSpPr>
            <a:spLocks noGrp="1"/>
          </p:cNvSpPr>
          <p:nvPr/>
        </p:nvSpPr>
        <p:spPr>
          <a:xfrm>
            <a:off x="609600" y="5332675"/>
            <a:ext cx="5173133" cy="506667"/>
          </a:xfrm>
          <a:prstGeom prst="rect">
            <a:avLst/>
          </a:prstGeom>
          <a:noFill/>
          <a:ln>
            <a:noFill/>
          </a:ln>
        </p:spPr>
        <p:txBody>
          <a:bodyPr wrap="square" lIns="0" tIns="0" rIns="240000" bIns="160000" rtlCol="0" anchor="t">
            <a:normAutofit/>
          </a:bodyPr>
          <a:lstStyle/>
          <a:p>
            <a:r>
              <a:rPr lang="en-US" sz="1867" b="1" dirty="0">
                <a:solidFill>
                  <a:srgbClr val="003893"/>
                </a:solidFill>
                <a:latin typeface="Calibri"/>
                <a:ea typeface="Calibri"/>
                <a:cs typeface="Calibri"/>
              </a:rPr>
              <a:t>Team Pilot Project</a:t>
            </a:r>
            <a:r>
              <a:rPr lang="en-US" sz="1867" dirty="0">
                <a:solidFill>
                  <a:srgbClr val="999999"/>
                </a:solidFill>
                <a:latin typeface="Calibri"/>
                <a:ea typeface="Calibri"/>
                <a:cs typeface="Calibri"/>
              </a:rPr>
              <a:t>   |   </a:t>
            </a:r>
            <a:r>
              <a:rPr lang="en-US" sz="1867" dirty="0">
                <a:solidFill>
                  <a:srgbClr val="333333"/>
                </a:solidFill>
                <a:latin typeface="Calibri"/>
                <a:ea typeface="Calibri"/>
                <a:cs typeface="Calibri"/>
              </a:rPr>
              <a:t>Beihang University (BUAA)</a:t>
            </a:r>
          </a:p>
        </p:txBody>
      </p:sp>
      <p:sp>
        <p:nvSpPr>
          <p:cNvPr id="34" name="Supervisor"/>
          <p:cNvSpPr>
            <a:spLocks noGrp="1"/>
          </p:cNvSpPr>
          <p:nvPr/>
        </p:nvSpPr>
        <p:spPr>
          <a:xfrm>
            <a:off x="609601" y="5866009"/>
            <a:ext cx="4470400" cy="506667"/>
          </a:xfrm>
          <a:prstGeom prst="rect">
            <a:avLst/>
          </a:prstGeom>
          <a:noFill/>
          <a:ln>
            <a:noFill/>
          </a:ln>
        </p:spPr>
        <p:txBody>
          <a:bodyPr wrap="square" lIns="0" tIns="0" rIns="240000" bIns="160000" rtlCol="0" anchor="t">
            <a:normAutofit/>
          </a:bodyPr>
          <a:lstStyle/>
          <a:p>
            <a:r>
              <a:rPr lang="en-US" sz="1667" b="1" dirty="0">
                <a:solidFill>
                  <a:srgbClr val="555555"/>
                </a:solidFill>
                <a:latin typeface="Calibri"/>
                <a:ea typeface="Calibri"/>
                <a:cs typeface="Calibri"/>
              </a:rPr>
              <a:t>Supervisor:</a:t>
            </a:r>
            <a:r>
              <a:rPr lang="en-US" sz="1667" dirty="0">
                <a:solidFill>
                  <a:srgbClr val="333333"/>
                </a:solidFill>
                <a:latin typeface="Calibri"/>
                <a:ea typeface="Calibri"/>
                <a:cs typeface="Calibri"/>
              </a:rPr>
              <a:t> Dr. Ahmed Wasiu</a:t>
            </a:r>
            <a:r>
              <a:rPr lang="en-US" sz="1667" dirty="0">
                <a:solidFill>
                  <a:srgbClr val="999999"/>
                </a:solidFill>
                <a:latin typeface="Calibri"/>
                <a:ea typeface="Calibri"/>
                <a:cs typeface="Calibri"/>
              </a:rPr>
              <a:t>   |   </a:t>
            </a:r>
            <a:r>
              <a:rPr lang="en-US" sz="1667" dirty="0">
                <a:solidFill>
                  <a:srgbClr val="555555"/>
                </a:solidFill>
                <a:latin typeface="Calibri"/>
                <a:ea typeface="Calibri"/>
                <a:cs typeface="Calibri"/>
              </a:rPr>
              <a:t>June 2026</a:t>
            </a:r>
          </a:p>
        </p:txBody>
      </p:sp>
      <p:sp>
        <p:nvSpPr>
          <p:cNvPr id="35" name="Tagline"/>
          <p:cNvSpPr>
            <a:spLocks noGrp="1"/>
          </p:cNvSpPr>
          <p:nvPr/>
        </p:nvSpPr>
        <p:spPr>
          <a:xfrm>
            <a:off x="564381" y="6344520"/>
            <a:ext cx="6666667" cy="480000"/>
          </a:xfrm>
          <a:prstGeom prst="rect">
            <a:avLst/>
          </a:prstGeom>
          <a:noFill/>
          <a:ln>
            <a:noFill/>
          </a:ln>
        </p:spPr>
        <p:txBody>
          <a:bodyPr wrap="square" lIns="0" tIns="0" rIns="240000" bIns="160000" rtlCol="0" anchor="t">
            <a:normAutofit/>
          </a:bodyPr>
          <a:lstStyle/>
          <a:p>
            <a:r>
              <a:rPr lang="en-US" sz="1467" i="1" dirty="0">
                <a:solidFill>
                  <a:srgbClr val="888888"/>
                </a:solidFill>
                <a:latin typeface="Calibri"/>
                <a:ea typeface="Calibri"/>
                <a:cs typeface="Calibri"/>
              </a:rPr>
              <a:t>Predicting GNSS degradation before it impacts safety</a:t>
            </a:r>
          </a:p>
        </p:txBody>
      </p:sp>
      <p:sp>
        <p:nvSpPr>
          <p:cNvPr id="40" name="HeroPanel"/>
          <p:cNvSpPr/>
          <p:nvPr/>
        </p:nvSpPr>
        <p:spPr>
          <a:xfrm>
            <a:off x="7794735" y="1153403"/>
            <a:ext cx="4000000" cy="4533333"/>
          </a:xfrm>
          <a:prstGeom prst="rect">
            <a:avLst/>
          </a:prstGeom>
          <a:solidFill>
            <a:srgbClr val="003893"/>
          </a:solidFill>
          <a:ln>
            <a:noFill/>
          </a:ln>
        </p:spPr>
      </p:sp>
      <p:sp>
        <p:nvSpPr>
          <p:cNvPr id="41" name="HeroStrip"/>
          <p:cNvSpPr/>
          <p:nvPr/>
        </p:nvSpPr>
        <p:spPr>
          <a:xfrm>
            <a:off x="7794735" y="1153403"/>
            <a:ext cx="4000000" cy="133333"/>
          </a:xfrm>
          <a:prstGeom prst="rect">
            <a:avLst/>
          </a:prstGeom>
          <a:solidFill>
            <a:srgbClr val="4FC3F7"/>
          </a:solidFill>
          <a:ln>
            <a:noFill/>
          </a:ln>
        </p:spPr>
      </p:sp>
      <p:sp>
        <p:nvSpPr>
          <p:cNvPr id="42" name="HeroLabel"/>
          <p:cNvSpPr>
            <a:spLocks noGrp="1"/>
          </p:cNvSpPr>
          <p:nvPr/>
        </p:nvSpPr>
        <p:spPr>
          <a:xfrm>
            <a:off x="7794735" y="1486736"/>
            <a:ext cx="4000000" cy="373333"/>
          </a:xfrm>
          <a:prstGeom prst="rect">
            <a:avLst/>
          </a:prstGeom>
          <a:noFill/>
          <a:ln>
            <a:noFill/>
          </a:ln>
        </p:spPr>
        <p:txBody>
          <a:bodyPr wrap="square" lIns="0" tIns="0" rIns="0" bIns="0" rtlCol="0" anchor="ctr">
            <a:normAutofit/>
          </a:bodyPr>
          <a:lstStyle/>
          <a:p>
            <a:pPr algn="ctr"/>
            <a:r>
              <a:rPr lang="en-US" sz="1467" b="1" dirty="0">
                <a:solidFill>
                  <a:srgbClr val="4FC3F7"/>
                </a:solidFill>
                <a:latin typeface="Calibri"/>
                <a:ea typeface="Calibri"/>
                <a:cs typeface="Calibri"/>
              </a:rPr>
              <a:t>THE PROMISE</a:t>
            </a:r>
          </a:p>
        </p:txBody>
      </p:sp>
      <p:sp>
        <p:nvSpPr>
          <p:cNvPr id="43" name="HeroStat"/>
          <p:cNvSpPr>
            <a:spLocks noGrp="1"/>
          </p:cNvSpPr>
          <p:nvPr/>
        </p:nvSpPr>
        <p:spPr>
          <a:xfrm>
            <a:off x="7794735" y="1953403"/>
            <a:ext cx="4000000" cy="1200000"/>
          </a:xfrm>
          <a:prstGeom prst="rect">
            <a:avLst/>
          </a:prstGeom>
          <a:noFill/>
          <a:ln>
            <a:noFill/>
          </a:ln>
        </p:spPr>
        <p:txBody>
          <a:bodyPr wrap="square" lIns="0" tIns="0" rIns="0" bIns="0" rtlCol="0" anchor="ctr">
            <a:normAutofit lnSpcReduction="10000"/>
          </a:bodyPr>
          <a:lstStyle/>
          <a:p>
            <a:pPr algn="ctr"/>
            <a:r>
              <a:rPr lang="en-US" sz="8666" b="1" dirty="0">
                <a:solidFill>
                  <a:srgbClr val="FFFFFF"/>
                </a:solidFill>
                <a:latin typeface="Calibri"/>
                <a:ea typeface="Calibri"/>
                <a:cs typeface="Calibri"/>
              </a:rPr>
              <a:t>5–30</a:t>
            </a:r>
          </a:p>
        </p:txBody>
      </p:sp>
      <p:sp>
        <p:nvSpPr>
          <p:cNvPr id="44" name="HeroUnit"/>
          <p:cNvSpPr>
            <a:spLocks noGrp="1"/>
          </p:cNvSpPr>
          <p:nvPr/>
        </p:nvSpPr>
        <p:spPr>
          <a:xfrm>
            <a:off x="7794735" y="3126736"/>
            <a:ext cx="4000000" cy="426667"/>
          </a:xfrm>
          <a:prstGeom prst="rect">
            <a:avLst/>
          </a:prstGeom>
          <a:noFill/>
          <a:ln>
            <a:noFill/>
          </a:ln>
        </p:spPr>
        <p:txBody>
          <a:bodyPr wrap="square" lIns="0" tIns="0" rIns="0" bIns="0" rtlCol="0" anchor="ctr">
            <a:normAutofit/>
          </a:bodyPr>
          <a:lstStyle/>
          <a:p>
            <a:pPr algn="ctr"/>
            <a:r>
              <a:rPr lang="en-US" sz="1733" i="1" dirty="0">
                <a:solidFill>
                  <a:srgbClr val="4FC3F7"/>
                </a:solidFill>
                <a:latin typeface="Calibri"/>
                <a:ea typeface="Calibri"/>
                <a:cs typeface="Calibri"/>
              </a:rPr>
              <a:t>seconds advance warning</a:t>
            </a:r>
          </a:p>
        </p:txBody>
      </p:sp>
      <p:sp>
        <p:nvSpPr>
          <p:cNvPr id="45" name="HeroDiv"/>
          <p:cNvSpPr/>
          <p:nvPr/>
        </p:nvSpPr>
        <p:spPr>
          <a:xfrm>
            <a:off x="9128069" y="3660069"/>
            <a:ext cx="1333333" cy="24000"/>
          </a:xfrm>
          <a:prstGeom prst="rect">
            <a:avLst/>
          </a:prstGeom>
          <a:solidFill>
            <a:srgbClr val="4FC3F7"/>
          </a:solidFill>
          <a:ln>
            <a:noFill/>
          </a:ln>
        </p:spPr>
      </p:sp>
      <p:sp>
        <p:nvSpPr>
          <p:cNvPr id="46" name="HeroBullets"/>
          <p:cNvSpPr>
            <a:spLocks noGrp="1"/>
          </p:cNvSpPr>
          <p:nvPr/>
        </p:nvSpPr>
        <p:spPr>
          <a:xfrm>
            <a:off x="8061402" y="3820069"/>
            <a:ext cx="3466667" cy="1600000"/>
          </a:xfrm>
          <a:prstGeom prst="rect">
            <a:avLst/>
          </a:prstGeom>
          <a:noFill/>
          <a:ln>
            <a:noFill/>
          </a:ln>
        </p:spPr>
        <p:txBody>
          <a:bodyPr wrap="square" lIns="0" tIns="0" rIns="240000" bIns="160000" rtlCol="0" anchor="t">
            <a:normAutofit/>
          </a:bodyPr>
          <a:lstStyle/>
          <a:p>
            <a:pPr>
              <a:lnSpc>
                <a:spcPct val="130000"/>
              </a:lnSpc>
            </a:pPr>
            <a:r>
              <a:rPr lang="en-US" sz="1600" b="1" dirty="0">
                <a:solidFill>
                  <a:srgbClr val="4FC3F7"/>
                </a:solidFill>
                <a:latin typeface="Calibri"/>
                <a:ea typeface="Calibri"/>
                <a:cs typeface="Calibri"/>
              </a:rPr>
              <a:t>●  </a:t>
            </a:r>
            <a:r>
              <a:rPr lang="en-US" sz="1467" dirty="0">
                <a:solidFill>
                  <a:srgbClr val="FFFFFF"/>
                </a:solidFill>
                <a:latin typeface="Calibri"/>
                <a:ea typeface="Calibri"/>
                <a:cs typeface="Calibri"/>
              </a:rPr>
              <a:t>Predict, not detect</a:t>
            </a:r>
          </a:p>
          <a:p>
            <a:pPr>
              <a:lnSpc>
                <a:spcPct val="130000"/>
              </a:lnSpc>
            </a:pPr>
            <a:r>
              <a:rPr lang="en-US" sz="1600" b="1" dirty="0">
                <a:solidFill>
                  <a:srgbClr val="4FC3F7"/>
                </a:solidFill>
                <a:latin typeface="Calibri"/>
                <a:ea typeface="Calibri"/>
                <a:cs typeface="Calibri"/>
              </a:rPr>
              <a:t>●  </a:t>
            </a:r>
            <a:r>
              <a:rPr lang="en-US" sz="1467" dirty="0">
                <a:solidFill>
                  <a:srgbClr val="FFFFFF"/>
                </a:solidFill>
                <a:latin typeface="Calibri"/>
                <a:ea typeface="Calibri"/>
                <a:cs typeface="Calibri"/>
              </a:rPr>
              <a:t>Multi-horizon: 5 / 15 / 30 s</a:t>
            </a:r>
          </a:p>
          <a:p>
            <a:pPr>
              <a:lnSpc>
                <a:spcPct val="130000"/>
              </a:lnSpc>
            </a:pPr>
            <a:r>
              <a:rPr lang="en-US" sz="1600" b="1" dirty="0">
                <a:solidFill>
                  <a:srgbClr val="4FC3F7"/>
                </a:solidFill>
                <a:latin typeface="Calibri"/>
                <a:ea typeface="Calibri"/>
                <a:cs typeface="Calibri"/>
              </a:rPr>
              <a:t>●  </a:t>
            </a:r>
            <a:r>
              <a:rPr lang="en-US" sz="1467" dirty="0">
                <a:solidFill>
                  <a:srgbClr val="FFFFFF"/>
                </a:solidFill>
                <a:latin typeface="Calibri"/>
                <a:ea typeface="Calibri"/>
                <a:cs typeface="Calibri"/>
              </a:rPr>
              <a:t>Cross-city generalisation</a:t>
            </a:r>
          </a:p>
        </p:txBody>
      </p:sp>
      <p:sp>
        <p:nvSpPr>
          <p:cNvPr id="47" name="HeroBottomStrip"/>
          <p:cNvSpPr/>
          <p:nvPr/>
        </p:nvSpPr>
        <p:spPr>
          <a:xfrm>
            <a:off x="7794735" y="5606736"/>
            <a:ext cx="4000000" cy="80000"/>
          </a:xfrm>
          <a:prstGeom prst="rect">
            <a:avLst/>
          </a:prstGeom>
          <a:solidFill>
            <a:srgbClr val="4FC3F7"/>
          </a:solidFill>
          <a:ln>
            <a:noFill/>
          </a:ln>
        </p:spPr>
      </p:sp>
      <p:graphicFrame>
        <p:nvGraphicFramePr>
          <p:cNvPr id="7" name="Table 0">
            <a:extLst>
              <a:ext uri="{FF2B5EF4-FFF2-40B4-BE49-F238E27FC236}">
                <a16:creationId xmlns:a16="http://schemas.microsoft.com/office/drawing/2014/main" id="{EC4B48A4-51DA-9894-4C29-2AB32072C139}"/>
              </a:ext>
            </a:extLst>
          </p:cNvPr>
          <p:cNvGraphicFramePr>
            <a:graphicFrameLocks noGrp="1"/>
          </p:cNvGraphicFramePr>
          <p:nvPr>
            <p:extLst>
              <p:ext uri="{D42A27DB-BD31-4B8C-83A1-F6EECF244321}">
                <p14:modId xmlns:p14="http://schemas.microsoft.com/office/powerpoint/2010/main" val="922112488"/>
              </p:ext>
            </p:extLst>
          </p:nvPr>
        </p:nvGraphicFramePr>
        <p:xfrm>
          <a:off x="459234" y="2323670"/>
          <a:ext cx="6917933" cy="2341594"/>
        </p:xfrm>
        <a:graphic>
          <a:graphicData uri="http://schemas.openxmlformats.org/drawingml/2006/table">
            <a:tbl>
              <a:tblPr/>
              <a:tblGrid>
                <a:gridCol w="728120">
                  <a:extLst>
                    <a:ext uri="{9D8B030D-6E8A-4147-A177-3AD203B41FA5}">
                      <a16:colId xmlns:a16="http://schemas.microsoft.com/office/drawing/2014/main" val="20000"/>
                    </a:ext>
                  </a:extLst>
                </a:gridCol>
                <a:gridCol w="3288151">
                  <a:extLst>
                    <a:ext uri="{9D8B030D-6E8A-4147-A177-3AD203B41FA5}">
                      <a16:colId xmlns:a16="http://schemas.microsoft.com/office/drawing/2014/main" val="20001"/>
                    </a:ext>
                  </a:extLst>
                </a:gridCol>
                <a:gridCol w="2901662">
                  <a:extLst>
                    <a:ext uri="{9D8B030D-6E8A-4147-A177-3AD203B41FA5}">
                      <a16:colId xmlns:a16="http://schemas.microsoft.com/office/drawing/2014/main" val="20002"/>
                    </a:ext>
                  </a:extLst>
                </a:gridCol>
              </a:tblGrid>
              <a:tr h="390454">
                <a:tc>
                  <a:txBody>
                    <a:bodyPr/>
                    <a:lstStyle/>
                    <a:p>
                      <a:pPr marL="0" indent="0" algn="ctr">
                        <a:buNone/>
                      </a:pPr>
                      <a:r>
                        <a:rPr lang="en-US" sz="1400" b="1" dirty="0">
                          <a:solidFill>
                            <a:srgbClr val="FFFFFF"/>
                          </a:solidFill>
                          <a:latin typeface="Calibri" pitchFamily="34" charset="0"/>
                          <a:ea typeface="Calibri" pitchFamily="34" charset="-122"/>
                          <a:cs typeface="Calibri" pitchFamily="34" charset="-120"/>
                        </a:rPr>
                        <a:t>S/N</a:t>
                      </a:r>
                      <a:endParaRPr lang="en-US" sz="1400" dirty="0">
                        <a:latin typeface="Calibri" charset="0"/>
                        <a:ea typeface="Calibri" charset="0"/>
                        <a:cs typeface="Calibri" charset="0"/>
                      </a:endParaRPr>
                    </a:p>
                  </a:txBody>
                  <a:tcPr>
                    <a:lnL w="6350" cap="flat" cmpd="sng" algn="ctr">
                      <a:solidFill>
                        <a:srgbClr val="2E4A6B"/>
                      </a:solidFill>
                      <a:prstDash val="solid"/>
                      <a:round/>
                      <a:headEnd type="none" w="med" len="med"/>
                      <a:tailEnd type="none" w="med" len="med"/>
                    </a:lnL>
                    <a:lnR w="6350" cap="flat" cmpd="sng" algn="ctr">
                      <a:solidFill>
                        <a:srgbClr val="2E4A6B"/>
                      </a:solidFill>
                      <a:prstDash val="solid"/>
                      <a:round/>
                      <a:headEnd type="none" w="med" len="med"/>
                      <a:tailEnd type="none" w="med" len="med"/>
                    </a:lnR>
                    <a:lnT w="6350" cap="flat" cmpd="sng" algn="ctr">
                      <a:solidFill>
                        <a:srgbClr val="2E4A6B"/>
                      </a:solidFill>
                      <a:prstDash val="solid"/>
                      <a:round/>
                      <a:headEnd type="none" w="med" len="med"/>
                      <a:tailEnd type="none" w="med" len="med"/>
                    </a:lnT>
                    <a:lnB w="6350" cap="flat" cmpd="sng" algn="ctr">
                      <a:solidFill>
                        <a:srgbClr val="2E4A6B"/>
                      </a:solidFill>
                      <a:prstDash val="solid"/>
                      <a:round/>
                      <a:headEnd type="none" w="med" len="med"/>
                      <a:tailEnd type="none" w="med" len="med"/>
                    </a:lnB>
                    <a:solidFill>
                      <a:srgbClr val="4FC3F7"/>
                    </a:solidFill>
                  </a:tcPr>
                </a:tc>
                <a:tc>
                  <a:txBody>
                    <a:bodyPr/>
                    <a:lstStyle/>
                    <a:p>
                      <a:pPr marL="0" indent="0" algn="ctr">
                        <a:buNone/>
                      </a:pPr>
                      <a:r>
                        <a:rPr lang="en-US" sz="1400" b="1" dirty="0">
                          <a:solidFill>
                            <a:srgbClr val="FFFFFF"/>
                          </a:solidFill>
                          <a:latin typeface="Calibri" pitchFamily="34" charset="0"/>
                          <a:ea typeface="Calibri" pitchFamily="34" charset="-122"/>
                          <a:cs typeface="Calibri" pitchFamily="34" charset="-120"/>
                        </a:rPr>
                        <a:t>Name</a:t>
                      </a:r>
                      <a:endParaRPr lang="en-US" sz="1400" dirty="0">
                        <a:latin typeface="Calibri" charset="0"/>
                        <a:ea typeface="Calibri" charset="0"/>
                        <a:cs typeface="Calibri" charset="0"/>
                      </a:endParaRPr>
                    </a:p>
                  </a:txBody>
                  <a:tcPr>
                    <a:lnL w="6350" cap="flat" cmpd="sng" algn="ctr">
                      <a:solidFill>
                        <a:srgbClr val="2E4A6B"/>
                      </a:solidFill>
                      <a:prstDash val="solid"/>
                      <a:round/>
                      <a:headEnd type="none" w="med" len="med"/>
                      <a:tailEnd type="none" w="med" len="med"/>
                    </a:lnL>
                    <a:lnR w="6350" cap="flat" cmpd="sng" algn="ctr">
                      <a:solidFill>
                        <a:srgbClr val="2E4A6B"/>
                      </a:solidFill>
                      <a:prstDash val="solid"/>
                      <a:round/>
                      <a:headEnd type="none" w="med" len="med"/>
                      <a:tailEnd type="none" w="med" len="med"/>
                    </a:lnR>
                    <a:lnT w="6350" cap="flat" cmpd="sng" algn="ctr">
                      <a:solidFill>
                        <a:srgbClr val="2E4A6B"/>
                      </a:solidFill>
                      <a:prstDash val="solid"/>
                      <a:round/>
                      <a:headEnd type="none" w="med" len="med"/>
                      <a:tailEnd type="none" w="med" len="med"/>
                    </a:lnT>
                    <a:lnB w="6350" cap="flat" cmpd="sng" algn="ctr">
                      <a:solidFill>
                        <a:srgbClr val="2E4A6B"/>
                      </a:solidFill>
                      <a:prstDash val="solid"/>
                      <a:round/>
                      <a:headEnd type="none" w="med" len="med"/>
                      <a:tailEnd type="none" w="med" len="med"/>
                    </a:lnB>
                    <a:solidFill>
                      <a:srgbClr val="4FC3F7"/>
                    </a:solidFill>
                  </a:tcPr>
                </a:tc>
                <a:tc>
                  <a:txBody>
                    <a:bodyPr/>
                    <a:lstStyle/>
                    <a:p>
                      <a:pPr marL="0" indent="0" algn="ctr">
                        <a:buNone/>
                      </a:pPr>
                      <a:r>
                        <a:rPr lang="en-US" sz="1400" b="1" dirty="0">
                          <a:solidFill>
                            <a:srgbClr val="FFFFFF"/>
                          </a:solidFill>
                          <a:latin typeface="Calibri" pitchFamily="34" charset="0"/>
                          <a:ea typeface="Calibri" pitchFamily="34" charset="-122"/>
                          <a:cs typeface="Calibri" pitchFamily="34" charset="-120"/>
                        </a:rPr>
                        <a:t>Student ID</a:t>
                      </a:r>
                      <a:endParaRPr lang="en-US" sz="1400" dirty="0">
                        <a:latin typeface="Calibri" charset="0"/>
                        <a:ea typeface="Calibri" charset="0"/>
                        <a:cs typeface="Calibri" charset="0"/>
                      </a:endParaRPr>
                    </a:p>
                  </a:txBody>
                  <a:tcPr>
                    <a:lnL w="6350" cap="flat" cmpd="sng" algn="ctr">
                      <a:solidFill>
                        <a:srgbClr val="2E4A6B"/>
                      </a:solidFill>
                      <a:prstDash val="solid"/>
                      <a:round/>
                      <a:headEnd type="none" w="med" len="med"/>
                      <a:tailEnd type="none" w="med" len="med"/>
                    </a:lnL>
                    <a:lnR w="6350" cap="flat" cmpd="sng" algn="ctr">
                      <a:solidFill>
                        <a:srgbClr val="2E4A6B"/>
                      </a:solidFill>
                      <a:prstDash val="solid"/>
                      <a:round/>
                      <a:headEnd type="none" w="med" len="med"/>
                      <a:tailEnd type="none" w="med" len="med"/>
                    </a:lnR>
                    <a:lnT w="6350" cap="flat" cmpd="sng" algn="ctr">
                      <a:solidFill>
                        <a:srgbClr val="2E4A6B"/>
                      </a:solidFill>
                      <a:prstDash val="solid"/>
                      <a:round/>
                      <a:headEnd type="none" w="med" len="med"/>
                      <a:tailEnd type="none" w="med" len="med"/>
                    </a:lnT>
                    <a:lnB w="6350" cap="flat" cmpd="sng" algn="ctr">
                      <a:solidFill>
                        <a:srgbClr val="2E4A6B"/>
                      </a:solidFill>
                      <a:prstDash val="solid"/>
                      <a:round/>
                      <a:headEnd type="none" w="med" len="med"/>
                      <a:tailEnd type="none" w="med" len="med"/>
                    </a:lnB>
                    <a:solidFill>
                      <a:srgbClr val="4FC3F7"/>
                    </a:solidFill>
                  </a:tcPr>
                </a:tc>
                <a:extLst>
                  <a:ext uri="{0D108BD9-81ED-4DB2-BD59-A6C34878D82A}">
                    <a16:rowId xmlns:a16="http://schemas.microsoft.com/office/drawing/2014/main" val="10000"/>
                  </a:ext>
                </a:extLst>
              </a:tr>
              <a:tr h="390228">
                <a:tc>
                  <a:txBody>
                    <a:bodyPr/>
                    <a:lstStyle/>
                    <a:p>
                      <a:pPr marL="0" indent="0" algn="l">
                        <a:buNone/>
                      </a:pPr>
                      <a:r>
                        <a:rPr lang="en-US" sz="1400" b="1" dirty="0">
                          <a:solidFill>
                            <a:srgbClr val="FFFFFF"/>
                          </a:solidFill>
                          <a:latin typeface="Calibri" pitchFamily="34" charset="0"/>
                          <a:ea typeface="Calibri" pitchFamily="34" charset="-122"/>
                          <a:cs typeface="Calibri" pitchFamily="34" charset="-120"/>
                        </a:rPr>
                        <a:t>1</a:t>
                      </a:r>
                      <a:endParaRPr lang="en-US" sz="1400" b="1" dirty="0">
                        <a:latin typeface="Calibri" charset="0"/>
                        <a:ea typeface="Calibri" charset="0"/>
                        <a:cs typeface="Calibri" charset="0"/>
                      </a:endParaRPr>
                    </a:p>
                  </a:txBody>
                  <a:tcPr>
                    <a:lnL w="6350" cap="flat" cmpd="sng" algn="ctr">
                      <a:solidFill>
                        <a:srgbClr val="2E4A6B"/>
                      </a:solidFill>
                      <a:prstDash val="solid"/>
                      <a:round/>
                      <a:headEnd type="none" w="med" len="med"/>
                      <a:tailEnd type="none" w="med" len="med"/>
                    </a:lnL>
                    <a:lnR w="6350" cap="flat" cmpd="sng" algn="ctr">
                      <a:solidFill>
                        <a:srgbClr val="2E4A6B"/>
                      </a:solidFill>
                      <a:prstDash val="solid"/>
                      <a:round/>
                      <a:headEnd type="none" w="med" len="med"/>
                      <a:tailEnd type="none" w="med" len="med"/>
                    </a:lnR>
                    <a:lnT w="6350" cap="flat" cmpd="sng" algn="ctr">
                      <a:solidFill>
                        <a:srgbClr val="2E4A6B"/>
                      </a:solidFill>
                      <a:prstDash val="solid"/>
                      <a:round/>
                      <a:headEnd type="none" w="med" len="med"/>
                      <a:tailEnd type="none" w="med" len="med"/>
                    </a:lnT>
                    <a:lnB w="6350" cap="flat" cmpd="sng" algn="ctr">
                      <a:solidFill>
                        <a:srgbClr val="2E4A6B"/>
                      </a:solidFill>
                      <a:prstDash val="solid"/>
                      <a:round/>
                      <a:headEnd type="none" w="med" len="med"/>
                      <a:tailEnd type="none" w="med" len="med"/>
                    </a:lnB>
                    <a:solidFill>
                      <a:srgbClr val="003893"/>
                    </a:solidFill>
                  </a:tcPr>
                </a:tc>
                <a:tc>
                  <a:txBody>
                    <a:bodyPr/>
                    <a:lstStyle/>
                    <a:p>
                      <a:pPr marL="0" indent="0" algn="l">
                        <a:buNone/>
                      </a:pPr>
                      <a:r>
                        <a:rPr lang="en-US" sz="1400" b="1" dirty="0">
                          <a:solidFill>
                            <a:srgbClr val="FFFFFF"/>
                          </a:solidFill>
                          <a:latin typeface="Calibri" pitchFamily="34" charset="0"/>
                          <a:ea typeface="Calibri" pitchFamily="34" charset="-122"/>
                          <a:cs typeface="Calibri" pitchFamily="34" charset="-120"/>
                        </a:rPr>
                        <a:t>Ojerinde Joel Segun </a:t>
                      </a:r>
                      <a:endParaRPr lang="en-US" sz="1400" b="1" dirty="0">
                        <a:latin typeface="Calibri" charset="0"/>
                        <a:ea typeface="Calibri" charset="0"/>
                        <a:cs typeface="Calibri" charset="0"/>
                      </a:endParaRPr>
                    </a:p>
                  </a:txBody>
                  <a:tcPr>
                    <a:lnL w="6350" cap="flat" cmpd="sng" algn="ctr">
                      <a:solidFill>
                        <a:srgbClr val="2E4A6B"/>
                      </a:solidFill>
                      <a:prstDash val="solid"/>
                      <a:round/>
                      <a:headEnd type="none" w="med" len="med"/>
                      <a:tailEnd type="none" w="med" len="med"/>
                    </a:lnL>
                    <a:lnR w="6350" cap="flat" cmpd="sng" algn="ctr">
                      <a:solidFill>
                        <a:srgbClr val="2E4A6B"/>
                      </a:solidFill>
                      <a:prstDash val="solid"/>
                      <a:round/>
                      <a:headEnd type="none" w="med" len="med"/>
                      <a:tailEnd type="none" w="med" len="med"/>
                    </a:lnR>
                    <a:lnT w="6350" cap="flat" cmpd="sng" algn="ctr">
                      <a:solidFill>
                        <a:srgbClr val="2E4A6B"/>
                      </a:solidFill>
                      <a:prstDash val="solid"/>
                      <a:round/>
                      <a:headEnd type="none" w="med" len="med"/>
                      <a:tailEnd type="none" w="med" len="med"/>
                    </a:lnT>
                    <a:lnB w="6350" cap="flat" cmpd="sng" algn="ctr">
                      <a:solidFill>
                        <a:srgbClr val="2E4A6B"/>
                      </a:solidFill>
                      <a:prstDash val="solid"/>
                      <a:round/>
                      <a:headEnd type="none" w="med" len="med"/>
                      <a:tailEnd type="none" w="med" len="med"/>
                    </a:lnB>
                    <a:solidFill>
                      <a:srgbClr val="003893"/>
                    </a:solidFill>
                  </a:tcPr>
                </a:tc>
                <a:tc>
                  <a:txBody>
                    <a:bodyPr/>
                    <a:lstStyle/>
                    <a:p>
                      <a:pPr marL="0" indent="0" algn="l">
                        <a:buNone/>
                      </a:pPr>
                      <a:r>
                        <a:rPr lang="en-US" sz="1400" b="1" dirty="0">
                          <a:solidFill>
                            <a:srgbClr val="FFFFFF"/>
                          </a:solidFill>
                          <a:latin typeface="Calibri" pitchFamily="34" charset="0"/>
                          <a:ea typeface="Calibri" pitchFamily="34" charset="-122"/>
                          <a:cs typeface="Calibri" pitchFamily="34" charset="-120"/>
                        </a:rPr>
                        <a:t>LS2525253</a:t>
                      </a:r>
                      <a:endParaRPr lang="en-US" sz="1400" b="1" dirty="0">
                        <a:latin typeface="Calibri" charset="0"/>
                        <a:ea typeface="Calibri" charset="0"/>
                        <a:cs typeface="Calibri" charset="0"/>
                      </a:endParaRPr>
                    </a:p>
                  </a:txBody>
                  <a:tcPr>
                    <a:lnL w="6350" cap="flat" cmpd="sng" algn="ctr">
                      <a:solidFill>
                        <a:srgbClr val="2E4A6B"/>
                      </a:solidFill>
                      <a:prstDash val="solid"/>
                      <a:round/>
                      <a:headEnd type="none" w="med" len="med"/>
                      <a:tailEnd type="none" w="med" len="med"/>
                    </a:lnL>
                    <a:lnR w="6350" cap="flat" cmpd="sng" algn="ctr">
                      <a:solidFill>
                        <a:srgbClr val="2E4A6B"/>
                      </a:solidFill>
                      <a:prstDash val="solid"/>
                      <a:round/>
                      <a:headEnd type="none" w="med" len="med"/>
                      <a:tailEnd type="none" w="med" len="med"/>
                    </a:lnR>
                    <a:lnT w="6350" cap="flat" cmpd="sng" algn="ctr">
                      <a:solidFill>
                        <a:srgbClr val="2E4A6B"/>
                      </a:solidFill>
                      <a:prstDash val="solid"/>
                      <a:round/>
                      <a:headEnd type="none" w="med" len="med"/>
                      <a:tailEnd type="none" w="med" len="med"/>
                    </a:lnT>
                    <a:lnB w="6350" cap="flat" cmpd="sng" algn="ctr">
                      <a:solidFill>
                        <a:srgbClr val="2E4A6B"/>
                      </a:solidFill>
                      <a:prstDash val="solid"/>
                      <a:round/>
                      <a:headEnd type="none" w="med" len="med"/>
                      <a:tailEnd type="none" w="med" len="med"/>
                    </a:lnB>
                    <a:solidFill>
                      <a:srgbClr val="003893"/>
                    </a:solidFill>
                  </a:tcPr>
                </a:tc>
                <a:extLst>
                  <a:ext uri="{0D108BD9-81ED-4DB2-BD59-A6C34878D82A}">
                    <a16:rowId xmlns:a16="http://schemas.microsoft.com/office/drawing/2014/main" val="10001"/>
                  </a:ext>
                </a:extLst>
              </a:tr>
              <a:tr h="390228">
                <a:tc>
                  <a:txBody>
                    <a:bodyPr/>
                    <a:lstStyle/>
                    <a:p>
                      <a:pPr marL="0" indent="0" algn="l">
                        <a:buNone/>
                      </a:pPr>
                      <a:r>
                        <a:rPr lang="en-US" sz="1400" b="1" dirty="0">
                          <a:solidFill>
                            <a:srgbClr val="FFFFFF"/>
                          </a:solidFill>
                          <a:latin typeface="Calibri" pitchFamily="34" charset="0"/>
                          <a:ea typeface="Calibri" pitchFamily="34" charset="-122"/>
                          <a:cs typeface="Calibri" pitchFamily="34" charset="-120"/>
                        </a:rPr>
                        <a:t>2</a:t>
                      </a:r>
                      <a:endParaRPr lang="en-US" sz="1400" b="1" dirty="0">
                        <a:latin typeface="Calibri" charset="0"/>
                        <a:ea typeface="Calibri" charset="0"/>
                        <a:cs typeface="Calibri" charset="0"/>
                      </a:endParaRPr>
                    </a:p>
                  </a:txBody>
                  <a:tcPr>
                    <a:lnL w="6350" cap="flat" cmpd="sng" algn="ctr">
                      <a:solidFill>
                        <a:srgbClr val="2E4A6B"/>
                      </a:solidFill>
                      <a:prstDash val="solid"/>
                      <a:round/>
                      <a:headEnd type="none" w="med" len="med"/>
                      <a:tailEnd type="none" w="med" len="med"/>
                    </a:lnL>
                    <a:lnR w="6350" cap="flat" cmpd="sng" algn="ctr">
                      <a:solidFill>
                        <a:srgbClr val="2E4A6B"/>
                      </a:solidFill>
                      <a:prstDash val="solid"/>
                      <a:round/>
                      <a:headEnd type="none" w="med" len="med"/>
                      <a:tailEnd type="none" w="med" len="med"/>
                    </a:lnR>
                    <a:lnT w="6350" cap="flat" cmpd="sng" algn="ctr">
                      <a:solidFill>
                        <a:srgbClr val="2E4A6B"/>
                      </a:solidFill>
                      <a:prstDash val="solid"/>
                      <a:round/>
                      <a:headEnd type="none" w="med" len="med"/>
                      <a:tailEnd type="none" w="med" len="med"/>
                    </a:lnT>
                    <a:lnB w="6350" cap="flat" cmpd="sng" algn="ctr">
                      <a:solidFill>
                        <a:srgbClr val="2E4A6B"/>
                      </a:solidFill>
                      <a:prstDash val="solid"/>
                      <a:round/>
                      <a:headEnd type="none" w="med" len="med"/>
                      <a:tailEnd type="none" w="med" len="med"/>
                    </a:lnB>
                    <a:solidFill>
                      <a:srgbClr val="003893"/>
                    </a:solidFill>
                  </a:tcPr>
                </a:tc>
                <a:tc>
                  <a:txBody>
                    <a:bodyPr/>
                    <a:lstStyle/>
                    <a:p>
                      <a:pPr marL="0" indent="0" algn="l">
                        <a:buNone/>
                      </a:pPr>
                      <a:r>
                        <a:rPr lang="en-US" sz="1400" b="1" dirty="0">
                          <a:solidFill>
                            <a:srgbClr val="FFFFFF"/>
                          </a:solidFill>
                          <a:latin typeface="Calibri" pitchFamily="34" charset="0"/>
                          <a:ea typeface="Calibri" pitchFamily="34" charset="-122"/>
                          <a:cs typeface="Calibri" pitchFamily="34" charset="-120"/>
                        </a:rPr>
                        <a:t>Mustapha Ibrahim Ishola</a:t>
                      </a:r>
                      <a:endParaRPr lang="en-US" sz="1400" b="1" dirty="0">
                        <a:latin typeface="Calibri" charset="0"/>
                        <a:ea typeface="Calibri" charset="0"/>
                        <a:cs typeface="Calibri" charset="0"/>
                      </a:endParaRPr>
                    </a:p>
                  </a:txBody>
                  <a:tcPr>
                    <a:lnL w="6350" cap="flat" cmpd="sng" algn="ctr">
                      <a:solidFill>
                        <a:srgbClr val="2E4A6B"/>
                      </a:solidFill>
                      <a:prstDash val="solid"/>
                      <a:round/>
                      <a:headEnd type="none" w="med" len="med"/>
                      <a:tailEnd type="none" w="med" len="med"/>
                    </a:lnL>
                    <a:lnR w="6350" cap="flat" cmpd="sng" algn="ctr">
                      <a:solidFill>
                        <a:srgbClr val="2E4A6B"/>
                      </a:solidFill>
                      <a:prstDash val="solid"/>
                      <a:round/>
                      <a:headEnd type="none" w="med" len="med"/>
                      <a:tailEnd type="none" w="med" len="med"/>
                    </a:lnR>
                    <a:lnT w="6350" cap="flat" cmpd="sng" algn="ctr">
                      <a:solidFill>
                        <a:srgbClr val="2E4A6B"/>
                      </a:solidFill>
                      <a:prstDash val="solid"/>
                      <a:round/>
                      <a:headEnd type="none" w="med" len="med"/>
                      <a:tailEnd type="none" w="med" len="med"/>
                    </a:lnT>
                    <a:lnB w="6350" cap="flat" cmpd="sng" algn="ctr">
                      <a:solidFill>
                        <a:srgbClr val="2E4A6B"/>
                      </a:solidFill>
                      <a:prstDash val="solid"/>
                      <a:round/>
                      <a:headEnd type="none" w="med" len="med"/>
                      <a:tailEnd type="none" w="med" len="med"/>
                    </a:lnB>
                    <a:solidFill>
                      <a:srgbClr val="003893"/>
                    </a:solidFill>
                  </a:tcPr>
                </a:tc>
                <a:tc>
                  <a:txBody>
                    <a:bodyPr/>
                    <a:lstStyle/>
                    <a:p>
                      <a:pPr marL="0" indent="0" algn="l">
                        <a:buNone/>
                      </a:pPr>
                      <a:r>
                        <a:rPr lang="en-US" sz="1400" b="1" dirty="0">
                          <a:solidFill>
                            <a:srgbClr val="FFFFFF"/>
                          </a:solidFill>
                          <a:latin typeface="Calibri" pitchFamily="34" charset="0"/>
                          <a:ea typeface="Calibri" pitchFamily="34" charset="-122"/>
                          <a:cs typeface="Calibri" pitchFamily="34" charset="-120"/>
                        </a:rPr>
                        <a:t>LS2525238</a:t>
                      </a:r>
                      <a:endParaRPr lang="en-US" sz="1400" b="1" dirty="0">
                        <a:latin typeface="Calibri" charset="0"/>
                        <a:ea typeface="Calibri" charset="0"/>
                        <a:cs typeface="Calibri" charset="0"/>
                      </a:endParaRPr>
                    </a:p>
                  </a:txBody>
                  <a:tcPr>
                    <a:lnL w="6350" cap="flat" cmpd="sng" algn="ctr">
                      <a:solidFill>
                        <a:srgbClr val="2E4A6B"/>
                      </a:solidFill>
                      <a:prstDash val="solid"/>
                      <a:round/>
                      <a:headEnd type="none" w="med" len="med"/>
                      <a:tailEnd type="none" w="med" len="med"/>
                    </a:lnL>
                    <a:lnR w="6350" cap="flat" cmpd="sng" algn="ctr">
                      <a:solidFill>
                        <a:srgbClr val="2E4A6B"/>
                      </a:solidFill>
                      <a:prstDash val="solid"/>
                      <a:round/>
                      <a:headEnd type="none" w="med" len="med"/>
                      <a:tailEnd type="none" w="med" len="med"/>
                    </a:lnR>
                    <a:lnT w="6350" cap="flat" cmpd="sng" algn="ctr">
                      <a:solidFill>
                        <a:srgbClr val="2E4A6B"/>
                      </a:solidFill>
                      <a:prstDash val="solid"/>
                      <a:round/>
                      <a:headEnd type="none" w="med" len="med"/>
                      <a:tailEnd type="none" w="med" len="med"/>
                    </a:lnT>
                    <a:lnB w="6350" cap="flat" cmpd="sng" algn="ctr">
                      <a:solidFill>
                        <a:srgbClr val="2E4A6B"/>
                      </a:solidFill>
                      <a:prstDash val="solid"/>
                      <a:round/>
                      <a:headEnd type="none" w="med" len="med"/>
                      <a:tailEnd type="none" w="med" len="med"/>
                    </a:lnB>
                    <a:solidFill>
                      <a:srgbClr val="003893"/>
                    </a:solidFill>
                  </a:tcPr>
                </a:tc>
                <a:extLst>
                  <a:ext uri="{0D108BD9-81ED-4DB2-BD59-A6C34878D82A}">
                    <a16:rowId xmlns:a16="http://schemas.microsoft.com/office/drawing/2014/main" val="10002"/>
                  </a:ext>
                </a:extLst>
              </a:tr>
              <a:tr h="390228">
                <a:tc>
                  <a:txBody>
                    <a:bodyPr/>
                    <a:lstStyle/>
                    <a:p>
                      <a:pPr marL="0" indent="0" algn="l">
                        <a:buNone/>
                      </a:pPr>
                      <a:r>
                        <a:rPr lang="en-US" sz="1400" b="1" dirty="0">
                          <a:solidFill>
                            <a:srgbClr val="FFFFFF"/>
                          </a:solidFill>
                          <a:latin typeface="Calibri" pitchFamily="34" charset="0"/>
                          <a:ea typeface="Calibri" pitchFamily="34" charset="-122"/>
                          <a:cs typeface="Calibri" pitchFamily="34" charset="-120"/>
                        </a:rPr>
                        <a:t>3</a:t>
                      </a:r>
                      <a:endParaRPr lang="en-US" sz="1400" b="1" dirty="0">
                        <a:latin typeface="Calibri" charset="0"/>
                        <a:ea typeface="Calibri" charset="0"/>
                        <a:cs typeface="Calibri" charset="0"/>
                      </a:endParaRPr>
                    </a:p>
                  </a:txBody>
                  <a:tcPr>
                    <a:lnL w="6350" cap="flat" cmpd="sng" algn="ctr">
                      <a:solidFill>
                        <a:srgbClr val="2E4A6B"/>
                      </a:solidFill>
                      <a:prstDash val="solid"/>
                      <a:round/>
                      <a:headEnd type="none" w="med" len="med"/>
                      <a:tailEnd type="none" w="med" len="med"/>
                    </a:lnL>
                    <a:lnR w="6350" cap="flat" cmpd="sng" algn="ctr">
                      <a:solidFill>
                        <a:srgbClr val="2E4A6B"/>
                      </a:solidFill>
                      <a:prstDash val="solid"/>
                      <a:round/>
                      <a:headEnd type="none" w="med" len="med"/>
                      <a:tailEnd type="none" w="med" len="med"/>
                    </a:lnR>
                    <a:lnT w="6350" cap="flat" cmpd="sng" algn="ctr">
                      <a:solidFill>
                        <a:srgbClr val="2E4A6B"/>
                      </a:solidFill>
                      <a:prstDash val="solid"/>
                      <a:round/>
                      <a:headEnd type="none" w="med" len="med"/>
                      <a:tailEnd type="none" w="med" len="med"/>
                    </a:lnT>
                    <a:lnB w="6350" cap="flat" cmpd="sng" algn="ctr">
                      <a:solidFill>
                        <a:srgbClr val="2E4A6B"/>
                      </a:solidFill>
                      <a:prstDash val="solid"/>
                      <a:round/>
                      <a:headEnd type="none" w="med" len="med"/>
                      <a:tailEnd type="none" w="med" len="med"/>
                    </a:lnB>
                    <a:solidFill>
                      <a:srgbClr val="003893"/>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400" b="1" dirty="0">
                          <a:solidFill>
                            <a:srgbClr val="FFFFFF"/>
                          </a:solidFill>
                          <a:latin typeface="Calibri" pitchFamily="34" charset="0"/>
                          <a:ea typeface="Calibri" pitchFamily="34" charset="-122"/>
                          <a:cs typeface="Calibri" pitchFamily="34" charset="-120"/>
                        </a:rPr>
                        <a:t>Ogunlade Joshua Oluwaseun</a:t>
                      </a:r>
                      <a:endParaRPr lang="en-US" sz="1400" b="1" dirty="0">
                        <a:latin typeface="Calibri" charset="0"/>
                        <a:ea typeface="Calibri" charset="0"/>
                        <a:cs typeface="Calibri" charset="0"/>
                      </a:endParaRPr>
                    </a:p>
                  </a:txBody>
                  <a:tcPr>
                    <a:lnL w="6350" cap="flat" cmpd="sng" algn="ctr">
                      <a:solidFill>
                        <a:srgbClr val="2E4A6B"/>
                      </a:solidFill>
                      <a:prstDash val="solid"/>
                      <a:round/>
                      <a:headEnd type="none" w="med" len="med"/>
                      <a:tailEnd type="none" w="med" len="med"/>
                    </a:lnL>
                    <a:lnR w="6350" cap="flat" cmpd="sng" algn="ctr">
                      <a:solidFill>
                        <a:srgbClr val="2E4A6B"/>
                      </a:solidFill>
                      <a:prstDash val="solid"/>
                      <a:round/>
                      <a:headEnd type="none" w="med" len="med"/>
                      <a:tailEnd type="none" w="med" len="med"/>
                    </a:lnR>
                    <a:lnT w="6350" cap="flat" cmpd="sng" algn="ctr">
                      <a:solidFill>
                        <a:srgbClr val="2E4A6B"/>
                      </a:solidFill>
                      <a:prstDash val="solid"/>
                      <a:round/>
                      <a:headEnd type="none" w="med" len="med"/>
                      <a:tailEnd type="none" w="med" len="med"/>
                    </a:lnT>
                    <a:lnB w="6350" cap="flat" cmpd="sng" algn="ctr">
                      <a:solidFill>
                        <a:srgbClr val="2E4A6B"/>
                      </a:solidFill>
                      <a:prstDash val="solid"/>
                      <a:round/>
                      <a:headEnd type="none" w="med" len="med"/>
                      <a:tailEnd type="none" w="med" len="med"/>
                    </a:lnB>
                    <a:solidFill>
                      <a:srgbClr val="003893"/>
                    </a:solidFill>
                  </a:tcPr>
                </a:tc>
                <a:tc>
                  <a:txBody>
                    <a:bodyPr/>
                    <a:lstStyle/>
                    <a:p>
                      <a:pPr marL="0" indent="0" algn="l">
                        <a:buNone/>
                      </a:pPr>
                      <a:r>
                        <a:rPr lang="en-US" sz="1400" b="1" dirty="0">
                          <a:solidFill>
                            <a:srgbClr val="FFFFFF"/>
                          </a:solidFill>
                          <a:latin typeface="Calibri" pitchFamily="34" charset="0"/>
                          <a:ea typeface="Calibri" pitchFamily="34" charset="-122"/>
                          <a:cs typeface="Calibri" pitchFamily="34" charset="-120"/>
                        </a:rPr>
                        <a:t>LS2525237</a:t>
                      </a:r>
                      <a:endParaRPr lang="en-US" sz="1400" b="1" dirty="0">
                        <a:latin typeface="Calibri" charset="0"/>
                        <a:ea typeface="Calibri" charset="0"/>
                        <a:cs typeface="Calibri" charset="0"/>
                      </a:endParaRPr>
                    </a:p>
                  </a:txBody>
                  <a:tcPr>
                    <a:lnL w="6350" cap="flat" cmpd="sng" algn="ctr">
                      <a:solidFill>
                        <a:srgbClr val="2E4A6B"/>
                      </a:solidFill>
                      <a:prstDash val="solid"/>
                      <a:round/>
                      <a:headEnd type="none" w="med" len="med"/>
                      <a:tailEnd type="none" w="med" len="med"/>
                    </a:lnL>
                    <a:lnR w="6350" cap="flat" cmpd="sng" algn="ctr">
                      <a:solidFill>
                        <a:srgbClr val="2E4A6B"/>
                      </a:solidFill>
                      <a:prstDash val="solid"/>
                      <a:round/>
                      <a:headEnd type="none" w="med" len="med"/>
                      <a:tailEnd type="none" w="med" len="med"/>
                    </a:lnR>
                    <a:lnT w="6350" cap="flat" cmpd="sng" algn="ctr">
                      <a:solidFill>
                        <a:srgbClr val="2E4A6B"/>
                      </a:solidFill>
                      <a:prstDash val="solid"/>
                      <a:round/>
                      <a:headEnd type="none" w="med" len="med"/>
                      <a:tailEnd type="none" w="med" len="med"/>
                    </a:lnT>
                    <a:lnB w="6350" cap="flat" cmpd="sng" algn="ctr">
                      <a:solidFill>
                        <a:srgbClr val="2E4A6B"/>
                      </a:solidFill>
                      <a:prstDash val="solid"/>
                      <a:round/>
                      <a:headEnd type="none" w="med" len="med"/>
                      <a:tailEnd type="none" w="med" len="med"/>
                    </a:lnB>
                    <a:solidFill>
                      <a:srgbClr val="003893"/>
                    </a:solidFill>
                  </a:tcPr>
                </a:tc>
                <a:extLst>
                  <a:ext uri="{0D108BD9-81ED-4DB2-BD59-A6C34878D82A}">
                    <a16:rowId xmlns:a16="http://schemas.microsoft.com/office/drawing/2014/main" val="10003"/>
                  </a:ext>
                </a:extLst>
              </a:tr>
              <a:tr h="390228">
                <a:tc>
                  <a:txBody>
                    <a:bodyPr/>
                    <a:lstStyle/>
                    <a:p>
                      <a:pPr marL="0" indent="0" algn="l">
                        <a:buNone/>
                      </a:pPr>
                      <a:r>
                        <a:rPr lang="en-US" sz="1400" b="1" dirty="0">
                          <a:solidFill>
                            <a:srgbClr val="FFFFFF"/>
                          </a:solidFill>
                          <a:latin typeface="Calibri" pitchFamily="34" charset="0"/>
                          <a:ea typeface="Calibri" pitchFamily="34" charset="-122"/>
                          <a:cs typeface="Calibri" pitchFamily="34" charset="-120"/>
                        </a:rPr>
                        <a:t>4</a:t>
                      </a:r>
                      <a:endParaRPr lang="en-US" sz="1400" b="1" dirty="0">
                        <a:latin typeface="Calibri" charset="0"/>
                        <a:ea typeface="Calibri" charset="0"/>
                        <a:cs typeface="Calibri" charset="0"/>
                      </a:endParaRPr>
                    </a:p>
                  </a:txBody>
                  <a:tcPr>
                    <a:lnL w="6350" cap="flat" cmpd="sng" algn="ctr">
                      <a:solidFill>
                        <a:srgbClr val="2E4A6B"/>
                      </a:solidFill>
                      <a:prstDash val="solid"/>
                      <a:round/>
                      <a:headEnd type="none" w="med" len="med"/>
                      <a:tailEnd type="none" w="med" len="med"/>
                    </a:lnL>
                    <a:lnR w="6350" cap="flat" cmpd="sng" algn="ctr">
                      <a:solidFill>
                        <a:srgbClr val="2E4A6B"/>
                      </a:solidFill>
                      <a:prstDash val="solid"/>
                      <a:round/>
                      <a:headEnd type="none" w="med" len="med"/>
                      <a:tailEnd type="none" w="med" len="med"/>
                    </a:lnR>
                    <a:lnT w="6350" cap="flat" cmpd="sng" algn="ctr">
                      <a:solidFill>
                        <a:srgbClr val="2E4A6B"/>
                      </a:solidFill>
                      <a:prstDash val="solid"/>
                      <a:round/>
                      <a:headEnd type="none" w="med" len="med"/>
                      <a:tailEnd type="none" w="med" len="med"/>
                    </a:lnT>
                    <a:lnB w="6350" cap="flat" cmpd="sng" algn="ctr">
                      <a:solidFill>
                        <a:srgbClr val="2E4A6B"/>
                      </a:solidFill>
                      <a:prstDash val="solid"/>
                      <a:round/>
                      <a:headEnd type="none" w="med" len="med"/>
                      <a:tailEnd type="none" w="med" len="med"/>
                    </a:lnB>
                    <a:solidFill>
                      <a:srgbClr val="003893"/>
                    </a:solidFill>
                  </a:tcPr>
                </a:tc>
                <a:tc>
                  <a:txBody>
                    <a:bodyPr/>
                    <a:lstStyle/>
                    <a:p>
                      <a:pPr marL="0" indent="0" algn="l">
                        <a:buNone/>
                      </a:pPr>
                      <a:r>
                        <a:rPr lang="en-US" sz="1400" b="1" dirty="0">
                          <a:solidFill>
                            <a:srgbClr val="FFFFFF"/>
                          </a:solidFill>
                          <a:latin typeface="Calibri" pitchFamily="34" charset="0"/>
                          <a:ea typeface="Calibri" pitchFamily="34" charset="-122"/>
                          <a:cs typeface="Calibri" pitchFamily="34" charset="-120"/>
                        </a:rPr>
                        <a:t>Ingeriyinkindi Claudine</a:t>
                      </a:r>
                      <a:endParaRPr lang="en-US" sz="1400" b="1" dirty="0">
                        <a:latin typeface="Calibri" charset="0"/>
                        <a:ea typeface="Calibri" charset="0"/>
                        <a:cs typeface="Calibri" charset="0"/>
                      </a:endParaRPr>
                    </a:p>
                  </a:txBody>
                  <a:tcPr>
                    <a:lnL w="6350" cap="flat" cmpd="sng" algn="ctr">
                      <a:solidFill>
                        <a:srgbClr val="2E4A6B"/>
                      </a:solidFill>
                      <a:prstDash val="solid"/>
                      <a:round/>
                      <a:headEnd type="none" w="med" len="med"/>
                      <a:tailEnd type="none" w="med" len="med"/>
                    </a:lnL>
                    <a:lnR w="6350" cap="flat" cmpd="sng" algn="ctr">
                      <a:solidFill>
                        <a:srgbClr val="2E4A6B"/>
                      </a:solidFill>
                      <a:prstDash val="solid"/>
                      <a:round/>
                      <a:headEnd type="none" w="med" len="med"/>
                      <a:tailEnd type="none" w="med" len="med"/>
                    </a:lnR>
                    <a:lnT w="6350" cap="flat" cmpd="sng" algn="ctr">
                      <a:solidFill>
                        <a:srgbClr val="2E4A6B"/>
                      </a:solidFill>
                      <a:prstDash val="solid"/>
                      <a:round/>
                      <a:headEnd type="none" w="med" len="med"/>
                      <a:tailEnd type="none" w="med" len="med"/>
                    </a:lnT>
                    <a:lnB w="6350" cap="flat" cmpd="sng" algn="ctr">
                      <a:solidFill>
                        <a:srgbClr val="2E4A6B"/>
                      </a:solidFill>
                      <a:prstDash val="solid"/>
                      <a:round/>
                      <a:headEnd type="none" w="med" len="med"/>
                      <a:tailEnd type="none" w="med" len="med"/>
                    </a:lnB>
                    <a:solidFill>
                      <a:srgbClr val="003893"/>
                    </a:solidFill>
                  </a:tcPr>
                </a:tc>
                <a:tc>
                  <a:txBody>
                    <a:bodyPr/>
                    <a:lstStyle/>
                    <a:p>
                      <a:pPr marL="0" indent="0" algn="l">
                        <a:buNone/>
                      </a:pPr>
                      <a:r>
                        <a:rPr lang="en-US" sz="1400" b="1" dirty="0">
                          <a:solidFill>
                            <a:srgbClr val="FFFFFF"/>
                          </a:solidFill>
                          <a:latin typeface="Calibri" pitchFamily="34" charset="0"/>
                          <a:ea typeface="Calibri" pitchFamily="34" charset="-122"/>
                          <a:cs typeface="Calibri" pitchFamily="34" charset="-120"/>
                        </a:rPr>
                        <a:t>LS2525236</a:t>
                      </a:r>
                      <a:endParaRPr lang="en-US" sz="1400" b="1" dirty="0">
                        <a:latin typeface="Calibri" charset="0"/>
                        <a:ea typeface="Calibri" charset="0"/>
                        <a:cs typeface="Calibri" charset="0"/>
                      </a:endParaRPr>
                    </a:p>
                  </a:txBody>
                  <a:tcPr>
                    <a:lnL w="6350" cap="flat" cmpd="sng" algn="ctr">
                      <a:solidFill>
                        <a:srgbClr val="2E4A6B"/>
                      </a:solidFill>
                      <a:prstDash val="solid"/>
                      <a:round/>
                      <a:headEnd type="none" w="med" len="med"/>
                      <a:tailEnd type="none" w="med" len="med"/>
                    </a:lnL>
                    <a:lnR w="6350" cap="flat" cmpd="sng" algn="ctr">
                      <a:solidFill>
                        <a:srgbClr val="2E4A6B"/>
                      </a:solidFill>
                      <a:prstDash val="solid"/>
                      <a:round/>
                      <a:headEnd type="none" w="med" len="med"/>
                      <a:tailEnd type="none" w="med" len="med"/>
                    </a:lnR>
                    <a:lnT w="6350" cap="flat" cmpd="sng" algn="ctr">
                      <a:solidFill>
                        <a:srgbClr val="2E4A6B"/>
                      </a:solidFill>
                      <a:prstDash val="solid"/>
                      <a:round/>
                      <a:headEnd type="none" w="med" len="med"/>
                      <a:tailEnd type="none" w="med" len="med"/>
                    </a:lnT>
                    <a:lnB w="6350" cap="flat" cmpd="sng" algn="ctr">
                      <a:solidFill>
                        <a:srgbClr val="2E4A6B"/>
                      </a:solidFill>
                      <a:prstDash val="solid"/>
                      <a:round/>
                      <a:headEnd type="none" w="med" len="med"/>
                      <a:tailEnd type="none" w="med" len="med"/>
                    </a:lnB>
                    <a:solidFill>
                      <a:srgbClr val="003893"/>
                    </a:solidFill>
                  </a:tcPr>
                </a:tc>
                <a:extLst>
                  <a:ext uri="{0D108BD9-81ED-4DB2-BD59-A6C34878D82A}">
                    <a16:rowId xmlns:a16="http://schemas.microsoft.com/office/drawing/2014/main" val="10004"/>
                  </a:ext>
                </a:extLst>
              </a:tr>
              <a:tr h="390228">
                <a:tc>
                  <a:txBody>
                    <a:bodyPr/>
                    <a:lstStyle/>
                    <a:p>
                      <a:pPr marL="0" indent="0" algn="l">
                        <a:buNone/>
                      </a:pPr>
                      <a:r>
                        <a:rPr lang="en-US" sz="1400" b="1" dirty="0">
                          <a:solidFill>
                            <a:srgbClr val="FFFFFF"/>
                          </a:solidFill>
                          <a:latin typeface="Calibri" pitchFamily="34" charset="0"/>
                          <a:ea typeface="Calibri" pitchFamily="34" charset="-122"/>
                          <a:cs typeface="Calibri" pitchFamily="34" charset="-120"/>
                        </a:rPr>
                        <a:t>5</a:t>
                      </a:r>
                      <a:endParaRPr lang="en-US" sz="1400" b="1" dirty="0">
                        <a:latin typeface="Calibri" charset="0"/>
                        <a:ea typeface="Calibri" charset="0"/>
                        <a:cs typeface="Calibri" charset="0"/>
                      </a:endParaRPr>
                    </a:p>
                  </a:txBody>
                  <a:tcPr>
                    <a:lnL w="6350" cap="flat" cmpd="sng" algn="ctr">
                      <a:solidFill>
                        <a:srgbClr val="2E4A6B"/>
                      </a:solidFill>
                      <a:prstDash val="solid"/>
                      <a:round/>
                      <a:headEnd type="none" w="med" len="med"/>
                      <a:tailEnd type="none" w="med" len="med"/>
                    </a:lnL>
                    <a:lnR w="6350" cap="flat" cmpd="sng" algn="ctr">
                      <a:solidFill>
                        <a:srgbClr val="2E4A6B"/>
                      </a:solidFill>
                      <a:prstDash val="solid"/>
                      <a:round/>
                      <a:headEnd type="none" w="med" len="med"/>
                      <a:tailEnd type="none" w="med" len="med"/>
                    </a:lnR>
                    <a:lnT w="6350" cap="flat" cmpd="sng" algn="ctr">
                      <a:solidFill>
                        <a:srgbClr val="2E4A6B"/>
                      </a:solidFill>
                      <a:prstDash val="solid"/>
                      <a:round/>
                      <a:headEnd type="none" w="med" len="med"/>
                      <a:tailEnd type="none" w="med" len="med"/>
                    </a:lnT>
                    <a:lnB w="6350" cap="flat" cmpd="sng" algn="ctr">
                      <a:solidFill>
                        <a:srgbClr val="2E4A6B"/>
                      </a:solidFill>
                      <a:prstDash val="solid"/>
                      <a:round/>
                      <a:headEnd type="none" w="med" len="med"/>
                      <a:tailEnd type="none" w="med" len="med"/>
                    </a:lnB>
                    <a:solidFill>
                      <a:srgbClr val="003893"/>
                    </a:solidFill>
                  </a:tcPr>
                </a:tc>
                <a:tc>
                  <a:txBody>
                    <a:bodyPr/>
                    <a:lstStyle/>
                    <a:p>
                      <a:pPr marL="0" indent="0" algn="l">
                        <a:buNone/>
                      </a:pPr>
                      <a:r>
                        <a:rPr lang="en-US" sz="1400" b="1" dirty="0">
                          <a:solidFill>
                            <a:srgbClr val="FFFFFF"/>
                          </a:solidFill>
                          <a:latin typeface="Calibri" pitchFamily="34" charset="0"/>
                          <a:ea typeface="Calibri" pitchFamily="34" charset="-122"/>
                          <a:cs typeface="Calibri" pitchFamily="34" charset="-120"/>
                        </a:rPr>
                        <a:t>Rashid Md Harun Or</a:t>
                      </a:r>
                      <a:endParaRPr lang="en-US" sz="1400" b="1" dirty="0">
                        <a:latin typeface="Calibri" charset="0"/>
                        <a:ea typeface="Calibri" charset="0"/>
                        <a:cs typeface="Calibri" charset="0"/>
                      </a:endParaRPr>
                    </a:p>
                  </a:txBody>
                  <a:tcPr>
                    <a:lnL w="6350" cap="flat" cmpd="sng" algn="ctr">
                      <a:solidFill>
                        <a:srgbClr val="2E4A6B"/>
                      </a:solidFill>
                      <a:prstDash val="solid"/>
                      <a:round/>
                      <a:headEnd type="none" w="med" len="med"/>
                      <a:tailEnd type="none" w="med" len="med"/>
                    </a:lnL>
                    <a:lnR w="6350" cap="flat" cmpd="sng" algn="ctr">
                      <a:solidFill>
                        <a:srgbClr val="2E4A6B"/>
                      </a:solidFill>
                      <a:prstDash val="solid"/>
                      <a:round/>
                      <a:headEnd type="none" w="med" len="med"/>
                      <a:tailEnd type="none" w="med" len="med"/>
                    </a:lnR>
                    <a:lnT w="6350" cap="flat" cmpd="sng" algn="ctr">
                      <a:solidFill>
                        <a:srgbClr val="2E4A6B"/>
                      </a:solidFill>
                      <a:prstDash val="solid"/>
                      <a:round/>
                      <a:headEnd type="none" w="med" len="med"/>
                      <a:tailEnd type="none" w="med" len="med"/>
                    </a:lnT>
                    <a:lnB w="6350" cap="flat" cmpd="sng" algn="ctr">
                      <a:solidFill>
                        <a:srgbClr val="2E4A6B"/>
                      </a:solidFill>
                      <a:prstDash val="solid"/>
                      <a:round/>
                      <a:headEnd type="none" w="med" len="med"/>
                      <a:tailEnd type="none" w="med" len="med"/>
                    </a:lnB>
                    <a:solidFill>
                      <a:srgbClr val="003893"/>
                    </a:solidFill>
                  </a:tcPr>
                </a:tc>
                <a:tc>
                  <a:txBody>
                    <a:bodyPr/>
                    <a:lstStyle/>
                    <a:p>
                      <a:pPr marL="0" indent="0" algn="l">
                        <a:buNone/>
                      </a:pPr>
                      <a:r>
                        <a:rPr lang="en-US" sz="1400" b="1" dirty="0">
                          <a:solidFill>
                            <a:srgbClr val="FFFFFF"/>
                          </a:solidFill>
                          <a:latin typeface="Calibri" pitchFamily="34" charset="0"/>
                          <a:ea typeface="Calibri" pitchFamily="34" charset="-122"/>
                          <a:cs typeface="Calibri" pitchFamily="34" charset="-120"/>
                        </a:rPr>
                        <a:t>LS2525219</a:t>
                      </a:r>
                      <a:endParaRPr lang="en-US" sz="1400" b="1" dirty="0">
                        <a:latin typeface="Calibri" charset="0"/>
                        <a:ea typeface="Calibri" charset="0"/>
                        <a:cs typeface="Calibri" charset="0"/>
                      </a:endParaRPr>
                    </a:p>
                  </a:txBody>
                  <a:tcPr>
                    <a:lnL w="6350" cap="flat" cmpd="sng" algn="ctr">
                      <a:solidFill>
                        <a:srgbClr val="2E4A6B"/>
                      </a:solidFill>
                      <a:prstDash val="solid"/>
                      <a:round/>
                      <a:headEnd type="none" w="med" len="med"/>
                      <a:tailEnd type="none" w="med" len="med"/>
                    </a:lnL>
                    <a:lnR w="6350" cap="flat" cmpd="sng" algn="ctr">
                      <a:solidFill>
                        <a:srgbClr val="2E4A6B"/>
                      </a:solidFill>
                      <a:prstDash val="solid"/>
                      <a:round/>
                      <a:headEnd type="none" w="med" len="med"/>
                      <a:tailEnd type="none" w="med" len="med"/>
                    </a:lnR>
                    <a:lnT w="6350" cap="flat" cmpd="sng" algn="ctr">
                      <a:solidFill>
                        <a:srgbClr val="2E4A6B"/>
                      </a:solidFill>
                      <a:prstDash val="solid"/>
                      <a:round/>
                      <a:headEnd type="none" w="med" len="med"/>
                      <a:tailEnd type="none" w="med" len="med"/>
                    </a:lnT>
                    <a:lnB w="6350" cap="flat" cmpd="sng" algn="ctr">
                      <a:solidFill>
                        <a:srgbClr val="2E4A6B"/>
                      </a:solidFill>
                      <a:prstDash val="solid"/>
                      <a:round/>
                      <a:headEnd type="none" w="med" len="med"/>
                      <a:tailEnd type="none" w="med" len="med"/>
                    </a:lnB>
                    <a:solidFill>
                      <a:srgbClr val="003893"/>
                    </a:solidFill>
                  </a:tcPr>
                </a:tc>
                <a:extLst>
                  <a:ext uri="{0D108BD9-81ED-4DB2-BD59-A6C34878D82A}">
                    <a16:rowId xmlns:a16="http://schemas.microsoft.com/office/drawing/2014/main" val="10005"/>
                  </a:ext>
                </a:extLst>
              </a:tr>
            </a:tbl>
          </a:graphicData>
        </a:graphic>
      </p:graphicFrame>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003366"/>
        </a:solidFill>
        <a:effectLst/>
      </p:bgPr>
    </p:bg>
    <p:spTree>
      <p:nvGrpSpPr>
        <p:cNvPr id="1" name=""/>
        <p:cNvGrpSpPr/>
        <p:nvPr/>
      </p:nvGrpSpPr>
      <p:grpSpPr>
        <a:xfrm>
          <a:off x="0" y="0"/>
          <a:ext cx="0" cy="0"/>
          <a:chOff x="0" y="0"/>
          <a:chExt cx="0" cy="0"/>
        </a:xfrm>
      </p:grpSpPr>
      <p:sp>
        <p:nvSpPr>
          <p:cNvPr id="2" name="TextBox 1"/>
          <p:cNvSpPr txBox="1"/>
          <p:nvPr/>
        </p:nvSpPr>
        <p:spPr>
          <a:xfrm>
            <a:off x="822960" y="2743200"/>
            <a:ext cx="10515600" cy="1371600"/>
          </a:xfrm>
          <a:prstGeom prst="rect">
            <a:avLst/>
          </a:prstGeom>
          <a:noFill/>
        </p:spPr>
        <p:txBody>
          <a:bodyPr wrap="square">
            <a:spAutoFit/>
          </a:bodyPr>
          <a:lstStyle/>
          <a:p>
            <a:pPr algn="l">
              <a:lnSpc>
                <a:spcPct val="150000"/>
              </a:lnSpc>
              <a:spcAft>
                <a:spcPts val="600"/>
              </a:spcAft>
            </a:pPr>
            <a:r>
              <a:rPr sz="4600" b="1">
                <a:solidFill>
                  <a:srgbClr val="FFFFFF"/>
                </a:solidFill>
                <a:latin typeface="Calibri"/>
              </a:rPr>
              <a:t>1 · The Problem</a:t>
            </a:r>
          </a:p>
        </p:txBody>
      </p:sp>
      <p:sp>
        <p:nvSpPr>
          <p:cNvPr id="3" name="Rectangle 2"/>
          <p:cNvSpPr/>
          <p:nvPr/>
        </p:nvSpPr>
        <p:spPr>
          <a:xfrm>
            <a:off x="868680" y="3886200"/>
            <a:ext cx="2926080" cy="73152"/>
          </a:xfrm>
          <a:prstGeom prst="rect">
            <a:avLst/>
          </a:prstGeom>
          <a:solidFill>
            <a:srgbClr val="00A0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47C0F06-5715-8690-7533-802B7029CEFA}"/>
            </a:ext>
          </a:extLst>
        </p:cNvPr>
        <p:cNvGrpSpPr/>
        <p:nvPr/>
      </p:nvGrpSpPr>
      <p:grpSpPr>
        <a:xfrm>
          <a:off x="0" y="0"/>
          <a:ext cx="0" cy="0"/>
          <a:chOff x="0" y="0"/>
          <a:chExt cx="0" cy="0"/>
        </a:xfrm>
      </p:grpSpPr>
      <p:pic>
        <p:nvPicPr>
          <p:cNvPr id="25" name="Image 0" descr="preencoded.png">
            <a:extLst>
              <a:ext uri="{FF2B5EF4-FFF2-40B4-BE49-F238E27FC236}">
                <a16:creationId xmlns:a16="http://schemas.microsoft.com/office/drawing/2014/main" id="{A0CA6B56-D9E5-98C4-92D0-A42D289857FD}"/>
              </a:ext>
            </a:extLst>
          </p:cNvPr>
          <p:cNvPicPr>
            <a:picLocks noChangeAspect="1"/>
          </p:cNvPicPr>
          <p:nvPr/>
        </p:nvPicPr>
        <p:blipFill>
          <a:blip r:embed="rId2"/>
          <a:srcRect/>
          <a:stretch/>
        </p:blipFill>
        <p:spPr>
          <a:xfrm>
            <a:off x="72" y="-38729"/>
            <a:ext cx="12191928" cy="6857928"/>
          </a:xfrm>
          <a:prstGeom prst="rect">
            <a:avLst/>
          </a:prstGeom>
        </p:spPr>
      </p:pic>
      <p:sp>
        <p:nvSpPr>
          <p:cNvPr id="2" name="TopBar">
            <a:extLst>
              <a:ext uri="{FF2B5EF4-FFF2-40B4-BE49-F238E27FC236}">
                <a16:creationId xmlns:a16="http://schemas.microsoft.com/office/drawing/2014/main" id="{7D3A872F-6DCF-FF75-EB98-4F4737D9E524}"/>
              </a:ext>
            </a:extLst>
          </p:cNvPr>
          <p:cNvSpPr/>
          <p:nvPr/>
        </p:nvSpPr>
        <p:spPr>
          <a:xfrm>
            <a:off x="0" y="-23466"/>
            <a:ext cx="12192000" cy="740408"/>
          </a:xfrm>
          <a:prstGeom prst="rect">
            <a:avLst/>
          </a:prstGeom>
          <a:solidFill>
            <a:srgbClr val="003893"/>
          </a:solidFill>
          <a:ln w="12700">
            <a:solidFill>
              <a:srgbClr val="003893"/>
            </a:solidFill>
            <a:prstDash val="solid"/>
          </a:ln>
        </p:spPr>
      </p:sp>
      <p:sp>
        <p:nvSpPr>
          <p:cNvPr id="3" name="TopAccent">
            <a:extLst>
              <a:ext uri="{FF2B5EF4-FFF2-40B4-BE49-F238E27FC236}">
                <a16:creationId xmlns:a16="http://schemas.microsoft.com/office/drawing/2014/main" id="{6B5EA038-394A-E637-0F3D-0F2517CCFDA2}"/>
              </a:ext>
            </a:extLst>
          </p:cNvPr>
          <p:cNvSpPr/>
          <p:nvPr/>
        </p:nvSpPr>
        <p:spPr>
          <a:xfrm>
            <a:off x="0" y="702347"/>
            <a:ext cx="12192000" cy="36576"/>
          </a:xfrm>
          <a:prstGeom prst="rect">
            <a:avLst/>
          </a:prstGeom>
          <a:solidFill>
            <a:srgbClr val="4FC3F7"/>
          </a:solidFill>
          <a:ln w="12700">
            <a:solidFill>
              <a:srgbClr val="4FC3F7"/>
            </a:solidFill>
            <a:prstDash val="solid"/>
          </a:ln>
        </p:spPr>
      </p:sp>
      <p:sp>
        <p:nvSpPr>
          <p:cNvPr id="4" name="BottomBar">
            <a:extLst>
              <a:ext uri="{FF2B5EF4-FFF2-40B4-BE49-F238E27FC236}">
                <a16:creationId xmlns:a16="http://schemas.microsoft.com/office/drawing/2014/main" id="{95E545B2-5088-1756-47CA-76F4E43DAAE9}"/>
              </a:ext>
            </a:extLst>
          </p:cNvPr>
          <p:cNvSpPr/>
          <p:nvPr/>
        </p:nvSpPr>
        <p:spPr>
          <a:xfrm>
            <a:off x="0" y="6646862"/>
            <a:ext cx="12192000" cy="211137"/>
          </a:xfrm>
          <a:prstGeom prst="rect">
            <a:avLst/>
          </a:prstGeom>
          <a:solidFill>
            <a:srgbClr val="003893"/>
          </a:solidFill>
          <a:ln w="12700">
            <a:solidFill>
              <a:srgbClr val="003893"/>
            </a:solidFill>
            <a:prstDash val="solid"/>
          </a:ln>
        </p:spPr>
      </p:sp>
      <p:sp>
        <p:nvSpPr>
          <p:cNvPr id="5" name="BottomAccent">
            <a:extLst>
              <a:ext uri="{FF2B5EF4-FFF2-40B4-BE49-F238E27FC236}">
                <a16:creationId xmlns:a16="http://schemas.microsoft.com/office/drawing/2014/main" id="{73CD07C8-B66F-4DD7-A0E9-96DB9A61EBD4}"/>
              </a:ext>
            </a:extLst>
          </p:cNvPr>
          <p:cNvSpPr/>
          <p:nvPr/>
        </p:nvSpPr>
        <p:spPr>
          <a:xfrm>
            <a:off x="0" y="6623677"/>
            <a:ext cx="12192000" cy="30480"/>
          </a:xfrm>
          <a:prstGeom prst="rect">
            <a:avLst/>
          </a:prstGeom>
          <a:solidFill>
            <a:srgbClr val="4FC3F7"/>
          </a:solidFill>
          <a:ln w="12700">
            <a:solidFill>
              <a:srgbClr val="4FC3F7"/>
            </a:solidFill>
            <a:prstDash val="solid"/>
          </a:ln>
        </p:spPr>
      </p:sp>
      <p:sp>
        <p:nvSpPr>
          <p:cNvPr id="6" name="LogoTab">
            <a:extLst>
              <a:ext uri="{FF2B5EF4-FFF2-40B4-BE49-F238E27FC236}">
                <a16:creationId xmlns:a16="http://schemas.microsoft.com/office/drawing/2014/main" id="{6183C85B-8E83-D361-41F9-8A8CCD51FCCF}"/>
              </a:ext>
            </a:extLst>
          </p:cNvPr>
          <p:cNvSpPr/>
          <p:nvPr/>
        </p:nvSpPr>
        <p:spPr>
          <a:xfrm>
            <a:off x="0" y="-24618"/>
            <a:ext cx="1128763" cy="767311"/>
          </a:xfrm>
          <a:prstGeom prst="homePlate">
            <a:avLst/>
          </a:prstGeom>
          <a:solidFill>
            <a:srgbClr val="FFFFFF"/>
          </a:solidFill>
          <a:ln w="6350">
            <a:solidFill>
              <a:srgbClr val="CCCCCC"/>
            </a:solidFill>
            <a:prstDash val="solid"/>
          </a:ln>
        </p:spPr>
      </p:sp>
      <p:pic>
        <p:nvPicPr>
          <p:cNvPr id="21" name="Logo">
            <a:extLst>
              <a:ext uri="{FF2B5EF4-FFF2-40B4-BE49-F238E27FC236}">
                <a16:creationId xmlns:a16="http://schemas.microsoft.com/office/drawing/2014/main" id="{68F8DE80-08E1-801F-C04A-113E0D039F78}"/>
              </a:ext>
            </a:extLst>
          </p:cNvPr>
          <p:cNvPicPr>
            <a:picLocks noChangeAspect="1"/>
          </p:cNvPicPr>
          <p:nvPr/>
        </p:nvPicPr>
        <p:blipFill>
          <a:blip r:embed="rId3"/>
          <a:stretch>
            <a:fillRect/>
          </a:stretch>
        </p:blipFill>
        <p:spPr>
          <a:xfrm>
            <a:off x="-453212" y="-263954"/>
            <a:ext cx="1776568" cy="1245981"/>
          </a:xfrm>
          <a:prstGeom prst="rect">
            <a:avLst/>
          </a:prstGeom>
        </p:spPr>
      </p:pic>
      <p:sp>
        <p:nvSpPr>
          <p:cNvPr id="30" name="TopLabel">
            <a:extLst>
              <a:ext uri="{FF2B5EF4-FFF2-40B4-BE49-F238E27FC236}">
                <a16:creationId xmlns:a16="http://schemas.microsoft.com/office/drawing/2014/main" id="{0BB26A96-3F12-4A3C-5185-90F9E70FB6D8}"/>
              </a:ext>
            </a:extLst>
          </p:cNvPr>
          <p:cNvSpPr>
            <a:spLocks noGrp="1"/>
          </p:cNvSpPr>
          <p:nvPr/>
        </p:nvSpPr>
        <p:spPr>
          <a:xfrm>
            <a:off x="1266667" y="66667"/>
            <a:ext cx="7333333" cy="600000"/>
          </a:xfrm>
          <a:prstGeom prst="rect">
            <a:avLst/>
          </a:prstGeom>
          <a:noFill/>
          <a:ln>
            <a:noFill/>
          </a:ln>
        </p:spPr>
        <p:txBody>
          <a:bodyPr wrap="square" lIns="0" tIns="0" rIns="0" bIns="0" rtlCol="0" anchor="ctr">
            <a:normAutofit/>
          </a:bodyPr>
          <a:lstStyle/>
          <a:p>
            <a:r>
              <a:rPr lang="en-US" sz="3200" b="1" dirty="0">
                <a:solidFill>
                  <a:srgbClr val="FFFFFF"/>
                </a:solidFill>
                <a:latin typeface="Calibri"/>
                <a:ea typeface="Calibri"/>
                <a:cs typeface="Calibri"/>
              </a:rPr>
              <a:t>PROBLEM STATEMENT</a:t>
            </a:r>
          </a:p>
        </p:txBody>
      </p:sp>
      <p:sp>
        <p:nvSpPr>
          <p:cNvPr id="33" name="Intro">
            <a:extLst>
              <a:ext uri="{FF2B5EF4-FFF2-40B4-BE49-F238E27FC236}">
                <a16:creationId xmlns:a16="http://schemas.microsoft.com/office/drawing/2014/main" id="{FA29D90A-06CE-5433-31C5-1F50203DDD83}"/>
              </a:ext>
            </a:extLst>
          </p:cNvPr>
          <p:cNvSpPr>
            <a:spLocks noGrp="1"/>
          </p:cNvSpPr>
          <p:nvPr/>
        </p:nvSpPr>
        <p:spPr>
          <a:xfrm>
            <a:off x="609600" y="1013334"/>
            <a:ext cx="10972800" cy="640000"/>
          </a:xfrm>
          <a:prstGeom prst="rect">
            <a:avLst/>
          </a:prstGeom>
          <a:noFill/>
          <a:ln>
            <a:noFill/>
          </a:ln>
        </p:spPr>
        <p:txBody>
          <a:bodyPr wrap="square" lIns="0" tIns="0" rIns="240000" bIns="160000" rtlCol="0" anchor="t">
            <a:normAutofit fontScale="85000" lnSpcReduction="20000"/>
          </a:bodyPr>
          <a:lstStyle/>
          <a:p>
            <a:pPr>
              <a:lnSpc>
                <a:spcPct val="120000"/>
              </a:lnSpc>
            </a:pPr>
            <a:r>
              <a:rPr lang="en-US" sz="1733" dirty="0">
                <a:solidFill>
                  <a:srgbClr val="333333"/>
                </a:solidFill>
                <a:latin typeface="Calibri"/>
                <a:ea typeface="Calibri"/>
                <a:cs typeface="Calibri"/>
              </a:rPr>
              <a:t>GNSS is the </a:t>
            </a:r>
            <a:r>
              <a:rPr lang="en-US" sz="1733" b="1" dirty="0">
                <a:solidFill>
                  <a:srgbClr val="003893"/>
                </a:solidFill>
                <a:latin typeface="Calibri"/>
                <a:ea typeface="Calibri"/>
                <a:cs typeface="Calibri"/>
              </a:rPr>
              <a:t>primary absolute-positioning sensor</a:t>
            </a:r>
            <a:r>
              <a:rPr lang="en-US" sz="1733" dirty="0">
                <a:solidFill>
                  <a:srgbClr val="333333"/>
                </a:solidFill>
                <a:latin typeface="Calibri"/>
                <a:ea typeface="Calibri"/>
                <a:cs typeface="Calibri"/>
              </a:rPr>
              <a:t> for autonomous vehicles — yet it fails </a:t>
            </a:r>
            <a:r>
              <a:rPr lang="en-US" sz="1733" b="1" dirty="0">
                <a:solidFill>
                  <a:srgbClr val="003893"/>
                </a:solidFill>
                <a:latin typeface="Calibri"/>
                <a:ea typeface="Calibri"/>
                <a:cs typeface="Calibri"/>
              </a:rPr>
              <a:t>predictably and frequently</a:t>
            </a:r>
            <a:r>
              <a:rPr lang="en-US" sz="1733" dirty="0">
                <a:solidFill>
                  <a:srgbClr val="333333"/>
                </a:solidFill>
                <a:latin typeface="Calibri"/>
                <a:ea typeface="Calibri"/>
                <a:cs typeface="Calibri"/>
              </a:rPr>
              <a:t> in the environments AVs operate in.</a:t>
            </a:r>
          </a:p>
        </p:txBody>
      </p:sp>
      <p:sp>
        <p:nvSpPr>
          <p:cNvPr id="40" name="Card0Bg">
            <a:extLst>
              <a:ext uri="{FF2B5EF4-FFF2-40B4-BE49-F238E27FC236}">
                <a16:creationId xmlns:a16="http://schemas.microsoft.com/office/drawing/2014/main" id="{C6FCEFEB-EE8A-295C-1C56-2A6713D1E670}"/>
              </a:ext>
            </a:extLst>
          </p:cNvPr>
          <p:cNvSpPr/>
          <p:nvPr/>
        </p:nvSpPr>
        <p:spPr>
          <a:xfrm>
            <a:off x="609600" y="1872133"/>
            <a:ext cx="3493333" cy="3893333"/>
          </a:xfrm>
          <a:prstGeom prst="rect">
            <a:avLst/>
          </a:prstGeom>
          <a:solidFill>
            <a:srgbClr val="FFFFFF"/>
          </a:solidFill>
          <a:ln w="9525">
            <a:solidFill>
              <a:srgbClr val="DDDDDD"/>
            </a:solidFill>
          </a:ln>
        </p:spPr>
      </p:sp>
      <p:sp>
        <p:nvSpPr>
          <p:cNvPr id="41" name="Card0Strip">
            <a:extLst>
              <a:ext uri="{FF2B5EF4-FFF2-40B4-BE49-F238E27FC236}">
                <a16:creationId xmlns:a16="http://schemas.microsoft.com/office/drawing/2014/main" id="{91082F18-454B-0092-EFF2-AFEACD89A78E}"/>
              </a:ext>
            </a:extLst>
          </p:cNvPr>
          <p:cNvSpPr/>
          <p:nvPr/>
        </p:nvSpPr>
        <p:spPr>
          <a:xfrm>
            <a:off x="609600" y="1872133"/>
            <a:ext cx="3493333" cy="120000"/>
          </a:xfrm>
          <a:prstGeom prst="rect">
            <a:avLst/>
          </a:prstGeom>
          <a:solidFill>
            <a:srgbClr val="C62828"/>
          </a:solidFill>
          <a:ln>
            <a:noFill/>
          </a:ln>
        </p:spPr>
      </p:sp>
      <p:sp>
        <p:nvSpPr>
          <p:cNvPr id="42" name="Card0IconBg">
            <a:extLst>
              <a:ext uri="{FF2B5EF4-FFF2-40B4-BE49-F238E27FC236}">
                <a16:creationId xmlns:a16="http://schemas.microsoft.com/office/drawing/2014/main" id="{F6FB9A0B-31A7-22D1-7556-B34768E251BB}"/>
              </a:ext>
            </a:extLst>
          </p:cNvPr>
          <p:cNvSpPr/>
          <p:nvPr/>
        </p:nvSpPr>
        <p:spPr>
          <a:xfrm>
            <a:off x="849600" y="2165466"/>
            <a:ext cx="666667" cy="666667"/>
          </a:xfrm>
          <a:prstGeom prst="ellipse">
            <a:avLst/>
          </a:prstGeom>
          <a:solidFill>
            <a:srgbClr val="FDECEA"/>
          </a:solidFill>
          <a:ln w="19050">
            <a:solidFill>
              <a:srgbClr val="C62828"/>
            </a:solidFill>
          </a:ln>
        </p:spPr>
        <p:txBody>
          <a:bodyPr lIns="0" tIns="0" rIns="0" bIns="0" anchor="ctr"/>
          <a:lstStyle/>
          <a:p>
            <a:pPr algn="ctr"/>
            <a:r>
              <a:rPr lang="en-US" sz="2133" b="1" dirty="0">
                <a:solidFill>
                  <a:srgbClr val="C62828"/>
                </a:solidFill>
              </a:rPr>
              <a:t>1</a:t>
            </a:r>
          </a:p>
        </p:txBody>
      </p:sp>
      <p:sp>
        <p:nvSpPr>
          <p:cNvPr id="43" name="Card0Title">
            <a:extLst>
              <a:ext uri="{FF2B5EF4-FFF2-40B4-BE49-F238E27FC236}">
                <a16:creationId xmlns:a16="http://schemas.microsoft.com/office/drawing/2014/main" id="{BA1D4CA3-6D7A-C42B-7945-A4CB330E80E1}"/>
              </a:ext>
            </a:extLst>
          </p:cNvPr>
          <p:cNvSpPr>
            <a:spLocks noGrp="1"/>
          </p:cNvSpPr>
          <p:nvPr/>
        </p:nvSpPr>
        <p:spPr>
          <a:xfrm>
            <a:off x="1582933" y="2178800"/>
            <a:ext cx="2360000" cy="640000"/>
          </a:xfrm>
          <a:prstGeom prst="rect">
            <a:avLst/>
          </a:prstGeom>
          <a:noFill/>
          <a:ln>
            <a:noFill/>
          </a:ln>
        </p:spPr>
        <p:txBody>
          <a:bodyPr wrap="square" lIns="0" tIns="0" rIns="240000" bIns="160000" rtlCol="0" anchor="ctr">
            <a:normAutofit/>
          </a:bodyPr>
          <a:lstStyle/>
          <a:p>
            <a:r>
              <a:rPr lang="en-US" sz="2000" b="1" dirty="0">
                <a:solidFill>
                  <a:srgbClr val="003893"/>
                </a:solidFill>
                <a:latin typeface="Calibri"/>
                <a:ea typeface="Calibri"/>
                <a:cs typeface="Calibri"/>
              </a:rPr>
              <a:t>Urban Canyons</a:t>
            </a:r>
          </a:p>
        </p:txBody>
      </p:sp>
      <p:sp>
        <p:nvSpPr>
          <p:cNvPr id="44" name="Card0Body">
            <a:extLst>
              <a:ext uri="{FF2B5EF4-FFF2-40B4-BE49-F238E27FC236}">
                <a16:creationId xmlns:a16="http://schemas.microsoft.com/office/drawing/2014/main" id="{B6DF3BBB-9EC3-E6BD-5E45-BA201BE0848D}"/>
              </a:ext>
            </a:extLst>
          </p:cNvPr>
          <p:cNvSpPr>
            <a:spLocks noGrp="1"/>
          </p:cNvSpPr>
          <p:nvPr/>
        </p:nvSpPr>
        <p:spPr>
          <a:xfrm>
            <a:off x="849600" y="3005466"/>
            <a:ext cx="3013333" cy="1266667"/>
          </a:xfrm>
          <a:prstGeom prst="rect">
            <a:avLst/>
          </a:prstGeom>
          <a:noFill/>
          <a:ln>
            <a:noFill/>
          </a:ln>
        </p:spPr>
        <p:txBody>
          <a:bodyPr wrap="square" lIns="0" tIns="0" rIns="240000" bIns="160000" rtlCol="0" anchor="t">
            <a:normAutofit/>
          </a:bodyPr>
          <a:lstStyle/>
          <a:p>
            <a:pPr>
              <a:lnSpc>
                <a:spcPct val="120000"/>
              </a:lnSpc>
            </a:pPr>
            <a:r>
              <a:rPr lang="en-US" sz="1467" dirty="0">
                <a:solidFill>
                  <a:srgbClr val="333333"/>
                </a:solidFill>
                <a:latin typeface="Calibri"/>
                <a:ea typeface="Calibri"/>
                <a:cs typeface="Calibri"/>
              </a:rPr>
              <a:t>Tall buildings block and reflect satellite signals. Multipath errors corrupt range measurements.</a:t>
            </a:r>
          </a:p>
        </p:txBody>
      </p:sp>
      <p:sp>
        <p:nvSpPr>
          <p:cNvPr id="45" name="Card0Detail">
            <a:extLst>
              <a:ext uri="{FF2B5EF4-FFF2-40B4-BE49-F238E27FC236}">
                <a16:creationId xmlns:a16="http://schemas.microsoft.com/office/drawing/2014/main" id="{FE6BA089-A40A-C3D0-EDB4-B70F35CA7893}"/>
              </a:ext>
            </a:extLst>
          </p:cNvPr>
          <p:cNvSpPr>
            <a:spLocks noGrp="1"/>
          </p:cNvSpPr>
          <p:nvPr/>
        </p:nvSpPr>
        <p:spPr>
          <a:xfrm>
            <a:off x="849600" y="4298800"/>
            <a:ext cx="3013333" cy="1333333"/>
          </a:xfrm>
          <a:prstGeom prst="rect">
            <a:avLst/>
          </a:prstGeom>
          <a:noFill/>
          <a:ln>
            <a:noFill/>
          </a:ln>
        </p:spPr>
        <p:txBody>
          <a:bodyPr wrap="square" lIns="0" tIns="0" rIns="240000" bIns="160000" rtlCol="0" anchor="t">
            <a:normAutofit/>
          </a:bodyPr>
          <a:lstStyle/>
          <a:p>
            <a:pPr>
              <a:lnSpc>
                <a:spcPct val="120000"/>
              </a:lnSpc>
            </a:pPr>
            <a:r>
              <a:rPr lang="en-US" sz="1333" dirty="0">
                <a:solidFill>
                  <a:srgbClr val="555555"/>
                </a:solidFill>
                <a:latin typeface="Calibri"/>
                <a:ea typeface="Calibri"/>
                <a:cs typeface="Calibri"/>
              </a:rPr>
              <a:t>Position jumps of 10–50 m occur silently — the receiver continues reporting a “fix” even as accuracy collapses.</a:t>
            </a:r>
          </a:p>
        </p:txBody>
      </p:sp>
      <p:sp>
        <p:nvSpPr>
          <p:cNvPr id="46" name="Card1Bg">
            <a:extLst>
              <a:ext uri="{FF2B5EF4-FFF2-40B4-BE49-F238E27FC236}">
                <a16:creationId xmlns:a16="http://schemas.microsoft.com/office/drawing/2014/main" id="{7A73F685-5147-2CAD-259C-B26125B1B729}"/>
              </a:ext>
            </a:extLst>
          </p:cNvPr>
          <p:cNvSpPr/>
          <p:nvPr/>
        </p:nvSpPr>
        <p:spPr>
          <a:xfrm>
            <a:off x="4276267" y="1872133"/>
            <a:ext cx="3493333" cy="3893333"/>
          </a:xfrm>
          <a:prstGeom prst="rect">
            <a:avLst/>
          </a:prstGeom>
          <a:solidFill>
            <a:srgbClr val="FFFFFF"/>
          </a:solidFill>
          <a:ln w="9525">
            <a:solidFill>
              <a:srgbClr val="DDDDDD"/>
            </a:solidFill>
          </a:ln>
        </p:spPr>
      </p:sp>
      <p:sp>
        <p:nvSpPr>
          <p:cNvPr id="47" name="Card1Strip">
            <a:extLst>
              <a:ext uri="{FF2B5EF4-FFF2-40B4-BE49-F238E27FC236}">
                <a16:creationId xmlns:a16="http://schemas.microsoft.com/office/drawing/2014/main" id="{F3F8F523-99C7-DFCC-D633-37563F7C1446}"/>
              </a:ext>
            </a:extLst>
          </p:cNvPr>
          <p:cNvSpPr/>
          <p:nvPr/>
        </p:nvSpPr>
        <p:spPr>
          <a:xfrm>
            <a:off x="4276267" y="1872133"/>
            <a:ext cx="3493333" cy="120000"/>
          </a:xfrm>
          <a:prstGeom prst="rect">
            <a:avLst/>
          </a:prstGeom>
          <a:solidFill>
            <a:srgbClr val="F57F17"/>
          </a:solidFill>
          <a:ln>
            <a:noFill/>
          </a:ln>
        </p:spPr>
      </p:sp>
      <p:sp>
        <p:nvSpPr>
          <p:cNvPr id="48" name="Card1IconBg">
            <a:extLst>
              <a:ext uri="{FF2B5EF4-FFF2-40B4-BE49-F238E27FC236}">
                <a16:creationId xmlns:a16="http://schemas.microsoft.com/office/drawing/2014/main" id="{9D53E266-4A27-1CB5-45DF-86AE8A71F29E}"/>
              </a:ext>
            </a:extLst>
          </p:cNvPr>
          <p:cNvSpPr/>
          <p:nvPr/>
        </p:nvSpPr>
        <p:spPr>
          <a:xfrm>
            <a:off x="4516267" y="2165466"/>
            <a:ext cx="666667" cy="666667"/>
          </a:xfrm>
          <a:prstGeom prst="ellipse">
            <a:avLst/>
          </a:prstGeom>
          <a:solidFill>
            <a:srgbClr val="FFF8E1"/>
          </a:solidFill>
          <a:ln w="19050">
            <a:solidFill>
              <a:srgbClr val="F57F17"/>
            </a:solidFill>
          </a:ln>
        </p:spPr>
        <p:txBody>
          <a:bodyPr lIns="0" tIns="0" rIns="0" bIns="0" anchor="ctr"/>
          <a:lstStyle/>
          <a:p>
            <a:pPr algn="ctr"/>
            <a:r>
              <a:rPr lang="en-US" sz="2133" b="1" dirty="0">
                <a:solidFill>
                  <a:srgbClr val="F57F17"/>
                </a:solidFill>
              </a:rPr>
              <a:t>2</a:t>
            </a:r>
          </a:p>
        </p:txBody>
      </p:sp>
      <p:sp>
        <p:nvSpPr>
          <p:cNvPr id="49" name="Card1Title">
            <a:extLst>
              <a:ext uri="{FF2B5EF4-FFF2-40B4-BE49-F238E27FC236}">
                <a16:creationId xmlns:a16="http://schemas.microsoft.com/office/drawing/2014/main" id="{1D52987F-7C33-65E5-CF46-89904C276C3E}"/>
              </a:ext>
            </a:extLst>
          </p:cNvPr>
          <p:cNvSpPr>
            <a:spLocks noGrp="1"/>
          </p:cNvSpPr>
          <p:nvPr/>
        </p:nvSpPr>
        <p:spPr>
          <a:xfrm>
            <a:off x="5249600" y="2178800"/>
            <a:ext cx="2360000" cy="640000"/>
          </a:xfrm>
          <a:prstGeom prst="rect">
            <a:avLst/>
          </a:prstGeom>
          <a:noFill/>
          <a:ln>
            <a:noFill/>
          </a:ln>
        </p:spPr>
        <p:txBody>
          <a:bodyPr wrap="square" lIns="0" tIns="0" rIns="240000" bIns="160000" rtlCol="0" anchor="ctr">
            <a:normAutofit fontScale="92500" lnSpcReduction="20000"/>
          </a:bodyPr>
          <a:lstStyle/>
          <a:p>
            <a:r>
              <a:rPr lang="en-US" sz="2000" b="1" dirty="0">
                <a:solidFill>
                  <a:srgbClr val="003893"/>
                </a:solidFill>
                <a:latin typeface="Calibri"/>
                <a:ea typeface="Calibri"/>
                <a:cs typeface="Calibri"/>
              </a:rPr>
              <a:t>Tunnels &amp; Underpasses</a:t>
            </a:r>
          </a:p>
        </p:txBody>
      </p:sp>
      <p:sp>
        <p:nvSpPr>
          <p:cNvPr id="50" name="Card1Body">
            <a:extLst>
              <a:ext uri="{FF2B5EF4-FFF2-40B4-BE49-F238E27FC236}">
                <a16:creationId xmlns:a16="http://schemas.microsoft.com/office/drawing/2014/main" id="{0ED4BF6E-1C00-8C71-581A-B8B925428D65}"/>
              </a:ext>
            </a:extLst>
          </p:cNvPr>
          <p:cNvSpPr>
            <a:spLocks noGrp="1"/>
          </p:cNvSpPr>
          <p:nvPr/>
        </p:nvSpPr>
        <p:spPr>
          <a:xfrm>
            <a:off x="4516267" y="3005466"/>
            <a:ext cx="3013333" cy="1266667"/>
          </a:xfrm>
          <a:prstGeom prst="rect">
            <a:avLst/>
          </a:prstGeom>
          <a:noFill/>
          <a:ln>
            <a:noFill/>
          </a:ln>
        </p:spPr>
        <p:txBody>
          <a:bodyPr wrap="square" lIns="0" tIns="0" rIns="240000" bIns="160000" rtlCol="0" anchor="t">
            <a:normAutofit/>
          </a:bodyPr>
          <a:lstStyle/>
          <a:p>
            <a:pPr>
              <a:lnSpc>
                <a:spcPct val="120000"/>
              </a:lnSpc>
            </a:pPr>
            <a:r>
              <a:rPr lang="en-US" sz="1467" dirty="0">
                <a:solidFill>
                  <a:srgbClr val="333333"/>
                </a:solidFill>
                <a:latin typeface="Calibri"/>
                <a:ea typeface="Calibri"/>
                <a:cs typeface="Calibri"/>
              </a:rPr>
              <a:t>Complete signal blockage causes instantaneous position loss.</a:t>
            </a:r>
          </a:p>
        </p:txBody>
      </p:sp>
      <p:sp>
        <p:nvSpPr>
          <p:cNvPr id="51" name="Card1Detail">
            <a:extLst>
              <a:ext uri="{FF2B5EF4-FFF2-40B4-BE49-F238E27FC236}">
                <a16:creationId xmlns:a16="http://schemas.microsoft.com/office/drawing/2014/main" id="{95BAEA96-D700-B5D2-6F71-4444800C4D9C}"/>
              </a:ext>
            </a:extLst>
          </p:cNvPr>
          <p:cNvSpPr>
            <a:spLocks noGrp="1"/>
          </p:cNvSpPr>
          <p:nvPr/>
        </p:nvSpPr>
        <p:spPr>
          <a:xfrm>
            <a:off x="4516267" y="4298800"/>
            <a:ext cx="3013333" cy="1333333"/>
          </a:xfrm>
          <a:prstGeom prst="rect">
            <a:avLst/>
          </a:prstGeom>
          <a:noFill/>
          <a:ln>
            <a:noFill/>
          </a:ln>
        </p:spPr>
        <p:txBody>
          <a:bodyPr wrap="square" lIns="0" tIns="0" rIns="240000" bIns="160000" rtlCol="0" anchor="t">
            <a:normAutofit/>
          </a:bodyPr>
          <a:lstStyle/>
          <a:p>
            <a:pPr>
              <a:lnSpc>
                <a:spcPct val="120000"/>
              </a:lnSpc>
            </a:pPr>
            <a:r>
              <a:rPr lang="en-US" sz="1333" dirty="0">
                <a:solidFill>
                  <a:srgbClr val="555555"/>
                </a:solidFill>
                <a:latin typeface="Calibri"/>
                <a:ea typeface="Calibri"/>
                <a:cs typeface="Calibri"/>
              </a:rPr>
              <a:t>A reactive system detects failure only after the vehicle has entered the tunnel — too late to plan a safe response or engage backup localisation.</a:t>
            </a:r>
          </a:p>
        </p:txBody>
      </p:sp>
      <p:sp>
        <p:nvSpPr>
          <p:cNvPr id="52" name="Card2Bg">
            <a:extLst>
              <a:ext uri="{FF2B5EF4-FFF2-40B4-BE49-F238E27FC236}">
                <a16:creationId xmlns:a16="http://schemas.microsoft.com/office/drawing/2014/main" id="{E97E349B-C539-6DBC-C43E-B0407E717BBB}"/>
              </a:ext>
            </a:extLst>
          </p:cNvPr>
          <p:cNvSpPr/>
          <p:nvPr/>
        </p:nvSpPr>
        <p:spPr>
          <a:xfrm>
            <a:off x="7942934" y="1872133"/>
            <a:ext cx="3493333" cy="3893333"/>
          </a:xfrm>
          <a:prstGeom prst="rect">
            <a:avLst/>
          </a:prstGeom>
          <a:solidFill>
            <a:srgbClr val="FFFFFF"/>
          </a:solidFill>
          <a:ln w="9525">
            <a:solidFill>
              <a:srgbClr val="DDDDDD"/>
            </a:solidFill>
          </a:ln>
        </p:spPr>
      </p:sp>
      <p:sp>
        <p:nvSpPr>
          <p:cNvPr id="53" name="Card2Strip">
            <a:extLst>
              <a:ext uri="{FF2B5EF4-FFF2-40B4-BE49-F238E27FC236}">
                <a16:creationId xmlns:a16="http://schemas.microsoft.com/office/drawing/2014/main" id="{3470156D-48A4-CB36-4766-4886C3306133}"/>
              </a:ext>
            </a:extLst>
          </p:cNvPr>
          <p:cNvSpPr/>
          <p:nvPr/>
        </p:nvSpPr>
        <p:spPr>
          <a:xfrm>
            <a:off x="7942934" y="1872133"/>
            <a:ext cx="3493333" cy="120000"/>
          </a:xfrm>
          <a:prstGeom prst="rect">
            <a:avLst/>
          </a:prstGeom>
          <a:solidFill>
            <a:srgbClr val="003893"/>
          </a:solidFill>
          <a:ln>
            <a:noFill/>
          </a:ln>
        </p:spPr>
      </p:sp>
      <p:sp>
        <p:nvSpPr>
          <p:cNvPr id="54" name="Card2IconBg">
            <a:extLst>
              <a:ext uri="{FF2B5EF4-FFF2-40B4-BE49-F238E27FC236}">
                <a16:creationId xmlns:a16="http://schemas.microsoft.com/office/drawing/2014/main" id="{961120CA-D38F-7AE4-9F13-E29FF7A9211A}"/>
              </a:ext>
            </a:extLst>
          </p:cNvPr>
          <p:cNvSpPr/>
          <p:nvPr/>
        </p:nvSpPr>
        <p:spPr>
          <a:xfrm>
            <a:off x="8182933" y="2165466"/>
            <a:ext cx="666667" cy="666667"/>
          </a:xfrm>
          <a:prstGeom prst="ellipse">
            <a:avLst/>
          </a:prstGeom>
          <a:solidFill>
            <a:srgbClr val="E8F0FB"/>
          </a:solidFill>
          <a:ln w="19050">
            <a:solidFill>
              <a:srgbClr val="003893"/>
            </a:solidFill>
          </a:ln>
        </p:spPr>
        <p:txBody>
          <a:bodyPr lIns="0" tIns="0" rIns="0" bIns="0" anchor="ctr"/>
          <a:lstStyle/>
          <a:p>
            <a:pPr algn="ctr"/>
            <a:r>
              <a:rPr lang="en-US" sz="2133" b="1" dirty="0">
                <a:solidFill>
                  <a:srgbClr val="003893"/>
                </a:solidFill>
              </a:rPr>
              <a:t>3</a:t>
            </a:r>
          </a:p>
        </p:txBody>
      </p:sp>
      <p:sp>
        <p:nvSpPr>
          <p:cNvPr id="55" name="Card2Title">
            <a:extLst>
              <a:ext uri="{FF2B5EF4-FFF2-40B4-BE49-F238E27FC236}">
                <a16:creationId xmlns:a16="http://schemas.microsoft.com/office/drawing/2014/main" id="{AFB6B867-8D10-5489-94F6-01CFC60B4B1A}"/>
              </a:ext>
            </a:extLst>
          </p:cNvPr>
          <p:cNvSpPr>
            <a:spLocks noGrp="1"/>
          </p:cNvSpPr>
          <p:nvPr/>
        </p:nvSpPr>
        <p:spPr>
          <a:xfrm>
            <a:off x="8916267" y="2178800"/>
            <a:ext cx="2360000" cy="640000"/>
          </a:xfrm>
          <a:prstGeom prst="rect">
            <a:avLst/>
          </a:prstGeom>
          <a:noFill/>
          <a:ln>
            <a:noFill/>
          </a:ln>
        </p:spPr>
        <p:txBody>
          <a:bodyPr wrap="square" lIns="0" tIns="0" rIns="240000" bIns="160000" rtlCol="0" anchor="ctr">
            <a:normAutofit/>
          </a:bodyPr>
          <a:lstStyle/>
          <a:p>
            <a:r>
              <a:rPr lang="en-US" sz="2000" b="1" dirty="0">
                <a:solidFill>
                  <a:srgbClr val="003893"/>
                </a:solidFill>
                <a:latin typeface="Calibri"/>
                <a:ea typeface="Calibri"/>
                <a:cs typeface="Calibri"/>
              </a:rPr>
              <a:t>Atmospheric Effects</a:t>
            </a:r>
          </a:p>
        </p:txBody>
      </p:sp>
      <p:sp>
        <p:nvSpPr>
          <p:cNvPr id="56" name="Card2Body">
            <a:extLst>
              <a:ext uri="{FF2B5EF4-FFF2-40B4-BE49-F238E27FC236}">
                <a16:creationId xmlns:a16="http://schemas.microsoft.com/office/drawing/2014/main" id="{5EA8C9A0-E9A7-643D-6A24-B0538BF64882}"/>
              </a:ext>
            </a:extLst>
          </p:cNvPr>
          <p:cNvSpPr>
            <a:spLocks noGrp="1"/>
          </p:cNvSpPr>
          <p:nvPr/>
        </p:nvSpPr>
        <p:spPr>
          <a:xfrm>
            <a:off x="8182934" y="3005466"/>
            <a:ext cx="3013333" cy="1266667"/>
          </a:xfrm>
          <a:prstGeom prst="rect">
            <a:avLst/>
          </a:prstGeom>
          <a:noFill/>
          <a:ln>
            <a:noFill/>
          </a:ln>
        </p:spPr>
        <p:txBody>
          <a:bodyPr wrap="square" lIns="0" tIns="0" rIns="240000" bIns="160000" rtlCol="0" anchor="t">
            <a:normAutofit/>
          </a:bodyPr>
          <a:lstStyle/>
          <a:p>
            <a:pPr>
              <a:lnSpc>
                <a:spcPct val="120000"/>
              </a:lnSpc>
            </a:pPr>
            <a:r>
              <a:rPr lang="en-US" sz="1467" dirty="0">
                <a:solidFill>
                  <a:srgbClr val="333333"/>
                </a:solidFill>
                <a:latin typeface="Calibri"/>
                <a:ea typeface="Calibri"/>
                <a:cs typeface="Calibri"/>
              </a:rPr>
              <a:t>Ionospheric and tropospheric disturbances degrade range accuracy across wide areas.</a:t>
            </a:r>
          </a:p>
        </p:txBody>
      </p:sp>
      <p:sp>
        <p:nvSpPr>
          <p:cNvPr id="57" name="Card2Detail">
            <a:extLst>
              <a:ext uri="{FF2B5EF4-FFF2-40B4-BE49-F238E27FC236}">
                <a16:creationId xmlns:a16="http://schemas.microsoft.com/office/drawing/2014/main" id="{2E49CC50-AEC5-31AC-025F-367FF16CF0DD}"/>
              </a:ext>
            </a:extLst>
          </p:cNvPr>
          <p:cNvSpPr>
            <a:spLocks noGrp="1"/>
          </p:cNvSpPr>
          <p:nvPr/>
        </p:nvSpPr>
        <p:spPr>
          <a:xfrm>
            <a:off x="8182934" y="4298800"/>
            <a:ext cx="3013333" cy="1333333"/>
          </a:xfrm>
          <a:prstGeom prst="rect">
            <a:avLst/>
          </a:prstGeom>
          <a:noFill/>
          <a:ln>
            <a:noFill/>
          </a:ln>
        </p:spPr>
        <p:txBody>
          <a:bodyPr wrap="square" lIns="0" tIns="0" rIns="240000" bIns="160000" rtlCol="0" anchor="t">
            <a:normAutofit/>
          </a:bodyPr>
          <a:lstStyle/>
          <a:p>
            <a:pPr>
              <a:lnSpc>
                <a:spcPct val="120000"/>
              </a:lnSpc>
            </a:pPr>
            <a:r>
              <a:rPr lang="en-US" sz="1333" dirty="0">
                <a:solidFill>
                  <a:srgbClr val="555555"/>
                </a:solidFill>
                <a:latin typeface="Calibri"/>
                <a:ea typeface="Calibri"/>
                <a:cs typeface="Calibri"/>
              </a:rPr>
              <a:t>Effects are gradual and harder to detect — DOP and C/N₀ drift slowly before the solution quality degrades.</a:t>
            </a:r>
          </a:p>
        </p:txBody>
      </p:sp>
      <p:sp>
        <p:nvSpPr>
          <p:cNvPr id="80" name="CoreBg">
            <a:extLst>
              <a:ext uri="{FF2B5EF4-FFF2-40B4-BE49-F238E27FC236}">
                <a16:creationId xmlns:a16="http://schemas.microsoft.com/office/drawing/2014/main" id="{B48C156B-641F-30A4-A0E6-DDE8789BB52C}"/>
              </a:ext>
            </a:extLst>
          </p:cNvPr>
          <p:cNvSpPr/>
          <p:nvPr/>
        </p:nvSpPr>
        <p:spPr>
          <a:xfrm>
            <a:off x="609600" y="6160000"/>
            <a:ext cx="10972800" cy="426667"/>
          </a:xfrm>
          <a:prstGeom prst="rect">
            <a:avLst/>
          </a:prstGeom>
          <a:solidFill>
            <a:srgbClr val="003893"/>
          </a:solidFill>
          <a:ln>
            <a:noFill/>
          </a:ln>
        </p:spPr>
      </p:sp>
      <p:sp>
        <p:nvSpPr>
          <p:cNvPr id="81" name="CoreText">
            <a:extLst>
              <a:ext uri="{FF2B5EF4-FFF2-40B4-BE49-F238E27FC236}">
                <a16:creationId xmlns:a16="http://schemas.microsoft.com/office/drawing/2014/main" id="{6E0CC040-41AD-8640-E590-3A23D39EC651}"/>
              </a:ext>
            </a:extLst>
          </p:cNvPr>
          <p:cNvSpPr>
            <a:spLocks noGrp="1"/>
          </p:cNvSpPr>
          <p:nvPr/>
        </p:nvSpPr>
        <p:spPr>
          <a:xfrm>
            <a:off x="609600" y="6160000"/>
            <a:ext cx="10972800" cy="426667"/>
          </a:xfrm>
          <a:prstGeom prst="rect">
            <a:avLst/>
          </a:prstGeom>
          <a:noFill/>
          <a:ln>
            <a:noFill/>
          </a:ln>
        </p:spPr>
        <p:txBody>
          <a:bodyPr wrap="square" lIns="266667" tIns="0" rIns="266667" bIns="0" rtlCol="0" anchor="ctr">
            <a:normAutofit lnSpcReduction="10000"/>
          </a:bodyPr>
          <a:lstStyle/>
          <a:p>
            <a:pPr algn="ctr"/>
            <a:r>
              <a:rPr lang="en-US" sz="1467" b="1" dirty="0">
                <a:solidFill>
                  <a:srgbClr val="4FC3F7"/>
                </a:solidFill>
                <a:latin typeface="Calibri"/>
                <a:ea typeface="Calibri"/>
                <a:cs typeface="Calibri"/>
              </a:rPr>
              <a:t>Core Problem:</a:t>
            </a:r>
            <a:r>
              <a:rPr lang="en-US" sz="1400" dirty="0">
                <a:solidFill>
                  <a:srgbClr val="FFFFFF"/>
                </a:solidFill>
                <a:latin typeface="Calibri"/>
                <a:ea typeface="Calibri"/>
                <a:cs typeface="Calibri"/>
              </a:rPr>
              <a:t>  All existing monitors (RTKLIB Q-codes, RAIM, ML classifiers) are </a:t>
            </a:r>
            <a:r>
              <a:rPr lang="en-US" sz="1400" b="1" dirty="0">
                <a:solidFill>
                  <a:srgbClr val="FFFFFF"/>
                </a:solidFill>
                <a:latin typeface="Calibri"/>
                <a:ea typeface="Calibri"/>
                <a:cs typeface="Calibri"/>
              </a:rPr>
              <a:t>REACTIVE</a:t>
            </a:r>
            <a:r>
              <a:rPr lang="en-US" sz="1400" dirty="0">
                <a:solidFill>
                  <a:srgbClr val="FFFFFF"/>
                </a:solidFill>
                <a:latin typeface="Calibri"/>
                <a:ea typeface="Calibri"/>
                <a:cs typeface="Calibri"/>
              </a:rPr>
              <a:t> — autonomous vehicles need </a:t>
            </a:r>
            <a:r>
              <a:rPr lang="en-US" sz="1400" b="1" dirty="0">
                <a:solidFill>
                  <a:srgbClr val="FFFFFF"/>
                </a:solidFill>
                <a:latin typeface="Calibri"/>
                <a:ea typeface="Calibri"/>
                <a:cs typeface="Calibri"/>
              </a:rPr>
              <a:t>advance warning</a:t>
            </a:r>
            <a:r>
              <a:rPr lang="en-US" sz="1400" dirty="0">
                <a:solidFill>
                  <a:srgbClr val="FFFFFF"/>
                </a:solidFill>
                <a:latin typeface="Calibri"/>
                <a:ea typeface="Calibri"/>
                <a:cs typeface="Calibri"/>
              </a:rPr>
              <a:t> to respond safely.</a:t>
            </a:r>
          </a:p>
        </p:txBody>
      </p:sp>
      <p:grpSp>
        <p:nvGrpSpPr>
          <p:cNvPr id="7" name="Group 6">
            <a:extLst>
              <a:ext uri="{FF2B5EF4-FFF2-40B4-BE49-F238E27FC236}">
                <a16:creationId xmlns:a16="http://schemas.microsoft.com/office/drawing/2014/main" id="{725F7016-4AF0-63EF-3859-7B606FEA03E1}"/>
              </a:ext>
            </a:extLst>
          </p:cNvPr>
          <p:cNvGrpSpPr/>
          <p:nvPr/>
        </p:nvGrpSpPr>
        <p:grpSpPr>
          <a:xfrm>
            <a:off x="-95624" y="-24618"/>
            <a:ext cx="12287624" cy="767311"/>
            <a:chOff x="-71718" y="-18464"/>
            <a:chExt cx="9215718" cy="575483"/>
          </a:xfrm>
        </p:grpSpPr>
        <p:sp>
          <p:nvSpPr>
            <p:cNvPr id="9" name="Shape 1">
              <a:extLst>
                <a:ext uri="{FF2B5EF4-FFF2-40B4-BE49-F238E27FC236}">
                  <a16:creationId xmlns:a16="http://schemas.microsoft.com/office/drawing/2014/main" id="{9B34594A-88CA-A221-5B65-5854DC54E69B}"/>
                </a:ext>
              </a:extLst>
            </p:cNvPr>
            <p:cNvSpPr/>
            <p:nvPr/>
          </p:nvSpPr>
          <p:spPr>
            <a:xfrm>
              <a:off x="0" y="526760"/>
              <a:ext cx="9144000" cy="27432"/>
            </a:xfrm>
            <a:prstGeom prst="rect">
              <a:avLst/>
            </a:prstGeom>
            <a:solidFill>
              <a:srgbClr val="4FC3F7"/>
            </a:solidFill>
            <a:ln w="12700">
              <a:solidFill>
                <a:srgbClr val="4FC3F7"/>
              </a:solidFill>
              <a:prstDash val="solid"/>
            </a:ln>
          </p:spPr>
        </p:sp>
        <p:sp>
          <p:nvSpPr>
            <p:cNvPr id="10" name="Shape 4">
              <a:extLst>
                <a:ext uri="{FF2B5EF4-FFF2-40B4-BE49-F238E27FC236}">
                  <a16:creationId xmlns:a16="http://schemas.microsoft.com/office/drawing/2014/main" id="{09233E48-A9A8-0C14-3244-ADCB22987695}"/>
                </a:ext>
              </a:extLst>
            </p:cNvPr>
            <p:cNvSpPr/>
            <p:nvPr/>
          </p:nvSpPr>
          <p:spPr>
            <a:xfrm>
              <a:off x="0" y="-18464"/>
              <a:ext cx="846572" cy="575483"/>
            </a:xfrm>
            <a:prstGeom prst="homePlate">
              <a:avLst/>
            </a:prstGeom>
            <a:solidFill>
              <a:srgbClr val="FFFFFF"/>
            </a:solidFill>
            <a:ln w="6350">
              <a:solidFill>
                <a:srgbClr val="CCCCCC"/>
              </a:solidFill>
              <a:prstDash val="solid"/>
            </a:ln>
          </p:spPr>
        </p:sp>
        <p:sp>
          <p:nvSpPr>
            <p:cNvPr id="11" name="Shape 5">
              <a:extLst>
                <a:ext uri="{FF2B5EF4-FFF2-40B4-BE49-F238E27FC236}">
                  <a16:creationId xmlns:a16="http://schemas.microsoft.com/office/drawing/2014/main" id="{CBF101A3-3272-8422-73BC-68EF8F42A6F7}"/>
                </a:ext>
              </a:extLst>
            </p:cNvPr>
            <p:cNvSpPr/>
            <p:nvPr/>
          </p:nvSpPr>
          <p:spPr>
            <a:xfrm>
              <a:off x="8046720" y="91440"/>
              <a:ext cx="38405" cy="38405"/>
            </a:xfrm>
            <a:prstGeom prst="ellipse">
              <a:avLst/>
            </a:prstGeom>
            <a:solidFill>
              <a:srgbClr val="FFFFFF">
                <a:alpha val="35000"/>
              </a:srgbClr>
            </a:solidFill>
            <a:ln w="12700">
              <a:solidFill>
                <a:srgbClr val="FFFFFF"/>
              </a:solidFill>
              <a:prstDash val="solid"/>
            </a:ln>
          </p:spPr>
        </p:sp>
        <p:sp>
          <p:nvSpPr>
            <p:cNvPr id="12" name="Shape 6">
              <a:extLst>
                <a:ext uri="{FF2B5EF4-FFF2-40B4-BE49-F238E27FC236}">
                  <a16:creationId xmlns:a16="http://schemas.microsoft.com/office/drawing/2014/main" id="{81BBA983-6BA7-ACA3-116A-F73F2285FE6A}"/>
                </a:ext>
              </a:extLst>
            </p:cNvPr>
            <p:cNvSpPr/>
            <p:nvPr/>
          </p:nvSpPr>
          <p:spPr>
            <a:xfrm>
              <a:off x="8211312" y="91440"/>
              <a:ext cx="38405" cy="38405"/>
            </a:xfrm>
            <a:prstGeom prst="ellipse">
              <a:avLst/>
            </a:prstGeom>
            <a:solidFill>
              <a:srgbClr val="FFFFFF">
                <a:alpha val="35000"/>
              </a:srgbClr>
            </a:solidFill>
            <a:ln w="12700">
              <a:solidFill>
                <a:srgbClr val="FFFFFF"/>
              </a:solidFill>
              <a:prstDash val="solid"/>
            </a:ln>
          </p:spPr>
        </p:sp>
        <p:sp>
          <p:nvSpPr>
            <p:cNvPr id="13" name="Shape 7">
              <a:extLst>
                <a:ext uri="{FF2B5EF4-FFF2-40B4-BE49-F238E27FC236}">
                  <a16:creationId xmlns:a16="http://schemas.microsoft.com/office/drawing/2014/main" id="{757D680B-35C4-2C17-7910-15851BF64C3E}"/>
                </a:ext>
              </a:extLst>
            </p:cNvPr>
            <p:cNvSpPr/>
            <p:nvPr/>
          </p:nvSpPr>
          <p:spPr>
            <a:xfrm>
              <a:off x="8375904" y="91440"/>
              <a:ext cx="38405" cy="38405"/>
            </a:xfrm>
            <a:prstGeom prst="ellipse">
              <a:avLst/>
            </a:prstGeom>
            <a:solidFill>
              <a:srgbClr val="FFFFFF">
                <a:alpha val="35000"/>
              </a:srgbClr>
            </a:solidFill>
            <a:ln w="12700">
              <a:solidFill>
                <a:srgbClr val="FFFFFF"/>
              </a:solidFill>
              <a:prstDash val="solid"/>
            </a:ln>
          </p:spPr>
        </p:sp>
        <p:sp>
          <p:nvSpPr>
            <p:cNvPr id="14" name="Shape 8">
              <a:extLst>
                <a:ext uri="{FF2B5EF4-FFF2-40B4-BE49-F238E27FC236}">
                  <a16:creationId xmlns:a16="http://schemas.microsoft.com/office/drawing/2014/main" id="{C7AE08F5-C177-C809-057F-62E319EC4D22}"/>
                </a:ext>
              </a:extLst>
            </p:cNvPr>
            <p:cNvSpPr/>
            <p:nvPr/>
          </p:nvSpPr>
          <p:spPr>
            <a:xfrm>
              <a:off x="8540496" y="91440"/>
              <a:ext cx="38405" cy="38405"/>
            </a:xfrm>
            <a:prstGeom prst="ellipse">
              <a:avLst/>
            </a:prstGeom>
            <a:solidFill>
              <a:srgbClr val="FFFFFF">
                <a:alpha val="35000"/>
              </a:srgbClr>
            </a:solidFill>
            <a:ln w="12700">
              <a:solidFill>
                <a:srgbClr val="FFFFFF"/>
              </a:solidFill>
              <a:prstDash val="solid"/>
            </a:ln>
          </p:spPr>
        </p:sp>
        <p:sp>
          <p:nvSpPr>
            <p:cNvPr id="15" name="Shape 9">
              <a:extLst>
                <a:ext uri="{FF2B5EF4-FFF2-40B4-BE49-F238E27FC236}">
                  <a16:creationId xmlns:a16="http://schemas.microsoft.com/office/drawing/2014/main" id="{C9D57033-090C-A435-E219-2B6EC4588BFB}"/>
                </a:ext>
              </a:extLst>
            </p:cNvPr>
            <p:cNvSpPr/>
            <p:nvPr/>
          </p:nvSpPr>
          <p:spPr>
            <a:xfrm>
              <a:off x="8046720" y="219456"/>
              <a:ext cx="38405" cy="38405"/>
            </a:xfrm>
            <a:prstGeom prst="ellipse">
              <a:avLst/>
            </a:prstGeom>
            <a:solidFill>
              <a:srgbClr val="FFFFFF">
                <a:alpha val="35000"/>
              </a:srgbClr>
            </a:solidFill>
            <a:ln w="12700">
              <a:solidFill>
                <a:srgbClr val="FFFFFF"/>
              </a:solidFill>
              <a:prstDash val="solid"/>
            </a:ln>
          </p:spPr>
        </p:sp>
        <p:sp>
          <p:nvSpPr>
            <p:cNvPr id="16" name="Shape 10">
              <a:extLst>
                <a:ext uri="{FF2B5EF4-FFF2-40B4-BE49-F238E27FC236}">
                  <a16:creationId xmlns:a16="http://schemas.microsoft.com/office/drawing/2014/main" id="{3BC5B016-B3F3-E27B-639F-CD5536FCF7DB}"/>
                </a:ext>
              </a:extLst>
            </p:cNvPr>
            <p:cNvSpPr/>
            <p:nvPr/>
          </p:nvSpPr>
          <p:spPr>
            <a:xfrm>
              <a:off x="8211312" y="219456"/>
              <a:ext cx="38405" cy="38405"/>
            </a:xfrm>
            <a:prstGeom prst="ellipse">
              <a:avLst/>
            </a:prstGeom>
            <a:solidFill>
              <a:srgbClr val="FFFFFF">
                <a:alpha val="35000"/>
              </a:srgbClr>
            </a:solidFill>
            <a:ln w="12700">
              <a:solidFill>
                <a:srgbClr val="FFFFFF"/>
              </a:solidFill>
              <a:prstDash val="solid"/>
            </a:ln>
          </p:spPr>
        </p:sp>
        <p:sp>
          <p:nvSpPr>
            <p:cNvPr id="17" name="Shape 11">
              <a:extLst>
                <a:ext uri="{FF2B5EF4-FFF2-40B4-BE49-F238E27FC236}">
                  <a16:creationId xmlns:a16="http://schemas.microsoft.com/office/drawing/2014/main" id="{536AA1E6-DCE1-903B-457A-3F5A1BFB3745}"/>
                </a:ext>
              </a:extLst>
            </p:cNvPr>
            <p:cNvSpPr/>
            <p:nvPr/>
          </p:nvSpPr>
          <p:spPr>
            <a:xfrm>
              <a:off x="8375904" y="219456"/>
              <a:ext cx="38405" cy="38405"/>
            </a:xfrm>
            <a:prstGeom prst="ellipse">
              <a:avLst/>
            </a:prstGeom>
            <a:solidFill>
              <a:srgbClr val="FFFFFF">
                <a:alpha val="35000"/>
              </a:srgbClr>
            </a:solidFill>
            <a:ln w="12700">
              <a:solidFill>
                <a:srgbClr val="FFFFFF"/>
              </a:solidFill>
              <a:prstDash val="solid"/>
            </a:ln>
          </p:spPr>
        </p:sp>
        <p:sp>
          <p:nvSpPr>
            <p:cNvPr id="18" name="Shape 12">
              <a:extLst>
                <a:ext uri="{FF2B5EF4-FFF2-40B4-BE49-F238E27FC236}">
                  <a16:creationId xmlns:a16="http://schemas.microsoft.com/office/drawing/2014/main" id="{29FC4A87-9B4C-186B-BB18-D416D483D1A0}"/>
                </a:ext>
              </a:extLst>
            </p:cNvPr>
            <p:cNvSpPr/>
            <p:nvPr/>
          </p:nvSpPr>
          <p:spPr>
            <a:xfrm>
              <a:off x="8540496" y="219456"/>
              <a:ext cx="38405" cy="38405"/>
            </a:xfrm>
            <a:prstGeom prst="ellipse">
              <a:avLst/>
            </a:prstGeom>
            <a:solidFill>
              <a:srgbClr val="FFFFFF">
                <a:alpha val="35000"/>
              </a:srgbClr>
            </a:solidFill>
            <a:ln w="12700">
              <a:solidFill>
                <a:srgbClr val="FFFFFF"/>
              </a:solidFill>
              <a:prstDash val="solid"/>
            </a:ln>
          </p:spPr>
        </p:sp>
        <p:sp>
          <p:nvSpPr>
            <p:cNvPr id="19" name="Shape 13">
              <a:extLst>
                <a:ext uri="{FF2B5EF4-FFF2-40B4-BE49-F238E27FC236}">
                  <a16:creationId xmlns:a16="http://schemas.microsoft.com/office/drawing/2014/main" id="{60E85A59-F2FF-4B81-63FF-B145847B0439}"/>
                </a:ext>
              </a:extLst>
            </p:cNvPr>
            <p:cNvSpPr/>
            <p:nvPr/>
          </p:nvSpPr>
          <p:spPr>
            <a:xfrm>
              <a:off x="8046720" y="347472"/>
              <a:ext cx="38405" cy="38405"/>
            </a:xfrm>
            <a:prstGeom prst="ellipse">
              <a:avLst/>
            </a:prstGeom>
            <a:solidFill>
              <a:srgbClr val="FFFFFF">
                <a:alpha val="35000"/>
              </a:srgbClr>
            </a:solidFill>
            <a:ln w="12700">
              <a:solidFill>
                <a:srgbClr val="FFFFFF"/>
              </a:solidFill>
              <a:prstDash val="solid"/>
            </a:ln>
          </p:spPr>
        </p:sp>
        <p:sp>
          <p:nvSpPr>
            <p:cNvPr id="20" name="Shape 14">
              <a:extLst>
                <a:ext uri="{FF2B5EF4-FFF2-40B4-BE49-F238E27FC236}">
                  <a16:creationId xmlns:a16="http://schemas.microsoft.com/office/drawing/2014/main" id="{17D24CDC-6D40-C94A-079D-6214C7FC44F2}"/>
                </a:ext>
              </a:extLst>
            </p:cNvPr>
            <p:cNvSpPr/>
            <p:nvPr/>
          </p:nvSpPr>
          <p:spPr>
            <a:xfrm>
              <a:off x="8211312" y="347472"/>
              <a:ext cx="38405" cy="38405"/>
            </a:xfrm>
            <a:prstGeom prst="ellipse">
              <a:avLst/>
            </a:prstGeom>
            <a:solidFill>
              <a:srgbClr val="FFFFFF">
                <a:alpha val="35000"/>
              </a:srgbClr>
            </a:solidFill>
            <a:ln w="12700">
              <a:solidFill>
                <a:srgbClr val="FFFFFF"/>
              </a:solidFill>
              <a:prstDash val="solid"/>
            </a:ln>
          </p:spPr>
        </p:sp>
        <p:sp>
          <p:nvSpPr>
            <p:cNvPr id="22" name="Shape 15">
              <a:extLst>
                <a:ext uri="{FF2B5EF4-FFF2-40B4-BE49-F238E27FC236}">
                  <a16:creationId xmlns:a16="http://schemas.microsoft.com/office/drawing/2014/main" id="{DD523AAC-12EC-E31E-2892-FA4D394AE233}"/>
                </a:ext>
              </a:extLst>
            </p:cNvPr>
            <p:cNvSpPr/>
            <p:nvPr/>
          </p:nvSpPr>
          <p:spPr>
            <a:xfrm>
              <a:off x="8375904" y="347472"/>
              <a:ext cx="38405" cy="38405"/>
            </a:xfrm>
            <a:prstGeom prst="ellipse">
              <a:avLst/>
            </a:prstGeom>
            <a:solidFill>
              <a:srgbClr val="FFFFFF">
                <a:alpha val="35000"/>
              </a:srgbClr>
            </a:solidFill>
            <a:ln w="12700">
              <a:solidFill>
                <a:srgbClr val="FFFFFF"/>
              </a:solidFill>
              <a:prstDash val="solid"/>
            </a:ln>
          </p:spPr>
        </p:sp>
        <p:sp>
          <p:nvSpPr>
            <p:cNvPr id="23" name="Shape 16">
              <a:extLst>
                <a:ext uri="{FF2B5EF4-FFF2-40B4-BE49-F238E27FC236}">
                  <a16:creationId xmlns:a16="http://schemas.microsoft.com/office/drawing/2014/main" id="{6F5FC13E-E3C4-191B-C06C-57CCDD4033DD}"/>
                </a:ext>
              </a:extLst>
            </p:cNvPr>
            <p:cNvSpPr/>
            <p:nvPr/>
          </p:nvSpPr>
          <p:spPr>
            <a:xfrm>
              <a:off x="8540496" y="347472"/>
              <a:ext cx="38405" cy="38405"/>
            </a:xfrm>
            <a:prstGeom prst="ellipse">
              <a:avLst/>
            </a:prstGeom>
            <a:solidFill>
              <a:srgbClr val="FFFFFF">
                <a:alpha val="35000"/>
              </a:srgbClr>
            </a:solidFill>
            <a:ln w="12700">
              <a:solidFill>
                <a:srgbClr val="FFFFFF"/>
              </a:solidFill>
              <a:prstDash val="solid"/>
            </a:ln>
          </p:spPr>
        </p:sp>
        <p:pic>
          <p:nvPicPr>
            <p:cNvPr id="24" name="Picture 23">
              <a:extLst>
                <a:ext uri="{FF2B5EF4-FFF2-40B4-BE49-F238E27FC236}">
                  <a16:creationId xmlns:a16="http://schemas.microsoft.com/office/drawing/2014/main" id="{357C549D-AB0A-42DE-77C4-BD0ED565B42B}"/>
                </a:ext>
              </a:extLst>
            </p:cNvPr>
            <p:cNvPicPr>
              <a:picLocks noChangeAspect="1"/>
            </p:cNvPicPr>
            <p:nvPr/>
          </p:nvPicPr>
          <p:blipFill>
            <a:blip r:embed="rId3"/>
            <a:srcRect l="20128" t="19209" r="10255" b="19209"/>
            <a:stretch/>
          </p:blipFill>
          <p:spPr>
            <a:xfrm>
              <a:off x="-71718" y="-18464"/>
              <a:ext cx="927596" cy="575483"/>
            </a:xfrm>
            <a:prstGeom prst="rect">
              <a:avLst/>
            </a:prstGeom>
          </p:spPr>
        </p:pic>
      </p:grpSp>
    </p:spTree>
    <p:extLst>
      <p:ext uri="{BB962C8B-B14F-4D97-AF65-F5344CB8AC3E}">
        <p14:creationId xmlns:p14="http://schemas.microsoft.com/office/powerpoint/2010/main" val="381917796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5" name="Image 0" descr="preencoded.png">
            <a:extLst>
              <a:ext uri="{FF2B5EF4-FFF2-40B4-BE49-F238E27FC236}">
                <a16:creationId xmlns:a16="http://schemas.microsoft.com/office/drawing/2014/main" id="{11EB2792-E0EE-D051-CB00-59BD56AF9141}"/>
              </a:ext>
            </a:extLst>
          </p:cNvPr>
          <p:cNvPicPr>
            <a:picLocks noChangeAspect="1"/>
          </p:cNvPicPr>
          <p:nvPr/>
        </p:nvPicPr>
        <p:blipFill>
          <a:blip r:embed="rId2"/>
          <a:srcRect/>
          <a:stretch/>
        </p:blipFill>
        <p:spPr>
          <a:xfrm>
            <a:off x="72" y="72"/>
            <a:ext cx="12191928" cy="6857928"/>
          </a:xfrm>
          <a:prstGeom prst="rect">
            <a:avLst/>
          </a:prstGeom>
        </p:spPr>
      </p:pic>
      <p:sp>
        <p:nvSpPr>
          <p:cNvPr id="2" name="TopBar"/>
          <p:cNvSpPr/>
          <p:nvPr/>
        </p:nvSpPr>
        <p:spPr>
          <a:xfrm>
            <a:off x="0" y="-23466"/>
            <a:ext cx="12192000" cy="740408"/>
          </a:xfrm>
          <a:prstGeom prst="rect">
            <a:avLst/>
          </a:prstGeom>
          <a:solidFill>
            <a:srgbClr val="003893"/>
          </a:solidFill>
          <a:ln w="12700">
            <a:solidFill>
              <a:srgbClr val="003893"/>
            </a:solidFill>
            <a:prstDash val="solid"/>
          </a:ln>
        </p:spPr>
      </p:sp>
      <p:sp>
        <p:nvSpPr>
          <p:cNvPr id="3" name="TopAccent"/>
          <p:cNvSpPr/>
          <p:nvPr/>
        </p:nvSpPr>
        <p:spPr>
          <a:xfrm>
            <a:off x="0" y="702347"/>
            <a:ext cx="12192000" cy="36576"/>
          </a:xfrm>
          <a:prstGeom prst="rect">
            <a:avLst/>
          </a:prstGeom>
          <a:solidFill>
            <a:srgbClr val="4FC3F7"/>
          </a:solidFill>
          <a:ln w="12700">
            <a:solidFill>
              <a:srgbClr val="4FC3F7"/>
            </a:solidFill>
            <a:prstDash val="solid"/>
          </a:ln>
        </p:spPr>
      </p:sp>
      <p:sp>
        <p:nvSpPr>
          <p:cNvPr id="4" name="BottomBar"/>
          <p:cNvSpPr/>
          <p:nvPr/>
        </p:nvSpPr>
        <p:spPr>
          <a:xfrm>
            <a:off x="0" y="6646862"/>
            <a:ext cx="12192000" cy="211137"/>
          </a:xfrm>
          <a:prstGeom prst="rect">
            <a:avLst/>
          </a:prstGeom>
          <a:solidFill>
            <a:srgbClr val="003893"/>
          </a:solidFill>
          <a:ln w="12700">
            <a:solidFill>
              <a:srgbClr val="003893"/>
            </a:solidFill>
            <a:prstDash val="solid"/>
          </a:ln>
        </p:spPr>
      </p:sp>
      <p:sp>
        <p:nvSpPr>
          <p:cNvPr id="5" name="BottomAccent"/>
          <p:cNvSpPr/>
          <p:nvPr/>
        </p:nvSpPr>
        <p:spPr>
          <a:xfrm>
            <a:off x="0" y="6623677"/>
            <a:ext cx="12192000" cy="30480"/>
          </a:xfrm>
          <a:prstGeom prst="rect">
            <a:avLst/>
          </a:prstGeom>
          <a:solidFill>
            <a:srgbClr val="4FC3F7"/>
          </a:solidFill>
          <a:ln w="12700">
            <a:solidFill>
              <a:srgbClr val="4FC3F7"/>
            </a:solidFill>
            <a:prstDash val="solid"/>
          </a:ln>
        </p:spPr>
      </p:sp>
      <p:sp>
        <p:nvSpPr>
          <p:cNvPr id="6" name="LogoTab"/>
          <p:cNvSpPr/>
          <p:nvPr/>
        </p:nvSpPr>
        <p:spPr>
          <a:xfrm>
            <a:off x="0" y="-24618"/>
            <a:ext cx="1128763" cy="767311"/>
          </a:xfrm>
          <a:prstGeom prst="homePlate">
            <a:avLst/>
          </a:prstGeom>
          <a:solidFill>
            <a:srgbClr val="FFFFFF"/>
          </a:solidFill>
          <a:ln w="6350">
            <a:solidFill>
              <a:srgbClr val="CCCCCC"/>
            </a:solidFill>
            <a:prstDash val="solid"/>
          </a:ln>
        </p:spPr>
      </p:sp>
      <p:pic>
        <p:nvPicPr>
          <p:cNvPr id="21" name="Logo"/>
          <p:cNvPicPr>
            <a:picLocks noChangeAspect="1"/>
          </p:cNvPicPr>
          <p:nvPr/>
        </p:nvPicPr>
        <p:blipFill>
          <a:blip r:embed="rId3"/>
          <a:stretch>
            <a:fillRect/>
          </a:stretch>
        </p:blipFill>
        <p:spPr>
          <a:xfrm>
            <a:off x="-453212" y="-263954"/>
            <a:ext cx="1776568" cy="1245981"/>
          </a:xfrm>
          <a:prstGeom prst="rect">
            <a:avLst/>
          </a:prstGeom>
        </p:spPr>
      </p:pic>
      <p:sp>
        <p:nvSpPr>
          <p:cNvPr id="30" name="TopLabel"/>
          <p:cNvSpPr>
            <a:spLocks noGrp="1"/>
          </p:cNvSpPr>
          <p:nvPr/>
        </p:nvSpPr>
        <p:spPr>
          <a:xfrm>
            <a:off x="1266667" y="66667"/>
            <a:ext cx="7333333" cy="600000"/>
          </a:xfrm>
          <a:prstGeom prst="rect">
            <a:avLst/>
          </a:prstGeom>
          <a:noFill/>
          <a:ln>
            <a:noFill/>
          </a:ln>
        </p:spPr>
        <p:txBody>
          <a:bodyPr wrap="square" lIns="0" tIns="0" rIns="0" bIns="0" rtlCol="0" anchor="ctr">
            <a:normAutofit/>
          </a:bodyPr>
          <a:lstStyle/>
          <a:p>
            <a:r>
              <a:rPr lang="en-US" sz="3200" b="1" dirty="0">
                <a:solidFill>
                  <a:srgbClr val="FFFFFF"/>
                </a:solidFill>
                <a:latin typeface="Calibri"/>
                <a:ea typeface="Calibri"/>
                <a:cs typeface="Calibri"/>
              </a:rPr>
              <a:t>PROBLEM STATEMENT</a:t>
            </a:r>
          </a:p>
        </p:txBody>
      </p:sp>
      <p:sp>
        <p:nvSpPr>
          <p:cNvPr id="110" name="TblTitleBg"/>
          <p:cNvSpPr/>
          <p:nvPr/>
        </p:nvSpPr>
        <p:spPr>
          <a:xfrm>
            <a:off x="691794" y="4900618"/>
            <a:ext cx="10972800" cy="373333"/>
          </a:xfrm>
          <a:prstGeom prst="rect">
            <a:avLst/>
          </a:prstGeom>
          <a:solidFill>
            <a:srgbClr val="003893"/>
          </a:solidFill>
          <a:ln>
            <a:noFill/>
          </a:ln>
        </p:spPr>
      </p:sp>
      <p:sp>
        <p:nvSpPr>
          <p:cNvPr id="111" name="TblTitle"/>
          <p:cNvSpPr>
            <a:spLocks noGrp="1"/>
          </p:cNvSpPr>
          <p:nvPr/>
        </p:nvSpPr>
        <p:spPr>
          <a:xfrm>
            <a:off x="691794" y="4900618"/>
            <a:ext cx="10972800" cy="373333"/>
          </a:xfrm>
          <a:prstGeom prst="rect">
            <a:avLst/>
          </a:prstGeom>
          <a:noFill/>
          <a:ln>
            <a:noFill/>
          </a:ln>
        </p:spPr>
        <p:txBody>
          <a:bodyPr wrap="square" lIns="266667" tIns="0" rIns="266667" bIns="0" rtlCol="0" anchor="ctr">
            <a:normAutofit/>
          </a:bodyPr>
          <a:lstStyle/>
          <a:p>
            <a:r>
              <a:rPr lang="en-US" sz="1600" b="1" dirty="0">
                <a:solidFill>
                  <a:srgbClr val="FFFFFF"/>
                </a:solidFill>
                <a:latin typeface="Calibri"/>
                <a:ea typeface="Calibri"/>
                <a:cs typeface="Calibri"/>
              </a:rPr>
              <a:t>What Early Warning Enables</a:t>
            </a:r>
          </a:p>
        </p:txBody>
      </p:sp>
      <p:sp>
        <p:nvSpPr>
          <p:cNvPr id="112" name="ColHdrBg"/>
          <p:cNvSpPr/>
          <p:nvPr/>
        </p:nvSpPr>
        <p:spPr>
          <a:xfrm>
            <a:off x="691794" y="5273951"/>
            <a:ext cx="10972800" cy="320000"/>
          </a:xfrm>
          <a:prstGeom prst="rect">
            <a:avLst/>
          </a:prstGeom>
          <a:solidFill>
            <a:srgbClr val="4FC3F7"/>
          </a:solidFill>
          <a:ln>
            <a:noFill/>
          </a:ln>
        </p:spPr>
      </p:sp>
      <p:sp>
        <p:nvSpPr>
          <p:cNvPr id="113" name="Col1Hdr"/>
          <p:cNvSpPr>
            <a:spLocks noGrp="1"/>
          </p:cNvSpPr>
          <p:nvPr/>
        </p:nvSpPr>
        <p:spPr>
          <a:xfrm>
            <a:off x="691794" y="5273951"/>
            <a:ext cx="1466667" cy="320000"/>
          </a:xfrm>
          <a:prstGeom prst="rect">
            <a:avLst/>
          </a:prstGeom>
          <a:noFill/>
          <a:ln>
            <a:noFill/>
          </a:ln>
        </p:spPr>
        <p:txBody>
          <a:bodyPr wrap="square" lIns="0" tIns="0" rIns="0" bIns="0" rtlCol="0" anchor="ctr">
            <a:normAutofit/>
          </a:bodyPr>
          <a:lstStyle/>
          <a:p>
            <a:pPr algn="ctr"/>
            <a:r>
              <a:rPr lang="en-US" sz="1400" b="1" dirty="0">
                <a:solidFill>
                  <a:srgbClr val="003893"/>
                </a:solidFill>
                <a:latin typeface="Calibri"/>
                <a:ea typeface="Calibri"/>
                <a:cs typeface="Calibri"/>
              </a:rPr>
              <a:t>Horizon</a:t>
            </a:r>
          </a:p>
        </p:txBody>
      </p:sp>
      <p:sp>
        <p:nvSpPr>
          <p:cNvPr id="114" name="Col2Hdr"/>
          <p:cNvSpPr>
            <a:spLocks noGrp="1"/>
          </p:cNvSpPr>
          <p:nvPr/>
        </p:nvSpPr>
        <p:spPr>
          <a:xfrm>
            <a:off x="2158461" y="5273951"/>
            <a:ext cx="2000000" cy="320000"/>
          </a:xfrm>
          <a:prstGeom prst="rect">
            <a:avLst/>
          </a:prstGeom>
          <a:noFill/>
          <a:ln>
            <a:noFill/>
          </a:ln>
        </p:spPr>
        <p:txBody>
          <a:bodyPr wrap="square" lIns="0" tIns="0" rIns="0" bIns="0" rtlCol="0" anchor="ctr">
            <a:normAutofit/>
          </a:bodyPr>
          <a:lstStyle/>
          <a:p>
            <a:pPr algn="ctr"/>
            <a:r>
              <a:rPr lang="en-US" sz="1400" b="1" dirty="0">
                <a:solidFill>
                  <a:srgbClr val="003893"/>
                </a:solidFill>
                <a:latin typeface="Calibri"/>
                <a:ea typeface="Calibri"/>
                <a:cs typeface="Calibri"/>
              </a:rPr>
              <a:t>Distance @ 60 km/h</a:t>
            </a:r>
          </a:p>
        </p:txBody>
      </p:sp>
      <p:sp>
        <p:nvSpPr>
          <p:cNvPr id="115" name="Col3Hdr"/>
          <p:cNvSpPr>
            <a:spLocks noGrp="1"/>
          </p:cNvSpPr>
          <p:nvPr/>
        </p:nvSpPr>
        <p:spPr>
          <a:xfrm>
            <a:off x="4158461" y="5273951"/>
            <a:ext cx="7506133" cy="320000"/>
          </a:xfrm>
          <a:prstGeom prst="rect">
            <a:avLst/>
          </a:prstGeom>
          <a:noFill/>
          <a:ln>
            <a:noFill/>
          </a:ln>
        </p:spPr>
        <p:txBody>
          <a:bodyPr wrap="square" lIns="266667" tIns="0" rIns="0" bIns="0" rtlCol="0" anchor="ctr">
            <a:normAutofit/>
          </a:bodyPr>
          <a:lstStyle/>
          <a:p>
            <a:r>
              <a:rPr lang="en-US" sz="1400" b="1" dirty="0">
                <a:solidFill>
                  <a:srgbClr val="003893"/>
                </a:solidFill>
                <a:latin typeface="Calibri"/>
                <a:ea typeface="Calibri"/>
                <a:cs typeface="Calibri"/>
              </a:rPr>
              <a:t>AV Action</a:t>
            </a:r>
          </a:p>
        </p:txBody>
      </p:sp>
      <p:sp>
        <p:nvSpPr>
          <p:cNvPr id="120" name="RowBg0"/>
          <p:cNvSpPr/>
          <p:nvPr/>
        </p:nvSpPr>
        <p:spPr>
          <a:xfrm>
            <a:off x="691794" y="5593951"/>
            <a:ext cx="10972800" cy="306667"/>
          </a:xfrm>
          <a:prstGeom prst="rect">
            <a:avLst/>
          </a:prstGeom>
          <a:solidFill>
            <a:srgbClr val="F5F8FF"/>
          </a:solidFill>
          <a:ln w="6350">
            <a:solidFill>
              <a:srgbClr val="EEEEEE"/>
            </a:solidFill>
          </a:ln>
        </p:spPr>
      </p:sp>
      <p:sp>
        <p:nvSpPr>
          <p:cNvPr id="121" name="R0C1"/>
          <p:cNvSpPr>
            <a:spLocks noGrp="1"/>
          </p:cNvSpPr>
          <p:nvPr/>
        </p:nvSpPr>
        <p:spPr>
          <a:xfrm>
            <a:off x="691794" y="5593951"/>
            <a:ext cx="1466667" cy="306667"/>
          </a:xfrm>
          <a:prstGeom prst="rect">
            <a:avLst/>
          </a:prstGeom>
          <a:noFill/>
          <a:ln>
            <a:noFill/>
          </a:ln>
        </p:spPr>
        <p:txBody>
          <a:bodyPr wrap="square" lIns="0" tIns="0" rIns="0" bIns="0" rtlCol="0" anchor="ctr">
            <a:normAutofit/>
          </a:bodyPr>
          <a:lstStyle/>
          <a:p>
            <a:pPr algn="ctr"/>
            <a:r>
              <a:rPr lang="en-US" sz="1467" b="1" dirty="0">
                <a:solidFill>
                  <a:srgbClr val="003893"/>
                </a:solidFill>
                <a:latin typeface="Calibri"/>
                <a:ea typeface="Calibri"/>
                <a:cs typeface="Calibri"/>
              </a:rPr>
              <a:t>+5 s</a:t>
            </a:r>
          </a:p>
        </p:txBody>
      </p:sp>
      <p:sp>
        <p:nvSpPr>
          <p:cNvPr id="122" name="R0C2"/>
          <p:cNvSpPr>
            <a:spLocks noGrp="1"/>
          </p:cNvSpPr>
          <p:nvPr/>
        </p:nvSpPr>
        <p:spPr>
          <a:xfrm>
            <a:off x="2158461" y="5593951"/>
            <a:ext cx="2000000" cy="306667"/>
          </a:xfrm>
          <a:prstGeom prst="rect">
            <a:avLst/>
          </a:prstGeom>
          <a:noFill/>
          <a:ln>
            <a:noFill/>
          </a:ln>
        </p:spPr>
        <p:txBody>
          <a:bodyPr wrap="square" lIns="0" tIns="0" rIns="0" bIns="0" rtlCol="0" anchor="ctr">
            <a:normAutofit/>
          </a:bodyPr>
          <a:lstStyle/>
          <a:p>
            <a:pPr algn="ctr"/>
            <a:r>
              <a:rPr lang="en-US" sz="1467" b="1" dirty="0">
                <a:solidFill>
                  <a:srgbClr val="C62828"/>
                </a:solidFill>
                <a:latin typeface="Calibri"/>
                <a:ea typeface="Calibri"/>
                <a:cs typeface="Calibri"/>
              </a:rPr>
              <a:t>83 m</a:t>
            </a:r>
          </a:p>
        </p:txBody>
      </p:sp>
      <p:sp>
        <p:nvSpPr>
          <p:cNvPr id="123" name="R0C3"/>
          <p:cNvSpPr>
            <a:spLocks noGrp="1"/>
          </p:cNvSpPr>
          <p:nvPr/>
        </p:nvSpPr>
        <p:spPr>
          <a:xfrm>
            <a:off x="4158461" y="5593951"/>
            <a:ext cx="7506133" cy="306667"/>
          </a:xfrm>
          <a:prstGeom prst="rect">
            <a:avLst/>
          </a:prstGeom>
          <a:noFill/>
          <a:ln>
            <a:noFill/>
          </a:ln>
        </p:spPr>
        <p:txBody>
          <a:bodyPr wrap="square" lIns="266667" tIns="0" rIns="0" bIns="0" rtlCol="0" anchor="ctr">
            <a:normAutofit/>
          </a:bodyPr>
          <a:lstStyle/>
          <a:p>
            <a:r>
              <a:rPr lang="en-US" sz="1400" dirty="0">
                <a:solidFill>
                  <a:srgbClr val="333333"/>
                </a:solidFill>
                <a:latin typeface="Calibri"/>
                <a:ea typeface="Calibri"/>
                <a:cs typeface="Calibri"/>
              </a:rPr>
              <a:t>Tighten IMU fusion · slow down</a:t>
            </a:r>
          </a:p>
        </p:txBody>
      </p:sp>
      <p:sp>
        <p:nvSpPr>
          <p:cNvPr id="124" name="RowBg1"/>
          <p:cNvSpPr/>
          <p:nvPr/>
        </p:nvSpPr>
        <p:spPr>
          <a:xfrm>
            <a:off x="691794" y="5900618"/>
            <a:ext cx="10972800" cy="306667"/>
          </a:xfrm>
          <a:prstGeom prst="rect">
            <a:avLst/>
          </a:prstGeom>
          <a:solidFill>
            <a:srgbClr val="FFFFFF"/>
          </a:solidFill>
          <a:ln w="6350">
            <a:solidFill>
              <a:srgbClr val="EEEEEE"/>
            </a:solidFill>
          </a:ln>
        </p:spPr>
      </p:sp>
      <p:sp>
        <p:nvSpPr>
          <p:cNvPr id="125" name="R1C1"/>
          <p:cNvSpPr>
            <a:spLocks noGrp="1"/>
          </p:cNvSpPr>
          <p:nvPr/>
        </p:nvSpPr>
        <p:spPr>
          <a:xfrm>
            <a:off x="691794" y="5900618"/>
            <a:ext cx="1466667" cy="306667"/>
          </a:xfrm>
          <a:prstGeom prst="rect">
            <a:avLst/>
          </a:prstGeom>
          <a:noFill/>
          <a:ln>
            <a:noFill/>
          </a:ln>
        </p:spPr>
        <p:txBody>
          <a:bodyPr wrap="square" lIns="0" tIns="0" rIns="0" bIns="0" rtlCol="0" anchor="ctr">
            <a:normAutofit/>
          </a:bodyPr>
          <a:lstStyle/>
          <a:p>
            <a:pPr algn="ctr"/>
            <a:r>
              <a:rPr lang="en-US" sz="1467" b="1" dirty="0">
                <a:solidFill>
                  <a:srgbClr val="003893"/>
                </a:solidFill>
                <a:latin typeface="Calibri"/>
                <a:ea typeface="Calibri"/>
                <a:cs typeface="Calibri"/>
              </a:rPr>
              <a:t>+15 s</a:t>
            </a:r>
          </a:p>
        </p:txBody>
      </p:sp>
      <p:sp>
        <p:nvSpPr>
          <p:cNvPr id="126" name="R1C2"/>
          <p:cNvSpPr>
            <a:spLocks noGrp="1"/>
          </p:cNvSpPr>
          <p:nvPr/>
        </p:nvSpPr>
        <p:spPr>
          <a:xfrm>
            <a:off x="2158461" y="5900618"/>
            <a:ext cx="2000000" cy="306667"/>
          </a:xfrm>
          <a:prstGeom prst="rect">
            <a:avLst/>
          </a:prstGeom>
          <a:noFill/>
          <a:ln>
            <a:noFill/>
          </a:ln>
        </p:spPr>
        <p:txBody>
          <a:bodyPr wrap="square" lIns="0" tIns="0" rIns="0" bIns="0" rtlCol="0" anchor="ctr">
            <a:normAutofit/>
          </a:bodyPr>
          <a:lstStyle/>
          <a:p>
            <a:pPr algn="ctr"/>
            <a:r>
              <a:rPr lang="en-US" sz="1467" b="1" dirty="0">
                <a:solidFill>
                  <a:srgbClr val="C62828"/>
                </a:solidFill>
                <a:latin typeface="Calibri"/>
                <a:ea typeface="Calibri"/>
                <a:cs typeface="Calibri"/>
              </a:rPr>
              <a:t>250 m</a:t>
            </a:r>
          </a:p>
        </p:txBody>
      </p:sp>
      <p:sp>
        <p:nvSpPr>
          <p:cNvPr id="127" name="R1C3"/>
          <p:cNvSpPr>
            <a:spLocks noGrp="1"/>
          </p:cNvSpPr>
          <p:nvPr/>
        </p:nvSpPr>
        <p:spPr>
          <a:xfrm>
            <a:off x="4158461" y="5900618"/>
            <a:ext cx="7506133" cy="306667"/>
          </a:xfrm>
          <a:prstGeom prst="rect">
            <a:avLst/>
          </a:prstGeom>
          <a:noFill/>
          <a:ln>
            <a:noFill/>
          </a:ln>
        </p:spPr>
        <p:txBody>
          <a:bodyPr wrap="square" lIns="266667" tIns="0" rIns="0" bIns="0" rtlCol="0" anchor="ctr">
            <a:normAutofit/>
          </a:bodyPr>
          <a:lstStyle/>
          <a:p>
            <a:r>
              <a:rPr lang="en-US" sz="1400" dirty="0">
                <a:solidFill>
                  <a:srgbClr val="333333"/>
                </a:solidFill>
                <a:latin typeface="Calibri"/>
                <a:ea typeface="Calibri"/>
                <a:cs typeface="Calibri"/>
              </a:rPr>
              <a:t>Pre-engage dead-reckoning · adjust speed</a:t>
            </a:r>
          </a:p>
        </p:txBody>
      </p:sp>
      <p:sp>
        <p:nvSpPr>
          <p:cNvPr id="128" name="RowBg2"/>
          <p:cNvSpPr/>
          <p:nvPr/>
        </p:nvSpPr>
        <p:spPr>
          <a:xfrm>
            <a:off x="691794" y="6207285"/>
            <a:ext cx="10972800" cy="306667"/>
          </a:xfrm>
          <a:prstGeom prst="rect">
            <a:avLst/>
          </a:prstGeom>
          <a:solidFill>
            <a:srgbClr val="F5F8FF"/>
          </a:solidFill>
          <a:ln w="6350">
            <a:solidFill>
              <a:srgbClr val="EEEEEE"/>
            </a:solidFill>
          </a:ln>
        </p:spPr>
      </p:sp>
      <p:sp>
        <p:nvSpPr>
          <p:cNvPr id="129" name="R2C1"/>
          <p:cNvSpPr>
            <a:spLocks noGrp="1"/>
          </p:cNvSpPr>
          <p:nvPr/>
        </p:nvSpPr>
        <p:spPr>
          <a:xfrm>
            <a:off x="691794" y="6207285"/>
            <a:ext cx="1466667" cy="306667"/>
          </a:xfrm>
          <a:prstGeom prst="rect">
            <a:avLst/>
          </a:prstGeom>
          <a:noFill/>
          <a:ln>
            <a:noFill/>
          </a:ln>
        </p:spPr>
        <p:txBody>
          <a:bodyPr wrap="square" lIns="0" tIns="0" rIns="0" bIns="0" rtlCol="0" anchor="ctr">
            <a:normAutofit/>
          </a:bodyPr>
          <a:lstStyle/>
          <a:p>
            <a:pPr algn="ctr"/>
            <a:r>
              <a:rPr lang="en-US" sz="1467" b="1" dirty="0">
                <a:solidFill>
                  <a:srgbClr val="003893"/>
                </a:solidFill>
                <a:latin typeface="Calibri"/>
                <a:ea typeface="Calibri"/>
                <a:cs typeface="Calibri"/>
              </a:rPr>
              <a:t>+30 s</a:t>
            </a:r>
          </a:p>
        </p:txBody>
      </p:sp>
      <p:sp>
        <p:nvSpPr>
          <p:cNvPr id="130" name="R2C2"/>
          <p:cNvSpPr>
            <a:spLocks noGrp="1"/>
          </p:cNvSpPr>
          <p:nvPr/>
        </p:nvSpPr>
        <p:spPr>
          <a:xfrm>
            <a:off x="2158461" y="6207285"/>
            <a:ext cx="2000000" cy="306667"/>
          </a:xfrm>
          <a:prstGeom prst="rect">
            <a:avLst/>
          </a:prstGeom>
          <a:noFill/>
          <a:ln>
            <a:noFill/>
          </a:ln>
        </p:spPr>
        <p:txBody>
          <a:bodyPr wrap="square" lIns="0" tIns="0" rIns="0" bIns="0" rtlCol="0" anchor="ctr">
            <a:normAutofit/>
          </a:bodyPr>
          <a:lstStyle/>
          <a:p>
            <a:pPr algn="ctr"/>
            <a:r>
              <a:rPr lang="en-US" sz="1467" b="1" dirty="0">
                <a:solidFill>
                  <a:srgbClr val="C62828"/>
                </a:solidFill>
                <a:latin typeface="Calibri"/>
                <a:ea typeface="Calibri"/>
                <a:cs typeface="Calibri"/>
              </a:rPr>
              <a:t>500 m</a:t>
            </a:r>
          </a:p>
        </p:txBody>
      </p:sp>
      <p:sp>
        <p:nvSpPr>
          <p:cNvPr id="131" name="R2C3"/>
          <p:cNvSpPr>
            <a:spLocks noGrp="1"/>
          </p:cNvSpPr>
          <p:nvPr/>
        </p:nvSpPr>
        <p:spPr>
          <a:xfrm>
            <a:off x="4158461" y="6207285"/>
            <a:ext cx="7506133" cy="306667"/>
          </a:xfrm>
          <a:prstGeom prst="rect">
            <a:avLst/>
          </a:prstGeom>
          <a:noFill/>
          <a:ln>
            <a:noFill/>
          </a:ln>
        </p:spPr>
        <p:txBody>
          <a:bodyPr wrap="square" lIns="266667" tIns="0" rIns="0" bIns="0" rtlCol="0" anchor="ctr">
            <a:normAutofit/>
          </a:bodyPr>
          <a:lstStyle/>
          <a:p>
            <a:r>
              <a:rPr lang="en-US" sz="1400" dirty="0">
                <a:solidFill>
                  <a:srgbClr val="333333"/>
                </a:solidFill>
                <a:latin typeface="Calibri"/>
                <a:ea typeface="Calibri"/>
                <a:cs typeface="Calibri"/>
              </a:rPr>
              <a:t>Re-route away from degradation zone</a:t>
            </a:r>
          </a:p>
        </p:txBody>
      </p:sp>
      <p:grpSp>
        <p:nvGrpSpPr>
          <p:cNvPr id="7" name="Group 6">
            <a:extLst>
              <a:ext uri="{FF2B5EF4-FFF2-40B4-BE49-F238E27FC236}">
                <a16:creationId xmlns:a16="http://schemas.microsoft.com/office/drawing/2014/main" id="{B60007CD-EDFA-F4C1-AE6F-744A862E5A4A}"/>
              </a:ext>
            </a:extLst>
          </p:cNvPr>
          <p:cNvGrpSpPr/>
          <p:nvPr/>
        </p:nvGrpSpPr>
        <p:grpSpPr>
          <a:xfrm>
            <a:off x="-95624" y="-24618"/>
            <a:ext cx="12287624" cy="767311"/>
            <a:chOff x="-71718" y="-18464"/>
            <a:chExt cx="9215718" cy="575483"/>
          </a:xfrm>
        </p:grpSpPr>
        <p:sp>
          <p:nvSpPr>
            <p:cNvPr id="9" name="Shape 1">
              <a:extLst>
                <a:ext uri="{FF2B5EF4-FFF2-40B4-BE49-F238E27FC236}">
                  <a16:creationId xmlns:a16="http://schemas.microsoft.com/office/drawing/2014/main" id="{3407758C-2DAB-BF49-E11D-B3D1F82E1DC8}"/>
                </a:ext>
              </a:extLst>
            </p:cNvPr>
            <p:cNvSpPr/>
            <p:nvPr/>
          </p:nvSpPr>
          <p:spPr>
            <a:xfrm>
              <a:off x="0" y="526760"/>
              <a:ext cx="9144000" cy="27432"/>
            </a:xfrm>
            <a:prstGeom prst="rect">
              <a:avLst/>
            </a:prstGeom>
            <a:solidFill>
              <a:srgbClr val="4FC3F7"/>
            </a:solidFill>
            <a:ln w="12700">
              <a:solidFill>
                <a:srgbClr val="4FC3F7"/>
              </a:solidFill>
              <a:prstDash val="solid"/>
            </a:ln>
          </p:spPr>
        </p:sp>
        <p:sp>
          <p:nvSpPr>
            <p:cNvPr id="10" name="Shape 4">
              <a:extLst>
                <a:ext uri="{FF2B5EF4-FFF2-40B4-BE49-F238E27FC236}">
                  <a16:creationId xmlns:a16="http://schemas.microsoft.com/office/drawing/2014/main" id="{4F87558A-751E-8471-93D8-B0402FD66BC9}"/>
                </a:ext>
              </a:extLst>
            </p:cNvPr>
            <p:cNvSpPr/>
            <p:nvPr/>
          </p:nvSpPr>
          <p:spPr>
            <a:xfrm>
              <a:off x="0" y="-18464"/>
              <a:ext cx="846572" cy="575483"/>
            </a:xfrm>
            <a:prstGeom prst="homePlate">
              <a:avLst/>
            </a:prstGeom>
            <a:solidFill>
              <a:srgbClr val="FFFFFF"/>
            </a:solidFill>
            <a:ln w="6350">
              <a:solidFill>
                <a:srgbClr val="CCCCCC"/>
              </a:solidFill>
              <a:prstDash val="solid"/>
            </a:ln>
          </p:spPr>
        </p:sp>
        <p:sp>
          <p:nvSpPr>
            <p:cNvPr id="11" name="Shape 5">
              <a:extLst>
                <a:ext uri="{FF2B5EF4-FFF2-40B4-BE49-F238E27FC236}">
                  <a16:creationId xmlns:a16="http://schemas.microsoft.com/office/drawing/2014/main" id="{FDF6E289-E263-8344-0113-57C26545F6E6}"/>
                </a:ext>
              </a:extLst>
            </p:cNvPr>
            <p:cNvSpPr/>
            <p:nvPr/>
          </p:nvSpPr>
          <p:spPr>
            <a:xfrm>
              <a:off x="8046720" y="91440"/>
              <a:ext cx="38405" cy="38405"/>
            </a:xfrm>
            <a:prstGeom prst="ellipse">
              <a:avLst/>
            </a:prstGeom>
            <a:solidFill>
              <a:srgbClr val="FFFFFF">
                <a:alpha val="35000"/>
              </a:srgbClr>
            </a:solidFill>
            <a:ln w="12700">
              <a:solidFill>
                <a:srgbClr val="FFFFFF"/>
              </a:solidFill>
              <a:prstDash val="solid"/>
            </a:ln>
          </p:spPr>
        </p:sp>
        <p:sp>
          <p:nvSpPr>
            <p:cNvPr id="12" name="Shape 6">
              <a:extLst>
                <a:ext uri="{FF2B5EF4-FFF2-40B4-BE49-F238E27FC236}">
                  <a16:creationId xmlns:a16="http://schemas.microsoft.com/office/drawing/2014/main" id="{697E0A82-E7EC-E55B-F226-DB53E1316FD7}"/>
                </a:ext>
              </a:extLst>
            </p:cNvPr>
            <p:cNvSpPr/>
            <p:nvPr/>
          </p:nvSpPr>
          <p:spPr>
            <a:xfrm>
              <a:off x="8211312" y="91440"/>
              <a:ext cx="38405" cy="38405"/>
            </a:xfrm>
            <a:prstGeom prst="ellipse">
              <a:avLst/>
            </a:prstGeom>
            <a:solidFill>
              <a:srgbClr val="FFFFFF">
                <a:alpha val="35000"/>
              </a:srgbClr>
            </a:solidFill>
            <a:ln w="12700">
              <a:solidFill>
                <a:srgbClr val="FFFFFF"/>
              </a:solidFill>
              <a:prstDash val="solid"/>
            </a:ln>
          </p:spPr>
        </p:sp>
        <p:sp>
          <p:nvSpPr>
            <p:cNvPr id="13" name="Shape 7">
              <a:extLst>
                <a:ext uri="{FF2B5EF4-FFF2-40B4-BE49-F238E27FC236}">
                  <a16:creationId xmlns:a16="http://schemas.microsoft.com/office/drawing/2014/main" id="{AD066CF0-7FFA-1ED6-60ED-51AC443AE339}"/>
                </a:ext>
              </a:extLst>
            </p:cNvPr>
            <p:cNvSpPr/>
            <p:nvPr/>
          </p:nvSpPr>
          <p:spPr>
            <a:xfrm>
              <a:off x="8375904" y="91440"/>
              <a:ext cx="38405" cy="38405"/>
            </a:xfrm>
            <a:prstGeom prst="ellipse">
              <a:avLst/>
            </a:prstGeom>
            <a:solidFill>
              <a:srgbClr val="FFFFFF">
                <a:alpha val="35000"/>
              </a:srgbClr>
            </a:solidFill>
            <a:ln w="12700">
              <a:solidFill>
                <a:srgbClr val="FFFFFF"/>
              </a:solidFill>
              <a:prstDash val="solid"/>
            </a:ln>
          </p:spPr>
        </p:sp>
        <p:sp>
          <p:nvSpPr>
            <p:cNvPr id="14" name="Shape 8">
              <a:extLst>
                <a:ext uri="{FF2B5EF4-FFF2-40B4-BE49-F238E27FC236}">
                  <a16:creationId xmlns:a16="http://schemas.microsoft.com/office/drawing/2014/main" id="{0C434B2D-F4FB-DDA3-B093-CB01B49D6FB0}"/>
                </a:ext>
              </a:extLst>
            </p:cNvPr>
            <p:cNvSpPr/>
            <p:nvPr/>
          </p:nvSpPr>
          <p:spPr>
            <a:xfrm>
              <a:off x="8540496" y="91440"/>
              <a:ext cx="38405" cy="38405"/>
            </a:xfrm>
            <a:prstGeom prst="ellipse">
              <a:avLst/>
            </a:prstGeom>
            <a:solidFill>
              <a:srgbClr val="FFFFFF">
                <a:alpha val="35000"/>
              </a:srgbClr>
            </a:solidFill>
            <a:ln w="12700">
              <a:solidFill>
                <a:srgbClr val="FFFFFF"/>
              </a:solidFill>
              <a:prstDash val="solid"/>
            </a:ln>
          </p:spPr>
        </p:sp>
        <p:sp>
          <p:nvSpPr>
            <p:cNvPr id="15" name="Shape 9">
              <a:extLst>
                <a:ext uri="{FF2B5EF4-FFF2-40B4-BE49-F238E27FC236}">
                  <a16:creationId xmlns:a16="http://schemas.microsoft.com/office/drawing/2014/main" id="{AE18E06B-2B4A-2DC9-9F7A-49941E7BAB27}"/>
                </a:ext>
              </a:extLst>
            </p:cNvPr>
            <p:cNvSpPr/>
            <p:nvPr/>
          </p:nvSpPr>
          <p:spPr>
            <a:xfrm>
              <a:off x="8046720" y="219456"/>
              <a:ext cx="38405" cy="38405"/>
            </a:xfrm>
            <a:prstGeom prst="ellipse">
              <a:avLst/>
            </a:prstGeom>
            <a:solidFill>
              <a:srgbClr val="FFFFFF">
                <a:alpha val="35000"/>
              </a:srgbClr>
            </a:solidFill>
            <a:ln w="12700">
              <a:solidFill>
                <a:srgbClr val="FFFFFF"/>
              </a:solidFill>
              <a:prstDash val="solid"/>
            </a:ln>
          </p:spPr>
        </p:sp>
        <p:sp>
          <p:nvSpPr>
            <p:cNvPr id="16" name="Shape 10">
              <a:extLst>
                <a:ext uri="{FF2B5EF4-FFF2-40B4-BE49-F238E27FC236}">
                  <a16:creationId xmlns:a16="http://schemas.microsoft.com/office/drawing/2014/main" id="{01594319-4198-2DBD-F688-57E54D886C49}"/>
                </a:ext>
              </a:extLst>
            </p:cNvPr>
            <p:cNvSpPr/>
            <p:nvPr/>
          </p:nvSpPr>
          <p:spPr>
            <a:xfrm>
              <a:off x="8211312" y="219456"/>
              <a:ext cx="38405" cy="38405"/>
            </a:xfrm>
            <a:prstGeom prst="ellipse">
              <a:avLst/>
            </a:prstGeom>
            <a:solidFill>
              <a:srgbClr val="FFFFFF">
                <a:alpha val="35000"/>
              </a:srgbClr>
            </a:solidFill>
            <a:ln w="12700">
              <a:solidFill>
                <a:srgbClr val="FFFFFF"/>
              </a:solidFill>
              <a:prstDash val="solid"/>
            </a:ln>
          </p:spPr>
        </p:sp>
        <p:sp>
          <p:nvSpPr>
            <p:cNvPr id="17" name="Shape 11">
              <a:extLst>
                <a:ext uri="{FF2B5EF4-FFF2-40B4-BE49-F238E27FC236}">
                  <a16:creationId xmlns:a16="http://schemas.microsoft.com/office/drawing/2014/main" id="{537CD7D3-A50D-A2EB-265F-911F9224A9E5}"/>
                </a:ext>
              </a:extLst>
            </p:cNvPr>
            <p:cNvSpPr/>
            <p:nvPr/>
          </p:nvSpPr>
          <p:spPr>
            <a:xfrm>
              <a:off x="8375904" y="219456"/>
              <a:ext cx="38405" cy="38405"/>
            </a:xfrm>
            <a:prstGeom prst="ellipse">
              <a:avLst/>
            </a:prstGeom>
            <a:solidFill>
              <a:srgbClr val="FFFFFF">
                <a:alpha val="35000"/>
              </a:srgbClr>
            </a:solidFill>
            <a:ln w="12700">
              <a:solidFill>
                <a:srgbClr val="FFFFFF"/>
              </a:solidFill>
              <a:prstDash val="solid"/>
            </a:ln>
          </p:spPr>
        </p:sp>
        <p:sp>
          <p:nvSpPr>
            <p:cNvPr id="18" name="Shape 12">
              <a:extLst>
                <a:ext uri="{FF2B5EF4-FFF2-40B4-BE49-F238E27FC236}">
                  <a16:creationId xmlns:a16="http://schemas.microsoft.com/office/drawing/2014/main" id="{A43F0261-3E6E-0036-647A-6BFEAE3BF18E}"/>
                </a:ext>
              </a:extLst>
            </p:cNvPr>
            <p:cNvSpPr/>
            <p:nvPr/>
          </p:nvSpPr>
          <p:spPr>
            <a:xfrm>
              <a:off x="8540496" y="219456"/>
              <a:ext cx="38405" cy="38405"/>
            </a:xfrm>
            <a:prstGeom prst="ellipse">
              <a:avLst/>
            </a:prstGeom>
            <a:solidFill>
              <a:srgbClr val="FFFFFF">
                <a:alpha val="35000"/>
              </a:srgbClr>
            </a:solidFill>
            <a:ln w="12700">
              <a:solidFill>
                <a:srgbClr val="FFFFFF"/>
              </a:solidFill>
              <a:prstDash val="solid"/>
            </a:ln>
          </p:spPr>
        </p:sp>
        <p:sp>
          <p:nvSpPr>
            <p:cNvPr id="19" name="Shape 13">
              <a:extLst>
                <a:ext uri="{FF2B5EF4-FFF2-40B4-BE49-F238E27FC236}">
                  <a16:creationId xmlns:a16="http://schemas.microsoft.com/office/drawing/2014/main" id="{B9942C48-995C-2906-B1CF-D9E953934F04}"/>
                </a:ext>
              </a:extLst>
            </p:cNvPr>
            <p:cNvSpPr/>
            <p:nvPr/>
          </p:nvSpPr>
          <p:spPr>
            <a:xfrm>
              <a:off x="8046720" y="347472"/>
              <a:ext cx="38405" cy="38405"/>
            </a:xfrm>
            <a:prstGeom prst="ellipse">
              <a:avLst/>
            </a:prstGeom>
            <a:solidFill>
              <a:srgbClr val="FFFFFF">
                <a:alpha val="35000"/>
              </a:srgbClr>
            </a:solidFill>
            <a:ln w="12700">
              <a:solidFill>
                <a:srgbClr val="FFFFFF"/>
              </a:solidFill>
              <a:prstDash val="solid"/>
            </a:ln>
          </p:spPr>
        </p:sp>
        <p:sp>
          <p:nvSpPr>
            <p:cNvPr id="20" name="Shape 14">
              <a:extLst>
                <a:ext uri="{FF2B5EF4-FFF2-40B4-BE49-F238E27FC236}">
                  <a16:creationId xmlns:a16="http://schemas.microsoft.com/office/drawing/2014/main" id="{D0B32104-BFC2-20F9-B103-8602FE2B93B4}"/>
                </a:ext>
              </a:extLst>
            </p:cNvPr>
            <p:cNvSpPr/>
            <p:nvPr/>
          </p:nvSpPr>
          <p:spPr>
            <a:xfrm>
              <a:off x="8211312" y="347472"/>
              <a:ext cx="38405" cy="38405"/>
            </a:xfrm>
            <a:prstGeom prst="ellipse">
              <a:avLst/>
            </a:prstGeom>
            <a:solidFill>
              <a:srgbClr val="FFFFFF">
                <a:alpha val="35000"/>
              </a:srgbClr>
            </a:solidFill>
            <a:ln w="12700">
              <a:solidFill>
                <a:srgbClr val="FFFFFF"/>
              </a:solidFill>
              <a:prstDash val="solid"/>
            </a:ln>
          </p:spPr>
        </p:sp>
        <p:sp>
          <p:nvSpPr>
            <p:cNvPr id="22" name="Shape 15">
              <a:extLst>
                <a:ext uri="{FF2B5EF4-FFF2-40B4-BE49-F238E27FC236}">
                  <a16:creationId xmlns:a16="http://schemas.microsoft.com/office/drawing/2014/main" id="{ED38DEBB-8F4E-276D-46FD-A189B54485B7}"/>
                </a:ext>
              </a:extLst>
            </p:cNvPr>
            <p:cNvSpPr/>
            <p:nvPr/>
          </p:nvSpPr>
          <p:spPr>
            <a:xfrm>
              <a:off x="8375904" y="347472"/>
              <a:ext cx="38405" cy="38405"/>
            </a:xfrm>
            <a:prstGeom prst="ellipse">
              <a:avLst/>
            </a:prstGeom>
            <a:solidFill>
              <a:srgbClr val="FFFFFF">
                <a:alpha val="35000"/>
              </a:srgbClr>
            </a:solidFill>
            <a:ln w="12700">
              <a:solidFill>
                <a:srgbClr val="FFFFFF"/>
              </a:solidFill>
              <a:prstDash val="solid"/>
            </a:ln>
          </p:spPr>
        </p:sp>
        <p:sp>
          <p:nvSpPr>
            <p:cNvPr id="23" name="Shape 16">
              <a:extLst>
                <a:ext uri="{FF2B5EF4-FFF2-40B4-BE49-F238E27FC236}">
                  <a16:creationId xmlns:a16="http://schemas.microsoft.com/office/drawing/2014/main" id="{7FAFAD18-1042-0D68-1AD3-09DABD4CE6C5}"/>
                </a:ext>
              </a:extLst>
            </p:cNvPr>
            <p:cNvSpPr/>
            <p:nvPr/>
          </p:nvSpPr>
          <p:spPr>
            <a:xfrm>
              <a:off x="8540496" y="347472"/>
              <a:ext cx="38405" cy="38405"/>
            </a:xfrm>
            <a:prstGeom prst="ellipse">
              <a:avLst/>
            </a:prstGeom>
            <a:solidFill>
              <a:srgbClr val="FFFFFF">
                <a:alpha val="35000"/>
              </a:srgbClr>
            </a:solidFill>
            <a:ln w="12700">
              <a:solidFill>
                <a:srgbClr val="FFFFFF"/>
              </a:solidFill>
              <a:prstDash val="solid"/>
            </a:ln>
          </p:spPr>
        </p:sp>
        <p:pic>
          <p:nvPicPr>
            <p:cNvPr id="24" name="Picture 23">
              <a:extLst>
                <a:ext uri="{FF2B5EF4-FFF2-40B4-BE49-F238E27FC236}">
                  <a16:creationId xmlns:a16="http://schemas.microsoft.com/office/drawing/2014/main" id="{D90F76EC-1277-44AB-2FEE-E1BB2E5A0EB4}"/>
                </a:ext>
              </a:extLst>
            </p:cNvPr>
            <p:cNvPicPr>
              <a:picLocks noChangeAspect="1"/>
            </p:cNvPicPr>
            <p:nvPr/>
          </p:nvPicPr>
          <p:blipFill>
            <a:blip r:embed="rId3"/>
            <a:srcRect l="20128" t="19209" r="10255" b="19209"/>
            <a:stretch/>
          </p:blipFill>
          <p:spPr>
            <a:xfrm>
              <a:off x="-71718" y="-18464"/>
              <a:ext cx="927596" cy="575483"/>
            </a:xfrm>
            <a:prstGeom prst="rect">
              <a:avLst/>
            </a:prstGeom>
          </p:spPr>
        </p:pic>
      </p:grpSp>
      <p:pic>
        <p:nvPicPr>
          <p:cNvPr id="29" name="Picture 28">
            <a:extLst>
              <a:ext uri="{FF2B5EF4-FFF2-40B4-BE49-F238E27FC236}">
                <a16:creationId xmlns:a16="http://schemas.microsoft.com/office/drawing/2014/main" id="{742DB0B4-3699-A86B-F3A0-942C5E757821}"/>
              </a:ext>
            </a:extLst>
          </p:cNvPr>
          <p:cNvPicPr>
            <a:picLocks noChangeAspect="1"/>
          </p:cNvPicPr>
          <p:nvPr/>
        </p:nvPicPr>
        <p:blipFill>
          <a:blip r:embed="rId4"/>
          <a:stretch>
            <a:fillRect/>
          </a:stretch>
        </p:blipFill>
        <p:spPr>
          <a:xfrm>
            <a:off x="2634594" y="783537"/>
            <a:ext cx="7087199" cy="3987250"/>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003366"/>
        </a:solidFill>
        <a:effectLst/>
      </p:bgPr>
    </p:bg>
    <p:spTree>
      <p:nvGrpSpPr>
        <p:cNvPr id="1" name=""/>
        <p:cNvGrpSpPr/>
        <p:nvPr/>
      </p:nvGrpSpPr>
      <p:grpSpPr>
        <a:xfrm>
          <a:off x="0" y="0"/>
          <a:ext cx="0" cy="0"/>
          <a:chOff x="0" y="0"/>
          <a:chExt cx="0" cy="0"/>
        </a:xfrm>
      </p:grpSpPr>
      <p:sp>
        <p:nvSpPr>
          <p:cNvPr id="2" name="TextBox 1"/>
          <p:cNvSpPr txBox="1"/>
          <p:nvPr/>
        </p:nvSpPr>
        <p:spPr>
          <a:xfrm>
            <a:off x="822960" y="2743200"/>
            <a:ext cx="10515600" cy="1371600"/>
          </a:xfrm>
          <a:prstGeom prst="rect">
            <a:avLst/>
          </a:prstGeom>
          <a:noFill/>
        </p:spPr>
        <p:txBody>
          <a:bodyPr wrap="square">
            <a:spAutoFit/>
          </a:bodyPr>
          <a:lstStyle/>
          <a:p>
            <a:pPr algn="l">
              <a:lnSpc>
                <a:spcPct val="150000"/>
              </a:lnSpc>
              <a:spcAft>
                <a:spcPts val="600"/>
              </a:spcAft>
            </a:pPr>
            <a:r>
              <a:rPr sz="4600" b="1">
                <a:solidFill>
                  <a:srgbClr val="FFFFFF"/>
                </a:solidFill>
                <a:latin typeface="Calibri"/>
              </a:rPr>
              <a:t>2 · Data</a:t>
            </a:r>
          </a:p>
        </p:txBody>
      </p:sp>
      <p:sp>
        <p:nvSpPr>
          <p:cNvPr id="3" name="Rectangle 2"/>
          <p:cNvSpPr/>
          <p:nvPr/>
        </p:nvSpPr>
        <p:spPr>
          <a:xfrm>
            <a:off x="868680" y="3886200"/>
            <a:ext cx="2926080" cy="73152"/>
          </a:xfrm>
          <a:prstGeom prst="rect">
            <a:avLst/>
          </a:prstGeom>
          <a:solidFill>
            <a:srgbClr val="00A0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rcRect/>
          <a:stretch/>
        </p:blipFill>
        <p:spPr>
          <a:xfrm>
            <a:off x="0" y="72"/>
            <a:ext cx="12191928" cy="6857928"/>
          </a:xfrm>
          <a:prstGeom prst="rect">
            <a:avLst/>
          </a:prstGeom>
        </p:spPr>
      </p:pic>
      <p:sp>
        <p:nvSpPr>
          <p:cNvPr id="11" name="Text 7"/>
          <p:cNvSpPr/>
          <p:nvPr/>
        </p:nvSpPr>
        <p:spPr>
          <a:xfrm>
            <a:off x="761927" y="1393179"/>
            <a:ext cx="10988117" cy="465859"/>
          </a:xfrm>
          <a:prstGeom prst="rect">
            <a:avLst/>
          </a:prstGeom>
          <a:noFill/>
          <a:ln/>
        </p:spPr>
        <p:txBody>
          <a:bodyPr wrap="square" lIns="16933" tIns="16933" rIns="16933" bIns="16933" rtlCol="0" anchor="t">
            <a:normAutofit fontScale="92500" lnSpcReduction="20000"/>
          </a:bodyPr>
          <a:lstStyle/>
          <a:p>
            <a:pPr>
              <a:lnSpc>
                <a:spcPct val="104000"/>
              </a:lnSpc>
            </a:pPr>
            <a:r>
              <a:rPr lang="en-US" sz="3336" b="1" kern="0" spc="-33" dirty="0">
                <a:solidFill>
                  <a:srgbClr val="0A1733"/>
                </a:solidFill>
                <a:latin typeface="IBM Plex Sans" pitchFamily="34" charset="0"/>
                <a:ea typeface="IBM Plex Sans" pitchFamily="34" charset="-122"/>
                <a:cs typeface="IBM Plex Sans" pitchFamily="34" charset="-120"/>
              </a:rPr>
              <a:t>Three sources, one unified schema</a:t>
            </a:r>
            <a:endParaRPr lang="en-US" sz="3336" dirty="0"/>
          </a:p>
        </p:txBody>
      </p:sp>
      <p:sp>
        <p:nvSpPr>
          <p:cNvPr id="12" name="Shape 8"/>
          <p:cNvSpPr/>
          <p:nvPr/>
        </p:nvSpPr>
        <p:spPr>
          <a:xfrm>
            <a:off x="761928" y="2182407"/>
            <a:ext cx="6195073" cy="3555928"/>
          </a:xfrm>
          <a:prstGeom prst="roundRect">
            <a:avLst>
              <a:gd name="adj" fmla="val 2500"/>
            </a:avLst>
          </a:prstGeom>
          <a:ln/>
          <a:effectLst>
            <a:outerShdw blurRad="381000" dist="133350" dir="5400000" algn="bl" rotWithShape="0">
              <a:srgbClr val="002A6E">
                <a:alpha val="55000"/>
              </a:srgbClr>
            </a:outerShdw>
          </a:effectLst>
        </p:spPr>
      </p:sp>
      <p:sp>
        <p:nvSpPr>
          <p:cNvPr id="14" name="Text 9"/>
          <p:cNvSpPr/>
          <p:nvPr/>
        </p:nvSpPr>
        <p:spPr>
          <a:xfrm>
            <a:off x="761927" y="5839906"/>
            <a:ext cx="6380925" cy="199437"/>
          </a:xfrm>
          <a:prstGeom prst="rect">
            <a:avLst/>
          </a:prstGeom>
          <a:noFill/>
          <a:ln/>
        </p:spPr>
        <p:txBody>
          <a:bodyPr wrap="square" lIns="16933" tIns="16933" rIns="16933" bIns="16933" rtlCol="0" anchor="t">
            <a:noAutofit/>
          </a:bodyPr>
          <a:lstStyle/>
          <a:p>
            <a:r>
              <a:rPr lang="en-US" sz="1467" b="1" kern="0" spc="32" dirty="0">
                <a:solidFill>
                  <a:srgbClr val="003893"/>
                </a:solidFill>
                <a:latin typeface="IBM Plex Mono" pitchFamily="34" charset="0"/>
                <a:ea typeface="IBM Plex Mono" pitchFamily="34" charset="-122"/>
                <a:cs typeface="IBM Plex Mono" pitchFamily="34" charset="-120"/>
              </a:rPr>
              <a:t>149,662 </a:t>
            </a:r>
            <a:r>
              <a:rPr lang="en-US" sz="1467" kern="0" spc="32" dirty="0">
                <a:solidFill>
                  <a:srgbClr val="003893"/>
                </a:solidFill>
                <a:latin typeface="IBM Plex Mono" pitchFamily="34" charset="0"/>
                <a:ea typeface="IBM Plex Mono" pitchFamily="34" charset="-122"/>
                <a:cs typeface="IBM Plex Mono" pitchFamily="34" charset="-120"/>
              </a:rPr>
              <a:t>labelled epochs · one unified 3-class schema</a:t>
            </a:r>
            <a:endParaRPr lang="en-US" sz="1467" dirty="0"/>
          </a:p>
        </p:txBody>
      </p:sp>
      <p:sp>
        <p:nvSpPr>
          <p:cNvPr id="15" name="Text 10"/>
          <p:cNvSpPr/>
          <p:nvPr/>
        </p:nvSpPr>
        <p:spPr>
          <a:xfrm>
            <a:off x="7299856" y="2509525"/>
            <a:ext cx="1511227" cy="374441"/>
          </a:xfrm>
          <a:prstGeom prst="rect">
            <a:avLst/>
          </a:prstGeom>
          <a:noFill/>
          <a:ln/>
        </p:spPr>
        <p:txBody>
          <a:bodyPr wrap="square" lIns="16933" tIns="16933" rIns="16933" bIns="16933" rtlCol="0" anchor="t">
            <a:normAutofit fontScale="92500" lnSpcReduction="20000"/>
          </a:bodyPr>
          <a:lstStyle/>
          <a:p>
            <a:pPr>
              <a:lnSpc>
                <a:spcPct val="90000"/>
              </a:lnSpc>
            </a:pPr>
            <a:r>
              <a:rPr lang="en-US" sz="3100" b="1" kern="0" spc="-63" dirty="0">
                <a:solidFill>
                  <a:srgbClr val="003893"/>
                </a:solidFill>
                <a:latin typeface="IBM Plex Mono" pitchFamily="34" charset="0"/>
              </a:rPr>
              <a:t>3</a:t>
            </a:r>
            <a:endParaRPr lang="en-US" sz="3100" dirty="0"/>
          </a:p>
        </p:txBody>
      </p:sp>
      <p:sp>
        <p:nvSpPr>
          <p:cNvPr id="16" name="Text 11"/>
          <p:cNvSpPr/>
          <p:nvPr/>
        </p:nvSpPr>
        <p:spPr>
          <a:xfrm>
            <a:off x="8887208" y="2610346"/>
            <a:ext cx="1546432" cy="286188"/>
          </a:xfrm>
          <a:prstGeom prst="rect">
            <a:avLst/>
          </a:prstGeom>
          <a:noFill/>
          <a:ln/>
        </p:spPr>
        <p:txBody>
          <a:bodyPr wrap="square" lIns="0" tIns="0" rIns="0" bIns="0" rtlCol="0" anchor="t">
            <a:noAutofit/>
          </a:bodyPr>
          <a:lstStyle/>
          <a:p>
            <a:pPr>
              <a:lnSpc>
                <a:spcPct val="125000"/>
              </a:lnSpc>
            </a:pPr>
            <a:r>
              <a:rPr lang="en-US" sz="1400" dirty="0">
                <a:solidFill>
                  <a:srgbClr val="0A1733"/>
                </a:solidFill>
                <a:latin typeface="IBM Plex Sans" pitchFamily="34" charset="0"/>
                <a:ea typeface="IBM Plex Sans" pitchFamily="34" charset="-122"/>
                <a:cs typeface="IBM Plex Sans" pitchFamily="34" charset="-120"/>
              </a:rPr>
              <a:t>Cities collected</a:t>
            </a:r>
            <a:endParaRPr lang="en-US" sz="1400" dirty="0"/>
          </a:p>
        </p:txBody>
      </p:sp>
      <p:sp>
        <p:nvSpPr>
          <p:cNvPr id="17" name="Text 12"/>
          <p:cNvSpPr/>
          <p:nvPr/>
        </p:nvSpPr>
        <p:spPr>
          <a:xfrm>
            <a:off x="8887209" y="2968815"/>
            <a:ext cx="2862835" cy="91980"/>
          </a:xfrm>
          <a:prstGeom prst="rect">
            <a:avLst/>
          </a:prstGeom>
          <a:noFill/>
          <a:ln/>
        </p:spPr>
        <p:txBody>
          <a:bodyPr wrap="square" lIns="16933" tIns="16933" rIns="16933" bIns="16933" rtlCol="0" anchor="t">
            <a:noAutofit/>
          </a:bodyPr>
          <a:lstStyle/>
          <a:p>
            <a:pPr>
              <a:lnSpc>
                <a:spcPct val="125000"/>
              </a:lnSpc>
            </a:pPr>
            <a:r>
              <a:rPr lang="en-US" sz="1200" kern="0" spc="25" dirty="0">
                <a:solidFill>
                  <a:srgbClr val="5A6A86"/>
                </a:solidFill>
                <a:latin typeface="IBM Plex Mono" pitchFamily="34" charset="0"/>
                <a:ea typeface="IBM Plex Mono" pitchFamily="34" charset="-122"/>
                <a:cs typeface="IBM Plex Mono" pitchFamily="34" charset="-120"/>
              </a:rPr>
              <a:t>Beijing · Hong Kong · Tokyo </a:t>
            </a:r>
            <a:endParaRPr lang="en-US" sz="1200" dirty="0"/>
          </a:p>
        </p:txBody>
      </p:sp>
      <p:sp>
        <p:nvSpPr>
          <p:cNvPr id="18" name="Shape 13"/>
          <p:cNvSpPr/>
          <p:nvPr/>
        </p:nvSpPr>
        <p:spPr>
          <a:xfrm>
            <a:off x="7299857" y="3187751"/>
            <a:ext cx="4130073" cy="6351"/>
          </a:xfrm>
          <a:prstGeom prst="rect">
            <a:avLst/>
          </a:prstGeom>
          <a:solidFill>
            <a:srgbClr val="CDD9EA"/>
          </a:solidFill>
          <a:ln/>
        </p:spPr>
      </p:sp>
      <p:sp>
        <p:nvSpPr>
          <p:cNvPr id="19" name="Text 14"/>
          <p:cNvSpPr/>
          <p:nvPr/>
        </p:nvSpPr>
        <p:spPr>
          <a:xfrm>
            <a:off x="7299856" y="3344812"/>
            <a:ext cx="1511227" cy="379721"/>
          </a:xfrm>
          <a:prstGeom prst="rect">
            <a:avLst/>
          </a:prstGeom>
          <a:noFill/>
          <a:ln/>
        </p:spPr>
        <p:txBody>
          <a:bodyPr wrap="square" lIns="16933" tIns="16933" rIns="16933" bIns="16933" rtlCol="0" anchor="t">
            <a:normAutofit fontScale="92500" lnSpcReduction="20000"/>
          </a:bodyPr>
          <a:lstStyle/>
          <a:p>
            <a:pPr>
              <a:lnSpc>
                <a:spcPct val="90000"/>
              </a:lnSpc>
            </a:pPr>
            <a:r>
              <a:rPr lang="en-US" sz="3100" b="1" kern="0" spc="-63" dirty="0">
                <a:solidFill>
                  <a:srgbClr val="003893"/>
                </a:solidFill>
                <a:latin typeface="IBM Plex Mono" pitchFamily="34" charset="0"/>
                <a:ea typeface="IBM Plex Mono" pitchFamily="34" charset="-122"/>
                <a:cs typeface="IBM Plex Mono" pitchFamily="34" charset="-120"/>
              </a:rPr>
              <a:t>9</a:t>
            </a:r>
            <a:r>
              <a:rPr lang="en-US" sz="1700" b="1" kern="0" spc="-63" dirty="0">
                <a:solidFill>
                  <a:srgbClr val="003893"/>
                </a:solidFill>
                <a:latin typeface="IBM Plex Mono" pitchFamily="34" charset="0"/>
                <a:ea typeface="IBM Plex Mono" pitchFamily="34" charset="-122"/>
                <a:cs typeface="IBM Plex Mono" pitchFamily="34" charset="-120"/>
              </a:rPr>
              <a:t>+</a:t>
            </a:r>
            <a:endParaRPr lang="en-US" sz="3100" dirty="0"/>
          </a:p>
        </p:txBody>
      </p:sp>
      <p:sp>
        <p:nvSpPr>
          <p:cNvPr id="20" name="Text 15"/>
          <p:cNvSpPr/>
          <p:nvPr/>
        </p:nvSpPr>
        <p:spPr>
          <a:xfrm>
            <a:off x="8887209" y="3471813"/>
            <a:ext cx="1462444" cy="265288"/>
          </a:xfrm>
          <a:prstGeom prst="rect">
            <a:avLst/>
          </a:prstGeom>
          <a:noFill/>
          <a:ln/>
        </p:spPr>
        <p:txBody>
          <a:bodyPr wrap="square" lIns="0" tIns="0" rIns="0" bIns="0" rtlCol="0" anchor="t">
            <a:noAutofit/>
          </a:bodyPr>
          <a:lstStyle/>
          <a:p>
            <a:pPr>
              <a:lnSpc>
                <a:spcPct val="125000"/>
              </a:lnSpc>
            </a:pPr>
            <a:r>
              <a:rPr lang="en-US" sz="1400" dirty="0">
                <a:solidFill>
                  <a:srgbClr val="0A1733"/>
                </a:solidFill>
                <a:latin typeface="IBM Plex Sans" pitchFamily="34" charset="0"/>
                <a:ea typeface="IBM Plex Sans" pitchFamily="34" charset="-122"/>
                <a:cs typeface="IBM Plex Sans" pitchFamily="34" charset="-120"/>
              </a:rPr>
              <a:t>Receiver types</a:t>
            </a:r>
            <a:endParaRPr lang="en-US" sz="1400" dirty="0"/>
          </a:p>
        </p:txBody>
      </p:sp>
      <p:sp>
        <p:nvSpPr>
          <p:cNvPr id="21" name="Text 16"/>
          <p:cNvSpPr/>
          <p:nvPr/>
        </p:nvSpPr>
        <p:spPr>
          <a:xfrm>
            <a:off x="8887210" y="3711314"/>
            <a:ext cx="2952577" cy="237463"/>
          </a:xfrm>
          <a:prstGeom prst="rect">
            <a:avLst/>
          </a:prstGeom>
          <a:noFill/>
          <a:ln/>
        </p:spPr>
        <p:txBody>
          <a:bodyPr wrap="square" lIns="16933" tIns="16933" rIns="16933" bIns="16933" rtlCol="0" anchor="t">
            <a:noAutofit/>
          </a:bodyPr>
          <a:lstStyle/>
          <a:p>
            <a:pPr>
              <a:lnSpc>
                <a:spcPct val="125000"/>
              </a:lnSpc>
            </a:pPr>
            <a:r>
              <a:rPr lang="en-US" sz="1200" kern="0" spc="25" dirty="0">
                <a:solidFill>
                  <a:srgbClr val="5A6A86"/>
                </a:solidFill>
                <a:latin typeface="IBM Plex Mono" pitchFamily="34" charset="0"/>
                <a:ea typeface="IBM Plex Mono" pitchFamily="34" charset="-122"/>
                <a:cs typeface="IBM Plex Mono" pitchFamily="34" charset="-120"/>
              </a:rPr>
              <a:t>survey-grade → consumer phone</a:t>
            </a:r>
            <a:endParaRPr lang="en-US" sz="1200" dirty="0"/>
          </a:p>
        </p:txBody>
      </p:sp>
      <p:sp>
        <p:nvSpPr>
          <p:cNvPr id="22" name="Shape 17"/>
          <p:cNvSpPr/>
          <p:nvPr/>
        </p:nvSpPr>
        <p:spPr>
          <a:xfrm>
            <a:off x="7299857" y="4028318"/>
            <a:ext cx="4130073" cy="6351"/>
          </a:xfrm>
          <a:prstGeom prst="rect">
            <a:avLst/>
          </a:prstGeom>
          <a:solidFill>
            <a:srgbClr val="CDD9EA"/>
          </a:solidFill>
          <a:ln/>
        </p:spPr>
      </p:sp>
      <p:sp>
        <p:nvSpPr>
          <p:cNvPr id="23" name="Text 18"/>
          <p:cNvSpPr/>
          <p:nvPr/>
        </p:nvSpPr>
        <p:spPr>
          <a:xfrm>
            <a:off x="7299856" y="4185377"/>
            <a:ext cx="1511227" cy="379721"/>
          </a:xfrm>
          <a:prstGeom prst="rect">
            <a:avLst/>
          </a:prstGeom>
          <a:noFill/>
          <a:ln/>
        </p:spPr>
        <p:txBody>
          <a:bodyPr wrap="square" lIns="16933" tIns="16933" rIns="16933" bIns="16933" rtlCol="0" anchor="t">
            <a:normAutofit fontScale="92500" lnSpcReduction="20000"/>
          </a:bodyPr>
          <a:lstStyle/>
          <a:p>
            <a:pPr>
              <a:lnSpc>
                <a:spcPct val="90000"/>
              </a:lnSpc>
            </a:pPr>
            <a:r>
              <a:rPr lang="en-US" sz="3100" b="1" kern="0" spc="-63" dirty="0">
                <a:solidFill>
                  <a:srgbClr val="003893"/>
                </a:solidFill>
                <a:latin typeface="IBM Plex Mono" pitchFamily="34" charset="0"/>
                <a:ea typeface="IBM Plex Mono" pitchFamily="34" charset="-122"/>
                <a:cs typeface="IBM Plex Mono" pitchFamily="34" charset="-120"/>
              </a:rPr>
              <a:t>5</a:t>
            </a:r>
            <a:endParaRPr lang="en-US" sz="3100" dirty="0"/>
          </a:p>
        </p:txBody>
      </p:sp>
      <p:sp>
        <p:nvSpPr>
          <p:cNvPr id="24" name="Text 19"/>
          <p:cNvSpPr/>
          <p:nvPr/>
        </p:nvSpPr>
        <p:spPr>
          <a:xfrm>
            <a:off x="8887209" y="4282391"/>
            <a:ext cx="2410711" cy="295276"/>
          </a:xfrm>
          <a:prstGeom prst="rect">
            <a:avLst/>
          </a:prstGeom>
          <a:noFill/>
          <a:ln/>
        </p:spPr>
        <p:txBody>
          <a:bodyPr wrap="square" lIns="0" tIns="0" rIns="0" bIns="0" rtlCol="0" anchor="t">
            <a:noAutofit/>
          </a:bodyPr>
          <a:lstStyle/>
          <a:p>
            <a:pPr>
              <a:lnSpc>
                <a:spcPct val="125000"/>
              </a:lnSpc>
            </a:pPr>
            <a:r>
              <a:rPr lang="en-US" sz="1400" dirty="0">
                <a:solidFill>
                  <a:srgbClr val="0A1733"/>
                </a:solidFill>
                <a:latin typeface="IBM Plex Sans" pitchFamily="34" charset="0"/>
                <a:ea typeface="IBM Plex Sans" pitchFamily="34" charset="-122"/>
                <a:cs typeface="IBM Plex Sans" pitchFamily="34" charset="-120"/>
              </a:rPr>
              <a:t>Degradation scenarios A–E</a:t>
            </a:r>
            <a:endParaRPr lang="en-US" sz="1400" dirty="0"/>
          </a:p>
        </p:txBody>
      </p:sp>
      <p:sp>
        <p:nvSpPr>
          <p:cNvPr id="25" name="Text 20"/>
          <p:cNvSpPr/>
          <p:nvPr/>
        </p:nvSpPr>
        <p:spPr>
          <a:xfrm>
            <a:off x="8887210" y="4558005"/>
            <a:ext cx="2749377" cy="482023"/>
          </a:xfrm>
          <a:prstGeom prst="rect">
            <a:avLst/>
          </a:prstGeom>
          <a:noFill/>
          <a:ln/>
        </p:spPr>
        <p:txBody>
          <a:bodyPr wrap="square" lIns="16933" tIns="16933" rIns="16933" bIns="16933" rtlCol="0" anchor="t">
            <a:noAutofit/>
          </a:bodyPr>
          <a:lstStyle/>
          <a:p>
            <a:pPr>
              <a:lnSpc>
                <a:spcPct val="125000"/>
              </a:lnSpc>
            </a:pPr>
            <a:r>
              <a:rPr lang="en-US" sz="1200" kern="0" spc="25" dirty="0">
                <a:solidFill>
                  <a:srgbClr val="5A6A86"/>
                </a:solidFill>
                <a:latin typeface="IBM Plex Mono" pitchFamily="34" charset="0"/>
                <a:ea typeface="IBM Plex Mono" pitchFamily="34" charset="-122"/>
                <a:cs typeface="IBM Plex Mono" pitchFamily="34" charset="-120"/>
              </a:rPr>
              <a:t>blockage · canyon · partial · open · approaching</a:t>
            </a:r>
            <a:endParaRPr lang="en-US" sz="1200" dirty="0"/>
          </a:p>
        </p:txBody>
      </p:sp>
      <p:sp>
        <p:nvSpPr>
          <p:cNvPr id="26" name="Shape 21"/>
          <p:cNvSpPr/>
          <p:nvPr/>
        </p:nvSpPr>
        <p:spPr>
          <a:xfrm>
            <a:off x="7299857" y="5003822"/>
            <a:ext cx="4130073" cy="6351"/>
          </a:xfrm>
          <a:prstGeom prst="rect">
            <a:avLst/>
          </a:prstGeom>
          <a:solidFill>
            <a:srgbClr val="CDD9EA"/>
          </a:solidFill>
          <a:ln/>
        </p:spPr>
      </p:sp>
      <p:sp>
        <p:nvSpPr>
          <p:cNvPr id="27" name="Text 22"/>
          <p:cNvSpPr/>
          <p:nvPr/>
        </p:nvSpPr>
        <p:spPr>
          <a:xfrm>
            <a:off x="7299856" y="5160882"/>
            <a:ext cx="1511227" cy="379721"/>
          </a:xfrm>
          <a:prstGeom prst="rect">
            <a:avLst/>
          </a:prstGeom>
          <a:noFill/>
          <a:ln/>
        </p:spPr>
        <p:txBody>
          <a:bodyPr wrap="square" lIns="16933" tIns="16933" rIns="16933" bIns="16933" rtlCol="0" anchor="t">
            <a:normAutofit fontScale="92500" lnSpcReduction="20000"/>
          </a:bodyPr>
          <a:lstStyle/>
          <a:p>
            <a:pPr>
              <a:lnSpc>
                <a:spcPct val="90000"/>
              </a:lnSpc>
            </a:pPr>
            <a:r>
              <a:rPr lang="en-US" sz="3100" b="1" kern="0" spc="-63" dirty="0">
                <a:solidFill>
                  <a:srgbClr val="003893"/>
                </a:solidFill>
                <a:latin typeface="IBM Plex Mono" pitchFamily="34" charset="0"/>
                <a:ea typeface="IBM Plex Mono" pitchFamily="34" charset="-122"/>
                <a:cs typeface="IBM Plex Mono" pitchFamily="34" charset="-120"/>
              </a:rPr>
              <a:t>1</a:t>
            </a:r>
            <a:r>
              <a:rPr lang="en-US" sz="1700" b="1" kern="0" spc="-63" dirty="0">
                <a:solidFill>
                  <a:srgbClr val="003893"/>
                </a:solidFill>
                <a:latin typeface="IBM Plex Mono" pitchFamily="34" charset="0"/>
                <a:ea typeface="IBM Plex Mono" pitchFamily="34" charset="-122"/>
                <a:cs typeface="IBM Plex Mono" pitchFamily="34" charset="-120"/>
              </a:rPr>
              <a:t>s</a:t>
            </a:r>
            <a:endParaRPr lang="en-US" sz="3100" dirty="0"/>
          </a:p>
        </p:txBody>
      </p:sp>
      <p:sp>
        <p:nvSpPr>
          <p:cNvPr id="28" name="Text 23"/>
          <p:cNvSpPr/>
          <p:nvPr/>
        </p:nvSpPr>
        <p:spPr>
          <a:xfrm>
            <a:off x="8887210" y="5216573"/>
            <a:ext cx="2112413" cy="336599"/>
          </a:xfrm>
          <a:prstGeom prst="rect">
            <a:avLst/>
          </a:prstGeom>
          <a:noFill/>
          <a:ln/>
        </p:spPr>
        <p:txBody>
          <a:bodyPr wrap="square" lIns="0" tIns="0" rIns="0" bIns="0" rtlCol="0" anchor="t">
            <a:noAutofit/>
          </a:bodyPr>
          <a:lstStyle/>
          <a:p>
            <a:pPr>
              <a:lnSpc>
                <a:spcPct val="125000"/>
              </a:lnSpc>
            </a:pPr>
            <a:r>
              <a:rPr lang="en-US" sz="1400" dirty="0">
                <a:solidFill>
                  <a:srgbClr val="0A1733"/>
                </a:solidFill>
                <a:latin typeface="IBM Plex Sans" pitchFamily="34" charset="0"/>
                <a:ea typeface="IBM Plex Sans" pitchFamily="34" charset="-122"/>
                <a:cs typeface="IBM Plex Sans" pitchFamily="34" charset="-120"/>
              </a:rPr>
              <a:t>Sampling cadence</a:t>
            </a:r>
            <a:endParaRPr lang="en-US" sz="1400" dirty="0"/>
          </a:p>
        </p:txBody>
      </p:sp>
      <p:sp>
        <p:nvSpPr>
          <p:cNvPr id="29" name="Text 24"/>
          <p:cNvSpPr/>
          <p:nvPr/>
        </p:nvSpPr>
        <p:spPr>
          <a:xfrm>
            <a:off x="8887210" y="5490327"/>
            <a:ext cx="2221057" cy="310725"/>
          </a:xfrm>
          <a:prstGeom prst="rect">
            <a:avLst/>
          </a:prstGeom>
          <a:noFill/>
          <a:ln/>
        </p:spPr>
        <p:txBody>
          <a:bodyPr wrap="square" lIns="16933" tIns="16933" rIns="16933" bIns="16933" rtlCol="0" anchor="t">
            <a:noAutofit/>
          </a:bodyPr>
          <a:lstStyle/>
          <a:p>
            <a:pPr>
              <a:lnSpc>
                <a:spcPct val="125000"/>
              </a:lnSpc>
            </a:pPr>
            <a:r>
              <a:rPr lang="en-US" sz="1200" kern="0" spc="25" dirty="0">
                <a:solidFill>
                  <a:srgbClr val="5A6A86"/>
                </a:solidFill>
                <a:latin typeface="IBM Plex Mono" pitchFamily="34" charset="0"/>
                <a:ea typeface="IBM Plex Mono" pitchFamily="34" charset="-122"/>
                <a:cs typeface="IBM Plex Mono" pitchFamily="34" charset="-120"/>
              </a:rPr>
              <a:t>RINEX + NMEA per epoch</a:t>
            </a:r>
            <a:endParaRPr lang="en-US" sz="1200" dirty="0"/>
          </a:p>
        </p:txBody>
      </p:sp>
      <p:sp>
        <p:nvSpPr>
          <p:cNvPr id="30" name="Shape 25"/>
          <p:cNvSpPr/>
          <p:nvPr/>
        </p:nvSpPr>
        <p:spPr>
          <a:xfrm>
            <a:off x="0" y="6489643"/>
            <a:ext cx="12191928" cy="368285"/>
          </a:xfrm>
          <a:prstGeom prst="rect">
            <a:avLst/>
          </a:prstGeom>
          <a:solidFill>
            <a:srgbClr val="003893"/>
          </a:solidFill>
          <a:ln/>
        </p:spPr>
      </p:sp>
      <p:sp>
        <p:nvSpPr>
          <p:cNvPr id="31" name="Text 26"/>
          <p:cNvSpPr/>
          <p:nvPr/>
        </p:nvSpPr>
        <p:spPr>
          <a:xfrm>
            <a:off x="761927" y="6607896"/>
            <a:ext cx="1403629" cy="157104"/>
          </a:xfrm>
          <a:prstGeom prst="rect">
            <a:avLst/>
          </a:prstGeom>
          <a:noFill/>
          <a:ln/>
        </p:spPr>
        <p:txBody>
          <a:bodyPr wrap="square" lIns="16933" tIns="16933" rIns="16933" bIns="16933" rtlCol="0" anchor="t">
            <a:normAutofit/>
          </a:bodyPr>
          <a:lstStyle/>
          <a:p>
            <a:r>
              <a:rPr lang="en-US" sz="800" kern="0" spc="112" dirty="0">
                <a:solidFill>
                  <a:srgbClr val="BFE6FB"/>
                </a:solidFill>
                <a:latin typeface="IBM Plex Mono" pitchFamily="34" charset="0"/>
                <a:ea typeface="IBM Plex Mono" pitchFamily="34" charset="-122"/>
                <a:cs typeface="IBM Plex Mono" pitchFamily="34" charset="-120"/>
              </a:rPr>
              <a:t>BEIHANG UNIVERSITY</a:t>
            </a:r>
            <a:endParaRPr lang="en-US" sz="800" dirty="0"/>
          </a:p>
        </p:txBody>
      </p:sp>
      <p:sp>
        <p:nvSpPr>
          <p:cNvPr id="32" name="Text 27"/>
          <p:cNvSpPr/>
          <p:nvPr/>
        </p:nvSpPr>
        <p:spPr>
          <a:xfrm>
            <a:off x="9851689" y="6607896"/>
            <a:ext cx="1629113" cy="157104"/>
          </a:xfrm>
          <a:prstGeom prst="rect">
            <a:avLst/>
          </a:prstGeom>
          <a:noFill/>
          <a:ln/>
        </p:spPr>
        <p:txBody>
          <a:bodyPr wrap="square" lIns="16933" tIns="16933" rIns="16933" bIns="16933" rtlCol="0" anchor="t">
            <a:normAutofit/>
          </a:bodyPr>
          <a:lstStyle/>
          <a:p>
            <a:r>
              <a:rPr lang="en-US" sz="800" kern="0" spc="112" dirty="0">
                <a:solidFill>
                  <a:srgbClr val="FFFFFF"/>
                </a:solidFill>
                <a:latin typeface="IBM Plex Mono" pitchFamily="34" charset="0"/>
                <a:ea typeface="IBM Plex Mono" pitchFamily="34" charset="-122"/>
                <a:cs typeface="IBM Plex Mono" pitchFamily="34" charset="-120"/>
              </a:rPr>
              <a:t>SENTINEL-GNSS · PILOT</a:t>
            </a:r>
            <a:endParaRPr lang="en-US" sz="800" dirty="0"/>
          </a:p>
        </p:txBody>
      </p:sp>
      <p:grpSp>
        <p:nvGrpSpPr>
          <p:cNvPr id="34" name="Group 33">
            <a:extLst>
              <a:ext uri="{FF2B5EF4-FFF2-40B4-BE49-F238E27FC236}">
                <a16:creationId xmlns:a16="http://schemas.microsoft.com/office/drawing/2014/main" id="{A571C799-BD83-0553-C789-2F6AD278BC9F}"/>
              </a:ext>
            </a:extLst>
          </p:cNvPr>
          <p:cNvGrpSpPr/>
          <p:nvPr/>
        </p:nvGrpSpPr>
        <p:grpSpPr>
          <a:xfrm>
            <a:off x="-95624" y="-24618"/>
            <a:ext cx="12287624" cy="767311"/>
            <a:chOff x="-71718" y="-18464"/>
            <a:chExt cx="9215718" cy="575483"/>
          </a:xfrm>
        </p:grpSpPr>
        <p:sp>
          <p:nvSpPr>
            <p:cNvPr id="35" name="Shape 0">
              <a:extLst>
                <a:ext uri="{FF2B5EF4-FFF2-40B4-BE49-F238E27FC236}">
                  <a16:creationId xmlns:a16="http://schemas.microsoft.com/office/drawing/2014/main" id="{6CE38917-AB98-BDC4-77F8-DD2A9D564AEA}"/>
                </a:ext>
              </a:extLst>
            </p:cNvPr>
            <p:cNvSpPr/>
            <p:nvPr/>
          </p:nvSpPr>
          <p:spPr>
            <a:xfrm>
              <a:off x="0" y="1451"/>
              <a:ext cx="9144000" cy="555306"/>
            </a:xfrm>
            <a:prstGeom prst="rect">
              <a:avLst/>
            </a:prstGeom>
            <a:solidFill>
              <a:srgbClr val="003893"/>
            </a:solidFill>
            <a:ln w="12700">
              <a:solidFill>
                <a:srgbClr val="003893"/>
              </a:solidFill>
              <a:prstDash val="solid"/>
            </a:ln>
          </p:spPr>
        </p:sp>
        <p:sp>
          <p:nvSpPr>
            <p:cNvPr id="36" name="Shape 1">
              <a:extLst>
                <a:ext uri="{FF2B5EF4-FFF2-40B4-BE49-F238E27FC236}">
                  <a16:creationId xmlns:a16="http://schemas.microsoft.com/office/drawing/2014/main" id="{B94ABE1A-90E2-690E-3C7C-DE5083632610}"/>
                </a:ext>
              </a:extLst>
            </p:cNvPr>
            <p:cNvSpPr/>
            <p:nvPr/>
          </p:nvSpPr>
          <p:spPr>
            <a:xfrm>
              <a:off x="0" y="526760"/>
              <a:ext cx="9144000" cy="27432"/>
            </a:xfrm>
            <a:prstGeom prst="rect">
              <a:avLst/>
            </a:prstGeom>
            <a:solidFill>
              <a:srgbClr val="4FC3F7"/>
            </a:solidFill>
            <a:ln w="12700">
              <a:solidFill>
                <a:srgbClr val="4FC3F7"/>
              </a:solidFill>
              <a:prstDash val="solid"/>
            </a:ln>
          </p:spPr>
        </p:sp>
        <p:sp>
          <p:nvSpPr>
            <p:cNvPr id="37" name="Shape 4">
              <a:extLst>
                <a:ext uri="{FF2B5EF4-FFF2-40B4-BE49-F238E27FC236}">
                  <a16:creationId xmlns:a16="http://schemas.microsoft.com/office/drawing/2014/main" id="{8C25F906-D66A-A74B-2C37-382EAA0980B6}"/>
                </a:ext>
              </a:extLst>
            </p:cNvPr>
            <p:cNvSpPr/>
            <p:nvPr/>
          </p:nvSpPr>
          <p:spPr>
            <a:xfrm>
              <a:off x="0" y="-18464"/>
              <a:ext cx="846572" cy="575483"/>
            </a:xfrm>
            <a:prstGeom prst="homePlate">
              <a:avLst/>
            </a:prstGeom>
            <a:solidFill>
              <a:srgbClr val="FFFFFF"/>
            </a:solidFill>
            <a:ln w="6350">
              <a:solidFill>
                <a:srgbClr val="CCCCCC"/>
              </a:solidFill>
              <a:prstDash val="solid"/>
            </a:ln>
          </p:spPr>
        </p:sp>
        <p:sp>
          <p:nvSpPr>
            <p:cNvPr id="38" name="Shape 5">
              <a:extLst>
                <a:ext uri="{FF2B5EF4-FFF2-40B4-BE49-F238E27FC236}">
                  <a16:creationId xmlns:a16="http://schemas.microsoft.com/office/drawing/2014/main" id="{E9AEE26E-87E7-AC1B-D772-AA4B9D3A604B}"/>
                </a:ext>
              </a:extLst>
            </p:cNvPr>
            <p:cNvSpPr/>
            <p:nvPr/>
          </p:nvSpPr>
          <p:spPr>
            <a:xfrm>
              <a:off x="8046720" y="91440"/>
              <a:ext cx="38405" cy="38405"/>
            </a:xfrm>
            <a:prstGeom prst="ellipse">
              <a:avLst/>
            </a:prstGeom>
            <a:solidFill>
              <a:srgbClr val="FFFFFF">
                <a:alpha val="35000"/>
              </a:srgbClr>
            </a:solidFill>
            <a:ln w="12700">
              <a:solidFill>
                <a:srgbClr val="FFFFFF"/>
              </a:solidFill>
              <a:prstDash val="solid"/>
            </a:ln>
          </p:spPr>
        </p:sp>
        <p:sp>
          <p:nvSpPr>
            <p:cNvPr id="39" name="Shape 6">
              <a:extLst>
                <a:ext uri="{FF2B5EF4-FFF2-40B4-BE49-F238E27FC236}">
                  <a16:creationId xmlns:a16="http://schemas.microsoft.com/office/drawing/2014/main" id="{9F6B7D67-D278-A536-A364-DC4CA17A5A46}"/>
                </a:ext>
              </a:extLst>
            </p:cNvPr>
            <p:cNvSpPr/>
            <p:nvPr/>
          </p:nvSpPr>
          <p:spPr>
            <a:xfrm>
              <a:off x="8211312" y="91440"/>
              <a:ext cx="38405" cy="38405"/>
            </a:xfrm>
            <a:prstGeom prst="ellipse">
              <a:avLst/>
            </a:prstGeom>
            <a:solidFill>
              <a:srgbClr val="FFFFFF">
                <a:alpha val="35000"/>
              </a:srgbClr>
            </a:solidFill>
            <a:ln w="12700">
              <a:solidFill>
                <a:srgbClr val="FFFFFF"/>
              </a:solidFill>
              <a:prstDash val="solid"/>
            </a:ln>
          </p:spPr>
        </p:sp>
        <p:sp>
          <p:nvSpPr>
            <p:cNvPr id="40" name="Shape 7">
              <a:extLst>
                <a:ext uri="{FF2B5EF4-FFF2-40B4-BE49-F238E27FC236}">
                  <a16:creationId xmlns:a16="http://schemas.microsoft.com/office/drawing/2014/main" id="{E1EF7C92-825B-36C6-FE31-9E2CEF3ABF4C}"/>
                </a:ext>
              </a:extLst>
            </p:cNvPr>
            <p:cNvSpPr/>
            <p:nvPr/>
          </p:nvSpPr>
          <p:spPr>
            <a:xfrm>
              <a:off x="8375904" y="91440"/>
              <a:ext cx="38405" cy="38405"/>
            </a:xfrm>
            <a:prstGeom prst="ellipse">
              <a:avLst/>
            </a:prstGeom>
            <a:solidFill>
              <a:srgbClr val="FFFFFF">
                <a:alpha val="35000"/>
              </a:srgbClr>
            </a:solidFill>
            <a:ln w="12700">
              <a:solidFill>
                <a:srgbClr val="FFFFFF"/>
              </a:solidFill>
              <a:prstDash val="solid"/>
            </a:ln>
          </p:spPr>
        </p:sp>
        <p:sp>
          <p:nvSpPr>
            <p:cNvPr id="41" name="Shape 8">
              <a:extLst>
                <a:ext uri="{FF2B5EF4-FFF2-40B4-BE49-F238E27FC236}">
                  <a16:creationId xmlns:a16="http://schemas.microsoft.com/office/drawing/2014/main" id="{6090DF5B-325C-DFDF-215F-4F10AFDDE090}"/>
                </a:ext>
              </a:extLst>
            </p:cNvPr>
            <p:cNvSpPr/>
            <p:nvPr/>
          </p:nvSpPr>
          <p:spPr>
            <a:xfrm>
              <a:off x="8540496" y="91440"/>
              <a:ext cx="38405" cy="38405"/>
            </a:xfrm>
            <a:prstGeom prst="ellipse">
              <a:avLst/>
            </a:prstGeom>
            <a:solidFill>
              <a:srgbClr val="FFFFFF">
                <a:alpha val="35000"/>
              </a:srgbClr>
            </a:solidFill>
            <a:ln w="12700">
              <a:solidFill>
                <a:srgbClr val="FFFFFF"/>
              </a:solidFill>
              <a:prstDash val="solid"/>
            </a:ln>
          </p:spPr>
        </p:sp>
        <p:sp>
          <p:nvSpPr>
            <p:cNvPr id="42" name="Shape 9">
              <a:extLst>
                <a:ext uri="{FF2B5EF4-FFF2-40B4-BE49-F238E27FC236}">
                  <a16:creationId xmlns:a16="http://schemas.microsoft.com/office/drawing/2014/main" id="{28707B0A-F92B-9522-9FD5-3A3FD8ABA37E}"/>
                </a:ext>
              </a:extLst>
            </p:cNvPr>
            <p:cNvSpPr/>
            <p:nvPr/>
          </p:nvSpPr>
          <p:spPr>
            <a:xfrm>
              <a:off x="8046720" y="219456"/>
              <a:ext cx="38405" cy="38405"/>
            </a:xfrm>
            <a:prstGeom prst="ellipse">
              <a:avLst/>
            </a:prstGeom>
            <a:solidFill>
              <a:srgbClr val="FFFFFF">
                <a:alpha val="35000"/>
              </a:srgbClr>
            </a:solidFill>
            <a:ln w="12700">
              <a:solidFill>
                <a:srgbClr val="FFFFFF"/>
              </a:solidFill>
              <a:prstDash val="solid"/>
            </a:ln>
          </p:spPr>
        </p:sp>
        <p:sp>
          <p:nvSpPr>
            <p:cNvPr id="43" name="Shape 10">
              <a:extLst>
                <a:ext uri="{FF2B5EF4-FFF2-40B4-BE49-F238E27FC236}">
                  <a16:creationId xmlns:a16="http://schemas.microsoft.com/office/drawing/2014/main" id="{08CD6C0F-BCEC-61BC-02BA-8D78C6A3DF29}"/>
                </a:ext>
              </a:extLst>
            </p:cNvPr>
            <p:cNvSpPr/>
            <p:nvPr/>
          </p:nvSpPr>
          <p:spPr>
            <a:xfrm>
              <a:off x="8211312" y="219456"/>
              <a:ext cx="38405" cy="38405"/>
            </a:xfrm>
            <a:prstGeom prst="ellipse">
              <a:avLst/>
            </a:prstGeom>
            <a:solidFill>
              <a:srgbClr val="FFFFFF">
                <a:alpha val="35000"/>
              </a:srgbClr>
            </a:solidFill>
            <a:ln w="12700">
              <a:solidFill>
                <a:srgbClr val="FFFFFF"/>
              </a:solidFill>
              <a:prstDash val="solid"/>
            </a:ln>
          </p:spPr>
        </p:sp>
        <p:sp>
          <p:nvSpPr>
            <p:cNvPr id="44" name="Shape 11">
              <a:extLst>
                <a:ext uri="{FF2B5EF4-FFF2-40B4-BE49-F238E27FC236}">
                  <a16:creationId xmlns:a16="http://schemas.microsoft.com/office/drawing/2014/main" id="{CB4692AB-7E21-55E3-C959-B99FBF5A2BA2}"/>
                </a:ext>
              </a:extLst>
            </p:cNvPr>
            <p:cNvSpPr/>
            <p:nvPr/>
          </p:nvSpPr>
          <p:spPr>
            <a:xfrm>
              <a:off x="8375904" y="219456"/>
              <a:ext cx="38405" cy="38405"/>
            </a:xfrm>
            <a:prstGeom prst="ellipse">
              <a:avLst/>
            </a:prstGeom>
            <a:solidFill>
              <a:srgbClr val="FFFFFF">
                <a:alpha val="35000"/>
              </a:srgbClr>
            </a:solidFill>
            <a:ln w="12700">
              <a:solidFill>
                <a:srgbClr val="FFFFFF"/>
              </a:solidFill>
              <a:prstDash val="solid"/>
            </a:ln>
          </p:spPr>
        </p:sp>
        <p:sp>
          <p:nvSpPr>
            <p:cNvPr id="45" name="Shape 12">
              <a:extLst>
                <a:ext uri="{FF2B5EF4-FFF2-40B4-BE49-F238E27FC236}">
                  <a16:creationId xmlns:a16="http://schemas.microsoft.com/office/drawing/2014/main" id="{104690DC-2AA0-AD78-A48E-80EE7631EE6E}"/>
                </a:ext>
              </a:extLst>
            </p:cNvPr>
            <p:cNvSpPr/>
            <p:nvPr/>
          </p:nvSpPr>
          <p:spPr>
            <a:xfrm>
              <a:off x="8540496" y="219456"/>
              <a:ext cx="38405" cy="38405"/>
            </a:xfrm>
            <a:prstGeom prst="ellipse">
              <a:avLst/>
            </a:prstGeom>
            <a:solidFill>
              <a:srgbClr val="FFFFFF">
                <a:alpha val="35000"/>
              </a:srgbClr>
            </a:solidFill>
            <a:ln w="12700">
              <a:solidFill>
                <a:srgbClr val="FFFFFF"/>
              </a:solidFill>
              <a:prstDash val="solid"/>
            </a:ln>
          </p:spPr>
        </p:sp>
        <p:sp>
          <p:nvSpPr>
            <p:cNvPr id="46" name="Shape 13">
              <a:extLst>
                <a:ext uri="{FF2B5EF4-FFF2-40B4-BE49-F238E27FC236}">
                  <a16:creationId xmlns:a16="http://schemas.microsoft.com/office/drawing/2014/main" id="{A312E4E3-1090-CF90-DD85-8CFEC78FB3EB}"/>
                </a:ext>
              </a:extLst>
            </p:cNvPr>
            <p:cNvSpPr/>
            <p:nvPr/>
          </p:nvSpPr>
          <p:spPr>
            <a:xfrm>
              <a:off x="8046720" y="347472"/>
              <a:ext cx="38405" cy="38405"/>
            </a:xfrm>
            <a:prstGeom prst="ellipse">
              <a:avLst/>
            </a:prstGeom>
            <a:solidFill>
              <a:srgbClr val="FFFFFF">
                <a:alpha val="35000"/>
              </a:srgbClr>
            </a:solidFill>
            <a:ln w="12700">
              <a:solidFill>
                <a:srgbClr val="FFFFFF"/>
              </a:solidFill>
              <a:prstDash val="solid"/>
            </a:ln>
          </p:spPr>
        </p:sp>
        <p:sp>
          <p:nvSpPr>
            <p:cNvPr id="47" name="Shape 14">
              <a:extLst>
                <a:ext uri="{FF2B5EF4-FFF2-40B4-BE49-F238E27FC236}">
                  <a16:creationId xmlns:a16="http://schemas.microsoft.com/office/drawing/2014/main" id="{5A4773D0-ADF6-8B8C-4174-A5E64C07F16A}"/>
                </a:ext>
              </a:extLst>
            </p:cNvPr>
            <p:cNvSpPr/>
            <p:nvPr/>
          </p:nvSpPr>
          <p:spPr>
            <a:xfrm>
              <a:off x="8211312" y="347472"/>
              <a:ext cx="38405" cy="38405"/>
            </a:xfrm>
            <a:prstGeom prst="ellipse">
              <a:avLst/>
            </a:prstGeom>
            <a:solidFill>
              <a:srgbClr val="FFFFFF">
                <a:alpha val="35000"/>
              </a:srgbClr>
            </a:solidFill>
            <a:ln w="12700">
              <a:solidFill>
                <a:srgbClr val="FFFFFF"/>
              </a:solidFill>
              <a:prstDash val="solid"/>
            </a:ln>
          </p:spPr>
        </p:sp>
        <p:sp>
          <p:nvSpPr>
            <p:cNvPr id="48" name="Shape 15">
              <a:extLst>
                <a:ext uri="{FF2B5EF4-FFF2-40B4-BE49-F238E27FC236}">
                  <a16:creationId xmlns:a16="http://schemas.microsoft.com/office/drawing/2014/main" id="{4222439E-60A8-3572-6BCD-B9A09E0F3360}"/>
                </a:ext>
              </a:extLst>
            </p:cNvPr>
            <p:cNvSpPr/>
            <p:nvPr/>
          </p:nvSpPr>
          <p:spPr>
            <a:xfrm>
              <a:off x="8375904" y="347472"/>
              <a:ext cx="38405" cy="38405"/>
            </a:xfrm>
            <a:prstGeom prst="ellipse">
              <a:avLst/>
            </a:prstGeom>
            <a:solidFill>
              <a:srgbClr val="FFFFFF">
                <a:alpha val="35000"/>
              </a:srgbClr>
            </a:solidFill>
            <a:ln w="12700">
              <a:solidFill>
                <a:srgbClr val="FFFFFF"/>
              </a:solidFill>
              <a:prstDash val="solid"/>
            </a:ln>
          </p:spPr>
        </p:sp>
        <p:sp>
          <p:nvSpPr>
            <p:cNvPr id="49" name="Shape 16">
              <a:extLst>
                <a:ext uri="{FF2B5EF4-FFF2-40B4-BE49-F238E27FC236}">
                  <a16:creationId xmlns:a16="http://schemas.microsoft.com/office/drawing/2014/main" id="{46FAE77C-6ABE-4A29-559D-7AEE501589AF}"/>
                </a:ext>
              </a:extLst>
            </p:cNvPr>
            <p:cNvSpPr/>
            <p:nvPr/>
          </p:nvSpPr>
          <p:spPr>
            <a:xfrm>
              <a:off x="8540496" y="347472"/>
              <a:ext cx="38405" cy="38405"/>
            </a:xfrm>
            <a:prstGeom prst="ellipse">
              <a:avLst/>
            </a:prstGeom>
            <a:solidFill>
              <a:srgbClr val="FFFFFF">
                <a:alpha val="35000"/>
              </a:srgbClr>
            </a:solidFill>
            <a:ln w="12700">
              <a:solidFill>
                <a:srgbClr val="FFFFFF"/>
              </a:solidFill>
              <a:prstDash val="solid"/>
            </a:ln>
          </p:spPr>
        </p:sp>
        <p:pic>
          <p:nvPicPr>
            <p:cNvPr id="50" name="Picture 49">
              <a:extLst>
                <a:ext uri="{FF2B5EF4-FFF2-40B4-BE49-F238E27FC236}">
                  <a16:creationId xmlns:a16="http://schemas.microsoft.com/office/drawing/2014/main" id="{9718EB6C-8904-5EED-AC95-F9C1535FFD07}"/>
                </a:ext>
              </a:extLst>
            </p:cNvPr>
            <p:cNvPicPr>
              <a:picLocks noChangeAspect="1"/>
            </p:cNvPicPr>
            <p:nvPr/>
          </p:nvPicPr>
          <p:blipFill>
            <a:blip r:embed="rId4"/>
            <a:srcRect l="20128" t="19209" r="10255" b="19209"/>
            <a:stretch/>
          </p:blipFill>
          <p:spPr>
            <a:xfrm>
              <a:off x="-71718" y="-18464"/>
              <a:ext cx="927596" cy="575483"/>
            </a:xfrm>
            <a:prstGeom prst="rect">
              <a:avLst/>
            </a:prstGeom>
          </p:spPr>
        </p:pic>
      </p:grpSp>
      <p:sp>
        <p:nvSpPr>
          <p:cNvPr id="5" name="TopLabel">
            <a:extLst>
              <a:ext uri="{FF2B5EF4-FFF2-40B4-BE49-F238E27FC236}">
                <a16:creationId xmlns:a16="http://schemas.microsoft.com/office/drawing/2014/main" id="{3EF71C49-036E-8725-EE0C-BC63418483EC}"/>
              </a:ext>
            </a:extLst>
          </p:cNvPr>
          <p:cNvSpPr>
            <a:spLocks noGrp="1"/>
          </p:cNvSpPr>
          <p:nvPr/>
        </p:nvSpPr>
        <p:spPr>
          <a:xfrm>
            <a:off x="1266667" y="66667"/>
            <a:ext cx="7333333" cy="600000"/>
          </a:xfrm>
          <a:prstGeom prst="rect">
            <a:avLst/>
          </a:prstGeom>
          <a:noFill/>
          <a:ln>
            <a:noFill/>
          </a:ln>
        </p:spPr>
        <p:txBody>
          <a:bodyPr wrap="square" lIns="0" tIns="0" rIns="0" bIns="0" rtlCol="0" anchor="ctr">
            <a:normAutofit/>
          </a:bodyPr>
          <a:lstStyle/>
          <a:p>
            <a:r>
              <a:rPr lang="en-US" sz="3200" b="1" dirty="0">
                <a:solidFill>
                  <a:srgbClr val="FFFFFF"/>
                </a:solidFill>
                <a:latin typeface="Calibri"/>
                <a:ea typeface="Calibri"/>
                <a:cs typeface="Calibri"/>
              </a:rPr>
              <a:t>DATASET</a:t>
            </a:r>
          </a:p>
        </p:txBody>
      </p:sp>
      <p:pic>
        <p:nvPicPr>
          <p:cNvPr id="7" name="Picture 6">
            <a:extLst>
              <a:ext uri="{FF2B5EF4-FFF2-40B4-BE49-F238E27FC236}">
                <a16:creationId xmlns:a16="http://schemas.microsoft.com/office/drawing/2014/main" id="{B3F52795-39A9-BC37-E7CB-CD69825326F6}"/>
              </a:ext>
            </a:extLst>
          </p:cNvPr>
          <p:cNvPicPr>
            <a:picLocks noChangeAspect="1"/>
          </p:cNvPicPr>
          <p:nvPr/>
        </p:nvPicPr>
        <p:blipFill>
          <a:blip r:embed="rId5"/>
          <a:stretch>
            <a:fillRect/>
          </a:stretch>
        </p:blipFill>
        <p:spPr>
          <a:xfrm>
            <a:off x="711577" y="2309338"/>
            <a:ext cx="6011856" cy="3355454"/>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003366"/>
        </a:solidFill>
        <a:effectLst/>
      </p:bgPr>
    </p:bg>
    <p:spTree>
      <p:nvGrpSpPr>
        <p:cNvPr id="1" name=""/>
        <p:cNvGrpSpPr/>
        <p:nvPr/>
      </p:nvGrpSpPr>
      <p:grpSpPr>
        <a:xfrm>
          <a:off x="0" y="0"/>
          <a:ext cx="0" cy="0"/>
          <a:chOff x="0" y="0"/>
          <a:chExt cx="0" cy="0"/>
        </a:xfrm>
      </p:grpSpPr>
      <p:sp>
        <p:nvSpPr>
          <p:cNvPr id="2" name="TextBox 1"/>
          <p:cNvSpPr txBox="1"/>
          <p:nvPr/>
        </p:nvSpPr>
        <p:spPr>
          <a:xfrm>
            <a:off x="822960" y="2743200"/>
            <a:ext cx="10515600" cy="1371600"/>
          </a:xfrm>
          <a:prstGeom prst="rect">
            <a:avLst/>
          </a:prstGeom>
          <a:noFill/>
        </p:spPr>
        <p:txBody>
          <a:bodyPr wrap="square">
            <a:spAutoFit/>
          </a:bodyPr>
          <a:lstStyle/>
          <a:p>
            <a:pPr algn="l">
              <a:lnSpc>
                <a:spcPct val="150000"/>
              </a:lnSpc>
              <a:spcAft>
                <a:spcPts val="600"/>
              </a:spcAft>
            </a:pPr>
            <a:r>
              <a:rPr sz="4600" b="1">
                <a:solidFill>
                  <a:srgbClr val="FFFFFF"/>
                </a:solidFill>
                <a:latin typeface="Calibri"/>
              </a:rPr>
              <a:t>3 · Method</a:t>
            </a:r>
          </a:p>
        </p:txBody>
      </p:sp>
      <p:sp>
        <p:nvSpPr>
          <p:cNvPr id="3" name="Rectangle 2"/>
          <p:cNvSpPr/>
          <p:nvPr/>
        </p:nvSpPr>
        <p:spPr>
          <a:xfrm>
            <a:off x="868680" y="3886200"/>
            <a:ext cx="2926080" cy="73152"/>
          </a:xfrm>
          <a:prstGeom prst="rect">
            <a:avLst/>
          </a:prstGeom>
          <a:solidFill>
            <a:srgbClr val="00A0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rcRect/>
          <a:stretch/>
        </p:blipFill>
        <p:spPr>
          <a:xfrm>
            <a:off x="0" y="181588"/>
            <a:ext cx="12191928" cy="6857928"/>
          </a:xfrm>
          <a:prstGeom prst="rect">
            <a:avLst/>
          </a:prstGeom>
        </p:spPr>
      </p:pic>
      <p:sp>
        <p:nvSpPr>
          <p:cNvPr id="11" name="Text 7"/>
          <p:cNvSpPr/>
          <p:nvPr/>
        </p:nvSpPr>
        <p:spPr>
          <a:xfrm>
            <a:off x="734833" y="899811"/>
            <a:ext cx="10988117" cy="465859"/>
          </a:xfrm>
          <a:prstGeom prst="rect">
            <a:avLst/>
          </a:prstGeom>
          <a:noFill/>
          <a:ln/>
        </p:spPr>
        <p:txBody>
          <a:bodyPr wrap="square" lIns="16933" tIns="16933" rIns="16933" bIns="16933" rtlCol="0" anchor="t">
            <a:normAutofit fontScale="92500" lnSpcReduction="20000"/>
          </a:bodyPr>
          <a:lstStyle/>
          <a:p>
            <a:pPr>
              <a:lnSpc>
                <a:spcPct val="104000"/>
              </a:lnSpc>
            </a:pPr>
            <a:r>
              <a:rPr lang="en-US" sz="3336" b="1" kern="0" spc="-33" dirty="0">
                <a:solidFill>
                  <a:srgbClr val="0A1733"/>
                </a:solidFill>
                <a:latin typeface="IBM Plex Sans" pitchFamily="34" charset="0"/>
                <a:ea typeface="IBM Plex Sans" pitchFamily="34" charset="-122"/>
                <a:cs typeface="IBM Plex Sans" pitchFamily="34" charset="-120"/>
              </a:rPr>
              <a:t>Three classes, predicted three steps ahead</a:t>
            </a:r>
            <a:endParaRPr lang="en-US" sz="3336" dirty="0"/>
          </a:p>
        </p:txBody>
      </p:sp>
      <p:pic>
        <p:nvPicPr>
          <p:cNvPr id="12" name="Image 2" descr="preencoded.png"/>
          <p:cNvPicPr>
            <a:picLocks noChangeAspect="1"/>
          </p:cNvPicPr>
          <p:nvPr/>
        </p:nvPicPr>
        <p:blipFill>
          <a:blip r:embed="rId4"/>
          <a:stretch>
            <a:fillRect/>
          </a:stretch>
        </p:blipFill>
        <p:spPr>
          <a:xfrm>
            <a:off x="218804" y="1497744"/>
            <a:ext cx="11261998" cy="4208711"/>
          </a:xfrm>
          <a:prstGeom prst="rect">
            <a:avLst/>
          </a:prstGeom>
        </p:spPr>
      </p:pic>
      <p:sp>
        <p:nvSpPr>
          <p:cNvPr id="13" name="Shape 8"/>
          <p:cNvSpPr/>
          <p:nvPr/>
        </p:nvSpPr>
        <p:spPr>
          <a:xfrm>
            <a:off x="734833" y="6028419"/>
            <a:ext cx="180959" cy="139260"/>
          </a:xfrm>
          <a:prstGeom prst="roundRect">
            <a:avLst>
              <a:gd name="adj" fmla="val 22225"/>
            </a:avLst>
          </a:prstGeom>
          <a:solidFill>
            <a:srgbClr val="2E9E5B"/>
          </a:solidFill>
          <a:ln/>
        </p:spPr>
      </p:sp>
      <p:sp>
        <p:nvSpPr>
          <p:cNvPr id="14" name="Text 9"/>
          <p:cNvSpPr/>
          <p:nvPr/>
        </p:nvSpPr>
        <p:spPr>
          <a:xfrm>
            <a:off x="946034" y="5979973"/>
            <a:ext cx="745389" cy="243020"/>
          </a:xfrm>
          <a:prstGeom prst="rect">
            <a:avLst/>
          </a:prstGeom>
          <a:noFill/>
          <a:ln/>
        </p:spPr>
        <p:txBody>
          <a:bodyPr wrap="square" lIns="16933" tIns="16933" rIns="16933" bIns="16933" rtlCol="0" anchor="t">
            <a:noAutofit/>
          </a:bodyPr>
          <a:lstStyle/>
          <a:p>
            <a:r>
              <a:rPr lang="en-US" sz="1333" b="1" kern="0" spc="32" dirty="0">
                <a:solidFill>
                  <a:srgbClr val="2E9E5B"/>
                </a:solidFill>
                <a:latin typeface="IBM Plex Mono" pitchFamily="34" charset="0"/>
                <a:ea typeface="IBM Plex Mono" pitchFamily="34" charset="-122"/>
                <a:cs typeface="IBM Plex Mono" pitchFamily="34" charset="-120"/>
              </a:rPr>
              <a:t>CLEAN</a:t>
            </a:r>
            <a:endParaRPr lang="en-US" sz="1333" dirty="0"/>
          </a:p>
        </p:txBody>
      </p:sp>
      <p:sp>
        <p:nvSpPr>
          <p:cNvPr id="15" name="Shape 10"/>
          <p:cNvSpPr/>
          <p:nvPr/>
        </p:nvSpPr>
        <p:spPr>
          <a:xfrm>
            <a:off x="1597051" y="6028419"/>
            <a:ext cx="180959" cy="139260"/>
          </a:xfrm>
          <a:prstGeom prst="roundRect">
            <a:avLst>
              <a:gd name="adj" fmla="val 22225"/>
            </a:avLst>
          </a:prstGeom>
          <a:solidFill>
            <a:srgbClr val="E0A012"/>
          </a:solidFill>
          <a:ln/>
        </p:spPr>
      </p:sp>
      <p:sp>
        <p:nvSpPr>
          <p:cNvPr id="16" name="Text 11"/>
          <p:cNvSpPr/>
          <p:nvPr/>
        </p:nvSpPr>
        <p:spPr>
          <a:xfrm>
            <a:off x="1835345" y="5979973"/>
            <a:ext cx="826576" cy="243020"/>
          </a:xfrm>
          <a:prstGeom prst="rect">
            <a:avLst/>
          </a:prstGeom>
          <a:noFill/>
          <a:ln/>
        </p:spPr>
        <p:txBody>
          <a:bodyPr wrap="square" lIns="16933" tIns="16933" rIns="16933" bIns="16933" rtlCol="0" anchor="t">
            <a:noAutofit/>
          </a:bodyPr>
          <a:lstStyle/>
          <a:p>
            <a:r>
              <a:rPr lang="en-US" sz="1333" b="1" kern="0" spc="32" dirty="0">
                <a:solidFill>
                  <a:srgbClr val="B9820A"/>
                </a:solidFill>
                <a:latin typeface="IBM Plex Mono" pitchFamily="34" charset="0"/>
                <a:ea typeface="IBM Plex Mono" pitchFamily="34" charset="-122"/>
                <a:cs typeface="IBM Plex Mono" pitchFamily="34" charset="-120"/>
              </a:rPr>
              <a:t>WARNING</a:t>
            </a:r>
            <a:endParaRPr lang="en-US" sz="1333" dirty="0"/>
          </a:p>
        </p:txBody>
      </p:sp>
      <p:sp>
        <p:nvSpPr>
          <p:cNvPr id="17" name="Shape 12"/>
          <p:cNvSpPr/>
          <p:nvPr/>
        </p:nvSpPr>
        <p:spPr>
          <a:xfrm>
            <a:off x="2796539" y="6028419"/>
            <a:ext cx="180959" cy="139260"/>
          </a:xfrm>
          <a:prstGeom prst="roundRect">
            <a:avLst>
              <a:gd name="adj" fmla="val 22225"/>
            </a:avLst>
          </a:prstGeom>
          <a:solidFill>
            <a:srgbClr val="D6453D"/>
          </a:solidFill>
          <a:ln/>
        </p:spPr>
      </p:sp>
      <p:sp>
        <p:nvSpPr>
          <p:cNvPr id="18" name="Text 13"/>
          <p:cNvSpPr/>
          <p:nvPr/>
        </p:nvSpPr>
        <p:spPr>
          <a:xfrm>
            <a:off x="3014514" y="5979973"/>
            <a:ext cx="1144313" cy="243020"/>
          </a:xfrm>
          <a:prstGeom prst="rect">
            <a:avLst/>
          </a:prstGeom>
          <a:noFill/>
          <a:ln/>
        </p:spPr>
        <p:txBody>
          <a:bodyPr wrap="square" lIns="16933" tIns="16933" rIns="16933" bIns="16933" rtlCol="0" anchor="t">
            <a:noAutofit/>
          </a:bodyPr>
          <a:lstStyle/>
          <a:p>
            <a:r>
              <a:rPr lang="en-US" sz="1333" b="1" kern="0" spc="32" dirty="0">
                <a:solidFill>
                  <a:srgbClr val="D6453D"/>
                </a:solidFill>
                <a:latin typeface="IBM Plex Mono" pitchFamily="34" charset="0"/>
                <a:ea typeface="IBM Plex Mono" pitchFamily="34" charset="-122"/>
                <a:cs typeface="IBM Plex Mono" pitchFamily="34" charset="-120"/>
              </a:rPr>
              <a:t>DEGRADED</a:t>
            </a:r>
            <a:endParaRPr lang="en-US" sz="1333" dirty="0"/>
          </a:p>
        </p:txBody>
      </p:sp>
      <p:sp>
        <p:nvSpPr>
          <p:cNvPr id="19" name="Text 14"/>
          <p:cNvSpPr/>
          <p:nvPr/>
        </p:nvSpPr>
        <p:spPr>
          <a:xfrm>
            <a:off x="4910973" y="5979973"/>
            <a:ext cx="7181967" cy="375412"/>
          </a:xfrm>
          <a:prstGeom prst="rect">
            <a:avLst/>
          </a:prstGeom>
          <a:noFill/>
          <a:ln/>
        </p:spPr>
        <p:txBody>
          <a:bodyPr wrap="square" lIns="16933" tIns="16933" rIns="16933" bIns="16933" rtlCol="0" anchor="t">
            <a:noAutofit/>
          </a:bodyPr>
          <a:lstStyle/>
          <a:p>
            <a:r>
              <a:rPr lang="en-US" sz="1400" kern="0" spc="40" dirty="0">
                <a:solidFill>
                  <a:srgbClr val="5A6A86"/>
                </a:solidFill>
                <a:latin typeface="IBM Plex Mono" pitchFamily="34" charset="0"/>
                <a:ea typeface="IBM Plex Mono" pitchFamily="34" charset="-122"/>
                <a:cs typeface="IBM Plex Mono" pitchFamily="34" charset="-120"/>
              </a:rPr>
              <a:t>30 s of signal in → degradation class out at +5 / +15 / +30 s</a:t>
            </a:r>
            <a:endParaRPr lang="en-US" sz="1400" dirty="0"/>
          </a:p>
        </p:txBody>
      </p:sp>
      <p:sp>
        <p:nvSpPr>
          <p:cNvPr id="20" name="Shape 15"/>
          <p:cNvSpPr/>
          <p:nvPr/>
        </p:nvSpPr>
        <p:spPr>
          <a:xfrm>
            <a:off x="0" y="6489643"/>
            <a:ext cx="12191928" cy="368285"/>
          </a:xfrm>
          <a:prstGeom prst="rect">
            <a:avLst/>
          </a:prstGeom>
          <a:solidFill>
            <a:srgbClr val="003893"/>
          </a:solidFill>
          <a:ln/>
        </p:spPr>
      </p:sp>
      <p:sp>
        <p:nvSpPr>
          <p:cNvPr id="21" name="Text 16"/>
          <p:cNvSpPr/>
          <p:nvPr/>
        </p:nvSpPr>
        <p:spPr>
          <a:xfrm>
            <a:off x="761927" y="6607896"/>
            <a:ext cx="1403629" cy="157104"/>
          </a:xfrm>
          <a:prstGeom prst="rect">
            <a:avLst/>
          </a:prstGeom>
          <a:noFill/>
          <a:ln/>
        </p:spPr>
        <p:txBody>
          <a:bodyPr wrap="square" lIns="16933" tIns="16933" rIns="16933" bIns="16933" rtlCol="0" anchor="t">
            <a:normAutofit/>
          </a:bodyPr>
          <a:lstStyle/>
          <a:p>
            <a:r>
              <a:rPr lang="en-US" sz="800" kern="0" spc="112" dirty="0">
                <a:solidFill>
                  <a:srgbClr val="BFE6FB"/>
                </a:solidFill>
                <a:latin typeface="IBM Plex Mono" pitchFamily="34" charset="0"/>
                <a:ea typeface="IBM Plex Mono" pitchFamily="34" charset="-122"/>
                <a:cs typeface="IBM Plex Mono" pitchFamily="34" charset="-120"/>
              </a:rPr>
              <a:t>BEIHANG UNIVERSITY</a:t>
            </a:r>
            <a:endParaRPr lang="en-US" sz="800" dirty="0"/>
          </a:p>
        </p:txBody>
      </p:sp>
      <p:sp>
        <p:nvSpPr>
          <p:cNvPr id="22" name="Text 17"/>
          <p:cNvSpPr/>
          <p:nvPr/>
        </p:nvSpPr>
        <p:spPr>
          <a:xfrm>
            <a:off x="9851689" y="6607896"/>
            <a:ext cx="1629113" cy="157104"/>
          </a:xfrm>
          <a:prstGeom prst="rect">
            <a:avLst/>
          </a:prstGeom>
          <a:noFill/>
          <a:ln/>
        </p:spPr>
        <p:txBody>
          <a:bodyPr wrap="square" lIns="16933" tIns="16933" rIns="16933" bIns="16933" rtlCol="0" anchor="t">
            <a:normAutofit/>
          </a:bodyPr>
          <a:lstStyle/>
          <a:p>
            <a:r>
              <a:rPr lang="en-US" sz="800" kern="0" spc="112" dirty="0">
                <a:solidFill>
                  <a:srgbClr val="FFFFFF"/>
                </a:solidFill>
                <a:latin typeface="IBM Plex Mono" pitchFamily="34" charset="0"/>
                <a:ea typeface="IBM Plex Mono" pitchFamily="34" charset="-122"/>
                <a:cs typeface="IBM Plex Mono" pitchFamily="34" charset="-120"/>
              </a:rPr>
              <a:t>SENTINEL-GNSS · PILOT</a:t>
            </a:r>
            <a:endParaRPr lang="en-US" sz="800" dirty="0"/>
          </a:p>
        </p:txBody>
      </p:sp>
      <p:grpSp>
        <p:nvGrpSpPr>
          <p:cNvPr id="23" name="Group 22">
            <a:extLst>
              <a:ext uri="{FF2B5EF4-FFF2-40B4-BE49-F238E27FC236}">
                <a16:creationId xmlns:a16="http://schemas.microsoft.com/office/drawing/2014/main" id="{0635D027-65E9-FFAD-0501-5AA931157D96}"/>
              </a:ext>
            </a:extLst>
          </p:cNvPr>
          <p:cNvGrpSpPr/>
          <p:nvPr/>
        </p:nvGrpSpPr>
        <p:grpSpPr>
          <a:xfrm>
            <a:off x="-95624" y="-24618"/>
            <a:ext cx="12287624" cy="767311"/>
            <a:chOff x="-71718" y="-18464"/>
            <a:chExt cx="9215718" cy="575483"/>
          </a:xfrm>
        </p:grpSpPr>
        <p:sp>
          <p:nvSpPr>
            <p:cNvPr id="24" name="Shape 0">
              <a:extLst>
                <a:ext uri="{FF2B5EF4-FFF2-40B4-BE49-F238E27FC236}">
                  <a16:creationId xmlns:a16="http://schemas.microsoft.com/office/drawing/2014/main" id="{745CBA48-ADE7-E439-C5F9-88B6D826CEF5}"/>
                </a:ext>
              </a:extLst>
            </p:cNvPr>
            <p:cNvSpPr/>
            <p:nvPr/>
          </p:nvSpPr>
          <p:spPr>
            <a:xfrm>
              <a:off x="0" y="1451"/>
              <a:ext cx="9144000" cy="555306"/>
            </a:xfrm>
            <a:prstGeom prst="rect">
              <a:avLst/>
            </a:prstGeom>
            <a:solidFill>
              <a:srgbClr val="003893"/>
            </a:solidFill>
            <a:ln w="12700">
              <a:solidFill>
                <a:srgbClr val="003893"/>
              </a:solidFill>
              <a:prstDash val="solid"/>
            </a:ln>
          </p:spPr>
        </p:sp>
        <p:sp>
          <p:nvSpPr>
            <p:cNvPr id="25" name="Shape 1">
              <a:extLst>
                <a:ext uri="{FF2B5EF4-FFF2-40B4-BE49-F238E27FC236}">
                  <a16:creationId xmlns:a16="http://schemas.microsoft.com/office/drawing/2014/main" id="{9AFA4D1D-905F-90DB-70E7-83562014A2B8}"/>
                </a:ext>
              </a:extLst>
            </p:cNvPr>
            <p:cNvSpPr/>
            <p:nvPr/>
          </p:nvSpPr>
          <p:spPr>
            <a:xfrm>
              <a:off x="0" y="526760"/>
              <a:ext cx="9144000" cy="27432"/>
            </a:xfrm>
            <a:prstGeom prst="rect">
              <a:avLst/>
            </a:prstGeom>
            <a:solidFill>
              <a:srgbClr val="4FC3F7"/>
            </a:solidFill>
            <a:ln w="12700">
              <a:solidFill>
                <a:srgbClr val="4FC3F7"/>
              </a:solidFill>
              <a:prstDash val="solid"/>
            </a:ln>
          </p:spPr>
        </p:sp>
        <p:sp>
          <p:nvSpPr>
            <p:cNvPr id="26" name="Shape 4">
              <a:extLst>
                <a:ext uri="{FF2B5EF4-FFF2-40B4-BE49-F238E27FC236}">
                  <a16:creationId xmlns:a16="http://schemas.microsoft.com/office/drawing/2014/main" id="{C8ECE362-EA46-E257-5946-741385C18B33}"/>
                </a:ext>
              </a:extLst>
            </p:cNvPr>
            <p:cNvSpPr/>
            <p:nvPr/>
          </p:nvSpPr>
          <p:spPr>
            <a:xfrm>
              <a:off x="0" y="-18464"/>
              <a:ext cx="846572" cy="575483"/>
            </a:xfrm>
            <a:prstGeom prst="homePlate">
              <a:avLst/>
            </a:prstGeom>
            <a:solidFill>
              <a:srgbClr val="FFFFFF"/>
            </a:solidFill>
            <a:ln w="6350">
              <a:solidFill>
                <a:srgbClr val="CCCCCC"/>
              </a:solidFill>
              <a:prstDash val="solid"/>
            </a:ln>
          </p:spPr>
        </p:sp>
        <p:sp>
          <p:nvSpPr>
            <p:cNvPr id="27" name="Shape 5">
              <a:extLst>
                <a:ext uri="{FF2B5EF4-FFF2-40B4-BE49-F238E27FC236}">
                  <a16:creationId xmlns:a16="http://schemas.microsoft.com/office/drawing/2014/main" id="{42CF7C76-59C4-A2DD-D6BC-7A010782D0BA}"/>
                </a:ext>
              </a:extLst>
            </p:cNvPr>
            <p:cNvSpPr/>
            <p:nvPr/>
          </p:nvSpPr>
          <p:spPr>
            <a:xfrm>
              <a:off x="8046720" y="91440"/>
              <a:ext cx="38405" cy="38405"/>
            </a:xfrm>
            <a:prstGeom prst="ellipse">
              <a:avLst/>
            </a:prstGeom>
            <a:solidFill>
              <a:srgbClr val="FFFFFF">
                <a:alpha val="35000"/>
              </a:srgbClr>
            </a:solidFill>
            <a:ln w="12700">
              <a:solidFill>
                <a:srgbClr val="FFFFFF"/>
              </a:solidFill>
              <a:prstDash val="solid"/>
            </a:ln>
          </p:spPr>
        </p:sp>
        <p:sp>
          <p:nvSpPr>
            <p:cNvPr id="28" name="Shape 6">
              <a:extLst>
                <a:ext uri="{FF2B5EF4-FFF2-40B4-BE49-F238E27FC236}">
                  <a16:creationId xmlns:a16="http://schemas.microsoft.com/office/drawing/2014/main" id="{AAB3DDAE-A664-BB31-0819-E426E955EC6F}"/>
                </a:ext>
              </a:extLst>
            </p:cNvPr>
            <p:cNvSpPr/>
            <p:nvPr/>
          </p:nvSpPr>
          <p:spPr>
            <a:xfrm>
              <a:off x="8211312" y="91440"/>
              <a:ext cx="38405" cy="38405"/>
            </a:xfrm>
            <a:prstGeom prst="ellipse">
              <a:avLst/>
            </a:prstGeom>
            <a:solidFill>
              <a:srgbClr val="FFFFFF">
                <a:alpha val="35000"/>
              </a:srgbClr>
            </a:solidFill>
            <a:ln w="12700">
              <a:solidFill>
                <a:srgbClr val="FFFFFF"/>
              </a:solidFill>
              <a:prstDash val="solid"/>
            </a:ln>
          </p:spPr>
        </p:sp>
        <p:sp>
          <p:nvSpPr>
            <p:cNvPr id="29" name="Shape 7">
              <a:extLst>
                <a:ext uri="{FF2B5EF4-FFF2-40B4-BE49-F238E27FC236}">
                  <a16:creationId xmlns:a16="http://schemas.microsoft.com/office/drawing/2014/main" id="{A9D5A26F-A210-6B89-60B1-EE0A204621CD}"/>
                </a:ext>
              </a:extLst>
            </p:cNvPr>
            <p:cNvSpPr/>
            <p:nvPr/>
          </p:nvSpPr>
          <p:spPr>
            <a:xfrm>
              <a:off x="8375904" y="91440"/>
              <a:ext cx="38405" cy="38405"/>
            </a:xfrm>
            <a:prstGeom prst="ellipse">
              <a:avLst/>
            </a:prstGeom>
            <a:solidFill>
              <a:srgbClr val="FFFFFF">
                <a:alpha val="35000"/>
              </a:srgbClr>
            </a:solidFill>
            <a:ln w="12700">
              <a:solidFill>
                <a:srgbClr val="FFFFFF"/>
              </a:solidFill>
              <a:prstDash val="solid"/>
            </a:ln>
          </p:spPr>
        </p:sp>
        <p:sp>
          <p:nvSpPr>
            <p:cNvPr id="30" name="Shape 8">
              <a:extLst>
                <a:ext uri="{FF2B5EF4-FFF2-40B4-BE49-F238E27FC236}">
                  <a16:creationId xmlns:a16="http://schemas.microsoft.com/office/drawing/2014/main" id="{CE790845-BCD7-139D-25C5-F7E89E6B53CE}"/>
                </a:ext>
              </a:extLst>
            </p:cNvPr>
            <p:cNvSpPr/>
            <p:nvPr/>
          </p:nvSpPr>
          <p:spPr>
            <a:xfrm>
              <a:off x="8540496" y="91440"/>
              <a:ext cx="38405" cy="38405"/>
            </a:xfrm>
            <a:prstGeom prst="ellipse">
              <a:avLst/>
            </a:prstGeom>
            <a:solidFill>
              <a:srgbClr val="FFFFFF">
                <a:alpha val="35000"/>
              </a:srgbClr>
            </a:solidFill>
            <a:ln w="12700">
              <a:solidFill>
                <a:srgbClr val="FFFFFF"/>
              </a:solidFill>
              <a:prstDash val="solid"/>
            </a:ln>
          </p:spPr>
        </p:sp>
        <p:sp>
          <p:nvSpPr>
            <p:cNvPr id="31" name="Shape 9">
              <a:extLst>
                <a:ext uri="{FF2B5EF4-FFF2-40B4-BE49-F238E27FC236}">
                  <a16:creationId xmlns:a16="http://schemas.microsoft.com/office/drawing/2014/main" id="{CCFACD4A-8090-3777-11A2-4C3353CF12F3}"/>
                </a:ext>
              </a:extLst>
            </p:cNvPr>
            <p:cNvSpPr/>
            <p:nvPr/>
          </p:nvSpPr>
          <p:spPr>
            <a:xfrm>
              <a:off x="8046720" y="219456"/>
              <a:ext cx="38405" cy="38405"/>
            </a:xfrm>
            <a:prstGeom prst="ellipse">
              <a:avLst/>
            </a:prstGeom>
            <a:solidFill>
              <a:srgbClr val="FFFFFF">
                <a:alpha val="35000"/>
              </a:srgbClr>
            </a:solidFill>
            <a:ln w="12700">
              <a:solidFill>
                <a:srgbClr val="FFFFFF"/>
              </a:solidFill>
              <a:prstDash val="solid"/>
            </a:ln>
          </p:spPr>
        </p:sp>
        <p:sp>
          <p:nvSpPr>
            <p:cNvPr id="32" name="Shape 10">
              <a:extLst>
                <a:ext uri="{FF2B5EF4-FFF2-40B4-BE49-F238E27FC236}">
                  <a16:creationId xmlns:a16="http://schemas.microsoft.com/office/drawing/2014/main" id="{ACB99CCE-835B-CA5D-9DB0-AD88370FC222}"/>
                </a:ext>
              </a:extLst>
            </p:cNvPr>
            <p:cNvSpPr/>
            <p:nvPr/>
          </p:nvSpPr>
          <p:spPr>
            <a:xfrm>
              <a:off x="8211312" y="219456"/>
              <a:ext cx="38405" cy="38405"/>
            </a:xfrm>
            <a:prstGeom prst="ellipse">
              <a:avLst/>
            </a:prstGeom>
            <a:solidFill>
              <a:srgbClr val="FFFFFF">
                <a:alpha val="35000"/>
              </a:srgbClr>
            </a:solidFill>
            <a:ln w="12700">
              <a:solidFill>
                <a:srgbClr val="FFFFFF"/>
              </a:solidFill>
              <a:prstDash val="solid"/>
            </a:ln>
          </p:spPr>
        </p:sp>
        <p:sp>
          <p:nvSpPr>
            <p:cNvPr id="33" name="Shape 11">
              <a:extLst>
                <a:ext uri="{FF2B5EF4-FFF2-40B4-BE49-F238E27FC236}">
                  <a16:creationId xmlns:a16="http://schemas.microsoft.com/office/drawing/2014/main" id="{9BD5C7BB-A7CC-B83C-290A-95364549F8A7}"/>
                </a:ext>
              </a:extLst>
            </p:cNvPr>
            <p:cNvSpPr/>
            <p:nvPr/>
          </p:nvSpPr>
          <p:spPr>
            <a:xfrm>
              <a:off x="8375904" y="219456"/>
              <a:ext cx="38405" cy="38405"/>
            </a:xfrm>
            <a:prstGeom prst="ellipse">
              <a:avLst/>
            </a:prstGeom>
            <a:solidFill>
              <a:srgbClr val="FFFFFF">
                <a:alpha val="35000"/>
              </a:srgbClr>
            </a:solidFill>
            <a:ln w="12700">
              <a:solidFill>
                <a:srgbClr val="FFFFFF"/>
              </a:solidFill>
              <a:prstDash val="solid"/>
            </a:ln>
          </p:spPr>
        </p:sp>
        <p:sp>
          <p:nvSpPr>
            <p:cNvPr id="34" name="Shape 12">
              <a:extLst>
                <a:ext uri="{FF2B5EF4-FFF2-40B4-BE49-F238E27FC236}">
                  <a16:creationId xmlns:a16="http://schemas.microsoft.com/office/drawing/2014/main" id="{6E28E5B2-FC44-408A-1776-4C4DE7F2F993}"/>
                </a:ext>
              </a:extLst>
            </p:cNvPr>
            <p:cNvSpPr/>
            <p:nvPr/>
          </p:nvSpPr>
          <p:spPr>
            <a:xfrm>
              <a:off x="8540496" y="219456"/>
              <a:ext cx="38405" cy="38405"/>
            </a:xfrm>
            <a:prstGeom prst="ellipse">
              <a:avLst/>
            </a:prstGeom>
            <a:solidFill>
              <a:srgbClr val="FFFFFF">
                <a:alpha val="35000"/>
              </a:srgbClr>
            </a:solidFill>
            <a:ln w="12700">
              <a:solidFill>
                <a:srgbClr val="FFFFFF"/>
              </a:solidFill>
              <a:prstDash val="solid"/>
            </a:ln>
          </p:spPr>
        </p:sp>
        <p:sp>
          <p:nvSpPr>
            <p:cNvPr id="35" name="Shape 13">
              <a:extLst>
                <a:ext uri="{FF2B5EF4-FFF2-40B4-BE49-F238E27FC236}">
                  <a16:creationId xmlns:a16="http://schemas.microsoft.com/office/drawing/2014/main" id="{10E84644-CC2A-F723-D75B-EA9F05115486}"/>
                </a:ext>
              </a:extLst>
            </p:cNvPr>
            <p:cNvSpPr/>
            <p:nvPr/>
          </p:nvSpPr>
          <p:spPr>
            <a:xfrm>
              <a:off x="8046720" y="347472"/>
              <a:ext cx="38405" cy="38405"/>
            </a:xfrm>
            <a:prstGeom prst="ellipse">
              <a:avLst/>
            </a:prstGeom>
            <a:solidFill>
              <a:srgbClr val="FFFFFF">
                <a:alpha val="35000"/>
              </a:srgbClr>
            </a:solidFill>
            <a:ln w="12700">
              <a:solidFill>
                <a:srgbClr val="FFFFFF"/>
              </a:solidFill>
              <a:prstDash val="solid"/>
            </a:ln>
          </p:spPr>
        </p:sp>
        <p:sp>
          <p:nvSpPr>
            <p:cNvPr id="36" name="Shape 14">
              <a:extLst>
                <a:ext uri="{FF2B5EF4-FFF2-40B4-BE49-F238E27FC236}">
                  <a16:creationId xmlns:a16="http://schemas.microsoft.com/office/drawing/2014/main" id="{D6A86F6B-18FF-7785-F5F4-13DC80D8BAD2}"/>
                </a:ext>
              </a:extLst>
            </p:cNvPr>
            <p:cNvSpPr/>
            <p:nvPr/>
          </p:nvSpPr>
          <p:spPr>
            <a:xfrm>
              <a:off x="8211312" y="347472"/>
              <a:ext cx="38405" cy="38405"/>
            </a:xfrm>
            <a:prstGeom prst="ellipse">
              <a:avLst/>
            </a:prstGeom>
            <a:solidFill>
              <a:srgbClr val="FFFFFF">
                <a:alpha val="35000"/>
              </a:srgbClr>
            </a:solidFill>
            <a:ln w="12700">
              <a:solidFill>
                <a:srgbClr val="FFFFFF"/>
              </a:solidFill>
              <a:prstDash val="solid"/>
            </a:ln>
          </p:spPr>
        </p:sp>
        <p:sp>
          <p:nvSpPr>
            <p:cNvPr id="37" name="Shape 15">
              <a:extLst>
                <a:ext uri="{FF2B5EF4-FFF2-40B4-BE49-F238E27FC236}">
                  <a16:creationId xmlns:a16="http://schemas.microsoft.com/office/drawing/2014/main" id="{238F248F-DABF-8EAB-DF36-94C9CDC74C58}"/>
                </a:ext>
              </a:extLst>
            </p:cNvPr>
            <p:cNvSpPr/>
            <p:nvPr/>
          </p:nvSpPr>
          <p:spPr>
            <a:xfrm>
              <a:off x="8375904" y="347472"/>
              <a:ext cx="38405" cy="38405"/>
            </a:xfrm>
            <a:prstGeom prst="ellipse">
              <a:avLst/>
            </a:prstGeom>
            <a:solidFill>
              <a:srgbClr val="FFFFFF">
                <a:alpha val="35000"/>
              </a:srgbClr>
            </a:solidFill>
            <a:ln w="12700">
              <a:solidFill>
                <a:srgbClr val="FFFFFF"/>
              </a:solidFill>
              <a:prstDash val="solid"/>
            </a:ln>
          </p:spPr>
        </p:sp>
        <p:sp>
          <p:nvSpPr>
            <p:cNvPr id="38" name="Shape 16">
              <a:extLst>
                <a:ext uri="{FF2B5EF4-FFF2-40B4-BE49-F238E27FC236}">
                  <a16:creationId xmlns:a16="http://schemas.microsoft.com/office/drawing/2014/main" id="{DC81E306-0012-4F2E-98F4-37216D9AC261}"/>
                </a:ext>
              </a:extLst>
            </p:cNvPr>
            <p:cNvSpPr/>
            <p:nvPr/>
          </p:nvSpPr>
          <p:spPr>
            <a:xfrm>
              <a:off x="8540496" y="347472"/>
              <a:ext cx="38405" cy="38405"/>
            </a:xfrm>
            <a:prstGeom prst="ellipse">
              <a:avLst/>
            </a:prstGeom>
            <a:solidFill>
              <a:srgbClr val="FFFFFF">
                <a:alpha val="35000"/>
              </a:srgbClr>
            </a:solidFill>
            <a:ln w="12700">
              <a:solidFill>
                <a:srgbClr val="FFFFFF"/>
              </a:solidFill>
              <a:prstDash val="solid"/>
            </a:ln>
          </p:spPr>
        </p:sp>
        <p:pic>
          <p:nvPicPr>
            <p:cNvPr id="39" name="Picture 38">
              <a:extLst>
                <a:ext uri="{FF2B5EF4-FFF2-40B4-BE49-F238E27FC236}">
                  <a16:creationId xmlns:a16="http://schemas.microsoft.com/office/drawing/2014/main" id="{B8216D8D-5226-DB04-835E-92EA01732924}"/>
                </a:ext>
              </a:extLst>
            </p:cNvPr>
            <p:cNvPicPr>
              <a:picLocks noChangeAspect="1"/>
            </p:cNvPicPr>
            <p:nvPr/>
          </p:nvPicPr>
          <p:blipFill>
            <a:blip r:embed="rId5"/>
            <a:srcRect l="20128" t="19209" r="10255" b="19209"/>
            <a:stretch/>
          </p:blipFill>
          <p:spPr>
            <a:xfrm>
              <a:off x="-71718" y="-18464"/>
              <a:ext cx="927596" cy="575483"/>
            </a:xfrm>
            <a:prstGeom prst="rect">
              <a:avLst/>
            </a:prstGeom>
          </p:spPr>
        </p:pic>
      </p:grpSp>
      <p:sp>
        <p:nvSpPr>
          <p:cNvPr id="3" name="TopLabel">
            <a:extLst>
              <a:ext uri="{FF2B5EF4-FFF2-40B4-BE49-F238E27FC236}">
                <a16:creationId xmlns:a16="http://schemas.microsoft.com/office/drawing/2014/main" id="{7F7D13F6-4D45-BFFD-0F86-8AF1D5E3090A}"/>
              </a:ext>
            </a:extLst>
          </p:cNvPr>
          <p:cNvSpPr>
            <a:spLocks noGrp="1"/>
          </p:cNvSpPr>
          <p:nvPr/>
        </p:nvSpPr>
        <p:spPr>
          <a:xfrm>
            <a:off x="1266667" y="66667"/>
            <a:ext cx="7333333" cy="600000"/>
          </a:xfrm>
          <a:prstGeom prst="rect">
            <a:avLst/>
          </a:prstGeom>
          <a:noFill/>
          <a:ln>
            <a:noFill/>
          </a:ln>
        </p:spPr>
        <p:txBody>
          <a:bodyPr wrap="square" lIns="0" tIns="0" rIns="0" bIns="0" rtlCol="0" anchor="ctr">
            <a:normAutofit/>
          </a:bodyPr>
          <a:lstStyle/>
          <a:p>
            <a:r>
              <a:rPr lang="en-US" sz="3200" b="1" dirty="0">
                <a:solidFill>
                  <a:schemeClr val="bg1"/>
                </a:solidFill>
              </a:rPr>
              <a:t>METHODOLOGY</a:t>
            </a:r>
            <a:endParaRPr lang="en-US" sz="3200" b="1" dirty="0">
              <a:solidFill>
                <a:srgbClr val="FFFFFF"/>
              </a:solidFill>
              <a:latin typeface="Calibri"/>
              <a:ea typeface="Calibri"/>
              <a:cs typeface="Calibri"/>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rcRect/>
          <a:stretch/>
        </p:blipFill>
        <p:spPr>
          <a:xfrm>
            <a:off x="7868" y="8176"/>
            <a:ext cx="12191928" cy="6857928"/>
          </a:xfrm>
          <a:prstGeom prst="rect">
            <a:avLst/>
          </a:prstGeom>
        </p:spPr>
      </p:pic>
      <p:sp>
        <p:nvSpPr>
          <p:cNvPr id="11" name="Text 7"/>
          <p:cNvSpPr/>
          <p:nvPr/>
        </p:nvSpPr>
        <p:spPr>
          <a:xfrm>
            <a:off x="733495" y="970442"/>
            <a:ext cx="10988117" cy="465859"/>
          </a:xfrm>
          <a:prstGeom prst="rect">
            <a:avLst/>
          </a:prstGeom>
          <a:noFill/>
          <a:ln/>
        </p:spPr>
        <p:txBody>
          <a:bodyPr wrap="square" lIns="16933" tIns="16933" rIns="16933" bIns="16933" rtlCol="0" anchor="t">
            <a:normAutofit fontScale="92500" lnSpcReduction="20000"/>
          </a:bodyPr>
          <a:lstStyle/>
          <a:p>
            <a:pPr>
              <a:lnSpc>
                <a:spcPct val="104000"/>
              </a:lnSpc>
            </a:pPr>
            <a:r>
              <a:rPr lang="en-US" sz="3336" b="1" kern="0" spc="-33" dirty="0">
                <a:solidFill>
                  <a:srgbClr val="0A1733"/>
                </a:solidFill>
                <a:latin typeface="IBM Plex Sans" pitchFamily="34" charset="0"/>
                <a:ea typeface="IBM Plex Sans" pitchFamily="34" charset="-122"/>
                <a:cs typeface="IBM Plex Sans" pitchFamily="34" charset="-120"/>
              </a:rPr>
              <a:t>From raw signals to model-ready features</a:t>
            </a:r>
            <a:endParaRPr lang="en-US" sz="3336" dirty="0"/>
          </a:p>
        </p:txBody>
      </p:sp>
      <p:sp>
        <p:nvSpPr>
          <p:cNvPr id="12" name="Shape 8"/>
          <p:cNvSpPr/>
          <p:nvPr/>
        </p:nvSpPr>
        <p:spPr>
          <a:xfrm>
            <a:off x="1344647" y="1646767"/>
            <a:ext cx="8839819" cy="2359589"/>
          </a:xfrm>
          <a:prstGeom prst="roundRect">
            <a:avLst>
              <a:gd name="adj" fmla="val 4000"/>
            </a:avLst>
          </a:prstGeom>
          <a:solidFill>
            <a:srgbClr val="FFFFFF"/>
          </a:solidFill>
          <a:ln w="7056">
            <a:solidFill>
              <a:srgbClr val="CDD9EA"/>
            </a:solidFill>
            <a:prstDash val="solid"/>
          </a:ln>
          <a:effectLst>
            <a:outerShdw blurRad="285750" dist="95250" dir="5400000" algn="bl" rotWithShape="0">
              <a:srgbClr val="002A6E">
                <a:alpha val="45000"/>
              </a:srgbClr>
            </a:outerShdw>
          </a:effectLst>
        </p:spPr>
      </p:sp>
      <p:sp>
        <p:nvSpPr>
          <p:cNvPr id="14" name="Text 9"/>
          <p:cNvSpPr/>
          <p:nvPr/>
        </p:nvSpPr>
        <p:spPr>
          <a:xfrm>
            <a:off x="671240" y="4554074"/>
            <a:ext cx="2117173" cy="220721"/>
          </a:xfrm>
          <a:prstGeom prst="rect">
            <a:avLst/>
          </a:prstGeom>
          <a:noFill/>
          <a:ln/>
        </p:spPr>
        <p:txBody>
          <a:bodyPr wrap="square" lIns="16933" tIns="16933" rIns="16933" bIns="16933" rtlCol="0" anchor="t">
            <a:normAutofit/>
          </a:bodyPr>
          <a:lstStyle/>
          <a:p>
            <a:r>
              <a:rPr lang="en-US" sz="951" b="1" kern="0" spc="76" dirty="0">
                <a:solidFill>
                  <a:srgbClr val="003893"/>
                </a:solidFill>
                <a:latin typeface="IBM Plex Mono" pitchFamily="34" charset="0"/>
                <a:ea typeface="IBM Plex Mono" pitchFamily="34" charset="-122"/>
                <a:cs typeface="IBM Plex Mono" pitchFamily="34" charset="-120"/>
              </a:rPr>
              <a:t>37 FEATURES · 7 GROUPS</a:t>
            </a:r>
            <a:endParaRPr lang="en-US" sz="951" dirty="0"/>
          </a:p>
        </p:txBody>
      </p:sp>
      <p:sp>
        <p:nvSpPr>
          <p:cNvPr id="15" name="Shape 10"/>
          <p:cNvSpPr/>
          <p:nvPr/>
        </p:nvSpPr>
        <p:spPr>
          <a:xfrm>
            <a:off x="2766766" y="4460879"/>
            <a:ext cx="824897" cy="343667"/>
          </a:xfrm>
          <a:prstGeom prst="roundRect">
            <a:avLst>
              <a:gd name="adj" fmla="val 50000"/>
            </a:avLst>
          </a:prstGeom>
          <a:solidFill>
            <a:srgbClr val="FFFFFF">
              <a:alpha val="72000"/>
            </a:srgbClr>
          </a:solidFill>
          <a:ln w="7056">
            <a:solidFill>
              <a:srgbClr val="CDD9EA"/>
            </a:solidFill>
            <a:prstDash val="solid"/>
          </a:ln>
        </p:spPr>
      </p:sp>
      <p:sp>
        <p:nvSpPr>
          <p:cNvPr id="16" name="Text 11"/>
          <p:cNvSpPr/>
          <p:nvPr/>
        </p:nvSpPr>
        <p:spPr>
          <a:xfrm>
            <a:off x="2898470" y="4541021"/>
            <a:ext cx="589425" cy="220721"/>
          </a:xfrm>
          <a:prstGeom prst="rect">
            <a:avLst/>
          </a:prstGeom>
          <a:noFill/>
          <a:ln/>
        </p:spPr>
        <p:txBody>
          <a:bodyPr wrap="square" lIns="16933" tIns="16933" rIns="16933" bIns="16933" rtlCol="0" anchor="t">
            <a:normAutofit/>
          </a:bodyPr>
          <a:lstStyle/>
          <a:p>
            <a:r>
              <a:rPr lang="en-US" sz="1051" dirty="0">
                <a:solidFill>
                  <a:srgbClr val="0A1733"/>
                </a:solidFill>
                <a:latin typeface="IBM Plex Sans" pitchFamily="34" charset="0"/>
                <a:ea typeface="IBM Plex Sans" pitchFamily="34" charset="-122"/>
                <a:cs typeface="IBM Plex Sans" pitchFamily="34" charset="-120"/>
              </a:rPr>
              <a:t>Position</a:t>
            </a:r>
            <a:endParaRPr lang="en-US" sz="1051" dirty="0"/>
          </a:p>
        </p:txBody>
      </p:sp>
      <p:sp>
        <p:nvSpPr>
          <p:cNvPr id="17" name="Shape 12"/>
          <p:cNvSpPr/>
          <p:nvPr/>
        </p:nvSpPr>
        <p:spPr>
          <a:xfrm>
            <a:off x="3736723" y="4460879"/>
            <a:ext cx="1699284" cy="343667"/>
          </a:xfrm>
          <a:prstGeom prst="roundRect">
            <a:avLst>
              <a:gd name="adj" fmla="val 50000"/>
            </a:avLst>
          </a:prstGeom>
          <a:solidFill>
            <a:srgbClr val="FFFFFF">
              <a:alpha val="72000"/>
            </a:srgbClr>
          </a:solidFill>
          <a:ln w="7056">
            <a:solidFill>
              <a:srgbClr val="CDD9EA"/>
            </a:solidFill>
            <a:prstDash val="solid"/>
          </a:ln>
        </p:spPr>
      </p:sp>
      <p:sp>
        <p:nvSpPr>
          <p:cNvPr id="18" name="Text 13"/>
          <p:cNvSpPr/>
          <p:nvPr/>
        </p:nvSpPr>
        <p:spPr>
          <a:xfrm>
            <a:off x="3868426" y="4541019"/>
            <a:ext cx="1463815" cy="220723"/>
          </a:xfrm>
          <a:prstGeom prst="rect">
            <a:avLst/>
          </a:prstGeom>
          <a:noFill/>
          <a:ln/>
        </p:spPr>
        <p:txBody>
          <a:bodyPr wrap="square" lIns="16933" tIns="16933" rIns="16933" bIns="16933" rtlCol="0" anchor="t">
            <a:normAutofit/>
          </a:bodyPr>
          <a:lstStyle/>
          <a:p>
            <a:r>
              <a:rPr lang="en-US" sz="1051" dirty="0">
                <a:solidFill>
                  <a:srgbClr val="0A1733"/>
                </a:solidFill>
                <a:latin typeface="IBM Plex Sans" pitchFamily="34" charset="0"/>
                <a:ea typeface="IBM Plex Sans" pitchFamily="34" charset="-122"/>
                <a:cs typeface="IBM Plex Sans" pitchFamily="34" charset="-120"/>
              </a:rPr>
              <a:t>Signal strength · C/N₀</a:t>
            </a:r>
            <a:endParaRPr lang="en-US" sz="1051" dirty="0"/>
          </a:p>
        </p:txBody>
      </p:sp>
      <p:sp>
        <p:nvSpPr>
          <p:cNvPr id="19" name="Shape 14"/>
          <p:cNvSpPr/>
          <p:nvPr/>
        </p:nvSpPr>
        <p:spPr>
          <a:xfrm>
            <a:off x="5347153" y="4460879"/>
            <a:ext cx="1247683" cy="343667"/>
          </a:xfrm>
          <a:prstGeom prst="roundRect">
            <a:avLst>
              <a:gd name="adj" fmla="val 50000"/>
            </a:avLst>
          </a:prstGeom>
          <a:solidFill>
            <a:srgbClr val="FFFFFF">
              <a:alpha val="72000"/>
            </a:srgbClr>
          </a:solidFill>
          <a:ln w="7056">
            <a:solidFill>
              <a:srgbClr val="CDD9EA"/>
            </a:solidFill>
            <a:prstDash val="solid"/>
          </a:ln>
        </p:spPr>
      </p:sp>
      <p:sp>
        <p:nvSpPr>
          <p:cNvPr id="20" name="Text 15"/>
          <p:cNvSpPr/>
          <p:nvPr/>
        </p:nvSpPr>
        <p:spPr>
          <a:xfrm>
            <a:off x="5478858" y="4541019"/>
            <a:ext cx="1012213" cy="220723"/>
          </a:xfrm>
          <a:prstGeom prst="rect">
            <a:avLst/>
          </a:prstGeom>
          <a:noFill/>
          <a:ln/>
        </p:spPr>
        <p:txBody>
          <a:bodyPr wrap="square" lIns="16933" tIns="16933" rIns="16933" bIns="16933" rtlCol="0" anchor="t">
            <a:normAutofit/>
          </a:bodyPr>
          <a:lstStyle/>
          <a:p>
            <a:r>
              <a:rPr lang="en-US" sz="1051" dirty="0">
                <a:solidFill>
                  <a:srgbClr val="0A1733"/>
                </a:solidFill>
                <a:latin typeface="IBM Plex Sans" pitchFamily="34" charset="0"/>
                <a:ea typeface="IBM Plex Sans" pitchFamily="34" charset="-122"/>
                <a:cs typeface="IBM Plex Sans" pitchFamily="34" charset="-120"/>
              </a:rPr>
              <a:t>Satellite count</a:t>
            </a:r>
            <a:endParaRPr lang="en-US" sz="1051" dirty="0"/>
          </a:p>
        </p:txBody>
      </p:sp>
      <p:sp>
        <p:nvSpPr>
          <p:cNvPr id="21" name="Shape 16"/>
          <p:cNvSpPr/>
          <p:nvPr/>
        </p:nvSpPr>
        <p:spPr>
          <a:xfrm>
            <a:off x="6549832" y="4460879"/>
            <a:ext cx="584689" cy="343667"/>
          </a:xfrm>
          <a:prstGeom prst="roundRect">
            <a:avLst>
              <a:gd name="adj" fmla="val 50000"/>
            </a:avLst>
          </a:prstGeom>
          <a:solidFill>
            <a:srgbClr val="FFFFFF">
              <a:alpha val="72000"/>
            </a:srgbClr>
          </a:solidFill>
          <a:ln w="7056">
            <a:solidFill>
              <a:srgbClr val="CDD9EA"/>
            </a:solidFill>
            <a:prstDash val="solid"/>
          </a:ln>
        </p:spPr>
      </p:sp>
      <p:sp>
        <p:nvSpPr>
          <p:cNvPr id="22" name="Text 17"/>
          <p:cNvSpPr/>
          <p:nvPr/>
        </p:nvSpPr>
        <p:spPr>
          <a:xfrm>
            <a:off x="6681536" y="4541019"/>
            <a:ext cx="349219" cy="220723"/>
          </a:xfrm>
          <a:prstGeom prst="rect">
            <a:avLst/>
          </a:prstGeom>
          <a:noFill/>
          <a:ln/>
        </p:spPr>
        <p:txBody>
          <a:bodyPr wrap="square" lIns="16933" tIns="16933" rIns="16933" bIns="16933" rtlCol="0" anchor="t">
            <a:normAutofit/>
          </a:bodyPr>
          <a:lstStyle/>
          <a:p>
            <a:r>
              <a:rPr lang="en-US" sz="1051" dirty="0">
                <a:solidFill>
                  <a:srgbClr val="0A1733"/>
                </a:solidFill>
                <a:latin typeface="IBM Plex Sans" pitchFamily="34" charset="0"/>
                <a:ea typeface="IBM Plex Sans" pitchFamily="34" charset="-122"/>
                <a:cs typeface="IBM Plex Sans" pitchFamily="34" charset="-120"/>
              </a:rPr>
              <a:t>DOP</a:t>
            </a:r>
            <a:endParaRPr lang="en-US" sz="1051" dirty="0"/>
          </a:p>
        </p:txBody>
      </p:sp>
      <p:sp>
        <p:nvSpPr>
          <p:cNvPr id="23" name="Shape 18"/>
          <p:cNvSpPr/>
          <p:nvPr/>
        </p:nvSpPr>
        <p:spPr>
          <a:xfrm>
            <a:off x="7153890" y="4460879"/>
            <a:ext cx="1306943" cy="343667"/>
          </a:xfrm>
          <a:prstGeom prst="roundRect">
            <a:avLst>
              <a:gd name="adj" fmla="val 50000"/>
            </a:avLst>
          </a:prstGeom>
          <a:solidFill>
            <a:srgbClr val="FFFFFF">
              <a:alpha val="72000"/>
            </a:srgbClr>
          </a:solidFill>
          <a:ln w="7056">
            <a:solidFill>
              <a:srgbClr val="CDD9EA"/>
            </a:solidFill>
            <a:prstDash val="solid"/>
          </a:ln>
        </p:spPr>
      </p:sp>
      <p:sp>
        <p:nvSpPr>
          <p:cNvPr id="24" name="Text 19"/>
          <p:cNvSpPr/>
          <p:nvPr/>
        </p:nvSpPr>
        <p:spPr>
          <a:xfrm>
            <a:off x="7285594" y="4541021"/>
            <a:ext cx="1071471" cy="220721"/>
          </a:xfrm>
          <a:prstGeom prst="rect">
            <a:avLst/>
          </a:prstGeom>
          <a:noFill/>
          <a:ln/>
        </p:spPr>
        <p:txBody>
          <a:bodyPr wrap="square" lIns="16933" tIns="16933" rIns="16933" bIns="16933" rtlCol="0" anchor="t">
            <a:normAutofit/>
          </a:bodyPr>
          <a:lstStyle/>
          <a:p>
            <a:r>
              <a:rPr lang="en-US" sz="1051" dirty="0">
                <a:solidFill>
                  <a:srgbClr val="0A1733"/>
                </a:solidFill>
                <a:latin typeface="IBM Plex Sans" pitchFamily="34" charset="0"/>
                <a:ea typeface="IBM Plex Sans" pitchFamily="34" charset="-122"/>
                <a:cs typeface="IBM Plex Sans" pitchFamily="34" charset="-120"/>
              </a:rPr>
              <a:t>Receiver status</a:t>
            </a:r>
            <a:endParaRPr lang="en-US" sz="1051" dirty="0"/>
          </a:p>
        </p:txBody>
      </p:sp>
      <p:sp>
        <p:nvSpPr>
          <p:cNvPr id="25" name="Shape 20"/>
          <p:cNvSpPr/>
          <p:nvPr/>
        </p:nvSpPr>
        <p:spPr>
          <a:xfrm>
            <a:off x="8410074" y="4460879"/>
            <a:ext cx="917285" cy="343667"/>
          </a:xfrm>
          <a:prstGeom prst="roundRect">
            <a:avLst>
              <a:gd name="adj" fmla="val 50000"/>
            </a:avLst>
          </a:prstGeom>
          <a:solidFill>
            <a:srgbClr val="FFFFFF">
              <a:alpha val="72000"/>
            </a:srgbClr>
          </a:solidFill>
          <a:ln w="7056">
            <a:solidFill>
              <a:srgbClr val="CDD9EA"/>
            </a:solidFill>
            <a:prstDash val="solid"/>
          </a:ln>
        </p:spPr>
      </p:sp>
      <p:sp>
        <p:nvSpPr>
          <p:cNvPr id="26" name="Text 21"/>
          <p:cNvSpPr/>
          <p:nvPr/>
        </p:nvSpPr>
        <p:spPr>
          <a:xfrm>
            <a:off x="8541778" y="4541021"/>
            <a:ext cx="681813" cy="220721"/>
          </a:xfrm>
          <a:prstGeom prst="rect">
            <a:avLst/>
          </a:prstGeom>
          <a:noFill/>
          <a:ln/>
        </p:spPr>
        <p:txBody>
          <a:bodyPr wrap="square" lIns="16933" tIns="16933" rIns="16933" bIns="16933" rtlCol="0" anchor="t">
            <a:normAutofit/>
          </a:bodyPr>
          <a:lstStyle/>
          <a:p>
            <a:r>
              <a:rPr lang="en-US" sz="1051" dirty="0">
                <a:solidFill>
                  <a:srgbClr val="0A1733"/>
                </a:solidFill>
                <a:latin typeface="IBM Plex Sans" pitchFamily="34" charset="0"/>
                <a:ea typeface="IBM Plex Sans" pitchFamily="34" charset="-122"/>
                <a:cs typeface="IBM Plex Sans" pitchFamily="34" charset="-120"/>
              </a:rPr>
              <a:t>Temporal</a:t>
            </a:r>
            <a:endParaRPr lang="en-US" sz="1051" dirty="0"/>
          </a:p>
        </p:txBody>
      </p:sp>
      <p:sp>
        <p:nvSpPr>
          <p:cNvPr id="27" name="Shape 22"/>
          <p:cNvSpPr/>
          <p:nvPr/>
        </p:nvSpPr>
        <p:spPr>
          <a:xfrm>
            <a:off x="9314435" y="4460879"/>
            <a:ext cx="1136819" cy="343667"/>
          </a:xfrm>
          <a:prstGeom prst="roundRect">
            <a:avLst>
              <a:gd name="adj" fmla="val 50000"/>
            </a:avLst>
          </a:prstGeom>
          <a:solidFill>
            <a:srgbClr val="FFFFFF">
              <a:alpha val="72000"/>
            </a:srgbClr>
          </a:solidFill>
          <a:ln w="7056">
            <a:solidFill>
              <a:srgbClr val="CDD9EA"/>
            </a:solidFill>
            <a:prstDash val="solid"/>
          </a:ln>
        </p:spPr>
      </p:sp>
      <p:sp>
        <p:nvSpPr>
          <p:cNvPr id="28" name="Text 23"/>
          <p:cNvSpPr/>
          <p:nvPr/>
        </p:nvSpPr>
        <p:spPr>
          <a:xfrm>
            <a:off x="9446137" y="4541021"/>
            <a:ext cx="901347" cy="220721"/>
          </a:xfrm>
          <a:prstGeom prst="rect">
            <a:avLst/>
          </a:prstGeom>
          <a:noFill/>
          <a:ln/>
        </p:spPr>
        <p:txBody>
          <a:bodyPr wrap="square" lIns="16933" tIns="16933" rIns="16933" bIns="16933" rtlCol="0" anchor="t">
            <a:normAutofit/>
          </a:bodyPr>
          <a:lstStyle/>
          <a:p>
            <a:r>
              <a:rPr lang="en-US" sz="1051" dirty="0">
                <a:solidFill>
                  <a:srgbClr val="0A1733"/>
                </a:solidFill>
                <a:latin typeface="IBM Plex Sans" pitchFamily="34" charset="0"/>
                <a:ea typeface="IBM Plex Sans" pitchFamily="34" charset="-122"/>
                <a:cs typeface="IBM Plex Sans" pitchFamily="34" charset="-120"/>
              </a:rPr>
              <a:t>Atmospheric</a:t>
            </a:r>
            <a:endParaRPr lang="en-US" sz="1051" dirty="0"/>
          </a:p>
        </p:txBody>
      </p:sp>
      <p:sp>
        <p:nvSpPr>
          <p:cNvPr id="29" name="Text 24"/>
          <p:cNvSpPr/>
          <p:nvPr/>
        </p:nvSpPr>
        <p:spPr>
          <a:xfrm>
            <a:off x="1486674" y="5703649"/>
            <a:ext cx="335301" cy="311151"/>
          </a:xfrm>
          <a:prstGeom prst="rect">
            <a:avLst/>
          </a:prstGeom>
          <a:noFill/>
          <a:ln/>
        </p:spPr>
        <p:txBody>
          <a:bodyPr wrap="square" lIns="16933" tIns="16933" rIns="16933" bIns="16933" rtlCol="0" anchor="t">
            <a:normAutofit fontScale="92500" lnSpcReduction="20000"/>
          </a:bodyPr>
          <a:lstStyle/>
          <a:p>
            <a:pPr>
              <a:lnSpc>
                <a:spcPct val="90000"/>
              </a:lnSpc>
            </a:pPr>
            <a:r>
              <a:rPr lang="en-US" sz="2500" b="1" kern="0" spc="-51" dirty="0">
                <a:solidFill>
                  <a:srgbClr val="003893"/>
                </a:solidFill>
                <a:latin typeface="IBM Plex Mono" pitchFamily="34" charset="0"/>
                <a:ea typeface="IBM Plex Mono" pitchFamily="34" charset="-122"/>
                <a:cs typeface="IBM Plex Mono" pitchFamily="34" charset="-120"/>
              </a:rPr>
              <a:t>1</a:t>
            </a:r>
            <a:r>
              <a:rPr lang="en-US" sz="1400" b="1" kern="0" spc="-51" dirty="0">
                <a:solidFill>
                  <a:srgbClr val="003893"/>
                </a:solidFill>
                <a:latin typeface="IBM Plex Mono" pitchFamily="34" charset="0"/>
                <a:ea typeface="IBM Plex Mono" pitchFamily="34" charset="-122"/>
                <a:cs typeface="IBM Plex Mono" pitchFamily="34" charset="-120"/>
              </a:rPr>
              <a:t>s</a:t>
            </a:r>
            <a:endParaRPr lang="en-US" sz="2500" dirty="0"/>
          </a:p>
        </p:txBody>
      </p:sp>
      <p:sp>
        <p:nvSpPr>
          <p:cNvPr id="30" name="Text 25"/>
          <p:cNvSpPr/>
          <p:nvPr/>
        </p:nvSpPr>
        <p:spPr>
          <a:xfrm>
            <a:off x="1885460" y="5598138"/>
            <a:ext cx="1851263" cy="388255"/>
          </a:xfrm>
          <a:prstGeom prst="rect">
            <a:avLst/>
          </a:prstGeom>
          <a:noFill/>
          <a:ln/>
        </p:spPr>
        <p:txBody>
          <a:bodyPr wrap="square" lIns="16933" tIns="16933" rIns="16933" bIns="16933" rtlCol="0" anchor="t">
            <a:noAutofit/>
          </a:bodyPr>
          <a:lstStyle/>
          <a:p>
            <a:pPr>
              <a:lnSpc>
                <a:spcPct val="130000"/>
              </a:lnSpc>
            </a:pPr>
            <a:r>
              <a:rPr lang="en-US" sz="1333" dirty="0">
                <a:solidFill>
                  <a:srgbClr val="5A6A86"/>
                </a:solidFill>
                <a:latin typeface="IBM Plex Sans" pitchFamily="34" charset="0"/>
                <a:ea typeface="IBM Plex Sans" pitchFamily="34" charset="-122"/>
                <a:cs typeface="IBM Plex Sans" pitchFamily="34" charset="-120"/>
              </a:rPr>
              <a:t>RIEX + NMEA per epoch</a:t>
            </a:r>
            <a:endParaRPr lang="en-US" sz="1333" dirty="0"/>
          </a:p>
        </p:txBody>
      </p:sp>
      <p:sp>
        <p:nvSpPr>
          <p:cNvPr id="31" name="Text 26"/>
          <p:cNvSpPr/>
          <p:nvPr/>
        </p:nvSpPr>
        <p:spPr>
          <a:xfrm>
            <a:off x="4154536" y="5696875"/>
            <a:ext cx="1339689" cy="311151"/>
          </a:xfrm>
          <a:prstGeom prst="rect">
            <a:avLst/>
          </a:prstGeom>
          <a:noFill/>
          <a:ln/>
        </p:spPr>
        <p:txBody>
          <a:bodyPr wrap="square" lIns="16933" tIns="16933" rIns="16933" bIns="16933" rtlCol="0" anchor="t">
            <a:normAutofit fontScale="92500" lnSpcReduction="20000"/>
          </a:bodyPr>
          <a:lstStyle/>
          <a:p>
            <a:pPr>
              <a:lnSpc>
                <a:spcPct val="90000"/>
              </a:lnSpc>
            </a:pPr>
            <a:r>
              <a:rPr lang="en-US" sz="2500" b="1" kern="0" spc="-51" dirty="0">
                <a:solidFill>
                  <a:srgbClr val="003893"/>
                </a:solidFill>
                <a:latin typeface="IBM Plex Mono" pitchFamily="34" charset="0"/>
                <a:ea typeface="IBM Plex Mono" pitchFamily="34" charset="-122"/>
                <a:cs typeface="IBM Plex Mono" pitchFamily="34" charset="-120"/>
              </a:rPr>
              <a:t>30 × 37</a:t>
            </a:r>
            <a:endParaRPr lang="en-US" sz="2500" dirty="0"/>
          </a:p>
        </p:txBody>
      </p:sp>
      <p:sp>
        <p:nvSpPr>
          <p:cNvPr id="32" name="Text 27"/>
          <p:cNvSpPr/>
          <p:nvPr/>
        </p:nvSpPr>
        <p:spPr>
          <a:xfrm>
            <a:off x="5539215" y="5598138"/>
            <a:ext cx="1339689" cy="607804"/>
          </a:xfrm>
          <a:prstGeom prst="rect">
            <a:avLst/>
          </a:prstGeom>
          <a:noFill/>
          <a:ln/>
        </p:spPr>
        <p:txBody>
          <a:bodyPr wrap="square" lIns="16933" tIns="16933" rIns="16933" bIns="16933" rtlCol="0" anchor="t">
            <a:noAutofit/>
          </a:bodyPr>
          <a:lstStyle/>
          <a:p>
            <a:pPr>
              <a:lnSpc>
                <a:spcPct val="130000"/>
              </a:lnSpc>
            </a:pPr>
            <a:r>
              <a:rPr lang="en-US" sz="1333" dirty="0">
                <a:solidFill>
                  <a:srgbClr val="5A6A86"/>
                </a:solidFill>
                <a:latin typeface="IBM Plex Sans" pitchFamily="34" charset="0"/>
                <a:ea typeface="IBM Plex Sans" pitchFamily="34" charset="-122"/>
                <a:cs typeface="IBM Plex Sans" pitchFamily="34" charset="-120"/>
              </a:rPr>
              <a:t>sliding-window tensor</a:t>
            </a:r>
            <a:endParaRPr lang="en-US" sz="1333" dirty="0"/>
          </a:p>
        </p:txBody>
      </p:sp>
      <p:sp>
        <p:nvSpPr>
          <p:cNvPr id="33" name="Text 28"/>
          <p:cNvSpPr/>
          <p:nvPr/>
        </p:nvSpPr>
        <p:spPr>
          <a:xfrm>
            <a:off x="7354037" y="5723969"/>
            <a:ext cx="2379108" cy="311151"/>
          </a:xfrm>
          <a:prstGeom prst="rect">
            <a:avLst/>
          </a:prstGeom>
          <a:noFill/>
          <a:ln/>
        </p:spPr>
        <p:txBody>
          <a:bodyPr wrap="square" lIns="16933" tIns="16933" rIns="16933" bIns="16933" rtlCol="0" anchor="t">
            <a:normAutofit fontScale="92500" lnSpcReduction="20000"/>
          </a:bodyPr>
          <a:lstStyle/>
          <a:p>
            <a:pPr>
              <a:lnSpc>
                <a:spcPct val="90000"/>
              </a:lnSpc>
            </a:pPr>
            <a:r>
              <a:rPr lang="en-US" sz="2500" b="1" kern="0" spc="-51" dirty="0">
                <a:solidFill>
                  <a:srgbClr val="003893"/>
                </a:solidFill>
                <a:latin typeface="IBM Plex Mono" pitchFamily="34" charset="0"/>
                <a:ea typeface="IBM Plex Mono" pitchFamily="34" charset="-122"/>
                <a:cs typeface="IBM Plex Mono" pitchFamily="34" charset="-120"/>
              </a:rPr>
              <a:t>+5 / 15 / 30</a:t>
            </a:r>
            <a:r>
              <a:rPr lang="en-US" sz="1400" b="1" kern="0" spc="-51" dirty="0">
                <a:solidFill>
                  <a:srgbClr val="003893"/>
                </a:solidFill>
                <a:latin typeface="IBM Plex Mono" pitchFamily="34" charset="0"/>
                <a:ea typeface="IBM Plex Mono" pitchFamily="34" charset="-122"/>
                <a:cs typeface="IBM Plex Mono" pitchFamily="34" charset="-120"/>
              </a:rPr>
              <a:t>s</a:t>
            </a:r>
            <a:endParaRPr lang="en-US" sz="2500" dirty="0"/>
          </a:p>
        </p:txBody>
      </p:sp>
      <p:sp>
        <p:nvSpPr>
          <p:cNvPr id="34" name="Text 29"/>
          <p:cNvSpPr/>
          <p:nvPr/>
        </p:nvSpPr>
        <p:spPr>
          <a:xfrm>
            <a:off x="9779074" y="5654578"/>
            <a:ext cx="1136819" cy="607803"/>
          </a:xfrm>
          <a:prstGeom prst="rect">
            <a:avLst/>
          </a:prstGeom>
          <a:noFill/>
          <a:ln/>
        </p:spPr>
        <p:txBody>
          <a:bodyPr wrap="square" lIns="16933" tIns="16933" rIns="16933" bIns="16933" rtlCol="0" anchor="t">
            <a:noAutofit/>
          </a:bodyPr>
          <a:lstStyle/>
          <a:p>
            <a:pPr>
              <a:lnSpc>
                <a:spcPct val="130000"/>
              </a:lnSpc>
            </a:pPr>
            <a:r>
              <a:rPr lang="en-US" sz="1333" dirty="0">
                <a:solidFill>
                  <a:srgbClr val="5A6A86"/>
                </a:solidFill>
                <a:latin typeface="IBM Plex Sans" pitchFamily="34" charset="0"/>
                <a:ea typeface="IBM Plex Sans" pitchFamily="34" charset="-122"/>
                <a:cs typeface="IBM Plex Sans" pitchFamily="34" charset="-120"/>
              </a:rPr>
              <a:t>prediction horizons</a:t>
            </a:r>
            <a:endParaRPr lang="en-US" sz="1333" dirty="0"/>
          </a:p>
        </p:txBody>
      </p:sp>
      <p:sp>
        <p:nvSpPr>
          <p:cNvPr id="35" name="Shape 30"/>
          <p:cNvSpPr/>
          <p:nvPr/>
        </p:nvSpPr>
        <p:spPr>
          <a:xfrm>
            <a:off x="0" y="6489643"/>
            <a:ext cx="12191928" cy="368285"/>
          </a:xfrm>
          <a:prstGeom prst="rect">
            <a:avLst/>
          </a:prstGeom>
          <a:solidFill>
            <a:srgbClr val="003893"/>
          </a:solidFill>
          <a:ln/>
        </p:spPr>
      </p:sp>
      <p:sp>
        <p:nvSpPr>
          <p:cNvPr id="36" name="Text 31"/>
          <p:cNvSpPr/>
          <p:nvPr/>
        </p:nvSpPr>
        <p:spPr>
          <a:xfrm>
            <a:off x="761927" y="6607896"/>
            <a:ext cx="1403629" cy="157104"/>
          </a:xfrm>
          <a:prstGeom prst="rect">
            <a:avLst/>
          </a:prstGeom>
          <a:noFill/>
          <a:ln/>
        </p:spPr>
        <p:txBody>
          <a:bodyPr wrap="square" lIns="16933" tIns="16933" rIns="16933" bIns="16933" rtlCol="0" anchor="t">
            <a:normAutofit/>
          </a:bodyPr>
          <a:lstStyle/>
          <a:p>
            <a:r>
              <a:rPr lang="en-US" sz="800" kern="0" spc="112" dirty="0">
                <a:solidFill>
                  <a:srgbClr val="BFE6FB"/>
                </a:solidFill>
                <a:latin typeface="IBM Plex Mono" pitchFamily="34" charset="0"/>
                <a:ea typeface="IBM Plex Mono" pitchFamily="34" charset="-122"/>
                <a:cs typeface="IBM Plex Mono" pitchFamily="34" charset="-120"/>
              </a:rPr>
              <a:t>BEIHANG UNIVERSITY</a:t>
            </a:r>
            <a:endParaRPr lang="en-US" sz="800" dirty="0"/>
          </a:p>
        </p:txBody>
      </p:sp>
      <p:sp>
        <p:nvSpPr>
          <p:cNvPr id="37" name="Text 32"/>
          <p:cNvSpPr/>
          <p:nvPr/>
        </p:nvSpPr>
        <p:spPr>
          <a:xfrm>
            <a:off x="9851689" y="6607896"/>
            <a:ext cx="1629113" cy="157104"/>
          </a:xfrm>
          <a:prstGeom prst="rect">
            <a:avLst/>
          </a:prstGeom>
          <a:noFill/>
          <a:ln/>
        </p:spPr>
        <p:txBody>
          <a:bodyPr wrap="square" lIns="16933" tIns="16933" rIns="16933" bIns="16933" rtlCol="0" anchor="t">
            <a:normAutofit/>
          </a:bodyPr>
          <a:lstStyle/>
          <a:p>
            <a:r>
              <a:rPr lang="en-US" sz="800" kern="0" spc="112" dirty="0">
                <a:solidFill>
                  <a:srgbClr val="FFFFFF"/>
                </a:solidFill>
                <a:latin typeface="IBM Plex Mono" pitchFamily="34" charset="0"/>
                <a:ea typeface="IBM Plex Mono" pitchFamily="34" charset="-122"/>
                <a:cs typeface="IBM Plex Mono" pitchFamily="34" charset="-120"/>
              </a:rPr>
              <a:t>SENTINEL-GNSS · PILOT</a:t>
            </a:r>
            <a:endParaRPr lang="en-US" sz="800" dirty="0"/>
          </a:p>
        </p:txBody>
      </p:sp>
      <p:grpSp>
        <p:nvGrpSpPr>
          <p:cNvPr id="38" name="Group 37">
            <a:extLst>
              <a:ext uri="{FF2B5EF4-FFF2-40B4-BE49-F238E27FC236}">
                <a16:creationId xmlns:a16="http://schemas.microsoft.com/office/drawing/2014/main" id="{8D09AB04-1C4B-BFA6-6708-05B2EFB9AA7D}"/>
              </a:ext>
            </a:extLst>
          </p:cNvPr>
          <p:cNvGrpSpPr/>
          <p:nvPr/>
        </p:nvGrpSpPr>
        <p:grpSpPr>
          <a:xfrm>
            <a:off x="-95624" y="-24618"/>
            <a:ext cx="12287624" cy="767311"/>
            <a:chOff x="-71718" y="-18464"/>
            <a:chExt cx="9215718" cy="575483"/>
          </a:xfrm>
        </p:grpSpPr>
        <p:sp>
          <p:nvSpPr>
            <p:cNvPr id="39" name="Shape 0">
              <a:extLst>
                <a:ext uri="{FF2B5EF4-FFF2-40B4-BE49-F238E27FC236}">
                  <a16:creationId xmlns:a16="http://schemas.microsoft.com/office/drawing/2014/main" id="{8C34A9CD-459D-9997-0964-E79377D1C26C}"/>
                </a:ext>
              </a:extLst>
            </p:cNvPr>
            <p:cNvSpPr/>
            <p:nvPr/>
          </p:nvSpPr>
          <p:spPr>
            <a:xfrm>
              <a:off x="0" y="1451"/>
              <a:ext cx="9144000" cy="555306"/>
            </a:xfrm>
            <a:prstGeom prst="rect">
              <a:avLst/>
            </a:prstGeom>
            <a:solidFill>
              <a:srgbClr val="003893"/>
            </a:solidFill>
            <a:ln w="12700">
              <a:solidFill>
                <a:srgbClr val="003893"/>
              </a:solidFill>
              <a:prstDash val="solid"/>
            </a:ln>
          </p:spPr>
        </p:sp>
        <p:sp>
          <p:nvSpPr>
            <p:cNvPr id="40" name="Shape 1">
              <a:extLst>
                <a:ext uri="{FF2B5EF4-FFF2-40B4-BE49-F238E27FC236}">
                  <a16:creationId xmlns:a16="http://schemas.microsoft.com/office/drawing/2014/main" id="{F2681B20-F38A-74FC-EEC6-3623C8787F95}"/>
                </a:ext>
              </a:extLst>
            </p:cNvPr>
            <p:cNvSpPr/>
            <p:nvPr/>
          </p:nvSpPr>
          <p:spPr>
            <a:xfrm>
              <a:off x="0" y="526760"/>
              <a:ext cx="9144000" cy="27432"/>
            </a:xfrm>
            <a:prstGeom prst="rect">
              <a:avLst/>
            </a:prstGeom>
            <a:solidFill>
              <a:srgbClr val="4FC3F7"/>
            </a:solidFill>
            <a:ln w="12700">
              <a:solidFill>
                <a:srgbClr val="4FC3F7"/>
              </a:solidFill>
              <a:prstDash val="solid"/>
            </a:ln>
          </p:spPr>
        </p:sp>
        <p:sp>
          <p:nvSpPr>
            <p:cNvPr id="41" name="Shape 4">
              <a:extLst>
                <a:ext uri="{FF2B5EF4-FFF2-40B4-BE49-F238E27FC236}">
                  <a16:creationId xmlns:a16="http://schemas.microsoft.com/office/drawing/2014/main" id="{9992D5A3-07A2-586C-471B-1AEA6BDDFDDB}"/>
                </a:ext>
              </a:extLst>
            </p:cNvPr>
            <p:cNvSpPr/>
            <p:nvPr/>
          </p:nvSpPr>
          <p:spPr>
            <a:xfrm>
              <a:off x="0" y="-18464"/>
              <a:ext cx="846572" cy="575483"/>
            </a:xfrm>
            <a:prstGeom prst="homePlate">
              <a:avLst/>
            </a:prstGeom>
            <a:solidFill>
              <a:srgbClr val="FFFFFF"/>
            </a:solidFill>
            <a:ln w="6350">
              <a:solidFill>
                <a:srgbClr val="CCCCCC"/>
              </a:solidFill>
              <a:prstDash val="solid"/>
            </a:ln>
          </p:spPr>
        </p:sp>
        <p:sp>
          <p:nvSpPr>
            <p:cNvPr id="42" name="Shape 5">
              <a:extLst>
                <a:ext uri="{FF2B5EF4-FFF2-40B4-BE49-F238E27FC236}">
                  <a16:creationId xmlns:a16="http://schemas.microsoft.com/office/drawing/2014/main" id="{D5DD6FBB-3426-FD62-A948-3012850FAEED}"/>
                </a:ext>
              </a:extLst>
            </p:cNvPr>
            <p:cNvSpPr/>
            <p:nvPr/>
          </p:nvSpPr>
          <p:spPr>
            <a:xfrm>
              <a:off x="8046720" y="91440"/>
              <a:ext cx="38405" cy="38405"/>
            </a:xfrm>
            <a:prstGeom prst="ellipse">
              <a:avLst/>
            </a:prstGeom>
            <a:solidFill>
              <a:srgbClr val="FFFFFF">
                <a:alpha val="35000"/>
              </a:srgbClr>
            </a:solidFill>
            <a:ln w="12700">
              <a:solidFill>
                <a:srgbClr val="FFFFFF"/>
              </a:solidFill>
              <a:prstDash val="solid"/>
            </a:ln>
          </p:spPr>
        </p:sp>
        <p:sp>
          <p:nvSpPr>
            <p:cNvPr id="43" name="Shape 6">
              <a:extLst>
                <a:ext uri="{FF2B5EF4-FFF2-40B4-BE49-F238E27FC236}">
                  <a16:creationId xmlns:a16="http://schemas.microsoft.com/office/drawing/2014/main" id="{EF101E4A-F7A1-75FB-3079-CA5ED737E907}"/>
                </a:ext>
              </a:extLst>
            </p:cNvPr>
            <p:cNvSpPr/>
            <p:nvPr/>
          </p:nvSpPr>
          <p:spPr>
            <a:xfrm>
              <a:off x="8211312" y="91440"/>
              <a:ext cx="38405" cy="38405"/>
            </a:xfrm>
            <a:prstGeom prst="ellipse">
              <a:avLst/>
            </a:prstGeom>
            <a:solidFill>
              <a:srgbClr val="FFFFFF">
                <a:alpha val="35000"/>
              </a:srgbClr>
            </a:solidFill>
            <a:ln w="12700">
              <a:solidFill>
                <a:srgbClr val="FFFFFF"/>
              </a:solidFill>
              <a:prstDash val="solid"/>
            </a:ln>
          </p:spPr>
        </p:sp>
        <p:sp>
          <p:nvSpPr>
            <p:cNvPr id="44" name="Shape 7">
              <a:extLst>
                <a:ext uri="{FF2B5EF4-FFF2-40B4-BE49-F238E27FC236}">
                  <a16:creationId xmlns:a16="http://schemas.microsoft.com/office/drawing/2014/main" id="{AA5AF7EA-CA33-87A6-387A-527BEFDB7DC7}"/>
                </a:ext>
              </a:extLst>
            </p:cNvPr>
            <p:cNvSpPr/>
            <p:nvPr/>
          </p:nvSpPr>
          <p:spPr>
            <a:xfrm>
              <a:off x="8375904" y="91440"/>
              <a:ext cx="38405" cy="38405"/>
            </a:xfrm>
            <a:prstGeom prst="ellipse">
              <a:avLst/>
            </a:prstGeom>
            <a:solidFill>
              <a:srgbClr val="FFFFFF">
                <a:alpha val="35000"/>
              </a:srgbClr>
            </a:solidFill>
            <a:ln w="12700">
              <a:solidFill>
                <a:srgbClr val="FFFFFF"/>
              </a:solidFill>
              <a:prstDash val="solid"/>
            </a:ln>
          </p:spPr>
        </p:sp>
        <p:sp>
          <p:nvSpPr>
            <p:cNvPr id="45" name="Shape 8">
              <a:extLst>
                <a:ext uri="{FF2B5EF4-FFF2-40B4-BE49-F238E27FC236}">
                  <a16:creationId xmlns:a16="http://schemas.microsoft.com/office/drawing/2014/main" id="{7B03D3A6-3454-3BFB-F14D-D351E7E3AC14}"/>
                </a:ext>
              </a:extLst>
            </p:cNvPr>
            <p:cNvSpPr/>
            <p:nvPr/>
          </p:nvSpPr>
          <p:spPr>
            <a:xfrm>
              <a:off x="8540496" y="91440"/>
              <a:ext cx="38405" cy="38405"/>
            </a:xfrm>
            <a:prstGeom prst="ellipse">
              <a:avLst/>
            </a:prstGeom>
            <a:solidFill>
              <a:srgbClr val="FFFFFF">
                <a:alpha val="35000"/>
              </a:srgbClr>
            </a:solidFill>
            <a:ln w="12700">
              <a:solidFill>
                <a:srgbClr val="FFFFFF"/>
              </a:solidFill>
              <a:prstDash val="solid"/>
            </a:ln>
          </p:spPr>
        </p:sp>
        <p:sp>
          <p:nvSpPr>
            <p:cNvPr id="46" name="Shape 9">
              <a:extLst>
                <a:ext uri="{FF2B5EF4-FFF2-40B4-BE49-F238E27FC236}">
                  <a16:creationId xmlns:a16="http://schemas.microsoft.com/office/drawing/2014/main" id="{F40B6E5D-BC49-93EC-4D59-5C2EA65D8C47}"/>
                </a:ext>
              </a:extLst>
            </p:cNvPr>
            <p:cNvSpPr/>
            <p:nvPr/>
          </p:nvSpPr>
          <p:spPr>
            <a:xfrm>
              <a:off x="8046720" y="219456"/>
              <a:ext cx="38405" cy="38405"/>
            </a:xfrm>
            <a:prstGeom prst="ellipse">
              <a:avLst/>
            </a:prstGeom>
            <a:solidFill>
              <a:srgbClr val="FFFFFF">
                <a:alpha val="35000"/>
              </a:srgbClr>
            </a:solidFill>
            <a:ln w="12700">
              <a:solidFill>
                <a:srgbClr val="FFFFFF"/>
              </a:solidFill>
              <a:prstDash val="solid"/>
            </a:ln>
          </p:spPr>
        </p:sp>
        <p:sp>
          <p:nvSpPr>
            <p:cNvPr id="47" name="Shape 10">
              <a:extLst>
                <a:ext uri="{FF2B5EF4-FFF2-40B4-BE49-F238E27FC236}">
                  <a16:creationId xmlns:a16="http://schemas.microsoft.com/office/drawing/2014/main" id="{AC3A7623-D09D-8C95-5284-F4F2247018B1}"/>
                </a:ext>
              </a:extLst>
            </p:cNvPr>
            <p:cNvSpPr/>
            <p:nvPr/>
          </p:nvSpPr>
          <p:spPr>
            <a:xfrm>
              <a:off x="8211312" y="219456"/>
              <a:ext cx="38405" cy="38405"/>
            </a:xfrm>
            <a:prstGeom prst="ellipse">
              <a:avLst/>
            </a:prstGeom>
            <a:solidFill>
              <a:srgbClr val="FFFFFF">
                <a:alpha val="35000"/>
              </a:srgbClr>
            </a:solidFill>
            <a:ln w="12700">
              <a:solidFill>
                <a:srgbClr val="FFFFFF"/>
              </a:solidFill>
              <a:prstDash val="solid"/>
            </a:ln>
          </p:spPr>
        </p:sp>
        <p:sp>
          <p:nvSpPr>
            <p:cNvPr id="48" name="Shape 11">
              <a:extLst>
                <a:ext uri="{FF2B5EF4-FFF2-40B4-BE49-F238E27FC236}">
                  <a16:creationId xmlns:a16="http://schemas.microsoft.com/office/drawing/2014/main" id="{F1B54E4E-DA17-4D2B-4DDD-8B6474ADCB12}"/>
                </a:ext>
              </a:extLst>
            </p:cNvPr>
            <p:cNvSpPr/>
            <p:nvPr/>
          </p:nvSpPr>
          <p:spPr>
            <a:xfrm>
              <a:off x="8375904" y="219456"/>
              <a:ext cx="38405" cy="38405"/>
            </a:xfrm>
            <a:prstGeom prst="ellipse">
              <a:avLst/>
            </a:prstGeom>
            <a:solidFill>
              <a:srgbClr val="FFFFFF">
                <a:alpha val="35000"/>
              </a:srgbClr>
            </a:solidFill>
            <a:ln w="12700">
              <a:solidFill>
                <a:srgbClr val="FFFFFF"/>
              </a:solidFill>
              <a:prstDash val="solid"/>
            </a:ln>
          </p:spPr>
        </p:sp>
        <p:sp>
          <p:nvSpPr>
            <p:cNvPr id="49" name="Shape 12">
              <a:extLst>
                <a:ext uri="{FF2B5EF4-FFF2-40B4-BE49-F238E27FC236}">
                  <a16:creationId xmlns:a16="http://schemas.microsoft.com/office/drawing/2014/main" id="{68E2CA5C-9F11-3D5F-296F-352BFE2CC9D0}"/>
                </a:ext>
              </a:extLst>
            </p:cNvPr>
            <p:cNvSpPr/>
            <p:nvPr/>
          </p:nvSpPr>
          <p:spPr>
            <a:xfrm>
              <a:off x="8540496" y="219456"/>
              <a:ext cx="38405" cy="38405"/>
            </a:xfrm>
            <a:prstGeom prst="ellipse">
              <a:avLst/>
            </a:prstGeom>
            <a:solidFill>
              <a:srgbClr val="FFFFFF">
                <a:alpha val="35000"/>
              </a:srgbClr>
            </a:solidFill>
            <a:ln w="12700">
              <a:solidFill>
                <a:srgbClr val="FFFFFF"/>
              </a:solidFill>
              <a:prstDash val="solid"/>
            </a:ln>
          </p:spPr>
        </p:sp>
        <p:sp>
          <p:nvSpPr>
            <p:cNvPr id="50" name="Shape 13">
              <a:extLst>
                <a:ext uri="{FF2B5EF4-FFF2-40B4-BE49-F238E27FC236}">
                  <a16:creationId xmlns:a16="http://schemas.microsoft.com/office/drawing/2014/main" id="{C6C257A0-92CA-2D25-5C3D-7E9214CBDAA4}"/>
                </a:ext>
              </a:extLst>
            </p:cNvPr>
            <p:cNvSpPr/>
            <p:nvPr/>
          </p:nvSpPr>
          <p:spPr>
            <a:xfrm>
              <a:off x="8046720" y="347472"/>
              <a:ext cx="38405" cy="38405"/>
            </a:xfrm>
            <a:prstGeom prst="ellipse">
              <a:avLst/>
            </a:prstGeom>
            <a:solidFill>
              <a:srgbClr val="FFFFFF">
                <a:alpha val="35000"/>
              </a:srgbClr>
            </a:solidFill>
            <a:ln w="12700">
              <a:solidFill>
                <a:srgbClr val="FFFFFF"/>
              </a:solidFill>
              <a:prstDash val="solid"/>
            </a:ln>
          </p:spPr>
        </p:sp>
        <p:sp>
          <p:nvSpPr>
            <p:cNvPr id="51" name="Shape 14">
              <a:extLst>
                <a:ext uri="{FF2B5EF4-FFF2-40B4-BE49-F238E27FC236}">
                  <a16:creationId xmlns:a16="http://schemas.microsoft.com/office/drawing/2014/main" id="{84CFACC2-8699-BC6F-39D8-9191648284BA}"/>
                </a:ext>
              </a:extLst>
            </p:cNvPr>
            <p:cNvSpPr/>
            <p:nvPr/>
          </p:nvSpPr>
          <p:spPr>
            <a:xfrm>
              <a:off x="8211312" y="347472"/>
              <a:ext cx="38405" cy="38405"/>
            </a:xfrm>
            <a:prstGeom prst="ellipse">
              <a:avLst/>
            </a:prstGeom>
            <a:solidFill>
              <a:srgbClr val="FFFFFF">
                <a:alpha val="35000"/>
              </a:srgbClr>
            </a:solidFill>
            <a:ln w="12700">
              <a:solidFill>
                <a:srgbClr val="FFFFFF"/>
              </a:solidFill>
              <a:prstDash val="solid"/>
            </a:ln>
          </p:spPr>
        </p:sp>
        <p:sp>
          <p:nvSpPr>
            <p:cNvPr id="52" name="Shape 15">
              <a:extLst>
                <a:ext uri="{FF2B5EF4-FFF2-40B4-BE49-F238E27FC236}">
                  <a16:creationId xmlns:a16="http://schemas.microsoft.com/office/drawing/2014/main" id="{82C56113-CCC6-3469-DD3B-A6171C8F8212}"/>
                </a:ext>
              </a:extLst>
            </p:cNvPr>
            <p:cNvSpPr/>
            <p:nvPr/>
          </p:nvSpPr>
          <p:spPr>
            <a:xfrm>
              <a:off x="8375904" y="347472"/>
              <a:ext cx="38405" cy="38405"/>
            </a:xfrm>
            <a:prstGeom prst="ellipse">
              <a:avLst/>
            </a:prstGeom>
            <a:solidFill>
              <a:srgbClr val="FFFFFF">
                <a:alpha val="35000"/>
              </a:srgbClr>
            </a:solidFill>
            <a:ln w="12700">
              <a:solidFill>
                <a:srgbClr val="FFFFFF"/>
              </a:solidFill>
              <a:prstDash val="solid"/>
            </a:ln>
          </p:spPr>
        </p:sp>
        <p:sp>
          <p:nvSpPr>
            <p:cNvPr id="53" name="Shape 16">
              <a:extLst>
                <a:ext uri="{FF2B5EF4-FFF2-40B4-BE49-F238E27FC236}">
                  <a16:creationId xmlns:a16="http://schemas.microsoft.com/office/drawing/2014/main" id="{64E4E338-6B91-96E0-2F10-3BB273E2AEBE}"/>
                </a:ext>
              </a:extLst>
            </p:cNvPr>
            <p:cNvSpPr/>
            <p:nvPr/>
          </p:nvSpPr>
          <p:spPr>
            <a:xfrm>
              <a:off x="8540496" y="347472"/>
              <a:ext cx="38405" cy="38405"/>
            </a:xfrm>
            <a:prstGeom prst="ellipse">
              <a:avLst/>
            </a:prstGeom>
            <a:solidFill>
              <a:srgbClr val="FFFFFF">
                <a:alpha val="35000"/>
              </a:srgbClr>
            </a:solidFill>
            <a:ln w="12700">
              <a:solidFill>
                <a:srgbClr val="FFFFFF"/>
              </a:solidFill>
              <a:prstDash val="solid"/>
            </a:ln>
          </p:spPr>
        </p:sp>
        <p:pic>
          <p:nvPicPr>
            <p:cNvPr id="54" name="Picture 53">
              <a:extLst>
                <a:ext uri="{FF2B5EF4-FFF2-40B4-BE49-F238E27FC236}">
                  <a16:creationId xmlns:a16="http://schemas.microsoft.com/office/drawing/2014/main" id="{6B8F513D-7679-1FA4-1905-FE4B552FE9AC}"/>
                </a:ext>
              </a:extLst>
            </p:cNvPr>
            <p:cNvPicPr>
              <a:picLocks noChangeAspect="1"/>
            </p:cNvPicPr>
            <p:nvPr/>
          </p:nvPicPr>
          <p:blipFill>
            <a:blip r:embed="rId4"/>
            <a:srcRect l="20128" t="19209" r="10255" b="19209"/>
            <a:stretch/>
          </p:blipFill>
          <p:spPr>
            <a:xfrm>
              <a:off x="-71718" y="-18464"/>
              <a:ext cx="927596" cy="575483"/>
            </a:xfrm>
            <a:prstGeom prst="rect">
              <a:avLst/>
            </a:prstGeom>
          </p:spPr>
        </p:pic>
      </p:grpSp>
      <p:sp>
        <p:nvSpPr>
          <p:cNvPr id="3" name="TopLabel">
            <a:extLst>
              <a:ext uri="{FF2B5EF4-FFF2-40B4-BE49-F238E27FC236}">
                <a16:creationId xmlns:a16="http://schemas.microsoft.com/office/drawing/2014/main" id="{E1449DB4-E893-DAB9-BB3D-932189A2B1A3}"/>
              </a:ext>
            </a:extLst>
          </p:cNvPr>
          <p:cNvSpPr>
            <a:spLocks noGrp="1"/>
          </p:cNvSpPr>
          <p:nvPr/>
        </p:nvSpPr>
        <p:spPr>
          <a:xfrm>
            <a:off x="1266667" y="66667"/>
            <a:ext cx="7333333" cy="600000"/>
          </a:xfrm>
          <a:prstGeom prst="rect">
            <a:avLst/>
          </a:prstGeom>
          <a:noFill/>
          <a:ln>
            <a:noFill/>
          </a:ln>
        </p:spPr>
        <p:txBody>
          <a:bodyPr wrap="square" lIns="0" tIns="0" rIns="0" bIns="0" rtlCol="0" anchor="ctr">
            <a:normAutofit/>
          </a:bodyPr>
          <a:lstStyle/>
          <a:p>
            <a:r>
              <a:rPr lang="en-US" sz="3200" b="1" dirty="0">
                <a:solidFill>
                  <a:schemeClr val="bg1"/>
                </a:solidFill>
              </a:rPr>
              <a:t>METHODOLOGY</a:t>
            </a:r>
            <a:endParaRPr lang="en-US" sz="3200" b="1" dirty="0">
              <a:solidFill>
                <a:srgbClr val="FFFFFF"/>
              </a:solidFill>
              <a:latin typeface="Calibri"/>
              <a:ea typeface="Calibri"/>
              <a:cs typeface="Calibri"/>
            </a:endParaRPr>
          </a:p>
        </p:txBody>
      </p:sp>
      <p:pic>
        <p:nvPicPr>
          <p:cNvPr id="5" name="Picture 4">
            <a:extLst>
              <a:ext uri="{FF2B5EF4-FFF2-40B4-BE49-F238E27FC236}">
                <a16:creationId xmlns:a16="http://schemas.microsoft.com/office/drawing/2014/main" id="{30017ED5-B2F7-CFDA-DA24-D075DD7D7C08}"/>
              </a:ext>
            </a:extLst>
          </p:cNvPr>
          <p:cNvPicPr>
            <a:picLocks noChangeAspect="1"/>
          </p:cNvPicPr>
          <p:nvPr/>
        </p:nvPicPr>
        <p:blipFill>
          <a:blip r:embed="rId5"/>
          <a:stretch>
            <a:fillRect/>
          </a:stretch>
        </p:blipFill>
        <p:spPr>
          <a:xfrm>
            <a:off x="1344647" y="1654664"/>
            <a:ext cx="8839819" cy="2308371"/>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rcRect/>
          <a:stretch/>
        </p:blipFill>
        <p:spPr>
          <a:xfrm>
            <a:off x="72" y="0"/>
            <a:ext cx="12191928" cy="6857928"/>
          </a:xfrm>
          <a:prstGeom prst="rect">
            <a:avLst/>
          </a:prstGeom>
        </p:spPr>
      </p:pic>
      <p:sp>
        <p:nvSpPr>
          <p:cNvPr id="11" name="Text 7"/>
          <p:cNvSpPr/>
          <p:nvPr/>
        </p:nvSpPr>
        <p:spPr>
          <a:xfrm>
            <a:off x="761927" y="1284805"/>
            <a:ext cx="10988117" cy="465859"/>
          </a:xfrm>
          <a:prstGeom prst="rect">
            <a:avLst/>
          </a:prstGeom>
          <a:noFill/>
          <a:ln/>
        </p:spPr>
        <p:txBody>
          <a:bodyPr wrap="square" lIns="16933" tIns="16933" rIns="16933" bIns="16933" rtlCol="0" anchor="t">
            <a:normAutofit fontScale="92500" lnSpcReduction="20000"/>
          </a:bodyPr>
          <a:lstStyle/>
          <a:p>
            <a:pPr>
              <a:lnSpc>
                <a:spcPct val="104000"/>
              </a:lnSpc>
            </a:pPr>
            <a:r>
              <a:rPr lang="en-US" sz="3336" b="1" kern="0" spc="-33" dirty="0">
                <a:solidFill>
                  <a:srgbClr val="0A1733"/>
                </a:solidFill>
                <a:latin typeface="IBM Plex Sans" pitchFamily="34" charset="0"/>
                <a:ea typeface="IBM Plex Sans" pitchFamily="34" charset="-122"/>
                <a:cs typeface="IBM Plex Sans" pitchFamily="34" charset="-120"/>
              </a:rPr>
              <a:t>Inside SENTINEL-GNSS</a:t>
            </a:r>
            <a:endParaRPr lang="en-US" sz="3336" dirty="0"/>
          </a:p>
        </p:txBody>
      </p:sp>
      <p:sp>
        <p:nvSpPr>
          <p:cNvPr id="12" name="Shape 8"/>
          <p:cNvSpPr/>
          <p:nvPr/>
        </p:nvSpPr>
        <p:spPr>
          <a:xfrm>
            <a:off x="1756174" y="1926844"/>
            <a:ext cx="9125863" cy="3301928"/>
          </a:xfrm>
          <a:prstGeom prst="roundRect">
            <a:avLst>
              <a:gd name="adj" fmla="val 2308"/>
            </a:avLst>
          </a:prstGeom>
          <a:solidFill>
            <a:srgbClr val="FFFFFF"/>
          </a:solidFill>
          <a:ln w="7056">
            <a:solidFill>
              <a:srgbClr val="CDD9EA"/>
            </a:solidFill>
            <a:prstDash val="solid"/>
          </a:ln>
          <a:effectLst>
            <a:outerShdw blurRad="285750" dist="95250" dir="5400000" algn="bl" rotWithShape="0">
              <a:srgbClr val="002A6E">
                <a:alpha val="45000"/>
              </a:srgbClr>
            </a:outerShdw>
          </a:effectLst>
        </p:spPr>
      </p:sp>
      <p:pic>
        <p:nvPicPr>
          <p:cNvPr id="13" name="Image 2" descr="preencoded.png"/>
          <p:cNvPicPr>
            <a:picLocks noChangeAspect="1"/>
          </p:cNvPicPr>
          <p:nvPr/>
        </p:nvPicPr>
        <p:blipFill>
          <a:blip r:embed="rId4"/>
          <a:srcRect/>
          <a:stretch/>
        </p:blipFill>
        <p:spPr>
          <a:xfrm>
            <a:off x="1756175" y="1906203"/>
            <a:ext cx="9125861" cy="3301928"/>
          </a:xfrm>
          <a:prstGeom prst="rect">
            <a:avLst/>
          </a:prstGeom>
        </p:spPr>
      </p:pic>
      <p:sp>
        <p:nvSpPr>
          <p:cNvPr id="14" name="Text 9"/>
          <p:cNvSpPr/>
          <p:nvPr/>
        </p:nvSpPr>
        <p:spPr>
          <a:xfrm>
            <a:off x="328434" y="5384313"/>
            <a:ext cx="873655" cy="472252"/>
          </a:xfrm>
          <a:prstGeom prst="rect">
            <a:avLst/>
          </a:prstGeom>
          <a:noFill/>
          <a:ln/>
        </p:spPr>
        <p:txBody>
          <a:bodyPr wrap="square" lIns="0" tIns="0" rIns="0" bIns="0" rtlCol="0" anchor="t">
            <a:normAutofit/>
          </a:bodyPr>
          <a:lstStyle/>
          <a:p>
            <a:r>
              <a:rPr lang="en-US" sz="2700" b="1" dirty="0">
                <a:solidFill>
                  <a:srgbClr val="003893"/>
                </a:solidFill>
                <a:latin typeface="IBM Plex Mono" pitchFamily="34" charset="0"/>
                <a:ea typeface="IBM Plex Mono" pitchFamily="34" charset="-122"/>
                <a:cs typeface="IBM Plex Mono" pitchFamily="34" charset="-120"/>
              </a:rPr>
              <a:t>1.46</a:t>
            </a:r>
            <a:endParaRPr lang="en-US" sz="2700" dirty="0"/>
          </a:p>
        </p:txBody>
      </p:sp>
      <p:sp>
        <p:nvSpPr>
          <p:cNvPr id="15" name="Text 10"/>
          <p:cNvSpPr/>
          <p:nvPr/>
        </p:nvSpPr>
        <p:spPr>
          <a:xfrm>
            <a:off x="1151288" y="5553646"/>
            <a:ext cx="264157" cy="255881"/>
          </a:xfrm>
          <a:prstGeom prst="rect">
            <a:avLst/>
          </a:prstGeom>
          <a:noFill/>
          <a:ln/>
        </p:spPr>
        <p:txBody>
          <a:bodyPr wrap="square" lIns="16933" tIns="16933" rIns="16933" bIns="16933" rtlCol="0" anchor="t">
            <a:normAutofit/>
          </a:bodyPr>
          <a:lstStyle/>
          <a:p>
            <a:r>
              <a:rPr lang="en-US" sz="1400" b="1" dirty="0">
                <a:solidFill>
                  <a:srgbClr val="003893"/>
                </a:solidFill>
                <a:latin typeface="IBM Plex Mono" pitchFamily="34" charset="0"/>
                <a:ea typeface="IBM Plex Mono" pitchFamily="34" charset="-122"/>
                <a:cs typeface="IBM Plex Mono" pitchFamily="34" charset="-120"/>
              </a:rPr>
              <a:t>M</a:t>
            </a:r>
            <a:endParaRPr lang="en-US" sz="1400" dirty="0"/>
          </a:p>
        </p:txBody>
      </p:sp>
      <p:sp>
        <p:nvSpPr>
          <p:cNvPr id="16" name="Text 11"/>
          <p:cNvSpPr/>
          <p:nvPr/>
        </p:nvSpPr>
        <p:spPr>
          <a:xfrm>
            <a:off x="328435" y="5821756"/>
            <a:ext cx="1427739" cy="465859"/>
          </a:xfrm>
          <a:prstGeom prst="rect">
            <a:avLst/>
          </a:prstGeom>
          <a:noFill/>
          <a:ln/>
        </p:spPr>
        <p:txBody>
          <a:bodyPr wrap="square" lIns="16933" tIns="16933" rIns="16933" bIns="16933" rtlCol="0" anchor="t">
            <a:noAutofit/>
          </a:bodyPr>
          <a:lstStyle/>
          <a:p>
            <a:r>
              <a:rPr lang="en-US" sz="1067" dirty="0">
                <a:solidFill>
                  <a:srgbClr val="5A6A86"/>
                </a:solidFill>
                <a:latin typeface="IBM Plex Sans" pitchFamily="34" charset="0"/>
                <a:ea typeface="IBM Plex Sans" pitchFamily="34" charset="-122"/>
                <a:cs typeface="IBM Plex Sans" pitchFamily="34" charset="-120"/>
              </a:rPr>
              <a:t>· trainable parameters · one forward pass</a:t>
            </a:r>
            <a:endParaRPr lang="en-US" sz="1067" dirty="0"/>
          </a:p>
        </p:txBody>
      </p:sp>
      <p:sp>
        <p:nvSpPr>
          <p:cNvPr id="17" name="Shape 12"/>
          <p:cNvSpPr/>
          <p:nvPr/>
        </p:nvSpPr>
        <p:spPr>
          <a:xfrm>
            <a:off x="2481647" y="5513390"/>
            <a:ext cx="2227935" cy="379493"/>
          </a:xfrm>
          <a:prstGeom prst="roundRect">
            <a:avLst>
              <a:gd name="adj" fmla="val 8348"/>
            </a:avLst>
          </a:prstGeom>
          <a:solidFill>
            <a:srgbClr val="FFFFFF">
              <a:alpha val="72000"/>
            </a:srgbClr>
          </a:solidFill>
          <a:ln w="7056">
            <a:solidFill>
              <a:srgbClr val="CDD9EA"/>
            </a:solidFill>
            <a:prstDash val="solid"/>
          </a:ln>
        </p:spPr>
      </p:sp>
      <p:sp>
        <p:nvSpPr>
          <p:cNvPr id="18" name="Text 13"/>
          <p:cNvSpPr/>
          <p:nvPr/>
        </p:nvSpPr>
        <p:spPr>
          <a:xfrm>
            <a:off x="2594301" y="5583608"/>
            <a:ext cx="1950607" cy="267752"/>
          </a:xfrm>
          <a:prstGeom prst="rect">
            <a:avLst/>
          </a:prstGeom>
          <a:noFill/>
          <a:ln/>
        </p:spPr>
        <p:txBody>
          <a:bodyPr wrap="square" lIns="16933" tIns="16933" rIns="16933" bIns="16933" rtlCol="0" anchor="t">
            <a:noAutofit/>
          </a:bodyPr>
          <a:lstStyle/>
          <a:p>
            <a:r>
              <a:rPr lang="en-US" sz="1200" dirty="0">
                <a:solidFill>
                  <a:srgbClr val="0A1733"/>
                </a:solidFill>
                <a:latin typeface="IBM Plex Mono" pitchFamily="34" charset="0"/>
                <a:ea typeface="IBM Plex Mono" pitchFamily="34" charset="-122"/>
                <a:cs typeface="IBM Plex Mono" pitchFamily="34" charset="-120"/>
              </a:rPr>
              <a:t>focal loss · γ = 1.0</a:t>
            </a:r>
            <a:endParaRPr lang="en-US" sz="1200" dirty="0"/>
          </a:p>
        </p:txBody>
      </p:sp>
      <p:sp>
        <p:nvSpPr>
          <p:cNvPr id="23" name="Shape 18"/>
          <p:cNvSpPr/>
          <p:nvPr/>
        </p:nvSpPr>
        <p:spPr>
          <a:xfrm>
            <a:off x="0" y="6489643"/>
            <a:ext cx="12191928" cy="368285"/>
          </a:xfrm>
          <a:prstGeom prst="rect">
            <a:avLst/>
          </a:prstGeom>
          <a:solidFill>
            <a:srgbClr val="003893"/>
          </a:solidFill>
          <a:ln/>
        </p:spPr>
      </p:sp>
      <p:sp>
        <p:nvSpPr>
          <p:cNvPr id="24" name="Text 19"/>
          <p:cNvSpPr/>
          <p:nvPr/>
        </p:nvSpPr>
        <p:spPr>
          <a:xfrm>
            <a:off x="761927" y="6607896"/>
            <a:ext cx="1403629" cy="157104"/>
          </a:xfrm>
          <a:prstGeom prst="rect">
            <a:avLst/>
          </a:prstGeom>
          <a:noFill/>
          <a:ln/>
        </p:spPr>
        <p:txBody>
          <a:bodyPr wrap="square" lIns="16933" tIns="16933" rIns="16933" bIns="16933" rtlCol="0" anchor="t">
            <a:normAutofit/>
          </a:bodyPr>
          <a:lstStyle/>
          <a:p>
            <a:r>
              <a:rPr lang="en-US" sz="800" kern="0" spc="112" dirty="0">
                <a:solidFill>
                  <a:srgbClr val="BFE6FB"/>
                </a:solidFill>
                <a:latin typeface="IBM Plex Mono" pitchFamily="34" charset="0"/>
                <a:ea typeface="IBM Plex Mono" pitchFamily="34" charset="-122"/>
                <a:cs typeface="IBM Plex Mono" pitchFamily="34" charset="-120"/>
              </a:rPr>
              <a:t>BEIHANG UNIVERSITY</a:t>
            </a:r>
            <a:endParaRPr lang="en-US" sz="800" dirty="0"/>
          </a:p>
        </p:txBody>
      </p:sp>
      <p:sp>
        <p:nvSpPr>
          <p:cNvPr id="25" name="Text 20"/>
          <p:cNvSpPr/>
          <p:nvPr/>
        </p:nvSpPr>
        <p:spPr>
          <a:xfrm>
            <a:off x="9851689" y="6607896"/>
            <a:ext cx="1629113" cy="157104"/>
          </a:xfrm>
          <a:prstGeom prst="rect">
            <a:avLst/>
          </a:prstGeom>
          <a:noFill/>
          <a:ln/>
        </p:spPr>
        <p:txBody>
          <a:bodyPr wrap="square" lIns="16933" tIns="16933" rIns="16933" bIns="16933" rtlCol="0" anchor="t">
            <a:normAutofit/>
          </a:bodyPr>
          <a:lstStyle/>
          <a:p>
            <a:r>
              <a:rPr lang="en-US" sz="800" kern="0" spc="112" dirty="0">
                <a:solidFill>
                  <a:srgbClr val="FFFFFF"/>
                </a:solidFill>
                <a:latin typeface="IBM Plex Mono" pitchFamily="34" charset="0"/>
                <a:ea typeface="IBM Plex Mono" pitchFamily="34" charset="-122"/>
                <a:cs typeface="IBM Plex Mono" pitchFamily="34" charset="-120"/>
              </a:rPr>
              <a:t>SENTINEL-GNSS · PILOT</a:t>
            </a:r>
            <a:endParaRPr lang="en-US" sz="800" dirty="0"/>
          </a:p>
        </p:txBody>
      </p:sp>
      <p:grpSp>
        <p:nvGrpSpPr>
          <p:cNvPr id="26" name="Group 25">
            <a:extLst>
              <a:ext uri="{FF2B5EF4-FFF2-40B4-BE49-F238E27FC236}">
                <a16:creationId xmlns:a16="http://schemas.microsoft.com/office/drawing/2014/main" id="{96924E11-E98D-D243-957E-EA2ACE05C569}"/>
              </a:ext>
            </a:extLst>
          </p:cNvPr>
          <p:cNvGrpSpPr/>
          <p:nvPr/>
        </p:nvGrpSpPr>
        <p:grpSpPr>
          <a:xfrm>
            <a:off x="-95624" y="-24618"/>
            <a:ext cx="12287624" cy="767311"/>
            <a:chOff x="-71718" y="-18464"/>
            <a:chExt cx="9215718" cy="575483"/>
          </a:xfrm>
        </p:grpSpPr>
        <p:sp>
          <p:nvSpPr>
            <p:cNvPr id="27" name="Shape 0">
              <a:extLst>
                <a:ext uri="{FF2B5EF4-FFF2-40B4-BE49-F238E27FC236}">
                  <a16:creationId xmlns:a16="http://schemas.microsoft.com/office/drawing/2014/main" id="{9122362D-F64B-24F0-067B-9100D7DB0AC9}"/>
                </a:ext>
              </a:extLst>
            </p:cNvPr>
            <p:cNvSpPr/>
            <p:nvPr/>
          </p:nvSpPr>
          <p:spPr>
            <a:xfrm>
              <a:off x="0" y="1451"/>
              <a:ext cx="9144000" cy="555306"/>
            </a:xfrm>
            <a:prstGeom prst="rect">
              <a:avLst/>
            </a:prstGeom>
            <a:solidFill>
              <a:srgbClr val="003893"/>
            </a:solidFill>
            <a:ln w="12700">
              <a:solidFill>
                <a:srgbClr val="003893"/>
              </a:solidFill>
              <a:prstDash val="solid"/>
            </a:ln>
          </p:spPr>
        </p:sp>
        <p:sp>
          <p:nvSpPr>
            <p:cNvPr id="28" name="Shape 1">
              <a:extLst>
                <a:ext uri="{FF2B5EF4-FFF2-40B4-BE49-F238E27FC236}">
                  <a16:creationId xmlns:a16="http://schemas.microsoft.com/office/drawing/2014/main" id="{58427887-7980-4D37-DB5F-41296FDFBF42}"/>
                </a:ext>
              </a:extLst>
            </p:cNvPr>
            <p:cNvSpPr/>
            <p:nvPr/>
          </p:nvSpPr>
          <p:spPr>
            <a:xfrm>
              <a:off x="0" y="526760"/>
              <a:ext cx="9144000" cy="27432"/>
            </a:xfrm>
            <a:prstGeom prst="rect">
              <a:avLst/>
            </a:prstGeom>
            <a:solidFill>
              <a:srgbClr val="4FC3F7"/>
            </a:solidFill>
            <a:ln w="12700">
              <a:solidFill>
                <a:srgbClr val="4FC3F7"/>
              </a:solidFill>
              <a:prstDash val="solid"/>
            </a:ln>
          </p:spPr>
        </p:sp>
        <p:sp>
          <p:nvSpPr>
            <p:cNvPr id="29" name="Shape 4">
              <a:extLst>
                <a:ext uri="{FF2B5EF4-FFF2-40B4-BE49-F238E27FC236}">
                  <a16:creationId xmlns:a16="http://schemas.microsoft.com/office/drawing/2014/main" id="{6A9D3119-1BD6-2777-36C3-7D69350A7815}"/>
                </a:ext>
              </a:extLst>
            </p:cNvPr>
            <p:cNvSpPr/>
            <p:nvPr/>
          </p:nvSpPr>
          <p:spPr>
            <a:xfrm>
              <a:off x="0" y="-18464"/>
              <a:ext cx="846572" cy="575483"/>
            </a:xfrm>
            <a:prstGeom prst="homePlate">
              <a:avLst/>
            </a:prstGeom>
            <a:solidFill>
              <a:srgbClr val="FFFFFF"/>
            </a:solidFill>
            <a:ln w="6350">
              <a:solidFill>
                <a:srgbClr val="CCCCCC"/>
              </a:solidFill>
              <a:prstDash val="solid"/>
            </a:ln>
          </p:spPr>
        </p:sp>
        <p:sp>
          <p:nvSpPr>
            <p:cNvPr id="30" name="Shape 5">
              <a:extLst>
                <a:ext uri="{FF2B5EF4-FFF2-40B4-BE49-F238E27FC236}">
                  <a16:creationId xmlns:a16="http://schemas.microsoft.com/office/drawing/2014/main" id="{57CC8F4E-331B-AD91-A827-F5E5298F1512}"/>
                </a:ext>
              </a:extLst>
            </p:cNvPr>
            <p:cNvSpPr/>
            <p:nvPr/>
          </p:nvSpPr>
          <p:spPr>
            <a:xfrm>
              <a:off x="8046720" y="91440"/>
              <a:ext cx="38405" cy="38405"/>
            </a:xfrm>
            <a:prstGeom prst="ellipse">
              <a:avLst/>
            </a:prstGeom>
            <a:solidFill>
              <a:srgbClr val="FFFFFF">
                <a:alpha val="35000"/>
              </a:srgbClr>
            </a:solidFill>
            <a:ln w="12700">
              <a:solidFill>
                <a:srgbClr val="FFFFFF"/>
              </a:solidFill>
              <a:prstDash val="solid"/>
            </a:ln>
          </p:spPr>
        </p:sp>
        <p:sp>
          <p:nvSpPr>
            <p:cNvPr id="31" name="Shape 6">
              <a:extLst>
                <a:ext uri="{FF2B5EF4-FFF2-40B4-BE49-F238E27FC236}">
                  <a16:creationId xmlns:a16="http://schemas.microsoft.com/office/drawing/2014/main" id="{8680FC17-9C4D-5F25-0DB0-7C6E521A1101}"/>
                </a:ext>
              </a:extLst>
            </p:cNvPr>
            <p:cNvSpPr/>
            <p:nvPr/>
          </p:nvSpPr>
          <p:spPr>
            <a:xfrm>
              <a:off x="8211312" y="91440"/>
              <a:ext cx="38405" cy="38405"/>
            </a:xfrm>
            <a:prstGeom prst="ellipse">
              <a:avLst/>
            </a:prstGeom>
            <a:solidFill>
              <a:srgbClr val="FFFFFF">
                <a:alpha val="35000"/>
              </a:srgbClr>
            </a:solidFill>
            <a:ln w="12700">
              <a:solidFill>
                <a:srgbClr val="FFFFFF"/>
              </a:solidFill>
              <a:prstDash val="solid"/>
            </a:ln>
          </p:spPr>
        </p:sp>
        <p:sp>
          <p:nvSpPr>
            <p:cNvPr id="32" name="Shape 7">
              <a:extLst>
                <a:ext uri="{FF2B5EF4-FFF2-40B4-BE49-F238E27FC236}">
                  <a16:creationId xmlns:a16="http://schemas.microsoft.com/office/drawing/2014/main" id="{C0489106-098F-9CC6-71E5-18375CBCF1DF}"/>
                </a:ext>
              </a:extLst>
            </p:cNvPr>
            <p:cNvSpPr/>
            <p:nvPr/>
          </p:nvSpPr>
          <p:spPr>
            <a:xfrm>
              <a:off x="8375904" y="91440"/>
              <a:ext cx="38405" cy="38405"/>
            </a:xfrm>
            <a:prstGeom prst="ellipse">
              <a:avLst/>
            </a:prstGeom>
            <a:solidFill>
              <a:srgbClr val="FFFFFF">
                <a:alpha val="35000"/>
              </a:srgbClr>
            </a:solidFill>
            <a:ln w="12700">
              <a:solidFill>
                <a:srgbClr val="FFFFFF"/>
              </a:solidFill>
              <a:prstDash val="solid"/>
            </a:ln>
          </p:spPr>
        </p:sp>
        <p:sp>
          <p:nvSpPr>
            <p:cNvPr id="33" name="Shape 8">
              <a:extLst>
                <a:ext uri="{FF2B5EF4-FFF2-40B4-BE49-F238E27FC236}">
                  <a16:creationId xmlns:a16="http://schemas.microsoft.com/office/drawing/2014/main" id="{19D98C45-D9CC-CE2B-74F3-57BC17B5B69E}"/>
                </a:ext>
              </a:extLst>
            </p:cNvPr>
            <p:cNvSpPr/>
            <p:nvPr/>
          </p:nvSpPr>
          <p:spPr>
            <a:xfrm>
              <a:off x="8540496" y="91440"/>
              <a:ext cx="38405" cy="38405"/>
            </a:xfrm>
            <a:prstGeom prst="ellipse">
              <a:avLst/>
            </a:prstGeom>
            <a:solidFill>
              <a:srgbClr val="FFFFFF">
                <a:alpha val="35000"/>
              </a:srgbClr>
            </a:solidFill>
            <a:ln w="12700">
              <a:solidFill>
                <a:srgbClr val="FFFFFF"/>
              </a:solidFill>
              <a:prstDash val="solid"/>
            </a:ln>
          </p:spPr>
        </p:sp>
        <p:sp>
          <p:nvSpPr>
            <p:cNvPr id="34" name="Shape 9">
              <a:extLst>
                <a:ext uri="{FF2B5EF4-FFF2-40B4-BE49-F238E27FC236}">
                  <a16:creationId xmlns:a16="http://schemas.microsoft.com/office/drawing/2014/main" id="{2DBCEF41-DC97-BB00-869C-3DF77E44FBF9}"/>
                </a:ext>
              </a:extLst>
            </p:cNvPr>
            <p:cNvSpPr/>
            <p:nvPr/>
          </p:nvSpPr>
          <p:spPr>
            <a:xfrm>
              <a:off x="8046720" y="219456"/>
              <a:ext cx="38405" cy="38405"/>
            </a:xfrm>
            <a:prstGeom prst="ellipse">
              <a:avLst/>
            </a:prstGeom>
            <a:solidFill>
              <a:srgbClr val="FFFFFF">
                <a:alpha val="35000"/>
              </a:srgbClr>
            </a:solidFill>
            <a:ln w="12700">
              <a:solidFill>
                <a:srgbClr val="FFFFFF"/>
              </a:solidFill>
              <a:prstDash val="solid"/>
            </a:ln>
          </p:spPr>
        </p:sp>
        <p:sp>
          <p:nvSpPr>
            <p:cNvPr id="35" name="Shape 10">
              <a:extLst>
                <a:ext uri="{FF2B5EF4-FFF2-40B4-BE49-F238E27FC236}">
                  <a16:creationId xmlns:a16="http://schemas.microsoft.com/office/drawing/2014/main" id="{BA83516F-3A9F-98F8-4009-F619C2AF3577}"/>
                </a:ext>
              </a:extLst>
            </p:cNvPr>
            <p:cNvSpPr/>
            <p:nvPr/>
          </p:nvSpPr>
          <p:spPr>
            <a:xfrm>
              <a:off x="8211312" y="219456"/>
              <a:ext cx="38405" cy="38405"/>
            </a:xfrm>
            <a:prstGeom prst="ellipse">
              <a:avLst/>
            </a:prstGeom>
            <a:solidFill>
              <a:srgbClr val="FFFFFF">
                <a:alpha val="35000"/>
              </a:srgbClr>
            </a:solidFill>
            <a:ln w="12700">
              <a:solidFill>
                <a:srgbClr val="FFFFFF"/>
              </a:solidFill>
              <a:prstDash val="solid"/>
            </a:ln>
          </p:spPr>
        </p:sp>
        <p:sp>
          <p:nvSpPr>
            <p:cNvPr id="36" name="Shape 11">
              <a:extLst>
                <a:ext uri="{FF2B5EF4-FFF2-40B4-BE49-F238E27FC236}">
                  <a16:creationId xmlns:a16="http://schemas.microsoft.com/office/drawing/2014/main" id="{38960180-8A8D-6DFC-3A0E-0398E1C665B3}"/>
                </a:ext>
              </a:extLst>
            </p:cNvPr>
            <p:cNvSpPr/>
            <p:nvPr/>
          </p:nvSpPr>
          <p:spPr>
            <a:xfrm>
              <a:off x="8375904" y="219456"/>
              <a:ext cx="38405" cy="38405"/>
            </a:xfrm>
            <a:prstGeom prst="ellipse">
              <a:avLst/>
            </a:prstGeom>
            <a:solidFill>
              <a:srgbClr val="FFFFFF">
                <a:alpha val="35000"/>
              </a:srgbClr>
            </a:solidFill>
            <a:ln w="12700">
              <a:solidFill>
                <a:srgbClr val="FFFFFF"/>
              </a:solidFill>
              <a:prstDash val="solid"/>
            </a:ln>
          </p:spPr>
        </p:sp>
        <p:sp>
          <p:nvSpPr>
            <p:cNvPr id="37" name="Shape 12">
              <a:extLst>
                <a:ext uri="{FF2B5EF4-FFF2-40B4-BE49-F238E27FC236}">
                  <a16:creationId xmlns:a16="http://schemas.microsoft.com/office/drawing/2014/main" id="{A72A36A9-9807-F829-55BB-18F60DA2A9CD}"/>
                </a:ext>
              </a:extLst>
            </p:cNvPr>
            <p:cNvSpPr/>
            <p:nvPr/>
          </p:nvSpPr>
          <p:spPr>
            <a:xfrm>
              <a:off x="8540496" y="219456"/>
              <a:ext cx="38405" cy="38405"/>
            </a:xfrm>
            <a:prstGeom prst="ellipse">
              <a:avLst/>
            </a:prstGeom>
            <a:solidFill>
              <a:srgbClr val="FFFFFF">
                <a:alpha val="35000"/>
              </a:srgbClr>
            </a:solidFill>
            <a:ln w="12700">
              <a:solidFill>
                <a:srgbClr val="FFFFFF"/>
              </a:solidFill>
              <a:prstDash val="solid"/>
            </a:ln>
          </p:spPr>
        </p:sp>
        <p:sp>
          <p:nvSpPr>
            <p:cNvPr id="38" name="Shape 13">
              <a:extLst>
                <a:ext uri="{FF2B5EF4-FFF2-40B4-BE49-F238E27FC236}">
                  <a16:creationId xmlns:a16="http://schemas.microsoft.com/office/drawing/2014/main" id="{AD782100-A76A-6E56-01D4-64219AA44436}"/>
                </a:ext>
              </a:extLst>
            </p:cNvPr>
            <p:cNvSpPr/>
            <p:nvPr/>
          </p:nvSpPr>
          <p:spPr>
            <a:xfrm>
              <a:off x="8046720" y="347472"/>
              <a:ext cx="38405" cy="38405"/>
            </a:xfrm>
            <a:prstGeom prst="ellipse">
              <a:avLst/>
            </a:prstGeom>
            <a:solidFill>
              <a:srgbClr val="FFFFFF">
                <a:alpha val="35000"/>
              </a:srgbClr>
            </a:solidFill>
            <a:ln w="12700">
              <a:solidFill>
                <a:srgbClr val="FFFFFF"/>
              </a:solidFill>
              <a:prstDash val="solid"/>
            </a:ln>
          </p:spPr>
        </p:sp>
        <p:sp>
          <p:nvSpPr>
            <p:cNvPr id="39" name="Shape 14">
              <a:extLst>
                <a:ext uri="{FF2B5EF4-FFF2-40B4-BE49-F238E27FC236}">
                  <a16:creationId xmlns:a16="http://schemas.microsoft.com/office/drawing/2014/main" id="{350EBA46-9079-6CB5-6AC0-E62E30B627ED}"/>
                </a:ext>
              </a:extLst>
            </p:cNvPr>
            <p:cNvSpPr/>
            <p:nvPr/>
          </p:nvSpPr>
          <p:spPr>
            <a:xfrm>
              <a:off x="8211312" y="347472"/>
              <a:ext cx="38405" cy="38405"/>
            </a:xfrm>
            <a:prstGeom prst="ellipse">
              <a:avLst/>
            </a:prstGeom>
            <a:solidFill>
              <a:srgbClr val="FFFFFF">
                <a:alpha val="35000"/>
              </a:srgbClr>
            </a:solidFill>
            <a:ln w="12700">
              <a:solidFill>
                <a:srgbClr val="FFFFFF"/>
              </a:solidFill>
              <a:prstDash val="solid"/>
            </a:ln>
          </p:spPr>
        </p:sp>
        <p:sp>
          <p:nvSpPr>
            <p:cNvPr id="40" name="Shape 15">
              <a:extLst>
                <a:ext uri="{FF2B5EF4-FFF2-40B4-BE49-F238E27FC236}">
                  <a16:creationId xmlns:a16="http://schemas.microsoft.com/office/drawing/2014/main" id="{72DA8FD2-22F2-2D7C-ABB8-60A7B8E7784A}"/>
                </a:ext>
              </a:extLst>
            </p:cNvPr>
            <p:cNvSpPr/>
            <p:nvPr/>
          </p:nvSpPr>
          <p:spPr>
            <a:xfrm>
              <a:off x="8375904" y="347472"/>
              <a:ext cx="38405" cy="38405"/>
            </a:xfrm>
            <a:prstGeom prst="ellipse">
              <a:avLst/>
            </a:prstGeom>
            <a:solidFill>
              <a:srgbClr val="FFFFFF">
                <a:alpha val="35000"/>
              </a:srgbClr>
            </a:solidFill>
            <a:ln w="12700">
              <a:solidFill>
                <a:srgbClr val="FFFFFF"/>
              </a:solidFill>
              <a:prstDash val="solid"/>
            </a:ln>
          </p:spPr>
        </p:sp>
        <p:sp>
          <p:nvSpPr>
            <p:cNvPr id="41" name="Shape 16">
              <a:extLst>
                <a:ext uri="{FF2B5EF4-FFF2-40B4-BE49-F238E27FC236}">
                  <a16:creationId xmlns:a16="http://schemas.microsoft.com/office/drawing/2014/main" id="{90750C28-99EE-E507-F163-EE5FFB70EB3B}"/>
                </a:ext>
              </a:extLst>
            </p:cNvPr>
            <p:cNvSpPr/>
            <p:nvPr/>
          </p:nvSpPr>
          <p:spPr>
            <a:xfrm>
              <a:off x="8540496" y="347472"/>
              <a:ext cx="38405" cy="38405"/>
            </a:xfrm>
            <a:prstGeom prst="ellipse">
              <a:avLst/>
            </a:prstGeom>
            <a:solidFill>
              <a:srgbClr val="FFFFFF">
                <a:alpha val="35000"/>
              </a:srgbClr>
            </a:solidFill>
            <a:ln w="12700">
              <a:solidFill>
                <a:srgbClr val="FFFFFF"/>
              </a:solidFill>
              <a:prstDash val="solid"/>
            </a:ln>
          </p:spPr>
        </p:sp>
        <p:pic>
          <p:nvPicPr>
            <p:cNvPr id="42" name="Picture 41">
              <a:extLst>
                <a:ext uri="{FF2B5EF4-FFF2-40B4-BE49-F238E27FC236}">
                  <a16:creationId xmlns:a16="http://schemas.microsoft.com/office/drawing/2014/main" id="{697A2DFA-17FE-4730-E1E9-E6134E5D40ED}"/>
                </a:ext>
              </a:extLst>
            </p:cNvPr>
            <p:cNvPicPr>
              <a:picLocks noChangeAspect="1"/>
            </p:cNvPicPr>
            <p:nvPr/>
          </p:nvPicPr>
          <p:blipFill>
            <a:blip r:embed="rId5"/>
            <a:srcRect l="20128" t="19209" r="10255" b="19209"/>
            <a:stretch/>
          </p:blipFill>
          <p:spPr>
            <a:xfrm>
              <a:off x="-71718" y="-18464"/>
              <a:ext cx="927596" cy="575483"/>
            </a:xfrm>
            <a:prstGeom prst="rect">
              <a:avLst/>
            </a:prstGeom>
          </p:spPr>
        </p:pic>
      </p:grpSp>
      <p:sp>
        <p:nvSpPr>
          <p:cNvPr id="44" name="Shape 12">
            <a:extLst>
              <a:ext uri="{FF2B5EF4-FFF2-40B4-BE49-F238E27FC236}">
                <a16:creationId xmlns:a16="http://schemas.microsoft.com/office/drawing/2014/main" id="{602020F9-8F8E-078B-7ECF-EBD20A2EBEDF}"/>
              </a:ext>
            </a:extLst>
          </p:cNvPr>
          <p:cNvSpPr/>
          <p:nvPr/>
        </p:nvSpPr>
        <p:spPr>
          <a:xfrm>
            <a:off x="4870028" y="5513390"/>
            <a:ext cx="2629320" cy="379492"/>
          </a:xfrm>
          <a:prstGeom prst="roundRect">
            <a:avLst>
              <a:gd name="adj" fmla="val 8348"/>
            </a:avLst>
          </a:prstGeom>
          <a:solidFill>
            <a:srgbClr val="FFFFFF">
              <a:alpha val="72000"/>
            </a:srgbClr>
          </a:solidFill>
          <a:ln w="7056">
            <a:solidFill>
              <a:srgbClr val="CDD9EA"/>
            </a:solidFill>
            <a:prstDash val="solid"/>
          </a:ln>
        </p:spPr>
        <p:txBody>
          <a:bodyPr/>
          <a:lstStyle/>
          <a:p>
            <a:pPr algn="ctr"/>
            <a:r>
              <a:rPr lang="en-US" sz="1200" dirty="0">
                <a:solidFill>
                  <a:srgbClr val="0A1733"/>
                </a:solidFill>
                <a:latin typeface="IBM Plex Mono" pitchFamily="34" charset="0"/>
                <a:ea typeface="IBM Plex Mono" pitchFamily="34" charset="-122"/>
                <a:cs typeface="IBM Plex Mono" pitchFamily="34" charset="-120"/>
              </a:rPr>
              <a:t>class weights [1 · 2 · 5]</a:t>
            </a:r>
            <a:endParaRPr lang="en-US" sz="1200" dirty="0"/>
          </a:p>
          <a:p>
            <a:endParaRPr lang="en-US" sz="2400" dirty="0"/>
          </a:p>
        </p:txBody>
      </p:sp>
      <p:sp>
        <p:nvSpPr>
          <p:cNvPr id="45" name="Shape 12">
            <a:extLst>
              <a:ext uri="{FF2B5EF4-FFF2-40B4-BE49-F238E27FC236}">
                <a16:creationId xmlns:a16="http://schemas.microsoft.com/office/drawing/2014/main" id="{6A21AF6B-9D89-008E-CD13-467C370F3625}"/>
              </a:ext>
            </a:extLst>
          </p:cNvPr>
          <p:cNvSpPr/>
          <p:nvPr/>
        </p:nvSpPr>
        <p:spPr>
          <a:xfrm>
            <a:off x="7684710" y="5514491"/>
            <a:ext cx="3064569" cy="379492"/>
          </a:xfrm>
          <a:prstGeom prst="roundRect">
            <a:avLst>
              <a:gd name="adj" fmla="val 8348"/>
            </a:avLst>
          </a:prstGeom>
          <a:solidFill>
            <a:srgbClr val="FFFFFF">
              <a:alpha val="72000"/>
            </a:srgbClr>
          </a:solidFill>
          <a:ln w="7056">
            <a:solidFill>
              <a:srgbClr val="CDD9EA"/>
            </a:solidFill>
            <a:prstDash val="solid"/>
          </a:ln>
        </p:spPr>
        <p:txBody>
          <a:bodyPr/>
          <a:lstStyle/>
          <a:p>
            <a:r>
              <a:rPr lang="en-US" sz="1067" dirty="0">
                <a:solidFill>
                  <a:srgbClr val="0A1733"/>
                </a:solidFill>
                <a:latin typeface="IBM Plex Mono" pitchFamily="34" charset="0"/>
                <a:ea typeface="IBM Plex Mono" pitchFamily="34" charset="-122"/>
                <a:cs typeface="IBM Plex Mono" pitchFamily="34" charset="-120"/>
              </a:rPr>
              <a:t>no SMOTE — imbalance at loss level</a:t>
            </a:r>
            <a:endParaRPr lang="en-US" sz="1067" dirty="0"/>
          </a:p>
          <a:p>
            <a:endParaRPr lang="en-US" sz="2400" dirty="0"/>
          </a:p>
        </p:txBody>
      </p:sp>
      <p:sp>
        <p:nvSpPr>
          <p:cNvPr id="3" name="TopLabel">
            <a:extLst>
              <a:ext uri="{FF2B5EF4-FFF2-40B4-BE49-F238E27FC236}">
                <a16:creationId xmlns:a16="http://schemas.microsoft.com/office/drawing/2014/main" id="{5915431F-4D49-014E-4C44-9F15A0C1ECD9}"/>
              </a:ext>
            </a:extLst>
          </p:cNvPr>
          <p:cNvSpPr>
            <a:spLocks noGrp="1"/>
          </p:cNvSpPr>
          <p:nvPr/>
        </p:nvSpPr>
        <p:spPr>
          <a:xfrm>
            <a:off x="1266667" y="66667"/>
            <a:ext cx="7333333" cy="600000"/>
          </a:xfrm>
          <a:prstGeom prst="rect">
            <a:avLst/>
          </a:prstGeom>
          <a:noFill/>
          <a:ln>
            <a:noFill/>
          </a:ln>
        </p:spPr>
        <p:txBody>
          <a:bodyPr wrap="square" lIns="0" tIns="0" rIns="0" bIns="0" rtlCol="0" anchor="ctr">
            <a:normAutofit/>
          </a:bodyPr>
          <a:lstStyle/>
          <a:p>
            <a:r>
              <a:rPr lang="en-US" sz="3200" b="1" dirty="0">
                <a:solidFill>
                  <a:schemeClr val="bg1"/>
                </a:solidFill>
              </a:rPr>
              <a:t>METHODOLOGY</a:t>
            </a:r>
            <a:endParaRPr lang="en-US" sz="3200" b="1" dirty="0">
              <a:solidFill>
                <a:srgbClr val="FFFFFF"/>
              </a:solidFill>
              <a:latin typeface="Calibri"/>
              <a:ea typeface="Calibri"/>
              <a:cs typeface="Calibri"/>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003366"/>
        </a:solidFill>
        <a:effectLst/>
      </p:bgPr>
    </p:bg>
    <p:spTree>
      <p:nvGrpSpPr>
        <p:cNvPr id="1" name=""/>
        <p:cNvGrpSpPr/>
        <p:nvPr/>
      </p:nvGrpSpPr>
      <p:grpSpPr>
        <a:xfrm>
          <a:off x="0" y="0"/>
          <a:ext cx="0" cy="0"/>
          <a:chOff x="0" y="0"/>
          <a:chExt cx="0" cy="0"/>
        </a:xfrm>
      </p:grpSpPr>
      <p:sp>
        <p:nvSpPr>
          <p:cNvPr id="2" name="TextBox 1"/>
          <p:cNvSpPr txBox="1"/>
          <p:nvPr/>
        </p:nvSpPr>
        <p:spPr>
          <a:xfrm>
            <a:off x="822960" y="2743200"/>
            <a:ext cx="10515600" cy="1044453"/>
          </a:xfrm>
          <a:prstGeom prst="rect">
            <a:avLst/>
          </a:prstGeom>
          <a:noFill/>
        </p:spPr>
        <p:txBody>
          <a:bodyPr wrap="square">
            <a:spAutoFit/>
          </a:bodyPr>
          <a:lstStyle/>
          <a:p>
            <a:pPr algn="l">
              <a:lnSpc>
                <a:spcPct val="150000"/>
              </a:lnSpc>
              <a:spcAft>
                <a:spcPts val="600"/>
              </a:spcAft>
            </a:pPr>
            <a:r>
              <a:rPr sz="4600" b="1" dirty="0">
                <a:solidFill>
                  <a:srgbClr val="FFFFFF"/>
                </a:solidFill>
                <a:latin typeface="Calibri"/>
              </a:rPr>
              <a:t>4 · Results </a:t>
            </a:r>
          </a:p>
        </p:txBody>
      </p:sp>
      <p:sp>
        <p:nvSpPr>
          <p:cNvPr id="3" name="Rectangle 2"/>
          <p:cNvSpPr/>
          <p:nvPr/>
        </p:nvSpPr>
        <p:spPr>
          <a:xfrm>
            <a:off x="868680" y="3886200"/>
            <a:ext cx="2926080" cy="73152"/>
          </a:xfrm>
          <a:prstGeom prst="rect">
            <a:avLst/>
          </a:prstGeom>
          <a:solidFill>
            <a:srgbClr val="00A0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0" descr="preencoded.png">
            <a:extLst>
              <a:ext uri="{FF2B5EF4-FFF2-40B4-BE49-F238E27FC236}">
                <a16:creationId xmlns:a16="http://schemas.microsoft.com/office/drawing/2014/main" id="{294A06CA-A6B0-B444-889C-B28506C606FE}"/>
              </a:ext>
            </a:extLst>
          </p:cNvPr>
          <p:cNvPicPr>
            <a:picLocks noChangeAspect="1"/>
          </p:cNvPicPr>
          <p:nvPr/>
        </p:nvPicPr>
        <p:blipFill>
          <a:blip r:embed="rId3"/>
          <a:srcRect/>
          <a:stretch/>
        </p:blipFill>
        <p:spPr>
          <a:xfrm>
            <a:off x="7868" y="-291"/>
            <a:ext cx="12191928" cy="6857928"/>
          </a:xfrm>
          <a:prstGeom prst="rect">
            <a:avLst/>
          </a:prstGeom>
        </p:spPr>
      </p:pic>
      <p:sp>
        <p:nvSpPr>
          <p:cNvPr id="4" name="Shape 2"/>
          <p:cNvSpPr/>
          <p:nvPr/>
        </p:nvSpPr>
        <p:spPr>
          <a:xfrm>
            <a:off x="2027464" y="851528"/>
            <a:ext cx="2621280" cy="1645920"/>
          </a:xfrm>
          <a:prstGeom prst="rect">
            <a:avLst/>
          </a:prstGeom>
          <a:solidFill>
            <a:srgbClr val="FFFFFF"/>
          </a:solidFill>
          <a:ln w="12700">
            <a:solidFill>
              <a:srgbClr val="DDE3ED"/>
            </a:solidFill>
            <a:prstDash val="solid"/>
          </a:ln>
          <a:effectLst>
            <a:outerShdw blurRad="101600" dist="25400" dir="8100000" algn="bl" rotWithShape="0">
              <a:srgbClr val="000000">
                <a:alpha val="8000"/>
              </a:srgbClr>
            </a:outerShdw>
          </a:effectLst>
        </p:spPr>
      </p:sp>
      <p:sp>
        <p:nvSpPr>
          <p:cNvPr id="5" name="Text 3"/>
          <p:cNvSpPr/>
          <p:nvPr/>
        </p:nvSpPr>
        <p:spPr>
          <a:xfrm>
            <a:off x="2149384" y="997832"/>
            <a:ext cx="2377440" cy="731520"/>
          </a:xfrm>
          <a:prstGeom prst="rect">
            <a:avLst/>
          </a:prstGeom>
          <a:noFill/>
          <a:ln/>
        </p:spPr>
        <p:txBody>
          <a:bodyPr wrap="square" rtlCol="0" anchor="ctr"/>
          <a:lstStyle/>
          <a:p>
            <a:pPr algn="ctr"/>
            <a:r>
              <a:rPr lang="en-US" sz="4533" b="1" dirty="0">
                <a:solidFill>
                  <a:srgbClr val="1DA462"/>
                </a:solidFill>
                <a:latin typeface="Calibri" pitchFamily="34" charset="0"/>
                <a:ea typeface="Calibri" pitchFamily="34" charset="-122"/>
                <a:cs typeface="Calibri" pitchFamily="34" charset="-120"/>
              </a:rPr>
              <a:t>0.821</a:t>
            </a:r>
            <a:endParaRPr lang="en-US" sz="4533" dirty="0"/>
          </a:p>
        </p:txBody>
      </p:sp>
      <p:sp>
        <p:nvSpPr>
          <p:cNvPr id="6" name="Text 4"/>
          <p:cNvSpPr/>
          <p:nvPr/>
        </p:nvSpPr>
        <p:spPr>
          <a:xfrm>
            <a:off x="2149384" y="1704968"/>
            <a:ext cx="2377440" cy="365760"/>
          </a:xfrm>
          <a:prstGeom prst="rect">
            <a:avLst/>
          </a:prstGeom>
          <a:noFill/>
          <a:ln/>
        </p:spPr>
        <p:txBody>
          <a:bodyPr wrap="square" rtlCol="0" anchor="ctr"/>
          <a:lstStyle/>
          <a:p>
            <a:pPr algn="ctr"/>
            <a:r>
              <a:rPr lang="en-US" sz="1467" b="1" dirty="0">
                <a:solidFill>
                  <a:srgbClr val="0A1F44"/>
                </a:solidFill>
                <a:latin typeface="Calibri" pitchFamily="34" charset="0"/>
                <a:ea typeface="Calibri" pitchFamily="34" charset="-122"/>
                <a:cs typeface="Calibri" pitchFamily="34" charset="-120"/>
              </a:rPr>
              <a:t>Macro-F1  +5 s</a:t>
            </a:r>
            <a:endParaRPr lang="en-US" sz="1467" dirty="0"/>
          </a:p>
        </p:txBody>
      </p:sp>
      <p:sp>
        <p:nvSpPr>
          <p:cNvPr id="7" name="Text 5"/>
          <p:cNvSpPr/>
          <p:nvPr/>
        </p:nvSpPr>
        <p:spPr>
          <a:xfrm>
            <a:off x="2149384" y="2058536"/>
            <a:ext cx="2377440" cy="304800"/>
          </a:xfrm>
          <a:prstGeom prst="rect">
            <a:avLst/>
          </a:prstGeom>
          <a:noFill/>
          <a:ln/>
        </p:spPr>
        <p:txBody>
          <a:bodyPr wrap="square" rtlCol="0" anchor="ctr"/>
          <a:lstStyle/>
          <a:p>
            <a:pPr algn="ctr"/>
            <a:r>
              <a:rPr lang="en-US" sz="1200" dirty="0">
                <a:solidFill>
                  <a:srgbClr val="8493A8"/>
                </a:solidFill>
                <a:latin typeface="Calibri" pitchFamily="34" charset="0"/>
                <a:ea typeface="Calibri" pitchFamily="34" charset="-122"/>
                <a:cs typeface="Calibri" pitchFamily="34" charset="-120"/>
              </a:rPr>
              <a:t>MCC = 0.773  |  CI [0.798–0.840]</a:t>
            </a:r>
            <a:endParaRPr lang="en-US" sz="1200" dirty="0"/>
          </a:p>
        </p:txBody>
      </p:sp>
      <p:sp>
        <p:nvSpPr>
          <p:cNvPr id="8" name="Shape 6"/>
          <p:cNvSpPr/>
          <p:nvPr/>
        </p:nvSpPr>
        <p:spPr>
          <a:xfrm>
            <a:off x="4831624" y="851528"/>
            <a:ext cx="2621280" cy="1645920"/>
          </a:xfrm>
          <a:prstGeom prst="rect">
            <a:avLst/>
          </a:prstGeom>
          <a:solidFill>
            <a:srgbClr val="FFFFFF"/>
          </a:solidFill>
          <a:ln w="12700">
            <a:solidFill>
              <a:srgbClr val="DDE3ED"/>
            </a:solidFill>
            <a:prstDash val="solid"/>
          </a:ln>
          <a:effectLst>
            <a:outerShdw blurRad="101600" dist="25400" dir="8100000" algn="bl" rotWithShape="0">
              <a:srgbClr val="000000">
                <a:alpha val="8000"/>
              </a:srgbClr>
            </a:outerShdw>
          </a:effectLst>
        </p:spPr>
      </p:sp>
      <p:sp>
        <p:nvSpPr>
          <p:cNvPr id="9" name="Text 7"/>
          <p:cNvSpPr/>
          <p:nvPr/>
        </p:nvSpPr>
        <p:spPr>
          <a:xfrm>
            <a:off x="4953544" y="997832"/>
            <a:ext cx="2377440" cy="731520"/>
          </a:xfrm>
          <a:prstGeom prst="rect">
            <a:avLst/>
          </a:prstGeom>
          <a:noFill/>
          <a:ln/>
        </p:spPr>
        <p:txBody>
          <a:bodyPr wrap="square" rtlCol="0" anchor="ctr"/>
          <a:lstStyle/>
          <a:p>
            <a:pPr algn="ctr"/>
            <a:r>
              <a:rPr lang="en-US" sz="4533" b="1" dirty="0">
                <a:solidFill>
                  <a:srgbClr val="D97706"/>
                </a:solidFill>
                <a:latin typeface="Calibri" pitchFamily="34" charset="0"/>
                <a:ea typeface="Calibri" pitchFamily="34" charset="-122"/>
                <a:cs typeface="Calibri" pitchFamily="34" charset="-120"/>
              </a:rPr>
              <a:t>0.741</a:t>
            </a:r>
            <a:endParaRPr lang="en-US" sz="4533" dirty="0"/>
          </a:p>
        </p:txBody>
      </p:sp>
      <p:sp>
        <p:nvSpPr>
          <p:cNvPr id="10" name="Text 8"/>
          <p:cNvSpPr/>
          <p:nvPr/>
        </p:nvSpPr>
        <p:spPr>
          <a:xfrm>
            <a:off x="4953544" y="1704968"/>
            <a:ext cx="2377440" cy="365760"/>
          </a:xfrm>
          <a:prstGeom prst="rect">
            <a:avLst/>
          </a:prstGeom>
          <a:noFill/>
          <a:ln/>
        </p:spPr>
        <p:txBody>
          <a:bodyPr wrap="square" rtlCol="0" anchor="ctr"/>
          <a:lstStyle/>
          <a:p>
            <a:pPr algn="ctr"/>
            <a:r>
              <a:rPr lang="en-US" sz="1467" b="1" dirty="0">
                <a:solidFill>
                  <a:srgbClr val="0A1F44"/>
                </a:solidFill>
                <a:latin typeface="Calibri" pitchFamily="34" charset="0"/>
                <a:ea typeface="Calibri" pitchFamily="34" charset="-122"/>
                <a:cs typeface="Calibri" pitchFamily="34" charset="-120"/>
              </a:rPr>
              <a:t>Macro-F1  +15 s</a:t>
            </a:r>
            <a:endParaRPr lang="en-US" sz="1467" dirty="0"/>
          </a:p>
        </p:txBody>
      </p:sp>
      <p:sp>
        <p:nvSpPr>
          <p:cNvPr id="11" name="Text 9"/>
          <p:cNvSpPr/>
          <p:nvPr/>
        </p:nvSpPr>
        <p:spPr>
          <a:xfrm>
            <a:off x="4953544" y="2058536"/>
            <a:ext cx="2377440" cy="304800"/>
          </a:xfrm>
          <a:prstGeom prst="rect">
            <a:avLst/>
          </a:prstGeom>
          <a:noFill/>
          <a:ln/>
        </p:spPr>
        <p:txBody>
          <a:bodyPr wrap="square" rtlCol="0" anchor="ctr"/>
          <a:lstStyle/>
          <a:p>
            <a:pPr algn="ctr"/>
            <a:r>
              <a:rPr lang="en-US" sz="1200" dirty="0">
                <a:solidFill>
                  <a:srgbClr val="8493A8"/>
                </a:solidFill>
                <a:latin typeface="Calibri" pitchFamily="34" charset="0"/>
                <a:ea typeface="Calibri" pitchFamily="34" charset="-122"/>
                <a:cs typeface="Calibri" pitchFamily="34" charset="-120"/>
              </a:rPr>
              <a:t>MCC = 0.691  |  CI [0.717–0.764]</a:t>
            </a:r>
            <a:endParaRPr lang="en-US" sz="1200" dirty="0"/>
          </a:p>
        </p:txBody>
      </p:sp>
      <p:sp>
        <p:nvSpPr>
          <p:cNvPr id="12" name="Shape 10"/>
          <p:cNvSpPr/>
          <p:nvPr/>
        </p:nvSpPr>
        <p:spPr>
          <a:xfrm>
            <a:off x="7635784" y="851528"/>
            <a:ext cx="2621280" cy="1645920"/>
          </a:xfrm>
          <a:prstGeom prst="rect">
            <a:avLst/>
          </a:prstGeom>
          <a:solidFill>
            <a:srgbClr val="FFFFFF"/>
          </a:solidFill>
          <a:ln w="12700">
            <a:solidFill>
              <a:srgbClr val="DDE3ED"/>
            </a:solidFill>
            <a:prstDash val="solid"/>
          </a:ln>
          <a:effectLst>
            <a:outerShdw blurRad="101600" dist="25400" dir="8100000" algn="bl" rotWithShape="0">
              <a:srgbClr val="000000">
                <a:alpha val="8000"/>
              </a:srgbClr>
            </a:outerShdw>
          </a:effectLst>
        </p:spPr>
      </p:sp>
      <p:sp>
        <p:nvSpPr>
          <p:cNvPr id="13" name="Text 11"/>
          <p:cNvSpPr/>
          <p:nvPr/>
        </p:nvSpPr>
        <p:spPr>
          <a:xfrm>
            <a:off x="7757704" y="997832"/>
            <a:ext cx="2377440" cy="731520"/>
          </a:xfrm>
          <a:prstGeom prst="rect">
            <a:avLst/>
          </a:prstGeom>
          <a:noFill/>
          <a:ln/>
        </p:spPr>
        <p:txBody>
          <a:bodyPr wrap="square" rtlCol="0" anchor="ctr"/>
          <a:lstStyle/>
          <a:p>
            <a:pPr algn="ctr"/>
            <a:r>
              <a:rPr lang="en-US" sz="4533" b="1" dirty="0">
                <a:solidFill>
                  <a:srgbClr val="C8102E"/>
                </a:solidFill>
                <a:latin typeface="Calibri" pitchFamily="34" charset="0"/>
                <a:ea typeface="Calibri" pitchFamily="34" charset="-122"/>
                <a:cs typeface="Calibri" pitchFamily="34" charset="-120"/>
              </a:rPr>
              <a:t>0.783</a:t>
            </a:r>
            <a:endParaRPr lang="en-US" sz="4533" dirty="0"/>
          </a:p>
        </p:txBody>
      </p:sp>
      <p:sp>
        <p:nvSpPr>
          <p:cNvPr id="14" name="Text 12"/>
          <p:cNvSpPr/>
          <p:nvPr/>
        </p:nvSpPr>
        <p:spPr>
          <a:xfrm>
            <a:off x="7757704" y="1704968"/>
            <a:ext cx="2377440" cy="365760"/>
          </a:xfrm>
          <a:prstGeom prst="rect">
            <a:avLst/>
          </a:prstGeom>
          <a:noFill/>
          <a:ln/>
        </p:spPr>
        <p:txBody>
          <a:bodyPr wrap="square" rtlCol="0" anchor="ctr"/>
          <a:lstStyle/>
          <a:p>
            <a:pPr algn="ctr"/>
            <a:r>
              <a:rPr lang="en-US" sz="1467" b="1" dirty="0">
                <a:solidFill>
                  <a:srgbClr val="0A1F44"/>
                </a:solidFill>
                <a:latin typeface="Calibri" pitchFamily="34" charset="0"/>
                <a:ea typeface="Calibri" pitchFamily="34" charset="-122"/>
                <a:cs typeface="Calibri" pitchFamily="34" charset="-120"/>
              </a:rPr>
              <a:t>Macro-F1  +30 s</a:t>
            </a:r>
            <a:endParaRPr lang="en-US" sz="1467" dirty="0"/>
          </a:p>
        </p:txBody>
      </p:sp>
      <p:sp>
        <p:nvSpPr>
          <p:cNvPr id="15" name="Text 13"/>
          <p:cNvSpPr/>
          <p:nvPr/>
        </p:nvSpPr>
        <p:spPr>
          <a:xfrm>
            <a:off x="7757704" y="2058536"/>
            <a:ext cx="2377440" cy="304800"/>
          </a:xfrm>
          <a:prstGeom prst="rect">
            <a:avLst/>
          </a:prstGeom>
          <a:noFill/>
          <a:ln/>
        </p:spPr>
        <p:txBody>
          <a:bodyPr wrap="square" rtlCol="0" anchor="ctr"/>
          <a:lstStyle/>
          <a:p>
            <a:pPr algn="ctr"/>
            <a:r>
              <a:rPr lang="en-US" sz="1200" dirty="0">
                <a:solidFill>
                  <a:srgbClr val="8493A8"/>
                </a:solidFill>
                <a:latin typeface="Calibri" pitchFamily="34" charset="0"/>
                <a:ea typeface="Calibri" pitchFamily="34" charset="-122"/>
                <a:cs typeface="Calibri" pitchFamily="34" charset="-120"/>
              </a:rPr>
              <a:t>MCC = 0.731  |  CI [0.758–0.804]</a:t>
            </a:r>
            <a:endParaRPr lang="en-US" sz="1200" dirty="0"/>
          </a:p>
        </p:txBody>
      </p:sp>
      <p:sp>
        <p:nvSpPr>
          <p:cNvPr id="16" name="Shape 14"/>
          <p:cNvSpPr/>
          <p:nvPr/>
        </p:nvSpPr>
        <p:spPr>
          <a:xfrm>
            <a:off x="19994" y="2802248"/>
            <a:ext cx="6643565" cy="633984"/>
          </a:xfrm>
          <a:prstGeom prst="rect">
            <a:avLst/>
          </a:prstGeom>
          <a:solidFill>
            <a:srgbClr val="0A1F44">
              <a:alpha val="94000"/>
            </a:srgbClr>
          </a:solidFill>
          <a:ln w="12700">
            <a:solidFill>
              <a:srgbClr val="0A1F44"/>
            </a:solidFill>
            <a:prstDash val="solid"/>
          </a:ln>
        </p:spPr>
      </p:sp>
      <p:sp>
        <p:nvSpPr>
          <p:cNvPr id="17" name="Text 15"/>
          <p:cNvSpPr/>
          <p:nvPr/>
        </p:nvSpPr>
        <p:spPr>
          <a:xfrm>
            <a:off x="141914" y="2838824"/>
            <a:ext cx="7498080" cy="536448"/>
          </a:xfrm>
          <a:prstGeom prst="rect">
            <a:avLst/>
          </a:prstGeom>
          <a:noFill/>
          <a:ln/>
        </p:spPr>
        <p:txBody>
          <a:bodyPr wrap="square" rtlCol="0" anchor="ctr"/>
          <a:lstStyle/>
          <a:p>
            <a:r>
              <a:rPr lang="en-US" sz="1400" i="1" dirty="0">
                <a:solidFill>
                  <a:srgbClr val="FFFFFF"/>
                </a:solidFill>
                <a:latin typeface="Calibri" pitchFamily="34" charset="0"/>
                <a:ea typeface="Calibri" pitchFamily="34" charset="-122"/>
                <a:cs typeface="Calibri" pitchFamily="34" charset="-120"/>
              </a:rPr>
              <a:t>30-second warning with Macro-F1 = 0.783 — nearly as strong as 5-second prediction</a:t>
            </a:r>
            <a:endParaRPr lang="en-US" sz="1400" dirty="0"/>
          </a:p>
        </p:txBody>
      </p:sp>
      <p:graphicFrame>
        <p:nvGraphicFramePr>
          <p:cNvPr id="20" name="Table 0"/>
          <p:cNvGraphicFramePr>
            <a:graphicFrameLocks noGrp="1"/>
          </p:cNvGraphicFramePr>
          <p:nvPr/>
        </p:nvGraphicFramePr>
        <p:xfrm>
          <a:off x="19994" y="3551548"/>
          <a:ext cx="6616744" cy="1859787"/>
        </p:xfrm>
        <a:graphic>
          <a:graphicData uri="http://schemas.openxmlformats.org/drawingml/2006/table">
            <a:tbl>
              <a:tblPr/>
              <a:tblGrid>
                <a:gridCol w="1265812">
                  <a:extLst>
                    <a:ext uri="{9D8B030D-6E8A-4147-A177-3AD203B41FA5}">
                      <a16:colId xmlns:a16="http://schemas.microsoft.com/office/drawing/2014/main" val="20000"/>
                    </a:ext>
                  </a:extLst>
                </a:gridCol>
                <a:gridCol w="1265812">
                  <a:extLst>
                    <a:ext uri="{9D8B030D-6E8A-4147-A177-3AD203B41FA5}">
                      <a16:colId xmlns:a16="http://schemas.microsoft.com/office/drawing/2014/main" val="20001"/>
                    </a:ext>
                  </a:extLst>
                </a:gridCol>
                <a:gridCol w="1553496">
                  <a:extLst>
                    <a:ext uri="{9D8B030D-6E8A-4147-A177-3AD203B41FA5}">
                      <a16:colId xmlns:a16="http://schemas.microsoft.com/office/drawing/2014/main" val="20002"/>
                    </a:ext>
                  </a:extLst>
                </a:gridCol>
                <a:gridCol w="1265812">
                  <a:extLst>
                    <a:ext uri="{9D8B030D-6E8A-4147-A177-3AD203B41FA5}">
                      <a16:colId xmlns:a16="http://schemas.microsoft.com/office/drawing/2014/main" val="20003"/>
                    </a:ext>
                  </a:extLst>
                </a:gridCol>
                <a:gridCol w="1265812">
                  <a:extLst>
                    <a:ext uri="{9D8B030D-6E8A-4147-A177-3AD203B41FA5}">
                      <a16:colId xmlns:a16="http://schemas.microsoft.com/office/drawing/2014/main" val="20004"/>
                    </a:ext>
                  </a:extLst>
                </a:gridCol>
              </a:tblGrid>
              <a:tr h="426201">
                <a:tc>
                  <a:txBody>
                    <a:bodyPr/>
                    <a:lstStyle/>
                    <a:p>
                      <a:pPr marL="0" indent="0" algn="ctr">
                        <a:buNone/>
                      </a:pPr>
                      <a:r>
                        <a:rPr lang="en-US" sz="1500" b="1" dirty="0">
                          <a:solidFill>
                            <a:srgbClr val="000000"/>
                          </a:solidFill>
                          <a:latin typeface="Calibri" pitchFamily="34" charset="0"/>
                          <a:ea typeface="Calibri" pitchFamily="34" charset="-122"/>
                          <a:cs typeface="Calibri" pitchFamily="34" charset="-120"/>
                        </a:rPr>
                        <a:t>Horizon</a:t>
                      </a:r>
                      <a:endParaRPr lang="en-US" sz="1500" dirty="0">
                        <a:latin typeface="Calibri" charset="0"/>
                        <a:ea typeface="Calibri" charset="0"/>
                        <a:cs typeface="Calibri" charset="0"/>
                      </a:endParaRPr>
                    </a:p>
                  </a:txBody>
                  <a:tcPr marL="121920" marR="121920" marT="60960" marB="60960" anchor="ctr">
                    <a:lnL w="6350" cap="flat" cmpd="sng" algn="ctr">
                      <a:solidFill>
                        <a:srgbClr val="DDE3ED"/>
                      </a:solidFill>
                      <a:prstDash val="solid"/>
                      <a:round/>
                      <a:headEnd type="none" w="med" len="med"/>
                      <a:tailEnd type="none" w="med" len="med"/>
                    </a:lnL>
                    <a:lnR w="6350" cap="flat" cmpd="sng" algn="ctr">
                      <a:solidFill>
                        <a:srgbClr val="DDE3ED"/>
                      </a:solidFill>
                      <a:prstDash val="solid"/>
                      <a:round/>
                      <a:headEnd type="none" w="med" len="med"/>
                      <a:tailEnd type="none" w="med" len="med"/>
                    </a:lnR>
                    <a:lnT w="6350" cap="flat" cmpd="sng" algn="ctr">
                      <a:solidFill>
                        <a:srgbClr val="DDE3ED"/>
                      </a:solidFill>
                      <a:prstDash val="solid"/>
                      <a:round/>
                      <a:headEnd type="none" w="med" len="med"/>
                      <a:tailEnd type="none" w="med" len="med"/>
                    </a:lnT>
                    <a:lnB w="6350" cap="flat" cmpd="sng" algn="ctr">
                      <a:solidFill>
                        <a:srgbClr val="DDE3ED"/>
                      </a:solidFill>
                      <a:prstDash val="solid"/>
                      <a:round/>
                      <a:headEnd type="none" w="med" len="med"/>
                      <a:tailEnd type="none" w="med" len="med"/>
                    </a:lnB>
                    <a:solidFill>
                      <a:srgbClr val="FFFFFF"/>
                    </a:solidFill>
                  </a:tcPr>
                </a:tc>
                <a:tc>
                  <a:txBody>
                    <a:bodyPr/>
                    <a:lstStyle/>
                    <a:p>
                      <a:pPr marL="0" indent="0" algn="ctr">
                        <a:buNone/>
                      </a:pPr>
                      <a:r>
                        <a:rPr lang="en-US" sz="1500" b="1" dirty="0">
                          <a:solidFill>
                            <a:srgbClr val="000000"/>
                          </a:solidFill>
                          <a:latin typeface="Calibri" pitchFamily="34" charset="0"/>
                          <a:ea typeface="Calibri" pitchFamily="34" charset="-122"/>
                          <a:cs typeface="Calibri" pitchFamily="34" charset="-120"/>
                        </a:rPr>
                        <a:t>Acc</a:t>
                      </a:r>
                      <a:endParaRPr lang="en-US" sz="1500" dirty="0">
                        <a:latin typeface="Calibri" charset="0"/>
                        <a:ea typeface="Calibri" charset="0"/>
                        <a:cs typeface="Calibri" charset="0"/>
                      </a:endParaRPr>
                    </a:p>
                  </a:txBody>
                  <a:tcPr marL="121920" marR="121920" marT="60960" marB="60960" anchor="ctr">
                    <a:lnL w="6350" cap="flat" cmpd="sng" algn="ctr">
                      <a:solidFill>
                        <a:srgbClr val="DDE3ED"/>
                      </a:solidFill>
                      <a:prstDash val="solid"/>
                      <a:round/>
                      <a:headEnd type="none" w="med" len="med"/>
                      <a:tailEnd type="none" w="med" len="med"/>
                    </a:lnL>
                    <a:lnR w="6350" cap="flat" cmpd="sng" algn="ctr">
                      <a:solidFill>
                        <a:srgbClr val="DDE3ED"/>
                      </a:solidFill>
                      <a:prstDash val="solid"/>
                      <a:round/>
                      <a:headEnd type="none" w="med" len="med"/>
                      <a:tailEnd type="none" w="med" len="med"/>
                    </a:lnR>
                    <a:lnT w="6350" cap="flat" cmpd="sng" algn="ctr">
                      <a:solidFill>
                        <a:srgbClr val="DDE3ED"/>
                      </a:solidFill>
                      <a:prstDash val="solid"/>
                      <a:round/>
                      <a:headEnd type="none" w="med" len="med"/>
                      <a:tailEnd type="none" w="med" len="med"/>
                    </a:lnT>
                    <a:lnB w="6350" cap="flat" cmpd="sng" algn="ctr">
                      <a:solidFill>
                        <a:srgbClr val="DDE3ED"/>
                      </a:solidFill>
                      <a:prstDash val="solid"/>
                      <a:round/>
                      <a:headEnd type="none" w="med" len="med"/>
                      <a:tailEnd type="none" w="med" len="med"/>
                    </a:lnB>
                    <a:solidFill>
                      <a:srgbClr val="FFFFFF"/>
                    </a:solidFill>
                  </a:tcPr>
                </a:tc>
                <a:tc>
                  <a:txBody>
                    <a:bodyPr/>
                    <a:lstStyle/>
                    <a:p>
                      <a:pPr marL="0" indent="0" algn="ctr">
                        <a:buNone/>
                      </a:pPr>
                      <a:r>
                        <a:rPr lang="en-US" sz="1500" b="1" dirty="0">
                          <a:solidFill>
                            <a:srgbClr val="000000"/>
                          </a:solidFill>
                          <a:latin typeface="Calibri" pitchFamily="34" charset="0"/>
                          <a:ea typeface="Calibri" pitchFamily="34" charset="-122"/>
                          <a:cs typeface="Calibri" pitchFamily="34" charset="-120"/>
                        </a:rPr>
                        <a:t>Macro-F1</a:t>
                      </a:r>
                      <a:endParaRPr lang="en-US" sz="1500" dirty="0">
                        <a:latin typeface="Calibri" charset="0"/>
                        <a:ea typeface="Calibri" charset="0"/>
                        <a:cs typeface="Calibri" charset="0"/>
                      </a:endParaRPr>
                    </a:p>
                  </a:txBody>
                  <a:tcPr marL="121920" marR="121920" marT="60960" marB="60960" anchor="ctr">
                    <a:lnL w="6350" cap="flat" cmpd="sng" algn="ctr">
                      <a:solidFill>
                        <a:srgbClr val="DDE3ED"/>
                      </a:solidFill>
                      <a:prstDash val="solid"/>
                      <a:round/>
                      <a:headEnd type="none" w="med" len="med"/>
                      <a:tailEnd type="none" w="med" len="med"/>
                    </a:lnL>
                    <a:lnR w="6350" cap="flat" cmpd="sng" algn="ctr">
                      <a:solidFill>
                        <a:srgbClr val="DDE3ED"/>
                      </a:solidFill>
                      <a:prstDash val="solid"/>
                      <a:round/>
                      <a:headEnd type="none" w="med" len="med"/>
                      <a:tailEnd type="none" w="med" len="med"/>
                    </a:lnR>
                    <a:lnT w="6350" cap="flat" cmpd="sng" algn="ctr">
                      <a:solidFill>
                        <a:srgbClr val="DDE3ED"/>
                      </a:solidFill>
                      <a:prstDash val="solid"/>
                      <a:round/>
                      <a:headEnd type="none" w="med" len="med"/>
                      <a:tailEnd type="none" w="med" len="med"/>
                    </a:lnT>
                    <a:lnB w="6350" cap="flat" cmpd="sng" algn="ctr">
                      <a:solidFill>
                        <a:srgbClr val="DDE3ED"/>
                      </a:solidFill>
                      <a:prstDash val="solid"/>
                      <a:round/>
                      <a:headEnd type="none" w="med" len="med"/>
                      <a:tailEnd type="none" w="med" len="med"/>
                    </a:lnB>
                    <a:solidFill>
                      <a:srgbClr val="FFFFFF"/>
                    </a:solidFill>
                  </a:tcPr>
                </a:tc>
                <a:tc>
                  <a:txBody>
                    <a:bodyPr/>
                    <a:lstStyle/>
                    <a:p>
                      <a:pPr marL="0" indent="0" algn="ctr">
                        <a:buNone/>
                      </a:pPr>
                      <a:r>
                        <a:rPr lang="en-US" sz="1500" b="1" dirty="0">
                          <a:solidFill>
                            <a:srgbClr val="000000"/>
                          </a:solidFill>
                          <a:latin typeface="Calibri" pitchFamily="34" charset="0"/>
                          <a:ea typeface="Calibri" pitchFamily="34" charset="-122"/>
                          <a:cs typeface="Calibri" pitchFamily="34" charset="-120"/>
                        </a:rPr>
                        <a:t>κ</a:t>
                      </a:r>
                      <a:endParaRPr lang="en-US" sz="1500" dirty="0">
                        <a:latin typeface="Calibri" charset="0"/>
                        <a:ea typeface="Calibri" charset="0"/>
                        <a:cs typeface="Calibri" charset="0"/>
                      </a:endParaRPr>
                    </a:p>
                  </a:txBody>
                  <a:tcPr marL="121920" marR="121920" marT="60960" marB="60960" anchor="ctr">
                    <a:lnL w="6350" cap="flat" cmpd="sng" algn="ctr">
                      <a:solidFill>
                        <a:srgbClr val="DDE3ED"/>
                      </a:solidFill>
                      <a:prstDash val="solid"/>
                      <a:round/>
                      <a:headEnd type="none" w="med" len="med"/>
                      <a:tailEnd type="none" w="med" len="med"/>
                    </a:lnL>
                    <a:lnR w="6350" cap="flat" cmpd="sng" algn="ctr">
                      <a:solidFill>
                        <a:srgbClr val="DDE3ED"/>
                      </a:solidFill>
                      <a:prstDash val="solid"/>
                      <a:round/>
                      <a:headEnd type="none" w="med" len="med"/>
                      <a:tailEnd type="none" w="med" len="med"/>
                    </a:lnR>
                    <a:lnT w="6350" cap="flat" cmpd="sng" algn="ctr">
                      <a:solidFill>
                        <a:srgbClr val="DDE3ED"/>
                      </a:solidFill>
                      <a:prstDash val="solid"/>
                      <a:round/>
                      <a:headEnd type="none" w="med" len="med"/>
                      <a:tailEnd type="none" w="med" len="med"/>
                    </a:lnT>
                    <a:lnB w="6350" cap="flat" cmpd="sng" algn="ctr">
                      <a:solidFill>
                        <a:srgbClr val="DDE3ED"/>
                      </a:solidFill>
                      <a:prstDash val="solid"/>
                      <a:round/>
                      <a:headEnd type="none" w="med" len="med"/>
                      <a:tailEnd type="none" w="med" len="med"/>
                    </a:lnB>
                    <a:solidFill>
                      <a:srgbClr val="FFFFFF"/>
                    </a:solidFill>
                  </a:tcPr>
                </a:tc>
                <a:tc>
                  <a:txBody>
                    <a:bodyPr/>
                    <a:lstStyle/>
                    <a:p>
                      <a:pPr marL="0" indent="0" algn="ctr">
                        <a:buNone/>
                      </a:pPr>
                      <a:r>
                        <a:rPr lang="en-US" sz="1500" b="1" dirty="0">
                          <a:solidFill>
                            <a:srgbClr val="000000"/>
                          </a:solidFill>
                          <a:latin typeface="Calibri" pitchFamily="34" charset="0"/>
                          <a:ea typeface="Calibri" pitchFamily="34" charset="-122"/>
                          <a:cs typeface="Calibri" pitchFamily="34" charset="-120"/>
                        </a:rPr>
                        <a:t>MCC</a:t>
                      </a:r>
                      <a:endParaRPr lang="en-US" sz="1500" dirty="0">
                        <a:latin typeface="Calibri" charset="0"/>
                        <a:ea typeface="Calibri" charset="0"/>
                        <a:cs typeface="Calibri" charset="0"/>
                      </a:endParaRPr>
                    </a:p>
                  </a:txBody>
                  <a:tcPr marL="121920" marR="121920" marT="60960" marB="60960" anchor="ctr">
                    <a:lnL w="6350" cap="flat" cmpd="sng" algn="ctr">
                      <a:solidFill>
                        <a:srgbClr val="DDE3ED"/>
                      </a:solidFill>
                      <a:prstDash val="solid"/>
                      <a:round/>
                      <a:headEnd type="none" w="med" len="med"/>
                      <a:tailEnd type="none" w="med" len="med"/>
                    </a:lnL>
                    <a:lnR w="6350" cap="flat" cmpd="sng" algn="ctr">
                      <a:solidFill>
                        <a:srgbClr val="DDE3ED"/>
                      </a:solidFill>
                      <a:prstDash val="solid"/>
                      <a:round/>
                      <a:headEnd type="none" w="med" len="med"/>
                      <a:tailEnd type="none" w="med" len="med"/>
                    </a:lnR>
                    <a:lnT w="6350" cap="flat" cmpd="sng" algn="ctr">
                      <a:solidFill>
                        <a:srgbClr val="DDE3ED"/>
                      </a:solidFill>
                      <a:prstDash val="solid"/>
                      <a:round/>
                      <a:headEnd type="none" w="med" len="med"/>
                      <a:tailEnd type="none" w="med" len="med"/>
                    </a:lnT>
                    <a:lnB w="6350" cap="flat" cmpd="sng" algn="ctr">
                      <a:solidFill>
                        <a:srgbClr val="DDE3ED"/>
                      </a:solidFill>
                      <a:prstDash val="solid"/>
                      <a:round/>
                      <a:headEnd type="none" w="med" len="med"/>
                      <a:tailEnd type="none" w="med" len="med"/>
                    </a:lnB>
                    <a:solidFill>
                      <a:srgbClr val="FFFFFF"/>
                    </a:solidFill>
                  </a:tcPr>
                </a:tc>
                <a:extLst>
                  <a:ext uri="{0D108BD9-81ED-4DB2-BD59-A6C34878D82A}">
                    <a16:rowId xmlns:a16="http://schemas.microsoft.com/office/drawing/2014/main" val="10000"/>
                  </a:ext>
                </a:extLst>
              </a:tr>
              <a:tr h="477862">
                <a:tc>
                  <a:txBody>
                    <a:bodyPr/>
                    <a:lstStyle/>
                    <a:p>
                      <a:pPr marL="0" indent="0" algn="ctr">
                        <a:buNone/>
                      </a:pPr>
                      <a:r>
                        <a:rPr lang="en-US" sz="1500" dirty="0">
                          <a:solidFill>
                            <a:srgbClr val="000000"/>
                          </a:solidFill>
                          <a:latin typeface="Calibri" pitchFamily="34" charset="0"/>
                          <a:ea typeface="Calibri" pitchFamily="34" charset="-122"/>
                          <a:cs typeface="Calibri" pitchFamily="34" charset="-120"/>
                        </a:rPr>
                        <a:t>+5 s</a:t>
                      </a:r>
                      <a:endParaRPr lang="en-US" sz="1500" dirty="0">
                        <a:latin typeface="Calibri" charset="0"/>
                        <a:ea typeface="Calibri" charset="0"/>
                        <a:cs typeface="Calibri" charset="0"/>
                      </a:endParaRPr>
                    </a:p>
                  </a:txBody>
                  <a:tcPr marL="121920" marR="121920" marT="60960" marB="60960" anchor="ctr">
                    <a:lnL w="6350" cap="flat" cmpd="sng" algn="ctr">
                      <a:solidFill>
                        <a:srgbClr val="DDE3ED"/>
                      </a:solidFill>
                      <a:prstDash val="solid"/>
                      <a:round/>
                      <a:headEnd type="none" w="med" len="med"/>
                      <a:tailEnd type="none" w="med" len="med"/>
                    </a:lnL>
                    <a:lnR w="6350" cap="flat" cmpd="sng" algn="ctr">
                      <a:solidFill>
                        <a:srgbClr val="DDE3ED"/>
                      </a:solidFill>
                      <a:prstDash val="solid"/>
                      <a:round/>
                      <a:headEnd type="none" w="med" len="med"/>
                      <a:tailEnd type="none" w="med" len="med"/>
                    </a:lnR>
                    <a:lnT w="6350" cap="flat" cmpd="sng" algn="ctr">
                      <a:solidFill>
                        <a:srgbClr val="DDE3ED"/>
                      </a:solidFill>
                      <a:prstDash val="solid"/>
                      <a:round/>
                      <a:headEnd type="none" w="med" len="med"/>
                      <a:tailEnd type="none" w="med" len="med"/>
                    </a:lnT>
                    <a:lnB w="6350" cap="flat" cmpd="sng" algn="ctr">
                      <a:solidFill>
                        <a:srgbClr val="DDE3ED"/>
                      </a:solidFill>
                      <a:prstDash val="solid"/>
                      <a:round/>
                      <a:headEnd type="none" w="med" len="med"/>
                      <a:tailEnd type="none" w="med" len="med"/>
                    </a:lnB>
                    <a:solidFill>
                      <a:srgbClr val="FFFFFF"/>
                    </a:solidFill>
                  </a:tcPr>
                </a:tc>
                <a:tc>
                  <a:txBody>
                    <a:bodyPr/>
                    <a:lstStyle/>
                    <a:p>
                      <a:pPr marL="0" indent="0" algn="ctr">
                        <a:buNone/>
                      </a:pPr>
                      <a:r>
                        <a:rPr lang="en-US" sz="1500" dirty="0">
                          <a:solidFill>
                            <a:srgbClr val="000000"/>
                          </a:solidFill>
                          <a:latin typeface="Calibri" pitchFamily="34" charset="0"/>
                          <a:ea typeface="Calibri" pitchFamily="34" charset="-122"/>
                          <a:cs typeface="Calibri" pitchFamily="34" charset="-120"/>
                        </a:rPr>
                        <a:t>0.854</a:t>
                      </a:r>
                      <a:endParaRPr lang="en-US" sz="1500" dirty="0">
                        <a:latin typeface="Calibri" charset="0"/>
                        <a:ea typeface="Calibri" charset="0"/>
                        <a:cs typeface="Calibri" charset="0"/>
                      </a:endParaRPr>
                    </a:p>
                  </a:txBody>
                  <a:tcPr marL="121920" marR="121920" marT="60960" marB="60960" anchor="ctr">
                    <a:lnL w="6350" cap="flat" cmpd="sng" algn="ctr">
                      <a:solidFill>
                        <a:srgbClr val="DDE3ED"/>
                      </a:solidFill>
                      <a:prstDash val="solid"/>
                      <a:round/>
                      <a:headEnd type="none" w="med" len="med"/>
                      <a:tailEnd type="none" w="med" len="med"/>
                    </a:lnL>
                    <a:lnR w="6350" cap="flat" cmpd="sng" algn="ctr">
                      <a:solidFill>
                        <a:srgbClr val="DDE3ED"/>
                      </a:solidFill>
                      <a:prstDash val="solid"/>
                      <a:round/>
                      <a:headEnd type="none" w="med" len="med"/>
                      <a:tailEnd type="none" w="med" len="med"/>
                    </a:lnR>
                    <a:lnT w="6350" cap="flat" cmpd="sng" algn="ctr">
                      <a:solidFill>
                        <a:srgbClr val="DDE3ED"/>
                      </a:solidFill>
                      <a:prstDash val="solid"/>
                      <a:round/>
                      <a:headEnd type="none" w="med" len="med"/>
                      <a:tailEnd type="none" w="med" len="med"/>
                    </a:lnT>
                    <a:lnB w="6350" cap="flat" cmpd="sng" algn="ctr">
                      <a:solidFill>
                        <a:srgbClr val="DDE3ED"/>
                      </a:solidFill>
                      <a:prstDash val="solid"/>
                      <a:round/>
                      <a:headEnd type="none" w="med" len="med"/>
                      <a:tailEnd type="none" w="med" len="med"/>
                    </a:lnB>
                    <a:solidFill>
                      <a:srgbClr val="FFFFFF"/>
                    </a:solidFill>
                  </a:tcPr>
                </a:tc>
                <a:tc>
                  <a:txBody>
                    <a:bodyPr/>
                    <a:lstStyle/>
                    <a:p>
                      <a:pPr marL="0" indent="0" algn="ctr">
                        <a:buNone/>
                      </a:pPr>
                      <a:r>
                        <a:rPr lang="en-US" sz="1500" dirty="0">
                          <a:solidFill>
                            <a:srgbClr val="000000"/>
                          </a:solidFill>
                          <a:latin typeface="Calibri" pitchFamily="34" charset="0"/>
                          <a:ea typeface="Calibri" pitchFamily="34" charset="-122"/>
                          <a:cs typeface="Calibri" pitchFamily="34" charset="-120"/>
                        </a:rPr>
                        <a:t>0.821</a:t>
                      </a:r>
                      <a:endParaRPr lang="en-US" sz="1500" dirty="0">
                        <a:latin typeface="Calibri" charset="0"/>
                        <a:ea typeface="Calibri" charset="0"/>
                        <a:cs typeface="Calibri" charset="0"/>
                      </a:endParaRPr>
                    </a:p>
                  </a:txBody>
                  <a:tcPr marL="121920" marR="121920" marT="60960" marB="60960" anchor="ctr">
                    <a:lnL w="6350" cap="flat" cmpd="sng" algn="ctr">
                      <a:solidFill>
                        <a:srgbClr val="DDE3ED"/>
                      </a:solidFill>
                      <a:prstDash val="solid"/>
                      <a:round/>
                      <a:headEnd type="none" w="med" len="med"/>
                      <a:tailEnd type="none" w="med" len="med"/>
                    </a:lnL>
                    <a:lnR w="6350" cap="flat" cmpd="sng" algn="ctr">
                      <a:solidFill>
                        <a:srgbClr val="DDE3ED"/>
                      </a:solidFill>
                      <a:prstDash val="solid"/>
                      <a:round/>
                      <a:headEnd type="none" w="med" len="med"/>
                      <a:tailEnd type="none" w="med" len="med"/>
                    </a:lnR>
                    <a:lnT w="6350" cap="flat" cmpd="sng" algn="ctr">
                      <a:solidFill>
                        <a:srgbClr val="DDE3ED"/>
                      </a:solidFill>
                      <a:prstDash val="solid"/>
                      <a:round/>
                      <a:headEnd type="none" w="med" len="med"/>
                      <a:tailEnd type="none" w="med" len="med"/>
                    </a:lnT>
                    <a:lnB w="6350" cap="flat" cmpd="sng" algn="ctr">
                      <a:solidFill>
                        <a:srgbClr val="DDE3ED"/>
                      </a:solidFill>
                      <a:prstDash val="solid"/>
                      <a:round/>
                      <a:headEnd type="none" w="med" len="med"/>
                      <a:tailEnd type="none" w="med" len="med"/>
                    </a:lnB>
                    <a:solidFill>
                      <a:srgbClr val="FFFFFF"/>
                    </a:solidFill>
                  </a:tcPr>
                </a:tc>
                <a:tc>
                  <a:txBody>
                    <a:bodyPr/>
                    <a:lstStyle/>
                    <a:p>
                      <a:pPr marL="0" indent="0" algn="ctr">
                        <a:buNone/>
                      </a:pPr>
                      <a:r>
                        <a:rPr lang="en-US" sz="1500" dirty="0">
                          <a:solidFill>
                            <a:srgbClr val="000000"/>
                          </a:solidFill>
                          <a:latin typeface="Calibri" pitchFamily="34" charset="0"/>
                          <a:ea typeface="Calibri" pitchFamily="34" charset="-122"/>
                          <a:cs typeface="Calibri" pitchFamily="34" charset="-120"/>
                        </a:rPr>
                        <a:t>0.762</a:t>
                      </a:r>
                      <a:endParaRPr lang="en-US" sz="1500" dirty="0">
                        <a:latin typeface="Calibri" charset="0"/>
                        <a:ea typeface="Calibri" charset="0"/>
                        <a:cs typeface="Calibri" charset="0"/>
                      </a:endParaRPr>
                    </a:p>
                  </a:txBody>
                  <a:tcPr marL="121920" marR="121920" marT="60960" marB="60960" anchor="ctr">
                    <a:lnL w="6350" cap="flat" cmpd="sng" algn="ctr">
                      <a:solidFill>
                        <a:srgbClr val="DDE3ED"/>
                      </a:solidFill>
                      <a:prstDash val="solid"/>
                      <a:round/>
                      <a:headEnd type="none" w="med" len="med"/>
                      <a:tailEnd type="none" w="med" len="med"/>
                    </a:lnL>
                    <a:lnR w="6350" cap="flat" cmpd="sng" algn="ctr">
                      <a:solidFill>
                        <a:srgbClr val="DDE3ED"/>
                      </a:solidFill>
                      <a:prstDash val="solid"/>
                      <a:round/>
                      <a:headEnd type="none" w="med" len="med"/>
                      <a:tailEnd type="none" w="med" len="med"/>
                    </a:lnR>
                    <a:lnT w="6350" cap="flat" cmpd="sng" algn="ctr">
                      <a:solidFill>
                        <a:srgbClr val="DDE3ED"/>
                      </a:solidFill>
                      <a:prstDash val="solid"/>
                      <a:round/>
                      <a:headEnd type="none" w="med" len="med"/>
                      <a:tailEnd type="none" w="med" len="med"/>
                    </a:lnT>
                    <a:lnB w="6350" cap="flat" cmpd="sng" algn="ctr">
                      <a:solidFill>
                        <a:srgbClr val="DDE3ED"/>
                      </a:solidFill>
                      <a:prstDash val="solid"/>
                      <a:round/>
                      <a:headEnd type="none" w="med" len="med"/>
                      <a:tailEnd type="none" w="med" len="med"/>
                    </a:lnB>
                    <a:solidFill>
                      <a:srgbClr val="FFFFFF"/>
                    </a:solidFill>
                  </a:tcPr>
                </a:tc>
                <a:tc>
                  <a:txBody>
                    <a:bodyPr/>
                    <a:lstStyle/>
                    <a:p>
                      <a:pPr marL="0" indent="0" algn="ctr">
                        <a:buNone/>
                      </a:pPr>
                      <a:r>
                        <a:rPr lang="en-US" sz="1500" dirty="0">
                          <a:solidFill>
                            <a:srgbClr val="000000"/>
                          </a:solidFill>
                          <a:latin typeface="Calibri" pitchFamily="34" charset="0"/>
                          <a:ea typeface="Calibri" pitchFamily="34" charset="-122"/>
                          <a:cs typeface="Calibri" pitchFamily="34" charset="-120"/>
                        </a:rPr>
                        <a:t>0.773</a:t>
                      </a:r>
                      <a:endParaRPr lang="en-US" sz="1500" dirty="0">
                        <a:latin typeface="Calibri" charset="0"/>
                        <a:ea typeface="Calibri" charset="0"/>
                        <a:cs typeface="Calibri" charset="0"/>
                      </a:endParaRPr>
                    </a:p>
                  </a:txBody>
                  <a:tcPr marL="121920" marR="121920" marT="60960" marB="60960" anchor="ctr">
                    <a:lnL w="6350" cap="flat" cmpd="sng" algn="ctr">
                      <a:solidFill>
                        <a:srgbClr val="DDE3ED"/>
                      </a:solidFill>
                      <a:prstDash val="solid"/>
                      <a:round/>
                      <a:headEnd type="none" w="med" len="med"/>
                      <a:tailEnd type="none" w="med" len="med"/>
                    </a:lnL>
                    <a:lnR w="6350" cap="flat" cmpd="sng" algn="ctr">
                      <a:solidFill>
                        <a:srgbClr val="DDE3ED"/>
                      </a:solidFill>
                      <a:prstDash val="solid"/>
                      <a:round/>
                      <a:headEnd type="none" w="med" len="med"/>
                      <a:tailEnd type="none" w="med" len="med"/>
                    </a:lnR>
                    <a:lnT w="6350" cap="flat" cmpd="sng" algn="ctr">
                      <a:solidFill>
                        <a:srgbClr val="DDE3ED"/>
                      </a:solidFill>
                      <a:prstDash val="solid"/>
                      <a:round/>
                      <a:headEnd type="none" w="med" len="med"/>
                      <a:tailEnd type="none" w="med" len="med"/>
                    </a:lnT>
                    <a:lnB w="6350" cap="flat" cmpd="sng" algn="ctr">
                      <a:solidFill>
                        <a:srgbClr val="DDE3ED"/>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477862">
                <a:tc>
                  <a:txBody>
                    <a:bodyPr/>
                    <a:lstStyle/>
                    <a:p>
                      <a:pPr marL="0" indent="0" algn="ctr">
                        <a:buNone/>
                      </a:pPr>
                      <a:r>
                        <a:rPr lang="en-US" sz="1500" dirty="0">
                          <a:solidFill>
                            <a:srgbClr val="000000"/>
                          </a:solidFill>
                          <a:latin typeface="Calibri" pitchFamily="34" charset="0"/>
                          <a:ea typeface="Calibri" pitchFamily="34" charset="-122"/>
                          <a:cs typeface="Calibri" pitchFamily="34" charset="-120"/>
                        </a:rPr>
                        <a:t>+15 s</a:t>
                      </a:r>
                      <a:endParaRPr lang="en-US" sz="1500" dirty="0">
                        <a:latin typeface="Calibri" charset="0"/>
                        <a:ea typeface="Calibri" charset="0"/>
                        <a:cs typeface="Calibri" charset="0"/>
                      </a:endParaRPr>
                    </a:p>
                  </a:txBody>
                  <a:tcPr marL="121920" marR="121920" marT="60960" marB="60960" anchor="ctr">
                    <a:lnL w="6350" cap="flat" cmpd="sng" algn="ctr">
                      <a:solidFill>
                        <a:srgbClr val="DDE3ED"/>
                      </a:solidFill>
                      <a:prstDash val="solid"/>
                      <a:round/>
                      <a:headEnd type="none" w="med" len="med"/>
                      <a:tailEnd type="none" w="med" len="med"/>
                    </a:lnL>
                    <a:lnR w="6350" cap="flat" cmpd="sng" algn="ctr">
                      <a:solidFill>
                        <a:srgbClr val="DDE3ED"/>
                      </a:solidFill>
                      <a:prstDash val="solid"/>
                      <a:round/>
                      <a:headEnd type="none" w="med" len="med"/>
                      <a:tailEnd type="none" w="med" len="med"/>
                    </a:lnR>
                    <a:lnT w="6350" cap="flat" cmpd="sng" algn="ctr">
                      <a:solidFill>
                        <a:srgbClr val="DDE3ED"/>
                      </a:solidFill>
                      <a:prstDash val="solid"/>
                      <a:round/>
                      <a:headEnd type="none" w="med" len="med"/>
                      <a:tailEnd type="none" w="med" len="med"/>
                    </a:lnT>
                    <a:lnB w="6350" cap="flat" cmpd="sng" algn="ctr">
                      <a:solidFill>
                        <a:srgbClr val="DDE3ED"/>
                      </a:solidFill>
                      <a:prstDash val="solid"/>
                      <a:round/>
                      <a:headEnd type="none" w="med" len="med"/>
                      <a:tailEnd type="none" w="med" len="med"/>
                    </a:lnB>
                    <a:solidFill>
                      <a:srgbClr val="FFFFFF"/>
                    </a:solidFill>
                  </a:tcPr>
                </a:tc>
                <a:tc>
                  <a:txBody>
                    <a:bodyPr/>
                    <a:lstStyle/>
                    <a:p>
                      <a:pPr marL="0" indent="0" algn="ctr">
                        <a:buNone/>
                      </a:pPr>
                      <a:r>
                        <a:rPr lang="en-US" sz="1500" dirty="0">
                          <a:solidFill>
                            <a:srgbClr val="000000"/>
                          </a:solidFill>
                          <a:latin typeface="Calibri" pitchFamily="34" charset="0"/>
                          <a:ea typeface="Calibri" pitchFamily="34" charset="-122"/>
                          <a:cs typeface="Calibri" pitchFamily="34" charset="-120"/>
                        </a:rPr>
                        <a:t>0.789</a:t>
                      </a:r>
                      <a:endParaRPr lang="en-US" sz="1500" dirty="0">
                        <a:latin typeface="Calibri" charset="0"/>
                        <a:ea typeface="Calibri" charset="0"/>
                        <a:cs typeface="Calibri" charset="0"/>
                      </a:endParaRPr>
                    </a:p>
                  </a:txBody>
                  <a:tcPr marL="121920" marR="121920" marT="60960" marB="60960" anchor="ctr">
                    <a:lnL w="6350" cap="flat" cmpd="sng" algn="ctr">
                      <a:solidFill>
                        <a:srgbClr val="DDE3ED"/>
                      </a:solidFill>
                      <a:prstDash val="solid"/>
                      <a:round/>
                      <a:headEnd type="none" w="med" len="med"/>
                      <a:tailEnd type="none" w="med" len="med"/>
                    </a:lnL>
                    <a:lnR w="6350" cap="flat" cmpd="sng" algn="ctr">
                      <a:solidFill>
                        <a:srgbClr val="DDE3ED"/>
                      </a:solidFill>
                      <a:prstDash val="solid"/>
                      <a:round/>
                      <a:headEnd type="none" w="med" len="med"/>
                      <a:tailEnd type="none" w="med" len="med"/>
                    </a:lnR>
                    <a:lnT w="6350" cap="flat" cmpd="sng" algn="ctr">
                      <a:solidFill>
                        <a:srgbClr val="DDE3ED"/>
                      </a:solidFill>
                      <a:prstDash val="solid"/>
                      <a:round/>
                      <a:headEnd type="none" w="med" len="med"/>
                      <a:tailEnd type="none" w="med" len="med"/>
                    </a:lnT>
                    <a:lnB w="6350" cap="flat" cmpd="sng" algn="ctr">
                      <a:solidFill>
                        <a:srgbClr val="DDE3ED"/>
                      </a:solidFill>
                      <a:prstDash val="solid"/>
                      <a:round/>
                      <a:headEnd type="none" w="med" len="med"/>
                      <a:tailEnd type="none" w="med" len="med"/>
                    </a:lnB>
                    <a:solidFill>
                      <a:srgbClr val="FFFFFF"/>
                    </a:solidFill>
                  </a:tcPr>
                </a:tc>
                <a:tc>
                  <a:txBody>
                    <a:bodyPr/>
                    <a:lstStyle/>
                    <a:p>
                      <a:pPr marL="0" indent="0" algn="ctr">
                        <a:buNone/>
                      </a:pPr>
                      <a:r>
                        <a:rPr lang="en-US" sz="1500" dirty="0">
                          <a:solidFill>
                            <a:srgbClr val="000000"/>
                          </a:solidFill>
                          <a:latin typeface="Calibri" pitchFamily="34" charset="0"/>
                          <a:ea typeface="Calibri" pitchFamily="34" charset="-122"/>
                          <a:cs typeface="Calibri" pitchFamily="34" charset="-120"/>
                        </a:rPr>
                        <a:t>0.741</a:t>
                      </a:r>
                      <a:endParaRPr lang="en-US" sz="1500" dirty="0">
                        <a:latin typeface="Calibri" charset="0"/>
                        <a:ea typeface="Calibri" charset="0"/>
                        <a:cs typeface="Calibri" charset="0"/>
                      </a:endParaRPr>
                    </a:p>
                  </a:txBody>
                  <a:tcPr marL="121920" marR="121920" marT="60960" marB="60960" anchor="ctr">
                    <a:lnL w="6350" cap="flat" cmpd="sng" algn="ctr">
                      <a:solidFill>
                        <a:srgbClr val="DDE3ED"/>
                      </a:solidFill>
                      <a:prstDash val="solid"/>
                      <a:round/>
                      <a:headEnd type="none" w="med" len="med"/>
                      <a:tailEnd type="none" w="med" len="med"/>
                    </a:lnL>
                    <a:lnR w="6350" cap="flat" cmpd="sng" algn="ctr">
                      <a:solidFill>
                        <a:srgbClr val="DDE3ED"/>
                      </a:solidFill>
                      <a:prstDash val="solid"/>
                      <a:round/>
                      <a:headEnd type="none" w="med" len="med"/>
                      <a:tailEnd type="none" w="med" len="med"/>
                    </a:lnR>
                    <a:lnT w="6350" cap="flat" cmpd="sng" algn="ctr">
                      <a:solidFill>
                        <a:srgbClr val="DDE3ED"/>
                      </a:solidFill>
                      <a:prstDash val="solid"/>
                      <a:round/>
                      <a:headEnd type="none" w="med" len="med"/>
                      <a:tailEnd type="none" w="med" len="med"/>
                    </a:lnT>
                    <a:lnB w="6350" cap="flat" cmpd="sng" algn="ctr">
                      <a:solidFill>
                        <a:srgbClr val="DDE3ED"/>
                      </a:solidFill>
                      <a:prstDash val="solid"/>
                      <a:round/>
                      <a:headEnd type="none" w="med" len="med"/>
                      <a:tailEnd type="none" w="med" len="med"/>
                    </a:lnB>
                    <a:solidFill>
                      <a:srgbClr val="FFFFFF"/>
                    </a:solidFill>
                  </a:tcPr>
                </a:tc>
                <a:tc>
                  <a:txBody>
                    <a:bodyPr/>
                    <a:lstStyle/>
                    <a:p>
                      <a:pPr marL="0" indent="0" algn="ctr">
                        <a:buNone/>
                      </a:pPr>
                      <a:r>
                        <a:rPr lang="en-US" sz="1500" dirty="0">
                          <a:solidFill>
                            <a:srgbClr val="000000"/>
                          </a:solidFill>
                          <a:latin typeface="Calibri" pitchFamily="34" charset="0"/>
                          <a:ea typeface="Calibri" pitchFamily="34" charset="-122"/>
                          <a:cs typeface="Calibri" pitchFamily="34" charset="-120"/>
                        </a:rPr>
                        <a:t>0.667</a:t>
                      </a:r>
                      <a:endParaRPr lang="en-US" sz="1500" dirty="0">
                        <a:latin typeface="Calibri" charset="0"/>
                        <a:ea typeface="Calibri" charset="0"/>
                        <a:cs typeface="Calibri" charset="0"/>
                      </a:endParaRPr>
                    </a:p>
                  </a:txBody>
                  <a:tcPr marL="121920" marR="121920" marT="60960" marB="60960" anchor="ctr">
                    <a:lnL w="6350" cap="flat" cmpd="sng" algn="ctr">
                      <a:solidFill>
                        <a:srgbClr val="DDE3ED"/>
                      </a:solidFill>
                      <a:prstDash val="solid"/>
                      <a:round/>
                      <a:headEnd type="none" w="med" len="med"/>
                      <a:tailEnd type="none" w="med" len="med"/>
                    </a:lnL>
                    <a:lnR w="6350" cap="flat" cmpd="sng" algn="ctr">
                      <a:solidFill>
                        <a:srgbClr val="DDE3ED"/>
                      </a:solidFill>
                      <a:prstDash val="solid"/>
                      <a:round/>
                      <a:headEnd type="none" w="med" len="med"/>
                      <a:tailEnd type="none" w="med" len="med"/>
                    </a:lnR>
                    <a:lnT w="6350" cap="flat" cmpd="sng" algn="ctr">
                      <a:solidFill>
                        <a:srgbClr val="DDE3ED"/>
                      </a:solidFill>
                      <a:prstDash val="solid"/>
                      <a:round/>
                      <a:headEnd type="none" w="med" len="med"/>
                      <a:tailEnd type="none" w="med" len="med"/>
                    </a:lnT>
                    <a:lnB w="6350" cap="flat" cmpd="sng" algn="ctr">
                      <a:solidFill>
                        <a:srgbClr val="DDE3ED"/>
                      </a:solidFill>
                      <a:prstDash val="solid"/>
                      <a:round/>
                      <a:headEnd type="none" w="med" len="med"/>
                      <a:tailEnd type="none" w="med" len="med"/>
                    </a:lnB>
                    <a:solidFill>
                      <a:srgbClr val="FFFFFF"/>
                    </a:solidFill>
                  </a:tcPr>
                </a:tc>
                <a:tc>
                  <a:txBody>
                    <a:bodyPr/>
                    <a:lstStyle/>
                    <a:p>
                      <a:pPr marL="0" indent="0" algn="ctr">
                        <a:buNone/>
                      </a:pPr>
                      <a:r>
                        <a:rPr lang="en-US" sz="1500" dirty="0">
                          <a:solidFill>
                            <a:srgbClr val="000000"/>
                          </a:solidFill>
                          <a:latin typeface="Calibri" pitchFamily="34" charset="0"/>
                          <a:ea typeface="Calibri" pitchFamily="34" charset="-122"/>
                          <a:cs typeface="Calibri" pitchFamily="34" charset="-120"/>
                        </a:rPr>
                        <a:t>0.691</a:t>
                      </a:r>
                      <a:endParaRPr lang="en-US" sz="1500" dirty="0">
                        <a:latin typeface="Calibri" charset="0"/>
                        <a:ea typeface="Calibri" charset="0"/>
                        <a:cs typeface="Calibri" charset="0"/>
                      </a:endParaRPr>
                    </a:p>
                  </a:txBody>
                  <a:tcPr marL="121920" marR="121920" marT="60960" marB="60960" anchor="ctr">
                    <a:lnL w="6350" cap="flat" cmpd="sng" algn="ctr">
                      <a:solidFill>
                        <a:srgbClr val="DDE3ED"/>
                      </a:solidFill>
                      <a:prstDash val="solid"/>
                      <a:round/>
                      <a:headEnd type="none" w="med" len="med"/>
                      <a:tailEnd type="none" w="med" len="med"/>
                    </a:lnL>
                    <a:lnR w="6350" cap="flat" cmpd="sng" algn="ctr">
                      <a:solidFill>
                        <a:srgbClr val="DDE3ED"/>
                      </a:solidFill>
                      <a:prstDash val="solid"/>
                      <a:round/>
                      <a:headEnd type="none" w="med" len="med"/>
                      <a:tailEnd type="none" w="med" len="med"/>
                    </a:lnR>
                    <a:lnT w="6350" cap="flat" cmpd="sng" algn="ctr">
                      <a:solidFill>
                        <a:srgbClr val="DDE3ED"/>
                      </a:solidFill>
                      <a:prstDash val="solid"/>
                      <a:round/>
                      <a:headEnd type="none" w="med" len="med"/>
                      <a:tailEnd type="none" w="med" len="med"/>
                    </a:lnT>
                    <a:lnB w="6350" cap="flat" cmpd="sng" algn="ctr">
                      <a:solidFill>
                        <a:srgbClr val="DDE3ED"/>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477862">
                <a:tc>
                  <a:txBody>
                    <a:bodyPr/>
                    <a:lstStyle/>
                    <a:p>
                      <a:pPr marL="0" indent="0" algn="ctr">
                        <a:buNone/>
                      </a:pPr>
                      <a:r>
                        <a:rPr lang="en-US" sz="1500" dirty="0">
                          <a:solidFill>
                            <a:srgbClr val="000000"/>
                          </a:solidFill>
                          <a:latin typeface="Calibri" pitchFamily="34" charset="0"/>
                          <a:ea typeface="Calibri" pitchFamily="34" charset="-122"/>
                          <a:cs typeface="Calibri" pitchFamily="34" charset="-120"/>
                        </a:rPr>
                        <a:t>+30 s</a:t>
                      </a:r>
                      <a:endParaRPr lang="en-US" sz="1500" dirty="0">
                        <a:latin typeface="Calibri" charset="0"/>
                        <a:ea typeface="Calibri" charset="0"/>
                        <a:cs typeface="Calibri" charset="0"/>
                      </a:endParaRPr>
                    </a:p>
                  </a:txBody>
                  <a:tcPr marL="121920" marR="121920" marT="60960" marB="60960" anchor="ctr">
                    <a:lnL w="6350" cap="flat" cmpd="sng" algn="ctr">
                      <a:solidFill>
                        <a:srgbClr val="DDE3ED"/>
                      </a:solidFill>
                      <a:prstDash val="solid"/>
                      <a:round/>
                      <a:headEnd type="none" w="med" len="med"/>
                      <a:tailEnd type="none" w="med" len="med"/>
                    </a:lnL>
                    <a:lnR w="6350" cap="flat" cmpd="sng" algn="ctr">
                      <a:solidFill>
                        <a:srgbClr val="DDE3ED"/>
                      </a:solidFill>
                      <a:prstDash val="solid"/>
                      <a:round/>
                      <a:headEnd type="none" w="med" len="med"/>
                      <a:tailEnd type="none" w="med" len="med"/>
                    </a:lnR>
                    <a:lnT w="6350" cap="flat" cmpd="sng" algn="ctr">
                      <a:solidFill>
                        <a:srgbClr val="DDE3ED"/>
                      </a:solidFill>
                      <a:prstDash val="solid"/>
                      <a:round/>
                      <a:headEnd type="none" w="med" len="med"/>
                      <a:tailEnd type="none" w="med" len="med"/>
                    </a:lnT>
                    <a:lnB w="6350" cap="flat" cmpd="sng" algn="ctr">
                      <a:solidFill>
                        <a:srgbClr val="DDE3ED"/>
                      </a:solidFill>
                      <a:prstDash val="solid"/>
                      <a:round/>
                      <a:headEnd type="none" w="med" len="med"/>
                      <a:tailEnd type="none" w="med" len="med"/>
                    </a:lnB>
                    <a:solidFill>
                      <a:srgbClr val="FFFFFF"/>
                    </a:solidFill>
                  </a:tcPr>
                </a:tc>
                <a:tc>
                  <a:txBody>
                    <a:bodyPr/>
                    <a:lstStyle/>
                    <a:p>
                      <a:pPr marL="0" indent="0" algn="ctr">
                        <a:buNone/>
                      </a:pPr>
                      <a:r>
                        <a:rPr lang="en-US" sz="1500" dirty="0">
                          <a:solidFill>
                            <a:srgbClr val="000000"/>
                          </a:solidFill>
                          <a:latin typeface="Calibri" pitchFamily="34" charset="0"/>
                          <a:ea typeface="Calibri" pitchFamily="34" charset="-122"/>
                          <a:cs typeface="Calibri" pitchFamily="34" charset="-120"/>
                        </a:rPr>
                        <a:t>0.830</a:t>
                      </a:r>
                      <a:endParaRPr lang="en-US" sz="1500" dirty="0">
                        <a:latin typeface="Calibri" charset="0"/>
                        <a:ea typeface="Calibri" charset="0"/>
                        <a:cs typeface="Calibri" charset="0"/>
                      </a:endParaRPr>
                    </a:p>
                  </a:txBody>
                  <a:tcPr marL="121920" marR="121920" marT="60960" marB="60960" anchor="ctr">
                    <a:lnL w="6350" cap="flat" cmpd="sng" algn="ctr">
                      <a:solidFill>
                        <a:srgbClr val="DDE3ED"/>
                      </a:solidFill>
                      <a:prstDash val="solid"/>
                      <a:round/>
                      <a:headEnd type="none" w="med" len="med"/>
                      <a:tailEnd type="none" w="med" len="med"/>
                    </a:lnL>
                    <a:lnR w="6350" cap="flat" cmpd="sng" algn="ctr">
                      <a:solidFill>
                        <a:srgbClr val="DDE3ED"/>
                      </a:solidFill>
                      <a:prstDash val="solid"/>
                      <a:round/>
                      <a:headEnd type="none" w="med" len="med"/>
                      <a:tailEnd type="none" w="med" len="med"/>
                    </a:lnR>
                    <a:lnT w="6350" cap="flat" cmpd="sng" algn="ctr">
                      <a:solidFill>
                        <a:srgbClr val="DDE3ED"/>
                      </a:solidFill>
                      <a:prstDash val="solid"/>
                      <a:round/>
                      <a:headEnd type="none" w="med" len="med"/>
                      <a:tailEnd type="none" w="med" len="med"/>
                    </a:lnT>
                    <a:lnB w="6350" cap="flat" cmpd="sng" algn="ctr">
                      <a:solidFill>
                        <a:srgbClr val="DDE3ED"/>
                      </a:solidFill>
                      <a:prstDash val="solid"/>
                      <a:round/>
                      <a:headEnd type="none" w="med" len="med"/>
                      <a:tailEnd type="none" w="med" len="med"/>
                    </a:lnB>
                    <a:solidFill>
                      <a:srgbClr val="FFFFFF"/>
                    </a:solidFill>
                  </a:tcPr>
                </a:tc>
                <a:tc>
                  <a:txBody>
                    <a:bodyPr/>
                    <a:lstStyle/>
                    <a:p>
                      <a:pPr marL="0" indent="0" algn="ctr">
                        <a:buNone/>
                      </a:pPr>
                      <a:r>
                        <a:rPr lang="en-US" sz="1500" dirty="0">
                          <a:solidFill>
                            <a:srgbClr val="000000"/>
                          </a:solidFill>
                          <a:latin typeface="Calibri" pitchFamily="34" charset="0"/>
                          <a:ea typeface="Calibri" pitchFamily="34" charset="-122"/>
                          <a:cs typeface="Calibri" pitchFamily="34" charset="-120"/>
                        </a:rPr>
                        <a:t>0.783</a:t>
                      </a:r>
                      <a:endParaRPr lang="en-US" sz="1500" dirty="0">
                        <a:latin typeface="Calibri" charset="0"/>
                        <a:ea typeface="Calibri" charset="0"/>
                        <a:cs typeface="Calibri" charset="0"/>
                      </a:endParaRPr>
                    </a:p>
                  </a:txBody>
                  <a:tcPr marL="121920" marR="121920" marT="60960" marB="60960" anchor="ctr">
                    <a:lnL w="6350" cap="flat" cmpd="sng" algn="ctr">
                      <a:solidFill>
                        <a:srgbClr val="DDE3ED"/>
                      </a:solidFill>
                      <a:prstDash val="solid"/>
                      <a:round/>
                      <a:headEnd type="none" w="med" len="med"/>
                      <a:tailEnd type="none" w="med" len="med"/>
                    </a:lnL>
                    <a:lnR w="6350" cap="flat" cmpd="sng" algn="ctr">
                      <a:solidFill>
                        <a:srgbClr val="DDE3ED"/>
                      </a:solidFill>
                      <a:prstDash val="solid"/>
                      <a:round/>
                      <a:headEnd type="none" w="med" len="med"/>
                      <a:tailEnd type="none" w="med" len="med"/>
                    </a:lnR>
                    <a:lnT w="6350" cap="flat" cmpd="sng" algn="ctr">
                      <a:solidFill>
                        <a:srgbClr val="DDE3ED"/>
                      </a:solidFill>
                      <a:prstDash val="solid"/>
                      <a:round/>
                      <a:headEnd type="none" w="med" len="med"/>
                      <a:tailEnd type="none" w="med" len="med"/>
                    </a:lnT>
                    <a:lnB w="6350" cap="flat" cmpd="sng" algn="ctr">
                      <a:solidFill>
                        <a:srgbClr val="DDE3ED"/>
                      </a:solidFill>
                      <a:prstDash val="solid"/>
                      <a:round/>
                      <a:headEnd type="none" w="med" len="med"/>
                      <a:tailEnd type="none" w="med" len="med"/>
                    </a:lnB>
                    <a:solidFill>
                      <a:srgbClr val="FFFFFF"/>
                    </a:solidFill>
                  </a:tcPr>
                </a:tc>
                <a:tc>
                  <a:txBody>
                    <a:bodyPr/>
                    <a:lstStyle/>
                    <a:p>
                      <a:pPr marL="0" indent="0" algn="ctr">
                        <a:buNone/>
                      </a:pPr>
                      <a:r>
                        <a:rPr lang="en-US" sz="1500" dirty="0">
                          <a:solidFill>
                            <a:srgbClr val="000000"/>
                          </a:solidFill>
                          <a:latin typeface="Calibri" pitchFamily="34" charset="0"/>
                          <a:ea typeface="Calibri" pitchFamily="34" charset="-122"/>
                          <a:cs typeface="Calibri" pitchFamily="34" charset="-120"/>
                        </a:rPr>
                        <a:t>0.723</a:t>
                      </a:r>
                      <a:endParaRPr lang="en-US" sz="1500" dirty="0">
                        <a:latin typeface="Calibri" charset="0"/>
                        <a:ea typeface="Calibri" charset="0"/>
                        <a:cs typeface="Calibri" charset="0"/>
                      </a:endParaRPr>
                    </a:p>
                  </a:txBody>
                  <a:tcPr marL="121920" marR="121920" marT="60960" marB="60960" anchor="ctr">
                    <a:lnL w="6350" cap="flat" cmpd="sng" algn="ctr">
                      <a:solidFill>
                        <a:srgbClr val="DDE3ED"/>
                      </a:solidFill>
                      <a:prstDash val="solid"/>
                      <a:round/>
                      <a:headEnd type="none" w="med" len="med"/>
                      <a:tailEnd type="none" w="med" len="med"/>
                    </a:lnL>
                    <a:lnR w="6350" cap="flat" cmpd="sng" algn="ctr">
                      <a:solidFill>
                        <a:srgbClr val="DDE3ED"/>
                      </a:solidFill>
                      <a:prstDash val="solid"/>
                      <a:round/>
                      <a:headEnd type="none" w="med" len="med"/>
                      <a:tailEnd type="none" w="med" len="med"/>
                    </a:lnR>
                    <a:lnT w="6350" cap="flat" cmpd="sng" algn="ctr">
                      <a:solidFill>
                        <a:srgbClr val="DDE3ED"/>
                      </a:solidFill>
                      <a:prstDash val="solid"/>
                      <a:round/>
                      <a:headEnd type="none" w="med" len="med"/>
                      <a:tailEnd type="none" w="med" len="med"/>
                    </a:lnT>
                    <a:lnB w="6350" cap="flat" cmpd="sng" algn="ctr">
                      <a:solidFill>
                        <a:srgbClr val="DDE3ED"/>
                      </a:solidFill>
                      <a:prstDash val="solid"/>
                      <a:round/>
                      <a:headEnd type="none" w="med" len="med"/>
                      <a:tailEnd type="none" w="med" len="med"/>
                    </a:lnB>
                    <a:solidFill>
                      <a:srgbClr val="FFFFFF"/>
                    </a:solidFill>
                  </a:tcPr>
                </a:tc>
                <a:tc>
                  <a:txBody>
                    <a:bodyPr/>
                    <a:lstStyle/>
                    <a:p>
                      <a:pPr marL="0" indent="0" algn="ctr">
                        <a:buNone/>
                      </a:pPr>
                      <a:r>
                        <a:rPr lang="en-US" sz="1500" dirty="0">
                          <a:solidFill>
                            <a:srgbClr val="000000"/>
                          </a:solidFill>
                          <a:latin typeface="Calibri" pitchFamily="34" charset="0"/>
                          <a:ea typeface="Calibri" pitchFamily="34" charset="-122"/>
                          <a:cs typeface="Calibri" pitchFamily="34" charset="-120"/>
                        </a:rPr>
                        <a:t>0.731</a:t>
                      </a:r>
                      <a:endParaRPr lang="en-US" sz="1500" dirty="0">
                        <a:latin typeface="Calibri" charset="0"/>
                        <a:ea typeface="Calibri" charset="0"/>
                        <a:cs typeface="Calibri" charset="0"/>
                      </a:endParaRPr>
                    </a:p>
                  </a:txBody>
                  <a:tcPr marL="121920" marR="121920" marT="60960" marB="60960" anchor="ctr">
                    <a:lnL w="6350" cap="flat" cmpd="sng" algn="ctr">
                      <a:solidFill>
                        <a:srgbClr val="DDE3ED"/>
                      </a:solidFill>
                      <a:prstDash val="solid"/>
                      <a:round/>
                      <a:headEnd type="none" w="med" len="med"/>
                      <a:tailEnd type="none" w="med" len="med"/>
                    </a:lnL>
                    <a:lnR w="6350" cap="flat" cmpd="sng" algn="ctr">
                      <a:solidFill>
                        <a:srgbClr val="DDE3ED"/>
                      </a:solidFill>
                      <a:prstDash val="solid"/>
                      <a:round/>
                      <a:headEnd type="none" w="med" len="med"/>
                      <a:tailEnd type="none" w="med" len="med"/>
                    </a:lnR>
                    <a:lnT w="6350" cap="flat" cmpd="sng" algn="ctr">
                      <a:solidFill>
                        <a:srgbClr val="DDE3ED"/>
                      </a:solidFill>
                      <a:prstDash val="solid"/>
                      <a:round/>
                      <a:headEnd type="none" w="med" len="med"/>
                      <a:tailEnd type="none" w="med" len="med"/>
                    </a:lnT>
                    <a:lnB w="6350" cap="flat" cmpd="sng" algn="ctr">
                      <a:solidFill>
                        <a:srgbClr val="DDE3ED"/>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bl>
          </a:graphicData>
        </a:graphic>
      </p:graphicFrame>
      <p:sp>
        <p:nvSpPr>
          <p:cNvPr id="21" name="Shape 0">
            <a:extLst>
              <a:ext uri="{FF2B5EF4-FFF2-40B4-BE49-F238E27FC236}">
                <a16:creationId xmlns:a16="http://schemas.microsoft.com/office/drawing/2014/main" id="{87CCF24D-1AF1-74F9-4D19-8346C5980538}"/>
              </a:ext>
            </a:extLst>
          </p:cNvPr>
          <p:cNvSpPr/>
          <p:nvPr/>
        </p:nvSpPr>
        <p:spPr>
          <a:xfrm>
            <a:off x="0" y="-14999"/>
            <a:ext cx="12192000" cy="740408"/>
          </a:xfrm>
          <a:prstGeom prst="rect">
            <a:avLst/>
          </a:prstGeom>
          <a:solidFill>
            <a:srgbClr val="003893"/>
          </a:solidFill>
          <a:ln w="12700">
            <a:solidFill>
              <a:srgbClr val="003893"/>
            </a:solidFill>
            <a:prstDash val="solid"/>
          </a:ln>
        </p:spPr>
      </p:sp>
      <p:sp>
        <p:nvSpPr>
          <p:cNvPr id="22" name="Shape 1">
            <a:extLst>
              <a:ext uri="{FF2B5EF4-FFF2-40B4-BE49-F238E27FC236}">
                <a16:creationId xmlns:a16="http://schemas.microsoft.com/office/drawing/2014/main" id="{663E9366-47C3-8641-F5B7-123771E660C8}"/>
              </a:ext>
            </a:extLst>
          </p:cNvPr>
          <p:cNvSpPr/>
          <p:nvPr/>
        </p:nvSpPr>
        <p:spPr>
          <a:xfrm>
            <a:off x="0" y="702347"/>
            <a:ext cx="12192000" cy="36576"/>
          </a:xfrm>
          <a:prstGeom prst="rect">
            <a:avLst/>
          </a:prstGeom>
          <a:solidFill>
            <a:srgbClr val="4FC3F7"/>
          </a:solidFill>
          <a:ln w="12700">
            <a:solidFill>
              <a:srgbClr val="4FC3F7"/>
            </a:solidFill>
            <a:prstDash val="solid"/>
          </a:ln>
        </p:spPr>
      </p:sp>
      <p:sp>
        <p:nvSpPr>
          <p:cNvPr id="23" name="Shape 2">
            <a:extLst>
              <a:ext uri="{FF2B5EF4-FFF2-40B4-BE49-F238E27FC236}">
                <a16:creationId xmlns:a16="http://schemas.microsoft.com/office/drawing/2014/main" id="{0D9DC2BD-BC63-EBDB-0052-59AE0B3C4F45}"/>
              </a:ext>
            </a:extLst>
          </p:cNvPr>
          <p:cNvSpPr/>
          <p:nvPr/>
        </p:nvSpPr>
        <p:spPr>
          <a:xfrm>
            <a:off x="0" y="6646862"/>
            <a:ext cx="12192000" cy="211137"/>
          </a:xfrm>
          <a:prstGeom prst="rect">
            <a:avLst/>
          </a:prstGeom>
          <a:solidFill>
            <a:srgbClr val="003893"/>
          </a:solidFill>
          <a:ln w="12700">
            <a:solidFill>
              <a:srgbClr val="003893"/>
            </a:solidFill>
            <a:prstDash val="solid"/>
          </a:ln>
        </p:spPr>
      </p:sp>
      <p:sp>
        <p:nvSpPr>
          <p:cNvPr id="24" name="Shape 3">
            <a:extLst>
              <a:ext uri="{FF2B5EF4-FFF2-40B4-BE49-F238E27FC236}">
                <a16:creationId xmlns:a16="http://schemas.microsoft.com/office/drawing/2014/main" id="{C922562E-0B77-6BAC-5F8F-4566B6333A1C}"/>
              </a:ext>
            </a:extLst>
          </p:cNvPr>
          <p:cNvSpPr/>
          <p:nvPr/>
        </p:nvSpPr>
        <p:spPr>
          <a:xfrm>
            <a:off x="0" y="6623677"/>
            <a:ext cx="12192000" cy="30480"/>
          </a:xfrm>
          <a:prstGeom prst="rect">
            <a:avLst/>
          </a:prstGeom>
          <a:solidFill>
            <a:srgbClr val="4FC3F7"/>
          </a:solidFill>
          <a:ln w="12700">
            <a:solidFill>
              <a:srgbClr val="4FC3F7"/>
            </a:solidFill>
            <a:prstDash val="solid"/>
          </a:ln>
        </p:spPr>
      </p:sp>
      <p:sp>
        <p:nvSpPr>
          <p:cNvPr id="25" name="Shape 4">
            <a:extLst>
              <a:ext uri="{FF2B5EF4-FFF2-40B4-BE49-F238E27FC236}">
                <a16:creationId xmlns:a16="http://schemas.microsoft.com/office/drawing/2014/main" id="{2B92A2B3-9D01-B300-94E2-D21B241542C9}"/>
              </a:ext>
            </a:extLst>
          </p:cNvPr>
          <p:cNvSpPr/>
          <p:nvPr/>
        </p:nvSpPr>
        <p:spPr>
          <a:xfrm>
            <a:off x="0" y="-24618"/>
            <a:ext cx="1128763" cy="767311"/>
          </a:xfrm>
          <a:prstGeom prst="homePlate">
            <a:avLst/>
          </a:prstGeom>
          <a:solidFill>
            <a:srgbClr val="FFFFFF"/>
          </a:solidFill>
          <a:ln w="6350">
            <a:solidFill>
              <a:srgbClr val="CCCCCC"/>
            </a:solidFill>
            <a:prstDash val="solid"/>
          </a:ln>
        </p:spPr>
      </p:sp>
      <p:sp>
        <p:nvSpPr>
          <p:cNvPr id="26" name="Shape 5">
            <a:extLst>
              <a:ext uri="{FF2B5EF4-FFF2-40B4-BE49-F238E27FC236}">
                <a16:creationId xmlns:a16="http://schemas.microsoft.com/office/drawing/2014/main" id="{352A548A-6F0E-C929-38E1-82A226D518D6}"/>
              </a:ext>
            </a:extLst>
          </p:cNvPr>
          <p:cNvSpPr/>
          <p:nvPr/>
        </p:nvSpPr>
        <p:spPr>
          <a:xfrm>
            <a:off x="10728961" y="121921"/>
            <a:ext cx="51207" cy="51207"/>
          </a:xfrm>
          <a:prstGeom prst="ellipse">
            <a:avLst/>
          </a:prstGeom>
          <a:solidFill>
            <a:srgbClr val="FFFFFF">
              <a:alpha val="35000"/>
            </a:srgbClr>
          </a:solidFill>
          <a:ln w="12700">
            <a:solidFill>
              <a:srgbClr val="FFFFFF"/>
            </a:solidFill>
            <a:prstDash val="solid"/>
          </a:ln>
        </p:spPr>
      </p:sp>
      <p:sp>
        <p:nvSpPr>
          <p:cNvPr id="27" name="Shape 6">
            <a:extLst>
              <a:ext uri="{FF2B5EF4-FFF2-40B4-BE49-F238E27FC236}">
                <a16:creationId xmlns:a16="http://schemas.microsoft.com/office/drawing/2014/main" id="{66B99675-A0B4-9F6F-DF59-2B8FFC884DC4}"/>
              </a:ext>
            </a:extLst>
          </p:cNvPr>
          <p:cNvSpPr/>
          <p:nvPr/>
        </p:nvSpPr>
        <p:spPr>
          <a:xfrm>
            <a:off x="10948417" y="121921"/>
            <a:ext cx="51207" cy="51207"/>
          </a:xfrm>
          <a:prstGeom prst="ellipse">
            <a:avLst/>
          </a:prstGeom>
          <a:solidFill>
            <a:srgbClr val="FFFFFF">
              <a:alpha val="35000"/>
            </a:srgbClr>
          </a:solidFill>
          <a:ln w="12700">
            <a:solidFill>
              <a:srgbClr val="FFFFFF"/>
            </a:solidFill>
            <a:prstDash val="solid"/>
          </a:ln>
        </p:spPr>
      </p:sp>
      <p:sp>
        <p:nvSpPr>
          <p:cNvPr id="28" name="Shape 7">
            <a:extLst>
              <a:ext uri="{FF2B5EF4-FFF2-40B4-BE49-F238E27FC236}">
                <a16:creationId xmlns:a16="http://schemas.microsoft.com/office/drawing/2014/main" id="{5D4B0EAF-18B6-F4A9-D163-238D1E892E53}"/>
              </a:ext>
            </a:extLst>
          </p:cNvPr>
          <p:cNvSpPr/>
          <p:nvPr/>
        </p:nvSpPr>
        <p:spPr>
          <a:xfrm>
            <a:off x="11167873" y="121921"/>
            <a:ext cx="51207" cy="51207"/>
          </a:xfrm>
          <a:prstGeom prst="ellipse">
            <a:avLst/>
          </a:prstGeom>
          <a:solidFill>
            <a:srgbClr val="FFFFFF">
              <a:alpha val="35000"/>
            </a:srgbClr>
          </a:solidFill>
          <a:ln w="12700">
            <a:solidFill>
              <a:srgbClr val="FFFFFF"/>
            </a:solidFill>
            <a:prstDash val="solid"/>
          </a:ln>
        </p:spPr>
      </p:sp>
      <p:sp>
        <p:nvSpPr>
          <p:cNvPr id="29" name="Shape 8">
            <a:extLst>
              <a:ext uri="{FF2B5EF4-FFF2-40B4-BE49-F238E27FC236}">
                <a16:creationId xmlns:a16="http://schemas.microsoft.com/office/drawing/2014/main" id="{FDB21CF5-E1A0-61B9-6470-3D9D980BA57D}"/>
              </a:ext>
            </a:extLst>
          </p:cNvPr>
          <p:cNvSpPr/>
          <p:nvPr/>
        </p:nvSpPr>
        <p:spPr>
          <a:xfrm>
            <a:off x="11387329" y="121921"/>
            <a:ext cx="51207" cy="51207"/>
          </a:xfrm>
          <a:prstGeom prst="ellipse">
            <a:avLst/>
          </a:prstGeom>
          <a:solidFill>
            <a:srgbClr val="FFFFFF">
              <a:alpha val="35000"/>
            </a:srgbClr>
          </a:solidFill>
          <a:ln w="12700">
            <a:solidFill>
              <a:srgbClr val="FFFFFF"/>
            </a:solidFill>
            <a:prstDash val="solid"/>
          </a:ln>
        </p:spPr>
      </p:sp>
      <p:sp>
        <p:nvSpPr>
          <p:cNvPr id="30" name="Shape 9">
            <a:extLst>
              <a:ext uri="{FF2B5EF4-FFF2-40B4-BE49-F238E27FC236}">
                <a16:creationId xmlns:a16="http://schemas.microsoft.com/office/drawing/2014/main" id="{44750F87-FBBE-A3BD-4EF4-FBAB65F35E86}"/>
              </a:ext>
            </a:extLst>
          </p:cNvPr>
          <p:cNvSpPr/>
          <p:nvPr/>
        </p:nvSpPr>
        <p:spPr>
          <a:xfrm>
            <a:off x="10728961" y="292609"/>
            <a:ext cx="51207" cy="51207"/>
          </a:xfrm>
          <a:prstGeom prst="ellipse">
            <a:avLst/>
          </a:prstGeom>
          <a:solidFill>
            <a:srgbClr val="FFFFFF">
              <a:alpha val="35000"/>
            </a:srgbClr>
          </a:solidFill>
          <a:ln w="12700">
            <a:solidFill>
              <a:srgbClr val="FFFFFF"/>
            </a:solidFill>
            <a:prstDash val="solid"/>
          </a:ln>
        </p:spPr>
      </p:sp>
      <p:sp>
        <p:nvSpPr>
          <p:cNvPr id="31" name="Shape 10">
            <a:extLst>
              <a:ext uri="{FF2B5EF4-FFF2-40B4-BE49-F238E27FC236}">
                <a16:creationId xmlns:a16="http://schemas.microsoft.com/office/drawing/2014/main" id="{B995F669-75CB-AE61-9296-7F3725091ED0}"/>
              </a:ext>
            </a:extLst>
          </p:cNvPr>
          <p:cNvSpPr/>
          <p:nvPr/>
        </p:nvSpPr>
        <p:spPr>
          <a:xfrm>
            <a:off x="10948417" y="292609"/>
            <a:ext cx="51207" cy="51207"/>
          </a:xfrm>
          <a:prstGeom prst="ellipse">
            <a:avLst/>
          </a:prstGeom>
          <a:solidFill>
            <a:srgbClr val="FFFFFF">
              <a:alpha val="35000"/>
            </a:srgbClr>
          </a:solidFill>
          <a:ln w="12700">
            <a:solidFill>
              <a:srgbClr val="FFFFFF"/>
            </a:solidFill>
            <a:prstDash val="solid"/>
          </a:ln>
        </p:spPr>
      </p:sp>
      <p:sp>
        <p:nvSpPr>
          <p:cNvPr id="32" name="Shape 11">
            <a:extLst>
              <a:ext uri="{FF2B5EF4-FFF2-40B4-BE49-F238E27FC236}">
                <a16:creationId xmlns:a16="http://schemas.microsoft.com/office/drawing/2014/main" id="{A80B4136-791B-8E12-B7F0-75F94EE1B07A}"/>
              </a:ext>
            </a:extLst>
          </p:cNvPr>
          <p:cNvSpPr/>
          <p:nvPr/>
        </p:nvSpPr>
        <p:spPr>
          <a:xfrm>
            <a:off x="11167873" y="292609"/>
            <a:ext cx="51207" cy="51207"/>
          </a:xfrm>
          <a:prstGeom prst="ellipse">
            <a:avLst/>
          </a:prstGeom>
          <a:solidFill>
            <a:srgbClr val="FFFFFF">
              <a:alpha val="35000"/>
            </a:srgbClr>
          </a:solidFill>
          <a:ln w="12700">
            <a:solidFill>
              <a:srgbClr val="FFFFFF"/>
            </a:solidFill>
            <a:prstDash val="solid"/>
          </a:ln>
        </p:spPr>
      </p:sp>
      <p:sp>
        <p:nvSpPr>
          <p:cNvPr id="33" name="Shape 12">
            <a:extLst>
              <a:ext uri="{FF2B5EF4-FFF2-40B4-BE49-F238E27FC236}">
                <a16:creationId xmlns:a16="http://schemas.microsoft.com/office/drawing/2014/main" id="{C8025F57-DAAB-FC28-FE33-560C29845DC0}"/>
              </a:ext>
            </a:extLst>
          </p:cNvPr>
          <p:cNvSpPr/>
          <p:nvPr/>
        </p:nvSpPr>
        <p:spPr>
          <a:xfrm>
            <a:off x="11387329" y="292609"/>
            <a:ext cx="51207" cy="51207"/>
          </a:xfrm>
          <a:prstGeom prst="ellipse">
            <a:avLst/>
          </a:prstGeom>
          <a:solidFill>
            <a:srgbClr val="FFFFFF">
              <a:alpha val="35000"/>
            </a:srgbClr>
          </a:solidFill>
          <a:ln w="12700">
            <a:solidFill>
              <a:srgbClr val="FFFFFF"/>
            </a:solidFill>
            <a:prstDash val="solid"/>
          </a:ln>
        </p:spPr>
      </p:sp>
      <p:sp>
        <p:nvSpPr>
          <p:cNvPr id="34" name="Shape 13">
            <a:extLst>
              <a:ext uri="{FF2B5EF4-FFF2-40B4-BE49-F238E27FC236}">
                <a16:creationId xmlns:a16="http://schemas.microsoft.com/office/drawing/2014/main" id="{D5285F09-3CFF-D55E-CD36-88CCB91C96EC}"/>
              </a:ext>
            </a:extLst>
          </p:cNvPr>
          <p:cNvSpPr/>
          <p:nvPr/>
        </p:nvSpPr>
        <p:spPr>
          <a:xfrm>
            <a:off x="10728961" y="463297"/>
            <a:ext cx="51207" cy="51207"/>
          </a:xfrm>
          <a:prstGeom prst="ellipse">
            <a:avLst/>
          </a:prstGeom>
          <a:solidFill>
            <a:srgbClr val="FFFFFF">
              <a:alpha val="35000"/>
            </a:srgbClr>
          </a:solidFill>
          <a:ln w="12700">
            <a:solidFill>
              <a:srgbClr val="FFFFFF"/>
            </a:solidFill>
            <a:prstDash val="solid"/>
          </a:ln>
        </p:spPr>
      </p:sp>
      <p:sp>
        <p:nvSpPr>
          <p:cNvPr id="35" name="Shape 14">
            <a:extLst>
              <a:ext uri="{FF2B5EF4-FFF2-40B4-BE49-F238E27FC236}">
                <a16:creationId xmlns:a16="http://schemas.microsoft.com/office/drawing/2014/main" id="{1DDE3261-B8D6-21E5-A8B5-740211AA11B0}"/>
              </a:ext>
            </a:extLst>
          </p:cNvPr>
          <p:cNvSpPr/>
          <p:nvPr/>
        </p:nvSpPr>
        <p:spPr>
          <a:xfrm>
            <a:off x="10948417" y="463297"/>
            <a:ext cx="51207" cy="51207"/>
          </a:xfrm>
          <a:prstGeom prst="ellipse">
            <a:avLst/>
          </a:prstGeom>
          <a:solidFill>
            <a:srgbClr val="FFFFFF">
              <a:alpha val="35000"/>
            </a:srgbClr>
          </a:solidFill>
          <a:ln w="12700">
            <a:solidFill>
              <a:srgbClr val="FFFFFF"/>
            </a:solidFill>
            <a:prstDash val="solid"/>
          </a:ln>
        </p:spPr>
      </p:sp>
      <p:sp>
        <p:nvSpPr>
          <p:cNvPr id="36" name="Shape 15">
            <a:extLst>
              <a:ext uri="{FF2B5EF4-FFF2-40B4-BE49-F238E27FC236}">
                <a16:creationId xmlns:a16="http://schemas.microsoft.com/office/drawing/2014/main" id="{8A995811-FF1E-EF32-E8C7-5C6089A4C869}"/>
              </a:ext>
            </a:extLst>
          </p:cNvPr>
          <p:cNvSpPr/>
          <p:nvPr/>
        </p:nvSpPr>
        <p:spPr>
          <a:xfrm>
            <a:off x="11167873" y="463297"/>
            <a:ext cx="51207" cy="51207"/>
          </a:xfrm>
          <a:prstGeom prst="ellipse">
            <a:avLst/>
          </a:prstGeom>
          <a:solidFill>
            <a:srgbClr val="FFFFFF">
              <a:alpha val="35000"/>
            </a:srgbClr>
          </a:solidFill>
          <a:ln w="12700">
            <a:solidFill>
              <a:srgbClr val="FFFFFF"/>
            </a:solidFill>
            <a:prstDash val="solid"/>
          </a:ln>
        </p:spPr>
      </p:sp>
      <p:sp>
        <p:nvSpPr>
          <p:cNvPr id="37" name="Shape 16">
            <a:extLst>
              <a:ext uri="{FF2B5EF4-FFF2-40B4-BE49-F238E27FC236}">
                <a16:creationId xmlns:a16="http://schemas.microsoft.com/office/drawing/2014/main" id="{1028A888-F4A9-CD42-FDB6-DA80835069F8}"/>
              </a:ext>
            </a:extLst>
          </p:cNvPr>
          <p:cNvSpPr/>
          <p:nvPr/>
        </p:nvSpPr>
        <p:spPr>
          <a:xfrm>
            <a:off x="11387329" y="463297"/>
            <a:ext cx="51207" cy="51207"/>
          </a:xfrm>
          <a:prstGeom prst="ellipse">
            <a:avLst/>
          </a:prstGeom>
          <a:solidFill>
            <a:srgbClr val="FFFFFF">
              <a:alpha val="35000"/>
            </a:srgbClr>
          </a:solidFill>
          <a:ln w="12700">
            <a:solidFill>
              <a:srgbClr val="FFFFFF"/>
            </a:solidFill>
            <a:prstDash val="solid"/>
          </a:ln>
        </p:spPr>
      </p:sp>
      <p:pic>
        <p:nvPicPr>
          <p:cNvPr id="38" name="Picture 37">
            <a:extLst>
              <a:ext uri="{FF2B5EF4-FFF2-40B4-BE49-F238E27FC236}">
                <a16:creationId xmlns:a16="http://schemas.microsoft.com/office/drawing/2014/main" id="{16626372-6B6A-6683-4783-9E74580BB0BA}"/>
              </a:ext>
            </a:extLst>
          </p:cNvPr>
          <p:cNvPicPr>
            <a:picLocks noChangeAspect="1"/>
          </p:cNvPicPr>
          <p:nvPr/>
        </p:nvPicPr>
        <p:blipFill>
          <a:blip r:embed="rId4"/>
          <a:stretch>
            <a:fillRect/>
          </a:stretch>
        </p:blipFill>
        <p:spPr>
          <a:xfrm>
            <a:off x="-453212" y="-263954"/>
            <a:ext cx="1776568" cy="1245981"/>
          </a:xfrm>
          <a:prstGeom prst="rect">
            <a:avLst/>
          </a:prstGeom>
        </p:spPr>
      </p:pic>
      <p:sp>
        <p:nvSpPr>
          <p:cNvPr id="3" name="Text 1"/>
          <p:cNvSpPr/>
          <p:nvPr/>
        </p:nvSpPr>
        <p:spPr>
          <a:xfrm>
            <a:off x="1192377" y="22673"/>
            <a:ext cx="10972800" cy="731520"/>
          </a:xfrm>
          <a:prstGeom prst="rect">
            <a:avLst/>
          </a:prstGeom>
          <a:noFill/>
          <a:ln/>
        </p:spPr>
        <p:txBody>
          <a:bodyPr wrap="square" lIns="0" tIns="0" rIns="0" bIns="0" rtlCol="0" anchor="ctr"/>
          <a:lstStyle/>
          <a:p>
            <a:r>
              <a:rPr lang="en-US" sz="3200" b="1" dirty="0">
                <a:solidFill>
                  <a:schemeClr val="bg1"/>
                </a:solidFill>
                <a:latin typeface="Calibri" pitchFamily="34" charset="0"/>
                <a:ea typeface="Calibri" pitchFamily="34" charset="-122"/>
                <a:cs typeface="Calibri" pitchFamily="34" charset="-120"/>
              </a:rPr>
              <a:t>MULTI-HORIZON PREDICTION</a:t>
            </a:r>
            <a:endParaRPr lang="en-US" sz="3200" dirty="0">
              <a:solidFill>
                <a:schemeClr val="bg1"/>
              </a:solidFill>
            </a:endParaRPr>
          </a:p>
        </p:txBody>
      </p:sp>
      <p:pic>
        <p:nvPicPr>
          <p:cNvPr id="41" name="Picture 40">
            <a:extLst>
              <a:ext uri="{FF2B5EF4-FFF2-40B4-BE49-F238E27FC236}">
                <a16:creationId xmlns:a16="http://schemas.microsoft.com/office/drawing/2014/main" id="{C2921957-1BC1-9292-A76D-B567F729A803}"/>
              </a:ext>
            </a:extLst>
          </p:cNvPr>
          <p:cNvPicPr>
            <a:picLocks noChangeAspect="1"/>
          </p:cNvPicPr>
          <p:nvPr/>
        </p:nvPicPr>
        <p:blipFill>
          <a:blip r:embed="rId5"/>
          <a:stretch>
            <a:fillRect/>
          </a:stretch>
        </p:blipFill>
        <p:spPr>
          <a:xfrm>
            <a:off x="6668266" y="2548152"/>
            <a:ext cx="5528441" cy="3949700"/>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0" descr="preencoded.png">
            <a:extLst>
              <a:ext uri="{FF2B5EF4-FFF2-40B4-BE49-F238E27FC236}">
                <a16:creationId xmlns:a16="http://schemas.microsoft.com/office/drawing/2014/main" id="{189D4A98-EFEC-0F49-1B35-30DFDDDBAF20}"/>
              </a:ext>
            </a:extLst>
          </p:cNvPr>
          <p:cNvPicPr>
            <a:picLocks noChangeAspect="1"/>
          </p:cNvPicPr>
          <p:nvPr/>
        </p:nvPicPr>
        <p:blipFill>
          <a:blip r:embed="rId3"/>
          <a:srcRect/>
          <a:stretch/>
        </p:blipFill>
        <p:spPr>
          <a:xfrm>
            <a:off x="7868" y="8176"/>
            <a:ext cx="12191928" cy="6857928"/>
          </a:xfrm>
          <a:prstGeom prst="rect">
            <a:avLst/>
          </a:prstGeom>
        </p:spPr>
      </p:pic>
      <p:graphicFrame>
        <p:nvGraphicFramePr>
          <p:cNvPr id="4" name="Table 0"/>
          <p:cNvGraphicFramePr>
            <a:graphicFrameLocks noGrp="1"/>
          </p:cNvGraphicFramePr>
          <p:nvPr/>
        </p:nvGraphicFramePr>
        <p:xfrm>
          <a:off x="206845" y="1100874"/>
          <a:ext cx="6356657" cy="2131437"/>
        </p:xfrm>
        <a:graphic>
          <a:graphicData uri="http://schemas.openxmlformats.org/drawingml/2006/table">
            <a:tbl>
              <a:tblPr/>
              <a:tblGrid>
                <a:gridCol w="1616099">
                  <a:extLst>
                    <a:ext uri="{9D8B030D-6E8A-4147-A177-3AD203B41FA5}">
                      <a16:colId xmlns:a16="http://schemas.microsoft.com/office/drawing/2014/main" val="20000"/>
                    </a:ext>
                  </a:extLst>
                </a:gridCol>
                <a:gridCol w="1292879">
                  <a:extLst>
                    <a:ext uri="{9D8B030D-6E8A-4147-A177-3AD203B41FA5}">
                      <a16:colId xmlns:a16="http://schemas.microsoft.com/office/drawing/2014/main" val="20001"/>
                    </a:ext>
                  </a:extLst>
                </a:gridCol>
                <a:gridCol w="1292879">
                  <a:extLst>
                    <a:ext uri="{9D8B030D-6E8A-4147-A177-3AD203B41FA5}">
                      <a16:colId xmlns:a16="http://schemas.microsoft.com/office/drawing/2014/main" val="20002"/>
                    </a:ext>
                  </a:extLst>
                </a:gridCol>
                <a:gridCol w="1077400">
                  <a:extLst>
                    <a:ext uri="{9D8B030D-6E8A-4147-A177-3AD203B41FA5}">
                      <a16:colId xmlns:a16="http://schemas.microsoft.com/office/drawing/2014/main" val="20003"/>
                    </a:ext>
                  </a:extLst>
                </a:gridCol>
                <a:gridCol w="1077400">
                  <a:extLst>
                    <a:ext uri="{9D8B030D-6E8A-4147-A177-3AD203B41FA5}">
                      <a16:colId xmlns:a16="http://schemas.microsoft.com/office/drawing/2014/main" val="20004"/>
                    </a:ext>
                  </a:extLst>
                </a:gridCol>
              </a:tblGrid>
              <a:tr h="476439">
                <a:tc>
                  <a:txBody>
                    <a:bodyPr/>
                    <a:lstStyle/>
                    <a:p>
                      <a:pPr marL="0" indent="0" algn="ctr">
                        <a:buNone/>
                      </a:pPr>
                      <a:r>
                        <a:rPr lang="en-US" sz="1700" b="1" dirty="0">
                          <a:solidFill>
                            <a:srgbClr val="FFFFFF"/>
                          </a:solidFill>
                          <a:latin typeface="Calibri" pitchFamily="34" charset="0"/>
                          <a:ea typeface="Calibri" pitchFamily="34" charset="-122"/>
                          <a:cs typeface="Calibri" pitchFamily="34" charset="-120"/>
                        </a:rPr>
                        <a:t>Class</a:t>
                      </a:r>
                      <a:endParaRPr lang="en-US" sz="1700" dirty="0">
                        <a:latin typeface="Calibri" charset="0"/>
                        <a:ea typeface="Calibri" charset="0"/>
                        <a:cs typeface="Calibri" charset="0"/>
                      </a:endParaRPr>
                    </a:p>
                  </a:txBody>
                  <a:tcPr marL="121920" marR="121920" marT="60960" marB="60960" anchor="ctr">
                    <a:lnL w="6350" cap="flat" cmpd="sng" algn="ctr">
                      <a:solidFill>
                        <a:srgbClr val="DDE3ED"/>
                      </a:solidFill>
                      <a:prstDash val="solid"/>
                      <a:round/>
                      <a:headEnd type="none" w="med" len="med"/>
                      <a:tailEnd type="none" w="med" len="med"/>
                    </a:lnL>
                    <a:lnR w="6350" cap="flat" cmpd="sng" algn="ctr">
                      <a:solidFill>
                        <a:srgbClr val="DDE3ED"/>
                      </a:solidFill>
                      <a:prstDash val="solid"/>
                      <a:round/>
                      <a:headEnd type="none" w="med" len="med"/>
                      <a:tailEnd type="none" w="med" len="med"/>
                    </a:lnR>
                    <a:lnT w="6350" cap="flat" cmpd="sng" algn="ctr">
                      <a:solidFill>
                        <a:srgbClr val="DDE3ED"/>
                      </a:solidFill>
                      <a:prstDash val="solid"/>
                      <a:round/>
                      <a:headEnd type="none" w="med" len="med"/>
                      <a:tailEnd type="none" w="med" len="med"/>
                    </a:lnT>
                    <a:lnB w="6350" cap="flat" cmpd="sng" algn="ctr">
                      <a:solidFill>
                        <a:srgbClr val="DDE3ED"/>
                      </a:solidFill>
                      <a:prstDash val="solid"/>
                      <a:round/>
                      <a:headEnd type="none" w="med" len="med"/>
                      <a:tailEnd type="none" w="med" len="med"/>
                    </a:lnB>
                    <a:solidFill>
                      <a:srgbClr val="0A1F44"/>
                    </a:solidFill>
                  </a:tcPr>
                </a:tc>
                <a:tc>
                  <a:txBody>
                    <a:bodyPr/>
                    <a:lstStyle/>
                    <a:p>
                      <a:pPr marL="0" indent="0" algn="ctr">
                        <a:buNone/>
                      </a:pPr>
                      <a:r>
                        <a:rPr lang="en-US" sz="1700" b="1" dirty="0">
                          <a:solidFill>
                            <a:srgbClr val="FFFFFF"/>
                          </a:solidFill>
                          <a:latin typeface="Calibri" pitchFamily="34" charset="0"/>
                          <a:ea typeface="Calibri" pitchFamily="34" charset="-122"/>
                          <a:cs typeface="Calibri" pitchFamily="34" charset="-120"/>
                        </a:rPr>
                        <a:t>Precision</a:t>
                      </a:r>
                      <a:endParaRPr lang="en-US" sz="1700" dirty="0">
                        <a:latin typeface="Calibri" charset="0"/>
                        <a:ea typeface="Calibri" charset="0"/>
                        <a:cs typeface="Calibri" charset="0"/>
                      </a:endParaRPr>
                    </a:p>
                  </a:txBody>
                  <a:tcPr marL="121920" marR="121920" marT="60960" marB="60960" anchor="ctr">
                    <a:lnL w="6350" cap="flat" cmpd="sng" algn="ctr">
                      <a:solidFill>
                        <a:srgbClr val="DDE3ED"/>
                      </a:solidFill>
                      <a:prstDash val="solid"/>
                      <a:round/>
                      <a:headEnd type="none" w="med" len="med"/>
                      <a:tailEnd type="none" w="med" len="med"/>
                    </a:lnL>
                    <a:lnR w="6350" cap="flat" cmpd="sng" algn="ctr">
                      <a:solidFill>
                        <a:srgbClr val="DDE3ED"/>
                      </a:solidFill>
                      <a:prstDash val="solid"/>
                      <a:round/>
                      <a:headEnd type="none" w="med" len="med"/>
                      <a:tailEnd type="none" w="med" len="med"/>
                    </a:lnR>
                    <a:lnT w="6350" cap="flat" cmpd="sng" algn="ctr">
                      <a:solidFill>
                        <a:srgbClr val="DDE3ED"/>
                      </a:solidFill>
                      <a:prstDash val="solid"/>
                      <a:round/>
                      <a:headEnd type="none" w="med" len="med"/>
                      <a:tailEnd type="none" w="med" len="med"/>
                    </a:lnT>
                    <a:lnB w="6350" cap="flat" cmpd="sng" algn="ctr">
                      <a:solidFill>
                        <a:srgbClr val="DDE3ED"/>
                      </a:solidFill>
                      <a:prstDash val="solid"/>
                      <a:round/>
                      <a:headEnd type="none" w="med" len="med"/>
                      <a:tailEnd type="none" w="med" len="med"/>
                    </a:lnB>
                    <a:solidFill>
                      <a:srgbClr val="0A1F44"/>
                    </a:solidFill>
                  </a:tcPr>
                </a:tc>
                <a:tc>
                  <a:txBody>
                    <a:bodyPr/>
                    <a:lstStyle/>
                    <a:p>
                      <a:pPr marL="0" indent="0" algn="ctr">
                        <a:buNone/>
                      </a:pPr>
                      <a:r>
                        <a:rPr lang="en-US" sz="1700" b="1" dirty="0">
                          <a:solidFill>
                            <a:srgbClr val="FFFFFF"/>
                          </a:solidFill>
                          <a:latin typeface="Calibri" pitchFamily="34" charset="0"/>
                          <a:ea typeface="Calibri" pitchFamily="34" charset="-122"/>
                          <a:cs typeface="Calibri" pitchFamily="34" charset="-120"/>
                        </a:rPr>
                        <a:t>Recall</a:t>
                      </a:r>
                      <a:endParaRPr lang="en-US" sz="1700" dirty="0">
                        <a:latin typeface="Calibri" charset="0"/>
                        <a:ea typeface="Calibri" charset="0"/>
                        <a:cs typeface="Calibri" charset="0"/>
                      </a:endParaRPr>
                    </a:p>
                  </a:txBody>
                  <a:tcPr marL="121920" marR="121920" marT="60960" marB="60960" anchor="ctr">
                    <a:lnL w="6350" cap="flat" cmpd="sng" algn="ctr">
                      <a:solidFill>
                        <a:srgbClr val="DDE3ED"/>
                      </a:solidFill>
                      <a:prstDash val="solid"/>
                      <a:round/>
                      <a:headEnd type="none" w="med" len="med"/>
                      <a:tailEnd type="none" w="med" len="med"/>
                    </a:lnL>
                    <a:lnR w="6350" cap="flat" cmpd="sng" algn="ctr">
                      <a:solidFill>
                        <a:srgbClr val="DDE3ED"/>
                      </a:solidFill>
                      <a:prstDash val="solid"/>
                      <a:round/>
                      <a:headEnd type="none" w="med" len="med"/>
                      <a:tailEnd type="none" w="med" len="med"/>
                    </a:lnR>
                    <a:lnT w="6350" cap="flat" cmpd="sng" algn="ctr">
                      <a:solidFill>
                        <a:srgbClr val="DDE3ED"/>
                      </a:solidFill>
                      <a:prstDash val="solid"/>
                      <a:round/>
                      <a:headEnd type="none" w="med" len="med"/>
                      <a:tailEnd type="none" w="med" len="med"/>
                    </a:lnT>
                    <a:lnB w="6350" cap="flat" cmpd="sng" algn="ctr">
                      <a:solidFill>
                        <a:srgbClr val="DDE3ED"/>
                      </a:solidFill>
                      <a:prstDash val="solid"/>
                      <a:round/>
                      <a:headEnd type="none" w="med" len="med"/>
                      <a:tailEnd type="none" w="med" len="med"/>
                    </a:lnB>
                    <a:solidFill>
                      <a:srgbClr val="0A1F44"/>
                    </a:solidFill>
                  </a:tcPr>
                </a:tc>
                <a:tc>
                  <a:txBody>
                    <a:bodyPr/>
                    <a:lstStyle/>
                    <a:p>
                      <a:pPr marL="0" indent="0" algn="ctr">
                        <a:buNone/>
                      </a:pPr>
                      <a:r>
                        <a:rPr lang="en-US" sz="1700" b="1" dirty="0">
                          <a:solidFill>
                            <a:srgbClr val="FFFFFF"/>
                          </a:solidFill>
                          <a:latin typeface="Calibri" pitchFamily="34" charset="0"/>
                          <a:ea typeface="Calibri" pitchFamily="34" charset="-122"/>
                          <a:cs typeface="Calibri" pitchFamily="34" charset="-120"/>
                        </a:rPr>
                        <a:t>F1</a:t>
                      </a:r>
                      <a:endParaRPr lang="en-US" sz="1700" dirty="0">
                        <a:latin typeface="Calibri" charset="0"/>
                        <a:ea typeface="Calibri" charset="0"/>
                        <a:cs typeface="Calibri" charset="0"/>
                      </a:endParaRPr>
                    </a:p>
                  </a:txBody>
                  <a:tcPr marL="121920" marR="121920" marT="60960" marB="60960" anchor="ctr">
                    <a:lnL w="6350" cap="flat" cmpd="sng" algn="ctr">
                      <a:solidFill>
                        <a:srgbClr val="DDE3ED"/>
                      </a:solidFill>
                      <a:prstDash val="solid"/>
                      <a:round/>
                      <a:headEnd type="none" w="med" len="med"/>
                      <a:tailEnd type="none" w="med" len="med"/>
                    </a:lnL>
                    <a:lnR w="6350" cap="flat" cmpd="sng" algn="ctr">
                      <a:solidFill>
                        <a:srgbClr val="DDE3ED"/>
                      </a:solidFill>
                      <a:prstDash val="solid"/>
                      <a:round/>
                      <a:headEnd type="none" w="med" len="med"/>
                      <a:tailEnd type="none" w="med" len="med"/>
                    </a:lnR>
                    <a:lnT w="6350" cap="flat" cmpd="sng" algn="ctr">
                      <a:solidFill>
                        <a:srgbClr val="DDE3ED"/>
                      </a:solidFill>
                      <a:prstDash val="solid"/>
                      <a:round/>
                      <a:headEnd type="none" w="med" len="med"/>
                      <a:tailEnd type="none" w="med" len="med"/>
                    </a:lnT>
                    <a:lnB w="6350" cap="flat" cmpd="sng" algn="ctr">
                      <a:solidFill>
                        <a:srgbClr val="DDE3ED"/>
                      </a:solidFill>
                      <a:prstDash val="solid"/>
                      <a:round/>
                      <a:headEnd type="none" w="med" len="med"/>
                      <a:tailEnd type="none" w="med" len="med"/>
                    </a:lnB>
                    <a:solidFill>
                      <a:srgbClr val="0A1F44"/>
                    </a:solidFill>
                  </a:tcPr>
                </a:tc>
                <a:tc>
                  <a:txBody>
                    <a:bodyPr/>
                    <a:lstStyle/>
                    <a:p>
                      <a:pPr marL="0" indent="0" algn="ctr">
                        <a:buNone/>
                      </a:pPr>
                      <a:r>
                        <a:rPr lang="en-US" sz="1700" b="1" dirty="0">
                          <a:solidFill>
                            <a:srgbClr val="FFFFFF"/>
                          </a:solidFill>
                          <a:latin typeface="Calibri" pitchFamily="34" charset="0"/>
                          <a:ea typeface="Calibri" pitchFamily="34" charset="-122"/>
                          <a:cs typeface="Calibri" pitchFamily="34" charset="-120"/>
                        </a:rPr>
                        <a:t>Support</a:t>
                      </a:r>
                      <a:endParaRPr lang="en-US" sz="1700" dirty="0">
                        <a:latin typeface="Calibri" charset="0"/>
                        <a:ea typeface="Calibri" charset="0"/>
                        <a:cs typeface="Calibri" charset="0"/>
                      </a:endParaRPr>
                    </a:p>
                  </a:txBody>
                  <a:tcPr marL="121920" marR="121920" marT="60960" marB="60960" anchor="ctr">
                    <a:lnL w="6350" cap="flat" cmpd="sng" algn="ctr">
                      <a:solidFill>
                        <a:srgbClr val="DDE3ED"/>
                      </a:solidFill>
                      <a:prstDash val="solid"/>
                      <a:round/>
                      <a:headEnd type="none" w="med" len="med"/>
                      <a:tailEnd type="none" w="med" len="med"/>
                    </a:lnL>
                    <a:lnR w="6350" cap="flat" cmpd="sng" algn="ctr">
                      <a:solidFill>
                        <a:srgbClr val="DDE3ED"/>
                      </a:solidFill>
                      <a:prstDash val="solid"/>
                      <a:round/>
                      <a:headEnd type="none" w="med" len="med"/>
                      <a:tailEnd type="none" w="med" len="med"/>
                    </a:lnR>
                    <a:lnT w="6350" cap="flat" cmpd="sng" algn="ctr">
                      <a:solidFill>
                        <a:srgbClr val="DDE3ED"/>
                      </a:solidFill>
                      <a:prstDash val="solid"/>
                      <a:round/>
                      <a:headEnd type="none" w="med" len="med"/>
                      <a:tailEnd type="none" w="med" len="med"/>
                    </a:lnT>
                    <a:lnB w="6350" cap="flat" cmpd="sng" algn="ctr">
                      <a:solidFill>
                        <a:srgbClr val="DDE3ED"/>
                      </a:solidFill>
                      <a:prstDash val="solid"/>
                      <a:round/>
                      <a:headEnd type="none" w="med" len="med"/>
                      <a:tailEnd type="none" w="med" len="med"/>
                    </a:lnB>
                    <a:solidFill>
                      <a:srgbClr val="0A1F44"/>
                    </a:solidFill>
                  </a:tcPr>
                </a:tc>
                <a:extLst>
                  <a:ext uri="{0D108BD9-81ED-4DB2-BD59-A6C34878D82A}">
                    <a16:rowId xmlns:a16="http://schemas.microsoft.com/office/drawing/2014/main" val="10000"/>
                  </a:ext>
                </a:extLst>
              </a:tr>
              <a:tr h="551666">
                <a:tc>
                  <a:txBody>
                    <a:bodyPr/>
                    <a:lstStyle/>
                    <a:p>
                      <a:pPr marL="0" indent="0" algn="ctr">
                        <a:buNone/>
                      </a:pPr>
                      <a:r>
                        <a:rPr lang="en-US" sz="1700" dirty="0">
                          <a:solidFill>
                            <a:srgbClr val="000000"/>
                          </a:solidFill>
                          <a:latin typeface="Calibri" pitchFamily="34" charset="0"/>
                          <a:ea typeface="Calibri" pitchFamily="34" charset="-122"/>
                          <a:cs typeface="Calibri" pitchFamily="34" charset="-120"/>
                        </a:rPr>
                        <a:t>CLEAN</a:t>
                      </a:r>
                      <a:endParaRPr lang="en-US" sz="1700" dirty="0">
                        <a:latin typeface="Calibri" charset="0"/>
                        <a:ea typeface="Calibri" charset="0"/>
                        <a:cs typeface="Calibri" charset="0"/>
                      </a:endParaRPr>
                    </a:p>
                  </a:txBody>
                  <a:tcPr marL="121920" marR="121920" marT="60960" marB="60960" anchor="ctr">
                    <a:lnL w="6350" cap="flat" cmpd="sng" algn="ctr">
                      <a:solidFill>
                        <a:srgbClr val="DDE3ED"/>
                      </a:solidFill>
                      <a:prstDash val="solid"/>
                      <a:round/>
                      <a:headEnd type="none" w="med" len="med"/>
                      <a:tailEnd type="none" w="med" len="med"/>
                    </a:lnL>
                    <a:lnR w="6350" cap="flat" cmpd="sng" algn="ctr">
                      <a:solidFill>
                        <a:srgbClr val="DDE3ED"/>
                      </a:solidFill>
                      <a:prstDash val="solid"/>
                      <a:round/>
                      <a:headEnd type="none" w="med" len="med"/>
                      <a:tailEnd type="none" w="med" len="med"/>
                    </a:lnR>
                    <a:lnT w="6350" cap="flat" cmpd="sng" algn="ctr">
                      <a:solidFill>
                        <a:srgbClr val="DDE3ED"/>
                      </a:solidFill>
                      <a:prstDash val="solid"/>
                      <a:round/>
                      <a:headEnd type="none" w="med" len="med"/>
                      <a:tailEnd type="none" w="med" len="med"/>
                    </a:lnT>
                    <a:lnB w="6350" cap="flat" cmpd="sng" algn="ctr">
                      <a:solidFill>
                        <a:srgbClr val="DDE3ED"/>
                      </a:solidFill>
                      <a:prstDash val="solid"/>
                      <a:round/>
                      <a:headEnd type="none" w="med" len="med"/>
                      <a:tailEnd type="none" w="med" len="med"/>
                    </a:lnB>
                    <a:solidFill>
                      <a:srgbClr val="EAF6EF"/>
                    </a:solidFill>
                  </a:tcPr>
                </a:tc>
                <a:tc>
                  <a:txBody>
                    <a:bodyPr/>
                    <a:lstStyle/>
                    <a:p>
                      <a:pPr marL="0" indent="0" algn="ctr">
                        <a:buNone/>
                      </a:pPr>
                      <a:r>
                        <a:rPr lang="en-US" sz="1700" dirty="0">
                          <a:solidFill>
                            <a:srgbClr val="000000"/>
                          </a:solidFill>
                          <a:latin typeface="Calibri" pitchFamily="34" charset="0"/>
                          <a:ea typeface="Calibri" pitchFamily="34" charset="-122"/>
                          <a:cs typeface="Calibri" pitchFamily="34" charset="-120"/>
                        </a:rPr>
                        <a:t>0.868</a:t>
                      </a:r>
                      <a:endParaRPr lang="en-US" sz="1700" dirty="0">
                        <a:latin typeface="Calibri" charset="0"/>
                        <a:ea typeface="Calibri" charset="0"/>
                        <a:cs typeface="Calibri" charset="0"/>
                      </a:endParaRPr>
                    </a:p>
                  </a:txBody>
                  <a:tcPr marL="121920" marR="121920" marT="60960" marB="60960" anchor="ctr">
                    <a:lnL w="6350" cap="flat" cmpd="sng" algn="ctr">
                      <a:solidFill>
                        <a:srgbClr val="DDE3ED"/>
                      </a:solidFill>
                      <a:prstDash val="solid"/>
                      <a:round/>
                      <a:headEnd type="none" w="med" len="med"/>
                      <a:tailEnd type="none" w="med" len="med"/>
                    </a:lnL>
                    <a:lnR w="6350" cap="flat" cmpd="sng" algn="ctr">
                      <a:solidFill>
                        <a:srgbClr val="DDE3ED"/>
                      </a:solidFill>
                      <a:prstDash val="solid"/>
                      <a:round/>
                      <a:headEnd type="none" w="med" len="med"/>
                      <a:tailEnd type="none" w="med" len="med"/>
                    </a:lnR>
                    <a:lnT w="6350" cap="flat" cmpd="sng" algn="ctr">
                      <a:solidFill>
                        <a:srgbClr val="DDE3ED"/>
                      </a:solidFill>
                      <a:prstDash val="solid"/>
                      <a:round/>
                      <a:headEnd type="none" w="med" len="med"/>
                      <a:tailEnd type="none" w="med" len="med"/>
                    </a:lnT>
                    <a:lnB w="6350" cap="flat" cmpd="sng" algn="ctr">
                      <a:solidFill>
                        <a:srgbClr val="DDE3ED"/>
                      </a:solidFill>
                      <a:prstDash val="solid"/>
                      <a:round/>
                      <a:headEnd type="none" w="med" len="med"/>
                      <a:tailEnd type="none" w="med" len="med"/>
                    </a:lnB>
                  </a:tcPr>
                </a:tc>
                <a:tc>
                  <a:txBody>
                    <a:bodyPr/>
                    <a:lstStyle/>
                    <a:p>
                      <a:pPr marL="0" indent="0" algn="ctr">
                        <a:buNone/>
                      </a:pPr>
                      <a:r>
                        <a:rPr lang="en-US" sz="1700" dirty="0">
                          <a:solidFill>
                            <a:srgbClr val="000000"/>
                          </a:solidFill>
                          <a:latin typeface="Calibri" pitchFamily="34" charset="0"/>
                          <a:ea typeface="Calibri" pitchFamily="34" charset="-122"/>
                          <a:cs typeface="Calibri" pitchFamily="34" charset="-120"/>
                        </a:rPr>
                        <a:t>0.993</a:t>
                      </a:r>
                      <a:endParaRPr lang="en-US" sz="1700" dirty="0">
                        <a:latin typeface="Calibri" charset="0"/>
                        <a:ea typeface="Calibri" charset="0"/>
                        <a:cs typeface="Calibri" charset="0"/>
                      </a:endParaRPr>
                    </a:p>
                  </a:txBody>
                  <a:tcPr marL="121920" marR="121920" marT="60960" marB="60960" anchor="ctr">
                    <a:lnL w="6350" cap="flat" cmpd="sng" algn="ctr">
                      <a:solidFill>
                        <a:srgbClr val="DDE3ED"/>
                      </a:solidFill>
                      <a:prstDash val="solid"/>
                      <a:round/>
                      <a:headEnd type="none" w="med" len="med"/>
                      <a:tailEnd type="none" w="med" len="med"/>
                    </a:lnL>
                    <a:lnR w="6350" cap="flat" cmpd="sng" algn="ctr">
                      <a:solidFill>
                        <a:srgbClr val="DDE3ED"/>
                      </a:solidFill>
                      <a:prstDash val="solid"/>
                      <a:round/>
                      <a:headEnd type="none" w="med" len="med"/>
                      <a:tailEnd type="none" w="med" len="med"/>
                    </a:lnR>
                    <a:lnT w="6350" cap="flat" cmpd="sng" algn="ctr">
                      <a:solidFill>
                        <a:srgbClr val="DDE3ED"/>
                      </a:solidFill>
                      <a:prstDash val="solid"/>
                      <a:round/>
                      <a:headEnd type="none" w="med" len="med"/>
                      <a:tailEnd type="none" w="med" len="med"/>
                    </a:lnT>
                    <a:lnB w="6350" cap="flat" cmpd="sng" algn="ctr">
                      <a:solidFill>
                        <a:srgbClr val="DDE3ED"/>
                      </a:solidFill>
                      <a:prstDash val="solid"/>
                      <a:round/>
                      <a:headEnd type="none" w="med" len="med"/>
                      <a:tailEnd type="none" w="med" len="med"/>
                    </a:lnB>
                  </a:tcPr>
                </a:tc>
                <a:tc>
                  <a:txBody>
                    <a:bodyPr/>
                    <a:lstStyle/>
                    <a:p>
                      <a:pPr marL="0" indent="0" algn="ctr">
                        <a:buNone/>
                      </a:pPr>
                      <a:r>
                        <a:rPr lang="en-US" sz="1700" b="1" dirty="0">
                          <a:solidFill>
                            <a:srgbClr val="1DA462"/>
                          </a:solidFill>
                          <a:latin typeface="Calibri" pitchFamily="34" charset="0"/>
                          <a:ea typeface="Calibri" pitchFamily="34" charset="-122"/>
                          <a:cs typeface="Calibri" pitchFamily="34" charset="-120"/>
                        </a:rPr>
                        <a:t>0.927</a:t>
                      </a:r>
                      <a:endParaRPr lang="en-US" sz="1700" dirty="0">
                        <a:latin typeface="Calibri" charset="0"/>
                        <a:ea typeface="Calibri" charset="0"/>
                        <a:cs typeface="Calibri" charset="0"/>
                      </a:endParaRPr>
                    </a:p>
                  </a:txBody>
                  <a:tcPr marL="121920" marR="121920" marT="60960" marB="60960" anchor="ctr">
                    <a:lnL w="6350" cap="flat" cmpd="sng" algn="ctr">
                      <a:solidFill>
                        <a:srgbClr val="DDE3ED"/>
                      </a:solidFill>
                      <a:prstDash val="solid"/>
                      <a:round/>
                      <a:headEnd type="none" w="med" len="med"/>
                      <a:tailEnd type="none" w="med" len="med"/>
                    </a:lnL>
                    <a:lnR w="6350" cap="flat" cmpd="sng" algn="ctr">
                      <a:solidFill>
                        <a:srgbClr val="DDE3ED"/>
                      </a:solidFill>
                      <a:prstDash val="solid"/>
                      <a:round/>
                      <a:headEnd type="none" w="med" len="med"/>
                      <a:tailEnd type="none" w="med" len="med"/>
                    </a:lnR>
                    <a:lnT w="6350" cap="flat" cmpd="sng" algn="ctr">
                      <a:solidFill>
                        <a:srgbClr val="DDE3ED"/>
                      </a:solidFill>
                      <a:prstDash val="solid"/>
                      <a:round/>
                      <a:headEnd type="none" w="med" len="med"/>
                      <a:tailEnd type="none" w="med" len="med"/>
                    </a:lnT>
                    <a:lnB w="6350" cap="flat" cmpd="sng" algn="ctr">
                      <a:solidFill>
                        <a:srgbClr val="DDE3ED"/>
                      </a:solidFill>
                      <a:prstDash val="solid"/>
                      <a:round/>
                      <a:headEnd type="none" w="med" len="med"/>
                      <a:tailEnd type="none" w="med" len="med"/>
                    </a:lnB>
                  </a:tcPr>
                </a:tc>
                <a:tc>
                  <a:txBody>
                    <a:bodyPr/>
                    <a:lstStyle/>
                    <a:p>
                      <a:pPr marL="0" indent="0" algn="ctr">
                        <a:buNone/>
                      </a:pPr>
                      <a:r>
                        <a:rPr lang="en-US" sz="1700" dirty="0">
                          <a:solidFill>
                            <a:srgbClr val="000000"/>
                          </a:solidFill>
                          <a:latin typeface="Calibri" pitchFamily="34" charset="0"/>
                          <a:ea typeface="Calibri" pitchFamily="34" charset="-122"/>
                          <a:cs typeface="Calibri" pitchFamily="34" charset="-120"/>
                        </a:rPr>
                        <a:t>731</a:t>
                      </a:r>
                      <a:endParaRPr lang="en-US" sz="1700" dirty="0">
                        <a:latin typeface="Calibri" charset="0"/>
                        <a:ea typeface="Calibri" charset="0"/>
                        <a:cs typeface="Calibri" charset="0"/>
                      </a:endParaRPr>
                    </a:p>
                  </a:txBody>
                  <a:tcPr marL="121920" marR="121920" marT="60960" marB="60960" anchor="ctr">
                    <a:lnL w="6350" cap="flat" cmpd="sng" algn="ctr">
                      <a:solidFill>
                        <a:srgbClr val="DDE3ED"/>
                      </a:solidFill>
                      <a:prstDash val="solid"/>
                      <a:round/>
                      <a:headEnd type="none" w="med" len="med"/>
                      <a:tailEnd type="none" w="med" len="med"/>
                    </a:lnL>
                    <a:lnR w="6350" cap="flat" cmpd="sng" algn="ctr">
                      <a:solidFill>
                        <a:srgbClr val="DDE3ED"/>
                      </a:solidFill>
                      <a:prstDash val="solid"/>
                      <a:round/>
                      <a:headEnd type="none" w="med" len="med"/>
                      <a:tailEnd type="none" w="med" len="med"/>
                    </a:lnR>
                    <a:lnT w="6350" cap="flat" cmpd="sng" algn="ctr">
                      <a:solidFill>
                        <a:srgbClr val="DDE3ED"/>
                      </a:solidFill>
                      <a:prstDash val="solid"/>
                      <a:round/>
                      <a:headEnd type="none" w="med" len="med"/>
                      <a:tailEnd type="none" w="med" len="med"/>
                    </a:lnT>
                    <a:lnB w="6350" cap="flat" cmpd="sng" algn="ctr">
                      <a:solidFill>
                        <a:srgbClr val="DDE3ED"/>
                      </a:solidFill>
                      <a:prstDash val="solid"/>
                      <a:round/>
                      <a:headEnd type="none" w="med" len="med"/>
                      <a:tailEnd type="none" w="med" len="med"/>
                    </a:lnB>
                  </a:tcPr>
                </a:tc>
                <a:extLst>
                  <a:ext uri="{0D108BD9-81ED-4DB2-BD59-A6C34878D82A}">
                    <a16:rowId xmlns:a16="http://schemas.microsoft.com/office/drawing/2014/main" val="10001"/>
                  </a:ext>
                </a:extLst>
              </a:tr>
              <a:tr h="551666">
                <a:tc>
                  <a:txBody>
                    <a:bodyPr/>
                    <a:lstStyle/>
                    <a:p>
                      <a:pPr marL="0" indent="0" algn="ctr">
                        <a:buNone/>
                      </a:pPr>
                      <a:r>
                        <a:rPr lang="en-US" sz="1700" dirty="0">
                          <a:solidFill>
                            <a:srgbClr val="000000"/>
                          </a:solidFill>
                          <a:latin typeface="Calibri" pitchFamily="34" charset="0"/>
                          <a:ea typeface="Calibri" pitchFamily="34" charset="-122"/>
                          <a:cs typeface="Calibri" pitchFamily="34" charset="-120"/>
                        </a:rPr>
                        <a:t>WARNING</a:t>
                      </a:r>
                      <a:endParaRPr lang="en-US" sz="1700" dirty="0">
                        <a:latin typeface="Calibri" charset="0"/>
                        <a:ea typeface="Calibri" charset="0"/>
                        <a:cs typeface="Calibri" charset="0"/>
                      </a:endParaRPr>
                    </a:p>
                  </a:txBody>
                  <a:tcPr marL="121920" marR="121920" marT="60960" marB="60960" anchor="ctr">
                    <a:lnL w="6350" cap="flat" cmpd="sng" algn="ctr">
                      <a:solidFill>
                        <a:srgbClr val="DDE3ED"/>
                      </a:solidFill>
                      <a:prstDash val="solid"/>
                      <a:round/>
                      <a:headEnd type="none" w="med" len="med"/>
                      <a:tailEnd type="none" w="med" len="med"/>
                    </a:lnL>
                    <a:lnR w="6350" cap="flat" cmpd="sng" algn="ctr">
                      <a:solidFill>
                        <a:srgbClr val="DDE3ED"/>
                      </a:solidFill>
                      <a:prstDash val="solid"/>
                      <a:round/>
                      <a:headEnd type="none" w="med" len="med"/>
                      <a:tailEnd type="none" w="med" len="med"/>
                    </a:lnR>
                    <a:lnT w="6350" cap="flat" cmpd="sng" algn="ctr">
                      <a:solidFill>
                        <a:srgbClr val="DDE3ED"/>
                      </a:solidFill>
                      <a:prstDash val="solid"/>
                      <a:round/>
                      <a:headEnd type="none" w="med" len="med"/>
                      <a:tailEnd type="none" w="med" len="med"/>
                    </a:lnT>
                    <a:lnB w="6350" cap="flat" cmpd="sng" algn="ctr">
                      <a:solidFill>
                        <a:srgbClr val="DDE3ED"/>
                      </a:solidFill>
                      <a:prstDash val="solid"/>
                      <a:round/>
                      <a:headEnd type="none" w="med" len="med"/>
                      <a:tailEnd type="none" w="med" len="med"/>
                    </a:lnB>
                    <a:solidFill>
                      <a:srgbClr val="FEF3E2"/>
                    </a:solidFill>
                  </a:tcPr>
                </a:tc>
                <a:tc>
                  <a:txBody>
                    <a:bodyPr/>
                    <a:lstStyle/>
                    <a:p>
                      <a:pPr marL="0" indent="0" algn="ctr">
                        <a:buNone/>
                      </a:pPr>
                      <a:r>
                        <a:rPr lang="en-US" sz="1700" dirty="0">
                          <a:solidFill>
                            <a:srgbClr val="000000"/>
                          </a:solidFill>
                          <a:latin typeface="Calibri" pitchFamily="34" charset="0"/>
                          <a:ea typeface="Calibri" pitchFamily="34" charset="-122"/>
                          <a:cs typeface="Calibri" pitchFamily="34" charset="-120"/>
                        </a:rPr>
                        <a:t>0.947</a:t>
                      </a:r>
                      <a:endParaRPr lang="en-US" sz="1700" dirty="0">
                        <a:latin typeface="Calibri" charset="0"/>
                        <a:ea typeface="Calibri" charset="0"/>
                        <a:cs typeface="Calibri" charset="0"/>
                      </a:endParaRPr>
                    </a:p>
                  </a:txBody>
                  <a:tcPr marL="121920" marR="121920" marT="60960" marB="60960" anchor="ctr">
                    <a:lnL w="6350" cap="flat" cmpd="sng" algn="ctr">
                      <a:solidFill>
                        <a:srgbClr val="DDE3ED"/>
                      </a:solidFill>
                      <a:prstDash val="solid"/>
                      <a:round/>
                      <a:headEnd type="none" w="med" len="med"/>
                      <a:tailEnd type="none" w="med" len="med"/>
                    </a:lnL>
                    <a:lnR w="6350" cap="flat" cmpd="sng" algn="ctr">
                      <a:solidFill>
                        <a:srgbClr val="DDE3ED"/>
                      </a:solidFill>
                      <a:prstDash val="solid"/>
                      <a:round/>
                      <a:headEnd type="none" w="med" len="med"/>
                      <a:tailEnd type="none" w="med" len="med"/>
                    </a:lnR>
                    <a:lnT w="6350" cap="flat" cmpd="sng" algn="ctr">
                      <a:solidFill>
                        <a:srgbClr val="DDE3ED"/>
                      </a:solidFill>
                      <a:prstDash val="solid"/>
                      <a:round/>
                      <a:headEnd type="none" w="med" len="med"/>
                      <a:tailEnd type="none" w="med" len="med"/>
                    </a:lnT>
                    <a:lnB w="6350" cap="flat" cmpd="sng" algn="ctr">
                      <a:solidFill>
                        <a:srgbClr val="DDE3ED"/>
                      </a:solidFill>
                      <a:prstDash val="solid"/>
                      <a:round/>
                      <a:headEnd type="none" w="med" len="med"/>
                      <a:tailEnd type="none" w="med" len="med"/>
                    </a:lnB>
                  </a:tcPr>
                </a:tc>
                <a:tc>
                  <a:txBody>
                    <a:bodyPr/>
                    <a:lstStyle/>
                    <a:p>
                      <a:pPr marL="0" indent="0" algn="ctr">
                        <a:buNone/>
                      </a:pPr>
                      <a:r>
                        <a:rPr lang="en-US" sz="1700" dirty="0">
                          <a:solidFill>
                            <a:srgbClr val="000000"/>
                          </a:solidFill>
                          <a:latin typeface="Calibri" pitchFamily="34" charset="0"/>
                          <a:ea typeface="Calibri" pitchFamily="34" charset="-122"/>
                          <a:cs typeface="Calibri" pitchFamily="34" charset="-120"/>
                        </a:rPr>
                        <a:t>0.718</a:t>
                      </a:r>
                      <a:endParaRPr lang="en-US" sz="1700" dirty="0">
                        <a:latin typeface="Calibri" charset="0"/>
                        <a:ea typeface="Calibri" charset="0"/>
                        <a:cs typeface="Calibri" charset="0"/>
                      </a:endParaRPr>
                    </a:p>
                  </a:txBody>
                  <a:tcPr marL="121920" marR="121920" marT="60960" marB="60960" anchor="ctr">
                    <a:lnL w="6350" cap="flat" cmpd="sng" algn="ctr">
                      <a:solidFill>
                        <a:srgbClr val="DDE3ED"/>
                      </a:solidFill>
                      <a:prstDash val="solid"/>
                      <a:round/>
                      <a:headEnd type="none" w="med" len="med"/>
                      <a:tailEnd type="none" w="med" len="med"/>
                    </a:lnL>
                    <a:lnR w="6350" cap="flat" cmpd="sng" algn="ctr">
                      <a:solidFill>
                        <a:srgbClr val="DDE3ED"/>
                      </a:solidFill>
                      <a:prstDash val="solid"/>
                      <a:round/>
                      <a:headEnd type="none" w="med" len="med"/>
                      <a:tailEnd type="none" w="med" len="med"/>
                    </a:lnR>
                    <a:lnT w="6350" cap="flat" cmpd="sng" algn="ctr">
                      <a:solidFill>
                        <a:srgbClr val="DDE3ED"/>
                      </a:solidFill>
                      <a:prstDash val="solid"/>
                      <a:round/>
                      <a:headEnd type="none" w="med" len="med"/>
                      <a:tailEnd type="none" w="med" len="med"/>
                    </a:lnT>
                    <a:lnB w="6350" cap="flat" cmpd="sng" algn="ctr">
                      <a:solidFill>
                        <a:srgbClr val="DDE3ED"/>
                      </a:solidFill>
                      <a:prstDash val="solid"/>
                      <a:round/>
                      <a:headEnd type="none" w="med" len="med"/>
                      <a:tailEnd type="none" w="med" len="med"/>
                    </a:lnB>
                  </a:tcPr>
                </a:tc>
                <a:tc>
                  <a:txBody>
                    <a:bodyPr/>
                    <a:lstStyle/>
                    <a:p>
                      <a:pPr marL="0" indent="0" algn="ctr">
                        <a:buNone/>
                      </a:pPr>
                      <a:r>
                        <a:rPr lang="en-US" sz="1700" b="1" dirty="0">
                          <a:solidFill>
                            <a:srgbClr val="D97706"/>
                          </a:solidFill>
                          <a:latin typeface="Calibri" pitchFamily="34" charset="0"/>
                          <a:ea typeface="Calibri" pitchFamily="34" charset="-122"/>
                          <a:cs typeface="Calibri" pitchFamily="34" charset="-120"/>
                        </a:rPr>
                        <a:t>0.817</a:t>
                      </a:r>
                      <a:endParaRPr lang="en-US" sz="1700" dirty="0">
                        <a:latin typeface="Calibri" charset="0"/>
                        <a:ea typeface="Calibri" charset="0"/>
                        <a:cs typeface="Calibri" charset="0"/>
                      </a:endParaRPr>
                    </a:p>
                  </a:txBody>
                  <a:tcPr marL="121920" marR="121920" marT="60960" marB="60960" anchor="ctr">
                    <a:lnL w="6350" cap="flat" cmpd="sng" algn="ctr">
                      <a:solidFill>
                        <a:srgbClr val="DDE3ED"/>
                      </a:solidFill>
                      <a:prstDash val="solid"/>
                      <a:round/>
                      <a:headEnd type="none" w="med" len="med"/>
                      <a:tailEnd type="none" w="med" len="med"/>
                    </a:lnL>
                    <a:lnR w="6350" cap="flat" cmpd="sng" algn="ctr">
                      <a:solidFill>
                        <a:srgbClr val="DDE3ED"/>
                      </a:solidFill>
                      <a:prstDash val="solid"/>
                      <a:round/>
                      <a:headEnd type="none" w="med" len="med"/>
                      <a:tailEnd type="none" w="med" len="med"/>
                    </a:lnR>
                    <a:lnT w="6350" cap="flat" cmpd="sng" algn="ctr">
                      <a:solidFill>
                        <a:srgbClr val="DDE3ED"/>
                      </a:solidFill>
                      <a:prstDash val="solid"/>
                      <a:round/>
                      <a:headEnd type="none" w="med" len="med"/>
                      <a:tailEnd type="none" w="med" len="med"/>
                    </a:lnT>
                    <a:lnB w="6350" cap="flat" cmpd="sng" algn="ctr">
                      <a:solidFill>
                        <a:srgbClr val="DDE3ED"/>
                      </a:solidFill>
                      <a:prstDash val="solid"/>
                      <a:round/>
                      <a:headEnd type="none" w="med" len="med"/>
                      <a:tailEnd type="none" w="med" len="med"/>
                    </a:lnB>
                  </a:tcPr>
                </a:tc>
                <a:tc>
                  <a:txBody>
                    <a:bodyPr/>
                    <a:lstStyle/>
                    <a:p>
                      <a:pPr marL="0" indent="0" algn="ctr">
                        <a:buNone/>
                      </a:pPr>
                      <a:r>
                        <a:rPr lang="en-US" sz="1700" dirty="0">
                          <a:solidFill>
                            <a:srgbClr val="000000"/>
                          </a:solidFill>
                          <a:latin typeface="Calibri" pitchFamily="34" charset="0"/>
                          <a:ea typeface="Calibri" pitchFamily="34" charset="-122"/>
                          <a:cs typeface="Calibri" pitchFamily="34" charset="-120"/>
                        </a:rPr>
                        <a:t>746</a:t>
                      </a:r>
                      <a:endParaRPr lang="en-US" sz="1700" dirty="0">
                        <a:latin typeface="Calibri" charset="0"/>
                        <a:ea typeface="Calibri" charset="0"/>
                        <a:cs typeface="Calibri" charset="0"/>
                      </a:endParaRPr>
                    </a:p>
                  </a:txBody>
                  <a:tcPr marL="121920" marR="121920" marT="60960" marB="60960" anchor="ctr">
                    <a:lnL w="6350" cap="flat" cmpd="sng" algn="ctr">
                      <a:solidFill>
                        <a:srgbClr val="DDE3ED"/>
                      </a:solidFill>
                      <a:prstDash val="solid"/>
                      <a:round/>
                      <a:headEnd type="none" w="med" len="med"/>
                      <a:tailEnd type="none" w="med" len="med"/>
                    </a:lnL>
                    <a:lnR w="6350" cap="flat" cmpd="sng" algn="ctr">
                      <a:solidFill>
                        <a:srgbClr val="DDE3ED"/>
                      </a:solidFill>
                      <a:prstDash val="solid"/>
                      <a:round/>
                      <a:headEnd type="none" w="med" len="med"/>
                      <a:tailEnd type="none" w="med" len="med"/>
                    </a:lnR>
                    <a:lnT w="6350" cap="flat" cmpd="sng" algn="ctr">
                      <a:solidFill>
                        <a:srgbClr val="DDE3ED"/>
                      </a:solidFill>
                      <a:prstDash val="solid"/>
                      <a:round/>
                      <a:headEnd type="none" w="med" len="med"/>
                      <a:tailEnd type="none" w="med" len="med"/>
                    </a:lnT>
                    <a:lnB w="6350" cap="flat" cmpd="sng" algn="ctr">
                      <a:solidFill>
                        <a:srgbClr val="DDE3ED"/>
                      </a:solidFill>
                      <a:prstDash val="solid"/>
                      <a:round/>
                      <a:headEnd type="none" w="med" len="med"/>
                      <a:tailEnd type="none" w="med" len="med"/>
                    </a:lnB>
                  </a:tcPr>
                </a:tc>
                <a:extLst>
                  <a:ext uri="{0D108BD9-81ED-4DB2-BD59-A6C34878D82A}">
                    <a16:rowId xmlns:a16="http://schemas.microsoft.com/office/drawing/2014/main" val="10002"/>
                  </a:ext>
                </a:extLst>
              </a:tr>
              <a:tr h="551666">
                <a:tc>
                  <a:txBody>
                    <a:bodyPr/>
                    <a:lstStyle/>
                    <a:p>
                      <a:pPr marL="0" indent="0" algn="ctr">
                        <a:buNone/>
                      </a:pPr>
                      <a:r>
                        <a:rPr lang="en-US" sz="1700" b="1" dirty="0">
                          <a:solidFill>
                            <a:srgbClr val="000000"/>
                          </a:solidFill>
                          <a:latin typeface="Calibri" pitchFamily="34" charset="0"/>
                          <a:ea typeface="Calibri" pitchFamily="34" charset="-122"/>
                          <a:cs typeface="Calibri" pitchFamily="34" charset="-120"/>
                        </a:rPr>
                        <a:t>DEGRADED</a:t>
                      </a:r>
                      <a:endParaRPr lang="en-US" sz="1700" dirty="0">
                        <a:latin typeface="Calibri" charset="0"/>
                        <a:ea typeface="Calibri" charset="0"/>
                        <a:cs typeface="Calibri" charset="0"/>
                      </a:endParaRPr>
                    </a:p>
                  </a:txBody>
                  <a:tcPr marL="121920" marR="121920" marT="60960" marB="60960" anchor="ctr">
                    <a:lnL w="6350" cap="flat" cmpd="sng" algn="ctr">
                      <a:solidFill>
                        <a:srgbClr val="DDE3ED"/>
                      </a:solidFill>
                      <a:prstDash val="solid"/>
                      <a:round/>
                      <a:headEnd type="none" w="med" len="med"/>
                      <a:tailEnd type="none" w="med" len="med"/>
                    </a:lnL>
                    <a:lnR w="6350" cap="flat" cmpd="sng" algn="ctr">
                      <a:solidFill>
                        <a:srgbClr val="DDE3ED"/>
                      </a:solidFill>
                      <a:prstDash val="solid"/>
                      <a:round/>
                      <a:headEnd type="none" w="med" len="med"/>
                      <a:tailEnd type="none" w="med" len="med"/>
                    </a:lnR>
                    <a:lnT w="6350" cap="flat" cmpd="sng" algn="ctr">
                      <a:solidFill>
                        <a:srgbClr val="DDE3ED"/>
                      </a:solidFill>
                      <a:prstDash val="solid"/>
                      <a:round/>
                      <a:headEnd type="none" w="med" len="med"/>
                      <a:tailEnd type="none" w="med" len="med"/>
                    </a:lnT>
                    <a:lnB w="6350" cap="flat" cmpd="sng" algn="ctr">
                      <a:solidFill>
                        <a:srgbClr val="DDE3ED"/>
                      </a:solidFill>
                      <a:prstDash val="solid"/>
                      <a:round/>
                      <a:headEnd type="none" w="med" len="med"/>
                      <a:tailEnd type="none" w="med" len="med"/>
                    </a:lnB>
                    <a:solidFill>
                      <a:srgbClr val="FDECEA"/>
                    </a:solidFill>
                  </a:tcPr>
                </a:tc>
                <a:tc>
                  <a:txBody>
                    <a:bodyPr/>
                    <a:lstStyle/>
                    <a:p>
                      <a:pPr marL="0" indent="0" algn="ctr">
                        <a:buNone/>
                      </a:pPr>
                      <a:r>
                        <a:rPr lang="en-US" sz="1700" dirty="0">
                          <a:solidFill>
                            <a:srgbClr val="8493A8"/>
                          </a:solidFill>
                          <a:latin typeface="Calibri" pitchFamily="34" charset="0"/>
                          <a:ea typeface="Calibri" pitchFamily="34" charset="-122"/>
                          <a:cs typeface="Calibri" pitchFamily="34" charset="-120"/>
                        </a:rPr>
                        <a:t>0.623</a:t>
                      </a:r>
                      <a:endParaRPr lang="en-US" sz="1700" dirty="0">
                        <a:latin typeface="Calibri" charset="0"/>
                        <a:ea typeface="Calibri" charset="0"/>
                        <a:cs typeface="Calibri" charset="0"/>
                      </a:endParaRPr>
                    </a:p>
                  </a:txBody>
                  <a:tcPr marL="121920" marR="121920" marT="60960" marB="60960" anchor="ctr">
                    <a:lnL w="6350" cap="flat" cmpd="sng" algn="ctr">
                      <a:solidFill>
                        <a:srgbClr val="DDE3ED"/>
                      </a:solidFill>
                      <a:prstDash val="solid"/>
                      <a:round/>
                      <a:headEnd type="none" w="med" len="med"/>
                      <a:tailEnd type="none" w="med" len="med"/>
                    </a:lnL>
                    <a:lnR w="6350" cap="flat" cmpd="sng" algn="ctr">
                      <a:solidFill>
                        <a:srgbClr val="DDE3ED"/>
                      </a:solidFill>
                      <a:prstDash val="solid"/>
                      <a:round/>
                      <a:headEnd type="none" w="med" len="med"/>
                      <a:tailEnd type="none" w="med" len="med"/>
                    </a:lnR>
                    <a:lnT w="6350" cap="flat" cmpd="sng" algn="ctr">
                      <a:solidFill>
                        <a:srgbClr val="DDE3ED"/>
                      </a:solidFill>
                      <a:prstDash val="solid"/>
                      <a:round/>
                      <a:headEnd type="none" w="med" len="med"/>
                      <a:tailEnd type="none" w="med" len="med"/>
                    </a:lnT>
                    <a:lnB w="6350" cap="flat" cmpd="sng" algn="ctr">
                      <a:solidFill>
                        <a:srgbClr val="DDE3ED"/>
                      </a:solidFill>
                      <a:prstDash val="solid"/>
                      <a:round/>
                      <a:headEnd type="none" w="med" len="med"/>
                      <a:tailEnd type="none" w="med" len="med"/>
                    </a:lnB>
                  </a:tcPr>
                </a:tc>
                <a:tc>
                  <a:txBody>
                    <a:bodyPr/>
                    <a:lstStyle/>
                    <a:p>
                      <a:pPr marL="0" indent="0" algn="ctr">
                        <a:buNone/>
                      </a:pPr>
                      <a:r>
                        <a:rPr lang="en-US" sz="1700" b="1" dirty="0">
                          <a:solidFill>
                            <a:srgbClr val="C8102E"/>
                          </a:solidFill>
                          <a:latin typeface="Calibri" pitchFamily="34" charset="0"/>
                          <a:ea typeface="Calibri" pitchFamily="34" charset="-122"/>
                          <a:cs typeface="Calibri" pitchFamily="34" charset="-120"/>
                        </a:rPr>
                        <a:t>0.847</a:t>
                      </a:r>
                      <a:endParaRPr lang="en-US" sz="1700" dirty="0">
                        <a:latin typeface="Calibri" charset="0"/>
                        <a:ea typeface="Calibri" charset="0"/>
                        <a:cs typeface="Calibri" charset="0"/>
                      </a:endParaRPr>
                    </a:p>
                  </a:txBody>
                  <a:tcPr marL="121920" marR="121920" marT="60960" marB="60960" anchor="ctr">
                    <a:lnL w="6350" cap="flat" cmpd="sng" algn="ctr">
                      <a:solidFill>
                        <a:srgbClr val="DDE3ED"/>
                      </a:solidFill>
                      <a:prstDash val="solid"/>
                      <a:round/>
                      <a:headEnd type="none" w="med" len="med"/>
                      <a:tailEnd type="none" w="med" len="med"/>
                    </a:lnL>
                    <a:lnR w="6350" cap="flat" cmpd="sng" algn="ctr">
                      <a:solidFill>
                        <a:srgbClr val="DDE3ED"/>
                      </a:solidFill>
                      <a:prstDash val="solid"/>
                      <a:round/>
                      <a:headEnd type="none" w="med" len="med"/>
                      <a:tailEnd type="none" w="med" len="med"/>
                    </a:lnR>
                    <a:lnT w="6350" cap="flat" cmpd="sng" algn="ctr">
                      <a:solidFill>
                        <a:srgbClr val="DDE3ED"/>
                      </a:solidFill>
                      <a:prstDash val="solid"/>
                      <a:round/>
                      <a:headEnd type="none" w="med" len="med"/>
                      <a:tailEnd type="none" w="med" len="med"/>
                    </a:lnT>
                    <a:lnB w="6350" cap="flat" cmpd="sng" algn="ctr">
                      <a:solidFill>
                        <a:srgbClr val="DDE3ED"/>
                      </a:solidFill>
                      <a:prstDash val="solid"/>
                      <a:round/>
                      <a:headEnd type="none" w="med" len="med"/>
                      <a:tailEnd type="none" w="med" len="med"/>
                    </a:lnB>
                  </a:tcPr>
                </a:tc>
                <a:tc>
                  <a:txBody>
                    <a:bodyPr/>
                    <a:lstStyle/>
                    <a:p>
                      <a:pPr marL="0" indent="0" algn="ctr">
                        <a:buNone/>
                      </a:pPr>
                      <a:r>
                        <a:rPr lang="en-US" sz="1700" b="1" dirty="0">
                          <a:solidFill>
                            <a:srgbClr val="C8102E"/>
                          </a:solidFill>
                          <a:latin typeface="Calibri" pitchFamily="34" charset="0"/>
                          <a:ea typeface="Calibri" pitchFamily="34" charset="-122"/>
                          <a:cs typeface="Calibri" pitchFamily="34" charset="-120"/>
                        </a:rPr>
                        <a:t>0.718</a:t>
                      </a:r>
                      <a:endParaRPr lang="en-US" sz="1700" dirty="0">
                        <a:latin typeface="Calibri" charset="0"/>
                        <a:ea typeface="Calibri" charset="0"/>
                        <a:cs typeface="Calibri" charset="0"/>
                      </a:endParaRPr>
                    </a:p>
                  </a:txBody>
                  <a:tcPr marL="121920" marR="121920" marT="60960" marB="60960" anchor="ctr">
                    <a:lnL w="6350" cap="flat" cmpd="sng" algn="ctr">
                      <a:solidFill>
                        <a:srgbClr val="DDE3ED"/>
                      </a:solidFill>
                      <a:prstDash val="solid"/>
                      <a:round/>
                      <a:headEnd type="none" w="med" len="med"/>
                      <a:tailEnd type="none" w="med" len="med"/>
                    </a:lnL>
                    <a:lnR w="6350" cap="flat" cmpd="sng" algn="ctr">
                      <a:solidFill>
                        <a:srgbClr val="DDE3ED"/>
                      </a:solidFill>
                      <a:prstDash val="solid"/>
                      <a:round/>
                      <a:headEnd type="none" w="med" len="med"/>
                      <a:tailEnd type="none" w="med" len="med"/>
                    </a:lnR>
                    <a:lnT w="6350" cap="flat" cmpd="sng" algn="ctr">
                      <a:solidFill>
                        <a:srgbClr val="DDE3ED"/>
                      </a:solidFill>
                      <a:prstDash val="solid"/>
                      <a:round/>
                      <a:headEnd type="none" w="med" len="med"/>
                      <a:tailEnd type="none" w="med" len="med"/>
                    </a:lnT>
                    <a:lnB w="6350" cap="flat" cmpd="sng" algn="ctr">
                      <a:solidFill>
                        <a:srgbClr val="DDE3ED"/>
                      </a:solidFill>
                      <a:prstDash val="solid"/>
                      <a:round/>
                      <a:headEnd type="none" w="med" len="med"/>
                      <a:tailEnd type="none" w="med" len="med"/>
                    </a:lnB>
                  </a:tcPr>
                </a:tc>
                <a:tc>
                  <a:txBody>
                    <a:bodyPr/>
                    <a:lstStyle/>
                    <a:p>
                      <a:pPr marL="0" indent="0" algn="ctr">
                        <a:buNone/>
                      </a:pPr>
                      <a:r>
                        <a:rPr lang="en-US" sz="1700" b="1" dirty="0">
                          <a:solidFill>
                            <a:srgbClr val="000000"/>
                          </a:solidFill>
                          <a:latin typeface="Calibri" pitchFamily="34" charset="0"/>
                          <a:ea typeface="Calibri" pitchFamily="34" charset="-122"/>
                          <a:cs typeface="Calibri" pitchFamily="34" charset="-120"/>
                        </a:rPr>
                        <a:t>209</a:t>
                      </a:r>
                      <a:endParaRPr lang="en-US" sz="1700" dirty="0">
                        <a:latin typeface="Calibri" charset="0"/>
                        <a:ea typeface="Calibri" charset="0"/>
                        <a:cs typeface="Calibri" charset="0"/>
                      </a:endParaRPr>
                    </a:p>
                  </a:txBody>
                  <a:tcPr marL="121920" marR="121920" marT="60960" marB="60960" anchor="ctr">
                    <a:lnL w="6350" cap="flat" cmpd="sng" algn="ctr">
                      <a:solidFill>
                        <a:srgbClr val="DDE3ED"/>
                      </a:solidFill>
                      <a:prstDash val="solid"/>
                      <a:round/>
                      <a:headEnd type="none" w="med" len="med"/>
                      <a:tailEnd type="none" w="med" len="med"/>
                    </a:lnL>
                    <a:lnR w="6350" cap="flat" cmpd="sng" algn="ctr">
                      <a:solidFill>
                        <a:srgbClr val="DDE3ED"/>
                      </a:solidFill>
                      <a:prstDash val="solid"/>
                      <a:round/>
                      <a:headEnd type="none" w="med" len="med"/>
                      <a:tailEnd type="none" w="med" len="med"/>
                    </a:lnR>
                    <a:lnT w="6350" cap="flat" cmpd="sng" algn="ctr">
                      <a:solidFill>
                        <a:srgbClr val="DDE3ED"/>
                      </a:solidFill>
                      <a:prstDash val="solid"/>
                      <a:round/>
                      <a:headEnd type="none" w="med" len="med"/>
                      <a:tailEnd type="none" w="med" len="med"/>
                    </a:lnT>
                    <a:lnB w="6350" cap="flat" cmpd="sng" algn="ctr">
                      <a:solidFill>
                        <a:srgbClr val="DDE3ED"/>
                      </a:solidFill>
                      <a:prstDash val="solid"/>
                      <a:round/>
                      <a:headEnd type="none" w="med" len="med"/>
                      <a:tailEnd type="none" w="med" len="med"/>
                    </a:lnB>
                  </a:tcPr>
                </a:tc>
                <a:extLst>
                  <a:ext uri="{0D108BD9-81ED-4DB2-BD59-A6C34878D82A}">
                    <a16:rowId xmlns:a16="http://schemas.microsoft.com/office/drawing/2014/main" val="10003"/>
                  </a:ext>
                </a:extLst>
              </a:tr>
            </a:tbl>
          </a:graphicData>
        </a:graphic>
      </p:graphicFrame>
      <p:sp>
        <p:nvSpPr>
          <p:cNvPr id="5" name="Shape 2"/>
          <p:cNvSpPr/>
          <p:nvPr/>
        </p:nvSpPr>
        <p:spPr>
          <a:xfrm>
            <a:off x="170269" y="4084320"/>
            <a:ext cx="4590917" cy="731520"/>
          </a:xfrm>
          <a:prstGeom prst="rect">
            <a:avLst/>
          </a:prstGeom>
          <a:solidFill>
            <a:srgbClr val="FFFFFF"/>
          </a:solidFill>
          <a:ln w="12700">
            <a:solidFill>
              <a:srgbClr val="DDE3ED"/>
            </a:solidFill>
            <a:prstDash val="solid"/>
          </a:ln>
          <a:effectLst>
            <a:outerShdw blurRad="101600" dist="25400" dir="8100000" algn="bl" rotWithShape="0">
              <a:srgbClr val="000000">
                <a:alpha val="8000"/>
              </a:srgbClr>
            </a:outerShdw>
          </a:effectLst>
        </p:spPr>
      </p:sp>
      <p:sp>
        <p:nvSpPr>
          <p:cNvPr id="6" name="Shape 3"/>
          <p:cNvSpPr/>
          <p:nvPr/>
        </p:nvSpPr>
        <p:spPr>
          <a:xfrm>
            <a:off x="170269" y="4084320"/>
            <a:ext cx="73152" cy="731520"/>
          </a:xfrm>
          <a:prstGeom prst="rect">
            <a:avLst/>
          </a:prstGeom>
          <a:solidFill>
            <a:srgbClr val="C8102E"/>
          </a:solidFill>
          <a:ln w="12700">
            <a:solidFill>
              <a:srgbClr val="C8102E"/>
            </a:solidFill>
            <a:prstDash val="solid"/>
          </a:ln>
        </p:spPr>
      </p:sp>
      <p:sp>
        <p:nvSpPr>
          <p:cNvPr id="7" name="Text 4"/>
          <p:cNvSpPr/>
          <p:nvPr/>
        </p:nvSpPr>
        <p:spPr>
          <a:xfrm>
            <a:off x="377533" y="4120896"/>
            <a:ext cx="3657600" cy="316992"/>
          </a:xfrm>
          <a:prstGeom prst="rect">
            <a:avLst/>
          </a:prstGeom>
          <a:noFill/>
          <a:ln/>
        </p:spPr>
        <p:txBody>
          <a:bodyPr wrap="square" lIns="0" tIns="0" rIns="0" bIns="0" rtlCol="0" anchor="ctr"/>
          <a:lstStyle/>
          <a:p>
            <a:r>
              <a:rPr lang="en-US" sz="1600" b="1" dirty="0">
                <a:solidFill>
                  <a:srgbClr val="C8102E"/>
                </a:solidFill>
                <a:latin typeface="Calibri" pitchFamily="34" charset="0"/>
                <a:ea typeface="Calibri" pitchFamily="34" charset="-122"/>
                <a:cs typeface="Calibri" pitchFamily="34" charset="-120"/>
              </a:rPr>
              <a:t>DEGRADED Recall = 0.847</a:t>
            </a:r>
            <a:endParaRPr lang="en-US" sz="1600" dirty="0"/>
          </a:p>
        </p:txBody>
      </p:sp>
      <p:sp>
        <p:nvSpPr>
          <p:cNvPr id="8" name="Text 5"/>
          <p:cNvSpPr/>
          <p:nvPr/>
        </p:nvSpPr>
        <p:spPr>
          <a:xfrm>
            <a:off x="377533" y="4437888"/>
            <a:ext cx="6827520" cy="268224"/>
          </a:xfrm>
          <a:prstGeom prst="rect">
            <a:avLst/>
          </a:prstGeom>
          <a:noFill/>
          <a:ln/>
        </p:spPr>
        <p:txBody>
          <a:bodyPr wrap="square" lIns="0" tIns="0" rIns="0" bIns="0" rtlCol="0" anchor="ctr"/>
          <a:lstStyle/>
          <a:p>
            <a:r>
              <a:rPr lang="en-US" sz="1333" dirty="0">
                <a:solidFill>
                  <a:srgbClr val="8493A8"/>
                </a:solidFill>
                <a:latin typeface="Calibri" pitchFamily="34" charset="0"/>
                <a:ea typeface="Calibri" pitchFamily="34" charset="-122"/>
                <a:cs typeface="Calibri" pitchFamily="34" charset="-120"/>
              </a:rPr>
              <a:t>Catches 85% of impending signal failures — 5 s ahead</a:t>
            </a:r>
            <a:endParaRPr lang="en-US" sz="1333" dirty="0"/>
          </a:p>
        </p:txBody>
      </p:sp>
      <p:sp>
        <p:nvSpPr>
          <p:cNvPr id="9" name="Shape 6"/>
          <p:cNvSpPr/>
          <p:nvPr/>
        </p:nvSpPr>
        <p:spPr>
          <a:xfrm>
            <a:off x="170269" y="4913376"/>
            <a:ext cx="4590917" cy="731520"/>
          </a:xfrm>
          <a:prstGeom prst="rect">
            <a:avLst/>
          </a:prstGeom>
          <a:solidFill>
            <a:srgbClr val="FFFFFF"/>
          </a:solidFill>
          <a:ln w="12700">
            <a:solidFill>
              <a:srgbClr val="DDE3ED"/>
            </a:solidFill>
            <a:prstDash val="solid"/>
          </a:ln>
          <a:effectLst>
            <a:outerShdw blurRad="101600" dist="25400" dir="8100000" algn="bl" rotWithShape="0">
              <a:srgbClr val="000000">
                <a:alpha val="8000"/>
              </a:srgbClr>
            </a:outerShdw>
          </a:effectLst>
        </p:spPr>
      </p:sp>
      <p:sp>
        <p:nvSpPr>
          <p:cNvPr id="10" name="Shape 7"/>
          <p:cNvSpPr/>
          <p:nvPr/>
        </p:nvSpPr>
        <p:spPr>
          <a:xfrm>
            <a:off x="170269" y="4913376"/>
            <a:ext cx="73152" cy="731520"/>
          </a:xfrm>
          <a:prstGeom prst="rect">
            <a:avLst/>
          </a:prstGeom>
          <a:solidFill>
            <a:srgbClr val="D97706"/>
          </a:solidFill>
          <a:ln w="12700">
            <a:solidFill>
              <a:srgbClr val="D97706"/>
            </a:solidFill>
            <a:prstDash val="solid"/>
          </a:ln>
        </p:spPr>
      </p:sp>
      <p:sp>
        <p:nvSpPr>
          <p:cNvPr id="11" name="Text 8"/>
          <p:cNvSpPr/>
          <p:nvPr/>
        </p:nvSpPr>
        <p:spPr>
          <a:xfrm>
            <a:off x="377533" y="4949952"/>
            <a:ext cx="3657600" cy="316992"/>
          </a:xfrm>
          <a:prstGeom prst="rect">
            <a:avLst/>
          </a:prstGeom>
          <a:noFill/>
          <a:ln/>
        </p:spPr>
        <p:txBody>
          <a:bodyPr wrap="square" lIns="0" tIns="0" rIns="0" bIns="0" rtlCol="0" anchor="ctr"/>
          <a:lstStyle/>
          <a:p>
            <a:r>
              <a:rPr lang="en-US" sz="1600" b="1" dirty="0">
                <a:solidFill>
                  <a:srgbClr val="D97706"/>
                </a:solidFill>
                <a:latin typeface="Calibri" pitchFamily="34" charset="0"/>
                <a:ea typeface="Calibri" pitchFamily="34" charset="-122"/>
                <a:cs typeface="Calibri" pitchFamily="34" charset="-120"/>
              </a:rPr>
              <a:t>WARNING Precision = 0.947</a:t>
            </a:r>
            <a:endParaRPr lang="en-US" sz="1600" dirty="0"/>
          </a:p>
        </p:txBody>
      </p:sp>
      <p:sp>
        <p:nvSpPr>
          <p:cNvPr id="12" name="Text 9"/>
          <p:cNvSpPr/>
          <p:nvPr/>
        </p:nvSpPr>
        <p:spPr>
          <a:xfrm>
            <a:off x="377533" y="5266944"/>
            <a:ext cx="6827520" cy="268224"/>
          </a:xfrm>
          <a:prstGeom prst="rect">
            <a:avLst/>
          </a:prstGeom>
          <a:noFill/>
          <a:ln/>
        </p:spPr>
        <p:txBody>
          <a:bodyPr wrap="square" lIns="0" tIns="0" rIns="0" bIns="0" rtlCol="0" anchor="ctr"/>
          <a:lstStyle/>
          <a:p>
            <a:r>
              <a:rPr lang="en-US" sz="1333" dirty="0">
                <a:solidFill>
                  <a:srgbClr val="8493A8"/>
                </a:solidFill>
                <a:latin typeface="Calibri" pitchFamily="34" charset="0"/>
                <a:ea typeface="Calibri" pitchFamily="34" charset="-122"/>
                <a:cs typeface="Calibri" pitchFamily="34" charset="-120"/>
              </a:rPr>
              <a:t>When the model says WARNING, it is right 95% of the time</a:t>
            </a:r>
            <a:endParaRPr lang="en-US" sz="1333" dirty="0"/>
          </a:p>
        </p:txBody>
      </p:sp>
      <p:sp>
        <p:nvSpPr>
          <p:cNvPr id="13" name="Shape 10"/>
          <p:cNvSpPr/>
          <p:nvPr/>
        </p:nvSpPr>
        <p:spPr>
          <a:xfrm>
            <a:off x="170269" y="5742432"/>
            <a:ext cx="4590917" cy="731520"/>
          </a:xfrm>
          <a:prstGeom prst="rect">
            <a:avLst/>
          </a:prstGeom>
          <a:solidFill>
            <a:srgbClr val="FFFFFF"/>
          </a:solidFill>
          <a:ln w="12700">
            <a:solidFill>
              <a:srgbClr val="DDE3ED"/>
            </a:solidFill>
            <a:prstDash val="solid"/>
          </a:ln>
          <a:effectLst>
            <a:outerShdw blurRad="101600" dist="25400" dir="8100000" algn="bl" rotWithShape="0">
              <a:srgbClr val="000000">
                <a:alpha val="8000"/>
              </a:srgbClr>
            </a:outerShdw>
          </a:effectLst>
        </p:spPr>
      </p:sp>
      <p:sp>
        <p:nvSpPr>
          <p:cNvPr id="14" name="Shape 11"/>
          <p:cNvSpPr/>
          <p:nvPr/>
        </p:nvSpPr>
        <p:spPr>
          <a:xfrm>
            <a:off x="170269" y="5742432"/>
            <a:ext cx="73152" cy="731520"/>
          </a:xfrm>
          <a:prstGeom prst="rect">
            <a:avLst/>
          </a:prstGeom>
          <a:solidFill>
            <a:srgbClr val="1DA462"/>
          </a:solidFill>
          <a:ln w="12700">
            <a:solidFill>
              <a:srgbClr val="1DA462"/>
            </a:solidFill>
            <a:prstDash val="solid"/>
          </a:ln>
        </p:spPr>
      </p:sp>
      <p:sp>
        <p:nvSpPr>
          <p:cNvPr id="15" name="Text 12"/>
          <p:cNvSpPr/>
          <p:nvPr/>
        </p:nvSpPr>
        <p:spPr>
          <a:xfrm>
            <a:off x="377533" y="5779008"/>
            <a:ext cx="3657600" cy="316992"/>
          </a:xfrm>
          <a:prstGeom prst="rect">
            <a:avLst/>
          </a:prstGeom>
          <a:noFill/>
          <a:ln/>
        </p:spPr>
        <p:txBody>
          <a:bodyPr wrap="square" lIns="0" tIns="0" rIns="0" bIns="0" rtlCol="0" anchor="ctr"/>
          <a:lstStyle/>
          <a:p>
            <a:r>
              <a:rPr lang="en-US" sz="1600" b="1" dirty="0">
                <a:solidFill>
                  <a:srgbClr val="1DA462"/>
                </a:solidFill>
                <a:latin typeface="Calibri" pitchFamily="34" charset="0"/>
                <a:ea typeface="Calibri" pitchFamily="34" charset="-122"/>
                <a:cs typeface="Calibri" pitchFamily="34" charset="-120"/>
              </a:rPr>
              <a:t>CLEAN F1 = 0.927</a:t>
            </a:r>
            <a:endParaRPr lang="en-US" sz="1600" dirty="0"/>
          </a:p>
        </p:txBody>
      </p:sp>
      <p:sp>
        <p:nvSpPr>
          <p:cNvPr id="16" name="Text 13"/>
          <p:cNvSpPr/>
          <p:nvPr/>
        </p:nvSpPr>
        <p:spPr>
          <a:xfrm>
            <a:off x="377533" y="6096000"/>
            <a:ext cx="6827520" cy="268224"/>
          </a:xfrm>
          <a:prstGeom prst="rect">
            <a:avLst/>
          </a:prstGeom>
          <a:noFill/>
          <a:ln/>
        </p:spPr>
        <p:txBody>
          <a:bodyPr wrap="square" lIns="0" tIns="0" rIns="0" bIns="0" rtlCol="0" anchor="ctr"/>
          <a:lstStyle/>
          <a:p>
            <a:r>
              <a:rPr lang="en-US" sz="1333" dirty="0">
                <a:solidFill>
                  <a:srgbClr val="8493A8"/>
                </a:solidFill>
                <a:latin typeface="Calibri" pitchFamily="34" charset="0"/>
                <a:ea typeface="Calibri" pitchFamily="34" charset="-122"/>
                <a:cs typeface="Calibri" pitchFamily="34" charset="-120"/>
              </a:rPr>
              <a:t>Rarely triggers false alarms on healthy signal</a:t>
            </a:r>
            <a:endParaRPr lang="en-US" sz="1333" dirty="0"/>
          </a:p>
        </p:txBody>
      </p:sp>
      <p:sp>
        <p:nvSpPr>
          <p:cNvPr id="21" name="Shape 0">
            <a:extLst>
              <a:ext uri="{FF2B5EF4-FFF2-40B4-BE49-F238E27FC236}">
                <a16:creationId xmlns:a16="http://schemas.microsoft.com/office/drawing/2014/main" id="{A14D145E-0E6A-5973-0C2D-7764A01920D5}"/>
              </a:ext>
            </a:extLst>
          </p:cNvPr>
          <p:cNvSpPr/>
          <p:nvPr/>
        </p:nvSpPr>
        <p:spPr>
          <a:xfrm>
            <a:off x="0" y="1935"/>
            <a:ext cx="12192000" cy="740408"/>
          </a:xfrm>
          <a:prstGeom prst="rect">
            <a:avLst/>
          </a:prstGeom>
          <a:solidFill>
            <a:srgbClr val="003893"/>
          </a:solidFill>
          <a:ln w="12700">
            <a:solidFill>
              <a:srgbClr val="003893"/>
            </a:solidFill>
            <a:prstDash val="solid"/>
          </a:ln>
        </p:spPr>
      </p:sp>
      <p:sp>
        <p:nvSpPr>
          <p:cNvPr id="22" name="Shape 1">
            <a:extLst>
              <a:ext uri="{FF2B5EF4-FFF2-40B4-BE49-F238E27FC236}">
                <a16:creationId xmlns:a16="http://schemas.microsoft.com/office/drawing/2014/main" id="{7B8AFFDE-7208-0B66-48FE-30057776A33B}"/>
              </a:ext>
            </a:extLst>
          </p:cNvPr>
          <p:cNvSpPr/>
          <p:nvPr/>
        </p:nvSpPr>
        <p:spPr>
          <a:xfrm>
            <a:off x="0" y="702347"/>
            <a:ext cx="12192000" cy="36576"/>
          </a:xfrm>
          <a:prstGeom prst="rect">
            <a:avLst/>
          </a:prstGeom>
          <a:solidFill>
            <a:srgbClr val="4FC3F7"/>
          </a:solidFill>
          <a:ln w="12700">
            <a:solidFill>
              <a:srgbClr val="4FC3F7"/>
            </a:solidFill>
            <a:prstDash val="solid"/>
          </a:ln>
        </p:spPr>
      </p:sp>
      <p:sp>
        <p:nvSpPr>
          <p:cNvPr id="23" name="Shape 2">
            <a:extLst>
              <a:ext uri="{FF2B5EF4-FFF2-40B4-BE49-F238E27FC236}">
                <a16:creationId xmlns:a16="http://schemas.microsoft.com/office/drawing/2014/main" id="{74C0587E-D210-81DD-A9EA-3E65BEB90083}"/>
              </a:ext>
            </a:extLst>
          </p:cNvPr>
          <p:cNvSpPr/>
          <p:nvPr/>
        </p:nvSpPr>
        <p:spPr>
          <a:xfrm>
            <a:off x="0" y="6646862"/>
            <a:ext cx="12192000" cy="211137"/>
          </a:xfrm>
          <a:prstGeom prst="rect">
            <a:avLst/>
          </a:prstGeom>
          <a:solidFill>
            <a:srgbClr val="003893"/>
          </a:solidFill>
          <a:ln w="12700">
            <a:solidFill>
              <a:srgbClr val="003893"/>
            </a:solidFill>
            <a:prstDash val="solid"/>
          </a:ln>
        </p:spPr>
      </p:sp>
      <p:sp>
        <p:nvSpPr>
          <p:cNvPr id="24" name="Shape 3">
            <a:extLst>
              <a:ext uri="{FF2B5EF4-FFF2-40B4-BE49-F238E27FC236}">
                <a16:creationId xmlns:a16="http://schemas.microsoft.com/office/drawing/2014/main" id="{D608C570-17AD-ACC5-3A85-AF39FBC2B947}"/>
              </a:ext>
            </a:extLst>
          </p:cNvPr>
          <p:cNvSpPr/>
          <p:nvPr/>
        </p:nvSpPr>
        <p:spPr>
          <a:xfrm>
            <a:off x="0" y="6623677"/>
            <a:ext cx="12192000" cy="30480"/>
          </a:xfrm>
          <a:prstGeom prst="rect">
            <a:avLst/>
          </a:prstGeom>
          <a:solidFill>
            <a:srgbClr val="4FC3F7"/>
          </a:solidFill>
          <a:ln w="12700">
            <a:solidFill>
              <a:srgbClr val="4FC3F7"/>
            </a:solidFill>
            <a:prstDash val="solid"/>
          </a:ln>
        </p:spPr>
      </p:sp>
      <p:sp>
        <p:nvSpPr>
          <p:cNvPr id="25" name="Shape 4">
            <a:extLst>
              <a:ext uri="{FF2B5EF4-FFF2-40B4-BE49-F238E27FC236}">
                <a16:creationId xmlns:a16="http://schemas.microsoft.com/office/drawing/2014/main" id="{E3F61359-9AAC-C734-216A-3C542EB9D68A}"/>
              </a:ext>
            </a:extLst>
          </p:cNvPr>
          <p:cNvSpPr/>
          <p:nvPr/>
        </p:nvSpPr>
        <p:spPr>
          <a:xfrm>
            <a:off x="0" y="-24618"/>
            <a:ext cx="1128763" cy="767311"/>
          </a:xfrm>
          <a:prstGeom prst="homePlate">
            <a:avLst/>
          </a:prstGeom>
          <a:solidFill>
            <a:srgbClr val="FFFFFF"/>
          </a:solidFill>
          <a:ln w="6350">
            <a:solidFill>
              <a:srgbClr val="CCCCCC"/>
            </a:solidFill>
            <a:prstDash val="solid"/>
          </a:ln>
        </p:spPr>
      </p:sp>
      <p:sp>
        <p:nvSpPr>
          <p:cNvPr id="26" name="Shape 5">
            <a:extLst>
              <a:ext uri="{FF2B5EF4-FFF2-40B4-BE49-F238E27FC236}">
                <a16:creationId xmlns:a16="http://schemas.microsoft.com/office/drawing/2014/main" id="{6E77782E-AE5D-88CE-EF76-54DAAC31264F}"/>
              </a:ext>
            </a:extLst>
          </p:cNvPr>
          <p:cNvSpPr/>
          <p:nvPr/>
        </p:nvSpPr>
        <p:spPr>
          <a:xfrm>
            <a:off x="10728961" y="121921"/>
            <a:ext cx="51207" cy="51207"/>
          </a:xfrm>
          <a:prstGeom prst="ellipse">
            <a:avLst/>
          </a:prstGeom>
          <a:solidFill>
            <a:srgbClr val="FFFFFF">
              <a:alpha val="35000"/>
            </a:srgbClr>
          </a:solidFill>
          <a:ln w="12700">
            <a:solidFill>
              <a:srgbClr val="FFFFFF"/>
            </a:solidFill>
            <a:prstDash val="solid"/>
          </a:ln>
        </p:spPr>
      </p:sp>
      <p:sp>
        <p:nvSpPr>
          <p:cNvPr id="27" name="Shape 6">
            <a:extLst>
              <a:ext uri="{FF2B5EF4-FFF2-40B4-BE49-F238E27FC236}">
                <a16:creationId xmlns:a16="http://schemas.microsoft.com/office/drawing/2014/main" id="{230C0635-461E-5303-F4C8-84EE9050F1E0}"/>
              </a:ext>
            </a:extLst>
          </p:cNvPr>
          <p:cNvSpPr/>
          <p:nvPr/>
        </p:nvSpPr>
        <p:spPr>
          <a:xfrm>
            <a:off x="10948417" y="121921"/>
            <a:ext cx="51207" cy="51207"/>
          </a:xfrm>
          <a:prstGeom prst="ellipse">
            <a:avLst/>
          </a:prstGeom>
          <a:solidFill>
            <a:srgbClr val="FFFFFF">
              <a:alpha val="35000"/>
            </a:srgbClr>
          </a:solidFill>
          <a:ln w="12700">
            <a:solidFill>
              <a:srgbClr val="FFFFFF"/>
            </a:solidFill>
            <a:prstDash val="solid"/>
          </a:ln>
        </p:spPr>
      </p:sp>
      <p:sp>
        <p:nvSpPr>
          <p:cNvPr id="28" name="Shape 7">
            <a:extLst>
              <a:ext uri="{FF2B5EF4-FFF2-40B4-BE49-F238E27FC236}">
                <a16:creationId xmlns:a16="http://schemas.microsoft.com/office/drawing/2014/main" id="{2965746F-EEF4-3DC0-712B-CAEA42E9AC00}"/>
              </a:ext>
            </a:extLst>
          </p:cNvPr>
          <p:cNvSpPr/>
          <p:nvPr/>
        </p:nvSpPr>
        <p:spPr>
          <a:xfrm>
            <a:off x="11167873" y="121921"/>
            <a:ext cx="51207" cy="51207"/>
          </a:xfrm>
          <a:prstGeom prst="ellipse">
            <a:avLst/>
          </a:prstGeom>
          <a:solidFill>
            <a:srgbClr val="FFFFFF">
              <a:alpha val="35000"/>
            </a:srgbClr>
          </a:solidFill>
          <a:ln w="12700">
            <a:solidFill>
              <a:srgbClr val="FFFFFF"/>
            </a:solidFill>
            <a:prstDash val="solid"/>
          </a:ln>
        </p:spPr>
      </p:sp>
      <p:sp>
        <p:nvSpPr>
          <p:cNvPr id="29" name="Shape 8">
            <a:extLst>
              <a:ext uri="{FF2B5EF4-FFF2-40B4-BE49-F238E27FC236}">
                <a16:creationId xmlns:a16="http://schemas.microsoft.com/office/drawing/2014/main" id="{63649464-B911-C181-1DD7-FF7B061E705A}"/>
              </a:ext>
            </a:extLst>
          </p:cNvPr>
          <p:cNvSpPr/>
          <p:nvPr/>
        </p:nvSpPr>
        <p:spPr>
          <a:xfrm>
            <a:off x="11387329" y="121921"/>
            <a:ext cx="51207" cy="51207"/>
          </a:xfrm>
          <a:prstGeom prst="ellipse">
            <a:avLst/>
          </a:prstGeom>
          <a:solidFill>
            <a:srgbClr val="FFFFFF">
              <a:alpha val="35000"/>
            </a:srgbClr>
          </a:solidFill>
          <a:ln w="12700">
            <a:solidFill>
              <a:srgbClr val="FFFFFF"/>
            </a:solidFill>
            <a:prstDash val="solid"/>
          </a:ln>
        </p:spPr>
      </p:sp>
      <p:sp>
        <p:nvSpPr>
          <p:cNvPr id="30" name="Shape 9">
            <a:extLst>
              <a:ext uri="{FF2B5EF4-FFF2-40B4-BE49-F238E27FC236}">
                <a16:creationId xmlns:a16="http://schemas.microsoft.com/office/drawing/2014/main" id="{D97AC1ED-48BC-6C7D-0BB9-25E475C8136F}"/>
              </a:ext>
            </a:extLst>
          </p:cNvPr>
          <p:cNvSpPr/>
          <p:nvPr/>
        </p:nvSpPr>
        <p:spPr>
          <a:xfrm>
            <a:off x="10728961" y="292609"/>
            <a:ext cx="51207" cy="51207"/>
          </a:xfrm>
          <a:prstGeom prst="ellipse">
            <a:avLst/>
          </a:prstGeom>
          <a:solidFill>
            <a:srgbClr val="FFFFFF">
              <a:alpha val="35000"/>
            </a:srgbClr>
          </a:solidFill>
          <a:ln w="12700">
            <a:solidFill>
              <a:srgbClr val="FFFFFF"/>
            </a:solidFill>
            <a:prstDash val="solid"/>
          </a:ln>
        </p:spPr>
      </p:sp>
      <p:sp>
        <p:nvSpPr>
          <p:cNvPr id="31" name="Shape 10">
            <a:extLst>
              <a:ext uri="{FF2B5EF4-FFF2-40B4-BE49-F238E27FC236}">
                <a16:creationId xmlns:a16="http://schemas.microsoft.com/office/drawing/2014/main" id="{60B597F6-7C19-97FD-F8DA-7F54E9716E46}"/>
              </a:ext>
            </a:extLst>
          </p:cNvPr>
          <p:cNvSpPr/>
          <p:nvPr/>
        </p:nvSpPr>
        <p:spPr>
          <a:xfrm>
            <a:off x="10948417" y="292609"/>
            <a:ext cx="51207" cy="51207"/>
          </a:xfrm>
          <a:prstGeom prst="ellipse">
            <a:avLst/>
          </a:prstGeom>
          <a:solidFill>
            <a:srgbClr val="FFFFFF">
              <a:alpha val="35000"/>
            </a:srgbClr>
          </a:solidFill>
          <a:ln w="12700">
            <a:solidFill>
              <a:srgbClr val="FFFFFF"/>
            </a:solidFill>
            <a:prstDash val="solid"/>
          </a:ln>
        </p:spPr>
      </p:sp>
      <p:sp>
        <p:nvSpPr>
          <p:cNvPr id="32" name="Shape 11">
            <a:extLst>
              <a:ext uri="{FF2B5EF4-FFF2-40B4-BE49-F238E27FC236}">
                <a16:creationId xmlns:a16="http://schemas.microsoft.com/office/drawing/2014/main" id="{8781245C-4E47-52EC-1547-25F7200ED994}"/>
              </a:ext>
            </a:extLst>
          </p:cNvPr>
          <p:cNvSpPr/>
          <p:nvPr/>
        </p:nvSpPr>
        <p:spPr>
          <a:xfrm>
            <a:off x="11167873" y="292609"/>
            <a:ext cx="51207" cy="51207"/>
          </a:xfrm>
          <a:prstGeom prst="ellipse">
            <a:avLst/>
          </a:prstGeom>
          <a:solidFill>
            <a:srgbClr val="FFFFFF">
              <a:alpha val="35000"/>
            </a:srgbClr>
          </a:solidFill>
          <a:ln w="12700">
            <a:solidFill>
              <a:srgbClr val="FFFFFF"/>
            </a:solidFill>
            <a:prstDash val="solid"/>
          </a:ln>
        </p:spPr>
      </p:sp>
      <p:sp>
        <p:nvSpPr>
          <p:cNvPr id="33" name="Shape 12">
            <a:extLst>
              <a:ext uri="{FF2B5EF4-FFF2-40B4-BE49-F238E27FC236}">
                <a16:creationId xmlns:a16="http://schemas.microsoft.com/office/drawing/2014/main" id="{1078C86E-097B-B07E-E970-04FDE6723027}"/>
              </a:ext>
            </a:extLst>
          </p:cNvPr>
          <p:cNvSpPr/>
          <p:nvPr/>
        </p:nvSpPr>
        <p:spPr>
          <a:xfrm>
            <a:off x="11387329" y="292609"/>
            <a:ext cx="51207" cy="51207"/>
          </a:xfrm>
          <a:prstGeom prst="ellipse">
            <a:avLst/>
          </a:prstGeom>
          <a:solidFill>
            <a:srgbClr val="FFFFFF">
              <a:alpha val="35000"/>
            </a:srgbClr>
          </a:solidFill>
          <a:ln w="12700">
            <a:solidFill>
              <a:srgbClr val="FFFFFF"/>
            </a:solidFill>
            <a:prstDash val="solid"/>
          </a:ln>
        </p:spPr>
      </p:sp>
      <p:sp>
        <p:nvSpPr>
          <p:cNvPr id="34" name="Shape 13">
            <a:extLst>
              <a:ext uri="{FF2B5EF4-FFF2-40B4-BE49-F238E27FC236}">
                <a16:creationId xmlns:a16="http://schemas.microsoft.com/office/drawing/2014/main" id="{A15582DA-07DA-9A5B-65E7-64C83370FCCE}"/>
              </a:ext>
            </a:extLst>
          </p:cNvPr>
          <p:cNvSpPr/>
          <p:nvPr/>
        </p:nvSpPr>
        <p:spPr>
          <a:xfrm>
            <a:off x="10728961" y="463297"/>
            <a:ext cx="51207" cy="51207"/>
          </a:xfrm>
          <a:prstGeom prst="ellipse">
            <a:avLst/>
          </a:prstGeom>
          <a:solidFill>
            <a:srgbClr val="FFFFFF">
              <a:alpha val="35000"/>
            </a:srgbClr>
          </a:solidFill>
          <a:ln w="12700">
            <a:solidFill>
              <a:srgbClr val="FFFFFF"/>
            </a:solidFill>
            <a:prstDash val="solid"/>
          </a:ln>
        </p:spPr>
      </p:sp>
      <p:sp>
        <p:nvSpPr>
          <p:cNvPr id="35" name="Shape 14">
            <a:extLst>
              <a:ext uri="{FF2B5EF4-FFF2-40B4-BE49-F238E27FC236}">
                <a16:creationId xmlns:a16="http://schemas.microsoft.com/office/drawing/2014/main" id="{A88A0669-05E1-0BF2-C3BB-D54F27D8727A}"/>
              </a:ext>
            </a:extLst>
          </p:cNvPr>
          <p:cNvSpPr/>
          <p:nvPr/>
        </p:nvSpPr>
        <p:spPr>
          <a:xfrm>
            <a:off x="10948417" y="463297"/>
            <a:ext cx="51207" cy="51207"/>
          </a:xfrm>
          <a:prstGeom prst="ellipse">
            <a:avLst/>
          </a:prstGeom>
          <a:solidFill>
            <a:srgbClr val="FFFFFF">
              <a:alpha val="35000"/>
            </a:srgbClr>
          </a:solidFill>
          <a:ln w="12700">
            <a:solidFill>
              <a:srgbClr val="FFFFFF"/>
            </a:solidFill>
            <a:prstDash val="solid"/>
          </a:ln>
        </p:spPr>
      </p:sp>
      <p:sp>
        <p:nvSpPr>
          <p:cNvPr id="36" name="Shape 15">
            <a:extLst>
              <a:ext uri="{FF2B5EF4-FFF2-40B4-BE49-F238E27FC236}">
                <a16:creationId xmlns:a16="http://schemas.microsoft.com/office/drawing/2014/main" id="{CE4AF859-2630-8FB1-D936-BD2C16336EC8}"/>
              </a:ext>
            </a:extLst>
          </p:cNvPr>
          <p:cNvSpPr/>
          <p:nvPr/>
        </p:nvSpPr>
        <p:spPr>
          <a:xfrm>
            <a:off x="11167873" y="463297"/>
            <a:ext cx="51207" cy="51207"/>
          </a:xfrm>
          <a:prstGeom prst="ellipse">
            <a:avLst/>
          </a:prstGeom>
          <a:solidFill>
            <a:srgbClr val="FFFFFF">
              <a:alpha val="35000"/>
            </a:srgbClr>
          </a:solidFill>
          <a:ln w="12700">
            <a:solidFill>
              <a:srgbClr val="FFFFFF"/>
            </a:solidFill>
            <a:prstDash val="solid"/>
          </a:ln>
        </p:spPr>
      </p:sp>
      <p:sp>
        <p:nvSpPr>
          <p:cNvPr id="37" name="Shape 16">
            <a:extLst>
              <a:ext uri="{FF2B5EF4-FFF2-40B4-BE49-F238E27FC236}">
                <a16:creationId xmlns:a16="http://schemas.microsoft.com/office/drawing/2014/main" id="{1AFA0504-FCB5-AD1C-42D5-5646A656EDD8}"/>
              </a:ext>
            </a:extLst>
          </p:cNvPr>
          <p:cNvSpPr/>
          <p:nvPr/>
        </p:nvSpPr>
        <p:spPr>
          <a:xfrm>
            <a:off x="11387329" y="463297"/>
            <a:ext cx="51207" cy="51207"/>
          </a:xfrm>
          <a:prstGeom prst="ellipse">
            <a:avLst/>
          </a:prstGeom>
          <a:solidFill>
            <a:srgbClr val="FFFFFF">
              <a:alpha val="35000"/>
            </a:srgbClr>
          </a:solidFill>
          <a:ln w="12700">
            <a:solidFill>
              <a:srgbClr val="FFFFFF"/>
            </a:solidFill>
            <a:prstDash val="solid"/>
          </a:ln>
        </p:spPr>
      </p:sp>
      <p:pic>
        <p:nvPicPr>
          <p:cNvPr id="38" name="Picture 37">
            <a:extLst>
              <a:ext uri="{FF2B5EF4-FFF2-40B4-BE49-F238E27FC236}">
                <a16:creationId xmlns:a16="http://schemas.microsoft.com/office/drawing/2014/main" id="{738C8458-92C2-B7D4-07AC-FFFA7A6AE520}"/>
              </a:ext>
            </a:extLst>
          </p:cNvPr>
          <p:cNvPicPr>
            <a:picLocks noChangeAspect="1"/>
          </p:cNvPicPr>
          <p:nvPr/>
        </p:nvPicPr>
        <p:blipFill>
          <a:blip r:embed="rId4"/>
          <a:stretch>
            <a:fillRect/>
          </a:stretch>
        </p:blipFill>
        <p:spPr>
          <a:xfrm>
            <a:off x="-453212" y="-263954"/>
            <a:ext cx="1776568" cy="1245981"/>
          </a:xfrm>
          <a:prstGeom prst="rect">
            <a:avLst/>
          </a:prstGeom>
        </p:spPr>
      </p:pic>
      <p:sp>
        <p:nvSpPr>
          <p:cNvPr id="3" name="Text 1"/>
          <p:cNvSpPr/>
          <p:nvPr/>
        </p:nvSpPr>
        <p:spPr>
          <a:xfrm>
            <a:off x="1219200" y="-6724"/>
            <a:ext cx="10972800" cy="731520"/>
          </a:xfrm>
          <a:prstGeom prst="rect">
            <a:avLst/>
          </a:prstGeom>
          <a:noFill/>
          <a:ln/>
        </p:spPr>
        <p:txBody>
          <a:bodyPr wrap="square" lIns="0" tIns="0" rIns="0" bIns="0" rtlCol="0" anchor="ctr"/>
          <a:lstStyle/>
          <a:p>
            <a:r>
              <a:rPr lang="en-US" sz="3200" b="1" dirty="0">
                <a:solidFill>
                  <a:schemeClr val="bg1"/>
                </a:solidFill>
                <a:latin typeface="Calibri" pitchFamily="34" charset="0"/>
                <a:ea typeface="Calibri" pitchFamily="34" charset="-122"/>
                <a:cs typeface="Calibri" pitchFamily="34" charset="-120"/>
              </a:rPr>
              <a:t>PER-CLASS PERFORMANCE @ +5 S</a:t>
            </a:r>
            <a:endParaRPr lang="en-US" sz="3200" dirty="0">
              <a:solidFill>
                <a:schemeClr val="bg1"/>
              </a:solidFill>
            </a:endParaRPr>
          </a:p>
        </p:txBody>
      </p:sp>
      <p:pic>
        <p:nvPicPr>
          <p:cNvPr id="40" name="Picture 39">
            <a:extLst>
              <a:ext uri="{FF2B5EF4-FFF2-40B4-BE49-F238E27FC236}">
                <a16:creationId xmlns:a16="http://schemas.microsoft.com/office/drawing/2014/main" id="{4CC67EC6-2461-26E5-0A92-0BDABE251C8F}"/>
              </a:ext>
            </a:extLst>
          </p:cNvPr>
          <p:cNvPicPr>
            <a:picLocks noChangeAspect="1"/>
          </p:cNvPicPr>
          <p:nvPr/>
        </p:nvPicPr>
        <p:blipFill>
          <a:blip r:embed="rId5"/>
          <a:stretch>
            <a:fillRect/>
          </a:stretch>
        </p:blipFill>
        <p:spPr>
          <a:xfrm>
            <a:off x="6790885" y="686874"/>
            <a:ext cx="4750930" cy="3078207"/>
          </a:xfrm>
          <a:prstGeom prst="rect">
            <a:avLst/>
          </a:prstGeom>
        </p:spPr>
      </p:pic>
      <p:pic>
        <p:nvPicPr>
          <p:cNvPr id="42" name="Picture 41">
            <a:extLst>
              <a:ext uri="{FF2B5EF4-FFF2-40B4-BE49-F238E27FC236}">
                <a16:creationId xmlns:a16="http://schemas.microsoft.com/office/drawing/2014/main" id="{FD356BCF-73A7-E1F3-C1FD-7411C1EA14BE}"/>
              </a:ext>
            </a:extLst>
          </p:cNvPr>
          <p:cNvPicPr>
            <a:picLocks noChangeAspect="1"/>
          </p:cNvPicPr>
          <p:nvPr/>
        </p:nvPicPr>
        <p:blipFill>
          <a:blip r:embed="rId6"/>
          <a:stretch>
            <a:fillRect/>
          </a:stretch>
        </p:blipFill>
        <p:spPr>
          <a:xfrm>
            <a:off x="5326965" y="3740813"/>
            <a:ext cx="5377109" cy="2871271"/>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548640" y="365760"/>
            <a:ext cx="85344" cy="670560"/>
          </a:xfrm>
          <a:prstGeom prst="rect">
            <a:avLst/>
          </a:prstGeom>
          <a:solidFill>
            <a:srgbClr val="C8102E"/>
          </a:solidFill>
          <a:ln w="12700">
            <a:solidFill>
              <a:srgbClr val="C8102E"/>
            </a:solidFill>
            <a:prstDash val="solid"/>
          </a:ln>
        </p:spPr>
      </p:sp>
      <p:graphicFrame>
        <p:nvGraphicFramePr>
          <p:cNvPr id="6" name="Table 0"/>
          <p:cNvGraphicFramePr>
            <a:graphicFrameLocks noGrp="1"/>
          </p:cNvGraphicFramePr>
          <p:nvPr/>
        </p:nvGraphicFramePr>
        <p:xfrm>
          <a:off x="548640" y="1219200"/>
          <a:ext cx="7315200" cy="5303520"/>
        </p:xfrm>
        <a:graphic>
          <a:graphicData uri="http://schemas.openxmlformats.org/drawingml/2006/table">
            <a:tbl>
              <a:tblPr/>
              <a:tblGrid>
                <a:gridCol w="3169920">
                  <a:extLst>
                    <a:ext uri="{9D8B030D-6E8A-4147-A177-3AD203B41FA5}">
                      <a16:colId xmlns:a16="http://schemas.microsoft.com/office/drawing/2014/main" val="20000"/>
                    </a:ext>
                  </a:extLst>
                </a:gridCol>
                <a:gridCol w="1036320">
                  <a:extLst>
                    <a:ext uri="{9D8B030D-6E8A-4147-A177-3AD203B41FA5}">
                      <a16:colId xmlns:a16="http://schemas.microsoft.com/office/drawing/2014/main" val="20001"/>
                    </a:ext>
                  </a:extLst>
                </a:gridCol>
                <a:gridCol w="1036320">
                  <a:extLst>
                    <a:ext uri="{9D8B030D-6E8A-4147-A177-3AD203B41FA5}">
                      <a16:colId xmlns:a16="http://schemas.microsoft.com/office/drawing/2014/main" val="20002"/>
                    </a:ext>
                  </a:extLst>
                </a:gridCol>
                <a:gridCol w="1036320">
                  <a:extLst>
                    <a:ext uri="{9D8B030D-6E8A-4147-A177-3AD203B41FA5}">
                      <a16:colId xmlns:a16="http://schemas.microsoft.com/office/drawing/2014/main" val="20003"/>
                    </a:ext>
                  </a:extLst>
                </a:gridCol>
                <a:gridCol w="1036320">
                  <a:extLst>
                    <a:ext uri="{9D8B030D-6E8A-4147-A177-3AD203B41FA5}">
                      <a16:colId xmlns:a16="http://schemas.microsoft.com/office/drawing/2014/main" val="20004"/>
                    </a:ext>
                  </a:extLst>
                </a:gridCol>
              </a:tblGrid>
              <a:tr h="530352">
                <a:tc>
                  <a:txBody>
                    <a:bodyPr/>
                    <a:lstStyle/>
                    <a:p>
                      <a:pPr marL="0" indent="0" algn="ctr">
                        <a:buNone/>
                      </a:pPr>
                      <a:r>
                        <a:rPr lang="en-US" sz="1400" b="1" dirty="0">
                          <a:solidFill>
                            <a:srgbClr val="FFFFFF"/>
                          </a:solidFill>
                          <a:latin typeface="Calibri" pitchFamily="34" charset="0"/>
                          <a:ea typeface="Calibri" pitchFamily="34" charset="-122"/>
                          <a:cs typeface="Calibri" pitchFamily="34" charset="-120"/>
                        </a:rPr>
                        <a:t>Method</a:t>
                      </a:r>
                      <a:endParaRPr lang="en-US" sz="1400" dirty="0">
                        <a:latin typeface="Calibri" charset="0"/>
                        <a:ea typeface="Calibri" charset="0"/>
                        <a:cs typeface="Calibri" charset="0"/>
                      </a:endParaRPr>
                    </a:p>
                  </a:txBody>
                  <a:tcPr marL="121920" marR="121920" marT="60960" marB="60960" anchor="ctr">
                    <a:lnL w="6350" cap="flat" cmpd="sng" algn="ctr">
                      <a:solidFill>
                        <a:srgbClr val="DDE3ED"/>
                      </a:solidFill>
                      <a:prstDash val="solid"/>
                      <a:round/>
                      <a:headEnd type="none" w="med" len="med"/>
                      <a:tailEnd type="none" w="med" len="med"/>
                    </a:lnL>
                    <a:lnR w="6350" cap="flat" cmpd="sng" algn="ctr">
                      <a:solidFill>
                        <a:srgbClr val="DDE3ED"/>
                      </a:solidFill>
                      <a:prstDash val="solid"/>
                      <a:round/>
                      <a:headEnd type="none" w="med" len="med"/>
                      <a:tailEnd type="none" w="med" len="med"/>
                    </a:lnR>
                    <a:lnT w="6350" cap="flat" cmpd="sng" algn="ctr">
                      <a:solidFill>
                        <a:srgbClr val="DDE3ED"/>
                      </a:solidFill>
                      <a:prstDash val="solid"/>
                      <a:round/>
                      <a:headEnd type="none" w="med" len="med"/>
                      <a:tailEnd type="none" w="med" len="med"/>
                    </a:lnT>
                    <a:lnB w="6350" cap="flat" cmpd="sng" algn="ctr">
                      <a:solidFill>
                        <a:srgbClr val="DDE3ED"/>
                      </a:solidFill>
                      <a:prstDash val="solid"/>
                      <a:round/>
                      <a:headEnd type="none" w="med" len="med"/>
                      <a:tailEnd type="none" w="med" len="med"/>
                    </a:lnB>
                    <a:solidFill>
                      <a:srgbClr val="0A1F44"/>
                    </a:solidFill>
                  </a:tcPr>
                </a:tc>
                <a:tc>
                  <a:txBody>
                    <a:bodyPr/>
                    <a:lstStyle/>
                    <a:p>
                      <a:pPr marL="0" indent="0" algn="ctr">
                        <a:buNone/>
                      </a:pPr>
                      <a:r>
                        <a:rPr lang="en-US" sz="1400" b="1" dirty="0">
                          <a:solidFill>
                            <a:srgbClr val="FFFFFF"/>
                          </a:solidFill>
                          <a:latin typeface="Calibri" pitchFamily="34" charset="0"/>
                          <a:ea typeface="Calibri" pitchFamily="34" charset="-122"/>
                          <a:cs typeface="Calibri" pitchFamily="34" charset="-120"/>
                        </a:rPr>
                        <a:t>+5s F1</a:t>
                      </a:r>
                      <a:endParaRPr lang="en-US" sz="1400" dirty="0">
                        <a:latin typeface="Calibri" charset="0"/>
                        <a:ea typeface="Calibri" charset="0"/>
                        <a:cs typeface="Calibri" charset="0"/>
                      </a:endParaRPr>
                    </a:p>
                  </a:txBody>
                  <a:tcPr marL="121920" marR="121920" marT="60960" marB="60960" anchor="ctr">
                    <a:lnL w="6350" cap="flat" cmpd="sng" algn="ctr">
                      <a:solidFill>
                        <a:srgbClr val="DDE3ED"/>
                      </a:solidFill>
                      <a:prstDash val="solid"/>
                      <a:round/>
                      <a:headEnd type="none" w="med" len="med"/>
                      <a:tailEnd type="none" w="med" len="med"/>
                    </a:lnL>
                    <a:lnR w="6350" cap="flat" cmpd="sng" algn="ctr">
                      <a:solidFill>
                        <a:srgbClr val="DDE3ED"/>
                      </a:solidFill>
                      <a:prstDash val="solid"/>
                      <a:round/>
                      <a:headEnd type="none" w="med" len="med"/>
                      <a:tailEnd type="none" w="med" len="med"/>
                    </a:lnR>
                    <a:lnT w="6350" cap="flat" cmpd="sng" algn="ctr">
                      <a:solidFill>
                        <a:srgbClr val="DDE3ED"/>
                      </a:solidFill>
                      <a:prstDash val="solid"/>
                      <a:round/>
                      <a:headEnd type="none" w="med" len="med"/>
                      <a:tailEnd type="none" w="med" len="med"/>
                    </a:lnT>
                    <a:lnB w="6350" cap="flat" cmpd="sng" algn="ctr">
                      <a:solidFill>
                        <a:srgbClr val="DDE3ED"/>
                      </a:solidFill>
                      <a:prstDash val="solid"/>
                      <a:round/>
                      <a:headEnd type="none" w="med" len="med"/>
                      <a:tailEnd type="none" w="med" len="med"/>
                    </a:lnB>
                    <a:solidFill>
                      <a:srgbClr val="0A1F44"/>
                    </a:solidFill>
                  </a:tcPr>
                </a:tc>
                <a:tc>
                  <a:txBody>
                    <a:bodyPr/>
                    <a:lstStyle/>
                    <a:p>
                      <a:pPr marL="0" indent="0" algn="ctr">
                        <a:buNone/>
                      </a:pPr>
                      <a:r>
                        <a:rPr lang="en-US" sz="1400" b="1" dirty="0">
                          <a:solidFill>
                            <a:srgbClr val="FFFFFF"/>
                          </a:solidFill>
                          <a:latin typeface="Calibri" pitchFamily="34" charset="0"/>
                          <a:ea typeface="Calibri" pitchFamily="34" charset="-122"/>
                          <a:cs typeface="Calibri" pitchFamily="34" charset="-120"/>
                        </a:rPr>
                        <a:t>+15s F1</a:t>
                      </a:r>
                      <a:endParaRPr lang="en-US" sz="1400" dirty="0">
                        <a:latin typeface="Calibri" charset="0"/>
                        <a:ea typeface="Calibri" charset="0"/>
                        <a:cs typeface="Calibri" charset="0"/>
                      </a:endParaRPr>
                    </a:p>
                  </a:txBody>
                  <a:tcPr marL="121920" marR="121920" marT="60960" marB="60960" anchor="ctr">
                    <a:lnL w="6350" cap="flat" cmpd="sng" algn="ctr">
                      <a:solidFill>
                        <a:srgbClr val="DDE3ED"/>
                      </a:solidFill>
                      <a:prstDash val="solid"/>
                      <a:round/>
                      <a:headEnd type="none" w="med" len="med"/>
                      <a:tailEnd type="none" w="med" len="med"/>
                    </a:lnL>
                    <a:lnR w="6350" cap="flat" cmpd="sng" algn="ctr">
                      <a:solidFill>
                        <a:srgbClr val="DDE3ED"/>
                      </a:solidFill>
                      <a:prstDash val="solid"/>
                      <a:round/>
                      <a:headEnd type="none" w="med" len="med"/>
                      <a:tailEnd type="none" w="med" len="med"/>
                    </a:lnR>
                    <a:lnT w="6350" cap="flat" cmpd="sng" algn="ctr">
                      <a:solidFill>
                        <a:srgbClr val="DDE3ED"/>
                      </a:solidFill>
                      <a:prstDash val="solid"/>
                      <a:round/>
                      <a:headEnd type="none" w="med" len="med"/>
                      <a:tailEnd type="none" w="med" len="med"/>
                    </a:lnT>
                    <a:lnB w="6350" cap="flat" cmpd="sng" algn="ctr">
                      <a:solidFill>
                        <a:srgbClr val="DDE3ED"/>
                      </a:solidFill>
                      <a:prstDash val="solid"/>
                      <a:round/>
                      <a:headEnd type="none" w="med" len="med"/>
                      <a:tailEnd type="none" w="med" len="med"/>
                    </a:lnB>
                    <a:solidFill>
                      <a:srgbClr val="0A1F44"/>
                    </a:solidFill>
                  </a:tcPr>
                </a:tc>
                <a:tc>
                  <a:txBody>
                    <a:bodyPr/>
                    <a:lstStyle/>
                    <a:p>
                      <a:pPr marL="0" indent="0" algn="ctr">
                        <a:buNone/>
                      </a:pPr>
                      <a:r>
                        <a:rPr lang="en-US" sz="1400" b="1" dirty="0">
                          <a:solidFill>
                            <a:srgbClr val="FFFFFF"/>
                          </a:solidFill>
                          <a:latin typeface="Calibri" pitchFamily="34" charset="0"/>
                          <a:ea typeface="Calibri" pitchFamily="34" charset="-122"/>
                          <a:cs typeface="Calibri" pitchFamily="34" charset="-120"/>
                        </a:rPr>
                        <a:t>+30s F1</a:t>
                      </a:r>
                      <a:endParaRPr lang="en-US" sz="1400" dirty="0">
                        <a:latin typeface="Calibri" charset="0"/>
                        <a:ea typeface="Calibri" charset="0"/>
                        <a:cs typeface="Calibri" charset="0"/>
                      </a:endParaRPr>
                    </a:p>
                  </a:txBody>
                  <a:tcPr marL="121920" marR="121920" marT="60960" marB="60960" anchor="ctr">
                    <a:lnL w="6350" cap="flat" cmpd="sng" algn="ctr">
                      <a:solidFill>
                        <a:srgbClr val="DDE3ED"/>
                      </a:solidFill>
                      <a:prstDash val="solid"/>
                      <a:round/>
                      <a:headEnd type="none" w="med" len="med"/>
                      <a:tailEnd type="none" w="med" len="med"/>
                    </a:lnL>
                    <a:lnR w="6350" cap="flat" cmpd="sng" algn="ctr">
                      <a:solidFill>
                        <a:srgbClr val="DDE3ED"/>
                      </a:solidFill>
                      <a:prstDash val="solid"/>
                      <a:round/>
                      <a:headEnd type="none" w="med" len="med"/>
                      <a:tailEnd type="none" w="med" len="med"/>
                    </a:lnR>
                    <a:lnT w="6350" cap="flat" cmpd="sng" algn="ctr">
                      <a:solidFill>
                        <a:srgbClr val="DDE3ED"/>
                      </a:solidFill>
                      <a:prstDash val="solid"/>
                      <a:round/>
                      <a:headEnd type="none" w="med" len="med"/>
                      <a:tailEnd type="none" w="med" len="med"/>
                    </a:lnT>
                    <a:lnB w="6350" cap="flat" cmpd="sng" algn="ctr">
                      <a:solidFill>
                        <a:srgbClr val="DDE3ED"/>
                      </a:solidFill>
                      <a:prstDash val="solid"/>
                      <a:round/>
                      <a:headEnd type="none" w="med" len="med"/>
                      <a:tailEnd type="none" w="med" len="med"/>
                    </a:lnB>
                    <a:solidFill>
                      <a:srgbClr val="0A1F44"/>
                    </a:solidFill>
                  </a:tcPr>
                </a:tc>
                <a:tc>
                  <a:txBody>
                    <a:bodyPr/>
                    <a:lstStyle/>
                    <a:p>
                      <a:pPr marL="0" indent="0" algn="ctr">
                        <a:buNone/>
                      </a:pPr>
                      <a:r>
                        <a:rPr lang="en-US" sz="1400" b="1" dirty="0">
                          <a:solidFill>
                            <a:srgbClr val="FFFFFF"/>
                          </a:solidFill>
                          <a:latin typeface="Calibri" pitchFamily="34" charset="0"/>
                          <a:ea typeface="Calibri" pitchFamily="34" charset="-122"/>
                          <a:cs typeface="Calibri" pitchFamily="34" charset="-120"/>
                        </a:rPr>
                        <a:t>MCC</a:t>
                      </a:r>
                      <a:endParaRPr lang="en-US" sz="1400" dirty="0">
                        <a:latin typeface="Calibri" charset="0"/>
                        <a:ea typeface="Calibri" charset="0"/>
                        <a:cs typeface="Calibri" charset="0"/>
                      </a:endParaRPr>
                    </a:p>
                  </a:txBody>
                  <a:tcPr marL="121920" marR="121920" marT="60960" marB="60960" anchor="ctr">
                    <a:lnL w="6350" cap="flat" cmpd="sng" algn="ctr">
                      <a:solidFill>
                        <a:srgbClr val="DDE3ED"/>
                      </a:solidFill>
                      <a:prstDash val="solid"/>
                      <a:round/>
                      <a:headEnd type="none" w="med" len="med"/>
                      <a:tailEnd type="none" w="med" len="med"/>
                    </a:lnL>
                    <a:lnR w="6350" cap="flat" cmpd="sng" algn="ctr">
                      <a:solidFill>
                        <a:srgbClr val="DDE3ED"/>
                      </a:solidFill>
                      <a:prstDash val="solid"/>
                      <a:round/>
                      <a:headEnd type="none" w="med" len="med"/>
                      <a:tailEnd type="none" w="med" len="med"/>
                    </a:lnR>
                    <a:lnT w="6350" cap="flat" cmpd="sng" algn="ctr">
                      <a:solidFill>
                        <a:srgbClr val="DDE3ED"/>
                      </a:solidFill>
                      <a:prstDash val="solid"/>
                      <a:round/>
                      <a:headEnd type="none" w="med" len="med"/>
                      <a:tailEnd type="none" w="med" len="med"/>
                    </a:lnT>
                    <a:lnB w="6350" cap="flat" cmpd="sng" algn="ctr">
                      <a:solidFill>
                        <a:srgbClr val="DDE3ED"/>
                      </a:solidFill>
                      <a:prstDash val="solid"/>
                      <a:round/>
                      <a:headEnd type="none" w="med" len="med"/>
                      <a:tailEnd type="none" w="med" len="med"/>
                    </a:lnB>
                    <a:solidFill>
                      <a:srgbClr val="0A1F44"/>
                    </a:solidFill>
                  </a:tcPr>
                </a:tc>
                <a:extLst>
                  <a:ext uri="{0D108BD9-81ED-4DB2-BD59-A6C34878D82A}">
                    <a16:rowId xmlns:a16="http://schemas.microsoft.com/office/drawing/2014/main" val="10000"/>
                  </a:ext>
                </a:extLst>
              </a:tr>
              <a:tr h="530352">
                <a:tc>
                  <a:txBody>
                    <a:bodyPr/>
                    <a:lstStyle/>
                    <a:p>
                      <a:pPr marL="0" indent="0" algn="ctr">
                        <a:buNone/>
                      </a:pPr>
                      <a:r>
                        <a:rPr lang="en-US" sz="1400" dirty="0">
                          <a:solidFill>
                            <a:srgbClr val="8493A8"/>
                          </a:solidFill>
                          <a:latin typeface="Calibri" pitchFamily="34" charset="0"/>
                          <a:ea typeface="Calibri" pitchFamily="34" charset="-122"/>
                          <a:cs typeface="Calibri" pitchFamily="34" charset="-120"/>
                        </a:rPr>
                        <a:t>MajorityClass</a:t>
                      </a:r>
                      <a:endParaRPr lang="en-US" sz="1400" dirty="0">
                        <a:latin typeface="Calibri" charset="0"/>
                        <a:ea typeface="Calibri" charset="0"/>
                        <a:cs typeface="Calibri" charset="0"/>
                      </a:endParaRPr>
                    </a:p>
                  </a:txBody>
                  <a:tcPr marL="121920" marR="121920" marT="60960" marB="60960" anchor="ctr">
                    <a:lnL w="6350" cap="flat" cmpd="sng" algn="ctr">
                      <a:solidFill>
                        <a:srgbClr val="DDE3ED"/>
                      </a:solidFill>
                      <a:prstDash val="solid"/>
                      <a:round/>
                      <a:headEnd type="none" w="med" len="med"/>
                      <a:tailEnd type="none" w="med" len="med"/>
                    </a:lnL>
                    <a:lnR w="6350" cap="flat" cmpd="sng" algn="ctr">
                      <a:solidFill>
                        <a:srgbClr val="DDE3ED"/>
                      </a:solidFill>
                      <a:prstDash val="solid"/>
                      <a:round/>
                      <a:headEnd type="none" w="med" len="med"/>
                      <a:tailEnd type="none" w="med" len="med"/>
                    </a:lnR>
                    <a:lnT w="6350" cap="flat" cmpd="sng" algn="ctr">
                      <a:solidFill>
                        <a:srgbClr val="DDE3ED"/>
                      </a:solidFill>
                      <a:prstDash val="solid"/>
                      <a:round/>
                      <a:headEnd type="none" w="med" len="med"/>
                      <a:tailEnd type="none" w="med" len="med"/>
                    </a:lnT>
                    <a:lnB w="6350" cap="flat" cmpd="sng" algn="ctr">
                      <a:solidFill>
                        <a:srgbClr val="DDE3ED"/>
                      </a:solidFill>
                      <a:prstDash val="solid"/>
                      <a:round/>
                      <a:headEnd type="none" w="med" len="med"/>
                      <a:tailEnd type="none" w="med" len="med"/>
                    </a:lnB>
                  </a:tcPr>
                </a:tc>
                <a:tc>
                  <a:txBody>
                    <a:bodyPr/>
                    <a:lstStyle/>
                    <a:p>
                      <a:pPr marL="0" indent="0" algn="ctr">
                        <a:buNone/>
                      </a:pPr>
                      <a:r>
                        <a:rPr lang="en-US" sz="1400" dirty="0">
                          <a:solidFill>
                            <a:srgbClr val="8493A8"/>
                          </a:solidFill>
                          <a:latin typeface="Calibri" pitchFamily="34" charset="0"/>
                          <a:ea typeface="Calibri" pitchFamily="34" charset="-122"/>
                          <a:cs typeface="Calibri" pitchFamily="34" charset="-120"/>
                        </a:rPr>
                        <a:t>0.202</a:t>
                      </a:r>
                      <a:endParaRPr lang="en-US" sz="1400" dirty="0">
                        <a:latin typeface="Calibri" charset="0"/>
                        <a:ea typeface="Calibri" charset="0"/>
                        <a:cs typeface="Calibri" charset="0"/>
                      </a:endParaRPr>
                    </a:p>
                  </a:txBody>
                  <a:tcPr marL="121920" marR="121920" marT="60960" marB="60960" anchor="ctr">
                    <a:lnL w="6350" cap="flat" cmpd="sng" algn="ctr">
                      <a:solidFill>
                        <a:srgbClr val="DDE3ED"/>
                      </a:solidFill>
                      <a:prstDash val="solid"/>
                      <a:round/>
                      <a:headEnd type="none" w="med" len="med"/>
                      <a:tailEnd type="none" w="med" len="med"/>
                    </a:lnL>
                    <a:lnR w="6350" cap="flat" cmpd="sng" algn="ctr">
                      <a:solidFill>
                        <a:srgbClr val="DDE3ED"/>
                      </a:solidFill>
                      <a:prstDash val="solid"/>
                      <a:round/>
                      <a:headEnd type="none" w="med" len="med"/>
                      <a:tailEnd type="none" w="med" len="med"/>
                    </a:lnR>
                    <a:lnT w="6350" cap="flat" cmpd="sng" algn="ctr">
                      <a:solidFill>
                        <a:srgbClr val="DDE3ED"/>
                      </a:solidFill>
                      <a:prstDash val="solid"/>
                      <a:round/>
                      <a:headEnd type="none" w="med" len="med"/>
                      <a:tailEnd type="none" w="med" len="med"/>
                    </a:lnT>
                    <a:lnB w="6350" cap="flat" cmpd="sng" algn="ctr">
                      <a:solidFill>
                        <a:srgbClr val="DDE3ED"/>
                      </a:solidFill>
                      <a:prstDash val="solid"/>
                      <a:round/>
                      <a:headEnd type="none" w="med" len="med"/>
                      <a:tailEnd type="none" w="med" len="med"/>
                    </a:lnB>
                  </a:tcPr>
                </a:tc>
                <a:tc>
                  <a:txBody>
                    <a:bodyPr/>
                    <a:lstStyle/>
                    <a:p>
                      <a:pPr marL="0" indent="0" algn="ctr">
                        <a:buNone/>
                      </a:pPr>
                      <a:r>
                        <a:rPr lang="en-US" sz="1400" dirty="0">
                          <a:solidFill>
                            <a:srgbClr val="8493A8"/>
                          </a:solidFill>
                          <a:latin typeface="Calibri" pitchFamily="34" charset="0"/>
                          <a:ea typeface="Calibri" pitchFamily="34" charset="-122"/>
                          <a:cs typeface="Calibri" pitchFamily="34" charset="-120"/>
                        </a:rPr>
                        <a:t>0.072</a:t>
                      </a:r>
                      <a:endParaRPr lang="en-US" sz="1400" dirty="0">
                        <a:latin typeface="Calibri" charset="0"/>
                        <a:ea typeface="Calibri" charset="0"/>
                        <a:cs typeface="Calibri" charset="0"/>
                      </a:endParaRPr>
                    </a:p>
                  </a:txBody>
                  <a:tcPr marL="121920" marR="121920" marT="60960" marB="60960" anchor="ctr">
                    <a:lnL w="6350" cap="flat" cmpd="sng" algn="ctr">
                      <a:solidFill>
                        <a:srgbClr val="DDE3ED"/>
                      </a:solidFill>
                      <a:prstDash val="solid"/>
                      <a:round/>
                      <a:headEnd type="none" w="med" len="med"/>
                      <a:tailEnd type="none" w="med" len="med"/>
                    </a:lnL>
                    <a:lnR w="6350" cap="flat" cmpd="sng" algn="ctr">
                      <a:solidFill>
                        <a:srgbClr val="DDE3ED"/>
                      </a:solidFill>
                      <a:prstDash val="solid"/>
                      <a:round/>
                      <a:headEnd type="none" w="med" len="med"/>
                      <a:tailEnd type="none" w="med" len="med"/>
                    </a:lnR>
                    <a:lnT w="6350" cap="flat" cmpd="sng" algn="ctr">
                      <a:solidFill>
                        <a:srgbClr val="DDE3ED"/>
                      </a:solidFill>
                      <a:prstDash val="solid"/>
                      <a:round/>
                      <a:headEnd type="none" w="med" len="med"/>
                      <a:tailEnd type="none" w="med" len="med"/>
                    </a:lnT>
                    <a:lnB w="6350" cap="flat" cmpd="sng" algn="ctr">
                      <a:solidFill>
                        <a:srgbClr val="DDE3ED"/>
                      </a:solidFill>
                      <a:prstDash val="solid"/>
                      <a:round/>
                      <a:headEnd type="none" w="med" len="med"/>
                      <a:tailEnd type="none" w="med" len="med"/>
                    </a:lnB>
                  </a:tcPr>
                </a:tc>
                <a:tc>
                  <a:txBody>
                    <a:bodyPr/>
                    <a:lstStyle/>
                    <a:p>
                      <a:pPr marL="0" indent="0" algn="ctr">
                        <a:buNone/>
                      </a:pPr>
                      <a:r>
                        <a:rPr lang="en-US" sz="1400" dirty="0">
                          <a:solidFill>
                            <a:srgbClr val="8493A8"/>
                          </a:solidFill>
                          <a:latin typeface="Calibri" pitchFamily="34" charset="0"/>
                          <a:ea typeface="Calibri" pitchFamily="34" charset="-122"/>
                          <a:cs typeface="Calibri" pitchFamily="34" charset="-120"/>
                        </a:rPr>
                        <a:t>0.072</a:t>
                      </a:r>
                      <a:endParaRPr lang="en-US" sz="1400" dirty="0">
                        <a:latin typeface="Calibri" charset="0"/>
                        <a:ea typeface="Calibri" charset="0"/>
                        <a:cs typeface="Calibri" charset="0"/>
                      </a:endParaRPr>
                    </a:p>
                  </a:txBody>
                  <a:tcPr marL="121920" marR="121920" marT="60960" marB="60960" anchor="ctr">
                    <a:lnL w="6350" cap="flat" cmpd="sng" algn="ctr">
                      <a:solidFill>
                        <a:srgbClr val="DDE3ED"/>
                      </a:solidFill>
                      <a:prstDash val="solid"/>
                      <a:round/>
                      <a:headEnd type="none" w="med" len="med"/>
                      <a:tailEnd type="none" w="med" len="med"/>
                    </a:lnL>
                    <a:lnR w="6350" cap="flat" cmpd="sng" algn="ctr">
                      <a:solidFill>
                        <a:srgbClr val="DDE3ED"/>
                      </a:solidFill>
                      <a:prstDash val="solid"/>
                      <a:round/>
                      <a:headEnd type="none" w="med" len="med"/>
                      <a:tailEnd type="none" w="med" len="med"/>
                    </a:lnR>
                    <a:lnT w="6350" cap="flat" cmpd="sng" algn="ctr">
                      <a:solidFill>
                        <a:srgbClr val="DDE3ED"/>
                      </a:solidFill>
                      <a:prstDash val="solid"/>
                      <a:round/>
                      <a:headEnd type="none" w="med" len="med"/>
                      <a:tailEnd type="none" w="med" len="med"/>
                    </a:lnT>
                    <a:lnB w="6350" cap="flat" cmpd="sng" algn="ctr">
                      <a:solidFill>
                        <a:srgbClr val="DDE3ED"/>
                      </a:solidFill>
                      <a:prstDash val="solid"/>
                      <a:round/>
                      <a:headEnd type="none" w="med" len="med"/>
                      <a:tailEnd type="none" w="med" len="med"/>
                    </a:lnB>
                  </a:tcPr>
                </a:tc>
                <a:tc>
                  <a:txBody>
                    <a:bodyPr/>
                    <a:lstStyle/>
                    <a:p>
                      <a:pPr marL="0" indent="0" algn="ctr">
                        <a:buNone/>
                      </a:pPr>
                      <a:r>
                        <a:rPr lang="en-US" sz="1400" dirty="0">
                          <a:solidFill>
                            <a:srgbClr val="8493A8"/>
                          </a:solidFill>
                          <a:latin typeface="Calibri" pitchFamily="34" charset="0"/>
                          <a:ea typeface="Calibri" pitchFamily="34" charset="-122"/>
                          <a:cs typeface="Calibri" pitchFamily="34" charset="-120"/>
                        </a:rPr>
                        <a:t>0.000</a:t>
                      </a:r>
                      <a:endParaRPr lang="en-US" sz="1400" dirty="0">
                        <a:latin typeface="Calibri" charset="0"/>
                        <a:ea typeface="Calibri" charset="0"/>
                        <a:cs typeface="Calibri" charset="0"/>
                      </a:endParaRPr>
                    </a:p>
                  </a:txBody>
                  <a:tcPr marL="121920" marR="121920" marT="60960" marB="60960" anchor="ctr">
                    <a:lnL w="6350" cap="flat" cmpd="sng" algn="ctr">
                      <a:solidFill>
                        <a:srgbClr val="DDE3ED"/>
                      </a:solidFill>
                      <a:prstDash val="solid"/>
                      <a:round/>
                      <a:headEnd type="none" w="med" len="med"/>
                      <a:tailEnd type="none" w="med" len="med"/>
                    </a:lnL>
                    <a:lnR w="6350" cap="flat" cmpd="sng" algn="ctr">
                      <a:solidFill>
                        <a:srgbClr val="DDE3ED"/>
                      </a:solidFill>
                      <a:prstDash val="solid"/>
                      <a:round/>
                      <a:headEnd type="none" w="med" len="med"/>
                      <a:tailEnd type="none" w="med" len="med"/>
                    </a:lnR>
                    <a:lnT w="6350" cap="flat" cmpd="sng" algn="ctr">
                      <a:solidFill>
                        <a:srgbClr val="DDE3ED"/>
                      </a:solidFill>
                      <a:prstDash val="solid"/>
                      <a:round/>
                      <a:headEnd type="none" w="med" len="med"/>
                      <a:tailEnd type="none" w="med" len="med"/>
                    </a:lnT>
                    <a:lnB w="6350" cap="flat" cmpd="sng" algn="ctr">
                      <a:solidFill>
                        <a:srgbClr val="DDE3ED"/>
                      </a:solidFill>
                      <a:prstDash val="solid"/>
                      <a:round/>
                      <a:headEnd type="none" w="med" len="med"/>
                      <a:tailEnd type="none" w="med" len="med"/>
                    </a:lnB>
                  </a:tcPr>
                </a:tc>
                <a:extLst>
                  <a:ext uri="{0D108BD9-81ED-4DB2-BD59-A6C34878D82A}">
                    <a16:rowId xmlns:a16="http://schemas.microsoft.com/office/drawing/2014/main" val="10001"/>
                  </a:ext>
                </a:extLst>
              </a:tr>
              <a:tr h="530352">
                <a:tc>
                  <a:txBody>
                    <a:bodyPr/>
                    <a:lstStyle/>
                    <a:p>
                      <a:pPr marL="0" indent="0" algn="ctr">
                        <a:buNone/>
                      </a:pPr>
                      <a:r>
                        <a:rPr lang="en-US" sz="1400" dirty="0">
                          <a:solidFill>
                            <a:srgbClr val="8493A8"/>
                          </a:solidFill>
                          <a:latin typeface="Calibri" pitchFamily="34" charset="0"/>
                          <a:ea typeface="Calibri" pitchFamily="34" charset="-122"/>
                          <a:cs typeface="Calibri" pitchFamily="34" charset="-120"/>
                        </a:rPr>
                        <a:t>CNR Threshold</a:t>
                      </a:r>
                      <a:endParaRPr lang="en-US" sz="1400" dirty="0">
                        <a:latin typeface="Calibri" charset="0"/>
                        <a:ea typeface="Calibri" charset="0"/>
                        <a:cs typeface="Calibri" charset="0"/>
                      </a:endParaRPr>
                    </a:p>
                  </a:txBody>
                  <a:tcPr marL="121920" marR="121920" marT="60960" marB="60960" anchor="ctr">
                    <a:lnL w="6350" cap="flat" cmpd="sng" algn="ctr">
                      <a:solidFill>
                        <a:srgbClr val="DDE3ED"/>
                      </a:solidFill>
                      <a:prstDash val="solid"/>
                      <a:round/>
                      <a:headEnd type="none" w="med" len="med"/>
                      <a:tailEnd type="none" w="med" len="med"/>
                    </a:lnL>
                    <a:lnR w="6350" cap="flat" cmpd="sng" algn="ctr">
                      <a:solidFill>
                        <a:srgbClr val="DDE3ED"/>
                      </a:solidFill>
                      <a:prstDash val="solid"/>
                      <a:round/>
                      <a:headEnd type="none" w="med" len="med"/>
                      <a:tailEnd type="none" w="med" len="med"/>
                    </a:lnR>
                    <a:lnT w="6350" cap="flat" cmpd="sng" algn="ctr">
                      <a:solidFill>
                        <a:srgbClr val="DDE3ED"/>
                      </a:solidFill>
                      <a:prstDash val="solid"/>
                      <a:round/>
                      <a:headEnd type="none" w="med" len="med"/>
                      <a:tailEnd type="none" w="med" len="med"/>
                    </a:lnT>
                    <a:lnB w="6350" cap="flat" cmpd="sng" algn="ctr">
                      <a:solidFill>
                        <a:srgbClr val="DDE3ED"/>
                      </a:solidFill>
                      <a:prstDash val="solid"/>
                      <a:round/>
                      <a:headEnd type="none" w="med" len="med"/>
                      <a:tailEnd type="none" w="med" len="med"/>
                    </a:lnB>
                  </a:tcPr>
                </a:tc>
                <a:tc>
                  <a:txBody>
                    <a:bodyPr/>
                    <a:lstStyle/>
                    <a:p>
                      <a:pPr marL="0" indent="0" algn="ctr">
                        <a:buNone/>
                      </a:pPr>
                      <a:r>
                        <a:rPr lang="en-US" sz="1400" dirty="0">
                          <a:solidFill>
                            <a:srgbClr val="8493A8"/>
                          </a:solidFill>
                          <a:latin typeface="Calibri" pitchFamily="34" charset="0"/>
                          <a:ea typeface="Calibri" pitchFamily="34" charset="-122"/>
                          <a:cs typeface="Calibri" pitchFamily="34" charset="-120"/>
                        </a:rPr>
                        <a:t>0.074</a:t>
                      </a:r>
                      <a:endParaRPr lang="en-US" sz="1400" dirty="0">
                        <a:latin typeface="Calibri" charset="0"/>
                        <a:ea typeface="Calibri" charset="0"/>
                        <a:cs typeface="Calibri" charset="0"/>
                      </a:endParaRPr>
                    </a:p>
                  </a:txBody>
                  <a:tcPr marL="121920" marR="121920" marT="60960" marB="60960" anchor="ctr">
                    <a:lnL w="6350" cap="flat" cmpd="sng" algn="ctr">
                      <a:solidFill>
                        <a:srgbClr val="DDE3ED"/>
                      </a:solidFill>
                      <a:prstDash val="solid"/>
                      <a:round/>
                      <a:headEnd type="none" w="med" len="med"/>
                      <a:tailEnd type="none" w="med" len="med"/>
                    </a:lnL>
                    <a:lnR w="6350" cap="flat" cmpd="sng" algn="ctr">
                      <a:solidFill>
                        <a:srgbClr val="DDE3ED"/>
                      </a:solidFill>
                      <a:prstDash val="solid"/>
                      <a:round/>
                      <a:headEnd type="none" w="med" len="med"/>
                      <a:tailEnd type="none" w="med" len="med"/>
                    </a:lnR>
                    <a:lnT w="6350" cap="flat" cmpd="sng" algn="ctr">
                      <a:solidFill>
                        <a:srgbClr val="DDE3ED"/>
                      </a:solidFill>
                      <a:prstDash val="solid"/>
                      <a:round/>
                      <a:headEnd type="none" w="med" len="med"/>
                      <a:tailEnd type="none" w="med" len="med"/>
                    </a:lnT>
                    <a:lnB w="6350" cap="flat" cmpd="sng" algn="ctr">
                      <a:solidFill>
                        <a:srgbClr val="DDE3ED"/>
                      </a:solidFill>
                      <a:prstDash val="solid"/>
                      <a:round/>
                      <a:headEnd type="none" w="med" len="med"/>
                      <a:tailEnd type="none" w="med" len="med"/>
                    </a:lnB>
                  </a:tcPr>
                </a:tc>
                <a:tc>
                  <a:txBody>
                    <a:bodyPr/>
                    <a:lstStyle/>
                    <a:p>
                      <a:pPr marL="0" indent="0" algn="ctr">
                        <a:buNone/>
                      </a:pPr>
                      <a:r>
                        <a:rPr lang="en-US" sz="1400" dirty="0">
                          <a:solidFill>
                            <a:srgbClr val="8493A8"/>
                          </a:solidFill>
                          <a:latin typeface="Calibri" pitchFamily="34" charset="0"/>
                          <a:ea typeface="Calibri" pitchFamily="34" charset="-122"/>
                          <a:cs typeface="Calibri" pitchFamily="34" charset="-120"/>
                        </a:rPr>
                        <a:t>0.072</a:t>
                      </a:r>
                      <a:endParaRPr lang="en-US" sz="1400" dirty="0">
                        <a:latin typeface="Calibri" charset="0"/>
                        <a:ea typeface="Calibri" charset="0"/>
                        <a:cs typeface="Calibri" charset="0"/>
                      </a:endParaRPr>
                    </a:p>
                  </a:txBody>
                  <a:tcPr marL="121920" marR="121920" marT="60960" marB="60960" anchor="ctr">
                    <a:lnL w="6350" cap="flat" cmpd="sng" algn="ctr">
                      <a:solidFill>
                        <a:srgbClr val="DDE3ED"/>
                      </a:solidFill>
                      <a:prstDash val="solid"/>
                      <a:round/>
                      <a:headEnd type="none" w="med" len="med"/>
                      <a:tailEnd type="none" w="med" len="med"/>
                    </a:lnL>
                    <a:lnR w="6350" cap="flat" cmpd="sng" algn="ctr">
                      <a:solidFill>
                        <a:srgbClr val="DDE3ED"/>
                      </a:solidFill>
                      <a:prstDash val="solid"/>
                      <a:round/>
                      <a:headEnd type="none" w="med" len="med"/>
                      <a:tailEnd type="none" w="med" len="med"/>
                    </a:lnR>
                    <a:lnT w="6350" cap="flat" cmpd="sng" algn="ctr">
                      <a:solidFill>
                        <a:srgbClr val="DDE3ED"/>
                      </a:solidFill>
                      <a:prstDash val="solid"/>
                      <a:round/>
                      <a:headEnd type="none" w="med" len="med"/>
                      <a:tailEnd type="none" w="med" len="med"/>
                    </a:lnT>
                    <a:lnB w="6350" cap="flat" cmpd="sng" algn="ctr">
                      <a:solidFill>
                        <a:srgbClr val="DDE3ED"/>
                      </a:solidFill>
                      <a:prstDash val="solid"/>
                      <a:round/>
                      <a:headEnd type="none" w="med" len="med"/>
                      <a:tailEnd type="none" w="med" len="med"/>
                    </a:lnB>
                  </a:tcPr>
                </a:tc>
                <a:tc>
                  <a:txBody>
                    <a:bodyPr/>
                    <a:lstStyle/>
                    <a:p>
                      <a:pPr marL="0" indent="0" algn="ctr">
                        <a:buNone/>
                      </a:pPr>
                      <a:r>
                        <a:rPr lang="en-US" sz="1400" dirty="0">
                          <a:solidFill>
                            <a:srgbClr val="8493A8"/>
                          </a:solidFill>
                          <a:latin typeface="Calibri" pitchFamily="34" charset="0"/>
                          <a:ea typeface="Calibri" pitchFamily="34" charset="-122"/>
                          <a:cs typeface="Calibri" pitchFamily="34" charset="-120"/>
                        </a:rPr>
                        <a:t>0.072</a:t>
                      </a:r>
                      <a:endParaRPr lang="en-US" sz="1400" dirty="0">
                        <a:latin typeface="Calibri" charset="0"/>
                        <a:ea typeface="Calibri" charset="0"/>
                        <a:cs typeface="Calibri" charset="0"/>
                      </a:endParaRPr>
                    </a:p>
                  </a:txBody>
                  <a:tcPr marL="121920" marR="121920" marT="60960" marB="60960" anchor="ctr">
                    <a:lnL w="6350" cap="flat" cmpd="sng" algn="ctr">
                      <a:solidFill>
                        <a:srgbClr val="DDE3ED"/>
                      </a:solidFill>
                      <a:prstDash val="solid"/>
                      <a:round/>
                      <a:headEnd type="none" w="med" len="med"/>
                      <a:tailEnd type="none" w="med" len="med"/>
                    </a:lnL>
                    <a:lnR w="6350" cap="flat" cmpd="sng" algn="ctr">
                      <a:solidFill>
                        <a:srgbClr val="DDE3ED"/>
                      </a:solidFill>
                      <a:prstDash val="solid"/>
                      <a:round/>
                      <a:headEnd type="none" w="med" len="med"/>
                      <a:tailEnd type="none" w="med" len="med"/>
                    </a:lnR>
                    <a:lnT w="6350" cap="flat" cmpd="sng" algn="ctr">
                      <a:solidFill>
                        <a:srgbClr val="DDE3ED"/>
                      </a:solidFill>
                      <a:prstDash val="solid"/>
                      <a:round/>
                      <a:headEnd type="none" w="med" len="med"/>
                      <a:tailEnd type="none" w="med" len="med"/>
                    </a:lnT>
                    <a:lnB w="6350" cap="flat" cmpd="sng" algn="ctr">
                      <a:solidFill>
                        <a:srgbClr val="DDE3ED"/>
                      </a:solidFill>
                      <a:prstDash val="solid"/>
                      <a:round/>
                      <a:headEnd type="none" w="med" len="med"/>
                      <a:tailEnd type="none" w="med" len="med"/>
                    </a:lnB>
                  </a:tcPr>
                </a:tc>
                <a:tc>
                  <a:txBody>
                    <a:bodyPr/>
                    <a:lstStyle/>
                    <a:p>
                      <a:pPr marL="0" indent="0" algn="ctr">
                        <a:buNone/>
                      </a:pPr>
                      <a:r>
                        <a:rPr lang="en-US" sz="1400" dirty="0">
                          <a:solidFill>
                            <a:srgbClr val="8493A8"/>
                          </a:solidFill>
                          <a:latin typeface="Calibri" pitchFamily="34" charset="0"/>
                          <a:ea typeface="Calibri" pitchFamily="34" charset="-122"/>
                          <a:cs typeface="Calibri" pitchFamily="34" charset="-120"/>
                        </a:rPr>
                        <a:t>0.000</a:t>
                      </a:r>
                      <a:endParaRPr lang="en-US" sz="1400" dirty="0">
                        <a:latin typeface="Calibri" charset="0"/>
                        <a:ea typeface="Calibri" charset="0"/>
                        <a:cs typeface="Calibri" charset="0"/>
                      </a:endParaRPr>
                    </a:p>
                  </a:txBody>
                  <a:tcPr marL="121920" marR="121920" marT="60960" marB="60960" anchor="ctr">
                    <a:lnL w="6350" cap="flat" cmpd="sng" algn="ctr">
                      <a:solidFill>
                        <a:srgbClr val="DDE3ED"/>
                      </a:solidFill>
                      <a:prstDash val="solid"/>
                      <a:round/>
                      <a:headEnd type="none" w="med" len="med"/>
                      <a:tailEnd type="none" w="med" len="med"/>
                    </a:lnL>
                    <a:lnR w="6350" cap="flat" cmpd="sng" algn="ctr">
                      <a:solidFill>
                        <a:srgbClr val="DDE3ED"/>
                      </a:solidFill>
                      <a:prstDash val="solid"/>
                      <a:round/>
                      <a:headEnd type="none" w="med" len="med"/>
                      <a:tailEnd type="none" w="med" len="med"/>
                    </a:lnR>
                    <a:lnT w="6350" cap="flat" cmpd="sng" algn="ctr">
                      <a:solidFill>
                        <a:srgbClr val="DDE3ED"/>
                      </a:solidFill>
                      <a:prstDash val="solid"/>
                      <a:round/>
                      <a:headEnd type="none" w="med" len="med"/>
                      <a:tailEnd type="none" w="med" len="med"/>
                    </a:lnT>
                    <a:lnB w="6350" cap="flat" cmpd="sng" algn="ctr">
                      <a:solidFill>
                        <a:srgbClr val="DDE3ED"/>
                      </a:solidFill>
                      <a:prstDash val="solid"/>
                      <a:round/>
                      <a:headEnd type="none" w="med" len="med"/>
                      <a:tailEnd type="none" w="med" len="med"/>
                    </a:lnB>
                  </a:tcPr>
                </a:tc>
                <a:extLst>
                  <a:ext uri="{0D108BD9-81ED-4DB2-BD59-A6C34878D82A}">
                    <a16:rowId xmlns:a16="http://schemas.microsoft.com/office/drawing/2014/main" val="10002"/>
                  </a:ext>
                </a:extLst>
              </a:tr>
              <a:tr h="530352">
                <a:tc>
                  <a:txBody>
                    <a:bodyPr/>
                    <a:lstStyle/>
                    <a:p>
                      <a:pPr marL="0" indent="0" algn="ctr">
                        <a:buNone/>
                      </a:pPr>
                      <a:r>
                        <a:rPr lang="en-US" sz="1400" dirty="0">
                          <a:solidFill>
                            <a:srgbClr val="0A1F44"/>
                          </a:solidFill>
                          <a:latin typeface="Calibri" pitchFamily="34" charset="0"/>
                          <a:ea typeface="Calibri" pitchFamily="34" charset="-122"/>
                          <a:cs typeface="Calibri" pitchFamily="34" charset="-120"/>
                        </a:rPr>
                        <a:t>RandomForest (SMOTE)</a:t>
                      </a:r>
                      <a:endParaRPr lang="en-US" sz="1400" dirty="0">
                        <a:latin typeface="Calibri" charset="0"/>
                        <a:ea typeface="Calibri" charset="0"/>
                        <a:cs typeface="Calibri" charset="0"/>
                      </a:endParaRPr>
                    </a:p>
                  </a:txBody>
                  <a:tcPr marL="121920" marR="121920" marT="60960" marB="60960" anchor="ctr">
                    <a:lnL w="6350" cap="flat" cmpd="sng" algn="ctr">
                      <a:solidFill>
                        <a:srgbClr val="DDE3ED"/>
                      </a:solidFill>
                      <a:prstDash val="solid"/>
                      <a:round/>
                      <a:headEnd type="none" w="med" len="med"/>
                      <a:tailEnd type="none" w="med" len="med"/>
                    </a:lnL>
                    <a:lnR w="6350" cap="flat" cmpd="sng" algn="ctr">
                      <a:solidFill>
                        <a:srgbClr val="DDE3ED"/>
                      </a:solidFill>
                      <a:prstDash val="solid"/>
                      <a:round/>
                      <a:headEnd type="none" w="med" len="med"/>
                      <a:tailEnd type="none" w="med" len="med"/>
                    </a:lnR>
                    <a:lnT w="6350" cap="flat" cmpd="sng" algn="ctr">
                      <a:solidFill>
                        <a:srgbClr val="DDE3ED"/>
                      </a:solidFill>
                      <a:prstDash val="solid"/>
                      <a:round/>
                      <a:headEnd type="none" w="med" len="med"/>
                      <a:tailEnd type="none" w="med" len="med"/>
                    </a:lnT>
                    <a:lnB w="6350" cap="flat" cmpd="sng" algn="ctr">
                      <a:solidFill>
                        <a:srgbClr val="DDE3ED"/>
                      </a:solidFill>
                      <a:prstDash val="solid"/>
                      <a:round/>
                      <a:headEnd type="none" w="med" len="med"/>
                      <a:tailEnd type="none" w="med" len="med"/>
                    </a:lnB>
                  </a:tcPr>
                </a:tc>
                <a:tc>
                  <a:txBody>
                    <a:bodyPr/>
                    <a:lstStyle/>
                    <a:p>
                      <a:pPr marL="0" indent="0" algn="ctr">
                        <a:buNone/>
                      </a:pPr>
                      <a:r>
                        <a:rPr lang="en-US" sz="1400" dirty="0">
                          <a:solidFill>
                            <a:srgbClr val="0A1F44"/>
                          </a:solidFill>
                          <a:latin typeface="Calibri" pitchFamily="34" charset="0"/>
                          <a:ea typeface="Calibri" pitchFamily="34" charset="-122"/>
                          <a:cs typeface="Calibri" pitchFamily="34" charset="-120"/>
                        </a:rPr>
                        <a:t>0.909</a:t>
                      </a:r>
                      <a:endParaRPr lang="en-US" sz="1400" dirty="0">
                        <a:latin typeface="Calibri" charset="0"/>
                        <a:ea typeface="Calibri" charset="0"/>
                        <a:cs typeface="Calibri" charset="0"/>
                      </a:endParaRPr>
                    </a:p>
                  </a:txBody>
                  <a:tcPr marL="121920" marR="121920" marT="60960" marB="60960" anchor="ctr">
                    <a:lnL w="6350" cap="flat" cmpd="sng" algn="ctr">
                      <a:solidFill>
                        <a:srgbClr val="DDE3ED"/>
                      </a:solidFill>
                      <a:prstDash val="solid"/>
                      <a:round/>
                      <a:headEnd type="none" w="med" len="med"/>
                      <a:tailEnd type="none" w="med" len="med"/>
                    </a:lnL>
                    <a:lnR w="6350" cap="flat" cmpd="sng" algn="ctr">
                      <a:solidFill>
                        <a:srgbClr val="DDE3ED"/>
                      </a:solidFill>
                      <a:prstDash val="solid"/>
                      <a:round/>
                      <a:headEnd type="none" w="med" len="med"/>
                      <a:tailEnd type="none" w="med" len="med"/>
                    </a:lnR>
                    <a:lnT w="6350" cap="flat" cmpd="sng" algn="ctr">
                      <a:solidFill>
                        <a:srgbClr val="DDE3ED"/>
                      </a:solidFill>
                      <a:prstDash val="solid"/>
                      <a:round/>
                      <a:headEnd type="none" w="med" len="med"/>
                      <a:tailEnd type="none" w="med" len="med"/>
                    </a:lnT>
                    <a:lnB w="6350" cap="flat" cmpd="sng" algn="ctr">
                      <a:solidFill>
                        <a:srgbClr val="DDE3ED"/>
                      </a:solidFill>
                      <a:prstDash val="solid"/>
                      <a:round/>
                      <a:headEnd type="none" w="med" len="med"/>
                      <a:tailEnd type="none" w="med" len="med"/>
                    </a:lnB>
                  </a:tcPr>
                </a:tc>
                <a:tc>
                  <a:txBody>
                    <a:bodyPr/>
                    <a:lstStyle/>
                    <a:p>
                      <a:pPr marL="0" indent="0" algn="ctr">
                        <a:buNone/>
                      </a:pPr>
                      <a:r>
                        <a:rPr lang="en-US" sz="1400" dirty="0">
                          <a:solidFill>
                            <a:srgbClr val="0A1F44"/>
                          </a:solidFill>
                          <a:latin typeface="Calibri" pitchFamily="34" charset="0"/>
                          <a:ea typeface="Calibri" pitchFamily="34" charset="-122"/>
                          <a:cs typeface="Calibri" pitchFamily="34" charset="-120"/>
                        </a:rPr>
                        <a:t>0.887</a:t>
                      </a:r>
                      <a:endParaRPr lang="en-US" sz="1400" dirty="0">
                        <a:latin typeface="Calibri" charset="0"/>
                        <a:ea typeface="Calibri" charset="0"/>
                        <a:cs typeface="Calibri" charset="0"/>
                      </a:endParaRPr>
                    </a:p>
                  </a:txBody>
                  <a:tcPr marL="121920" marR="121920" marT="60960" marB="60960" anchor="ctr">
                    <a:lnL w="6350" cap="flat" cmpd="sng" algn="ctr">
                      <a:solidFill>
                        <a:srgbClr val="DDE3ED"/>
                      </a:solidFill>
                      <a:prstDash val="solid"/>
                      <a:round/>
                      <a:headEnd type="none" w="med" len="med"/>
                      <a:tailEnd type="none" w="med" len="med"/>
                    </a:lnL>
                    <a:lnR w="6350" cap="flat" cmpd="sng" algn="ctr">
                      <a:solidFill>
                        <a:srgbClr val="DDE3ED"/>
                      </a:solidFill>
                      <a:prstDash val="solid"/>
                      <a:round/>
                      <a:headEnd type="none" w="med" len="med"/>
                      <a:tailEnd type="none" w="med" len="med"/>
                    </a:lnR>
                    <a:lnT w="6350" cap="flat" cmpd="sng" algn="ctr">
                      <a:solidFill>
                        <a:srgbClr val="DDE3ED"/>
                      </a:solidFill>
                      <a:prstDash val="solid"/>
                      <a:round/>
                      <a:headEnd type="none" w="med" len="med"/>
                      <a:tailEnd type="none" w="med" len="med"/>
                    </a:lnT>
                    <a:lnB w="6350" cap="flat" cmpd="sng" algn="ctr">
                      <a:solidFill>
                        <a:srgbClr val="DDE3ED"/>
                      </a:solidFill>
                      <a:prstDash val="solid"/>
                      <a:round/>
                      <a:headEnd type="none" w="med" len="med"/>
                      <a:tailEnd type="none" w="med" len="med"/>
                    </a:lnB>
                  </a:tcPr>
                </a:tc>
                <a:tc>
                  <a:txBody>
                    <a:bodyPr/>
                    <a:lstStyle/>
                    <a:p>
                      <a:pPr marL="0" indent="0" algn="ctr">
                        <a:buNone/>
                      </a:pPr>
                      <a:r>
                        <a:rPr lang="en-US" sz="1400" dirty="0">
                          <a:solidFill>
                            <a:srgbClr val="0A1F44"/>
                          </a:solidFill>
                          <a:latin typeface="Calibri" pitchFamily="34" charset="0"/>
                          <a:ea typeface="Calibri" pitchFamily="34" charset="-122"/>
                          <a:cs typeface="Calibri" pitchFamily="34" charset="-120"/>
                        </a:rPr>
                        <a:t>0.877</a:t>
                      </a:r>
                      <a:endParaRPr lang="en-US" sz="1400" dirty="0">
                        <a:latin typeface="Calibri" charset="0"/>
                        <a:ea typeface="Calibri" charset="0"/>
                        <a:cs typeface="Calibri" charset="0"/>
                      </a:endParaRPr>
                    </a:p>
                  </a:txBody>
                  <a:tcPr marL="121920" marR="121920" marT="60960" marB="60960" anchor="ctr">
                    <a:lnL w="6350" cap="flat" cmpd="sng" algn="ctr">
                      <a:solidFill>
                        <a:srgbClr val="DDE3ED"/>
                      </a:solidFill>
                      <a:prstDash val="solid"/>
                      <a:round/>
                      <a:headEnd type="none" w="med" len="med"/>
                      <a:tailEnd type="none" w="med" len="med"/>
                    </a:lnL>
                    <a:lnR w="6350" cap="flat" cmpd="sng" algn="ctr">
                      <a:solidFill>
                        <a:srgbClr val="DDE3ED"/>
                      </a:solidFill>
                      <a:prstDash val="solid"/>
                      <a:round/>
                      <a:headEnd type="none" w="med" len="med"/>
                      <a:tailEnd type="none" w="med" len="med"/>
                    </a:lnR>
                    <a:lnT w="6350" cap="flat" cmpd="sng" algn="ctr">
                      <a:solidFill>
                        <a:srgbClr val="DDE3ED"/>
                      </a:solidFill>
                      <a:prstDash val="solid"/>
                      <a:round/>
                      <a:headEnd type="none" w="med" len="med"/>
                      <a:tailEnd type="none" w="med" len="med"/>
                    </a:lnT>
                    <a:lnB w="6350" cap="flat" cmpd="sng" algn="ctr">
                      <a:solidFill>
                        <a:srgbClr val="DDE3ED"/>
                      </a:solidFill>
                      <a:prstDash val="solid"/>
                      <a:round/>
                      <a:headEnd type="none" w="med" len="med"/>
                      <a:tailEnd type="none" w="med" len="med"/>
                    </a:lnB>
                  </a:tcPr>
                </a:tc>
                <a:tc>
                  <a:txBody>
                    <a:bodyPr/>
                    <a:lstStyle/>
                    <a:p>
                      <a:pPr marL="0" indent="0" algn="ctr">
                        <a:buNone/>
                      </a:pPr>
                      <a:r>
                        <a:rPr lang="en-US" sz="1400" dirty="0">
                          <a:solidFill>
                            <a:srgbClr val="0A1F44"/>
                          </a:solidFill>
                          <a:latin typeface="Calibri" pitchFamily="34" charset="0"/>
                          <a:ea typeface="Calibri" pitchFamily="34" charset="-122"/>
                          <a:cs typeface="Calibri" pitchFamily="34" charset="-120"/>
                        </a:rPr>
                        <a:t>0.915</a:t>
                      </a:r>
                      <a:endParaRPr lang="en-US" sz="1400" dirty="0">
                        <a:latin typeface="Calibri" charset="0"/>
                        <a:ea typeface="Calibri" charset="0"/>
                        <a:cs typeface="Calibri" charset="0"/>
                      </a:endParaRPr>
                    </a:p>
                  </a:txBody>
                  <a:tcPr marL="121920" marR="121920" marT="60960" marB="60960" anchor="ctr">
                    <a:lnL w="6350" cap="flat" cmpd="sng" algn="ctr">
                      <a:solidFill>
                        <a:srgbClr val="DDE3ED"/>
                      </a:solidFill>
                      <a:prstDash val="solid"/>
                      <a:round/>
                      <a:headEnd type="none" w="med" len="med"/>
                      <a:tailEnd type="none" w="med" len="med"/>
                    </a:lnL>
                    <a:lnR w="6350" cap="flat" cmpd="sng" algn="ctr">
                      <a:solidFill>
                        <a:srgbClr val="DDE3ED"/>
                      </a:solidFill>
                      <a:prstDash val="solid"/>
                      <a:round/>
                      <a:headEnd type="none" w="med" len="med"/>
                      <a:tailEnd type="none" w="med" len="med"/>
                    </a:lnR>
                    <a:lnT w="6350" cap="flat" cmpd="sng" algn="ctr">
                      <a:solidFill>
                        <a:srgbClr val="DDE3ED"/>
                      </a:solidFill>
                      <a:prstDash val="solid"/>
                      <a:round/>
                      <a:headEnd type="none" w="med" len="med"/>
                      <a:tailEnd type="none" w="med" len="med"/>
                    </a:lnT>
                    <a:lnB w="6350" cap="flat" cmpd="sng" algn="ctr">
                      <a:solidFill>
                        <a:srgbClr val="DDE3ED"/>
                      </a:solidFill>
                      <a:prstDash val="solid"/>
                      <a:round/>
                      <a:headEnd type="none" w="med" len="med"/>
                      <a:tailEnd type="none" w="med" len="med"/>
                    </a:lnB>
                  </a:tcPr>
                </a:tc>
                <a:extLst>
                  <a:ext uri="{0D108BD9-81ED-4DB2-BD59-A6C34878D82A}">
                    <a16:rowId xmlns:a16="http://schemas.microsoft.com/office/drawing/2014/main" val="10003"/>
                  </a:ext>
                </a:extLst>
              </a:tr>
              <a:tr h="530352">
                <a:tc>
                  <a:txBody>
                    <a:bodyPr/>
                    <a:lstStyle/>
                    <a:p>
                      <a:pPr marL="0" indent="0" algn="ctr">
                        <a:buNone/>
                      </a:pPr>
                      <a:r>
                        <a:rPr lang="en-US" sz="1400" dirty="0">
                          <a:solidFill>
                            <a:srgbClr val="0A1F44"/>
                          </a:solidFill>
                          <a:latin typeface="Calibri" pitchFamily="34" charset="0"/>
                          <a:ea typeface="Calibri" pitchFamily="34" charset="-122"/>
                          <a:cs typeface="Calibri" pitchFamily="34" charset="-120"/>
                        </a:rPr>
                        <a:t>XGBoost (SMOTE)</a:t>
                      </a:r>
                      <a:endParaRPr lang="en-US" sz="1400" dirty="0">
                        <a:latin typeface="Calibri" charset="0"/>
                        <a:ea typeface="Calibri" charset="0"/>
                        <a:cs typeface="Calibri" charset="0"/>
                      </a:endParaRPr>
                    </a:p>
                  </a:txBody>
                  <a:tcPr marL="121920" marR="121920" marT="60960" marB="60960" anchor="ctr">
                    <a:lnL w="6350" cap="flat" cmpd="sng" algn="ctr">
                      <a:solidFill>
                        <a:srgbClr val="DDE3ED"/>
                      </a:solidFill>
                      <a:prstDash val="solid"/>
                      <a:round/>
                      <a:headEnd type="none" w="med" len="med"/>
                      <a:tailEnd type="none" w="med" len="med"/>
                    </a:lnL>
                    <a:lnR w="6350" cap="flat" cmpd="sng" algn="ctr">
                      <a:solidFill>
                        <a:srgbClr val="DDE3ED"/>
                      </a:solidFill>
                      <a:prstDash val="solid"/>
                      <a:round/>
                      <a:headEnd type="none" w="med" len="med"/>
                      <a:tailEnd type="none" w="med" len="med"/>
                    </a:lnR>
                    <a:lnT w="6350" cap="flat" cmpd="sng" algn="ctr">
                      <a:solidFill>
                        <a:srgbClr val="DDE3ED"/>
                      </a:solidFill>
                      <a:prstDash val="solid"/>
                      <a:round/>
                      <a:headEnd type="none" w="med" len="med"/>
                      <a:tailEnd type="none" w="med" len="med"/>
                    </a:lnT>
                    <a:lnB w="6350" cap="flat" cmpd="sng" algn="ctr">
                      <a:solidFill>
                        <a:srgbClr val="DDE3ED"/>
                      </a:solidFill>
                      <a:prstDash val="solid"/>
                      <a:round/>
                      <a:headEnd type="none" w="med" len="med"/>
                      <a:tailEnd type="none" w="med" len="med"/>
                    </a:lnB>
                  </a:tcPr>
                </a:tc>
                <a:tc>
                  <a:txBody>
                    <a:bodyPr/>
                    <a:lstStyle/>
                    <a:p>
                      <a:pPr marL="0" indent="0" algn="ctr">
                        <a:buNone/>
                      </a:pPr>
                      <a:r>
                        <a:rPr lang="en-US" sz="1400" dirty="0">
                          <a:solidFill>
                            <a:srgbClr val="0A1F44"/>
                          </a:solidFill>
                          <a:latin typeface="Calibri" pitchFamily="34" charset="0"/>
                          <a:ea typeface="Calibri" pitchFamily="34" charset="-122"/>
                          <a:cs typeface="Calibri" pitchFamily="34" charset="-120"/>
                        </a:rPr>
                        <a:t>0.910</a:t>
                      </a:r>
                      <a:endParaRPr lang="en-US" sz="1400" dirty="0">
                        <a:latin typeface="Calibri" charset="0"/>
                        <a:ea typeface="Calibri" charset="0"/>
                        <a:cs typeface="Calibri" charset="0"/>
                      </a:endParaRPr>
                    </a:p>
                  </a:txBody>
                  <a:tcPr marL="121920" marR="121920" marT="60960" marB="60960" anchor="ctr">
                    <a:lnL w="6350" cap="flat" cmpd="sng" algn="ctr">
                      <a:solidFill>
                        <a:srgbClr val="DDE3ED"/>
                      </a:solidFill>
                      <a:prstDash val="solid"/>
                      <a:round/>
                      <a:headEnd type="none" w="med" len="med"/>
                      <a:tailEnd type="none" w="med" len="med"/>
                    </a:lnL>
                    <a:lnR w="6350" cap="flat" cmpd="sng" algn="ctr">
                      <a:solidFill>
                        <a:srgbClr val="DDE3ED"/>
                      </a:solidFill>
                      <a:prstDash val="solid"/>
                      <a:round/>
                      <a:headEnd type="none" w="med" len="med"/>
                      <a:tailEnd type="none" w="med" len="med"/>
                    </a:lnR>
                    <a:lnT w="6350" cap="flat" cmpd="sng" algn="ctr">
                      <a:solidFill>
                        <a:srgbClr val="DDE3ED"/>
                      </a:solidFill>
                      <a:prstDash val="solid"/>
                      <a:round/>
                      <a:headEnd type="none" w="med" len="med"/>
                      <a:tailEnd type="none" w="med" len="med"/>
                    </a:lnT>
                    <a:lnB w="6350" cap="flat" cmpd="sng" algn="ctr">
                      <a:solidFill>
                        <a:srgbClr val="DDE3ED"/>
                      </a:solidFill>
                      <a:prstDash val="solid"/>
                      <a:round/>
                      <a:headEnd type="none" w="med" len="med"/>
                      <a:tailEnd type="none" w="med" len="med"/>
                    </a:lnB>
                  </a:tcPr>
                </a:tc>
                <a:tc>
                  <a:txBody>
                    <a:bodyPr/>
                    <a:lstStyle/>
                    <a:p>
                      <a:pPr marL="0" indent="0" algn="ctr">
                        <a:buNone/>
                      </a:pPr>
                      <a:r>
                        <a:rPr lang="en-US" sz="1400" dirty="0">
                          <a:solidFill>
                            <a:srgbClr val="0A1F44"/>
                          </a:solidFill>
                          <a:latin typeface="Calibri" pitchFamily="34" charset="0"/>
                          <a:ea typeface="Calibri" pitchFamily="34" charset="-122"/>
                          <a:cs typeface="Calibri" pitchFamily="34" charset="-120"/>
                        </a:rPr>
                        <a:t>0.898</a:t>
                      </a:r>
                      <a:endParaRPr lang="en-US" sz="1400" dirty="0">
                        <a:latin typeface="Calibri" charset="0"/>
                        <a:ea typeface="Calibri" charset="0"/>
                        <a:cs typeface="Calibri" charset="0"/>
                      </a:endParaRPr>
                    </a:p>
                  </a:txBody>
                  <a:tcPr marL="121920" marR="121920" marT="60960" marB="60960" anchor="ctr">
                    <a:lnL w="6350" cap="flat" cmpd="sng" algn="ctr">
                      <a:solidFill>
                        <a:srgbClr val="DDE3ED"/>
                      </a:solidFill>
                      <a:prstDash val="solid"/>
                      <a:round/>
                      <a:headEnd type="none" w="med" len="med"/>
                      <a:tailEnd type="none" w="med" len="med"/>
                    </a:lnL>
                    <a:lnR w="6350" cap="flat" cmpd="sng" algn="ctr">
                      <a:solidFill>
                        <a:srgbClr val="DDE3ED"/>
                      </a:solidFill>
                      <a:prstDash val="solid"/>
                      <a:round/>
                      <a:headEnd type="none" w="med" len="med"/>
                      <a:tailEnd type="none" w="med" len="med"/>
                    </a:lnR>
                    <a:lnT w="6350" cap="flat" cmpd="sng" algn="ctr">
                      <a:solidFill>
                        <a:srgbClr val="DDE3ED"/>
                      </a:solidFill>
                      <a:prstDash val="solid"/>
                      <a:round/>
                      <a:headEnd type="none" w="med" len="med"/>
                      <a:tailEnd type="none" w="med" len="med"/>
                    </a:lnT>
                    <a:lnB w="6350" cap="flat" cmpd="sng" algn="ctr">
                      <a:solidFill>
                        <a:srgbClr val="DDE3ED"/>
                      </a:solidFill>
                      <a:prstDash val="solid"/>
                      <a:round/>
                      <a:headEnd type="none" w="med" len="med"/>
                      <a:tailEnd type="none" w="med" len="med"/>
                    </a:lnB>
                  </a:tcPr>
                </a:tc>
                <a:tc>
                  <a:txBody>
                    <a:bodyPr/>
                    <a:lstStyle/>
                    <a:p>
                      <a:pPr marL="0" indent="0" algn="ctr">
                        <a:buNone/>
                      </a:pPr>
                      <a:r>
                        <a:rPr lang="en-US" sz="1400" dirty="0">
                          <a:solidFill>
                            <a:srgbClr val="0A1F44"/>
                          </a:solidFill>
                          <a:latin typeface="Calibri" pitchFamily="34" charset="0"/>
                          <a:ea typeface="Calibri" pitchFamily="34" charset="-122"/>
                          <a:cs typeface="Calibri" pitchFamily="34" charset="-120"/>
                        </a:rPr>
                        <a:t>0.879</a:t>
                      </a:r>
                      <a:endParaRPr lang="en-US" sz="1400" dirty="0">
                        <a:latin typeface="Calibri" charset="0"/>
                        <a:ea typeface="Calibri" charset="0"/>
                        <a:cs typeface="Calibri" charset="0"/>
                      </a:endParaRPr>
                    </a:p>
                  </a:txBody>
                  <a:tcPr marL="121920" marR="121920" marT="60960" marB="60960" anchor="ctr">
                    <a:lnL w="6350" cap="flat" cmpd="sng" algn="ctr">
                      <a:solidFill>
                        <a:srgbClr val="DDE3ED"/>
                      </a:solidFill>
                      <a:prstDash val="solid"/>
                      <a:round/>
                      <a:headEnd type="none" w="med" len="med"/>
                      <a:tailEnd type="none" w="med" len="med"/>
                    </a:lnL>
                    <a:lnR w="6350" cap="flat" cmpd="sng" algn="ctr">
                      <a:solidFill>
                        <a:srgbClr val="DDE3ED"/>
                      </a:solidFill>
                      <a:prstDash val="solid"/>
                      <a:round/>
                      <a:headEnd type="none" w="med" len="med"/>
                      <a:tailEnd type="none" w="med" len="med"/>
                    </a:lnR>
                    <a:lnT w="6350" cap="flat" cmpd="sng" algn="ctr">
                      <a:solidFill>
                        <a:srgbClr val="DDE3ED"/>
                      </a:solidFill>
                      <a:prstDash val="solid"/>
                      <a:round/>
                      <a:headEnd type="none" w="med" len="med"/>
                      <a:tailEnd type="none" w="med" len="med"/>
                    </a:lnT>
                    <a:lnB w="6350" cap="flat" cmpd="sng" algn="ctr">
                      <a:solidFill>
                        <a:srgbClr val="DDE3ED"/>
                      </a:solidFill>
                      <a:prstDash val="solid"/>
                      <a:round/>
                      <a:headEnd type="none" w="med" len="med"/>
                      <a:tailEnd type="none" w="med" len="med"/>
                    </a:lnB>
                  </a:tcPr>
                </a:tc>
                <a:tc>
                  <a:txBody>
                    <a:bodyPr/>
                    <a:lstStyle/>
                    <a:p>
                      <a:pPr marL="0" indent="0" algn="ctr">
                        <a:buNone/>
                      </a:pPr>
                      <a:r>
                        <a:rPr lang="en-US" sz="1400" dirty="0">
                          <a:solidFill>
                            <a:srgbClr val="0A1F44"/>
                          </a:solidFill>
                          <a:latin typeface="Calibri" pitchFamily="34" charset="0"/>
                          <a:ea typeface="Calibri" pitchFamily="34" charset="-122"/>
                          <a:cs typeface="Calibri" pitchFamily="34" charset="-120"/>
                        </a:rPr>
                        <a:t>0.915</a:t>
                      </a:r>
                      <a:endParaRPr lang="en-US" sz="1400" dirty="0">
                        <a:latin typeface="Calibri" charset="0"/>
                        <a:ea typeface="Calibri" charset="0"/>
                        <a:cs typeface="Calibri" charset="0"/>
                      </a:endParaRPr>
                    </a:p>
                  </a:txBody>
                  <a:tcPr marL="121920" marR="121920" marT="60960" marB="60960" anchor="ctr">
                    <a:lnL w="6350" cap="flat" cmpd="sng" algn="ctr">
                      <a:solidFill>
                        <a:srgbClr val="DDE3ED"/>
                      </a:solidFill>
                      <a:prstDash val="solid"/>
                      <a:round/>
                      <a:headEnd type="none" w="med" len="med"/>
                      <a:tailEnd type="none" w="med" len="med"/>
                    </a:lnL>
                    <a:lnR w="6350" cap="flat" cmpd="sng" algn="ctr">
                      <a:solidFill>
                        <a:srgbClr val="DDE3ED"/>
                      </a:solidFill>
                      <a:prstDash val="solid"/>
                      <a:round/>
                      <a:headEnd type="none" w="med" len="med"/>
                      <a:tailEnd type="none" w="med" len="med"/>
                    </a:lnR>
                    <a:lnT w="6350" cap="flat" cmpd="sng" algn="ctr">
                      <a:solidFill>
                        <a:srgbClr val="DDE3ED"/>
                      </a:solidFill>
                      <a:prstDash val="solid"/>
                      <a:round/>
                      <a:headEnd type="none" w="med" len="med"/>
                      <a:tailEnd type="none" w="med" len="med"/>
                    </a:lnT>
                    <a:lnB w="6350" cap="flat" cmpd="sng" algn="ctr">
                      <a:solidFill>
                        <a:srgbClr val="DDE3ED"/>
                      </a:solidFill>
                      <a:prstDash val="solid"/>
                      <a:round/>
                      <a:headEnd type="none" w="med" len="med"/>
                      <a:tailEnd type="none" w="med" len="med"/>
                    </a:lnB>
                  </a:tcPr>
                </a:tc>
                <a:extLst>
                  <a:ext uri="{0D108BD9-81ED-4DB2-BD59-A6C34878D82A}">
                    <a16:rowId xmlns:a16="http://schemas.microsoft.com/office/drawing/2014/main" val="10004"/>
                  </a:ext>
                </a:extLst>
              </a:tr>
              <a:tr h="530352">
                <a:tc>
                  <a:txBody>
                    <a:bodyPr/>
                    <a:lstStyle/>
                    <a:p>
                      <a:pPr marL="0" indent="0" algn="ctr">
                        <a:buNone/>
                      </a:pPr>
                      <a:r>
                        <a:rPr lang="en-US" sz="1400" dirty="0">
                          <a:solidFill>
                            <a:srgbClr val="0A1F44"/>
                          </a:solidFill>
                          <a:latin typeface="Calibri" pitchFamily="34" charset="0"/>
                          <a:ea typeface="Calibri" pitchFamily="34" charset="-122"/>
                          <a:cs typeface="Calibri" pitchFamily="34" charset="-120"/>
                        </a:rPr>
                        <a:t>RandomForest (no-SMOTE)</a:t>
                      </a:r>
                      <a:endParaRPr lang="en-US" sz="1400" dirty="0">
                        <a:latin typeface="Calibri" charset="0"/>
                        <a:ea typeface="Calibri" charset="0"/>
                        <a:cs typeface="Calibri" charset="0"/>
                      </a:endParaRPr>
                    </a:p>
                  </a:txBody>
                  <a:tcPr marL="121920" marR="121920" marT="60960" marB="60960" anchor="ctr">
                    <a:lnL w="6350" cap="flat" cmpd="sng" algn="ctr">
                      <a:solidFill>
                        <a:srgbClr val="DDE3ED"/>
                      </a:solidFill>
                      <a:prstDash val="solid"/>
                      <a:round/>
                      <a:headEnd type="none" w="med" len="med"/>
                      <a:tailEnd type="none" w="med" len="med"/>
                    </a:lnL>
                    <a:lnR w="6350" cap="flat" cmpd="sng" algn="ctr">
                      <a:solidFill>
                        <a:srgbClr val="DDE3ED"/>
                      </a:solidFill>
                      <a:prstDash val="solid"/>
                      <a:round/>
                      <a:headEnd type="none" w="med" len="med"/>
                      <a:tailEnd type="none" w="med" len="med"/>
                    </a:lnR>
                    <a:lnT w="6350" cap="flat" cmpd="sng" algn="ctr">
                      <a:solidFill>
                        <a:srgbClr val="DDE3ED"/>
                      </a:solidFill>
                      <a:prstDash val="solid"/>
                      <a:round/>
                      <a:headEnd type="none" w="med" len="med"/>
                      <a:tailEnd type="none" w="med" len="med"/>
                    </a:lnT>
                    <a:lnB w="6350" cap="flat" cmpd="sng" algn="ctr">
                      <a:solidFill>
                        <a:srgbClr val="DDE3ED"/>
                      </a:solidFill>
                      <a:prstDash val="solid"/>
                      <a:round/>
                      <a:headEnd type="none" w="med" len="med"/>
                      <a:tailEnd type="none" w="med" len="med"/>
                    </a:lnB>
                  </a:tcPr>
                </a:tc>
                <a:tc>
                  <a:txBody>
                    <a:bodyPr/>
                    <a:lstStyle/>
                    <a:p>
                      <a:pPr marL="0" indent="0" algn="ctr">
                        <a:buNone/>
                      </a:pPr>
                      <a:r>
                        <a:rPr lang="en-US" sz="1400" dirty="0">
                          <a:solidFill>
                            <a:srgbClr val="0A1F44"/>
                          </a:solidFill>
                          <a:latin typeface="Calibri" pitchFamily="34" charset="0"/>
                          <a:ea typeface="Calibri" pitchFamily="34" charset="-122"/>
                          <a:cs typeface="Calibri" pitchFamily="34" charset="-120"/>
                        </a:rPr>
                        <a:t>0.910</a:t>
                      </a:r>
                      <a:endParaRPr lang="en-US" sz="1400" dirty="0">
                        <a:latin typeface="Calibri" charset="0"/>
                        <a:ea typeface="Calibri" charset="0"/>
                        <a:cs typeface="Calibri" charset="0"/>
                      </a:endParaRPr>
                    </a:p>
                  </a:txBody>
                  <a:tcPr marL="121920" marR="121920" marT="60960" marB="60960" anchor="ctr">
                    <a:lnL w="6350" cap="flat" cmpd="sng" algn="ctr">
                      <a:solidFill>
                        <a:srgbClr val="DDE3ED"/>
                      </a:solidFill>
                      <a:prstDash val="solid"/>
                      <a:round/>
                      <a:headEnd type="none" w="med" len="med"/>
                      <a:tailEnd type="none" w="med" len="med"/>
                    </a:lnL>
                    <a:lnR w="6350" cap="flat" cmpd="sng" algn="ctr">
                      <a:solidFill>
                        <a:srgbClr val="DDE3ED"/>
                      </a:solidFill>
                      <a:prstDash val="solid"/>
                      <a:round/>
                      <a:headEnd type="none" w="med" len="med"/>
                      <a:tailEnd type="none" w="med" len="med"/>
                    </a:lnR>
                    <a:lnT w="6350" cap="flat" cmpd="sng" algn="ctr">
                      <a:solidFill>
                        <a:srgbClr val="DDE3ED"/>
                      </a:solidFill>
                      <a:prstDash val="solid"/>
                      <a:round/>
                      <a:headEnd type="none" w="med" len="med"/>
                      <a:tailEnd type="none" w="med" len="med"/>
                    </a:lnT>
                    <a:lnB w="6350" cap="flat" cmpd="sng" algn="ctr">
                      <a:solidFill>
                        <a:srgbClr val="DDE3ED"/>
                      </a:solidFill>
                      <a:prstDash val="solid"/>
                      <a:round/>
                      <a:headEnd type="none" w="med" len="med"/>
                      <a:tailEnd type="none" w="med" len="med"/>
                    </a:lnB>
                  </a:tcPr>
                </a:tc>
                <a:tc>
                  <a:txBody>
                    <a:bodyPr/>
                    <a:lstStyle/>
                    <a:p>
                      <a:pPr marL="0" indent="0" algn="ctr">
                        <a:buNone/>
                      </a:pPr>
                      <a:r>
                        <a:rPr lang="en-US" sz="1400" dirty="0">
                          <a:solidFill>
                            <a:srgbClr val="0A1F44"/>
                          </a:solidFill>
                          <a:latin typeface="Calibri" pitchFamily="34" charset="0"/>
                          <a:ea typeface="Calibri" pitchFamily="34" charset="-122"/>
                          <a:cs typeface="Calibri" pitchFamily="34" charset="-120"/>
                        </a:rPr>
                        <a:t>0.891</a:t>
                      </a:r>
                      <a:endParaRPr lang="en-US" sz="1400" dirty="0">
                        <a:latin typeface="Calibri" charset="0"/>
                        <a:ea typeface="Calibri" charset="0"/>
                        <a:cs typeface="Calibri" charset="0"/>
                      </a:endParaRPr>
                    </a:p>
                  </a:txBody>
                  <a:tcPr marL="121920" marR="121920" marT="60960" marB="60960" anchor="ctr">
                    <a:lnL w="6350" cap="flat" cmpd="sng" algn="ctr">
                      <a:solidFill>
                        <a:srgbClr val="DDE3ED"/>
                      </a:solidFill>
                      <a:prstDash val="solid"/>
                      <a:round/>
                      <a:headEnd type="none" w="med" len="med"/>
                      <a:tailEnd type="none" w="med" len="med"/>
                    </a:lnL>
                    <a:lnR w="6350" cap="flat" cmpd="sng" algn="ctr">
                      <a:solidFill>
                        <a:srgbClr val="DDE3ED"/>
                      </a:solidFill>
                      <a:prstDash val="solid"/>
                      <a:round/>
                      <a:headEnd type="none" w="med" len="med"/>
                      <a:tailEnd type="none" w="med" len="med"/>
                    </a:lnR>
                    <a:lnT w="6350" cap="flat" cmpd="sng" algn="ctr">
                      <a:solidFill>
                        <a:srgbClr val="DDE3ED"/>
                      </a:solidFill>
                      <a:prstDash val="solid"/>
                      <a:round/>
                      <a:headEnd type="none" w="med" len="med"/>
                      <a:tailEnd type="none" w="med" len="med"/>
                    </a:lnT>
                    <a:lnB w="6350" cap="flat" cmpd="sng" algn="ctr">
                      <a:solidFill>
                        <a:srgbClr val="DDE3ED"/>
                      </a:solidFill>
                      <a:prstDash val="solid"/>
                      <a:round/>
                      <a:headEnd type="none" w="med" len="med"/>
                      <a:tailEnd type="none" w="med" len="med"/>
                    </a:lnB>
                  </a:tcPr>
                </a:tc>
                <a:tc>
                  <a:txBody>
                    <a:bodyPr/>
                    <a:lstStyle/>
                    <a:p>
                      <a:pPr marL="0" indent="0" algn="ctr">
                        <a:buNone/>
                      </a:pPr>
                      <a:r>
                        <a:rPr lang="en-US" sz="1400" dirty="0">
                          <a:solidFill>
                            <a:srgbClr val="0A1F44"/>
                          </a:solidFill>
                          <a:latin typeface="Calibri" pitchFamily="34" charset="0"/>
                          <a:ea typeface="Calibri" pitchFamily="34" charset="-122"/>
                          <a:cs typeface="Calibri" pitchFamily="34" charset="-120"/>
                        </a:rPr>
                        <a:t>0.896</a:t>
                      </a:r>
                      <a:endParaRPr lang="en-US" sz="1400" dirty="0">
                        <a:latin typeface="Calibri" charset="0"/>
                        <a:ea typeface="Calibri" charset="0"/>
                        <a:cs typeface="Calibri" charset="0"/>
                      </a:endParaRPr>
                    </a:p>
                  </a:txBody>
                  <a:tcPr marL="121920" marR="121920" marT="60960" marB="60960" anchor="ctr">
                    <a:lnL w="6350" cap="flat" cmpd="sng" algn="ctr">
                      <a:solidFill>
                        <a:srgbClr val="DDE3ED"/>
                      </a:solidFill>
                      <a:prstDash val="solid"/>
                      <a:round/>
                      <a:headEnd type="none" w="med" len="med"/>
                      <a:tailEnd type="none" w="med" len="med"/>
                    </a:lnL>
                    <a:lnR w="6350" cap="flat" cmpd="sng" algn="ctr">
                      <a:solidFill>
                        <a:srgbClr val="DDE3ED"/>
                      </a:solidFill>
                      <a:prstDash val="solid"/>
                      <a:round/>
                      <a:headEnd type="none" w="med" len="med"/>
                      <a:tailEnd type="none" w="med" len="med"/>
                    </a:lnR>
                    <a:lnT w="6350" cap="flat" cmpd="sng" algn="ctr">
                      <a:solidFill>
                        <a:srgbClr val="DDE3ED"/>
                      </a:solidFill>
                      <a:prstDash val="solid"/>
                      <a:round/>
                      <a:headEnd type="none" w="med" len="med"/>
                      <a:tailEnd type="none" w="med" len="med"/>
                    </a:lnT>
                    <a:lnB w="6350" cap="flat" cmpd="sng" algn="ctr">
                      <a:solidFill>
                        <a:srgbClr val="DDE3ED"/>
                      </a:solidFill>
                      <a:prstDash val="solid"/>
                      <a:round/>
                      <a:headEnd type="none" w="med" len="med"/>
                      <a:tailEnd type="none" w="med" len="med"/>
                    </a:lnB>
                  </a:tcPr>
                </a:tc>
                <a:tc>
                  <a:txBody>
                    <a:bodyPr/>
                    <a:lstStyle/>
                    <a:p>
                      <a:pPr marL="0" indent="0" algn="ctr">
                        <a:buNone/>
                      </a:pPr>
                      <a:r>
                        <a:rPr lang="en-US" sz="1400" dirty="0">
                          <a:solidFill>
                            <a:srgbClr val="0A1F44"/>
                          </a:solidFill>
                          <a:latin typeface="Calibri" pitchFamily="34" charset="0"/>
                          <a:ea typeface="Calibri" pitchFamily="34" charset="-122"/>
                          <a:cs typeface="Calibri" pitchFamily="34" charset="-120"/>
                        </a:rPr>
                        <a:t>0.916</a:t>
                      </a:r>
                      <a:endParaRPr lang="en-US" sz="1400" dirty="0">
                        <a:latin typeface="Calibri" charset="0"/>
                        <a:ea typeface="Calibri" charset="0"/>
                        <a:cs typeface="Calibri" charset="0"/>
                      </a:endParaRPr>
                    </a:p>
                  </a:txBody>
                  <a:tcPr marL="121920" marR="121920" marT="60960" marB="60960" anchor="ctr">
                    <a:lnL w="6350" cap="flat" cmpd="sng" algn="ctr">
                      <a:solidFill>
                        <a:srgbClr val="DDE3ED"/>
                      </a:solidFill>
                      <a:prstDash val="solid"/>
                      <a:round/>
                      <a:headEnd type="none" w="med" len="med"/>
                      <a:tailEnd type="none" w="med" len="med"/>
                    </a:lnL>
                    <a:lnR w="6350" cap="flat" cmpd="sng" algn="ctr">
                      <a:solidFill>
                        <a:srgbClr val="DDE3ED"/>
                      </a:solidFill>
                      <a:prstDash val="solid"/>
                      <a:round/>
                      <a:headEnd type="none" w="med" len="med"/>
                      <a:tailEnd type="none" w="med" len="med"/>
                    </a:lnR>
                    <a:lnT w="6350" cap="flat" cmpd="sng" algn="ctr">
                      <a:solidFill>
                        <a:srgbClr val="DDE3ED"/>
                      </a:solidFill>
                      <a:prstDash val="solid"/>
                      <a:round/>
                      <a:headEnd type="none" w="med" len="med"/>
                      <a:tailEnd type="none" w="med" len="med"/>
                    </a:lnT>
                    <a:lnB w="6350" cap="flat" cmpd="sng" algn="ctr">
                      <a:solidFill>
                        <a:srgbClr val="DDE3ED"/>
                      </a:solidFill>
                      <a:prstDash val="solid"/>
                      <a:round/>
                      <a:headEnd type="none" w="med" len="med"/>
                      <a:tailEnd type="none" w="med" len="med"/>
                    </a:lnB>
                  </a:tcPr>
                </a:tc>
                <a:extLst>
                  <a:ext uri="{0D108BD9-81ED-4DB2-BD59-A6C34878D82A}">
                    <a16:rowId xmlns:a16="http://schemas.microsoft.com/office/drawing/2014/main" val="10005"/>
                  </a:ext>
                </a:extLst>
              </a:tr>
              <a:tr h="530352">
                <a:tc>
                  <a:txBody>
                    <a:bodyPr/>
                    <a:lstStyle/>
                    <a:p>
                      <a:pPr marL="0" indent="0" algn="ctr">
                        <a:buNone/>
                      </a:pPr>
                      <a:r>
                        <a:rPr lang="en-US" sz="1400" dirty="0">
                          <a:solidFill>
                            <a:srgbClr val="0A1F44"/>
                          </a:solidFill>
                          <a:latin typeface="Calibri" pitchFamily="34" charset="0"/>
                          <a:ea typeface="Calibri" pitchFamily="34" charset="-122"/>
                          <a:cs typeface="Calibri" pitchFamily="34" charset="-120"/>
                        </a:rPr>
                        <a:t>XGBoost (no-SMOTE)</a:t>
                      </a:r>
                      <a:endParaRPr lang="en-US" sz="1400" dirty="0">
                        <a:latin typeface="Calibri" charset="0"/>
                        <a:ea typeface="Calibri" charset="0"/>
                        <a:cs typeface="Calibri" charset="0"/>
                      </a:endParaRPr>
                    </a:p>
                  </a:txBody>
                  <a:tcPr marL="121920" marR="121920" marT="60960" marB="60960" anchor="ctr">
                    <a:lnL w="6350" cap="flat" cmpd="sng" algn="ctr">
                      <a:solidFill>
                        <a:srgbClr val="DDE3ED"/>
                      </a:solidFill>
                      <a:prstDash val="solid"/>
                      <a:round/>
                      <a:headEnd type="none" w="med" len="med"/>
                      <a:tailEnd type="none" w="med" len="med"/>
                    </a:lnL>
                    <a:lnR w="6350" cap="flat" cmpd="sng" algn="ctr">
                      <a:solidFill>
                        <a:srgbClr val="DDE3ED"/>
                      </a:solidFill>
                      <a:prstDash val="solid"/>
                      <a:round/>
                      <a:headEnd type="none" w="med" len="med"/>
                      <a:tailEnd type="none" w="med" len="med"/>
                    </a:lnR>
                    <a:lnT w="6350" cap="flat" cmpd="sng" algn="ctr">
                      <a:solidFill>
                        <a:srgbClr val="DDE3ED"/>
                      </a:solidFill>
                      <a:prstDash val="solid"/>
                      <a:round/>
                      <a:headEnd type="none" w="med" len="med"/>
                      <a:tailEnd type="none" w="med" len="med"/>
                    </a:lnT>
                    <a:lnB w="6350" cap="flat" cmpd="sng" algn="ctr">
                      <a:solidFill>
                        <a:srgbClr val="DDE3ED"/>
                      </a:solidFill>
                      <a:prstDash val="solid"/>
                      <a:round/>
                      <a:headEnd type="none" w="med" len="med"/>
                      <a:tailEnd type="none" w="med" len="med"/>
                    </a:lnB>
                  </a:tcPr>
                </a:tc>
                <a:tc>
                  <a:txBody>
                    <a:bodyPr/>
                    <a:lstStyle/>
                    <a:p>
                      <a:pPr marL="0" indent="0" algn="ctr">
                        <a:buNone/>
                      </a:pPr>
                      <a:r>
                        <a:rPr lang="en-US" sz="1400" dirty="0">
                          <a:solidFill>
                            <a:srgbClr val="0A1F44"/>
                          </a:solidFill>
                          <a:latin typeface="Calibri" pitchFamily="34" charset="0"/>
                          <a:ea typeface="Calibri" pitchFamily="34" charset="-122"/>
                          <a:cs typeface="Calibri" pitchFamily="34" charset="-120"/>
                        </a:rPr>
                        <a:t>0.919</a:t>
                      </a:r>
                      <a:endParaRPr lang="en-US" sz="1400" dirty="0">
                        <a:latin typeface="Calibri" charset="0"/>
                        <a:ea typeface="Calibri" charset="0"/>
                        <a:cs typeface="Calibri" charset="0"/>
                      </a:endParaRPr>
                    </a:p>
                  </a:txBody>
                  <a:tcPr marL="121920" marR="121920" marT="60960" marB="60960" anchor="ctr">
                    <a:lnL w="6350" cap="flat" cmpd="sng" algn="ctr">
                      <a:solidFill>
                        <a:srgbClr val="DDE3ED"/>
                      </a:solidFill>
                      <a:prstDash val="solid"/>
                      <a:round/>
                      <a:headEnd type="none" w="med" len="med"/>
                      <a:tailEnd type="none" w="med" len="med"/>
                    </a:lnL>
                    <a:lnR w="6350" cap="flat" cmpd="sng" algn="ctr">
                      <a:solidFill>
                        <a:srgbClr val="DDE3ED"/>
                      </a:solidFill>
                      <a:prstDash val="solid"/>
                      <a:round/>
                      <a:headEnd type="none" w="med" len="med"/>
                      <a:tailEnd type="none" w="med" len="med"/>
                    </a:lnR>
                    <a:lnT w="6350" cap="flat" cmpd="sng" algn="ctr">
                      <a:solidFill>
                        <a:srgbClr val="DDE3ED"/>
                      </a:solidFill>
                      <a:prstDash val="solid"/>
                      <a:round/>
                      <a:headEnd type="none" w="med" len="med"/>
                      <a:tailEnd type="none" w="med" len="med"/>
                    </a:lnT>
                    <a:lnB w="6350" cap="flat" cmpd="sng" algn="ctr">
                      <a:solidFill>
                        <a:srgbClr val="DDE3ED"/>
                      </a:solidFill>
                      <a:prstDash val="solid"/>
                      <a:round/>
                      <a:headEnd type="none" w="med" len="med"/>
                      <a:tailEnd type="none" w="med" len="med"/>
                    </a:lnB>
                  </a:tcPr>
                </a:tc>
                <a:tc>
                  <a:txBody>
                    <a:bodyPr/>
                    <a:lstStyle/>
                    <a:p>
                      <a:pPr marL="0" indent="0" algn="ctr">
                        <a:buNone/>
                      </a:pPr>
                      <a:r>
                        <a:rPr lang="en-US" sz="1400" dirty="0">
                          <a:solidFill>
                            <a:srgbClr val="0A1F44"/>
                          </a:solidFill>
                          <a:latin typeface="Calibri" pitchFamily="34" charset="0"/>
                          <a:ea typeface="Calibri" pitchFamily="34" charset="-122"/>
                          <a:cs typeface="Calibri" pitchFamily="34" charset="-120"/>
                        </a:rPr>
                        <a:t>0.896</a:t>
                      </a:r>
                      <a:endParaRPr lang="en-US" sz="1400" dirty="0">
                        <a:latin typeface="Calibri" charset="0"/>
                        <a:ea typeface="Calibri" charset="0"/>
                        <a:cs typeface="Calibri" charset="0"/>
                      </a:endParaRPr>
                    </a:p>
                  </a:txBody>
                  <a:tcPr marL="121920" marR="121920" marT="60960" marB="60960" anchor="ctr">
                    <a:lnL w="6350" cap="flat" cmpd="sng" algn="ctr">
                      <a:solidFill>
                        <a:srgbClr val="DDE3ED"/>
                      </a:solidFill>
                      <a:prstDash val="solid"/>
                      <a:round/>
                      <a:headEnd type="none" w="med" len="med"/>
                      <a:tailEnd type="none" w="med" len="med"/>
                    </a:lnL>
                    <a:lnR w="6350" cap="flat" cmpd="sng" algn="ctr">
                      <a:solidFill>
                        <a:srgbClr val="DDE3ED"/>
                      </a:solidFill>
                      <a:prstDash val="solid"/>
                      <a:round/>
                      <a:headEnd type="none" w="med" len="med"/>
                      <a:tailEnd type="none" w="med" len="med"/>
                    </a:lnR>
                    <a:lnT w="6350" cap="flat" cmpd="sng" algn="ctr">
                      <a:solidFill>
                        <a:srgbClr val="DDE3ED"/>
                      </a:solidFill>
                      <a:prstDash val="solid"/>
                      <a:round/>
                      <a:headEnd type="none" w="med" len="med"/>
                      <a:tailEnd type="none" w="med" len="med"/>
                    </a:lnT>
                    <a:lnB w="6350" cap="flat" cmpd="sng" algn="ctr">
                      <a:solidFill>
                        <a:srgbClr val="DDE3ED"/>
                      </a:solidFill>
                      <a:prstDash val="solid"/>
                      <a:round/>
                      <a:headEnd type="none" w="med" len="med"/>
                      <a:tailEnd type="none" w="med" len="med"/>
                    </a:lnB>
                  </a:tcPr>
                </a:tc>
                <a:tc>
                  <a:txBody>
                    <a:bodyPr/>
                    <a:lstStyle/>
                    <a:p>
                      <a:pPr marL="0" indent="0" algn="ctr">
                        <a:buNone/>
                      </a:pPr>
                      <a:r>
                        <a:rPr lang="en-US" sz="1400" dirty="0">
                          <a:solidFill>
                            <a:srgbClr val="0A1F44"/>
                          </a:solidFill>
                          <a:latin typeface="Calibri" pitchFamily="34" charset="0"/>
                          <a:ea typeface="Calibri" pitchFamily="34" charset="-122"/>
                          <a:cs typeface="Calibri" pitchFamily="34" charset="-120"/>
                        </a:rPr>
                        <a:t>0.879</a:t>
                      </a:r>
                      <a:endParaRPr lang="en-US" sz="1400" dirty="0">
                        <a:latin typeface="Calibri" charset="0"/>
                        <a:ea typeface="Calibri" charset="0"/>
                        <a:cs typeface="Calibri" charset="0"/>
                      </a:endParaRPr>
                    </a:p>
                  </a:txBody>
                  <a:tcPr marL="121920" marR="121920" marT="60960" marB="60960" anchor="ctr">
                    <a:lnL w="6350" cap="flat" cmpd="sng" algn="ctr">
                      <a:solidFill>
                        <a:srgbClr val="DDE3ED"/>
                      </a:solidFill>
                      <a:prstDash val="solid"/>
                      <a:round/>
                      <a:headEnd type="none" w="med" len="med"/>
                      <a:tailEnd type="none" w="med" len="med"/>
                    </a:lnL>
                    <a:lnR w="6350" cap="flat" cmpd="sng" algn="ctr">
                      <a:solidFill>
                        <a:srgbClr val="DDE3ED"/>
                      </a:solidFill>
                      <a:prstDash val="solid"/>
                      <a:round/>
                      <a:headEnd type="none" w="med" len="med"/>
                      <a:tailEnd type="none" w="med" len="med"/>
                    </a:lnR>
                    <a:lnT w="6350" cap="flat" cmpd="sng" algn="ctr">
                      <a:solidFill>
                        <a:srgbClr val="DDE3ED"/>
                      </a:solidFill>
                      <a:prstDash val="solid"/>
                      <a:round/>
                      <a:headEnd type="none" w="med" len="med"/>
                      <a:tailEnd type="none" w="med" len="med"/>
                    </a:lnT>
                    <a:lnB w="6350" cap="flat" cmpd="sng" algn="ctr">
                      <a:solidFill>
                        <a:srgbClr val="DDE3ED"/>
                      </a:solidFill>
                      <a:prstDash val="solid"/>
                      <a:round/>
                      <a:headEnd type="none" w="med" len="med"/>
                      <a:tailEnd type="none" w="med" len="med"/>
                    </a:lnB>
                  </a:tcPr>
                </a:tc>
                <a:tc>
                  <a:txBody>
                    <a:bodyPr/>
                    <a:lstStyle/>
                    <a:p>
                      <a:pPr marL="0" indent="0" algn="ctr">
                        <a:buNone/>
                      </a:pPr>
                      <a:r>
                        <a:rPr lang="en-US" sz="1400" dirty="0">
                          <a:solidFill>
                            <a:srgbClr val="0A1F44"/>
                          </a:solidFill>
                          <a:latin typeface="Calibri" pitchFamily="34" charset="0"/>
                          <a:ea typeface="Calibri" pitchFamily="34" charset="-122"/>
                          <a:cs typeface="Calibri" pitchFamily="34" charset="-120"/>
                        </a:rPr>
                        <a:t>0.926</a:t>
                      </a:r>
                      <a:endParaRPr lang="en-US" sz="1400" dirty="0">
                        <a:latin typeface="Calibri" charset="0"/>
                        <a:ea typeface="Calibri" charset="0"/>
                        <a:cs typeface="Calibri" charset="0"/>
                      </a:endParaRPr>
                    </a:p>
                  </a:txBody>
                  <a:tcPr marL="121920" marR="121920" marT="60960" marB="60960" anchor="ctr">
                    <a:lnL w="6350" cap="flat" cmpd="sng" algn="ctr">
                      <a:solidFill>
                        <a:srgbClr val="DDE3ED"/>
                      </a:solidFill>
                      <a:prstDash val="solid"/>
                      <a:round/>
                      <a:headEnd type="none" w="med" len="med"/>
                      <a:tailEnd type="none" w="med" len="med"/>
                    </a:lnL>
                    <a:lnR w="6350" cap="flat" cmpd="sng" algn="ctr">
                      <a:solidFill>
                        <a:srgbClr val="DDE3ED"/>
                      </a:solidFill>
                      <a:prstDash val="solid"/>
                      <a:round/>
                      <a:headEnd type="none" w="med" len="med"/>
                      <a:tailEnd type="none" w="med" len="med"/>
                    </a:lnR>
                    <a:lnT w="6350" cap="flat" cmpd="sng" algn="ctr">
                      <a:solidFill>
                        <a:srgbClr val="DDE3ED"/>
                      </a:solidFill>
                      <a:prstDash val="solid"/>
                      <a:round/>
                      <a:headEnd type="none" w="med" len="med"/>
                      <a:tailEnd type="none" w="med" len="med"/>
                    </a:lnT>
                    <a:lnB w="6350" cap="flat" cmpd="sng" algn="ctr">
                      <a:solidFill>
                        <a:srgbClr val="DDE3ED"/>
                      </a:solidFill>
                      <a:prstDash val="solid"/>
                      <a:round/>
                      <a:headEnd type="none" w="med" len="med"/>
                      <a:tailEnd type="none" w="med" len="med"/>
                    </a:lnB>
                  </a:tcPr>
                </a:tc>
                <a:extLst>
                  <a:ext uri="{0D108BD9-81ED-4DB2-BD59-A6C34878D82A}">
                    <a16:rowId xmlns:a16="http://schemas.microsoft.com/office/drawing/2014/main" val="10006"/>
                  </a:ext>
                </a:extLst>
              </a:tr>
              <a:tr h="530352">
                <a:tc>
                  <a:txBody>
                    <a:bodyPr/>
                    <a:lstStyle/>
                    <a:p>
                      <a:pPr marL="0" indent="0" algn="ctr">
                        <a:buNone/>
                      </a:pPr>
                      <a:r>
                        <a:rPr lang="en-US" sz="1400" dirty="0">
                          <a:solidFill>
                            <a:srgbClr val="000000"/>
                          </a:solidFill>
                          <a:latin typeface="Calibri" pitchFamily="34" charset="0"/>
                          <a:ea typeface="Calibri" pitchFamily="34" charset="-122"/>
                          <a:cs typeface="Calibri" pitchFamily="34" charset="-120"/>
                        </a:rPr>
                        <a:t>Transformer-only</a:t>
                      </a:r>
                      <a:endParaRPr lang="en-US" sz="1400" dirty="0">
                        <a:latin typeface="Calibri" charset="0"/>
                        <a:ea typeface="Calibri" charset="0"/>
                        <a:cs typeface="Calibri" charset="0"/>
                      </a:endParaRPr>
                    </a:p>
                  </a:txBody>
                  <a:tcPr marL="121920" marR="121920" marT="60960" marB="60960" anchor="ctr">
                    <a:lnL w="6350" cap="flat" cmpd="sng" algn="ctr">
                      <a:solidFill>
                        <a:srgbClr val="DDE3ED"/>
                      </a:solidFill>
                      <a:prstDash val="solid"/>
                      <a:round/>
                      <a:headEnd type="none" w="med" len="med"/>
                      <a:tailEnd type="none" w="med" len="med"/>
                    </a:lnL>
                    <a:lnR w="6350" cap="flat" cmpd="sng" algn="ctr">
                      <a:solidFill>
                        <a:srgbClr val="DDE3ED"/>
                      </a:solidFill>
                      <a:prstDash val="solid"/>
                      <a:round/>
                      <a:headEnd type="none" w="med" len="med"/>
                      <a:tailEnd type="none" w="med" len="med"/>
                    </a:lnR>
                    <a:lnT w="6350" cap="flat" cmpd="sng" algn="ctr">
                      <a:solidFill>
                        <a:srgbClr val="DDE3ED"/>
                      </a:solidFill>
                      <a:prstDash val="solid"/>
                      <a:round/>
                      <a:headEnd type="none" w="med" len="med"/>
                      <a:tailEnd type="none" w="med" len="med"/>
                    </a:lnT>
                    <a:lnB w="6350" cap="flat" cmpd="sng" algn="ctr">
                      <a:solidFill>
                        <a:srgbClr val="DDE3ED"/>
                      </a:solidFill>
                      <a:prstDash val="solid"/>
                      <a:round/>
                      <a:headEnd type="none" w="med" len="med"/>
                      <a:tailEnd type="none" w="med" len="med"/>
                    </a:lnB>
                  </a:tcPr>
                </a:tc>
                <a:tc>
                  <a:txBody>
                    <a:bodyPr/>
                    <a:lstStyle/>
                    <a:p>
                      <a:pPr marL="0" indent="0" algn="ctr">
                        <a:buNone/>
                      </a:pPr>
                      <a:r>
                        <a:rPr lang="en-US" sz="1400" dirty="0">
                          <a:solidFill>
                            <a:srgbClr val="000000"/>
                          </a:solidFill>
                          <a:latin typeface="Calibri" pitchFamily="34" charset="0"/>
                          <a:ea typeface="Calibri" pitchFamily="34" charset="-122"/>
                          <a:cs typeface="Calibri" pitchFamily="34" charset="-120"/>
                        </a:rPr>
                        <a:t>0.767</a:t>
                      </a:r>
                      <a:endParaRPr lang="en-US" sz="1400" dirty="0">
                        <a:latin typeface="Calibri" charset="0"/>
                        <a:ea typeface="Calibri" charset="0"/>
                        <a:cs typeface="Calibri" charset="0"/>
                      </a:endParaRPr>
                    </a:p>
                  </a:txBody>
                  <a:tcPr marL="121920" marR="121920" marT="60960" marB="60960" anchor="ctr">
                    <a:lnL w="6350" cap="flat" cmpd="sng" algn="ctr">
                      <a:solidFill>
                        <a:srgbClr val="DDE3ED"/>
                      </a:solidFill>
                      <a:prstDash val="solid"/>
                      <a:round/>
                      <a:headEnd type="none" w="med" len="med"/>
                      <a:tailEnd type="none" w="med" len="med"/>
                    </a:lnL>
                    <a:lnR w="6350" cap="flat" cmpd="sng" algn="ctr">
                      <a:solidFill>
                        <a:srgbClr val="DDE3ED"/>
                      </a:solidFill>
                      <a:prstDash val="solid"/>
                      <a:round/>
                      <a:headEnd type="none" w="med" len="med"/>
                      <a:tailEnd type="none" w="med" len="med"/>
                    </a:lnR>
                    <a:lnT w="6350" cap="flat" cmpd="sng" algn="ctr">
                      <a:solidFill>
                        <a:srgbClr val="DDE3ED"/>
                      </a:solidFill>
                      <a:prstDash val="solid"/>
                      <a:round/>
                      <a:headEnd type="none" w="med" len="med"/>
                      <a:tailEnd type="none" w="med" len="med"/>
                    </a:lnT>
                    <a:lnB w="6350" cap="flat" cmpd="sng" algn="ctr">
                      <a:solidFill>
                        <a:srgbClr val="DDE3ED"/>
                      </a:solidFill>
                      <a:prstDash val="solid"/>
                      <a:round/>
                      <a:headEnd type="none" w="med" len="med"/>
                      <a:tailEnd type="none" w="med" len="med"/>
                    </a:lnB>
                  </a:tcPr>
                </a:tc>
                <a:tc>
                  <a:txBody>
                    <a:bodyPr/>
                    <a:lstStyle/>
                    <a:p>
                      <a:pPr marL="0" indent="0" algn="ctr">
                        <a:buNone/>
                      </a:pPr>
                      <a:r>
                        <a:rPr lang="en-US" sz="1400" dirty="0">
                          <a:solidFill>
                            <a:srgbClr val="000000"/>
                          </a:solidFill>
                          <a:latin typeface="Calibri" pitchFamily="34" charset="0"/>
                          <a:ea typeface="Calibri" pitchFamily="34" charset="-122"/>
                          <a:cs typeface="Calibri" pitchFamily="34" charset="-120"/>
                        </a:rPr>
                        <a:t>0.763</a:t>
                      </a:r>
                      <a:endParaRPr lang="en-US" sz="1400" dirty="0">
                        <a:latin typeface="Calibri" charset="0"/>
                        <a:ea typeface="Calibri" charset="0"/>
                        <a:cs typeface="Calibri" charset="0"/>
                      </a:endParaRPr>
                    </a:p>
                  </a:txBody>
                  <a:tcPr marL="121920" marR="121920" marT="60960" marB="60960" anchor="ctr">
                    <a:lnL w="6350" cap="flat" cmpd="sng" algn="ctr">
                      <a:solidFill>
                        <a:srgbClr val="DDE3ED"/>
                      </a:solidFill>
                      <a:prstDash val="solid"/>
                      <a:round/>
                      <a:headEnd type="none" w="med" len="med"/>
                      <a:tailEnd type="none" w="med" len="med"/>
                    </a:lnL>
                    <a:lnR w="6350" cap="flat" cmpd="sng" algn="ctr">
                      <a:solidFill>
                        <a:srgbClr val="DDE3ED"/>
                      </a:solidFill>
                      <a:prstDash val="solid"/>
                      <a:round/>
                      <a:headEnd type="none" w="med" len="med"/>
                      <a:tailEnd type="none" w="med" len="med"/>
                    </a:lnR>
                    <a:lnT w="6350" cap="flat" cmpd="sng" algn="ctr">
                      <a:solidFill>
                        <a:srgbClr val="DDE3ED"/>
                      </a:solidFill>
                      <a:prstDash val="solid"/>
                      <a:round/>
                      <a:headEnd type="none" w="med" len="med"/>
                      <a:tailEnd type="none" w="med" len="med"/>
                    </a:lnT>
                    <a:lnB w="6350" cap="flat" cmpd="sng" algn="ctr">
                      <a:solidFill>
                        <a:srgbClr val="DDE3ED"/>
                      </a:solidFill>
                      <a:prstDash val="solid"/>
                      <a:round/>
                      <a:headEnd type="none" w="med" len="med"/>
                      <a:tailEnd type="none" w="med" len="med"/>
                    </a:lnB>
                  </a:tcPr>
                </a:tc>
                <a:tc>
                  <a:txBody>
                    <a:bodyPr/>
                    <a:lstStyle/>
                    <a:p>
                      <a:pPr marL="0" indent="0" algn="ctr">
                        <a:buNone/>
                      </a:pPr>
                      <a:r>
                        <a:rPr lang="en-US" sz="1400" dirty="0">
                          <a:solidFill>
                            <a:srgbClr val="000000"/>
                          </a:solidFill>
                          <a:latin typeface="Calibri" pitchFamily="34" charset="0"/>
                          <a:ea typeface="Calibri" pitchFamily="34" charset="-122"/>
                          <a:cs typeface="Calibri" pitchFamily="34" charset="-120"/>
                        </a:rPr>
                        <a:t>0.701</a:t>
                      </a:r>
                      <a:endParaRPr lang="en-US" sz="1400" dirty="0">
                        <a:latin typeface="Calibri" charset="0"/>
                        <a:ea typeface="Calibri" charset="0"/>
                        <a:cs typeface="Calibri" charset="0"/>
                      </a:endParaRPr>
                    </a:p>
                  </a:txBody>
                  <a:tcPr marL="121920" marR="121920" marT="60960" marB="60960" anchor="ctr">
                    <a:lnL w="6350" cap="flat" cmpd="sng" algn="ctr">
                      <a:solidFill>
                        <a:srgbClr val="DDE3ED"/>
                      </a:solidFill>
                      <a:prstDash val="solid"/>
                      <a:round/>
                      <a:headEnd type="none" w="med" len="med"/>
                      <a:tailEnd type="none" w="med" len="med"/>
                    </a:lnL>
                    <a:lnR w="6350" cap="flat" cmpd="sng" algn="ctr">
                      <a:solidFill>
                        <a:srgbClr val="DDE3ED"/>
                      </a:solidFill>
                      <a:prstDash val="solid"/>
                      <a:round/>
                      <a:headEnd type="none" w="med" len="med"/>
                      <a:tailEnd type="none" w="med" len="med"/>
                    </a:lnR>
                    <a:lnT w="6350" cap="flat" cmpd="sng" algn="ctr">
                      <a:solidFill>
                        <a:srgbClr val="DDE3ED"/>
                      </a:solidFill>
                      <a:prstDash val="solid"/>
                      <a:round/>
                      <a:headEnd type="none" w="med" len="med"/>
                      <a:tailEnd type="none" w="med" len="med"/>
                    </a:lnT>
                    <a:lnB w="6350" cap="flat" cmpd="sng" algn="ctr">
                      <a:solidFill>
                        <a:srgbClr val="DDE3ED"/>
                      </a:solidFill>
                      <a:prstDash val="solid"/>
                      <a:round/>
                      <a:headEnd type="none" w="med" len="med"/>
                      <a:tailEnd type="none" w="med" len="med"/>
                    </a:lnB>
                  </a:tcPr>
                </a:tc>
                <a:tc>
                  <a:txBody>
                    <a:bodyPr/>
                    <a:lstStyle/>
                    <a:p>
                      <a:pPr marL="0" indent="0" algn="ctr">
                        <a:buNone/>
                      </a:pPr>
                      <a:r>
                        <a:rPr lang="en-US" sz="1400" dirty="0">
                          <a:solidFill>
                            <a:srgbClr val="000000"/>
                          </a:solidFill>
                          <a:latin typeface="Calibri" pitchFamily="34" charset="0"/>
                          <a:ea typeface="Calibri" pitchFamily="34" charset="-122"/>
                          <a:cs typeface="Calibri" pitchFamily="34" charset="-120"/>
                        </a:rPr>
                        <a:t>0.725</a:t>
                      </a:r>
                      <a:endParaRPr lang="en-US" sz="1400" dirty="0">
                        <a:latin typeface="Calibri" charset="0"/>
                        <a:ea typeface="Calibri" charset="0"/>
                        <a:cs typeface="Calibri" charset="0"/>
                      </a:endParaRPr>
                    </a:p>
                  </a:txBody>
                  <a:tcPr marL="121920" marR="121920" marT="60960" marB="60960" anchor="ctr">
                    <a:lnL w="6350" cap="flat" cmpd="sng" algn="ctr">
                      <a:solidFill>
                        <a:srgbClr val="DDE3ED"/>
                      </a:solidFill>
                      <a:prstDash val="solid"/>
                      <a:round/>
                      <a:headEnd type="none" w="med" len="med"/>
                      <a:tailEnd type="none" w="med" len="med"/>
                    </a:lnL>
                    <a:lnR w="6350" cap="flat" cmpd="sng" algn="ctr">
                      <a:solidFill>
                        <a:srgbClr val="DDE3ED"/>
                      </a:solidFill>
                      <a:prstDash val="solid"/>
                      <a:round/>
                      <a:headEnd type="none" w="med" len="med"/>
                      <a:tailEnd type="none" w="med" len="med"/>
                    </a:lnR>
                    <a:lnT w="6350" cap="flat" cmpd="sng" algn="ctr">
                      <a:solidFill>
                        <a:srgbClr val="DDE3ED"/>
                      </a:solidFill>
                      <a:prstDash val="solid"/>
                      <a:round/>
                      <a:headEnd type="none" w="med" len="med"/>
                      <a:tailEnd type="none" w="med" len="med"/>
                    </a:lnT>
                    <a:lnB w="6350" cap="flat" cmpd="sng" algn="ctr">
                      <a:solidFill>
                        <a:srgbClr val="DDE3ED"/>
                      </a:solidFill>
                      <a:prstDash val="solid"/>
                      <a:round/>
                      <a:headEnd type="none" w="med" len="med"/>
                      <a:tailEnd type="none" w="med" len="med"/>
                    </a:lnB>
                  </a:tcPr>
                </a:tc>
                <a:extLst>
                  <a:ext uri="{0D108BD9-81ED-4DB2-BD59-A6C34878D82A}">
                    <a16:rowId xmlns:a16="http://schemas.microsoft.com/office/drawing/2014/main" val="10007"/>
                  </a:ext>
                </a:extLst>
              </a:tr>
              <a:tr h="530352">
                <a:tc>
                  <a:txBody>
                    <a:bodyPr/>
                    <a:lstStyle/>
                    <a:p>
                      <a:pPr marL="0" indent="0" algn="ctr">
                        <a:buNone/>
                      </a:pPr>
                      <a:r>
                        <a:rPr lang="en-US" sz="1400" dirty="0">
                          <a:solidFill>
                            <a:srgbClr val="000000"/>
                          </a:solidFill>
                          <a:latin typeface="Calibri" pitchFamily="34" charset="0"/>
                          <a:ea typeface="Calibri" pitchFamily="34" charset="-122"/>
                          <a:cs typeface="Calibri" pitchFamily="34" charset="-120"/>
                        </a:rPr>
                        <a:t>LSTM-only</a:t>
                      </a:r>
                      <a:endParaRPr lang="en-US" sz="1400" dirty="0">
                        <a:latin typeface="Calibri" charset="0"/>
                        <a:ea typeface="Calibri" charset="0"/>
                        <a:cs typeface="Calibri" charset="0"/>
                      </a:endParaRPr>
                    </a:p>
                  </a:txBody>
                  <a:tcPr marL="121920" marR="121920" marT="60960" marB="60960" anchor="ctr">
                    <a:lnL w="6350" cap="flat" cmpd="sng" algn="ctr">
                      <a:solidFill>
                        <a:srgbClr val="DDE3ED"/>
                      </a:solidFill>
                      <a:prstDash val="solid"/>
                      <a:round/>
                      <a:headEnd type="none" w="med" len="med"/>
                      <a:tailEnd type="none" w="med" len="med"/>
                    </a:lnL>
                    <a:lnR w="6350" cap="flat" cmpd="sng" algn="ctr">
                      <a:solidFill>
                        <a:srgbClr val="DDE3ED"/>
                      </a:solidFill>
                      <a:prstDash val="solid"/>
                      <a:round/>
                      <a:headEnd type="none" w="med" len="med"/>
                      <a:tailEnd type="none" w="med" len="med"/>
                    </a:lnR>
                    <a:lnT w="6350" cap="flat" cmpd="sng" algn="ctr">
                      <a:solidFill>
                        <a:srgbClr val="DDE3ED"/>
                      </a:solidFill>
                      <a:prstDash val="solid"/>
                      <a:round/>
                      <a:headEnd type="none" w="med" len="med"/>
                      <a:tailEnd type="none" w="med" len="med"/>
                    </a:lnT>
                    <a:lnB w="6350" cap="flat" cmpd="sng" algn="ctr">
                      <a:solidFill>
                        <a:srgbClr val="DDE3ED"/>
                      </a:solidFill>
                      <a:prstDash val="solid"/>
                      <a:round/>
                      <a:headEnd type="none" w="med" len="med"/>
                      <a:tailEnd type="none" w="med" len="med"/>
                    </a:lnB>
                  </a:tcPr>
                </a:tc>
                <a:tc>
                  <a:txBody>
                    <a:bodyPr/>
                    <a:lstStyle/>
                    <a:p>
                      <a:pPr marL="0" indent="0" algn="ctr">
                        <a:buNone/>
                      </a:pPr>
                      <a:r>
                        <a:rPr lang="en-US" sz="1400" dirty="0">
                          <a:solidFill>
                            <a:srgbClr val="000000"/>
                          </a:solidFill>
                          <a:latin typeface="Calibri" pitchFamily="34" charset="0"/>
                          <a:ea typeface="Calibri" pitchFamily="34" charset="-122"/>
                          <a:cs typeface="Calibri" pitchFamily="34" charset="-120"/>
                        </a:rPr>
                        <a:t>0.767</a:t>
                      </a:r>
                      <a:endParaRPr lang="en-US" sz="1400" dirty="0">
                        <a:latin typeface="Calibri" charset="0"/>
                        <a:ea typeface="Calibri" charset="0"/>
                        <a:cs typeface="Calibri" charset="0"/>
                      </a:endParaRPr>
                    </a:p>
                  </a:txBody>
                  <a:tcPr marL="121920" marR="121920" marT="60960" marB="60960" anchor="ctr">
                    <a:lnL w="6350" cap="flat" cmpd="sng" algn="ctr">
                      <a:solidFill>
                        <a:srgbClr val="DDE3ED"/>
                      </a:solidFill>
                      <a:prstDash val="solid"/>
                      <a:round/>
                      <a:headEnd type="none" w="med" len="med"/>
                      <a:tailEnd type="none" w="med" len="med"/>
                    </a:lnL>
                    <a:lnR w="6350" cap="flat" cmpd="sng" algn="ctr">
                      <a:solidFill>
                        <a:srgbClr val="DDE3ED"/>
                      </a:solidFill>
                      <a:prstDash val="solid"/>
                      <a:round/>
                      <a:headEnd type="none" w="med" len="med"/>
                      <a:tailEnd type="none" w="med" len="med"/>
                    </a:lnR>
                    <a:lnT w="6350" cap="flat" cmpd="sng" algn="ctr">
                      <a:solidFill>
                        <a:srgbClr val="DDE3ED"/>
                      </a:solidFill>
                      <a:prstDash val="solid"/>
                      <a:round/>
                      <a:headEnd type="none" w="med" len="med"/>
                      <a:tailEnd type="none" w="med" len="med"/>
                    </a:lnT>
                    <a:lnB w="6350" cap="flat" cmpd="sng" algn="ctr">
                      <a:solidFill>
                        <a:srgbClr val="DDE3ED"/>
                      </a:solidFill>
                      <a:prstDash val="solid"/>
                      <a:round/>
                      <a:headEnd type="none" w="med" len="med"/>
                      <a:tailEnd type="none" w="med" len="med"/>
                    </a:lnB>
                  </a:tcPr>
                </a:tc>
                <a:tc>
                  <a:txBody>
                    <a:bodyPr/>
                    <a:lstStyle/>
                    <a:p>
                      <a:pPr marL="0" indent="0" algn="ctr">
                        <a:buNone/>
                      </a:pPr>
                      <a:r>
                        <a:rPr lang="en-US" sz="1400" dirty="0">
                          <a:solidFill>
                            <a:srgbClr val="000000"/>
                          </a:solidFill>
                          <a:latin typeface="Calibri" pitchFamily="34" charset="0"/>
                          <a:ea typeface="Calibri" pitchFamily="34" charset="-122"/>
                          <a:cs typeface="Calibri" pitchFamily="34" charset="-120"/>
                        </a:rPr>
                        <a:t>0.751</a:t>
                      </a:r>
                      <a:endParaRPr lang="en-US" sz="1400" dirty="0">
                        <a:latin typeface="Calibri" charset="0"/>
                        <a:ea typeface="Calibri" charset="0"/>
                        <a:cs typeface="Calibri" charset="0"/>
                      </a:endParaRPr>
                    </a:p>
                  </a:txBody>
                  <a:tcPr marL="121920" marR="121920" marT="60960" marB="60960" anchor="ctr">
                    <a:lnL w="6350" cap="flat" cmpd="sng" algn="ctr">
                      <a:solidFill>
                        <a:srgbClr val="DDE3ED"/>
                      </a:solidFill>
                      <a:prstDash val="solid"/>
                      <a:round/>
                      <a:headEnd type="none" w="med" len="med"/>
                      <a:tailEnd type="none" w="med" len="med"/>
                    </a:lnL>
                    <a:lnR w="6350" cap="flat" cmpd="sng" algn="ctr">
                      <a:solidFill>
                        <a:srgbClr val="DDE3ED"/>
                      </a:solidFill>
                      <a:prstDash val="solid"/>
                      <a:round/>
                      <a:headEnd type="none" w="med" len="med"/>
                      <a:tailEnd type="none" w="med" len="med"/>
                    </a:lnR>
                    <a:lnT w="6350" cap="flat" cmpd="sng" algn="ctr">
                      <a:solidFill>
                        <a:srgbClr val="DDE3ED"/>
                      </a:solidFill>
                      <a:prstDash val="solid"/>
                      <a:round/>
                      <a:headEnd type="none" w="med" len="med"/>
                      <a:tailEnd type="none" w="med" len="med"/>
                    </a:lnT>
                    <a:lnB w="6350" cap="flat" cmpd="sng" algn="ctr">
                      <a:solidFill>
                        <a:srgbClr val="DDE3ED"/>
                      </a:solidFill>
                      <a:prstDash val="solid"/>
                      <a:round/>
                      <a:headEnd type="none" w="med" len="med"/>
                      <a:tailEnd type="none" w="med" len="med"/>
                    </a:lnB>
                  </a:tcPr>
                </a:tc>
                <a:tc>
                  <a:txBody>
                    <a:bodyPr/>
                    <a:lstStyle/>
                    <a:p>
                      <a:pPr marL="0" indent="0" algn="ctr">
                        <a:buNone/>
                      </a:pPr>
                      <a:r>
                        <a:rPr lang="en-US" sz="1400" dirty="0">
                          <a:solidFill>
                            <a:srgbClr val="000000"/>
                          </a:solidFill>
                          <a:latin typeface="Calibri" pitchFamily="34" charset="0"/>
                          <a:ea typeface="Calibri" pitchFamily="34" charset="-122"/>
                          <a:cs typeface="Calibri" pitchFamily="34" charset="-120"/>
                        </a:rPr>
                        <a:t>0.781</a:t>
                      </a:r>
                      <a:endParaRPr lang="en-US" sz="1400" dirty="0">
                        <a:latin typeface="Calibri" charset="0"/>
                        <a:ea typeface="Calibri" charset="0"/>
                        <a:cs typeface="Calibri" charset="0"/>
                      </a:endParaRPr>
                    </a:p>
                  </a:txBody>
                  <a:tcPr marL="121920" marR="121920" marT="60960" marB="60960" anchor="ctr">
                    <a:lnL w="6350" cap="flat" cmpd="sng" algn="ctr">
                      <a:solidFill>
                        <a:srgbClr val="DDE3ED"/>
                      </a:solidFill>
                      <a:prstDash val="solid"/>
                      <a:round/>
                      <a:headEnd type="none" w="med" len="med"/>
                      <a:tailEnd type="none" w="med" len="med"/>
                    </a:lnL>
                    <a:lnR w="6350" cap="flat" cmpd="sng" algn="ctr">
                      <a:solidFill>
                        <a:srgbClr val="DDE3ED"/>
                      </a:solidFill>
                      <a:prstDash val="solid"/>
                      <a:round/>
                      <a:headEnd type="none" w="med" len="med"/>
                      <a:tailEnd type="none" w="med" len="med"/>
                    </a:lnR>
                    <a:lnT w="6350" cap="flat" cmpd="sng" algn="ctr">
                      <a:solidFill>
                        <a:srgbClr val="DDE3ED"/>
                      </a:solidFill>
                      <a:prstDash val="solid"/>
                      <a:round/>
                      <a:headEnd type="none" w="med" len="med"/>
                      <a:tailEnd type="none" w="med" len="med"/>
                    </a:lnT>
                    <a:lnB w="6350" cap="flat" cmpd="sng" algn="ctr">
                      <a:solidFill>
                        <a:srgbClr val="DDE3ED"/>
                      </a:solidFill>
                      <a:prstDash val="solid"/>
                      <a:round/>
                      <a:headEnd type="none" w="med" len="med"/>
                      <a:tailEnd type="none" w="med" len="med"/>
                    </a:lnB>
                  </a:tcPr>
                </a:tc>
                <a:tc>
                  <a:txBody>
                    <a:bodyPr/>
                    <a:lstStyle/>
                    <a:p>
                      <a:pPr marL="0" indent="0" algn="ctr">
                        <a:buNone/>
                      </a:pPr>
                      <a:r>
                        <a:rPr lang="en-US" sz="1400" dirty="0">
                          <a:solidFill>
                            <a:srgbClr val="000000"/>
                          </a:solidFill>
                          <a:latin typeface="Calibri" pitchFamily="34" charset="0"/>
                          <a:ea typeface="Calibri" pitchFamily="34" charset="-122"/>
                          <a:cs typeface="Calibri" pitchFamily="34" charset="-120"/>
                        </a:rPr>
                        <a:t>0.702</a:t>
                      </a:r>
                      <a:endParaRPr lang="en-US" sz="1400" dirty="0">
                        <a:latin typeface="Calibri" charset="0"/>
                        <a:ea typeface="Calibri" charset="0"/>
                        <a:cs typeface="Calibri" charset="0"/>
                      </a:endParaRPr>
                    </a:p>
                  </a:txBody>
                  <a:tcPr marL="121920" marR="121920" marT="60960" marB="60960" anchor="ctr">
                    <a:lnL w="6350" cap="flat" cmpd="sng" algn="ctr">
                      <a:solidFill>
                        <a:srgbClr val="DDE3ED"/>
                      </a:solidFill>
                      <a:prstDash val="solid"/>
                      <a:round/>
                      <a:headEnd type="none" w="med" len="med"/>
                      <a:tailEnd type="none" w="med" len="med"/>
                    </a:lnL>
                    <a:lnR w="6350" cap="flat" cmpd="sng" algn="ctr">
                      <a:solidFill>
                        <a:srgbClr val="DDE3ED"/>
                      </a:solidFill>
                      <a:prstDash val="solid"/>
                      <a:round/>
                      <a:headEnd type="none" w="med" len="med"/>
                      <a:tailEnd type="none" w="med" len="med"/>
                    </a:lnR>
                    <a:lnT w="6350" cap="flat" cmpd="sng" algn="ctr">
                      <a:solidFill>
                        <a:srgbClr val="DDE3ED"/>
                      </a:solidFill>
                      <a:prstDash val="solid"/>
                      <a:round/>
                      <a:headEnd type="none" w="med" len="med"/>
                      <a:tailEnd type="none" w="med" len="med"/>
                    </a:lnT>
                    <a:lnB w="6350" cap="flat" cmpd="sng" algn="ctr">
                      <a:solidFill>
                        <a:srgbClr val="DDE3ED"/>
                      </a:solidFill>
                      <a:prstDash val="solid"/>
                      <a:round/>
                      <a:headEnd type="none" w="med" len="med"/>
                      <a:tailEnd type="none" w="med" len="med"/>
                    </a:lnB>
                  </a:tcPr>
                </a:tc>
                <a:extLst>
                  <a:ext uri="{0D108BD9-81ED-4DB2-BD59-A6C34878D82A}">
                    <a16:rowId xmlns:a16="http://schemas.microsoft.com/office/drawing/2014/main" val="10008"/>
                  </a:ext>
                </a:extLst>
              </a:tr>
              <a:tr h="530352">
                <a:tc>
                  <a:txBody>
                    <a:bodyPr/>
                    <a:lstStyle/>
                    <a:p>
                      <a:pPr marL="0" indent="0" algn="ctr">
                        <a:buNone/>
                      </a:pPr>
                      <a:r>
                        <a:rPr lang="en-US" sz="1400" b="1" dirty="0">
                          <a:solidFill>
                            <a:srgbClr val="FFFFFF"/>
                          </a:solidFill>
                          <a:latin typeface="Calibri" pitchFamily="34" charset="0"/>
                          <a:ea typeface="Calibri" pitchFamily="34" charset="-122"/>
                          <a:cs typeface="Calibri" pitchFamily="34" charset="-120"/>
                        </a:rPr>
                        <a:t>SENTINEL-GNSS (ours)</a:t>
                      </a:r>
                      <a:endParaRPr lang="en-US" sz="1400" dirty="0">
                        <a:latin typeface="Calibri" charset="0"/>
                        <a:ea typeface="Calibri" charset="0"/>
                        <a:cs typeface="Calibri" charset="0"/>
                      </a:endParaRPr>
                    </a:p>
                  </a:txBody>
                  <a:tcPr marL="121920" marR="121920" marT="60960" marB="60960" anchor="ctr">
                    <a:lnL w="6350" cap="flat" cmpd="sng" algn="ctr">
                      <a:solidFill>
                        <a:srgbClr val="DDE3ED"/>
                      </a:solidFill>
                      <a:prstDash val="solid"/>
                      <a:round/>
                      <a:headEnd type="none" w="med" len="med"/>
                      <a:tailEnd type="none" w="med" len="med"/>
                    </a:lnL>
                    <a:lnR w="6350" cap="flat" cmpd="sng" algn="ctr">
                      <a:solidFill>
                        <a:srgbClr val="DDE3ED"/>
                      </a:solidFill>
                      <a:prstDash val="solid"/>
                      <a:round/>
                      <a:headEnd type="none" w="med" len="med"/>
                      <a:tailEnd type="none" w="med" len="med"/>
                    </a:lnR>
                    <a:lnT w="6350" cap="flat" cmpd="sng" algn="ctr">
                      <a:solidFill>
                        <a:srgbClr val="DDE3ED"/>
                      </a:solidFill>
                      <a:prstDash val="solid"/>
                      <a:round/>
                      <a:headEnd type="none" w="med" len="med"/>
                      <a:tailEnd type="none" w="med" len="med"/>
                    </a:lnT>
                    <a:lnB w="6350" cap="flat" cmpd="sng" algn="ctr">
                      <a:solidFill>
                        <a:srgbClr val="DDE3ED"/>
                      </a:solidFill>
                      <a:prstDash val="solid"/>
                      <a:round/>
                      <a:headEnd type="none" w="med" len="med"/>
                      <a:tailEnd type="none" w="med" len="med"/>
                    </a:lnB>
                    <a:solidFill>
                      <a:srgbClr val="0A1F44"/>
                    </a:solidFill>
                  </a:tcPr>
                </a:tc>
                <a:tc>
                  <a:txBody>
                    <a:bodyPr/>
                    <a:lstStyle/>
                    <a:p>
                      <a:pPr marL="0" indent="0" algn="ctr">
                        <a:buNone/>
                      </a:pPr>
                      <a:r>
                        <a:rPr lang="en-US" sz="1400" b="1" dirty="0">
                          <a:solidFill>
                            <a:srgbClr val="FFFFFF"/>
                          </a:solidFill>
                          <a:latin typeface="Calibri" pitchFamily="34" charset="0"/>
                          <a:ea typeface="Calibri" pitchFamily="34" charset="-122"/>
                          <a:cs typeface="Calibri" pitchFamily="34" charset="-120"/>
                        </a:rPr>
                        <a:t>0.821</a:t>
                      </a:r>
                      <a:endParaRPr lang="en-US" sz="1400" dirty="0">
                        <a:latin typeface="Calibri" charset="0"/>
                        <a:ea typeface="Calibri" charset="0"/>
                        <a:cs typeface="Calibri" charset="0"/>
                      </a:endParaRPr>
                    </a:p>
                  </a:txBody>
                  <a:tcPr marL="121920" marR="121920" marT="60960" marB="60960" anchor="ctr">
                    <a:lnL w="6350" cap="flat" cmpd="sng" algn="ctr">
                      <a:solidFill>
                        <a:srgbClr val="DDE3ED"/>
                      </a:solidFill>
                      <a:prstDash val="solid"/>
                      <a:round/>
                      <a:headEnd type="none" w="med" len="med"/>
                      <a:tailEnd type="none" w="med" len="med"/>
                    </a:lnL>
                    <a:lnR w="6350" cap="flat" cmpd="sng" algn="ctr">
                      <a:solidFill>
                        <a:srgbClr val="DDE3ED"/>
                      </a:solidFill>
                      <a:prstDash val="solid"/>
                      <a:round/>
                      <a:headEnd type="none" w="med" len="med"/>
                      <a:tailEnd type="none" w="med" len="med"/>
                    </a:lnR>
                    <a:lnT w="6350" cap="flat" cmpd="sng" algn="ctr">
                      <a:solidFill>
                        <a:srgbClr val="DDE3ED"/>
                      </a:solidFill>
                      <a:prstDash val="solid"/>
                      <a:round/>
                      <a:headEnd type="none" w="med" len="med"/>
                      <a:tailEnd type="none" w="med" len="med"/>
                    </a:lnT>
                    <a:lnB w="6350" cap="flat" cmpd="sng" algn="ctr">
                      <a:solidFill>
                        <a:srgbClr val="DDE3ED"/>
                      </a:solidFill>
                      <a:prstDash val="solid"/>
                      <a:round/>
                      <a:headEnd type="none" w="med" len="med"/>
                      <a:tailEnd type="none" w="med" len="med"/>
                    </a:lnB>
                    <a:solidFill>
                      <a:srgbClr val="0A1F44"/>
                    </a:solidFill>
                  </a:tcPr>
                </a:tc>
                <a:tc>
                  <a:txBody>
                    <a:bodyPr/>
                    <a:lstStyle/>
                    <a:p>
                      <a:pPr marL="0" indent="0" algn="ctr">
                        <a:buNone/>
                      </a:pPr>
                      <a:r>
                        <a:rPr lang="en-US" sz="1400" b="1" dirty="0">
                          <a:solidFill>
                            <a:srgbClr val="FFFFFF"/>
                          </a:solidFill>
                          <a:latin typeface="Calibri" pitchFamily="34" charset="0"/>
                          <a:ea typeface="Calibri" pitchFamily="34" charset="-122"/>
                          <a:cs typeface="Calibri" pitchFamily="34" charset="-120"/>
                        </a:rPr>
                        <a:t>0.741</a:t>
                      </a:r>
                      <a:endParaRPr lang="en-US" sz="1400" dirty="0">
                        <a:latin typeface="Calibri" charset="0"/>
                        <a:ea typeface="Calibri" charset="0"/>
                        <a:cs typeface="Calibri" charset="0"/>
                      </a:endParaRPr>
                    </a:p>
                  </a:txBody>
                  <a:tcPr marL="121920" marR="121920" marT="60960" marB="60960" anchor="ctr">
                    <a:lnL w="6350" cap="flat" cmpd="sng" algn="ctr">
                      <a:solidFill>
                        <a:srgbClr val="DDE3ED"/>
                      </a:solidFill>
                      <a:prstDash val="solid"/>
                      <a:round/>
                      <a:headEnd type="none" w="med" len="med"/>
                      <a:tailEnd type="none" w="med" len="med"/>
                    </a:lnL>
                    <a:lnR w="6350" cap="flat" cmpd="sng" algn="ctr">
                      <a:solidFill>
                        <a:srgbClr val="DDE3ED"/>
                      </a:solidFill>
                      <a:prstDash val="solid"/>
                      <a:round/>
                      <a:headEnd type="none" w="med" len="med"/>
                      <a:tailEnd type="none" w="med" len="med"/>
                    </a:lnR>
                    <a:lnT w="6350" cap="flat" cmpd="sng" algn="ctr">
                      <a:solidFill>
                        <a:srgbClr val="DDE3ED"/>
                      </a:solidFill>
                      <a:prstDash val="solid"/>
                      <a:round/>
                      <a:headEnd type="none" w="med" len="med"/>
                      <a:tailEnd type="none" w="med" len="med"/>
                    </a:lnT>
                    <a:lnB w="6350" cap="flat" cmpd="sng" algn="ctr">
                      <a:solidFill>
                        <a:srgbClr val="DDE3ED"/>
                      </a:solidFill>
                      <a:prstDash val="solid"/>
                      <a:round/>
                      <a:headEnd type="none" w="med" len="med"/>
                      <a:tailEnd type="none" w="med" len="med"/>
                    </a:lnB>
                    <a:solidFill>
                      <a:srgbClr val="0A1F44"/>
                    </a:solidFill>
                  </a:tcPr>
                </a:tc>
                <a:tc>
                  <a:txBody>
                    <a:bodyPr/>
                    <a:lstStyle/>
                    <a:p>
                      <a:pPr marL="0" indent="0" algn="ctr">
                        <a:buNone/>
                      </a:pPr>
                      <a:r>
                        <a:rPr lang="en-US" sz="1400" b="1" dirty="0">
                          <a:solidFill>
                            <a:srgbClr val="FFFFFF"/>
                          </a:solidFill>
                          <a:latin typeface="Calibri" pitchFamily="34" charset="0"/>
                          <a:ea typeface="Calibri" pitchFamily="34" charset="-122"/>
                          <a:cs typeface="Calibri" pitchFamily="34" charset="-120"/>
                        </a:rPr>
                        <a:t>0.783</a:t>
                      </a:r>
                      <a:endParaRPr lang="en-US" sz="1400" dirty="0">
                        <a:latin typeface="Calibri" charset="0"/>
                        <a:ea typeface="Calibri" charset="0"/>
                        <a:cs typeface="Calibri" charset="0"/>
                      </a:endParaRPr>
                    </a:p>
                  </a:txBody>
                  <a:tcPr marL="121920" marR="121920" marT="60960" marB="60960" anchor="ctr">
                    <a:lnL w="6350" cap="flat" cmpd="sng" algn="ctr">
                      <a:solidFill>
                        <a:srgbClr val="DDE3ED"/>
                      </a:solidFill>
                      <a:prstDash val="solid"/>
                      <a:round/>
                      <a:headEnd type="none" w="med" len="med"/>
                      <a:tailEnd type="none" w="med" len="med"/>
                    </a:lnL>
                    <a:lnR w="6350" cap="flat" cmpd="sng" algn="ctr">
                      <a:solidFill>
                        <a:srgbClr val="DDE3ED"/>
                      </a:solidFill>
                      <a:prstDash val="solid"/>
                      <a:round/>
                      <a:headEnd type="none" w="med" len="med"/>
                      <a:tailEnd type="none" w="med" len="med"/>
                    </a:lnR>
                    <a:lnT w="6350" cap="flat" cmpd="sng" algn="ctr">
                      <a:solidFill>
                        <a:srgbClr val="DDE3ED"/>
                      </a:solidFill>
                      <a:prstDash val="solid"/>
                      <a:round/>
                      <a:headEnd type="none" w="med" len="med"/>
                      <a:tailEnd type="none" w="med" len="med"/>
                    </a:lnT>
                    <a:lnB w="6350" cap="flat" cmpd="sng" algn="ctr">
                      <a:solidFill>
                        <a:srgbClr val="DDE3ED"/>
                      </a:solidFill>
                      <a:prstDash val="solid"/>
                      <a:round/>
                      <a:headEnd type="none" w="med" len="med"/>
                      <a:tailEnd type="none" w="med" len="med"/>
                    </a:lnB>
                    <a:solidFill>
                      <a:srgbClr val="0A1F44"/>
                    </a:solidFill>
                  </a:tcPr>
                </a:tc>
                <a:tc>
                  <a:txBody>
                    <a:bodyPr/>
                    <a:lstStyle/>
                    <a:p>
                      <a:pPr marL="0" indent="0" algn="ctr">
                        <a:buNone/>
                      </a:pPr>
                      <a:r>
                        <a:rPr lang="en-US" sz="1400" b="1" dirty="0">
                          <a:solidFill>
                            <a:srgbClr val="FFFFFF"/>
                          </a:solidFill>
                          <a:latin typeface="Calibri" pitchFamily="34" charset="0"/>
                          <a:ea typeface="Calibri" pitchFamily="34" charset="-122"/>
                          <a:cs typeface="Calibri" pitchFamily="34" charset="-120"/>
                        </a:rPr>
                        <a:t>0.773</a:t>
                      </a:r>
                      <a:endParaRPr lang="en-US" sz="1400" dirty="0">
                        <a:latin typeface="Calibri" charset="0"/>
                        <a:ea typeface="Calibri" charset="0"/>
                        <a:cs typeface="Calibri" charset="0"/>
                      </a:endParaRPr>
                    </a:p>
                  </a:txBody>
                  <a:tcPr marL="121920" marR="121920" marT="60960" marB="60960" anchor="ctr">
                    <a:lnL w="6350" cap="flat" cmpd="sng" algn="ctr">
                      <a:solidFill>
                        <a:srgbClr val="DDE3ED"/>
                      </a:solidFill>
                      <a:prstDash val="solid"/>
                      <a:round/>
                      <a:headEnd type="none" w="med" len="med"/>
                      <a:tailEnd type="none" w="med" len="med"/>
                    </a:lnL>
                    <a:lnR w="6350" cap="flat" cmpd="sng" algn="ctr">
                      <a:solidFill>
                        <a:srgbClr val="DDE3ED"/>
                      </a:solidFill>
                      <a:prstDash val="solid"/>
                      <a:round/>
                      <a:headEnd type="none" w="med" len="med"/>
                      <a:tailEnd type="none" w="med" len="med"/>
                    </a:lnR>
                    <a:lnT w="6350" cap="flat" cmpd="sng" algn="ctr">
                      <a:solidFill>
                        <a:srgbClr val="DDE3ED"/>
                      </a:solidFill>
                      <a:prstDash val="solid"/>
                      <a:round/>
                      <a:headEnd type="none" w="med" len="med"/>
                      <a:tailEnd type="none" w="med" len="med"/>
                    </a:lnT>
                    <a:lnB w="6350" cap="flat" cmpd="sng" algn="ctr">
                      <a:solidFill>
                        <a:srgbClr val="DDE3ED"/>
                      </a:solidFill>
                      <a:prstDash val="solid"/>
                      <a:round/>
                      <a:headEnd type="none" w="med" len="med"/>
                      <a:tailEnd type="none" w="med" len="med"/>
                    </a:lnB>
                    <a:solidFill>
                      <a:srgbClr val="0A1F44"/>
                    </a:solidFill>
                  </a:tcPr>
                </a:tc>
                <a:extLst>
                  <a:ext uri="{0D108BD9-81ED-4DB2-BD59-A6C34878D82A}">
                    <a16:rowId xmlns:a16="http://schemas.microsoft.com/office/drawing/2014/main" val="10009"/>
                  </a:ext>
                </a:extLst>
              </a:tr>
            </a:tbl>
          </a:graphicData>
        </a:graphic>
      </p:graphicFrame>
      <p:sp>
        <p:nvSpPr>
          <p:cNvPr id="5" name="Shape 2"/>
          <p:cNvSpPr/>
          <p:nvPr/>
        </p:nvSpPr>
        <p:spPr>
          <a:xfrm>
            <a:off x="8107680" y="1280160"/>
            <a:ext cx="3779520" cy="1560576"/>
          </a:xfrm>
          <a:prstGeom prst="rect">
            <a:avLst/>
          </a:prstGeom>
          <a:solidFill>
            <a:srgbClr val="FFFFFF"/>
          </a:solidFill>
          <a:ln w="12700">
            <a:solidFill>
              <a:srgbClr val="DDE3ED"/>
            </a:solidFill>
            <a:prstDash val="solid"/>
          </a:ln>
          <a:effectLst>
            <a:outerShdw blurRad="101600" dist="25400" dir="8100000" algn="bl" rotWithShape="0">
              <a:srgbClr val="000000">
                <a:alpha val="8000"/>
              </a:srgbClr>
            </a:outerShdw>
          </a:effectLst>
        </p:spPr>
      </p:sp>
      <p:sp>
        <p:nvSpPr>
          <p:cNvPr id="4" name="Text 3"/>
          <p:cNvSpPr/>
          <p:nvPr/>
        </p:nvSpPr>
        <p:spPr>
          <a:xfrm>
            <a:off x="8229600" y="1341120"/>
            <a:ext cx="609600" cy="609600"/>
          </a:xfrm>
          <a:prstGeom prst="rect">
            <a:avLst/>
          </a:prstGeom>
          <a:noFill/>
          <a:ln/>
        </p:spPr>
        <p:txBody>
          <a:bodyPr wrap="square" rtlCol="0" anchor="ctr"/>
          <a:lstStyle/>
          <a:p>
            <a:pPr algn="ctr"/>
            <a:r>
              <a:rPr lang="en-US" sz="2933" dirty="0">
                <a:solidFill>
                  <a:srgbClr val="000000"/>
                </a:solidFill>
                <a:latin typeface="Calibri" pitchFamily="34" charset="0"/>
                <a:ea typeface="Calibri" pitchFamily="34" charset="-122"/>
                <a:cs typeface="Calibri" pitchFamily="34" charset="-120"/>
              </a:rPr>
              <a:t>⚠️</a:t>
            </a:r>
            <a:endParaRPr lang="en-US" sz="2933" dirty="0"/>
          </a:p>
        </p:txBody>
      </p:sp>
      <p:sp>
        <p:nvSpPr>
          <p:cNvPr id="7" name="Text 4"/>
          <p:cNvSpPr/>
          <p:nvPr/>
        </p:nvSpPr>
        <p:spPr>
          <a:xfrm>
            <a:off x="8778240" y="1341120"/>
            <a:ext cx="2926080" cy="1219200"/>
          </a:xfrm>
          <a:prstGeom prst="rect">
            <a:avLst/>
          </a:prstGeom>
          <a:noFill/>
          <a:ln/>
        </p:spPr>
        <p:txBody>
          <a:bodyPr wrap="square" rtlCol="0" anchor="ctr"/>
          <a:lstStyle/>
          <a:p>
            <a:r>
              <a:rPr lang="en-US" sz="1467" dirty="0">
                <a:solidFill>
                  <a:srgbClr val="D97706"/>
                </a:solidFill>
                <a:latin typeface="Calibri" pitchFamily="34" charset="0"/>
                <a:ea typeface="Calibri" pitchFamily="34" charset="-122"/>
                <a:cs typeface="Calibri" pitchFamily="34" charset="-120"/>
              </a:rPr>
              <a:t>In-domain: XGBoost 0.919 outperforms DL 0.821</a:t>
            </a:r>
            <a:endParaRPr lang="en-US" sz="1467" dirty="0"/>
          </a:p>
        </p:txBody>
      </p:sp>
      <p:sp>
        <p:nvSpPr>
          <p:cNvPr id="8" name="Shape 5"/>
          <p:cNvSpPr/>
          <p:nvPr/>
        </p:nvSpPr>
        <p:spPr>
          <a:xfrm>
            <a:off x="8107680" y="3048000"/>
            <a:ext cx="3779520" cy="1560576"/>
          </a:xfrm>
          <a:prstGeom prst="rect">
            <a:avLst/>
          </a:prstGeom>
          <a:solidFill>
            <a:srgbClr val="FFFFFF"/>
          </a:solidFill>
          <a:ln w="12700">
            <a:solidFill>
              <a:srgbClr val="DDE3ED"/>
            </a:solidFill>
            <a:prstDash val="solid"/>
          </a:ln>
          <a:effectLst>
            <a:outerShdw blurRad="101600" dist="25400" dir="8100000" algn="bl" rotWithShape="0">
              <a:srgbClr val="000000">
                <a:alpha val="8000"/>
              </a:srgbClr>
            </a:outerShdw>
          </a:effectLst>
        </p:spPr>
      </p:sp>
      <p:sp>
        <p:nvSpPr>
          <p:cNvPr id="9" name="Text 6"/>
          <p:cNvSpPr/>
          <p:nvPr/>
        </p:nvSpPr>
        <p:spPr>
          <a:xfrm>
            <a:off x="8229600" y="3108960"/>
            <a:ext cx="609600" cy="609600"/>
          </a:xfrm>
          <a:prstGeom prst="rect">
            <a:avLst/>
          </a:prstGeom>
          <a:noFill/>
          <a:ln/>
        </p:spPr>
        <p:txBody>
          <a:bodyPr wrap="square" rtlCol="0" anchor="ctr"/>
          <a:lstStyle/>
          <a:p>
            <a:pPr algn="ctr"/>
            <a:r>
              <a:rPr lang="en-US" sz="2933" dirty="0">
                <a:solidFill>
                  <a:srgbClr val="000000"/>
                </a:solidFill>
                <a:latin typeface="Calibri" pitchFamily="34" charset="0"/>
                <a:ea typeface="Calibri" pitchFamily="34" charset="-122"/>
                <a:cs typeface="Calibri" pitchFamily="34" charset="-120"/>
              </a:rPr>
              <a:t>✅</a:t>
            </a:r>
            <a:endParaRPr lang="en-US" sz="2933" dirty="0"/>
          </a:p>
        </p:txBody>
      </p:sp>
      <p:sp>
        <p:nvSpPr>
          <p:cNvPr id="10" name="Text 7"/>
          <p:cNvSpPr/>
          <p:nvPr/>
        </p:nvSpPr>
        <p:spPr>
          <a:xfrm>
            <a:off x="8778240" y="3108960"/>
            <a:ext cx="2926080" cy="1219200"/>
          </a:xfrm>
          <a:prstGeom prst="rect">
            <a:avLst/>
          </a:prstGeom>
          <a:noFill/>
          <a:ln/>
        </p:spPr>
        <p:txBody>
          <a:bodyPr wrap="square" rtlCol="0" anchor="ctr"/>
          <a:lstStyle/>
          <a:p>
            <a:r>
              <a:rPr lang="en-US" sz="1467" dirty="0">
                <a:solidFill>
                  <a:srgbClr val="1DA462"/>
                </a:solidFill>
                <a:latin typeface="Calibri" pitchFamily="34" charset="0"/>
                <a:ea typeface="Calibri" pitchFamily="34" charset="-122"/>
                <a:cs typeface="Calibri" pitchFamily="34" charset="-120"/>
              </a:rPr>
              <a:t>Cross-city: DL retains DEGRADED F1 — trees collapse (see Novelty)</a:t>
            </a:r>
            <a:endParaRPr lang="en-US" sz="1467" dirty="0"/>
          </a:p>
        </p:txBody>
      </p:sp>
      <p:sp>
        <p:nvSpPr>
          <p:cNvPr id="11" name="Shape 8"/>
          <p:cNvSpPr/>
          <p:nvPr/>
        </p:nvSpPr>
        <p:spPr>
          <a:xfrm>
            <a:off x="8107680" y="4815840"/>
            <a:ext cx="3779520" cy="1560576"/>
          </a:xfrm>
          <a:prstGeom prst="rect">
            <a:avLst/>
          </a:prstGeom>
          <a:solidFill>
            <a:srgbClr val="FFFFFF"/>
          </a:solidFill>
          <a:ln w="12700">
            <a:solidFill>
              <a:srgbClr val="DDE3ED"/>
            </a:solidFill>
            <a:prstDash val="solid"/>
          </a:ln>
          <a:effectLst>
            <a:outerShdw blurRad="101600" dist="25400" dir="8100000" algn="bl" rotWithShape="0">
              <a:srgbClr val="000000">
                <a:alpha val="8000"/>
              </a:srgbClr>
            </a:outerShdw>
          </a:effectLst>
        </p:spPr>
      </p:sp>
      <p:sp>
        <p:nvSpPr>
          <p:cNvPr id="12" name="Text 9"/>
          <p:cNvSpPr/>
          <p:nvPr/>
        </p:nvSpPr>
        <p:spPr>
          <a:xfrm>
            <a:off x="8229600" y="4876800"/>
            <a:ext cx="609600" cy="609600"/>
          </a:xfrm>
          <a:prstGeom prst="rect">
            <a:avLst/>
          </a:prstGeom>
          <a:noFill/>
          <a:ln/>
        </p:spPr>
        <p:txBody>
          <a:bodyPr wrap="square" rtlCol="0" anchor="ctr"/>
          <a:lstStyle/>
          <a:p>
            <a:pPr algn="ctr"/>
            <a:r>
              <a:rPr lang="en-US" sz="2933" dirty="0">
                <a:solidFill>
                  <a:srgbClr val="000000"/>
                </a:solidFill>
                <a:latin typeface="Calibri" pitchFamily="34" charset="0"/>
                <a:ea typeface="Calibri" pitchFamily="34" charset="-122"/>
                <a:cs typeface="Calibri" pitchFamily="34" charset="-120"/>
              </a:rPr>
              <a:t>🚀</a:t>
            </a:r>
            <a:endParaRPr lang="en-US" sz="2933" dirty="0"/>
          </a:p>
        </p:txBody>
      </p:sp>
      <p:sp>
        <p:nvSpPr>
          <p:cNvPr id="13" name="Text 10"/>
          <p:cNvSpPr/>
          <p:nvPr/>
        </p:nvSpPr>
        <p:spPr>
          <a:xfrm>
            <a:off x="8778240" y="4876800"/>
            <a:ext cx="2926080" cy="1219200"/>
          </a:xfrm>
          <a:prstGeom prst="rect">
            <a:avLst/>
          </a:prstGeom>
          <a:noFill/>
          <a:ln/>
        </p:spPr>
        <p:txBody>
          <a:bodyPr wrap="square" rtlCol="0" anchor="ctr"/>
          <a:lstStyle/>
          <a:p>
            <a:r>
              <a:rPr lang="en-US" sz="1467" dirty="0">
                <a:solidFill>
                  <a:srgbClr val="0A1F44"/>
                </a:solidFill>
                <a:latin typeface="Calibri" pitchFamily="34" charset="0"/>
                <a:ea typeface="Calibri" pitchFamily="34" charset="-122"/>
                <a:cs typeface="Calibri" pitchFamily="34" charset="-120"/>
              </a:rPr>
              <a:t>One model, one pass — 10.5× faster than 3 tree models</a:t>
            </a:r>
            <a:endParaRPr lang="en-US" sz="1467" dirty="0"/>
          </a:p>
        </p:txBody>
      </p:sp>
      <p:sp>
        <p:nvSpPr>
          <p:cNvPr id="14" name="Shape 0">
            <a:extLst>
              <a:ext uri="{FF2B5EF4-FFF2-40B4-BE49-F238E27FC236}">
                <a16:creationId xmlns:a16="http://schemas.microsoft.com/office/drawing/2014/main" id="{B570CCFD-A047-15D1-BF8D-23418727A91D}"/>
              </a:ext>
            </a:extLst>
          </p:cNvPr>
          <p:cNvSpPr/>
          <p:nvPr/>
        </p:nvSpPr>
        <p:spPr>
          <a:xfrm>
            <a:off x="0" y="1935"/>
            <a:ext cx="12192000" cy="740408"/>
          </a:xfrm>
          <a:prstGeom prst="rect">
            <a:avLst/>
          </a:prstGeom>
          <a:solidFill>
            <a:srgbClr val="003893"/>
          </a:solidFill>
          <a:ln w="12700">
            <a:solidFill>
              <a:srgbClr val="003893"/>
            </a:solidFill>
            <a:prstDash val="solid"/>
          </a:ln>
        </p:spPr>
      </p:sp>
      <p:sp>
        <p:nvSpPr>
          <p:cNvPr id="15" name="Shape 1">
            <a:extLst>
              <a:ext uri="{FF2B5EF4-FFF2-40B4-BE49-F238E27FC236}">
                <a16:creationId xmlns:a16="http://schemas.microsoft.com/office/drawing/2014/main" id="{C2C4C3B7-014C-6DC4-1581-E89B3D17E3C1}"/>
              </a:ext>
            </a:extLst>
          </p:cNvPr>
          <p:cNvSpPr/>
          <p:nvPr/>
        </p:nvSpPr>
        <p:spPr>
          <a:xfrm>
            <a:off x="0" y="702347"/>
            <a:ext cx="12192000" cy="36576"/>
          </a:xfrm>
          <a:prstGeom prst="rect">
            <a:avLst/>
          </a:prstGeom>
          <a:solidFill>
            <a:srgbClr val="4FC3F7"/>
          </a:solidFill>
          <a:ln w="12700">
            <a:solidFill>
              <a:srgbClr val="4FC3F7"/>
            </a:solidFill>
            <a:prstDash val="solid"/>
          </a:ln>
        </p:spPr>
      </p:sp>
      <p:sp>
        <p:nvSpPr>
          <p:cNvPr id="16" name="Shape 2">
            <a:extLst>
              <a:ext uri="{FF2B5EF4-FFF2-40B4-BE49-F238E27FC236}">
                <a16:creationId xmlns:a16="http://schemas.microsoft.com/office/drawing/2014/main" id="{22A156EB-254A-2DDC-AA80-45FB291DA5DA}"/>
              </a:ext>
            </a:extLst>
          </p:cNvPr>
          <p:cNvSpPr/>
          <p:nvPr/>
        </p:nvSpPr>
        <p:spPr>
          <a:xfrm>
            <a:off x="0" y="6646862"/>
            <a:ext cx="12192000" cy="211137"/>
          </a:xfrm>
          <a:prstGeom prst="rect">
            <a:avLst/>
          </a:prstGeom>
          <a:solidFill>
            <a:srgbClr val="003893"/>
          </a:solidFill>
          <a:ln w="12700">
            <a:solidFill>
              <a:srgbClr val="003893"/>
            </a:solidFill>
            <a:prstDash val="solid"/>
          </a:ln>
        </p:spPr>
      </p:sp>
      <p:sp>
        <p:nvSpPr>
          <p:cNvPr id="17" name="Shape 3">
            <a:extLst>
              <a:ext uri="{FF2B5EF4-FFF2-40B4-BE49-F238E27FC236}">
                <a16:creationId xmlns:a16="http://schemas.microsoft.com/office/drawing/2014/main" id="{6865D83D-AD8E-B397-808A-8F92ED3EB453}"/>
              </a:ext>
            </a:extLst>
          </p:cNvPr>
          <p:cNvSpPr/>
          <p:nvPr/>
        </p:nvSpPr>
        <p:spPr>
          <a:xfrm>
            <a:off x="0" y="6623677"/>
            <a:ext cx="12192000" cy="30480"/>
          </a:xfrm>
          <a:prstGeom prst="rect">
            <a:avLst/>
          </a:prstGeom>
          <a:solidFill>
            <a:srgbClr val="4FC3F7"/>
          </a:solidFill>
          <a:ln w="12700">
            <a:solidFill>
              <a:srgbClr val="4FC3F7"/>
            </a:solidFill>
            <a:prstDash val="solid"/>
          </a:ln>
        </p:spPr>
      </p:sp>
      <p:sp>
        <p:nvSpPr>
          <p:cNvPr id="18" name="Shape 4">
            <a:extLst>
              <a:ext uri="{FF2B5EF4-FFF2-40B4-BE49-F238E27FC236}">
                <a16:creationId xmlns:a16="http://schemas.microsoft.com/office/drawing/2014/main" id="{ACD99FE7-4B79-207F-F9DE-AF03324E7599}"/>
              </a:ext>
            </a:extLst>
          </p:cNvPr>
          <p:cNvSpPr/>
          <p:nvPr/>
        </p:nvSpPr>
        <p:spPr>
          <a:xfrm>
            <a:off x="0" y="-24618"/>
            <a:ext cx="1128763" cy="767311"/>
          </a:xfrm>
          <a:prstGeom prst="homePlate">
            <a:avLst/>
          </a:prstGeom>
          <a:solidFill>
            <a:srgbClr val="FFFFFF"/>
          </a:solidFill>
          <a:ln w="6350">
            <a:solidFill>
              <a:srgbClr val="CCCCCC"/>
            </a:solidFill>
            <a:prstDash val="solid"/>
          </a:ln>
        </p:spPr>
      </p:sp>
      <p:sp>
        <p:nvSpPr>
          <p:cNvPr id="19" name="Shape 5">
            <a:extLst>
              <a:ext uri="{FF2B5EF4-FFF2-40B4-BE49-F238E27FC236}">
                <a16:creationId xmlns:a16="http://schemas.microsoft.com/office/drawing/2014/main" id="{4801523F-29D2-7B9D-9AC5-BEB38D7BF447}"/>
              </a:ext>
            </a:extLst>
          </p:cNvPr>
          <p:cNvSpPr/>
          <p:nvPr/>
        </p:nvSpPr>
        <p:spPr>
          <a:xfrm>
            <a:off x="10728961" y="121921"/>
            <a:ext cx="51207" cy="51207"/>
          </a:xfrm>
          <a:prstGeom prst="ellipse">
            <a:avLst/>
          </a:prstGeom>
          <a:solidFill>
            <a:srgbClr val="FFFFFF">
              <a:alpha val="35000"/>
            </a:srgbClr>
          </a:solidFill>
          <a:ln w="12700">
            <a:solidFill>
              <a:srgbClr val="FFFFFF"/>
            </a:solidFill>
            <a:prstDash val="solid"/>
          </a:ln>
        </p:spPr>
      </p:sp>
      <p:sp>
        <p:nvSpPr>
          <p:cNvPr id="20" name="Shape 6">
            <a:extLst>
              <a:ext uri="{FF2B5EF4-FFF2-40B4-BE49-F238E27FC236}">
                <a16:creationId xmlns:a16="http://schemas.microsoft.com/office/drawing/2014/main" id="{45A17A2E-D4DA-C315-C171-AC7E78132AEB}"/>
              </a:ext>
            </a:extLst>
          </p:cNvPr>
          <p:cNvSpPr/>
          <p:nvPr/>
        </p:nvSpPr>
        <p:spPr>
          <a:xfrm>
            <a:off x="10948417" y="121921"/>
            <a:ext cx="51207" cy="51207"/>
          </a:xfrm>
          <a:prstGeom prst="ellipse">
            <a:avLst/>
          </a:prstGeom>
          <a:solidFill>
            <a:srgbClr val="FFFFFF">
              <a:alpha val="35000"/>
            </a:srgbClr>
          </a:solidFill>
          <a:ln w="12700">
            <a:solidFill>
              <a:srgbClr val="FFFFFF"/>
            </a:solidFill>
            <a:prstDash val="solid"/>
          </a:ln>
        </p:spPr>
      </p:sp>
      <p:sp>
        <p:nvSpPr>
          <p:cNvPr id="21" name="Shape 7">
            <a:extLst>
              <a:ext uri="{FF2B5EF4-FFF2-40B4-BE49-F238E27FC236}">
                <a16:creationId xmlns:a16="http://schemas.microsoft.com/office/drawing/2014/main" id="{70C00E26-EF90-9110-7E33-FC2C22C0E5F2}"/>
              </a:ext>
            </a:extLst>
          </p:cNvPr>
          <p:cNvSpPr/>
          <p:nvPr/>
        </p:nvSpPr>
        <p:spPr>
          <a:xfrm>
            <a:off x="11167873" y="121921"/>
            <a:ext cx="51207" cy="51207"/>
          </a:xfrm>
          <a:prstGeom prst="ellipse">
            <a:avLst/>
          </a:prstGeom>
          <a:solidFill>
            <a:srgbClr val="FFFFFF">
              <a:alpha val="35000"/>
            </a:srgbClr>
          </a:solidFill>
          <a:ln w="12700">
            <a:solidFill>
              <a:srgbClr val="FFFFFF"/>
            </a:solidFill>
            <a:prstDash val="solid"/>
          </a:ln>
        </p:spPr>
      </p:sp>
      <p:sp>
        <p:nvSpPr>
          <p:cNvPr id="22" name="Shape 8">
            <a:extLst>
              <a:ext uri="{FF2B5EF4-FFF2-40B4-BE49-F238E27FC236}">
                <a16:creationId xmlns:a16="http://schemas.microsoft.com/office/drawing/2014/main" id="{A093B432-C31C-9796-A3B7-34AEDCC7D3DC}"/>
              </a:ext>
            </a:extLst>
          </p:cNvPr>
          <p:cNvSpPr/>
          <p:nvPr/>
        </p:nvSpPr>
        <p:spPr>
          <a:xfrm>
            <a:off x="11387329" y="121921"/>
            <a:ext cx="51207" cy="51207"/>
          </a:xfrm>
          <a:prstGeom prst="ellipse">
            <a:avLst/>
          </a:prstGeom>
          <a:solidFill>
            <a:srgbClr val="FFFFFF">
              <a:alpha val="35000"/>
            </a:srgbClr>
          </a:solidFill>
          <a:ln w="12700">
            <a:solidFill>
              <a:srgbClr val="FFFFFF"/>
            </a:solidFill>
            <a:prstDash val="solid"/>
          </a:ln>
        </p:spPr>
      </p:sp>
      <p:sp>
        <p:nvSpPr>
          <p:cNvPr id="23" name="Shape 9">
            <a:extLst>
              <a:ext uri="{FF2B5EF4-FFF2-40B4-BE49-F238E27FC236}">
                <a16:creationId xmlns:a16="http://schemas.microsoft.com/office/drawing/2014/main" id="{C83956FF-F365-7318-D3D6-862BF6EDC9A0}"/>
              </a:ext>
            </a:extLst>
          </p:cNvPr>
          <p:cNvSpPr/>
          <p:nvPr/>
        </p:nvSpPr>
        <p:spPr>
          <a:xfrm>
            <a:off x="10728961" y="292609"/>
            <a:ext cx="51207" cy="51207"/>
          </a:xfrm>
          <a:prstGeom prst="ellipse">
            <a:avLst/>
          </a:prstGeom>
          <a:solidFill>
            <a:srgbClr val="FFFFFF">
              <a:alpha val="35000"/>
            </a:srgbClr>
          </a:solidFill>
          <a:ln w="12700">
            <a:solidFill>
              <a:srgbClr val="FFFFFF"/>
            </a:solidFill>
            <a:prstDash val="solid"/>
          </a:ln>
        </p:spPr>
      </p:sp>
      <p:sp>
        <p:nvSpPr>
          <p:cNvPr id="24" name="Shape 10">
            <a:extLst>
              <a:ext uri="{FF2B5EF4-FFF2-40B4-BE49-F238E27FC236}">
                <a16:creationId xmlns:a16="http://schemas.microsoft.com/office/drawing/2014/main" id="{AB5D4F69-28E0-FB4A-3B59-34AE5E6C5E8C}"/>
              </a:ext>
            </a:extLst>
          </p:cNvPr>
          <p:cNvSpPr/>
          <p:nvPr/>
        </p:nvSpPr>
        <p:spPr>
          <a:xfrm>
            <a:off x="10948417" y="292609"/>
            <a:ext cx="51207" cy="51207"/>
          </a:xfrm>
          <a:prstGeom prst="ellipse">
            <a:avLst/>
          </a:prstGeom>
          <a:solidFill>
            <a:srgbClr val="FFFFFF">
              <a:alpha val="35000"/>
            </a:srgbClr>
          </a:solidFill>
          <a:ln w="12700">
            <a:solidFill>
              <a:srgbClr val="FFFFFF"/>
            </a:solidFill>
            <a:prstDash val="solid"/>
          </a:ln>
        </p:spPr>
      </p:sp>
      <p:sp>
        <p:nvSpPr>
          <p:cNvPr id="25" name="Shape 11">
            <a:extLst>
              <a:ext uri="{FF2B5EF4-FFF2-40B4-BE49-F238E27FC236}">
                <a16:creationId xmlns:a16="http://schemas.microsoft.com/office/drawing/2014/main" id="{A08A8AE0-1DB2-962B-E28B-2C2BF05C76EC}"/>
              </a:ext>
            </a:extLst>
          </p:cNvPr>
          <p:cNvSpPr/>
          <p:nvPr/>
        </p:nvSpPr>
        <p:spPr>
          <a:xfrm>
            <a:off x="11167873" y="292609"/>
            <a:ext cx="51207" cy="51207"/>
          </a:xfrm>
          <a:prstGeom prst="ellipse">
            <a:avLst/>
          </a:prstGeom>
          <a:solidFill>
            <a:srgbClr val="FFFFFF">
              <a:alpha val="35000"/>
            </a:srgbClr>
          </a:solidFill>
          <a:ln w="12700">
            <a:solidFill>
              <a:srgbClr val="FFFFFF"/>
            </a:solidFill>
            <a:prstDash val="solid"/>
          </a:ln>
        </p:spPr>
      </p:sp>
      <p:sp>
        <p:nvSpPr>
          <p:cNvPr id="26" name="Shape 12">
            <a:extLst>
              <a:ext uri="{FF2B5EF4-FFF2-40B4-BE49-F238E27FC236}">
                <a16:creationId xmlns:a16="http://schemas.microsoft.com/office/drawing/2014/main" id="{BB006D42-6E44-D7C8-E538-BC1723FC39D3}"/>
              </a:ext>
            </a:extLst>
          </p:cNvPr>
          <p:cNvSpPr/>
          <p:nvPr/>
        </p:nvSpPr>
        <p:spPr>
          <a:xfrm>
            <a:off x="11387329" y="292609"/>
            <a:ext cx="51207" cy="51207"/>
          </a:xfrm>
          <a:prstGeom prst="ellipse">
            <a:avLst/>
          </a:prstGeom>
          <a:solidFill>
            <a:srgbClr val="FFFFFF">
              <a:alpha val="35000"/>
            </a:srgbClr>
          </a:solidFill>
          <a:ln w="12700">
            <a:solidFill>
              <a:srgbClr val="FFFFFF"/>
            </a:solidFill>
            <a:prstDash val="solid"/>
          </a:ln>
        </p:spPr>
      </p:sp>
      <p:sp>
        <p:nvSpPr>
          <p:cNvPr id="27" name="Shape 13">
            <a:extLst>
              <a:ext uri="{FF2B5EF4-FFF2-40B4-BE49-F238E27FC236}">
                <a16:creationId xmlns:a16="http://schemas.microsoft.com/office/drawing/2014/main" id="{094E3A13-2DB9-F465-2443-8D327604B0A9}"/>
              </a:ext>
            </a:extLst>
          </p:cNvPr>
          <p:cNvSpPr/>
          <p:nvPr/>
        </p:nvSpPr>
        <p:spPr>
          <a:xfrm>
            <a:off x="10728961" y="463297"/>
            <a:ext cx="51207" cy="51207"/>
          </a:xfrm>
          <a:prstGeom prst="ellipse">
            <a:avLst/>
          </a:prstGeom>
          <a:solidFill>
            <a:srgbClr val="FFFFFF">
              <a:alpha val="35000"/>
            </a:srgbClr>
          </a:solidFill>
          <a:ln w="12700">
            <a:solidFill>
              <a:srgbClr val="FFFFFF"/>
            </a:solidFill>
            <a:prstDash val="solid"/>
          </a:ln>
        </p:spPr>
      </p:sp>
      <p:sp>
        <p:nvSpPr>
          <p:cNvPr id="28" name="Shape 14">
            <a:extLst>
              <a:ext uri="{FF2B5EF4-FFF2-40B4-BE49-F238E27FC236}">
                <a16:creationId xmlns:a16="http://schemas.microsoft.com/office/drawing/2014/main" id="{B7B7E4B0-D803-7938-DE55-F8504DBA8C64}"/>
              </a:ext>
            </a:extLst>
          </p:cNvPr>
          <p:cNvSpPr/>
          <p:nvPr/>
        </p:nvSpPr>
        <p:spPr>
          <a:xfrm>
            <a:off x="10948417" y="463297"/>
            <a:ext cx="51207" cy="51207"/>
          </a:xfrm>
          <a:prstGeom prst="ellipse">
            <a:avLst/>
          </a:prstGeom>
          <a:solidFill>
            <a:srgbClr val="FFFFFF">
              <a:alpha val="35000"/>
            </a:srgbClr>
          </a:solidFill>
          <a:ln w="12700">
            <a:solidFill>
              <a:srgbClr val="FFFFFF"/>
            </a:solidFill>
            <a:prstDash val="solid"/>
          </a:ln>
        </p:spPr>
      </p:sp>
      <p:sp>
        <p:nvSpPr>
          <p:cNvPr id="29" name="Shape 15">
            <a:extLst>
              <a:ext uri="{FF2B5EF4-FFF2-40B4-BE49-F238E27FC236}">
                <a16:creationId xmlns:a16="http://schemas.microsoft.com/office/drawing/2014/main" id="{5C823072-BD26-63CD-EBFB-99D27BEE42EC}"/>
              </a:ext>
            </a:extLst>
          </p:cNvPr>
          <p:cNvSpPr/>
          <p:nvPr/>
        </p:nvSpPr>
        <p:spPr>
          <a:xfrm>
            <a:off x="11167873" y="463297"/>
            <a:ext cx="51207" cy="51207"/>
          </a:xfrm>
          <a:prstGeom prst="ellipse">
            <a:avLst/>
          </a:prstGeom>
          <a:solidFill>
            <a:srgbClr val="FFFFFF">
              <a:alpha val="35000"/>
            </a:srgbClr>
          </a:solidFill>
          <a:ln w="12700">
            <a:solidFill>
              <a:srgbClr val="FFFFFF"/>
            </a:solidFill>
            <a:prstDash val="solid"/>
          </a:ln>
        </p:spPr>
      </p:sp>
      <p:sp>
        <p:nvSpPr>
          <p:cNvPr id="30" name="Shape 16">
            <a:extLst>
              <a:ext uri="{FF2B5EF4-FFF2-40B4-BE49-F238E27FC236}">
                <a16:creationId xmlns:a16="http://schemas.microsoft.com/office/drawing/2014/main" id="{55F16D79-1036-0ED0-DADB-D7989C3B9817}"/>
              </a:ext>
            </a:extLst>
          </p:cNvPr>
          <p:cNvSpPr/>
          <p:nvPr/>
        </p:nvSpPr>
        <p:spPr>
          <a:xfrm>
            <a:off x="11387329" y="463297"/>
            <a:ext cx="51207" cy="51207"/>
          </a:xfrm>
          <a:prstGeom prst="ellipse">
            <a:avLst/>
          </a:prstGeom>
          <a:solidFill>
            <a:srgbClr val="FFFFFF">
              <a:alpha val="35000"/>
            </a:srgbClr>
          </a:solidFill>
          <a:ln w="12700">
            <a:solidFill>
              <a:srgbClr val="FFFFFF"/>
            </a:solidFill>
            <a:prstDash val="solid"/>
          </a:ln>
        </p:spPr>
      </p:sp>
      <p:pic>
        <p:nvPicPr>
          <p:cNvPr id="31" name="Picture 30">
            <a:extLst>
              <a:ext uri="{FF2B5EF4-FFF2-40B4-BE49-F238E27FC236}">
                <a16:creationId xmlns:a16="http://schemas.microsoft.com/office/drawing/2014/main" id="{21AC392E-B0D1-61CE-9F5C-3099FA8C1DEF}"/>
              </a:ext>
            </a:extLst>
          </p:cNvPr>
          <p:cNvPicPr>
            <a:picLocks noChangeAspect="1"/>
          </p:cNvPicPr>
          <p:nvPr/>
        </p:nvPicPr>
        <p:blipFill>
          <a:blip r:embed="rId3"/>
          <a:stretch>
            <a:fillRect/>
          </a:stretch>
        </p:blipFill>
        <p:spPr>
          <a:xfrm>
            <a:off x="-453212" y="-263954"/>
            <a:ext cx="1776568" cy="1245981"/>
          </a:xfrm>
          <a:prstGeom prst="rect">
            <a:avLst/>
          </a:prstGeom>
        </p:spPr>
      </p:pic>
      <p:sp>
        <p:nvSpPr>
          <p:cNvPr id="3" name="Text 1"/>
          <p:cNvSpPr/>
          <p:nvPr/>
        </p:nvSpPr>
        <p:spPr>
          <a:xfrm>
            <a:off x="1192376" y="-13619"/>
            <a:ext cx="10972800" cy="731520"/>
          </a:xfrm>
          <a:prstGeom prst="rect">
            <a:avLst/>
          </a:prstGeom>
          <a:noFill/>
          <a:ln/>
        </p:spPr>
        <p:txBody>
          <a:bodyPr wrap="square" lIns="0" tIns="0" rIns="0" bIns="0" rtlCol="0" anchor="ctr"/>
          <a:lstStyle/>
          <a:p>
            <a:r>
              <a:rPr lang="en-US" sz="3200" b="1" dirty="0">
                <a:solidFill>
                  <a:schemeClr val="bg1"/>
                </a:solidFill>
                <a:latin typeface="Calibri" pitchFamily="34" charset="0"/>
                <a:ea typeface="Calibri" pitchFamily="34" charset="-122"/>
                <a:cs typeface="Calibri" pitchFamily="34" charset="-120"/>
              </a:rPr>
              <a:t>COMPARISON TO ALL BASELINES</a:t>
            </a:r>
            <a:endParaRPr lang="en-US" sz="3200" dirty="0">
              <a:solidFill>
                <a:schemeClr val="bg1"/>
              </a:solidFill>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7" name="Image 0" descr="preencoded.png">
            <a:extLst>
              <a:ext uri="{FF2B5EF4-FFF2-40B4-BE49-F238E27FC236}">
                <a16:creationId xmlns:a16="http://schemas.microsoft.com/office/drawing/2014/main" id="{71980932-8472-BF1C-F416-04008536DCED}"/>
              </a:ext>
            </a:extLst>
          </p:cNvPr>
          <p:cNvPicPr>
            <a:picLocks noChangeAspect="1"/>
          </p:cNvPicPr>
          <p:nvPr/>
        </p:nvPicPr>
        <p:blipFill>
          <a:blip r:embed="rId3"/>
          <a:srcRect/>
          <a:stretch/>
        </p:blipFill>
        <p:spPr>
          <a:xfrm>
            <a:off x="7868" y="8176"/>
            <a:ext cx="12191928" cy="6857928"/>
          </a:xfrm>
          <a:prstGeom prst="rect">
            <a:avLst/>
          </a:prstGeom>
        </p:spPr>
      </p:pic>
      <p:graphicFrame>
        <p:nvGraphicFramePr>
          <p:cNvPr id="7" name="Table 0"/>
          <p:cNvGraphicFramePr>
            <a:graphicFrameLocks noGrp="1"/>
          </p:cNvGraphicFramePr>
          <p:nvPr>
            <p:extLst>
              <p:ext uri="{D42A27DB-BD31-4B8C-83A1-F6EECF244321}">
                <p14:modId xmlns:p14="http://schemas.microsoft.com/office/powerpoint/2010/main" val="3229585956"/>
              </p:ext>
            </p:extLst>
          </p:nvPr>
        </p:nvGraphicFramePr>
        <p:xfrm>
          <a:off x="7529815" y="1219200"/>
          <a:ext cx="4296424" cy="2286000"/>
        </p:xfrm>
        <a:graphic>
          <a:graphicData uri="http://schemas.openxmlformats.org/drawingml/2006/table">
            <a:tbl>
              <a:tblPr/>
              <a:tblGrid>
                <a:gridCol w="1851252">
                  <a:extLst>
                    <a:ext uri="{9D8B030D-6E8A-4147-A177-3AD203B41FA5}">
                      <a16:colId xmlns:a16="http://schemas.microsoft.com/office/drawing/2014/main" val="20000"/>
                    </a:ext>
                  </a:extLst>
                </a:gridCol>
                <a:gridCol w="872066">
                  <a:extLst>
                    <a:ext uri="{9D8B030D-6E8A-4147-A177-3AD203B41FA5}">
                      <a16:colId xmlns:a16="http://schemas.microsoft.com/office/drawing/2014/main" val="20001"/>
                    </a:ext>
                  </a:extLst>
                </a:gridCol>
                <a:gridCol w="846019">
                  <a:extLst>
                    <a:ext uri="{9D8B030D-6E8A-4147-A177-3AD203B41FA5}">
                      <a16:colId xmlns:a16="http://schemas.microsoft.com/office/drawing/2014/main" val="20002"/>
                    </a:ext>
                  </a:extLst>
                </a:gridCol>
                <a:gridCol w="727087">
                  <a:extLst>
                    <a:ext uri="{9D8B030D-6E8A-4147-A177-3AD203B41FA5}">
                      <a16:colId xmlns:a16="http://schemas.microsoft.com/office/drawing/2014/main" val="20003"/>
                    </a:ext>
                  </a:extLst>
                </a:gridCol>
              </a:tblGrid>
              <a:tr h="568960">
                <a:tc>
                  <a:txBody>
                    <a:bodyPr/>
                    <a:lstStyle/>
                    <a:p>
                      <a:pPr marL="0" indent="0" algn="ctr">
                        <a:buNone/>
                      </a:pPr>
                      <a:r>
                        <a:rPr lang="en-US" sz="1500" b="1" dirty="0">
                          <a:solidFill>
                            <a:srgbClr val="FFFFFF"/>
                          </a:solidFill>
                          <a:latin typeface="Calibri" pitchFamily="34" charset="0"/>
                          <a:ea typeface="Calibri" pitchFamily="34" charset="-122"/>
                          <a:cs typeface="Calibri" pitchFamily="34" charset="-120"/>
                        </a:rPr>
                        <a:t>Model</a:t>
                      </a:r>
                      <a:endParaRPr lang="en-US" sz="1500" dirty="0">
                        <a:latin typeface="Calibri" charset="0"/>
                        <a:ea typeface="Calibri" charset="0"/>
                        <a:cs typeface="Calibri" charset="0"/>
                      </a:endParaRPr>
                    </a:p>
                  </a:txBody>
                  <a:tcPr marL="121920" marR="121920" marT="60960" marB="60960" anchor="ctr">
                    <a:lnL w="6350" cap="flat" cmpd="sng" algn="ctr">
                      <a:solidFill>
                        <a:srgbClr val="DDE3ED"/>
                      </a:solidFill>
                      <a:prstDash val="solid"/>
                      <a:round/>
                      <a:headEnd type="none" w="med" len="med"/>
                      <a:tailEnd type="none" w="med" len="med"/>
                    </a:lnL>
                    <a:lnR w="6350" cap="flat" cmpd="sng" algn="ctr">
                      <a:solidFill>
                        <a:srgbClr val="DDE3ED"/>
                      </a:solidFill>
                      <a:prstDash val="solid"/>
                      <a:round/>
                      <a:headEnd type="none" w="med" len="med"/>
                      <a:tailEnd type="none" w="med" len="med"/>
                    </a:lnR>
                    <a:lnT w="6350" cap="flat" cmpd="sng" algn="ctr">
                      <a:solidFill>
                        <a:srgbClr val="DDE3ED"/>
                      </a:solidFill>
                      <a:prstDash val="solid"/>
                      <a:round/>
                      <a:headEnd type="none" w="med" len="med"/>
                      <a:tailEnd type="none" w="med" len="med"/>
                    </a:lnT>
                    <a:lnB w="6350" cap="flat" cmpd="sng" algn="ctr">
                      <a:solidFill>
                        <a:srgbClr val="DDE3ED"/>
                      </a:solidFill>
                      <a:prstDash val="solid"/>
                      <a:round/>
                      <a:headEnd type="none" w="med" len="med"/>
                      <a:tailEnd type="none" w="med" len="med"/>
                    </a:lnB>
                    <a:solidFill>
                      <a:srgbClr val="0A1F44"/>
                    </a:solidFill>
                  </a:tcPr>
                </a:tc>
                <a:tc>
                  <a:txBody>
                    <a:bodyPr/>
                    <a:lstStyle/>
                    <a:p>
                      <a:pPr marL="0" indent="0" algn="ctr">
                        <a:buNone/>
                      </a:pPr>
                      <a:r>
                        <a:rPr lang="en-US" sz="1500" b="1" dirty="0">
                          <a:solidFill>
                            <a:srgbClr val="FFFFFF"/>
                          </a:solidFill>
                          <a:latin typeface="Calibri" pitchFamily="34" charset="0"/>
                          <a:ea typeface="Calibri" pitchFamily="34" charset="-122"/>
                          <a:cs typeface="Calibri" pitchFamily="34" charset="-120"/>
                        </a:rPr>
                        <a:t>+5s F1</a:t>
                      </a:r>
                      <a:endParaRPr lang="en-US" sz="1500" dirty="0">
                        <a:latin typeface="Calibri" charset="0"/>
                        <a:ea typeface="Calibri" charset="0"/>
                        <a:cs typeface="Calibri" charset="0"/>
                      </a:endParaRPr>
                    </a:p>
                  </a:txBody>
                  <a:tcPr marL="121920" marR="121920" marT="60960" marB="60960" anchor="ctr">
                    <a:lnL w="6350" cap="flat" cmpd="sng" algn="ctr">
                      <a:solidFill>
                        <a:srgbClr val="DDE3ED"/>
                      </a:solidFill>
                      <a:prstDash val="solid"/>
                      <a:round/>
                      <a:headEnd type="none" w="med" len="med"/>
                      <a:tailEnd type="none" w="med" len="med"/>
                    </a:lnL>
                    <a:lnR w="6350" cap="flat" cmpd="sng" algn="ctr">
                      <a:solidFill>
                        <a:srgbClr val="DDE3ED"/>
                      </a:solidFill>
                      <a:prstDash val="solid"/>
                      <a:round/>
                      <a:headEnd type="none" w="med" len="med"/>
                      <a:tailEnd type="none" w="med" len="med"/>
                    </a:lnR>
                    <a:lnT w="6350" cap="flat" cmpd="sng" algn="ctr">
                      <a:solidFill>
                        <a:srgbClr val="DDE3ED"/>
                      </a:solidFill>
                      <a:prstDash val="solid"/>
                      <a:round/>
                      <a:headEnd type="none" w="med" len="med"/>
                      <a:tailEnd type="none" w="med" len="med"/>
                    </a:lnT>
                    <a:lnB w="6350" cap="flat" cmpd="sng" algn="ctr">
                      <a:solidFill>
                        <a:srgbClr val="DDE3ED"/>
                      </a:solidFill>
                      <a:prstDash val="solid"/>
                      <a:round/>
                      <a:headEnd type="none" w="med" len="med"/>
                      <a:tailEnd type="none" w="med" len="med"/>
                    </a:lnB>
                    <a:solidFill>
                      <a:srgbClr val="0A1F44"/>
                    </a:solidFill>
                  </a:tcPr>
                </a:tc>
                <a:tc>
                  <a:txBody>
                    <a:bodyPr/>
                    <a:lstStyle/>
                    <a:p>
                      <a:pPr marL="0" indent="0" algn="ctr">
                        <a:buNone/>
                      </a:pPr>
                      <a:r>
                        <a:rPr lang="en-US" sz="1500" b="1" dirty="0">
                          <a:solidFill>
                            <a:srgbClr val="FFFFFF"/>
                          </a:solidFill>
                          <a:latin typeface="Calibri" pitchFamily="34" charset="0"/>
                          <a:ea typeface="Calibri" pitchFamily="34" charset="-122"/>
                          <a:cs typeface="Calibri" pitchFamily="34" charset="-120"/>
                        </a:rPr>
                        <a:t>+15s F1</a:t>
                      </a:r>
                      <a:endParaRPr lang="en-US" sz="1500" dirty="0">
                        <a:latin typeface="Calibri" charset="0"/>
                        <a:ea typeface="Calibri" charset="0"/>
                        <a:cs typeface="Calibri" charset="0"/>
                      </a:endParaRPr>
                    </a:p>
                  </a:txBody>
                  <a:tcPr marL="121920" marR="121920" marT="60960" marB="60960" anchor="ctr">
                    <a:lnL w="6350" cap="flat" cmpd="sng" algn="ctr">
                      <a:solidFill>
                        <a:srgbClr val="DDE3ED"/>
                      </a:solidFill>
                      <a:prstDash val="solid"/>
                      <a:round/>
                      <a:headEnd type="none" w="med" len="med"/>
                      <a:tailEnd type="none" w="med" len="med"/>
                    </a:lnL>
                    <a:lnR w="6350" cap="flat" cmpd="sng" algn="ctr">
                      <a:solidFill>
                        <a:srgbClr val="DDE3ED"/>
                      </a:solidFill>
                      <a:prstDash val="solid"/>
                      <a:round/>
                      <a:headEnd type="none" w="med" len="med"/>
                      <a:tailEnd type="none" w="med" len="med"/>
                    </a:lnR>
                    <a:lnT w="6350" cap="flat" cmpd="sng" algn="ctr">
                      <a:solidFill>
                        <a:srgbClr val="DDE3ED"/>
                      </a:solidFill>
                      <a:prstDash val="solid"/>
                      <a:round/>
                      <a:headEnd type="none" w="med" len="med"/>
                      <a:tailEnd type="none" w="med" len="med"/>
                    </a:lnT>
                    <a:lnB w="6350" cap="flat" cmpd="sng" algn="ctr">
                      <a:solidFill>
                        <a:srgbClr val="DDE3ED"/>
                      </a:solidFill>
                      <a:prstDash val="solid"/>
                      <a:round/>
                      <a:headEnd type="none" w="med" len="med"/>
                      <a:tailEnd type="none" w="med" len="med"/>
                    </a:lnB>
                    <a:solidFill>
                      <a:srgbClr val="0A1F44"/>
                    </a:solidFill>
                  </a:tcPr>
                </a:tc>
                <a:tc>
                  <a:txBody>
                    <a:bodyPr/>
                    <a:lstStyle/>
                    <a:p>
                      <a:pPr marL="0" indent="0" algn="ctr">
                        <a:buNone/>
                      </a:pPr>
                      <a:r>
                        <a:rPr lang="en-US" sz="1500" b="1" dirty="0">
                          <a:solidFill>
                            <a:srgbClr val="FFFFFF"/>
                          </a:solidFill>
                          <a:latin typeface="Calibri" pitchFamily="34" charset="0"/>
                          <a:ea typeface="Calibri" pitchFamily="34" charset="-122"/>
                          <a:cs typeface="Calibri" pitchFamily="34" charset="-120"/>
                        </a:rPr>
                        <a:t>+30s F1</a:t>
                      </a:r>
                      <a:endParaRPr lang="en-US" sz="1500" dirty="0">
                        <a:latin typeface="Calibri" charset="0"/>
                        <a:ea typeface="Calibri" charset="0"/>
                        <a:cs typeface="Calibri" charset="0"/>
                      </a:endParaRPr>
                    </a:p>
                  </a:txBody>
                  <a:tcPr marL="121920" marR="121920" marT="60960" marB="60960" anchor="ctr">
                    <a:lnL w="6350" cap="flat" cmpd="sng" algn="ctr">
                      <a:solidFill>
                        <a:srgbClr val="DDE3ED"/>
                      </a:solidFill>
                      <a:prstDash val="solid"/>
                      <a:round/>
                      <a:headEnd type="none" w="med" len="med"/>
                      <a:tailEnd type="none" w="med" len="med"/>
                    </a:lnL>
                    <a:lnR w="6350" cap="flat" cmpd="sng" algn="ctr">
                      <a:solidFill>
                        <a:srgbClr val="DDE3ED"/>
                      </a:solidFill>
                      <a:prstDash val="solid"/>
                      <a:round/>
                      <a:headEnd type="none" w="med" len="med"/>
                      <a:tailEnd type="none" w="med" len="med"/>
                    </a:lnR>
                    <a:lnT w="6350" cap="flat" cmpd="sng" algn="ctr">
                      <a:solidFill>
                        <a:srgbClr val="DDE3ED"/>
                      </a:solidFill>
                      <a:prstDash val="solid"/>
                      <a:round/>
                      <a:headEnd type="none" w="med" len="med"/>
                      <a:tailEnd type="none" w="med" len="med"/>
                    </a:lnT>
                    <a:lnB w="6350" cap="flat" cmpd="sng" algn="ctr">
                      <a:solidFill>
                        <a:srgbClr val="DDE3ED"/>
                      </a:solidFill>
                      <a:prstDash val="solid"/>
                      <a:round/>
                      <a:headEnd type="none" w="med" len="med"/>
                      <a:tailEnd type="none" w="med" len="med"/>
                    </a:lnB>
                    <a:solidFill>
                      <a:srgbClr val="0A1F44"/>
                    </a:solidFill>
                  </a:tcPr>
                </a:tc>
                <a:extLst>
                  <a:ext uri="{0D108BD9-81ED-4DB2-BD59-A6C34878D82A}">
                    <a16:rowId xmlns:a16="http://schemas.microsoft.com/office/drawing/2014/main" val="10000"/>
                  </a:ext>
                </a:extLst>
              </a:tr>
              <a:tr h="568960">
                <a:tc>
                  <a:txBody>
                    <a:bodyPr/>
                    <a:lstStyle/>
                    <a:p>
                      <a:pPr marL="0" indent="0" algn="ctr">
                        <a:buNone/>
                      </a:pPr>
                      <a:r>
                        <a:rPr lang="en-US" sz="1500" dirty="0">
                          <a:solidFill>
                            <a:srgbClr val="000000"/>
                          </a:solidFill>
                          <a:latin typeface="Calibri" pitchFamily="34" charset="0"/>
                          <a:ea typeface="Calibri" pitchFamily="34" charset="-122"/>
                          <a:cs typeface="Calibri" pitchFamily="34" charset="-120"/>
                        </a:rPr>
                        <a:t>Transformer-only</a:t>
                      </a:r>
                      <a:endParaRPr lang="en-US" sz="1500" dirty="0">
                        <a:latin typeface="Calibri" charset="0"/>
                        <a:ea typeface="Calibri" charset="0"/>
                        <a:cs typeface="Calibri" charset="0"/>
                      </a:endParaRPr>
                    </a:p>
                  </a:txBody>
                  <a:tcPr marL="121920" marR="121920" marT="60960" marB="60960" anchor="ctr">
                    <a:lnL w="6350" cap="flat" cmpd="sng" algn="ctr">
                      <a:solidFill>
                        <a:srgbClr val="DDE3ED"/>
                      </a:solidFill>
                      <a:prstDash val="solid"/>
                      <a:round/>
                      <a:headEnd type="none" w="med" len="med"/>
                      <a:tailEnd type="none" w="med" len="med"/>
                    </a:lnL>
                    <a:lnR w="6350" cap="flat" cmpd="sng" algn="ctr">
                      <a:solidFill>
                        <a:srgbClr val="DDE3ED"/>
                      </a:solidFill>
                      <a:prstDash val="solid"/>
                      <a:round/>
                      <a:headEnd type="none" w="med" len="med"/>
                      <a:tailEnd type="none" w="med" len="med"/>
                    </a:lnR>
                    <a:lnT w="6350" cap="flat" cmpd="sng" algn="ctr">
                      <a:solidFill>
                        <a:srgbClr val="DDE3ED"/>
                      </a:solidFill>
                      <a:prstDash val="solid"/>
                      <a:round/>
                      <a:headEnd type="none" w="med" len="med"/>
                      <a:tailEnd type="none" w="med" len="med"/>
                    </a:lnT>
                    <a:lnB w="6350" cap="flat" cmpd="sng" algn="ctr">
                      <a:solidFill>
                        <a:srgbClr val="DDE3ED"/>
                      </a:solidFill>
                      <a:prstDash val="solid"/>
                      <a:round/>
                      <a:headEnd type="none" w="med" len="med"/>
                      <a:tailEnd type="none" w="med" len="med"/>
                    </a:lnB>
                  </a:tcPr>
                </a:tc>
                <a:tc>
                  <a:txBody>
                    <a:bodyPr/>
                    <a:lstStyle/>
                    <a:p>
                      <a:pPr marL="0" indent="0" algn="ctr">
                        <a:buNone/>
                      </a:pPr>
                      <a:r>
                        <a:rPr lang="en-US" sz="1500" dirty="0">
                          <a:solidFill>
                            <a:srgbClr val="000000"/>
                          </a:solidFill>
                          <a:latin typeface="Calibri" pitchFamily="34" charset="0"/>
                          <a:ea typeface="Calibri" pitchFamily="34" charset="-122"/>
                          <a:cs typeface="Calibri" pitchFamily="34" charset="-120"/>
                        </a:rPr>
                        <a:t>0.767</a:t>
                      </a:r>
                      <a:endParaRPr lang="en-US" sz="1500" dirty="0">
                        <a:latin typeface="Calibri" charset="0"/>
                        <a:ea typeface="Calibri" charset="0"/>
                        <a:cs typeface="Calibri" charset="0"/>
                      </a:endParaRPr>
                    </a:p>
                  </a:txBody>
                  <a:tcPr marL="121920" marR="121920" marT="60960" marB="60960" anchor="ctr">
                    <a:lnL w="6350" cap="flat" cmpd="sng" algn="ctr">
                      <a:solidFill>
                        <a:srgbClr val="DDE3ED"/>
                      </a:solidFill>
                      <a:prstDash val="solid"/>
                      <a:round/>
                      <a:headEnd type="none" w="med" len="med"/>
                      <a:tailEnd type="none" w="med" len="med"/>
                    </a:lnL>
                    <a:lnR w="6350" cap="flat" cmpd="sng" algn="ctr">
                      <a:solidFill>
                        <a:srgbClr val="DDE3ED"/>
                      </a:solidFill>
                      <a:prstDash val="solid"/>
                      <a:round/>
                      <a:headEnd type="none" w="med" len="med"/>
                      <a:tailEnd type="none" w="med" len="med"/>
                    </a:lnR>
                    <a:lnT w="6350" cap="flat" cmpd="sng" algn="ctr">
                      <a:solidFill>
                        <a:srgbClr val="DDE3ED"/>
                      </a:solidFill>
                      <a:prstDash val="solid"/>
                      <a:round/>
                      <a:headEnd type="none" w="med" len="med"/>
                      <a:tailEnd type="none" w="med" len="med"/>
                    </a:lnT>
                    <a:lnB w="6350" cap="flat" cmpd="sng" algn="ctr">
                      <a:solidFill>
                        <a:srgbClr val="DDE3ED"/>
                      </a:solidFill>
                      <a:prstDash val="solid"/>
                      <a:round/>
                      <a:headEnd type="none" w="med" len="med"/>
                      <a:tailEnd type="none" w="med" len="med"/>
                    </a:lnB>
                  </a:tcPr>
                </a:tc>
                <a:tc>
                  <a:txBody>
                    <a:bodyPr/>
                    <a:lstStyle/>
                    <a:p>
                      <a:pPr marL="0" indent="0" algn="ctr">
                        <a:buNone/>
                      </a:pPr>
                      <a:r>
                        <a:rPr lang="en-US" sz="1500" dirty="0">
                          <a:solidFill>
                            <a:srgbClr val="000000"/>
                          </a:solidFill>
                          <a:latin typeface="Calibri" pitchFamily="34" charset="0"/>
                          <a:ea typeface="Calibri" pitchFamily="34" charset="-122"/>
                          <a:cs typeface="Calibri" pitchFamily="34" charset="-120"/>
                        </a:rPr>
                        <a:t>0.763</a:t>
                      </a:r>
                      <a:endParaRPr lang="en-US" sz="1500" dirty="0">
                        <a:latin typeface="Calibri" charset="0"/>
                        <a:ea typeface="Calibri" charset="0"/>
                        <a:cs typeface="Calibri" charset="0"/>
                      </a:endParaRPr>
                    </a:p>
                  </a:txBody>
                  <a:tcPr marL="121920" marR="121920" marT="60960" marB="60960" anchor="ctr">
                    <a:lnL w="6350" cap="flat" cmpd="sng" algn="ctr">
                      <a:solidFill>
                        <a:srgbClr val="DDE3ED"/>
                      </a:solidFill>
                      <a:prstDash val="solid"/>
                      <a:round/>
                      <a:headEnd type="none" w="med" len="med"/>
                      <a:tailEnd type="none" w="med" len="med"/>
                    </a:lnL>
                    <a:lnR w="6350" cap="flat" cmpd="sng" algn="ctr">
                      <a:solidFill>
                        <a:srgbClr val="DDE3ED"/>
                      </a:solidFill>
                      <a:prstDash val="solid"/>
                      <a:round/>
                      <a:headEnd type="none" w="med" len="med"/>
                      <a:tailEnd type="none" w="med" len="med"/>
                    </a:lnR>
                    <a:lnT w="6350" cap="flat" cmpd="sng" algn="ctr">
                      <a:solidFill>
                        <a:srgbClr val="DDE3ED"/>
                      </a:solidFill>
                      <a:prstDash val="solid"/>
                      <a:round/>
                      <a:headEnd type="none" w="med" len="med"/>
                      <a:tailEnd type="none" w="med" len="med"/>
                    </a:lnT>
                    <a:lnB w="6350" cap="flat" cmpd="sng" algn="ctr">
                      <a:solidFill>
                        <a:srgbClr val="DDE3ED"/>
                      </a:solidFill>
                      <a:prstDash val="solid"/>
                      <a:round/>
                      <a:headEnd type="none" w="med" len="med"/>
                      <a:tailEnd type="none" w="med" len="med"/>
                    </a:lnB>
                  </a:tcPr>
                </a:tc>
                <a:tc>
                  <a:txBody>
                    <a:bodyPr/>
                    <a:lstStyle/>
                    <a:p>
                      <a:pPr marL="0" indent="0" algn="ctr">
                        <a:buNone/>
                      </a:pPr>
                      <a:r>
                        <a:rPr lang="en-US" sz="1500" dirty="0">
                          <a:solidFill>
                            <a:srgbClr val="000000"/>
                          </a:solidFill>
                          <a:latin typeface="Calibri" pitchFamily="34" charset="0"/>
                          <a:ea typeface="Calibri" pitchFamily="34" charset="-122"/>
                          <a:cs typeface="Calibri" pitchFamily="34" charset="-120"/>
                        </a:rPr>
                        <a:t>0.701</a:t>
                      </a:r>
                      <a:endParaRPr lang="en-US" sz="1500" dirty="0">
                        <a:latin typeface="Calibri" charset="0"/>
                        <a:ea typeface="Calibri" charset="0"/>
                        <a:cs typeface="Calibri" charset="0"/>
                      </a:endParaRPr>
                    </a:p>
                  </a:txBody>
                  <a:tcPr marL="121920" marR="121920" marT="60960" marB="60960" anchor="ctr">
                    <a:lnL w="6350" cap="flat" cmpd="sng" algn="ctr">
                      <a:solidFill>
                        <a:srgbClr val="DDE3ED"/>
                      </a:solidFill>
                      <a:prstDash val="solid"/>
                      <a:round/>
                      <a:headEnd type="none" w="med" len="med"/>
                      <a:tailEnd type="none" w="med" len="med"/>
                    </a:lnL>
                    <a:lnR w="6350" cap="flat" cmpd="sng" algn="ctr">
                      <a:solidFill>
                        <a:srgbClr val="DDE3ED"/>
                      </a:solidFill>
                      <a:prstDash val="solid"/>
                      <a:round/>
                      <a:headEnd type="none" w="med" len="med"/>
                      <a:tailEnd type="none" w="med" len="med"/>
                    </a:lnR>
                    <a:lnT w="6350" cap="flat" cmpd="sng" algn="ctr">
                      <a:solidFill>
                        <a:srgbClr val="DDE3ED"/>
                      </a:solidFill>
                      <a:prstDash val="solid"/>
                      <a:round/>
                      <a:headEnd type="none" w="med" len="med"/>
                      <a:tailEnd type="none" w="med" len="med"/>
                    </a:lnT>
                    <a:lnB w="6350" cap="flat" cmpd="sng" algn="ctr">
                      <a:solidFill>
                        <a:srgbClr val="DDE3ED"/>
                      </a:solidFill>
                      <a:prstDash val="solid"/>
                      <a:round/>
                      <a:headEnd type="none" w="med" len="med"/>
                      <a:tailEnd type="none" w="med" len="med"/>
                    </a:lnB>
                  </a:tcPr>
                </a:tc>
                <a:extLst>
                  <a:ext uri="{0D108BD9-81ED-4DB2-BD59-A6C34878D82A}">
                    <a16:rowId xmlns:a16="http://schemas.microsoft.com/office/drawing/2014/main" val="10001"/>
                  </a:ext>
                </a:extLst>
              </a:tr>
              <a:tr h="568960">
                <a:tc>
                  <a:txBody>
                    <a:bodyPr/>
                    <a:lstStyle/>
                    <a:p>
                      <a:pPr marL="0" indent="0" algn="ctr">
                        <a:buNone/>
                      </a:pPr>
                      <a:r>
                        <a:rPr lang="en-US" sz="1500" dirty="0">
                          <a:solidFill>
                            <a:srgbClr val="000000"/>
                          </a:solidFill>
                          <a:latin typeface="Calibri" pitchFamily="34" charset="0"/>
                          <a:ea typeface="Calibri" pitchFamily="34" charset="-122"/>
                          <a:cs typeface="Calibri" pitchFamily="34" charset="-120"/>
                        </a:rPr>
                        <a:t>LSTM-only</a:t>
                      </a:r>
                      <a:endParaRPr lang="en-US" sz="1500" dirty="0">
                        <a:latin typeface="Calibri" charset="0"/>
                        <a:ea typeface="Calibri" charset="0"/>
                        <a:cs typeface="Calibri" charset="0"/>
                      </a:endParaRPr>
                    </a:p>
                  </a:txBody>
                  <a:tcPr marL="121920" marR="121920" marT="60960" marB="60960" anchor="ctr">
                    <a:lnL w="6350" cap="flat" cmpd="sng" algn="ctr">
                      <a:solidFill>
                        <a:srgbClr val="DDE3ED"/>
                      </a:solidFill>
                      <a:prstDash val="solid"/>
                      <a:round/>
                      <a:headEnd type="none" w="med" len="med"/>
                      <a:tailEnd type="none" w="med" len="med"/>
                    </a:lnL>
                    <a:lnR w="6350" cap="flat" cmpd="sng" algn="ctr">
                      <a:solidFill>
                        <a:srgbClr val="DDE3ED"/>
                      </a:solidFill>
                      <a:prstDash val="solid"/>
                      <a:round/>
                      <a:headEnd type="none" w="med" len="med"/>
                      <a:tailEnd type="none" w="med" len="med"/>
                    </a:lnR>
                    <a:lnT w="6350" cap="flat" cmpd="sng" algn="ctr">
                      <a:solidFill>
                        <a:srgbClr val="DDE3ED"/>
                      </a:solidFill>
                      <a:prstDash val="solid"/>
                      <a:round/>
                      <a:headEnd type="none" w="med" len="med"/>
                      <a:tailEnd type="none" w="med" len="med"/>
                    </a:lnT>
                    <a:lnB w="6350" cap="flat" cmpd="sng" algn="ctr">
                      <a:solidFill>
                        <a:srgbClr val="DDE3ED"/>
                      </a:solidFill>
                      <a:prstDash val="solid"/>
                      <a:round/>
                      <a:headEnd type="none" w="med" len="med"/>
                      <a:tailEnd type="none" w="med" len="med"/>
                    </a:lnB>
                  </a:tcPr>
                </a:tc>
                <a:tc>
                  <a:txBody>
                    <a:bodyPr/>
                    <a:lstStyle/>
                    <a:p>
                      <a:pPr marL="0" indent="0" algn="ctr">
                        <a:buNone/>
                      </a:pPr>
                      <a:r>
                        <a:rPr lang="en-US" sz="1500" dirty="0">
                          <a:solidFill>
                            <a:srgbClr val="000000"/>
                          </a:solidFill>
                          <a:latin typeface="Calibri" pitchFamily="34" charset="0"/>
                          <a:ea typeface="Calibri" pitchFamily="34" charset="-122"/>
                          <a:cs typeface="Calibri" pitchFamily="34" charset="-120"/>
                        </a:rPr>
                        <a:t>0.767</a:t>
                      </a:r>
                      <a:endParaRPr lang="en-US" sz="1500" dirty="0">
                        <a:latin typeface="Calibri" charset="0"/>
                        <a:ea typeface="Calibri" charset="0"/>
                        <a:cs typeface="Calibri" charset="0"/>
                      </a:endParaRPr>
                    </a:p>
                  </a:txBody>
                  <a:tcPr marL="121920" marR="121920" marT="60960" marB="60960" anchor="ctr">
                    <a:lnL w="6350" cap="flat" cmpd="sng" algn="ctr">
                      <a:solidFill>
                        <a:srgbClr val="DDE3ED"/>
                      </a:solidFill>
                      <a:prstDash val="solid"/>
                      <a:round/>
                      <a:headEnd type="none" w="med" len="med"/>
                      <a:tailEnd type="none" w="med" len="med"/>
                    </a:lnL>
                    <a:lnR w="6350" cap="flat" cmpd="sng" algn="ctr">
                      <a:solidFill>
                        <a:srgbClr val="DDE3ED"/>
                      </a:solidFill>
                      <a:prstDash val="solid"/>
                      <a:round/>
                      <a:headEnd type="none" w="med" len="med"/>
                      <a:tailEnd type="none" w="med" len="med"/>
                    </a:lnR>
                    <a:lnT w="6350" cap="flat" cmpd="sng" algn="ctr">
                      <a:solidFill>
                        <a:srgbClr val="DDE3ED"/>
                      </a:solidFill>
                      <a:prstDash val="solid"/>
                      <a:round/>
                      <a:headEnd type="none" w="med" len="med"/>
                      <a:tailEnd type="none" w="med" len="med"/>
                    </a:lnT>
                    <a:lnB w="6350" cap="flat" cmpd="sng" algn="ctr">
                      <a:solidFill>
                        <a:srgbClr val="DDE3ED"/>
                      </a:solidFill>
                      <a:prstDash val="solid"/>
                      <a:round/>
                      <a:headEnd type="none" w="med" len="med"/>
                      <a:tailEnd type="none" w="med" len="med"/>
                    </a:lnB>
                  </a:tcPr>
                </a:tc>
                <a:tc>
                  <a:txBody>
                    <a:bodyPr/>
                    <a:lstStyle/>
                    <a:p>
                      <a:pPr marL="0" indent="0" algn="ctr">
                        <a:buNone/>
                      </a:pPr>
                      <a:r>
                        <a:rPr lang="en-US" sz="1500" dirty="0">
                          <a:solidFill>
                            <a:srgbClr val="000000"/>
                          </a:solidFill>
                          <a:latin typeface="Calibri" pitchFamily="34" charset="0"/>
                          <a:ea typeface="Calibri" pitchFamily="34" charset="-122"/>
                          <a:cs typeface="Calibri" pitchFamily="34" charset="-120"/>
                        </a:rPr>
                        <a:t>0.751</a:t>
                      </a:r>
                      <a:endParaRPr lang="en-US" sz="1500" dirty="0">
                        <a:latin typeface="Calibri" charset="0"/>
                        <a:ea typeface="Calibri" charset="0"/>
                        <a:cs typeface="Calibri" charset="0"/>
                      </a:endParaRPr>
                    </a:p>
                  </a:txBody>
                  <a:tcPr marL="121920" marR="121920" marT="60960" marB="60960" anchor="ctr">
                    <a:lnL w="6350" cap="flat" cmpd="sng" algn="ctr">
                      <a:solidFill>
                        <a:srgbClr val="DDE3ED"/>
                      </a:solidFill>
                      <a:prstDash val="solid"/>
                      <a:round/>
                      <a:headEnd type="none" w="med" len="med"/>
                      <a:tailEnd type="none" w="med" len="med"/>
                    </a:lnL>
                    <a:lnR w="6350" cap="flat" cmpd="sng" algn="ctr">
                      <a:solidFill>
                        <a:srgbClr val="DDE3ED"/>
                      </a:solidFill>
                      <a:prstDash val="solid"/>
                      <a:round/>
                      <a:headEnd type="none" w="med" len="med"/>
                      <a:tailEnd type="none" w="med" len="med"/>
                    </a:lnR>
                    <a:lnT w="6350" cap="flat" cmpd="sng" algn="ctr">
                      <a:solidFill>
                        <a:srgbClr val="DDE3ED"/>
                      </a:solidFill>
                      <a:prstDash val="solid"/>
                      <a:round/>
                      <a:headEnd type="none" w="med" len="med"/>
                      <a:tailEnd type="none" w="med" len="med"/>
                    </a:lnT>
                    <a:lnB w="6350" cap="flat" cmpd="sng" algn="ctr">
                      <a:solidFill>
                        <a:srgbClr val="DDE3ED"/>
                      </a:solidFill>
                      <a:prstDash val="solid"/>
                      <a:round/>
                      <a:headEnd type="none" w="med" len="med"/>
                      <a:tailEnd type="none" w="med" len="med"/>
                    </a:lnB>
                  </a:tcPr>
                </a:tc>
                <a:tc>
                  <a:txBody>
                    <a:bodyPr/>
                    <a:lstStyle/>
                    <a:p>
                      <a:pPr marL="0" indent="0" algn="ctr">
                        <a:buNone/>
                      </a:pPr>
                      <a:r>
                        <a:rPr lang="en-US" sz="1500" dirty="0">
                          <a:solidFill>
                            <a:srgbClr val="000000"/>
                          </a:solidFill>
                          <a:latin typeface="Calibri" pitchFamily="34" charset="0"/>
                          <a:ea typeface="Calibri" pitchFamily="34" charset="-122"/>
                          <a:cs typeface="Calibri" pitchFamily="34" charset="-120"/>
                        </a:rPr>
                        <a:t>0.781</a:t>
                      </a:r>
                      <a:endParaRPr lang="en-US" sz="1500" dirty="0">
                        <a:latin typeface="Calibri" charset="0"/>
                        <a:ea typeface="Calibri" charset="0"/>
                        <a:cs typeface="Calibri" charset="0"/>
                      </a:endParaRPr>
                    </a:p>
                  </a:txBody>
                  <a:tcPr marL="121920" marR="121920" marT="60960" marB="60960" anchor="ctr">
                    <a:lnL w="6350" cap="flat" cmpd="sng" algn="ctr">
                      <a:solidFill>
                        <a:srgbClr val="DDE3ED"/>
                      </a:solidFill>
                      <a:prstDash val="solid"/>
                      <a:round/>
                      <a:headEnd type="none" w="med" len="med"/>
                      <a:tailEnd type="none" w="med" len="med"/>
                    </a:lnL>
                    <a:lnR w="6350" cap="flat" cmpd="sng" algn="ctr">
                      <a:solidFill>
                        <a:srgbClr val="DDE3ED"/>
                      </a:solidFill>
                      <a:prstDash val="solid"/>
                      <a:round/>
                      <a:headEnd type="none" w="med" len="med"/>
                      <a:tailEnd type="none" w="med" len="med"/>
                    </a:lnR>
                    <a:lnT w="6350" cap="flat" cmpd="sng" algn="ctr">
                      <a:solidFill>
                        <a:srgbClr val="DDE3ED"/>
                      </a:solidFill>
                      <a:prstDash val="solid"/>
                      <a:round/>
                      <a:headEnd type="none" w="med" len="med"/>
                      <a:tailEnd type="none" w="med" len="med"/>
                    </a:lnT>
                    <a:lnB w="6350" cap="flat" cmpd="sng" algn="ctr">
                      <a:solidFill>
                        <a:srgbClr val="DDE3ED"/>
                      </a:solidFill>
                      <a:prstDash val="solid"/>
                      <a:round/>
                      <a:headEnd type="none" w="med" len="med"/>
                      <a:tailEnd type="none" w="med" len="med"/>
                    </a:lnB>
                  </a:tcPr>
                </a:tc>
                <a:extLst>
                  <a:ext uri="{0D108BD9-81ED-4DB2-BD59-A6C34878D82A}">
                    <a16:rowId xmlns:a16="http://schemas.microsoft.com/office/drawing/2014/main" val="10002"/>
                  </a:ext>
                </a:extLst>
              </a:tr>
              <a:tr h="568960">
                <a:tc>
                  <a:txBody>
                    <a:bodyPr/>
                    <a:lstStyle/>
                    <a:p>
                      <a:pPr marL="0" indent="0" algn="ctr">
                        <a:buNone/>
                      </a:pPr>
                      <a:r>
                        <a:rPr lang="en-US" sz="1500" b="1" dirty="0">
                          <a:solidFill>
                            <a:srgbClr val="C8102E"/>
                          </a:solidFill>
                          <a:latin typeface="Calibri" pitchFamily="34" charset="0"/>
                          <a:ea typeface="Calibri" pitchFamily="34" charset="-122"/>
                          <a:cs typeface="Calibri" pitchFamily="34" charset="-120"/>
                        </a:rPr>
                        <a:t>SENTINEL-GNSS</a:t>
                      </a:r>
                      <a:endParaRPr lang="en-US" sz="1500" dirty="0">
                        <a:latin typeface="Calibri" charset="0"/>
                        <a:ea typeface="Calibri" charset="0"/>
                        <a:cs typeface="Calibri" charset="0"/>
                      </a:endParaRPr>
                    </a:p>
                  </a:txBody>
                  <a:tcPr marL="121920" marR="121920" marT="60960" marB="60960" anchor="ctr">
                    <a:lnL w="6350" cap="flat" cmpd="sng" algn="ctr">
                      <a:solidFill>
                        <a:srgbClr val="DDE3ED"/>
                      </a:solidFill>
                      <a:prstDash val="solid"/>
                      <a:round/>
                      <a:headEnd type="none" w="med" len="med"/>
                      <a:tailEnd type="none" w="med" len="med"/>
                    </a:lnL>
                    <a:lnR w="6350" cap="flat" cmpd="sng" algn="ctr">
                      <a:solidFill>
                        <a:srgbClr val="DDE3ED"/>
                      </a:solidFill>
                      <a:prstDash val="solid"/>
                      <a:round/>
                      <a:headEnd type="none" w="med" len="med"/>
                      <a:tailEnd type="none" w="med" len="med"/>
                    </a:lnR>
                    <a:lnT w="6350" cap="flat" cmpd="sng" algn="ctr">
                      <a:solidFill>
                        <a:srgbClr val="DDE3ED"/>
                      </a:solidFill>
                      <a:prstDash val="solid"/>
                      <a:round/>
                      <a:headEnd type="none" w="med" len="med"/>
                      <a:tailEnd type="none" w="med" len="med"/>
                    </a:lnT>
                    <a:lnB w="6350" cap="flat" cmpd="sng" algn="ctr">
                      <a:solidFill>
                        <a:srgbClr val="DDE3ED"/>
                      </a:solidFill>
                      <a:prstDash val="solid"/>
                      <a:round/>
                      <a:headEnd type="none" w="med" len="med"/>
                      <a:tailEnd type="none" w="med" len="med"/>
                    </a:lnB>
                  </a:tcPr>
                </a:tc>
                <a:tc>
                  <a:txBody>
                    <a:bodyPr/>
                    <a:lstStyle/>
                    <a:p>
                      <a:pPr marL="0" indent="0" algn="ctr">
                        <a:buNone/>
                      </a:pPr>
                      <a:r>
                        <a:rPr lang="en-US" sz="1500" b="1" dirty="0">
                          <a:solidFill>
                            <a:srgbClr val="1DA462"/>
                          </a:solidFill>
                          <a:latin typeface="Calibri" pitchFamily="34" charset="0"/>
                          <a:ea typeface="Calibri" pitchFamily="34" charset="-122"/>
                          <a:cs typeface="Calibri" pitchFamily="34" charset="-120"/>
                        </a:rPr>
                        <a:t>0.821</a:t>
                      </a:r>
                      <a:endParaRPr lang="en-US" sz="1500" dirty="0">
                        <a:latin typeface="Calibri" charset="0"/>
                        <a:ea typeface="Calibri" charset="0"/>
                        <a:cs typeface="Calibri" charset="0"/>
                      </a:endParaRPr>
                    </a:p>
                  </a:txBody>
                  <a:tcPr marL="121920" marR="121920" marT="60960" marB="60960" anchor="ctr">
                    <a:lnL w="6350" cap="flat" cmpd="sng" algn="ctr">
                      <a:solidFill>
                        <a:srgbClr val="DDE3ED"/>
                      </a:solidFill>
                      <a:prstDash val="solid"/>
                      <a:round/>
                      <a:headEnd type="none" w="med" len="med"/>
                      <a:tailEnd type="none" w="med" len="med"/>
                    </a:lnL>
                    <a:lnR w="6350" cap="flat" cmpd="sng" algn="ctr">
                      <a:solidFill>
                        <a:srgbClr val="DDE3ED"/>
                      </a:solidFill>
                      <a:prstDash val="solid"/>
                      <a:round/>
                      <a:headEnd type="none" w="med" len="med"/>
                      <a:tailEnd type="none" w="med" len="med"/>
                    </a:lnR>
                    <a:lnT w="6350" cap="flat" cmpd="sng" algn="ctr">
                      <a:solidFill>
                        <a:srgbClr val="DDE3ED"/>
                      </a:solidFill>
                      <a:prstDash val="solid"/>
                      <a:round/>
                      <a:headEnd type="none" w="med" len="med"/>
                      <a:tailEnd type="none" w="med" len="med"/>
                    </a:lnT>
                    <a:lnB w="6350" cap="flat" cmpd="sng" algn="ctr">
                      <a:solidFill>
                        <a:srgbClr val="DDE3ED"/>
                      </a:solidFill>
                      <a:prstDash val="solid"/>
                      <a:round/>
                      <a:headEnd type="none" w="med" len="med"/>
                      <a:tailEnd type="none" w="med" len="med"/>
                    </a:lnB>
                  </a:tcPr>
                </a:tc>
                <a:tc>
                  <a:txBody>
                    <a:bodyPr/>
                    <a:lstStyle/>
                    <a:p>
                      <a:pPr marL="0" indent="0" algn="ctr">
                        <a:buNone/>
                      </a:pPr>
                      <a:r>
                        <a:rPr lang="en-US" sz="1500" b="1" dirty="0">
                          <a:solidFill>
                            <a:srgbClr val="000000"/>
                          </a:solidFill>
                          <a:latin typeface="Calibri" pitchFamily="34" charset="0"/>
                          <a:ea typeface="Calibri" pitchFamily="34" charset="-122"/>
                          <a:cs typeface="Calibri" pitchFamily="34" charset="-120"/>
                        </a:rPr>
                        <a:t>0.741</a:t>
                      </a:r>
                      <a:endParaRPr lang="en-US" sz="1500" dirty="0">
                        <a:latin typeface="Calibri" charset="0"/>
                        <a:ea typeface="Calibri" charset="0"/>
                        <a:cs typeface="Calibri" charset="0"/>
                      </a:endParaRPr>
                    </a:p>
                  </a:txBody>
                  <a:tcPr marL="121920" marR="121920" marT="60960" marB="60960" anchor="ctr">
                    <a:lnL w="6350" cap="flat" cmpd="sng" algn="ctr">
                      <a:solidFill>
                        <a:srgbClr val="DDE3ED"/>
                      </a:solidFill>
                      <a:prstDash val="solid"/>
                      <a:round/>
                      <a:headEnd type="none" w="med" len="med"/>
                      <a:tailEnd type="none" w="med" len="med"/>
                    </a:lnL>
                    <a:lnR w="6350" cap="flat" cmpd="sng" algn="ctr">
                      <a:solidFill>
                        <a:srgbClr val="DDE3ED"/>
                      </a:solidFill>
                      <a:prstDash val="solid"/>
                      <a:round/>
                      <a:headEnd type="none" w="med" len="med"/>
                      <a:tailEnd type="none" w="med" len="med"/>
                    </a:lnR>
                    <a:lnT w="6350" cap="flat" cmpd="sng" algn="ctr">
                      <a:solidFill>
                        <a:srgbClr val="DDE3ED"/>
                      </a:solidFill>
                      <a:prstDash val="solid"/>
                      <a:round/>
                      <a:headEnd type="none" w="med" len="med"/>
                      <a:tailEnd type="none" w="med" len="med"/>
                    </a:lnT>
                    <a:lnB w="6350" cap="flat" cmpd="sng" algn="ctr">
                      <a:solidFill>
                        <a:srgbClr val="DDE3ED"/>
                      </a:solidFill>
                      <a:prstDash val="solid"/>
                      <a:round/>
                      <a:headEnd type="none" w="med" len="med"/>
                      <a:tailEnd type="none" w="med" len="med"/>
                    </a:lnB>
                  </a:tcPr>
                </a:tc>
                <a:tc>
                  <a:txBody>
                    <a:bodyPr/>
                    <a:lstStyle/>
                    <a:p>
                      <a:pPr marL="0" indent="0" algn="ctr">
                        <a:buNone/>
                      </a:pPr>
                      <a:r>
                        <a:rPr lang="en-US" sz="1500" b="1" dirty="0">
                          <a:solidFill>
                            <a:srgbClr val="1DA462"/>
                          </a:solidFill>
                          <a:latin typeface="Calibri" pitchFamily="34" charset="0"/>
                          <a:ea typeface="Calibri" pitchFamily="34" charset="-122"/>
                          <a:cs typeface="Calibri" pitchFamily="34" charset="-120"/>
                        </a:rPr>
                        <a:t>0.783</a:t>
                      </a:r>
                      <a:endParaRPr lang="en-US" sz="1500" dirty="0">
                        <a:latin typeface="Calibri" charset="0"/>
                        <a:ea typeface="Calibri" charset="0"/>
                        <a:cs typeface="Calibri" charset="0"/>
                      </a:endParaRPr>
                    </a:p>
                  </a:txBody>
                  <a:tcPr marL="121920" marR="121920" marT="60960" marB="60960" anchor="ctr">
                    <a:lnL w="6350" cap="flat" cmpd="sng" algn="ctr">
                      <a:solidFill>
                        <a:srgbClr val="DDE3ED"/>
                      </a:solidFill>
                      <a:prstDash val="solid"/>
                      <a:round/>
                      <a:headEnd type="none" w="med" len="med"/>
                      <a:tailEnd type="none" w="med" len="med"/>
                    </a:lnL>
                    <a:lnR w="6350" cap="flat" cmpd="sng" algn="ctr">
                      <a:solidFill>
                        <a:srgbClr val="DDE3ED"/>
                      </a:solidFill>
                      <a:prstDash val="solid"/>
                      <a:round/>
                      <a:headEnd type="none" w="med" len="med"/>
                      <a:tailEnd type="none" w="med" len="med"/>
                    </a:lnR>
                    <a:lnT w="6350" cap="flat" cmpd="sng" algn="ctr">
                      <a:solidFill>
                        <a:srgbClr val="DDE3ED"/>
                      </a:solidFill>
                      <a:prstDash val="solid"/>
                      <a:round/>
                      <a:headEnd type="none" w="med" len="med"/>
                      <a:tailEnd type="none" w="med" len="med"/>
                    </a:lnT>
                    <a:lnB w="6350" cap="flat" cmpd="sng" algn="ctr">
                      <a:solidFill>
                        <a:srgbClr val="DDE3ED"/>
                      </a:solidFill>
                      <a:prstDash val="solid"/>
                      <a:round/>
                      <a:headEnd type="none" w="med" len="med"/>
                      <a:tailEnd type="none" w="med" len="med"/>
                    </a:lnB>
                  </a:tcPr>
                </a:tc>
                <a:extLst>
                  <a:ext uri="{0D108BD9-81ED-4DB2-BD59-A6C34878D82A}">
                    <a16:rowId xmlns:a16="http://schemas.microsoft.com/office/drawing/2014/main" val="10003"/>
                  </a:ext>
                </a:extLst>
              </a:tr>
            </a:tbl>
          </a:graphicData>
        </a:graphic>
      </p:graphicFrame>
      <p:sp>
        <p:nvSpPr>
          <p:cNvPr id="6" name="Shape 2"/>
          <p:cNvSpPr/>
          <p:nvPr/>
        </p:nvSpPr>
        <p:spPr>
          <a:xfrm>
            <a:off x="7529815" y="3596640"/>
            <a:ext cx="4296425" cy="755904"/>
          </a:xfrm>
          <a:prstGeom prst="rect">
            <a:avLst/>
          </a:prstGeom>
          <a:solidFill>
            <a:srgbClr val="FFFFFF"/>
          </a:solidFill>
          <a:ln w="12700">
            <a:solidFill>
              <a:srgbClr val="DDE3ED"/>
            </a:solidFill>
            <a:prstDash val="solid"/>
          </a:ln>
          <a:effectLst>
            <a:outerShdw blurRad="101600" dist="25400" dir="8100000" algn="bl" rotWithShape="0">
              <a:srgbClr val="000000">
                <a:alpha val="8000"/>
              </a:srgbClr>
            </a:outerShdw>
          </a:effectLst>
        </p:spPr>
      </p:sp>
      <p:sp>
        <p:nvSpPr>
          <p:cNvPr id="5" name="Shape 3"/>
          <p:cNvSpPr/>
          <p:nvPr/>
        </p:nvSpPr>
        <p:spPr>
          <a:xfrm>
            <a:off x="7533635" y="3596640"/>
            <a:ext cx="73152" cy="755904"/>
          </a:xfrm>
          <a:prstGeom prst="rect">
            <a:avLst/>
          </a:prstGeom>
          <a:solidFill>
            <a:srgbClr val="C8102E"/>
          </a:solidFill>
          <a:ln w="12700">
            <a:solidFill>
              <a:srgbClr val="C8102E"/>
            </a:solidFill>
            <a:prstDash val="solid"/>
          </a:ln>
        </p:spPr>
      </p:sp>
      <p:sp>
        <p:nvSpPr>
          <p:cNvPr id="8" name="Text 4"/>
          <p:cNvSpPr/>
          <p:nvPr/>
        </p:nvSpPr>
        <p:spPr>
          <a:xfrm>
            <a:off x="8071104" y="3621024"/>
            <a:ext cx="3657600" cy="682752"/>
          </a:xfrm>
          <a:prstGeom prst="rect">
            <a:avLst/>
          </a:prstGeom>
          <a:noFill/>
          <a:ln/>
        </p:spPr>
        <p:txBody>
          <a:bodyPr wrap="square" rtlCol="0" anchor="ctr"/>
          <a:lstStyle/>
          <a:p>
            <a:r>
              <a:rPr lang="en-US" sz="1400" dirty="0">
                <a:solidFill>
                  <a:srgbClr val="0A1F44"/>
                </a:solidFill>
                <a:latin typeface="Calibri" pitchFamily="34" charset="0"/>
                <a:ea typeface="Calibri" pitchFamily="34" charset="-122"/>
                <a:cs typeface="Calibri" pitchFamily="34" charset="-120"/>
              </a:rPr>
              <a:t>Full model beats both ablations at +5s and +30s</a:t>
            </a:r>
            <a:endParaRPr lang="en-US" sz="1400" dirty="0"/>
          </a:p>
        </p:txBody>
      </p:sp>
      <p:sp>
        <p:nvSpPr>
          <p:cNvPr id="9" name="Shape 5"/>
          <p:cNvSpPr/>
          <p:nvPr/>
        </p:nvSpPr>
        <p:spPr>
          <a:xfrm>
            <a:off x="7529815" y="4474464"/>
            <a:ext cx="4296425" cy="755904"/>
          </a:xfrm>
          <a:prstGeom prst="rect">
            <a:avLst/>
          </a:prstGeom>
          <a:solidFill>
            <a:srgbClr val="FFFFFF"/>
          </a:solidFill>
          <a:ln w="12700">
            <a:solidFill>
              <a:srgbClr val="DDE3ED"/>
            </a:solidFill>
            <a:prstDash val="solid"/>
          </a:ln>
          <a:effectLst>
            <a:outerShdw blurRad="101600" dist="25400" dir="8100000" algn="bl" rotWithShape="0">
              <a:srgbClr val="000000">
                <a:alpha val="8000"/>
              </a:srgbClr>
            </a:outerShdw>
          </a:effectLst>
        </p:spPr>
      </p:sp>
      <p:sp>
        <p:nvSpPr>
          <p:cNvPr id="10" name="Shape 6"/>
          <p:cNvSpPr/>
          <p:nvPr/>
        </p:nvSpPr>
        <p:spPr>
          <a:xfrm>
            <a:off x="7533635" y="4474464"/>
            <a:ext cx="73152" cy="755904"/>
          </a:xfrm>
          <a:prstGeom prst="rect">
            <a:avLst/>
          </a:prstGeom>
          <a:solidFill>
            <a:srgbClr val="C8102E"/>
          </a:solidFill>
          <a:ln w="12700">
            <a:solidFill>
              <a:srgbClr val="C8102E"/>
            </a:solidFill>
            <a:prstDash val="solid"/>
          </a:ln>
        </p:spPr>
      </p:sp>
      <p:sp>
        <p:nvSpPr>
          <p:cNvPr id="11" name="Text 7"/>
          <p:cNvSpPr/>
          <p:nvPr/>
        </p:nvSpPr>
        <p:spPr>
          <a:xfrm>
            <a:off x="8071104" y="4498848"/>
            <a:ext cx="3657600" cy="682752"/>
          </a:xfrm>
          <a:prstGeom prst="rect">
            <a:avLst/>
          </a:prstGeom>
          <a:noFill/>
          <a:ln/>
        </p:spPr>
        <p:txBody>
          <a:bodyPr wrap="square" rtlCol="0" anchor="ctr"/>
          <a:lstStyle/>
          <a:p>
            <a:r>
              <a:rPr lang="en-US" sz="1400" dirty="0">
                <a:solidFill>
                  <a:srgbClr val="0A1F44"/>
                </a:solidFill>
                <a:latin typeface="Calibri" pitchFamily="34" charset="0"/>
                <a:ea typeface="Calibri" pitchFamily="34" charset="-122"/>
                <a:cs typeface="Calibri" pitchFamily="34" charset="-120"/>
              </a:rPr>
              <a:t>BiLSTM alone is strong for longer horizons (+30s)</a:t>
            </a:r>
            <a:endParaRPr lang="en-US" sz="1400" dirty="0"/>
          </a:p>
        </p:txBody>
      </p:sp>
      <p:sp>
        <p:nvSpPr>
          <p:cNvPr id="12" name="Shape 8"/>
          <p:cNvSpPr/>
          <p:nvPr/>
        </p:nvSpPr>
        <p:spPr>
          <a:xfrm>
            <a:off x="7529815" y="5352288"/>
            <a:ext cx="4296425" cy="755904"/>
          </a:xfrm>
          <a:prstGeom prst="rect">
            <a:avLst/>
          </a:prstGeom>
          <a:solidFill>
            <a:srgbClr val="FFFFFF"/>
          </a:solidFill>
          <a:ln w="12700">
            <a:solidFill>
              <a:srgbClr val="DDE3ED"/>
            </a:solidFill>
            <a:prstDash val="solid"/>
          </a:ln>
          <a:effectLst>
            <a:outerShdw blurRad="101600" dist="25400" dir="8100000" algn="bl" rotWithShape="0">
              <a:srgbClr val="000000">
                <a:alpha val="8000"/>
              </a:srgbClr>
            </a:outerShdw>
          </a:effectLst>
        </p:spPr>
      </p:sp>
      <p:sp>
        <p:nvSpPr>
          <p:cNvPr id="13" name="Shape 9"/>
          <p:cNvSpPr/>
          <p:nvPr/>
        </p:nvSpPr>
        <p:spPr>
          <a:xfrm>
            <a:off x="7533638" y="5352288"/>
            <a:ext cx="73152" cy="755904"/>
          </a:xfrm>
          <a:prstGeom prst="rect">
            <a:avLst/>
          </a:prstGeom>
          <a:solidFill>
            <a:srgbClr val="C8102E"/>
          </a:solidFill>
          <a:ln w="12700">
            <a:solidFill>
              <a:srgbClr val="C8102E"/>
            </a:solidFill>
            <a:prstDash val="solid"/>
          </a:ln>
        </p:spPr>
      </p:sp>
      <p:sp>
        <p:nvSpPr>
          <p:cNvPr id="14" name="Text 10"/>
          <p:cNvSpPr/>
          <p:nvPr/>
        </p:nvSpPr>
        <p:spPr>
          <a:xfrm>
            <a:off x="8071104" y="5376672"/>
            <a:ext cx="3657600" cy="682752"/>
          </a:xfrm>
          <a:prstGeom prst="rect">
            <a:avLst/>
          </a:prstGeom>
          <a:noFill/>
          <a:ln/>
        </p:spPr>
        <p:txBody>
          <a:bodyPr wrap="square" rtlCol="0" anchor="ctr"/>
          <a:lstStyle/>
          <a:p>
            <a:r>
              <a:rPr lang="en-US" sz="1400" dirty="0">
                <a:solidFill>
                  <a:srgbClr val="0A1F44"/>
                </a:solidFill>
                <a:latin typeface="Calibri" pitchFamily="34" charset="0"/>
                <a:ea typeface="Calibri" pitchFamily="34" charset="-122"/>
                <a:cs typeface="Calibri" pitchFamily="34" charset="-120"/>
              </a:rPr>
              <a:t>Transformer-only struggles at +30s — sequence matters there</a:t>
            </a:r>
            <a:endParaRPr lang="en-US" sz="1400" dirty="0"/>
          </a:p>
        </p:txBody>
      </p:sp>
      <p:sp>
        <p:nvSpPr>
          <p:cNvPr id="17" name="Shape 0">
            <a:extLst>
              <a:ext uri="{FF2B5EF4-FFF2-40B4-BE49-F238E27FC236}">
                <a16:creationId xmlns:a16="http://schemas.microsoft.com/office/drawing/2014/main" id="{AC1A5C5D-C4D2-32FD-5A21-FDA4C9997980}"/>
              </a:ext>
            </a:extLst>
          </p:cNvPr>
          <p:cNvSpPr/>
          <p:nvPr/>
        </p:nvSpPr>
        <p:spPr>
          <a:xfrm>
            <a:off x="0" y="-23466"/>
            <a:ext cx="12192000" cy="740408"/>
          </a:xfrm>
          <a:prstGeom prst="rect">
            <a:avLst/>
          </a:prstGeom>
          <a:solidFill>
            <a:srgbClr val="003893"/>
          </a:solidFill>
          <a:ln w="12700">
            <a:solidFill>
              <a:srgbClr val="003893"/>
            </a:solidFill>
            <a:prstDash val="solid"/>
          </a:ln>
        </p:spPr>
      </p:sp>
      <p:sp>
        <p:nvSpPr>
          <p:cNvPr id="18" name="Shape 1">
            <a:extLst>
              <a:ext uri="{FF2B5EF4-FFF2-40B4-BE49-F238E27FC236}">
                <a16:creationId xmlns:a16="http://schemas.microsoft.com/office/drawing/2014/main" id="{898C5B56-03C4-5EDD-06AC-3D5FCA09E204}"/>
              </a:ext>
            </a:extLst>
          </p:cNvPr>
          <p:cNvSpPr/>
          <p:nvPr/>
        </p:nvSpPr>
        <p:spPr>
          <a:xfrm>
            <a:off x="0" y="702347"/>
            <a:ext cx="12192000" cy="36576"/>
          </a:xfrm>
          <a:prstGeom prst="rect">
            <a:avLst/>
          </a:prstGeom>
          <a:solidFill>
            <a:srgbClr val="4FC3F7"/>
          </a:solidFill>
          <a:ln w="12700">
            <a:solidFill>
              <a:srgbClr val="4FC3F7"/>
            </a:solidFill>
            <a:prstDash val="solid"/>
          </a:ln>
        </p:spPr>
      </p:sp>
      <p:sp>
        <p:nvSpPr>
          <p:cNvPr id="19" name="Shape 2">
            <a:extLst>
              <a:ext uri="{FF2B5EF4-FFF2-40B4-BE49-F238E27FC236}">
                <a16:creationId xmlns:a16="http://schemas.microsoft.com/office/drawing/2014/main" id="{3EE4D281-E67B-2B86-2DE0-278B43A52026}"/>
              </a:ext>
            </a:extLst>
          </p:cNvPr>
          <p:cNvSpPr/>
          <p:nvPr/>
        </p:nvSpPr>
        <p:spPr>
          <a:xfrm>
            <a:off x="0" y="6646862"/>
            <a:ext cx="12192000" cy="211137"/>
          </a:xfrm>
          <a:prstGeom prst="rect">
            <a:avLst/>
          </a:prstGeom>
          <a:solidFill>
            <a:srgbClr val="003893"/>
          </a:solidFill>
          <a:ln w="12700">
            <a:solidFill>
              <a:srgbClr val="003893"/>
            </a:solidFill>
            <a:prstDash val="solid"/>
          </a:ln>
        </p:spPr>
      </p:sp>
      <p:sp>
        <p:nvSpPr>
          <p:cNvPr id="20" name="Shape 3">
            <a:extLst>
              <a:ext uri="{FF2B5EF4-FFF2-40B4-BE49-F238E27FC236}">
                <a16:creationId xmlns:a16="http://schemas.microsoft.com/office/drawing/2014/main" id="{2FA483A2-3DF3-68E2-F406-0707EB929F23}"/>
              </a:ext>
            </a:extLst>
          </p:cNvPr>
          <p:cNvSpPr/>
          <p:nvPr/>
        </p:nvSpPr>
        <p:spPr>
          <a:xfrm>
            <a:off x="0" y="6623677"/>
            <a:ext cx="12192000" cy="30480"/>
          </a:xfrm>
          <a:prstGeom prst="rect">
            <a:avLst/>
          </a:prstGeom>
          <a:solidFill>
            <a:srgbClr val="4FC3F7"/>
          </a:solidFill>
          <a:ln w="12700">
            <a:solidFill>
              <a:srgbClr val="4FC3F7"/>
            </a:solidFill>
            <a:prstDash val="solid"/>
          </a:ln>
        </p:spPr>
      </p:sp>
      <p:sp>
        <p:nvSpPr>
          <p:cNvPr id="21" name="Shape 4">
            <a:extLst>
              <a:ext uri="{FF2B5EF4-FFF2-40B4-BE49-F238E27FC236}">
                <a16:creationId xmlns:a16="http://schemas.microsoft.com/office/drawing/2014/main" id="{34D5E15C-6FF5-9C58-FBD2-00A735945679}"/>
              </a:ext>
            </a:extLst>
          </p:cNvPr>
          <p:cNvSpPr/>
          <p:nvPr/>
        </p:nvSpPr>
        <p:spPr>
          <a:xfrm>
            <a:off x="0" y="-24618"/>
            <a:ext cx="1128763" cy="767311"/>
          </a:xfrm>
          <a:prstGeom prst="homePlate">
            <a:avLst/>
          </a:prstGeom>
          <a:solidFill>
            <a:srgbClr val="FFFFFF"/>
          </a:solidFill>
          <a:ln w="6350">
            <a:solidFill>
              <a:srgbClr val="CCCCCC"/>
            </a:solidFill>
            <a:prstDash val="solid"/>
          </a:ln>
        </p:spPr>
      </p:sp>
      <p:sp>
        <p:nvSpPr>
          <p:cNvPr id="22" name="Shape 5">
            <a:extLst>
              <a:ext uri="{FF2B5EF4-FFF2-40B4-BE49-F238E27FC236}">
                <a16:creationId xmlns:a16="http://schemas.microsoft.com/office/drawing/2014/main" id="{665B2162-0218-8747-3DCE-DF0C50089CA9}"/>
              </a:ext>
            </a:extLst>
          </p:cNvPr>
          <p:cNvSpPr/>
          <p:nvPr/>
        </p:nvSpPr>
        <p:spPr>
          <a:xfrm>
            <a:off x="10728961" y="121921"/>
            <a:ext cx="51207" cy="51207"/>
          </a:xfrm>
          <a:prstGeom prst="ellipse">
            <a:avLst/>
          </a:prstGeom>
          <a:solidFill>
            <a:srgbClr val="FFFFFF">
              <a:alpha val="35000"/>
            </a:srgbClr>
          </a:solidFill>
          <a:ln w="12700">
            <a:solidFill>
              <a:srgbClr val="FFFFFF"/>
            </a:solidFill>
            <a:prstDash val="solid"/>
          </a:ln>
        </p:spPr>
      </p:sp>
      <p:sp>
        <p:nvSpPr>
          <p:cNvPr id="23" name="Shape 6">
            <a:extLst>
              <a:ext uri="{FF2B5EF4-FFF2-40B4-BE49-F238E27FC236}">
                <a16:creationId xmlns:a16="http://schemas.microsoft.com/office/drawing/2014/main" id="{13D8CC4F-6EB8-9727-BCA7-6AF5F7233D1A}"/>
              </a:ext>
            </a:extLst>
          </p:cNvPr>
          <p:cNvSpPr/>
          <p:nvPr/>
        </p:nvSpPr>
        <p:spPr>
          <a:xfrm>
            <a:off x="10948417" y="121921"/>
            <a:ext cx="51207" cy="51207"/>
          </a:xfrm>
          <a:prstGeom prst="ellipse">
            <a:avLst/>
          </a:prstGeom>
          <a:solidFill>
            <a:srgbClr val="FFFFFF">
              <a:alpha val="35000"/>
            </a:srgbClr>
          </a:solidFill>
          <a:ln w="12700">
            <a:solidFill>
              <a:srgbClr val="FFFFFF"/>
            </a:solidFill>
            <a:prstDash val="solid"/>
          </a:ln>
        </p:spPr>
      </p:sp>
      <p:sp>
        <p:nvSpPr>
          <p:cNvPr id="24" name="Shape 7">
            <a:extLst>
              <a:ext uri="{FF2B5EF4-FFF2-40B4-BE49-F238E27FC236}">
                <a16:creationId xmlns:a16="http://schemas.microsoft.com/office/drawing/2014/main" id="{9B9012DF-6326-950E-3A70-4C3F77E2F042}"/>
              </a:ext>
            </a:extLst>
          </p:cNvPr>
          <p:cNvSpPr/>
          <p:nvPr/>
        </p:nvSpPr>
        <p:spPr>
          <a:xfrm>
            <a:off x="11167873" y="121921"/>
            <a:ext cx="51207" cy="51207"/>
          </a:xfrm>
          <a:prstGeom prst="ellipse">
            <a:avLst/>
          </a:prstGeom>
          <a:solidFill>
            <a:srgbClr val="FFFFFF">
              <a:alpha val="35000"/>
            </a:srgbClr>
          </a:solidFill>
          <a:ln w="12700">
            <a:solidFill>
              <a:srgbClr val="FFFFFF"/>
            </a:solidFill>
            <a:prstDash val="solid"/>
          </a:ln>
        </p:spPr>
      </p:sp>
      <p:sp>
        <p:nvSpPr>
          <p:cNvPr id="25" name="Shape 8">
            <a:extLst>
              <a:ext uri="{FF2B5EF4-FFF2-40B4-BE49-F238E27FC236}">
                <a16:creationId xmlns:a16="http://schemas.microsoft.com/office/drawing/2014/main" id="{2430C0FB-CB35-34FA-962F-38B4D30F2A26}"/>
              </a:ext>
            </a:extLst>
          </p:cNvPr>
          <p:cNvSpPr/>
          <p:nvPr/>
        </p:nvSpPr>
        <p:spPr>
          <a:xfrm>
            <a:off x="11387329" y="121921"/>
            <a:ext cx="51207" cy="51207"/>
          </a:xfrm>
          <a:prstGeom prst="ellipse">
            <a:avLst/>
          </a:prstGeom>
          <a:solidFill>
            <a:srgbClr val="FFFFFF">
              <a:alpha val="35000"/>
            </a:srgbClr>
          </a:solidFill>
          <a:ln w="12700">
            <a:solidFill>
              <a:srgbClr val="FFFFFF"/>
            </a:solidFill>
            <a:prstDash val="solid"/>
          </a:ln>
        </p:spPr>
      </p:sp>
      <p:sp>
        <p:nvSpPr>
          <p:cNvPr id="26" name="Shape 9">
            <a:extLst>
              <a:ext uri="{FF2B5EF4-FFF2-40B4-BE49-F238E27FC236}">
                <a16:creationId xmlns:a16="http://schemas.microsoft.com/office/drawing/2014/main" id="{8264C17E-BA07-0DDB-1052-09597875DBCC}"/>
              </a:ext>
            </a:extLst>
          </p:cNvPr>
          <p:cNvSpPr/>
          <p:nvPr/>
        </p:nvSpPr>
        <p:spPr>
          <a:xfrm>
            <a:off x="10728961" y="292609"/>
            <a:ext cx="51207" cy="51207"/>
          </a:xfrm>
          <a:prstGeom prst="ellipse">
            <a:avLst/>
          </a:prstGeom>
          <a:solidFill>
            <a:srgbClr val="FFFFFF">
              <a:alpha val="35000"/>
            </a:srgbClr>
          </a:solidFill>
          <a:ln w="12700">
            <a:solidFill>
              <a:srgbClr val="FFFFFF"/>
            </a:solidFill>
            <a:prstDash val="solid"/>
          </a:ln>
        </p:spPr>
      </p:sp>
      <p:sp>
        <p:nvSpPr>
          <p:cNvPr id="27" name="Shape 10">
            <a:extLst>
              <a:ext uri="{FF2B5EF4-FFF2-40B4-BE49-F238E27FC236}">
                <a16:creationId xmlns:a16="http://schemas.microsoft.com/office/drawing/2014/main" id="{89ACB0C6-8B97-A678-0F96-BE6BC3E2F77B}"/>
              </a:ext>
            </a:extLst>
          </p:cNvPr>
          <p:cNvSpPr/>
          <p:nvPr/>
        </p:nvSpPr>
        <p:spPr>
          <a:xfrm>
            <a:off x="10948417" y="292609"/>
            <a:ext cx="51207" cy="51207"/>
          </a:xfrm>
          <a:prstGeom prst="ellipse">
            <a:avLst/>
          </a:prstGeom>
          <a:solidFill>
            <a:srgbClr val="FFFFFF">
              <a:alpha val="35000"/>
            </a:srgbClr>
          </a:solidFill>
          <a:ln w="12700">
            <a:solidFill>
              <a:srgbClr val="FFFFFF"/>
            </a:solidFill>
            <a:prstDash val="solid"/>
          </a:ln>
        </p:spPr>
      </p:sp>
      <p:sp>
        <p:nvSpPr>
          <p:cNvPr id="28" name="Shape 11">
            <a:extLst>
              <a:ext uri="{FF2B5EF4-FFF2-40B4-BE49-F238E27FC236}">
                <a16:creationId xmlns:a16="http://schemas.microsoft.com/office/drawing/2014/main" id="{DF9A11AE-2B54-9802-7A75-DB71683F69A5}"/>
              </a:ext>
            </a:extLst>
          </p:cNvPr>
          <p:cNvSpPr/>
          <p:nvPr/>
        </p:nvSpPr>
        <p:spPr>
          <a:xfrm>
            <a:off x="11167873" y="292609"/>
            <a:ext cx="51207" cy="51207"/>
          </a:xfrm>
          <a:prstGeom prst="ellipse">
            <a:avLst/>
          </a:prstGeom>
          <a:solidFill>
            <a:srgbClr val="FFFFFF">
              <a:alpha val="35000"/>
            </a:srgbClr>
          </a:solidFill>
          <a:ln w="12700">
            <a:solidFill>
              <a:srgbClr val="FFFFFF"/>
            </a:solidFill>
            <a:prstDash val="solid"/>
          </a:ln>
        </p:spPr>
      </p:sp>
      <p:sp>
        <p:nvSpPr>
          <p:cNvPr id="29" name="Shape 12">
            <a:extLst>
              <a:ext uri="{FF2B5EF4-FFF2-40B4-BE49-F238E27FC236}">
                <a16:creationId xmlns:a16="http://schemas.microsoft.com/office/drawing/2014/main" id="{B7BCC867-2BA2-8A44-FF50-9296202F6636}"/>
              </a:ext>
            </a:extLst>
          </p:cNvPr>
          <p:cNvSpPr/>
          <p:nvPr/>
        </p:nvSpPr>
        <p:spPr>
          <a:xfrm>
            <a:off x="11387329" y="292609"/>
            <a:ext cx="51207" cy="51207"/>
          </a:xfrm>
          <a:prstGeom prst="ellipse">
            <a:avLst/>
          </a:prstGeom>
          <a:solidFill>
            <a:srgbClr val="FFFFFF">
              <a:alpha val="35000"/>
            </a:srgbClr>
          </a:solidFill>
          <a:ln w="12700">
            <a:solidFill>
              <a:srgbClr val="FFFFFF"/>
            </a:solidFill>
            <a:prstDash val="solid"/>
          </a:ln>
        </p:spPr>
      </p:sp>
      <p:sp>
        <p:nvSpPr>
          <p:cNvPr id="30" name="Shape 13">
            <a:extLst>
              <a:ext uri="{FF2B5EF4-FFF2-40B4-BE49-F238E27FC236}">
                <a16:creationId xmlns:a16="http://schemas.microsoft.com/office/drawing/2014/main" id="{ABB75E9A-B639-CBE4-3734-CFB7308BB902}"/>
              </a:ext>
            </a:extLst>
          </p:cNvPr>
          <p:cNvSpPr/>
          <p:nvPr/>
        </p:nvSpPr>
        <p:spPr>
          <a:xfrm>
            <a:off x="10728961" y="463297"/>
            <a:ext cx="51207" cy="51207"/>
          </a:xfrm>
          <a:prstGeom prst="ellipse">
            <a:avLst/>
          </a:prstGeom>
          <a:solidFill>
            <a:srgbClr val="FFFFFF">
              <a:alpha val="35000"/>
            </a:srgbClr>
          </a:solidFill>
          <a:ln w="12700">
            <a:solidFill>
              <a:srgbClr val="FFFFFF"/>
            </a:solidFill>
            <a:prstDash val="solid"/>
          </a:ln>
        </p:spPr>
      </p:sp>
      <p:sp>
        <p:nvSpPr>
          <p:cNvPr id="31" name="Shape 14">
            <a:extLst>
              <a:ext uri="{FF2B5EF4-FFF2-40B4-BE49-F238E27FC236}">
                <a16:creationId xmlns:a16="http://schemas.microsoft.com/office/drawing/2014/main" id="{573C36D8-1F7A-1379-CA9D-AFCE6D5DCCB6}"/>
              </a:ext>
            </a:extLst>
          </p:cNvPr>
          <p:cNvSpPr/>
          <p:nvPr/>
        </p:nvSpPr>
        <p:spPr>
          <a:xfrm>
            <a:off x="10948417" y="463297"/>
            <a:ext cx="51207" cy="51207"/>
          </a:xfrm>
          <a:prstGeom prst="ellipse">
            <a:avLst/>
          </a:prstGeom>
          <a:solidFill>
            <a:srgbClr val="FFFFFF">
              <a:alpha val="35000"/>
            </a:srgbClr>
          </a:solidFill>
          <a:ln w="12700">
            <a:solidFill>
              <a:srgbClr val="FFFFFF"/>
            </a:solidFill>
            <a:prstDash val="solid"/>
          </a:ln>
        </p:spPr>
      </p:sp>
      <p:sp>
        <p:nvSpPr>
          <p:cNvPr id="32" name="Shape 15">
            <a:extLst>
              <a:ext uri="{FF2B5EF4-FFF2-40B4-BE49-F238E27FC236}">
                <a16:creationId xmlns:a16="http://schemas.microsoft.com/office/drawing/2014/main" id="{08784C98-365D-F7DF-BBAA-1EB31B5D09FB}"/>
              </a:ext>
            </a:extLst>
          </p:cNvPr>
          <p:cNvSpPr/>
          <p:nvPr/>
        </p:nvSpPr>
        <p:spPr>
          <a:xfrm>
            <a:off x="11167873" y="463297"/>
            <a:ext cx="51207" cy="51207"/>
          </a:xfrm>
          <a:prstGeom prst="ellipse">
            <a:avLst/>
          </a:prstGeom>
          <a:solidFill>
            <a:srgbClr val="FFFFFF">
              <a:alpha val="35000"/>
            </a:srgbClr>
          </a:solidFill>
          <a:ln w="12700">
            <a:solidFill>
              <a:srgbClr val="FFFFFF"/>
            </a:solidFill>
            <a:prstDash val="solid"/>
          </a:ln>
        </p:spPr>
      </p:sp>
      <p:sp>
        <p:nvSpPr>
          <p:cNvPr id="33" name="Shape 16">
            <a:extLst>
              <a:ext uri="{FF2B5EF4-FFF2-40B4-BE49-F238E27FC236}">
                <a16:creationId xmlns:a16="http://schemas.microsoft.com/office/drawing/2014/main" id="{50A54B14-3F28-D694-3511-941E1B195DA0}"/>
              </a:ext>
            </a:extLst>
          </p:cNvPr>
          <p:cNvSpPr/>
          <p:nvPr/>
        </p:nvSpPr>
        <p:spPr>
          <a:xfrm>
            <a:off x="11387329" y="463297"/>
            <a:ext cx="51207" cy="51207"/>
          </a:xfrm>
          <a:prstGeom prst="ellipse">
            <a:avLst/>
          </a:prstGeom>
          <a:solidFill>
            <a:srgbClr val="FFFFFF">
              <a:alpha val="35000"/>
            </a:srgbClr>
          </a:solidFill>
          <a:ln w="12700">
            <a:solidFill>
              <a:srgbClr val="FFFFFF"/>
            </a:solidFill>
            <a:prstDash val="solid"/>
          </a:ln>
        </p:spPr>
      </p:sp>
      <p:pic>
        <p:nvPicPr>
          <p:cNvPr id="34" name="Picture 33">
            <a:extLst>
              <a:ext uri="{FF2B5EF4-FFF2-40B4-BE49-F238E27FC236}">
                <a16:creationId xmlns:a16="http://schemas.microsoft.com/office/drawing/2014/main" id="{11A711E8-471E-4FE9-38F6-096172ED0A8E}"/>
              </a:ext>
            </a:extLst>
          </p:cNvPr>
          <p:cNvPicPr>
            <a:picLocks noChangeAspect="1"/>
          </p:cNvPicPr>
          <p:nvPr/>
        </p:nvPicPr>
        <p:blipFill>
          <a:blip r:embed="rId4"/>
          <a:stretch>
            <a:fillRect/>
          </a:stretch>
        </p:blipFill>
        <p:spPr>
          <a:xfrm>
            <a:off x="-453212" y="-263954"/>
            <a:ext cx="1776568" cy="1245981"/>
          </a:xfrm>
          <a:prstGeom prst="rect">
            <a:avLst/>
          </a:prstGeom>
        </p:spPr>
      </p:pic>
      <p:sp>
        <p:nvSpPr>
          <p:cNvPr id="3" name="Text 1"/>
          <p:cNvSpPr/>
          <p:nvPr/>
        </p:nvSpPr>
        <p:spPr>
          <a:xfrm>
            <a:off x="1192376" y="-13619"/>
            <a:ext cx="10972800" cy="731520"/>
          </a:xfrm>
          <a:prstGeom prst="rect">
            <a:avLst/>
          </a:prstGeom>
          <a:noFill/>
          <a:ln/>
        </p:spPr>
        <p:txBody>
          <a:bodyPr wrap="square" lIns="0" tIns="0" rIns="0" bIns="0" rtlCol="0" anchor="ctr"/>
          <a:lstStyle/>
          <a:p>
            <a:r>
              <a:rPr lang="en-US" sz="3200" b="1" dirty="0">
                <a:solidFill>
                  <a:schemeClr val="bg1"/>
                </a:solidFill>
                <a:latin typeface="Calibri" pitchFamily="34" charset="0"/>
                <a:ea typeface="Calibri" pitchFamily="34" charset="-122"/>
                <a:cs typeface="Calibri" pitchFamily="34" charset="-120"/>
              </a:rPr>
              <a:t>ABLATION STUDY — WHAT EACH COMPONENT ADDS</a:t>
            </a:r>
            <a:endParaRPr lang="en-US" sz="3200" dirty="0">
              <a:solidFill>
                <a:schemeClr val="bg1"/>
              </a:solidFill>
            </a:endParaRPr>
          </a:p>
        </p:txBody>
      </p:sp>
      <p:pic>
        <p:nvPicPr>
          <p:cNvPr id="36" name="Picture 35">
            <a:extLst>
              <a:ext uri="{FF2B5EF4-FFF2-40B4-BE49-F238E27FC236}">
                <a16:creationId xmlns:a16="http://schemas.microsoft.com/office/drawing/2014/main" id="{12DDD521-4E7D-9A72-1FDD-9E7428DC457F}"/>
              </a:ext>
            </a:extLst>
          </p:cNvPr>
          <p:cNvPicPr>
            <a:picLocks noChangeAspect="1"/>
          </p:cNvPicPr>
          <p:nvPr/>
        </p:nvPicPr>
        <p:blipFill>
          <a:blip r:embed="rId5"/>
          <a:stretch>
            <a:fillRect/>
          </a:stretch>
        </p:blipFill>
        <p:spPr>
          <a:xfrm>
            <a:off x="188537" y="1229718"/>
            <a:ext cx="6904060" cy="4658952"/>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7" name="Image 0" descr="preencoded.png">
            <a:extLst>
              <a:ext uri="{FF2B5EF4-FFF2-40B4-BE49-F238E27FC236}">
                <a16:creationId xmlns:a16="http://schemas.microsoft.com/office/drawing/2014/main" id="{71980932-8472-BF1C-F416-04008536DCED}"/>
              </a:ext>
            </a:extLst>
          </p:cNvPr>
          <p:cNvPicPr>
            <a:picLocks noChangeAspect="1"/>
          </p:cNvPicPr>
          <p:nvPr/>
        </p:nvPicPr>
        <p:blipFill>
          <a:blip r:embed="rId3"/>
          <a:srcRect/>
          <a:stretch/>
        </p:blipFill>
        <p:spPr>
          <a:xfrm>
            <a:off x="7868" y="8176"/>
            <a:ext cx="12191928" cy="6857928"/>
          </a:xfrm>
          <a:prstGeom prst="rect">
            <a:avLst/>
          </a:prstGeom>
        </p:spPr>
      </p:pic>
      <p:sp>
        <p:nvSpPr>
          <p:cNvPr id="17" name="Shape 0">
            <a:extLst>
              <a:ext uri="{FF2B5EF4-FFF2-40B4-BE49-F238E27FC236}">
                <a16:creationId xmlns:a16="http://schemas.microsoft.com/office/drawing/2014/main" id="{AC1A5C5D-C4D2-32FD-5A21-FDA4C9997980}"/>
              </a:ext>
            </a:extLst>
          </p:cNvPr>
          <p:cNvSpPr/>
          <p:nvPr/>
        </p:nvSpPr>
        <p:spPr>
          <a:xfrm>
            <a:off x="0" y="-23466"/>
            <a:ext cx="12192000" cy="740408"/>
          </a:xfrm>
          <a:prstGeom prst="rect">
            <a:avLst/>
          </a:prstGeom>
          <a:solidFill>
            <a:srgbClr val="003893"/>
          </a:solidFill>
          <a:ln w="12700">
            <a:solidFill>
              <a:srgbClr val="003893"/>
            </a:solidFill>
            <a:prstDash val="solid"/>
          </a:ln>
        </p:spPr>
      </p:sp>
      <p:sp>
        <p:nvSpPr>
          <p:cNvPr id="18" name="Shape 1">
            <a:extLst>
              <a:ext uri="{FF2B5EF4-FFF2-40B4-BE49-F238E27FC236}">
                <a16:creationId xmlns:a16="http://schemas.microsoft.com/office/drawing/2014/main" id="{898C5B56-03C4-5EDD-06AC-3D5FCA09E204}"/>
              </a:ext>
            </a:extLst>
          </p:cNvPr>
          <p:cNvSpPr/>
          <p:nvPr/>
        </p:nvSpPr>
        <p:spPr>
          <a:xfrm>
            <a:off x="0" y="702347"/>
            <a:ext cx="12192000" cy="36576"/>
          </a:xfrm>
          <a:prstGeom prst="rect">
            <a:avLst/>
          </a:prstGeom>
          <a:solidFill>
            <a:srgbClr val="4FC3F7"/>
          </a:solidFill>
          <a:ln w="12700">
            <a:solidFill>
              <a:srgbClr val="4FC3F7"/>
            </a:solidFill>
            <a:prstDash val="solid"/>
          </a:ln>
        </p:spPr>
      </p:sp>
      <p:sp>
        <p:nvSpPr>
          <p:cNvPr id="19" name="Shape 2">
            <a:extLst>
              <a:ext uri="{FF2B5EF4-FFF2-40B4-BE49-F238E27FC236}">
                <a16:creationId xmlns:a16="http://schemas.microsoft.com/office/drawing/2014/main" id="{3EE4D281-E67B-2B86-2DE0-278B43A52026}"/>
              </a:ext>
            </a:extLst>
          </p:cNvPr>
          <p:cNvSpPr/>
          <p:nvPr/>
        </p:nvSpPr>
        <p:spPr>
          <a:xfrm>
            <a:off x="0" y="6646862"/>
            <a:ext cx="12192000" cy="211137"/>
          </a:xfrm>
          <a:prstGeom prst="rect">
            <a:avLst/>
          </a:prstGeom>
          <a:solidFill>
            <a:srgbClr val="003893"/>
          </a:solidFill>
          <a:ln w="12700">
            <a:solidFill>
              <a:srgbClr val="003893"/>
            </a:solidFill>
            <a:prstDash val="solid"/>
          </a:ln>
        </p:spPr>
      </p:sp>
      <p:sp>
        <p:nvSpPr>
          <p:cNvPr id="21" name="Shape 4">
            <a:extLst>
              <a:ext uri="{FF2B5EF4-FFF2-40B4-BE49-F238E27FC236}">
                <a16:creationId xmlns:a16="http://schemas.microsoft.com/office/drawing/2014/main" id="{34D5E15C-6FF5-9C58-FBD2-00A735945679}"/>
              </a:ext>
            </a:extLst>
          </p:cNvPr>
          <p:cNvSpPr/>
          <p:nvPr/>
        </p:nvSpPr>
        <p:spPr>
          <a:xfrm>
            <a:off x="0" y="-24618"/>
            <a:ext cx="1128763" cy="767311"/>
          </a:xfrm>
          <a:prstGeom prst="homePlate">
            <a:avLst/>
          </a:prstGeom>
          <a:solidFill>
            <a:srgbClr val="FFFFFF"/>
          </a:solidFill>
          <a:ln w="6350">
            <a:solidFill>
              <a:srgbClr val="CCCCCC"/>
            </a:solidFill>
            <a:prstDash val="solid"/>
          </a:ln>
        </p:spPr>
      </p:sp>
      <p:sp>
        <p:nvSpPr>
          <p:cNvPr id="22" name="Shape 5">
            <a:extLst>
              <a:ext uri="{FF2B5EF4-FFF2-40B4-BE49-F238E27FC236}">
                <a16:creationId xmlns:a16="http://schemas.microsoft.com/office/drawing/2014/main" id="{665B2162-0218-8747-3DCE-DF0C50089CA9}"/>
              </a:ext>
            </a:extLst>
          </p:cNvPr>
          <p:cNvSpPr/>
          <p:nvPr/>
        </p:nvSpPr>
        <p:spPr>
          <a:xfrm>
            <a:off x="10728961" y="121921"/>
            <a:ext cx="51207" cy="51207"/>
          </a:xfrm>
          <a:prstGeom prst="ellipse">
            <a:avLst/>
          </a:prstGeom>
          <a:solidFill>
            <a:srgbClr val="FFFFFF">
              <a:alpha val="35000"/>
            </a:srgbClr>
          </a:solidFill>
          <a:ln w="12700">
            <a:solidFill>
              <a:srgbClr val="FFFFFF"/>
            </a:solidFill>
            <a:prstDash val="solid"/>
          </a:ln>
        </p:spPr>
      </p:sp>
      <p:sp>
        <p:nvSpPr>
          <p:cNvPr id="23" name="Shape 6">
            <a:extLst>
              <a:ext uri="{FF2B5EF4-FFF2-40B4-BE49-F238E27FC236}">
                <a16:creationId xmlns:a16="http://schemas.microsoft.com/office/drawing/2014/main" id="{13D8CC4F-6EB8-9727-BCA7-6AF5F7233D1A}"/>
              </a:ext>
            </a:extLst>
          </p:cNvPr>
          <p:cNvSpPr/>
          <p:nvPr/>
        </p:nvSpPr>
        <p:spPr>
          <a:xfrm>
            <a:off x="10948417" y="121921"/>
            <a:ext cx="51207" cy="51207"/>
          </a:xfrm>
          <a:prstGeom prst="ellipse">
            <a:avLst/>
          </a:prstGeom>
          <a:solidFill>
            <a:srgbClr val="FFFFFF">
              <a:alpha val="35000"/>
            </a:srgbClr>
          </a:solidFill>
          <a:ln w="12700">
            <a:solidFill>
              <a:srgbClr val="FFFFFF"/>
            </a:solidFill>
            <a:prstDash val="solid"/>
          </a:ln>
        </p:spPr>
      </p:sp>
      <p:sp>
        <p:nvSpPr>
          <p:cNvPr id="24" name="Shape 7">
            <a:extLst>
              <a:ext uri="{FF2B5EF4-FFF2-40B4-BE49-F238E27FC236}">
                <a16:creationId xmlns:a16="http://schemas.microsoft.com/office/drawing/2014/main" id="{9B9012DF-6326-950E-3A70-4C3F77E2F042}"/>
              </a:ext>
            </a:extLst>
          </p:cNvPr>
          <p:cNvSpPr/>
          <p:nvPr/>
        </p:nvSpPr>
        <p:spPr>
          <a:xfrm>
            <a:off x="11167873" y="121921"/>
            <a:ext cx="51207" cy="51207"/>
          </a:xfrm>
          <a:prstGeom prst="ellipse">
            <a:avLst/>
          </a:prstGeom>
          <a:solidFill>
            <a:srgbClr val="FFFFFF">
              <a:alpha val="35000"/>
            </a:srgbClr>
          </a:solidFill>
          <a:ln w="12700">
            <a:solidFill>
              <a:srgbClr val="FFFFFF"/>
            </a:solidFill>
            <a:prstDash val="solid"/>
          </a:ln>
        </p:spPr>
      </p:sp>
      <p:sp>
        <p:nvSpPr>
          <p:cNvPr id="25" name="Shape 8">
            <a:extLst>
              <a:ext uri="{FF2B5EF4-FFF2-40B4-BE49-F238E27FC236}">
                <a16:creationId xmlns:a16="http://schemas.microsoft.com/office/drawing/2014/main" id="{2430C0FB-CB35-34FA-962F-38B4D30F2A26}"/>
              </a:ext>
            </a:extLst>
          </p:cNvPr>
          <p:cNvSpPr/>
          <p:nvPr/>
        </p:nvSpPr>
        <p:spPr>
          <a:xfrm>
            <a:off x="11387329" y="121921"/>
            <a:ext cx="51207" cy="51207"/>
          </a:xfrm>
          <a:prstGeom prst="ellipse">
            <a:avLst/>
          </a:prstGeom>
          <a:solidFill>
            <a:srgbClr val="FFFFFF">
              <a:alpha val="35000"/>
            </a:srgbClr>
          </a:solidFill>
          <a:ln w="12700">
            <a:solidFill>
              <a:srgbClr val="FFFFFF"/>
            </a:solidFill>
            <a:prstDash val="solid"/>
          </a:ln>
        </p:spPr>
      </p:sp>
      <p:sp>
        <p:nvSpPr>
          <p:cNvPr id="26" name="Shape 9">
            <a:extLst>
              <a:ext uri="{FF2B5EF4-FFF2-40B4-BE49-F238E27FC236}">
                <a16:creationId xmlns:a16="http://schemas.microsoft.com/office/drawing/2014/main" id="{8264C17E-BA07-0DDB-1052-09597875DBCC}"/>
              </a:ext>
            </a:extLst>
          </p:cNvPr>
          <p:cNvSpPr/>
          <p:nvPr/>
        </p:nvSpPr>
        <p:spPr>
          <a:xfrm>
            <a:off x="10728961" y="292609"/>
            <a:ext cx="51207" cy="51207"/>
          </a:xfrm>
          <a:prstGeom prst="ellipse">
            <a:avLst/>
          </a:prstGeom>
          <a:solidFill>
            <a:srgbClr val="FFFFFF">
              <a:alpha val="35000"/>
            </a:srgbClr>
          </a:solidFill>
          <a:ln w="12700">
            <a:solidFill>
              <a:srgbClr val="FFFFFF"/>
            </a:solidFill>
            <a:prstDash val="solid"/>
          </a:ln>
        </p:spPr>
      </p:sp>
      <p:sp>
        <p:nvSpPr>
          <p:cNvPr id="27" name="Shape 10">
            <a:extLst>
              <a:ext uri="{FF2B5EF4-FFF2-40B4-BE49-F238E27FC236}">
                <a16:creationId xmlns:a16="http://schemas.microsoft.com/office/drawing/2014/main" id="{89ACB0C6-8B97-A678-0F96-BE6BC3E2F77B}"/>
              </a:ext>
            </a:extLst>
          </p:cNvPr>
          <p:cNvSpPr/>
          <p:nvPr/>
        </p:nvSpPr>
        <p:spPr>
          <a:xfrm>
            <a:off x="10948417" y="292609"/>
            <a:ext cx="51207" cy="51207"/>
          </a:xfrm>
          <a:prstGeom prst="ellipse">
            <a:avLst/>
          </a:prstGeom>
          <a:solidFill>
            <a:srgbClr val="FFFFFF">
              <a:alpha val="35000"/>
            </a:srgbClr>
          </a:solidFill>
          <a:ln w="12700">
            <a:solidFill>
              <a:srgbClr val="FFFFFF"/>
            </a:solidFill>
            <a:prstDash val="solid"/>
          </a:ln>
        </p:spPr>
      </p:sp>
      <p:sp>
        <p:nvSpPr>
          <p:cNvPr id="28" name="Shape 11">
            <a:extLst>
              <a:ext uri="{FF2B5EF4-FFF2-40B4-BE49-F238E27FC236}">
                <a16:creationId xmlns:a16="http://schemas.microsoft.com/office/drawing/2014/main" id="{DF9A11AE-2B54-9802-7A75-DB71683F69A5}"/>
              </a:ext>
            </a:extLst>
          </p:cNvPr>
          <p:cNvSpPr/>
          <p:nvPr/>
        </p:nvSpPr>
        <p:spPr>
          <a:xfrm>
            <a:off x="11167873" y="292609"/>
            <a:ext cx="51207" cy="51207"/>
          </a:xfrm>
          <a:prstGeom prst="ellipse">
            <a:avLst/>
          </a:prstGeom>
          <a:solidFill>
            <a:srgbClr val="FFFFFF">
              <a:alpha val="35000"/>
            </a:srgbClr>
          </a:solidFill>
          <a:ln w="12700">
            <a:solidFill>
              <a:srgbClr val="FFFFFF"/>
            </a:solidFill>
            <a:prstDash val="solid"/>
          </a:ln>
        </p:spPr>
      </p:sp>
      <p:sp>
        <p:nvSpPr>
          <p:cNvPr id="29" name="Shape 12">
            <a:extLst>
              <a:ext uri="{FF2B5EF4-FFF2-40B4-BE49-F238E27FC236}">
                <a16:creationId xmlns:a16="http://schemas.microsoft.com/office/drawing/2014/main" id="{B7BCC867-2BA2-8A44-FF50-9296202F6636}"/>
              </a:ext>
            </a:extLst>
          </p:cNvPr>
          <p:cNvSpPr/>
          <p:nvPr/>
        </p:nvSpPr>
        <p:spPr>
          <a:xfrm>
            <a:off x="11387329" y="292609"/>
            <a:ext cx="51207" cy="51207"/>
          </a:xfrm>
          <a:prstGeom prst="ellipse">
            <a:avLst/>
          </a:prstGeom>
          <a:solidFill>
            <a:srgbClr val="FFFFFF">
              <a:alpha val="35000"/>
            </a:srgbClr>
          </a:solidFill>
          <a:ln w="12700">
            <a:solidFill>
              <a:srgbClr val="FFFFFF"/>
            </a:solidFill>
            <a:prstDash val="solid"/>
          </a:ln>
        </p:spPr>
      </p:sp>
      <p:sp>
        <p:nvSpPr>
          <p:cNvPr id="30" name="Shape 13">
            <a:extLst>
              <a:ext uri="{FF2B5EF4-FFF2-40B4-BE49-F238E27FC236}">
                <a16:creationId xmlns:a16="http://schemas.microsoft.com/office/drawing/2014/main" id="{ABB75E9A-B639-CBE4-3734-CFB7308BB902}"/>
              </a:ext>
            </a:extLst>
          </p:cNvPr>
          <p:cNvSpPr/>
          <p:nvPr/>
        </p:nvSpPr>
        <p:spPr>
          <a:xfrm>
            <a:off x="10728961" y="463297"/>
            <a:ext cx="51207" cy="51207"/>
          </a:xfrm>
          <a:prstGeom prst="ellipse">
            <a:avLst/>
          </a:prstGeom>
          <a:solidFill>
            <a:srgbClr val="FFFFFF">
              <a:alpha val="35000"/>
            </a:srgbClr>
          </a:solidFill>
          <a:ln w="12700">
            <a:solidFill>
              <a:srgbClr val="FFFFFF"/>
            </a:solidFill>
            <a:prstDash val="solid"/>
          </a:ln>
        </p:spPr>
      </p:sp>
      <p:sp>
        <p:nvSpPr>
          <p:cNvPr id="31" name="Shape 14">
            <a:extLst>
              <a:ext uri="{FF2B5EF4-FFF2-40B4-BE49-F238E27FC236}">
                <a16:creationId xmlns:a16="http://schemas.microsoft.com/office/drawing/2014/main" id="{573C36D8-1F7A-1379-CA9D-AFCE6D5DCCB6}"/>
              </a:ext>
            </a:extLst>
          </p:cNvPr>
          <p:cNvSpPr/>
          <p:nvPr/>
        </p:nvSpPr>
        <p:spPr>
          <a:xfrm>
            <a:off x="10948417" y="463297"/>
            <a:ext cx="51207" cy="51207"/>
          </a:xfrm>
          <a:prstGeom prst="ellipse">
            <a:avLst/>
          </a:prstGeom>
          <a:solidFill>
            <a:srgbClr val="FFFFFF">
              <a:alpha val="35000"/>
            </a:srgbClr>
          </a:solidFill>
          <a:ln w="12700">
            <a:solidFill>
              <a:srgbClr val="FFFFFF"/>
            </a:solidFill>
            <a:prstDash val="solid"/>
          </a:ln>
        </p:spPr>
      </p:sp>
      <p:sp>
        <p:nvSpPr>
          <p:cNvPr id="32" name="Shape 15">
            <a:extLst>
              <a:ext uri="{FF2B5EF4-FFF2-40B4-BE49-F238E27FC236}">
                <a16:creationId xmlns:a16="http://schemas.microsoft.com/office/drawing/2014/main" id="{08784C98-365D-F7DF-BBAA-1EB31B5D09FB}"/>
              </a:ext>
            </a:extLst>
          </p:cNvPr>
          <p:cNvSpPr/>
          <p:nvPr/>
        </p:nvSpPr>
        <p:spPr>
          <a:xfrm>
            <a:off x="11167873" y="463297"/>
            <a:ext cx="51207" cy="51207"/>
          </a:xfrm>
          <a:prstGeom prst="ellipse">
            <a:avLst/>
          </a:prstGeom>
          <a:solidFill>
            <a:srgbClr val="FFFFFF">
              <a:alpha val="35000"/>
            </a:srgbClr>
          </a:solidFill>
          <a:ln w="12700">
            <a:solidFill>
              <a:srgbClr val="FFFFFF"/>
            </a:solidFill>
            <a:prstDash val="solid"/>
          </a:ln>
        </p:spPr>
      </p:sp>
      <p:sp>
        <p:nvSpPr>
          <p:cNvPr id="33" name="Shape 16">
            <a:extLst>
              <a:ext uri="{FF2B5EF4-FFF2-40B4-BE49-F238E27FC236}">
                <a16:creationId xmlns:a16="http://schemas.microsoft.com/office/drawing/2014/main" id="{50A54B14-3F28-D694-3511-941E1B195DA0}"/>
              </a:ext>
            </a:extLst>
          </p:cNvPr>
          <p:cNvSpPr/>
          <p:nvPr/>
        </p:nvSpPr>
        <p:spPr>
          <a:xfrm>
            <a:off x="11387329" y="463297"/>
            <a:ext cx="51207" cy="51207"/>
          </a:xfrm>
          <a:prstGeom prst="ellipse">
            <a:avLst/>
          </a:prstGeom>
          <a:solidFill>
            <a:srgbClr val="FFFFFF">
              <a:alpha val="35000"/>
            </a:srgbClr>
          </a:solidFill>
          <a:ln w="12700">
            <a:solidFill>
              <a:srgbClr val="FFFFFF"/>
            </a:solidFill>
            <a:prstDash val="solid"/>
          </a:ln>
        </p:spPr>
      </p:sp>
      <p:pic>
        <p:nvPicPr>
          <p:cNvPr id="34" name="Picture 33">
            <a:extLst>
              <a:ext uri="{FF2B5EF4-FFF2-40B4-BE49-F238E27FC236}">
                <a16:creationId xmlns:a16="http://schemas.microsoft.com/office/drawing/2014/main" id="{11A711E8-471E-4FE9-38F6-096172ED0A8E}"/>
              </a:ext>
            </a:extLst>
          </p:cNvPr>
          <p:cNvPicPr>
            <a:picLocks noChangeAspect="1"/>
          </p:cNvPicPr>
          <p:nvPr/>
        </p:nvPicPr>
        <p:blipFill>
          <a:blip r:embed="rId4"/>
          <a:stretch>
            <a:fillRect/>
          </a:stretch>
        </p:blipFill>
        <p:spPr>
          <a:xfrm>
            <a:off x="-453212" y="-263954"/>
            <a:ext cx="1776568" cy="1245981"/>
          </a:xfrm>
          <a:prstGeom prst="rect">
            <a:avLst/>
          </a:prstGeom>
        </p:spPr>
      </p:pic>
      <p:sp>
        <p:nvSpPr>
          <p:cNvPr id="3" name="Text 1"/>
          <p:cNvSpPr/>
          <p:nvPr/>
        </p:nvSpPr>
        <p:spPr>
          <a:xfrm>
            <a:off x="1192376" y="-13619"/>
            <a:ext cx="10972800" cy="731520"/>
          </a:xfrm>
          <a:prstGeom prst="rect">
            <a:avLst/>
          </a:prstGeom>
          <a:noFill/>
          <a:ln/>
        </p:spPr>
        <p:txBody>
          <a:bodyPr wrap="square" lIns="0" tIns="0" rIns="0" bIns="0" rtlCol="0" anchor="ctr"/>
          <a:lstStyle/>
          <a:p>
            <a:r>
              <a:rPr lang="en-US" sz="3200" b="1" dirty="0">
                <a:solidFill>
                  <a:schemeClr val="bg1"/>
                </a:solidFill>
                <a:latin typeface="Calibri" pitchFamily="34" charset="0"/>
                <a:ea typeface="Calibri" pitchFamily="34" charset="-122"/>
                <a:cs typeface="Calibri" pitchFamily="34" charset="-120"/>
              </a:rPr>
              <a:t>CROSS-CITY GENERALISATION — TOKYO </a:t>
            </a:r>
            <a:endParaRPr lang="en-US" sz="3200" dirty="0">
              <a:solidFill>
                <a:schemeClr val="bg1"/>
              </a:solidFill>
            </a:endParaRPr>
          </a:p>
        </p:txBody>
      </p:sp>
      <p:pic>
        <p:nvPicPr>
          <p:cNvPr id="2" name="Picture 1">
            <a:extLst>
              <a:ext uri="{FF2B5EF4-FFF2-40B4-BE49-F238E27FC236}">
                <a16:creationId xmlns:a16="http://schemas.microsoft.com/office/drawing/2014/main" id="{8E3DD0C0-0279-D6CB-FDED-DEDDEC559DB9}"/>
              </a:ext>
            </a:extLst>
          </p:cNvPr>
          <p:cNvPicPr>
            <a:picLocks noChangeAspect="1"/>
          </p:cNvPicPr>
          <p:nvPr/>
        </p:nvPicPr>
        <p:blipFill>
          <a:blip r:embed="rId5"/>
          <a:stretch>
            <a:fillRect/>
          </a:stretch>
        </p:blipFill>
        <p:spPr>
          <a:xfrm>
            <a:off x="825200" y="1095772"/>
            <a:ext cx="10541599" cy="5380440"/>
          </a:xfrm>
          <a:prstGeom prst="rect">
            <a:avLst/>
          </a:prstGeom>
        </p:spPr>
      </p:pic>
    </p:spTree>
    <p:extLst>
      <p:ext uri="{BB962C8B-B14F-4D97-AF65-F5344CB8AC3E}">
        <p14:creationId xmlns:p14="http://schemas.microsoft.com/office/powerpoint/2010/main" val="4454229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3D21236-7B22-0211-0D49-36E7A4E9D538}"/>
            </a:ext>
          </a:extLst>
        </p:cNvPr>
        <p:cNvGrpSpPr/>
        <p:nvPr/>
      </p:nvGrpSpPr>
      <p:grpSpPr>
        <a:xfrm>
          <a:off x="0" y="0"/>
          <a:ext cx="0" cy="0"/>
          <a:chOff x="0" y="0"/>
          <a:chExt cx="0" cy="0"/>
        </a:xfrm>
      </p:grpSpPr>
      <p:pic>
        <p:nvPicPr>
          <p:cNvPr id="37" name="Image 0" descr="preencoded.png">
            <a:extLst>
              <a:ext uri="{FF2B5EF4-FFF2-40B4-BE49-F238E27FC236}">
                <a16:creationId xmlns:a16="http://schemas.microsoft.com/office/drawing/2014/main" id="{590B1BC8-929B-1933-D1A6-BFA3E84FE9EC}"/>
              </a:ext>
            </a:extLst>
          </p:cNvPr>
          <p:cNvPicPr>
            <a:picLocks noChangeAspect="1"/>
          </p:cNvPicPr>
          <p:nvPr/>
        </p:nvPicPr>
        <p:blipFill>
          <a:blip r:embed="rId3"/>
          <a:stretch>
            <a:fillRect/>
          </a:stretch>
        </p:blipFill>
        <p:spPr>
          <a:xfrm>
            <a:off x="0" y="16375"/>
            <a:ext cx="12192000" cy="6858000"/>
          </a:xfrm>
          <a:prstGeom prst="rect">
            <a:avLst/>
          </a:prstGeom>
        </p:spPr>
      </p:pic>
      <p:sp>
        <p:nvSpPr>
          <p:cNvPr id="2" name="Shape 0">
            <a:extLst>
              <a:ext uri="{FF2B5EF4-FFF2-40B4-BE49-F238E27FC236}">
                <a16:creationId xmlns:a16="http://schemas.microsoft.com/office/drawing/2014/main" id="{70EF1E95-7BA4-B101-D072-ECEE62FA2322}"/>
              </a:ext>
            </a:extLst>
          </p:cNvPr>
          <p:cNvSpPr/>
          <p:nvPr/>
        </p:nvSpPr>
        <p:spPr>
          <a:xfrm>
            <a:off x="10363200" y="182880"/>
            <a:ext cx="1524000" cy="390144"/>
          </a:xfrm>
          <a:prstGeom prst="rect">
            <a:avLst/>
          </a:prstGeom>
          <a:solidFill>
            <a:srgbClr val="C8102E"/>
          </a:solidFill>
          <a:ln w="12700">
            <a:solidFill>
              <a:srgbClr val="C8102E"/>
            </a:solidFill>
            <a:prstDash val="solid"/>
          </a:ln>
        </p:spPr>
      </p:sp>
      <p:sp>
        <p:nvSpPr>
          <p:cNvPr id="3" name="Text 1">
            <a:extLst>
              <a:ext uri="{FF2B5EF4-FFF2-40B4-BE49-F238E27FC236}">
                <a16:creationId xmlns:a16="http://schemas.microsoft.com/office/drawing/2014/main" id="{19844E13-DA2D-AF88-8063-45F5D9C2F225}"/>
              </a:ext>
            </a:extLst>
          </p:cNvPr>
          <p:cNvSpPr/>
          <p:nvPr/>
        </p:nvSpPr>
        <p:spPr>
          <a:xfrm>
            <a:off x="10363200" y="182880"/>
            <a:ext cx="1524000" cy="390144"/>
          </a:xfrm>
          <a:prstGeom prst="rect">
            <a:avLst/>
          </a:prstGeom>
          <a:noFill/>
          <a:ln/>
        </p:spPr>
        <p:txBody>
          <a:bodyPr wrap="square" lIns="0" tIns="0" rIns="0" bIns="0" rtlCol="0" anchor="ctr"/>
          <a:lstStyle/>
          <a:p>
            <a:pPr algn="ctr"/>
            <a:r>
              <a:rPr lang="en-US" sz="1133" b="1" dirty="0">
                <a:solidFill>
                  <a:srgbClr val="FFFFFF"/>
                </a:solidFill>
                <a:latin typeface="Calibri" pitchFamily="34" charset="0"/>
                <a:ea typeface="Calibri" pitchFamily="34" charset="-122"/>
                <a:cs typeface="Calibri" pitchFamily="34" charset="-120"/>
              </a:rPr>
              <a:t>KEY RESULT</a:t>
            </a:r>
            <a:endParaRPr lang="en-US" sz="1133" dirty="0"/>
          </a:p>
        </p:txBody>
      </p:sp>
      <p:sp>
        <p:nvSpPr>
          <p:cNvPr id="6" name="Shape 4">
            <a:extLst>
              <a:ext uri="{FF2B5EF4-FFF2-40B4-BE49-F238E27FC236}">
                <a16:creationId xmlns:a16="http://schemas.microsoft.com/office/drawing/2014/main" id="{CAF4F981-4D91-F961-B380-E21874F23C2E}"/>
              </a:ext>
            </a:extLst>
          </p:cNvPr>
          <p:cNvSpPr/>
          <p:nvPr/>
        </p:nvSpPr>
        <p:spPr>
          <a:xfrm>
            <a:off x="476368" y="1245981"/>
            <a:ext cx="2816729" cy="1998917"/>
          </a:xfrm>
          <a:prstGeom prst="rect">
            <a:avLst/>
          </a:prstGeom>
          <a:solidFill>
            <a:srgbClr val="FFFFFF"/>
          </a:solidFill>
          <a:ln w="12700">
            <a:solidFill>
              <a:srgbClr val="DDE3ED"/>
            </a:solidFill>
            <a:prstDash val="solid"/>
          </a:ln>
          <a:effectLst>
            <a:outerShdw blurRad="101600" dist="25400" dir="8100000" algn="bl" rotWithShape="0">
              <a:srgbClr val="000000">
                <a:alpha val="8000"/>
              </a:srgbClr>
            </a:outerShdw>
          </a:effectLst>
        </p:spPr>
      </p:sp>
      <p:sp>
        <p:nvSpPr>
          <p:cNvPr id="7" name="Text 5">
            <a:extLst>
              <a:ext uri="{FF2B5EF4-FFF2-40B4-BE49-F238E27FC236}">
                <a16:creationId xmlns:a16="http://schemas.microsoft.com/office/drawing/2014/main" id="{35414A5E-E45B-2A10-5585-4A6F57A5CFBA}"/>
              </a:ext>
            </a:extLst>
          </p:cNvPr>
          <p:cNvSpPr/>
          <p:nvPr/>
        </p:nvSpPr>
        <p:spPr>
          <a:xfrm>
            <a:off x="213360" y="1338027"/>
            <a:ext cx="3413760" cy="390144"/>
          </a:xfrm>
          <a:prstGeom prst="rect">
            <a:avLst/>
          </a:prstGeom>
          <a:noFill/>
          <a:ln/>
        </p:spPr>
        <p:txBody>
          <a:bodyPr wrap="square" rtlCol="0" anchor="ctr"/>
          <a:lstStyle/>
          <a:p>
            <a:pPr algn="ctr"/>
            <a:r>
              <a:rPr lang="en-US" sz="1600" b="1" dirty="0">
                <a:solidFill>
                  <a:srgbClr val="8493A8"/>
                </a:solidFill>
                <a:latin typeface="Calibri" pitchFamily="34" charset="0"/>
                <a:ea typeface="Calibri" pitchFamily="34" charset="-122"/>
                <a:cs typeface="Calibri" pitchFamily="34" charset="-120"/>
              </a:rPr>
              <a:t>XGBoost</a:t>
            </a:r>
            <a:endParaRPr lang="en-US" sz="1600" dirty="0"/>
          </a:p>
        </p:txBody>
      </p:sp>
      <p:sp>
        <p:nvSpPr>
          <p:cNvPr id="8" name="Text 6">
            <a:extLst>
              <a:ext uri="{FF2B5EF4-FFF2-40B4-BE49-F238E27FC236}">
                <a16:creationId xmlns:a16="http://schemas.microsoft.com/office/drawing/2014/main" id="{EEB175F3-7B6A-F8DE-D26E-17C38E800846}"/>
              </a:ext>
            </a:extLst>
          </p:cNvPr>
          <p:cNvSpPr/>
          <p:nvPr/>
        </p:nvSpPr>
        <p:spPr>
          <a:xfrm>
            <a:off x="213360" y="1725998"/>
            <a:ext cx="3413760" cy="609600"/>
          </a:xfrm>
          <a:prstGeom prst="rect">
            <a:avLst/>
          </a:prstGeom>
          <a:noFill/>
          <a:ln/>
        </p:spPr>
        <p:txBody>
          <a:bodyPr wrap="square" rtlCol="0" anchor="ctr"/>
          <a:lstStyle/>
          <a:p>
            <a:pPr algn="ctr"/>
            <a:r>
              <a:rPr lang="en-US" sz="2933" b="1" dirty="0">
                <a:solidFill>
                  <a:srgbClr val="C8102E"/>
                </a:solidFill>
                <a:latin typeface="Calibri" pitchFamily="34" charset="0"/>
                <a:ea typeface="Calibri" pitchFamily="34" charset="-122"/>
                <a:cs typeface="Calibri" pitchFamily="34" charset="-120"/>
              </a:rPr>
              <a:t>0.822 → 0.148</a:t>
            </a:r>
            <a:endParaRPr lang="en-US" sz="2933" dirty="0"/>
          </a:p>
        </p:txBody>
      </p:sp>
      <p:sp>
        <p:nvSpPr>
          <p:cNvPr id="9" name="Text 7">
            <a:extLst>
              <a:ext uri="{FF2B5EF4-FFF2-40B4-BE49-F238E27FC236}">
                <a16:creationId xmlns:a16="http://schemas.microsoft.com/office/drawing/2014/main" id="{5FAF9DDC-C7D8-AF9E-8640-ABE94CF753C5}"/>
              </a:ext>
            </a:extLst>
          </p:cNvPr>
          <p:cNvSpPr/>
          <p:nvPr/>
        </p:nvSpPr>
        <p:spPr>
          <a:xfrm>
            <a:off x="315518" y="2393180"/>
            <a:ext cx="3413760" cy="731520"/>
          </a:xfrm>
          <a:prstGeom prst="rect">
            <a:avLst/>
          </a:prstGeom>
          <a:noFill/>
          <a:ln/>
        </p:spPr>
        <p:txBody>
          <a:bodyPr wrap="square" rtlCol="0" anchor="ctr"/>
          <a:lstStyle/>
          <a:p>
            <a:pPr algn="ctr"/>
            <a:r>
              <a:rPr lang="en-US" sz="1333" dirty="0">
                <a:solidFill>
                  <a:srgbClr val="8493A8"/>
                </a:solidFill>
                <a:latin typeface="Calibri" pitchFamily="34" charset="0"/>
                <a:ea typeface="Calibri" pitchFamily="34" charset="-122"/>
                <a:cs typeface="Calibri" pitchFamily="34" charset="-120"/>
              </a:rPr>
              <a:t>DEGRADED F1 in-domain → Tokyo</a:t>
            </a:r>
            <a:endParaRPr lang="en-US" sz="1333" dirty="0"/>
          </a:p>
          <a:p>
            <a:pPr algn="ctr"/>
            <a:r>
              <a:rPr lang="en-US" sz="1333" dirty="0">
                <a:solidFill>
                  <a:srgbClr val="8493A8"/>
                </a:solidFill>
                <a:latin typeface="Calibri" pitchFamily="34" charset="0"/>
                <a:ea typeface="Calibri" pitchFamily="34" charset="-122"/>
                <a:cs typeface="Calibri" pitchFamily="34" charset="-120"/>
              </a:rPr>
              <a:t>−82% collapse</a:t>
            </a:r>
            <a:endParaRPr lang="en-US" sz="1333" dirty="0"/>
          </a:p>
        </p:txBody>
      </p:sp>
      <p:sp>
        <p:nvSpPr>
          <p:cNvPr id="19" name="Shape 0">
            <a:extLst>
              <a:ext uri="{FF2B5EF4-FFF2-40B4-BE49-F238E27FC236}">
                <a16:creationId xmlns:a16="http://schemas.microsoft.com/office/drawing/2014/main" id="{B4268C45-E74B-E81A-3971-879281491439}"/>
              </a:ext>
            </a:extLst>
          </p:cNvPr>
          <p:cNvSpPr/>
          <p:nvPr/>
        </p:nvSpPr>
        <p:spPr>
          <a:xfrm>
            <a:off x="0" y="-23466"/>
            <a:ext cx="12192000" cy="740408"/>
          </a:xfrm>
          <a:prstGeom prst="rect">
            <a:avLst/>
          </a:prstGeom>
          <a:solidFill>
            <a:srgbClr val="003893"/>
          </a:solidFill>
          <a:ln w="12700">
            <a:solidFill>
              <a:srgbClr val="003893"/>
            </a:solidFill>
            <a:prstDash val="solid"/>
          </a:ln>
        </p:spPr>
      </p:sp>
      <p:sp>
        <p:nvSpPr>
          <p:cNvPr id="20" name="Shape 1">
            <a:extLst>
              <a:ext uri="{FF2B5EF4-FFF2-40B4-BE49-F238E27FC236}">
                <a16:creationId xmlns:a16="http://schemas.microsoft.com/office/drawing/2014/main" id="{69E4828C-969E-C0FB-C0F0-DF962A59B99F}"/>
              </a:ext>
            </a:extLst>
          </p:cNvPr>
          <p:cNvSpPr/>
          <p:nvPr/>
        </p:nvSpPr>
        <p:spPr>
          <a:xfrm>
            <a:off x="0" y="702347"/>
            <a:ext cx="12192000" cy="36576"/>
          </a:xfrm>
          <a:prstGeom prst="rect">
            <a:avLst/>
          </a:prstGeom>
          <a:solidFill>
            <a:srgbClr val="4FC3F7"/>
          </a:solidFill>
          <a:ln w="12700">
            <a:solidFill>
              <a:srgbClr val="4FC3F7"/>
            </a:solidFill>
            <a:prstDash val="solid"/>
          </a:ln>
        </p:spPr>
      </p:sp>
      <p:sp>
        <p:nvSpPr>
          <p:cNvPr id="21" name="Shape 2">
            <a:extLst>
              <a:ext uri="{FF2B5EF4-FFF2-40B4-BE49-F238E27FC236}">
                <a16:creationId xmlns:a16="http://schemas.microsoft.com/office/drawing/2014/main" id="{D7C653CC-62E6-6C4C-4D33-E147AB9B582E}"/>
              </a:ext>
            </a:extLst>
          </p:cNvPr>
          <p:cNvSpPr/>
          <p:nvPr/>
        </p:nvSpPr>
        <p:spPr>
          <a:xfrm>
            <a:off x="0" y="6646862"/>
            <a:ext cx="12192000" cy="211137"/>
          </a:xfrm>
          <a:prstGeom prst="rect">
            <a:avLst/>
          </a:prstGeom>
          <a:solidFill>
            <a:srgbClr val="003893"/>
          </a:solidFill>
          <a:ln w="12700">
            <a:solidFill>
              <a:srgbClr val="003893"/>
            </a:solidFill>
            <a:prstDash val="solid"/>
          </a:ln>
        </p:spPr>
      </p:sp>
      <p:sp>
        <p:nvSpPr>
          <p:cNvPr id="22" name="Shape 3">
            <a:extLst>
              <a:ext uri="{FF2B5EF4-FFF2-40B4-BE49-F238E27FC236}">
                <a16:creationId xmlns:a16="http://schemas.microsoft.com/office/drawing/2014/main" id="{E13C3694-30CC-C348-F99D-594A4F913375}"/>
              </a:ext>
            </a:extLst>
          </p:cNvPr>
          <p:cNvSpPr/>
          <p:nvPr/>
        </p:nvSpPr>
        <p:spPr>
          <a:xfrm>
            <a:off x="0" y="6623677"/>
            <a:ext cx="12192000" cy="30480"/>
          </a:xfrm>
          <a:prstGeom prst="rect">
            <a:avLst/>
          </a:prstGeom>
          <a:solidFill>
            <a:srgbClr val="4FC3F7"/>
          </a:solidFill>
          <a:ln w="12700">
            <a:solidFill>
              <a:srgbClr val="4FC3F7"/>
            </a:solidFill>
            <a:prstDash val="solid"/>
          </a:ln>
        </p:spPr>
      </p:sp>
      <p:sp>
        <p:nvSpPr>
          <p:cNvPr id="23" name="Shape 4">
            <a:extLst>
              <a:ext uri="{FF2B5EF4-FFF2-40B4-BE49-F238E27FC236}">
                <a16:creationId xmlns:a16="http://schemas.microsoft.com/office/drawing/2014/main" id="{D2E27570-1828-CB3B-B392-6B3D92CAB739}"/>
              </a:ext>
            </a:extLst>
          </p:cNvPr>
          <p:cNvSpPr/>
          <p:nvPr/>
        </p:nvSpPr>
        <p:spPr>
          <a:xfrm>
            <a:off x="0" y="-24618"/>
            <a:ext cx="1128763" cy="767311"/>
          </a:xfrm>
          <a:prstGeom prst="homePlate">
            <a:avLst/>
          </a:prstGeom>
          <a:solidFill>
            <a:srgbClr val="FFFFFF"/>
          </a:solidFill>
          <a:ln w="6350">
            <a:solidFill>
              <a:srgbClr val="CCCCCC"/>
            </a:solidFill>
            <a:prstDash val="solid"/>
          </a:ln>
        </p:spPr>
      </p:sp>
      <p:sp>
        <p:nvSpPr>
          <p:cNvPr id="24" name="Shape 5">
            <a:extLst>
              <a:ext uri="{FF2B5EF4-FFF2-40B4-BE49-F238E27FC236}">
                <a16:creationId xmlns:a16="http://schemas.microsoft.com/office/drawing/2014/main" id="{26320C1F-993B-3DD7-F8FE-653FE7123CAE}"/>
              </a:ext>
            </a:extLst>
          </p:cNvPr>
          <p:cNvSpPr/>
          <p:nvPr/>
        </p:nvSpPr>
        <p:spPr>
          <a:xfrm>
            <a:off x="10728961" y="121921"/>
            <a:ext cx="51207" cy="51207"/>
          </a:xfrm>
          <a:prstGeom prst="ellipse">
            <a:avLst/>
          </a:prstGeom>
          <a:solidFill>
            <a:srgbClr val="FFFFFF">
              <a:alpha val="35000"/>
            </a:srgbClr>
          </a:solidFill>
          <a:ln w="12700">
            <a:solidFill>
              <a:srgbClr val="FFFFFF"/>
            </a:solidFill>
            <a:prstDash val="solid"/>
          </a:ln>
        </p:spPr>
      </p:sp>
      <p:sp>
        <p:nvSpPr>
          <p:cNvPr id="25" name="Shape 6">
            <a:extLst>
              <a:ext uri="{FF2B5EF4-FFF2-40B4-BE49-F238E27FC236}">
                <a16:creationId xmlns:a16="http://schemas.microsoft.com/office/drawing/2014/main" id="{47487BB2-3148-BD9B-A029-D9311F88F592}"/>
              </a:ext>
            </a:extLst>
          </p:cNvPr>
          <p:cNvSpPr/>
          <p:nvPr/>
        </p:nvSpPr>
        <p:spPr>
          <a:xfrm>
            <a:off x="10948417" y="121921"/>
            <a:ext cx="51207" cy="51207"/>
          </a:xfrm>
          <a:prstGeom prst="ellipse">
            <a:avLst/>
          </a:prstGeom>
          <a:solidFill>
            <a:srgbClr val="FFFFFF">
              <a:alpha val="35000"/>
            </a:srgbClr>
          </a:solidFill>
          <a:ln w="12700">
            <a:solidFill>
              <a:srgbClr val="FFFFFF"/>
            </a:solidFill>
            <a:prstDash val="solid"/>
          </a:ln>
        </p:spPr>
      </p:sp>
      <p:sp>
        <p:nvSpPr>
          <p:cNvPr id="26" name="Shape 7">
            <a:extLst>
              <a:ext uri="{FF2B5EF4-FFF2-40B4-BE49-F238E27FC236}">
                <a16:creationId xmlns:a16="http://schemas.microsoft.com/office/drawing/2014/main" id="{5D435034-5F45-BB15-B59B-491B7518042B}"/>
              </a:ext>
            </a:extLst>
          </p:cNvPr>
          <p:cNvSpPr/>
          <p:nvPr/>
        </p:nvSpPr>
        <p:spPr>
          <a:xfrm>
            <a:off x="11167873" y="121921"/>
            <a:ext cx="51207" cy="51207"/>
          </a:xfrm>
          <a:prstGeom prst="ellipse">
            <a:avLst/>
          </a:prstGeom>
          <a:solidFill>
            <a:srgbClr val="FFFFFF">
              <a:alpha val="35000"/>
            </a:srgbClr>
          </a:solidFill>
          <a:ln w="12700">
            <a:solidFill>
              <a:srgbClr val="FFFFFF"/>
            </a:solidFill>
            <a:prstDash val="solid"/>
          </a:ln>
        </p:spPr>
      </p:sp>
      <p:sp>
        <p:nvSpPr>
          <p:cNvPr id="27" name="Shape 8">
            <a:extLst>
              <a:ext uri="{FF2B5EF4-FFF2-40B4-BE49-F238E27FC236}">
                <a16:creationId xmlns:a16="http://schemas.microsoft.com/office/drawing/2014/main" id="{FD42E6FF-9D1E-2937-BD4E-C285D00DB64F}"/>
              </a:ext>
            </a:extLst>
          </p:cNvPr>
          <p:cNvSpPr/>
          <p:nvPr/>
        </p:nvSpPr>
        <p:spPr>
          <a:xfrm>
            <a:off x="11387329" y="121921"/>
            <a:ext cx="51207" cy="51207"/>
          </a:xfrm>
          <a:prstGeom prst="ellipse">
            <a:avLst/>
          </a:prstGeom>
          <a:solidFill>
            <a:srgbClr val="FFFFFF">
              <a:alpha val="35000"/>
            </a:srgbClr>
          </a:solidFill>
          <a:ln w="12700">
            <a:solidFill>
              <a:srgbClr val="FFFFFF"/>
            </a:solidFill>
            <a:prstDash val="solid"/>
          </a:ln>
        </p:spPr>
      </p:sp>
      <p:sp>
        <p:nvSpPr>
          <p:cNvPr id="28" name="Shape 9">
            <a:extLst>
              <a:ext uri="{FF2B5EF4-FFF2-40B4-BE49-F238E27FC236}">
                <a16:creationId xmlns:a16="http://schemas.microsoft.com/office/drawing/2014/main" id="{D33C15C5-19B2-4695-8ED7-C9BBC7A07BBE}"/>
              </a:ext>
            </a:extLst>
          </p:cNvPr>
          <p:cNvSpPr/>
          <p:nvPr/>
        </p:nvSpPr>
        <p:spPr>
          <a:xfrm>
            <a:off x="10728961" y="292609"/>
            <a:ext cx="51207" cy="51207"/>
          </a:xfrm>
          <a:prstGeom prst="ellipse">
            <a:avLst/>
          </a:prstGeom>
          <a:solidFill>
            <a:srgbClr val="FFFFFF">
              <a:alpha val="35000"/>
            </a:srgbClr>
          </a:solidFill>
          <a:ln w="12700">
            <a:solidFill>
              <a:srgbClr val="FFFFFF"/>
            </a:solidFill>
            <a:prstDash val="solid"/>
          </a:ln>
        </p:spPr>
      </p:sp>
      <p:sp>
        <p:nvSpPr>
          <p:cNvPr id="29" name="Shape 10">
            <a:extLst>
              <a:ext uri="{FF2B5EF4-FFF2-40B4-BE49-F238E27FC236}">
                <a16:creationId xmlns:a16="http://schemas.microsoft.com/office/drawing/2014/main" id="{D2733582-E837-5CE3-CF69-DE72563476BB}"/>
              </a:ext>
            </a:extLst>
          </p:cNvPr>
          <p:cNvSpPr/>
          <p:nvPr/>
        </p:nvSpPr>
        <p:spPr>
          <a:xfrm>
            <a:off x="10948417" y="292609"/>
            <a:ext cx="51207" cy="51207"/>
          </a:xfrm>
          <a:prstGeom prst="ellipse">
            <a:avLst/>
          </a:prstGeom>
          <a:solidFill>
            <a:srgbClr val="FFFFFF">
              <a:alpha val="35000"/>
            </a:srgbClr>
          </a:solidFill>
          <a:ln w="12700">
            <a:solidFill>
              <a:srgbClr val="FFFFFF"/>
            </a:solidFill>
            <a:prstDash val="solid"/>
          </a:ln>
        </p:spPr>
      </p:sp>
      <p:sp>
        <p:nvSpPr>
          <p:cNvPr id="30" name="Shape 11">
            <a:extLst>
              <a:ext uri="{FF2B5EF4-FFF2-40B4-BE49-F238E27FC236}">
                <a16:creationId xmlns:a16="http://schemas.microsoft.com/office/drawing/2014/main" id="{5C87E9D6-6AE6-E710-FD4A-C32E9AEB14C4}"/>
              </a:ext>
            </a:extLst>
          </p:cNvPr>
          <p:cNvSpPr/>
          <p:nvPr/>
        </p:nvSpPr>
        <p:spPr>
          <a:xfrm>
            <a:off x="11167873" y="292609"/>
            <a:ext cx="51207" cy="51207"/>
          </a:xfrm>
          <a:prstGeom prst="ellipse">
            <a:avLst/>
          </a:prstGeom>
          <a:solidFill>
            <a:srgbClr val="FFFFFF">
              <a:alpha val="35000"/>
            </a:srgbClr>
          </a:solidFill>
          <a:ln w="12700">
            <a:solidFill>
              <a:srgbClr val="FFFFFF"/>
            </a:solidFill>
            <a:prstDash val="solid"/>
          </a:ln>
        </p:spPr>
      </p:sp>
      <p:sp>
        <p:nvSpPr>
          <p:cNvPr id="31" name="Shape 12">
            <a:extLst>
              <a:ext uri="{FF2B5EF4-FFF2-40B4-BE49-F238E27FC236}">
                <a16:creationId xmlns:a16="http://schemas.microsoft.com/office/drawing/2014/main" id="{D2DF1222-2CB1-B5FE-21FE-0290A36AA6EB}"/>
              </a:ext>
            </a:extLst>
          </p:cNvPr>
          <p:cNvSpPr/>
          <p:nvPr/>
        </p:nvSpPr>
        <p:spPr>
          <a:xfrm>
            <a:off x="11387329" y="292609"/>
            <a:ext cx="51207" cy="51207"/>
          </a:xfrm>
          <a:prstGeom prst="ellipse">
            <a:avLst/>
          </a:prstGeom>
          <a:solidFill>
            <a:srgbClr val="FFFFFF">
              <a:alpha val="35000"/>
            </a:srgbClr>
          </a:solidFill>
          <a:ln w="12700">
            <a:solidFill>
              <a:srgbClr val="FFFFFF"/>
            </a:solidFill>
            <a:prstDash val="solid"/>
          </a:ln>
        </p:spPr>
      </p:sp>
      <p:sp>
        <p:nvSpPr>
          <p:cNvPr id="32" name="Shape 13">
            <a:extLst>
              <a:ext uri="{FF2B5EF4-FFF2-40B4-BE49-F238E27FC236}">
                <a16:creationId xmlns:a16="http://schemas.microsoft.com/office/drawing/2014/main" id="{4015D7CD-FF44-85CE-CEF9-C608B57DAA96}"/>
              </a:ext>
            </a:extLst>
          </p:cNvPr>
          <p:cNvSpPr/>
          <p:nvPr/>
        </p:nvSpPr>
        <p:spPr>
          <a:xfrm>
            <a:off x="10728961" y="463297"/>
            <a:ext cx="51207" cy="51207"/>
          </a:xfrm>
          <a:prstGeom prst="ellipse">
            <a:avLst/>
          </a:prstGeom>
          <a:solidFill>
            <a:srgbClr val="FFFFFF">
              <a:alpha val="35000"/>
            </a:srgbClr>
          </a:solidFill>
          <a:ln w="12700">
            <a:solidFill>
              <a:srgbClr val="FFFFFF"/>
            </a:solidFill>
            <a:prstDash val="solid"/>
          </a:ln>
        </p:spPr>
      </p:sp>
      <p:sp>
        <p:nvSpPr>
          <p:cNvPr id="33" name="Shape 14">
            <a:extLst>
              <a:ext uri="{FF2B5EF4-FFF2-40B4-BE49-F238E27FC236}">
                <a16:creationId xmlns:a16="http://schemas.microsoft.com/office/drawing/2014/main" id="{9CAD32DF-A476-6AE8-F798-4B35B4267FE3}"/>
              </a:ext>
            </a:extLst>
          </p:cNvPr>
          <p:cNvSpPr/>
          <p:nvPr/>
        </p:nvSpPr>
        <p:spPr>
          <a:xfrm>
            <a:off x="10948417" y="463297"/>
            <a:ext cx="51207" cy="51207"/>
          </a:xfrm>
          <a:prstGeom prst="ellipse">
            <a:avLst/>
          </a:prstGeom>
          <a:solidFill>
            <a:srgbClr val="FFFFFF">
              <a:alpha val="35000"/>
            </a:srgbClr>
          </a:solidFill>
          <a:ln w="12700">
            <a:solidFill>
              <a:srgbClr val="FFFFFF"/>
            </a:solidFill>
            <a:prstDash val="solid"/>
          </a:ln>
        </p:spPr>
      </p:sp>
      <p:sp>
        <p:nvSpPr>
          <p:cNvPr id="34" name="Shape 15">
            <a:extLst>
              <a:ext uri="{FF2B5EF4-FFF2-40B4-BE49-F238E27FC236}">
                <a16:creationId xmlns:a16="http://schemas.microsoft.com/office/drawing/2014/main" id="{35572C2E-3553-7942-B269-31E5DB5FA2CA}"/>
              </a:ext>
            </a:extLst>
          </p:cNvPr>
          <p:cNvSpPr/>
          <p:nvPr/>
        </p:nvSpPr>
        <p:spPr>
          <a:xfrm>
            <a:off x="11167873" y="463297"/>
            <a:ext cx="51207" cy="51207"/>
          </a:xfrm>
          <a:prstGeom prst="ellipse">
            <a:avLst/>
          </a:prstGeom>
          <a:solidFill>
            <a:srgbClr val="FFFFFF">
              <a:alpha val="35000"/>
            </a:srgbClr>
          </a:solidFill>
          <a:ln w="12700">
            <a:solidFill>
              <a:srgbClr val="FFFFFF"/>
            </a:solidFill>
            <a:prstDash val="solid"/>
          </a:ln>
        </p:spPr>
      </p:sp>
      <p:sp>
        <p:nvSpPr>
          <p:cNvPr id="35" name="Shape 16">
            <a:extLst>
              <a:ext uri="{FF2B5EF4-FFF2-40B4-BE49-F238E27FC236}">
                <a16:creationId xmlns:a16="http://schemas.microsoft.com/office/drawing/2014/main" id="{46ED58E7-58F0-9FD9-7025-1EC1D0CABDDC}"/>
              </a:ext>
            </a:extLst>
          </p:cNvPr>
          <p:cNvSpPr/>
          <p:nvPr/>
        </p:nvSpPr>
        <p:spPr>
          <a:xfrm>
            <a:off x="11387329" y="463297"/>
            <a:ext cx="51207" cy="51207"/>
          </a:xfrm>
          <a:prstGeom prst="ellipse">
            <a:avLst/>
          </a:prstGeom>
          <a:solidFill>
            <a:srgbClr val="FFFFFF">
              <a:alpha val="35000"/>
            </a:srgbClr>
          </a:solidFill>
          <a:ln w="12700">
            <a:solidFill>
              <a:srgbClr val="FFFFFF"/>
            </a:solidFill>
            <a:prstDash val="solid"/>
          </a:ln>
        </p:spPr>
      </p:sp>
      <p:pic>
        <p:nvPicPr>
          <p:cNvPr id="36" name="Picture 35">
            <a:extLst>
              <a:ext uri="{FF2B5EF4-FFF2-40B4-BE49-F238E27FC236}">
                <a16:creationId xmlns:a16="http://schemas.microsoft.com/office/drawing/2014/main" id="{9D719333-F02C-801C-D970-367D9582B663}"/>
              </a:ext>
            </a:extLst>
          </p:cNvPr>
          <p:cNvPicPr>
            <a:picLocks noChangeAspect="1"/>
          </p:cNvPicPr>
          <p:nvPr/>
        </p:nvPicPr>
        <p:blipFill>
          <a:blip r:embed="rId4"/>
          <a:stretch>
            <a:fillRect/>
          </a:stretch>
        </p:blipFill>
        <p:spPr>
          <a:xfrm>
            <a:off x="-453212" y="-263954"/>
            <a:ext cx="1776568" cy="1245981"/>
          </a:xfrm>
          <a:prstGeom prst="rect">
            <a:avLst/>
          </a:prstGeom>
        </p:spPr>
      </p:pic>
      <p:sp>
        <p:nvSpPr>
          <p:cNvPr id="5" name="Text 3">
            <a:extLst>
              <a:ext uri="{FF2B5EF4-FFF2-40B4-BE49-F238E27FC236}">
                <a16:creationId xmlns:a16="http://schemas.microsoft.com/office/drawing/2014/main" id="{F4560CBD-63BD-150C-AF29-98AD013A1CDF}"/>
              </a:ext>
            </a:extLst>
          </p:cNvPr>
          <p:cNvSpPr/>
          <p:nvPr/>
        </p:nvSpPr>
        <p:spPr>
          <a:xfrm>
            <a:off x="1219200" y="-13902"/>
            <a:ext cx="10972800" cy="731520"/>
          </a:xfrm>
          <a:prstGeom prst="rect">
            <a:avLst/>
          </a:prstGeom>
          <a:noFill/>
          <a:ln/>
        </p:spPr>
        <p:txBody>
          <a:bodyPr wrap="square" lIns="0" tIns="0" rIns="0" bIns="0" rtlCol="0" anchor="ctr"/>
          <a:lstStyle/>
          <a:p>
            <a:r>
              <a:rPr lang="en-US" sz="3200" b="1" dirty="0">
                <a:solidFill>
                  <a:schemeClr val="bg1"/>
                </a:solidFill>
                <a:latin typeface="Calibri" pitchFamily="34" charset="0"/>
                <a:ea typeface="Calibri" pitchFamily="34" charset="-122"/>
                <a:cs typeface="Calibri" pitchFamily="34" charset="-120"/>
              </a:rPr>
              <a:t>CROSS-CITY GENERALISATION — TOKYO SHINJUKU</a:t>
            </a:r>
            <a:endParaRPr lang="en-US" sz="3200" dirty="0">
              <a:solidFill>
                <a:schemeClr val="bg1"/>
              </a:solidFill>
            </a:endParaRPr>
          </a:p>
        </p:txBody>
      </p:sp>
      <p:sp>
        <p:nvSpPr>
          <p:cNvPr id="40" name="Shape 4">
            <a:extLst>
              <a:ext uri="{FF2B5EF4-FFF2-40B4-BE49-F238E27FC236}">
                <a16:creationId xmlns:a16="http://schemas.microsoft.com/office/drawing/2014/main" id="{1EEC1081-0D5B-F61C-D497-73ED52DA7008}"/>
              </a:ext>
            </a:extLst>
          </p:cNvPr>
          <p:cNvSpPr/>
          <p:nvPr/>
        </p:nvSpPr>
        <p:spPr>
          <a:xfrm>
            <a:off x="3543999" y="1223193"/>
            <a:ext cx="2816729" cy="1998917"/>
          </a:xfrm>
          <a:prstGeom prst="rect">
            <a:avLst/>
          </a:prstGeom>
          <a:solidFill>
            <a:srgbClr val="FFFFFF"/>
          </a:solidFill>
          <a:ln w="12700">
            <a:solidFill>
              <a:srgbClr val="DDE3ED"/>
            </a:solidFill>
            <a:prstDash val="solid"/>
          </a:ln>
          <a:effectLst>
            <a:outerShdw blurRad="101600" dist="25400" dir="8100000" algn="bl" rotWithShape="0">
              <a:srgbClr val="000000">
                <a:alpha val="8000"/>
              </a:srgbClr>
            </a:outerShdw>
          </a:effectLst>
        </p:spPr>
      </p:sp>
      <p:sp>
        <p:nvSpPr>
          <p:cNvPr id="12" name="Text 10">
            <a:extLst>
              <a:ext uri="{FF2B5EF4-FFF2-40B4-BE49-F238E27FC236}">
                <a16:creationId xmlns:a16="http://schemas.microsoft.com/office/drawing/2014/main" id="{6AF6F75C-8182-F086-AA2E-A5B3A8A9F4B1}"/>
              </a:ext>
            </a:extLst>
          </p:cNvPr>
          <p:cNvSpPr/>
          <p:nvPr/>
        </p:nvSpPr>
        <p:spPr>
          <a:xfrm>
            <a:off x="3361119" y="1783579"/>
            <a:ext cx="3413760" cy="609600"/>
          </a:xfrm>
          <a:prstGeom prst="rect">
            <a:avLst/>
          </a:prstGeom>
          <a:noFill/>
          <a:ln/>
        </p:spPr>
        <p:txBody>
          <a:bodyPr wrap="square" rtlCol="0" anchor="ctr"/>
          <a:lstStyle/>
          <a:p>
            <a:pPr algn="ctr"/>
            <a:r>
              <a:rPr lang="en-US" sz="2933" b="1" dirty="0">
                <a:solidFill>
                  <a:srgbClr val="1DA462"/>
                </a:solidFill>
                <a:latin typeface="Calibri" pitchFamily="34" charset="0"/>
                <a:ea typeface="Calibri" pitchFamily="34" charset="-122"/>
                <a:cs typeface="Calibri" pitchFamily="34" charset="-120"/>
              </a:rPr>
              <a:t>0.718 → 0.753</a:t>
            </a:r>
            <a:endParaRPr lang="en-US" sz="2933" dirty="0"/>
          </a:p>
        </p:txBody>
      </p:sp>
      <p:sp>
        <p:nvSpPr>
          <p:cNvPr id="11" name="Text 9">
            <a:extLst>
              <a:ext uri="{FF2B5EF4-FFF2-40B4-BE49-F238E27FC236}">
                <a16:creationId xmlns:a16="http://schemas.microsoft.com/office/drawing/2014/main" id="{DAB1D6F9-067D-AE52-BB00-9460FA3B8C98}"/>
              </a:ext>
            </a:extLst>
          </p:cNvPr>
          <p:cNvSpPr/>
          <p:nvPr/>
        </p:nvSpPr>
        <p:spPr>
          <a:xfrm>
            <a:off x="3245483" y="1393434"/>
            <a:ext cx="3413760" cy="390144"/>
          </a:xfrm>
          <a:prstGeom prst="rect">
            <a:avLst/>
          </a:prstGeom>
          <a:noFill/>
          <a:ln/>
        </p:spPr>
        <p:txBody>
          <a:bodyPr wrap="square" rtlCol="0" anchor="ctr"/>
          <a:lstStyle/>
          <a:p>
            <a:pPr algn="ctr"/>
            <a:r>
              <a:rPr lang="en-US" sz="1600" b="1" dirty="0">
                <a:solidFill>
                  <a:srgbClr val="8493A8"/>
                </a:solidFill>
                <a:latin typeface="Calibri" pitchFamily="34" charset="0"/>
                <a:ea typeface="Calibri" pitchFamily="34" charset="-122"/>
                <a:cs typeface="Calibri" pitchFamily="34" charset="-120"/>
              </a:rPr>
              <a:t>SENTINEL-GNSS</a:t>
            </a:r>
            <a:endParaRPr lang="en-US" sz="1600" dirty="0"/>
          </a:p>
        </p:txBody>
      </p:sp>
      <p:sp>
        <p:nvSpPr>
          <p:cNvPr id="13" name="Text 11">
            <a:extLst>
              <a:ext uri="{FF2B5EF4-FFF2-40B4-BE49-F238E27FC236}">
                <a16:creationId xmlns:a16="http://schemas.microsoft.com/office/drawing/2014/main" id="{2B4C0C22-C91D-A0E9-91D9-0CEB3E4372A0}"/>
              </a:ext>
            </a:extLst>
          </p:cNvPr>
          <p:cNvSpPr/>
          <p:nvPr/>
        </p:nvSpPr>
        <p:spPr>
          <a:xfrm>
            <a:off x="3361119" y="2374101"/>
            <a:ext cx="3413760" cy="731520"/>
          </a:xfrm>
          <a:prstGeom prst="rect">
            <a:avLst/>
          </a:prstGeom>
          <a:noFill/>
          <a:ln/>
        </p:spPr>
        <p:txBody>
          <a:bodyPr wrap="square" rtlCol="0" anchor="ctr"/>
          <a:lstStyle/>
          <a:p>
            <a:pPr algn="ctr"/>
            <a:r>
              <a:rPr lang="en-US" sz="1333" dirty="0">
                <a:solidFill>
                  <a:srgbClr val="8493A8"/>
                </a:solidFill>
                <a:latin typeface="Calibri" pitchFamily="34" charset="0"/>
                <a:ea typeface="Calibri" pitchFamily="34" charset="-122"/>
                <a:cs typeface="Calibri" pitchFamily="34" charset="-120"/>
              </a:rPr>
              <a:t>DEGRADED F1 in-domain → Tokyo</a:t>
            </a:r>
            <a:endParaRPr lang="en-US" sz="1333" dirty="0"/>
          </a:p>
          <a:p>
            <a:pPr algn="ctr"/>
            <a:r>
              <a:rPr lang="en-US" sz="1333" dirty="0">
                <a:solidFill>
                  <a:srgbClr val="8493A8"/>
                </a:solidFill>
                <a:latin typeface="Calibri" pitchFamily="34" charset="0"/>
                <a:ea typeface="Calibri" pitchFamily="34" charset="-122"/>
                <a:cs typeface="Calibri" pitchFamily="34" charset="-120"/>
              </a:rPr>
              <a:t>+5% improvement</a:t>
            </a:r>
            <a:endParaRPr lang="en-US" sz="1333" dirty="0"/>
          </a:p>
        </p:txBody>
      </p:sp>
      <p:pic>
        <p:nvPicPr>
          <p:cNvPr id="4" name="Picture 3" descr="fig16_ensemble.png">
            <a:extLst>
              <a:ext uri="{FF2B5EF4-FFF2-40B4-BE49-F238E27FC236}">
                <a16:creationId xmlns:a16="http://schemas.microsoft.com/office/drawing/2014/main" id="{DA5EF677-B061-A973-4B61-9B5797C60973}"/>
              </a:ext>
            </a:extLst>
          </p:cNvPr>
          <p:cNvPicPr>
            <a:picLocks noChangeAspect="1"/>
          </p:cNvPicPr>
          <p:nvPr/>
        </p:nvPicPr>
        <p:blipFill>
          <a:blip r:embed="rId5"/>
          <a:stretch>
            <a:fillRect/>
          </a:stretch>
        </p:blipFill>
        <p:spPr>
          <a:xfrm>
            <a:off x="6478688" y="868246"/>
            <a:ext cx="5657528" cy="3203755"/>
          </a:xfrm>
          <a:prstGeom prst="rect">
            <a:avLst/>
          </a:prstGeom>
        </p:spPr>
      </p:pic>
      <p:graphicFrame>
        <p:nvGraphicFramePr>
          <p:cNvPr id="10" name="Table 9">
            <a:extLst>
              <a:ext uri="{FF2B5EF4-FFF2-40B4-BE49-F238E27FC236}">
                <a16:creationId xmlns:a16="http://schemas.microsoft.com/office/drawing/2014/main" id="{04F35E8F-1E62-6B03-ED81-69DE8AC3B8F9}"/>
              </a:ext>
            </a:extLst>
          </p:cNvPr>
          <p:cNvGraphicFramePr>
            <a:graphicFrameLocks noGrp="1"/>
          </p:cNvGraphicFramePr>
          <p:nvPr>
            <p:extLst>
              <p:ext uri="{D42A27DB-BD31-4B8C-83A1-F6EECF244321}">
                <p14:modId xmlns:p14="http://schemas.microsoft.com/office/powerpoint/2010/main" val="1768291042"/>
              </p:ext>
            </p:extLst>
          </p:nvPr>
        </p:nvGraphicFramePr>
        <p:xfrm>
          <a:off x="315517" y="4316610"/>
          <a:ext cx="11071812" cy="2086505"/>
        </p:xfrm>
        <a:graphic>
          <a:graphicData uri="http://schemas.openxmlformats.org/drawingml/2006/table">
            <a:tbl>
              <a:tblPr firstRow="1" bandRow="1">
                <a:tableStyleId>{5C22544A-7EE6-4342-B048-85BDC9FD1C3A}</a:tableStyleId>
              </a:tblPr>
              <a:tblGrid>
                <a:gridCol w="4316130">
                  <a:extLst>
                    <a:ext uri="{9D8B030D-6E8A-4147-A177-3AD203B41FA5}">
                      <a16:colId xmlns:a16="http://schemas.microsoft.com/office/drawing/2014/main" val="20000"/>
                    </a:ext>
                  </a:extLst>
                </a:gridCol>
                <a:gridCol w="2439552">
                  <a:extLst>
                    <a:ext uri="{9D8B030D-6E8A-4147-A177-3AD203B41FA5}">
                      <a16:colId xmlns:a16="http://schemas.microsoft.com/office/drawing/2014/main" val="20001"/>
                    </a:ext>
                  </a:extLst>
                </a:gridCol>
                <a:gridCol w="1876578">
                  <a:extLst>
                    <a:ext uri="{9D8B030D-6E8A-4147-A177-3AD203B41FA5}">
                      <a16:colId xmlns:a16="http://schemas.microsoft.com/office/drawing/2014/main" val="20002"/>
                    </a:ext>
                  </a:extLst>
                </a:gridCol>
                <a:gridCol w="2439552">
                  <a:extLst>
                    <a:ext uri="{9D8B030D-6E8A-4147-A177-3AD203B41FA5}">
                      <a16:colId xmlns:a16="http://schemas.microsoft.com/office/drawing/2014/main" val="20003"/>
                    </a:ext>
                  </a:extLst>
                </a:gridCol>
              </a:tblGrid>
              <a:tr h="417301">
                <a:tc>
                  <a:txBody>
                    <a:bodyPr/>
                    <a:lstStyle/>
                    <a:p>
                      <a:pPr algn="ctr"/>
                      <a:r>
                        <a:rPr sz="1500" b="1">
                          <a:solidFill>
                            <a:srgbClr val="FFFFFF"/>
                          </a:solidFill>
                        </a:rPr>
                        <a:t>Model</a:t>
                      </a:r>
                    </a:p>
                  </a:txBody>
                  <a:tcPr>
                    <a:solidFill>
                      <a:srgbClr val="005BAC"/>
                    </a:solidFill>
                  </a:tcPr>
                </a:tc>
                <a:tc>
                  <a:txBody>
                    <a:bodyPr/>
                    <a:lstStyle/>
                    <a:p>
                      <a:pPr algn="ctr"/>
                      <a:r>
                        <a:rPr sz="1500" b="1" dirty="0" err="1">
                          <a:solidFill>
                            <a:srgbClr val="FFFFFF"/>
                          </a:solidFill>
                        </a:rPr>
                        <a:t>Beihang</a:t>
                      </a:r>
                      <a:r>
                        <a:rPr sz="1500" b="1" dirty="0">
                          <a:solidFill>
                            <a:srgbClr val="FFFFFF"/>
                          </a:solidFill>
                        </a:rPr>
                        <a:t>/Beijing</a:t>
                      </a:r>
                    </a:p>
                  </a:txBody>
                  <a:tcPr>
                    <a:solidFill>
                      <a:srgbClr val="005BAC"/>
                    </a:solidFill>
                  </a:tcPr>
                </a:tc>
                <a:tc>
                  <a:txBody>
                    <a:bodyPr/>
                    <a:lstStyle/>
                    <a:p>
                      <a:pPr algn="ctr"/>
                      <a:r>
                        <a:rPr sz="1500" b="1">
                          <a:solidFill>
                            <a:srgbClr val="FFFFFF"/>
                          </a:solidFill>
                        </a:rPr>
                        <a:t>Tokyo</a:t>
                      </a:r>
                    </a:p>
                  </a:txBody>
                  <a:tcPr>
                    <a:solidFill>
                      <a:srgbClr val="005BAC"/>
                    </a:solidFill>
                  </a:tcPr>
                </a:tc>
                <a:tc>
                  <a:txBody>
                    <a:bodyPr/>
                    <a:lstStyle/>
                    <a:p>
                      <a:pPr algn="ctr"/>
                      <a:r>
                        <a:rPr sz="1500" b="1">
                          <a:solidFill>
                            <a:srgbClr val="FFFFFF"/>
                          </a:solidFill>
                        </a:rPr>
                        <a:t>Tokyo DEGRADED F1</a:t>
                      </a:r>
                    </a:p>
                  </a:txBody>
                  <a:tcPr>
                    <a:solidFill>
                      <a:srgbClr val="005BAC"/>
                    </a:solidFill>
                  </a:tcPr>
                </a:tc>
                <a:extLst>
                  <a:ext uri="{0D108BD9-81ED-4DB2-BD59-A6C34878D82A}">
                    <a16:rowId xmlns:a16="http://schemas.microsoft.com/office/drawing/2014/main" val="10000"/>
                  </a:ext>
                </a:extLst>
              </a:tr>
              <a:tr h="417301">
                <a:tc>
                  <a:txBody>
                    <a:bodyPr/>
                    <a:lstStyle/>
                    <a:p>
                      <a:pPr algn="l"/>
                      <a:r>
                        <a:rPr sz="1500" dirty="0">
                          <a:solidFill>
                            <a:srgbClr val="1A1A1A"/>
                          </a:solidFill>
                        </a:rPr>
                        <a:t>DL + </a:t>
                      </a:r>
                      <a:r>
                        <a:rPr sz="1500" dirty="0" err="1">
                          <a:solidFill>
                            <a:srgbClr val="1A1A1A"/>
                          </a:solidFill>
                        </a:rPr>
                        <a:t>XGBoost</a:t>
                      </a:r>
                      <a:r>
                        <a:rPr sz="1500" dirty="0">
                          <a:solidFill>
                            <a:srgbClr val="1A1A1A"/>
                          </a:solidFill>
                        </a:rPr>
                        <a:t> ENSEMBLE</a:t>
                      </a:r>
                    </a:p>
                  </a:txBody>
                  <a:tcPr>
                    <a:solidFill>
                      <a:srgbClr val="FFFFFF"/>
                    </a:solidFill>
                  </a:tcPr>
                </a:tc>
                <a:tc>
                  <a:txBody>
                    <a:bodyPr/>
                    <a:lstStyle/>
                    <a:p>
                      <a:pPr algn="ctr"/>
                      <a:r>
                        <a:rPr sz="1500">
                          <a:solidFill>
                            <a:srgbClr val="1A1A1A"/>
                          </a:solidFill>
                        </a:rPr>
                        <a:t>0.911</a:t>
                      </a:r>
                    </a:p>
                  </a:txBody>
                  <a:tcPr>
                    <a:solidFill>
                      <a:srgbClr val="FFFFFF"/>
                    </a:solidFill>
                  </a:tcPr>
                </a:tc>
                <a:tc>
                  <a:txBody>
                    <a:bodyPr/>
                    <a:lstStyle/>
                    <a:p>
                      <a:pPr algn="ctr"/>
                      <a:r>
                        <a:rPr sz="1500">
                          <a:solidFill>
                            <a:srgbClr val="1A1A1A"/>
                          </a:solidFill>
                        </a:rPr>
                        <a:t>0.892</a:t>
                      </a:r>
                    </a:p>
                  </a:txBody>
                  <a:tcPr>
                    <a:solidFill>
                      <a:srgbClr val="FFFFFF"/>
                    </a:solidFill>
                  </a:tcPr>
                </a:tc>
                <a:tc>
                  <a:txBody>
                    <a:bodyPr/>
                    <a:lstStyle/>
                    <a:p>
                      <a:pPr algn="ctr"/>
                      <a:r>
                        <a:rPr sz="1500">
                          <a:solidFill>
                            <a:srgbClr val="1A1A1A"/>
                          </a:solidFill>
                        </a:rPr>
                        <a:t>0.896</a:t>
                      </a:r>
                    </a:p>
                  </a:txBody>
                  <a:tcPr>
                    <a:solidFill>
                      <a:srgbClr val="FFFFFF"/>
                    </a:solidFill>
                  </a:tcPr>
                </a:tc>
                <a:extLst>
                  <a:ext uri="{0D108BD9-81ED-4DB2-BD59-A6C34878D82A}">
                    <a16:rowId xmlns:a16="http://schemas.microsoft.com/office/drawing/2014/main" val="10001"/>
                  </a:ext>
                </a:extLst>
              </a:tr>
              <a:tr h="417301">
                <a:tc>
                  <a:txBody>
                    <a:bodyPr/>
                    <a:lstStyle/>
                    <a:p>
                      <a:pPr algn="l"/>
                      <a:r>
                        <a:rPr sz="1500">
                          <a:solidFill>
                            <a:srgbClr val="1A1A1A"/>
                          </a:solidFill>
                        </a:rPr>
                        <a:t>SENTINEL-GNSS (DL)</a:t>
                      </a:r>
                    </a:p>
                  </a:txBody>
                  <a:tcPr>
                    <a:solidFill>
                      <a:srgbClr val="ECF3FA"/>
                    </a:solidFill>
                  </a:tcPr>
                </a:tc>
                <a:tc>
                  <a:txBody>
                    <a:bodyPr/>
                    <a:lstStyle/>
                    <a:p>
                      <a:pPr algn="ctr"/>
                      <a:r>
                        <a:rPr sz="1500">
                          <a:solidFill>
                            <a:srgbClr val="1A1A1A"/>
                          </a:solidFill>
                        </a:rPr>
                        <a:t>0.822</a:t>
                      </a:r>
                    </a:p>
                  </a:txBody>
                  <a:tcPr>
                    <a:solidFill>
                      <a:srgbClr val="ECF3FA"/>
                    </a:solidFill>
                  </a:tcPr>
                </a:tc>
                <a:tc>
                  <a:txBody>
                    <a:bodyPr/>
                    <a:lstStyle/>
                    <a:p>
                      <a:pPr algn="ctr"/>
                      <a:r>
                        <a:rPr sz="1500" dirty="0">
                          <a:solidFill>
                            <a:srgbClr val="1A1A1A"/>
                          </a:solidFill>
                        </a:rPr>
                        <a:t>0.649</a:t>
                      </a:r>
                    </a:p>
                  </a:txBody>
                  <a:tcPr>
                    <a:solidFill>
                      <a:srgbClr val="ECF3FA"/>
                    </a:solidFill>
                  </a:tcPr>
                </a:tc>
                <a:tc>
                  <a:txBody>
                    <a:bodyPr/>
                    <a:lstStyle/>
                    <a:p>
                      <a:pPr algn="ctr"/>
                      <a:r>
                        <a:rPr sz="1500">
                          <a:solidFill>
                            <a:srgbClr val="1A1A1A"/>
                          </a:solidFill>
                        </a:rPr>
                        <a:t>0.753</a:t>
                      </a:r>
                    </a:p>
                  </a:txBody>
                  <a:tcPr>
                    <a:solidFill>
                      <a:srgbClr val="ECF3FA"/>
                    </a:solidFill>
                  </a:tcPr>
                </a:tc>
                <a:extLst>
                  <a:ext uri="{0D108BD9-81ED-4DB2-BD59-A6C34878D82A}">
                    <a16:rowId xmlns:a16="http://schemas.microsoft.com/office/drawing/2014/main" val="10002"/>
                  </a:ext>
                </a:extLst>
              </a:tr>
              <a:tr h="417301">
                <a:tc>
                  <a:txBody>
                    <a:bodyPr/>
                    <a:lstStyle/>
                    <a:p>
                      <a:pPr algn="l"/>
                      <a:r>
                        <a:rPr sz="1500">
                          <a:solidFill>
                            <a:srgbClr val="1A1A1A"/>
                          </a:solidFill>
                        </a:rPr>
                        <a:t>XGBoost</a:t>
                      </a:r>
                    </a:p>
                  </a:txBody>
                  <a:tcPr>
                    <a:solidFill>
                      <a:srgbClr val="FFFFFF"/>
                    </a:solidFill>
                  </a:tcPr>
                </a:tc>
                <a:tc>
                  <a:txBody>
                    <a:bodyPr/>
                    <a:lstStyle/>
                    <a:p>
                      <a:pPr algn="ctr"/>
                      <a:r>
                        <a:rPr sz="1500">
                          <a:solidFill>
                            <a:srgbClr val="1A1A1A"/>
                          </a:solidFill>
                        </a:rPr>
                        <a:t>0.919</a:t>
                      </a:r>
                    </a:p>
                  </a:txBody>
                  <a:tcPr>
                    <a:solidFill>
                      <a:srgbClr val="FFFFFF"/>
                    </a:solidFill>
                  </a:tcPr>
                </a:tc>
                <a:tc>
                  <a:txBody>
                    <a:bodyPr/>
                    <a:lstStyle/>
                    <a:p>
                      <a:pPr algn="ctr"/>
                      <a:r>
                        <a:rPr sz="1500">
                          <a:solidFill>
                            <a:srgbClr val="1A1A1A"/>
                          </a:solidFill>
                        </a:rPr>
                        <a:t>0.821</a:t>
                      </a:r>
                    </a:p>
                  </a:txBody>
                  <a:tcPr>
                    <a:solidFill>
                      <a:srgbClr val="FFFFFF"/>
                    </a:solidFill>
                  </a:tcPr>
                </a:tc>
                <a:tc>
                  <a:txBody>
                    <a:bodyPr/>
                    <a:lstStyle/>
                    <a:p>
                      <a:pPr algn="ctr"/>
                      <a:r>
                        <a:rPr sz="1500">
                          <a:solidFill>
                            <a:srgbClr val="1A1A1A"/>
                          </a:solidFill>
                        </a:rPr>
                        <a:t>0.784</a:t>
                      </a:r>
                    </a:p>
                  </a:txBody>
                  <a:tcPr>
                    <a:solidFill>
                      <a:srgbClr val="FFFFFF"/>
                    </a:solidFill>
                  </a:tcPr>
                </a:tc>
                <a:extLst>
                  <a:ext uri="{0D108BD9-81ED-4DB2-BD59-A6C34878D82A}">
                    <a16:rowId xmlns:a16="http://schemas.microsoft.com/office/drawing/2014/main" val="10003"/>
                  </a:ext>
                </a:extLst>
              </a:tr>
              <a:tr h="417301">
                <a:tc>
                  <a:txBody>
                    <a:bodyPr/>
                    <a:lstStyle/>
                    <a:p>
                      <a:pPr algn="l"/>
                      <a:r>
                        <a:rPr sz="1500" dirty="0" err="1">
                          <a:solidFill>
                            <a:srgbClr val="1A1A1A"/>
                          </a:solidFill>
                        </a:rPr>
                        <a:t>RandomForest</a:t>
                      </a:r>
                      <a:endParaRPr sz="1500" dirty="0">
                        <a:solidFill>
                          <a:srgbClr val="1A1A1A"/>
                        </a:solidFill>
                      </a:endParaRPr>
                    </a:p>
                  </a:txBody>
                  <a:tcPr>
                    <a:solidFill>
                      <a:srgbClr val="ECF3FA"/>
                    </a:solidFill>
                  </a:tcPr>
                </a:tc>
                <a:tc>
                  <a:txBody>
                    <a:bodyPr/>
                    <a:lstStyle/>
                    <a:p>
                      <a:pPr algn="ctr"/>
                      <a:r>
                        <a:rPr sz="1500">
                          <a:solidFill>
                            <a:srgbClr val="1A1A1A"/>
                          </a:solidFill>
                        </a:rPr>
                        <a:t>0.926</a:t>
                      </a:r>
                    </a:p>
                  </a:txBody>
                  <a:tcPr>
                    <a:solidFill>
                      <a:srgbClr val="ECF3FA"/>
                    </a:solidFill>
                  </a:tcPr>
                </a:tc>
                <a:tc>
                  <a:txBody>
                    <a:bodyPr/>
                    <a:lstStyle/>
                    <a:p>
                      <a:pPr algn="ctr"/>
                      <a:r>
                        <a:rPr sz="1500">
                          <a:solidFill>
                            <a:srgbClr val="1A1A1A"/>
                          </a:solidFill>
                        </a:rPr>
                        <a:t>0.618</a:t>
                      </a:r>
                    </a:p>
                  </a:txBody>
                  <a:tcPr>
                    <a:solidFill>
                      <a:srgbClr val="ECF3FA"/>
                    </a:solidFill>
                  </a:tcPr>
                </a:tc>
                <a:tc>
                  <a:txBody>
                    <a:bodyPr/>
                    <a:lstStyle/>
                    <a:p>
                      <a:pPr algn="ctr"/>
                      <a:r>
                        <a:rPr sz="1500" dirty="0">
                          <a:solidFill>
                            <a:srgbClr val="1A1A1A"/>
                          </a:solidFill>
                        </a:rPr>
                        <a:t>0.148</a:t>
                      </a:r>
                    </a:p>
                  </a:txBody>
                  <a:tcPr>
                    <a:solidFill>
                      <a:srgbClr val="ECF3FA"/>
                    </a:solidFill>
                  </a:tcPr>
                </a:tc>
                <a:extLst>
                  <a:ext uri="{0D108BD9-81ED-4DB2-BD59-A6C34878D82A}">
                    <a16:rowId xmlns:a16="http://schemas.microsoft.com/office/drawing/2014/main" val="10004"/>
                  </a:ext>
                </a:extLst>
              </a:tr>
            </a:tbl>
          </a:graphicData>
        </a:graphic>
      </p:graphicFrame>
    </p:spTree>
    <p:extLst>
      <p:ext uri="{BB962C8B-B14F-4D97-AF65-F5344CB8AC3E}">
        <p14:creationId xmlns:p14="http://schemas.microsoft.com/office/powerpoint/2010/main" val="381028165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6" name="Image 0" descr="preencoded.png">
            <a:extLst>
              <a:ext uri="{FF2B5EF4-FFF2-40B4-BE49-F238E27FC236}">
                <a16:creationId xmlns:a16="http://schemas.microsoft.com/office/drawing/2014/main" id="{56A7F3C4-1F9B-0DD8-64E2-70BF2821381F}"/>
              </a:ext>
            </a:extLst>
          </p:cNvPr>
          <p:cNvPicPr>
            <a:picLocks noChangeAspect="1"/>
          </p:cNvPicPr>
          <p:nvPr/>
        </p:nvPicPr>
        <p:blipFill>
          <a:blip r:embed="rId3"/>
          <a:stretch>
            <a:fillRect/>
          </a:stretch>
        </p:blipFill>
        <p:spPr>
          <a:xfrm>
            <a:off x="0" y="0"/>
            <a:ext cx="12192000" cy="6858000"/>
          </a:xfrm>
          <a:prstGeom prst="rect">
            <a:avLst/>
          </a:prstGeom>
        </p:spPr>
      </p:pic>
      <p:sp>
        <p:nvSpPr>
          <p:cNvPr id="4" name="Shape 2"/>
          <p:cNvSpPr/>
          <p:nvPr/>
        </p:nvSpPr>
        <p:spPr>
          <a:xfrm>
            <a:off x="678730" y="1321468"/>
            <a:ext cx="3527510" cy="2153252"/>
          </a:xfrm>
          <a:prstGeom prst="rect">
            <a:avLst/>
          </a:prstGeom>
          <a:solidFill>
            <a:srgbClr val="FFFFFF"/>
          </a:solidFill>
          <a:ln w="12700">
            <a:solidFill>
              <a:srgbClr val="DDE3ED"/>
            </a:solidFill>
            <a:prstDash val="solid"/>
          </a:ln>
          <a:effectLst>
            <a:outerShdw blurRad="101600" dist="25400" dir="8100000" algn="bl" rotWithShape="0">
              <a:srgbClr val="000000">
                <a:alpha val="8000"/>
              </a:srgbClr>
            </a:outerShdw>
          </a:effectLst>
        </p:spPr>
      </p:sp>
      <p:sp>
        <p:nvSpPr>
          <p:cNvPr id="5" name="Text 3"/>
          <p:cNvSpPr/>
          <p:nvPr/>
        </p:nvSpPr>
        <p:spPr>
          <a:xfrm>
            <a:off x="548640" y="1341120"/>
            <a:ext cx="3657600" cy="975360"/>
          </a:xfrm>
          <a:prstGeom prst="rect">
            <a:avLst/>
          </a:prstGeom>
          <a:noFill/>
          <a:ln/>
        </p:spPr>
        <p:txBody>
          <a:bodyPr wrap="square" rtlCol="0" anchor="ctr"/>
          <a:lstStyle/>
          <a:p>
            <a:pPr algn="ctr"/>
            <a:r>
              <a:rPr lang="en-US" sz="6400" b="1" dirty="0">
                <a:solidFill>
                  <a:srgbClr val="C8102E"/>
                </a:solidFill>
                <a:latin typeface="Calibri" pitchFamily="34" charset="0"/>
                <a:ea typeface="Calibri" pitchFamily="34" charset="-122"/>
                <a:cs typeface="Calibri" pitchFamily="34" charset="-120"/>
              </a:rPr>
              <a:t>10.52×</a:t>
            </a:r>
            <a:endParaRPr lang="en-US" sz="6400" dirty="0"/>
          </a:p>
        </p:txBody>
      </p:sp>
      <p:sp>
        <p:nvSpPr>
          <p:cNvPr id="6" name="Text 4"/>
          <p:cNvSpPr/>
          <p:nvPr/>
        </p:nvSpPr>
        <p:spPr>
          <a:xfrm>
            <a:off x="548640" y="2316480"/>
            <a:ext cx="3657600" cy="365760"/>
          </a:xfrm>
          <a:prstGeom prst="rect">
            <a:avLst/>
          </a:prstGeom>
          <a:noFill/>
          <a:ln/>
        </p:spPr>
        <p:txBody>
          <a:bodyPr wrap="square" rtlCol="0" anchor="ctr"/>
          <a:lstStyle/>
          <a:p>
            <a:pPr algn="ctr"/>
            <a:r>
              <a:rPr lang="en-US" sz="1467" dirty="0">
                <a:solidFill>
                  <a:srgbClr val="8493A8"/>
                </a:solidFill>
                <a:latin typeface="Calibri" pitchFamily="34" charset="0"/>
                <a:ea typeface="Calibri" pitchFamily="34" charset="-122"/>
                <a:cs typeface="Calibri" pitchFamily="34" charset="-120"/>
              </a:rPr>
              <a:t>faster than 3 separate tree models</a:t>
            </a:r>
            <a:endParaRPr lang="en-US" sz="1467" dirty="0"/>
          </a:p>
        </p:txBody>
      </p:sp>
      <p:sp>
        <p:nvSpPr>
          <p:cNvPr id="7" name="Text 5"/>
          <p:cNvSpPr/>
          <p:nvPr/>
        </p:nvSpPr>
        <p:spPr>
          <a:xfrm>
            <a:off x="548640" y="2743200"/>
            <a:ext cx="3657600" cy="365760"/>
          </a:xfrm>
          <a:prstGeom prst="rect">
            <a:avLst/>
          </a:prstGeom>
          <a:noFill/>
          <a:ln/>
        </p:spPr>
        <p:txBody>
          <a:bodyPr wrap="square" rtlCol="0" anchor="ctr"/>
          <a:lstStyle/>
          <a:p>
            <a:pPr algn="ctr"/>
            <a:r>
              <a:rPr lang="en-US" sz="1333" i="1" dirty="0">
                <a:solidFill>
                  <a:srgbClr val="8493A8"/>
                </a:solidFill>
                <a:latin typeface="Calibri" pitchFamily="34" charset="0"/>
                <a:ea typeface="Calibri" pitchFamily="34" charset="-122"/>
                <a:cs typeface="Calibri" pitchFamily="34" charset="-120"/>
              </a:rPr>
              <a:t>0.039 ms / sample  vs  0.409 ms / sample</a:t>
            </a:r>
            <a:endParaRPr lang="en-US" sz="1333" dirty="0"/>
          </a:p>
        </p:txBody>
      </p:sp>
      <p:sp>
        <p:nvSpPr>
          <p:cNvPr id="8" name="Shape 6"/>
          <p:cNvSpPr/>
          <p:nvPr/>
        </p:nvSpPr>
        <p:spPr>
          <a:xfrm>
            <a:off x="548640" y="3814035"/>
            <a:ext cx="2826156" cy="1097280"/>
          </a:xfrm>
          <a:prstGeom prst="rect">
            <a:avLst/>
          </a:prstGeom>
          <a:solidFill>
            <a:srgbClr val="FFFFFF"/>
          </a:solidFill>
          <a:ln w="12700">
            <a:solidFill>
              <a:srgbClr val="DDE3ED"/>
            </a:solidFill>
            <a:prstDash val="solid"/>
          </a:ln>
          <a:effectLst>
            <a:outerShdw blurRad="101600" dist="25400" dir="8100000" algn="bl" rotWithShape="0">
              <a:srgbClr val="000000">
                <a:alpha val="8000"/>
              </a:srgbClr>
            </a:outerShdw>
          </a:effectLst>
        </p:spPr>
      </p:sp>
      <p:sp>
        <p:nvSpPr>
          <p:cNvPr id="9" name="Text 7"/>
          <p:cNvSpPr/>
          <p:nvPr/>
        </p:nvSpPr>
        <p:spPr>
          <a:xfrm>
            <a:off x="670560" y="3874995"/>
            <a:ext cx="3413760" cy="341376"/>
          </a:xfrm>
          <a:prstGeom prst="rect">
            <a:avLst/>
          </a:prstGeom>
          <a:noFill/>
          <a:ln/>
        </p:spPr>
        <p:txBody>
          <a:bodyPr wrap="square" rtlCol="0" anchor="ctr"/>
          <a:lstStyle/>
          <a:p>
            <a:r>
              <a:rPr lang="en-US" sz="1467" b="1" dirty="0">
                <a:solidFill>
                  <a:srgbClr val="1DA462"/>
                </a:solidFill>
                <a:latin typeface="Calibri" pitchFamily="34" charset="0"/>
                <a:ea typeface="Calibri" pitchFamily="34" charset="-122"/>
                <a:cs typeface="Calibri" pitchFamily="34" charset="-120"/>
              </a:rPr>
              <a:t>SENTINEL-GNSS</a:t>
            </a:r>
            <a:endParaRPr lang="en-US" sz="1467" dirty="0"/>
          </a:p>
        </p:txBody>
      </p:sp>
      <p:sp>
        <p:nvSpPr>
          <p:cNvPr id="10" name="Text 8"/>
          <p:cNvSpPr/>
          <p:nvPr/>
        </p:nvSpPr>
        <p:spPr>
          <a:xfrm>
            <a:off x="670560" y="4216371"/>
            <a:ext cx="3413760" cy="341376"/>
          </a:xfrm>
          <a:prstGeom prst="rect">
            <a:avLst/>
          </a:prstGeom>
          <a:noFill/>
          <a:ln/>
        </p:spPr>
        <p:txBody>
          <a:bodyPr wrap="square" rtlCol="0" anchor="ctr"/>
          <a:lstStyle/>
          <a:p>
            <a:r>
              <a:rPr lang="en-US" sz="2133" b="1" dirty="0">
                <a:solidFill>
                  <a:srgbClr val="0A1F44"/>
                </a:solidFill>
                <a:latin typeface="Calibri" pitchFamily="34" charset="0"/>
                <a:ea typeface="Calibri" pitchFamily="34" charset="-122"/>
                <a:cs typeface="Calibri" pitchFamily="34" charset="-120"/>
              </a:rPr>
              <a:t>0.039 ms</a:t>
            </a:r>
            <a:endParaRPr lang="en-US" sz="2133" dirty="0"/>
          </a:p>
        </p:txBody>
      </p:sp>
      <p:sp>
        <p:nvSpPr>
          <p:cNvPr id="11" name="Text 9"/>
          <p:cNvSpPr/>
          <p:nvPr/>
        </p:nvSpPr>
        <p:spPr>
          <a:xfrm>
            <a:off x="670560" y="4557747"/>
            <a:ext cx="3413760" cy="268224"/>
          </a:xfrm>
          <a:prstGeom prst="rect">
            <a:avLst/>
          </a:prstGeom>
          <a:noFill/>
          <a:ln/>
        </p:spPr>
        <p:txBody>
          <a:bodyPr wrap="square" rtlCol="0" anchor="ctr"/>
          <a:lstStyle/>
          <a:p>
            <a:r>
              <a:rPr lang="en-US" sz="1267" dirty="0">
                <a:solidFill>
                  <a:srgbClr val="8493A8"/>
                </a:solidFill>
                <a:latin typeface="Calibri" pitchFamily="34" charset="0"/>
                <a:ea typeface="Calibri" pitchFamily="34" charset="-122"/>
                <a:cs typeface="Calibri" pitchFamily="34" charset="-120"/>
              </a:rPr>
              <a:t>All 3 horizons in one forward pass</a:t>
            </a:r>
            <a:endParaRPr lang="en-US" sz="1267" dirty="0"/>
          </a:p>
        </p:txBody>
      </p:sp>
      <p:sp>
        <p:nvSpPr>
          <p:cNvPr id="12" name="Shape 10"/>
          <p:cNvSpPr/>
          <p:nvPr/>
        </p:nvSpPr>
        <p:spPr>
          <a:xfrm>
            <a:off x="529784" y="5094195"/>
            <a:ext cx="2845012" cy="1097280"/>
          </a:xfrm>
          <a:prstGeom prst="rect">
            <a:avLst/>
          </a:prstGeom>
          <a:solidFill>
            <a:srgbClr val="FFFFFF"/>
          </a:solidFill>
          <a:ln w="12700">
            <a:solidFill>
              <a:srgbClr val="DDE3ED"/>
            </a:solidFill>
            <a:prstDash val="solid"/>
          </a:ln>
          <a:effectLst>
            <a:outerShdw blurRad="101600" dist="25400" dir="8100000" algn="bl" rotWithShape="0">
              <a:srgbClr val="000000">
                <a:alpha val="8000"/>
              </a:srgbClr>
            </a:outerShdw>
          </a:effectLst>
        </p:spPr>
      </p:sp>
      <p:sp>
        <p:nvSpPr>
          <p:cNvPr id="13" name="Text 11"/>
          <p:cNvSpPr/>
          <p:nvPr/>
        </p:nvSpPr>
        <p:spPr>
          <a:xfrm>
            <a:off x="670560" y="5155155"/>
            <a:ext cx="3413760" cy="341376"/>
          </a:xfrm>
          <a:prstGeom prst="rect">
            <a:avLst/>
          </a:prstGeom>
          <a:noFill/>
          <a:ln/>
        </p:spPr>
        <p:txBody>
          <a:bodyPr wrap="square" rtlCol="0" anchor="ctr"/>
          <a:lstStyle/>
          <a:p>
            <a:r>
              <a:rPr lang="en-US" sz="1467" b="1" dirty="0">
                <a:solidFill>
                  <a:srgbClr val="D97706"/>
                </a:solidFill>
                <a:latin typeface="Calibri" pitchFamily="34" charset="0"/>
                <a:ea typeface="Calibri" pitchFamily="34" charset="-122"/>
                <a:cs typeface="Calibri" pitchFamily="34" charset="-120"/>
              </a:rPr>
              <a:t>3 × Tree models</a:t>
            </a:r>
            <a:endParaRPr lang="en-US" sz="1467" dirty="0"/>
          </a:p>
        </p:txBody>
      </p:sp>
      <p:sp>
        <p:nvSpPr>
          <p:cNvPr id="14" name="Text 12"/>
          <p:cNvSpPr/>
          <p:nvPr/>
        </p:nvSpPr>
        <p:spPr>
          <a:xfrm>
            <a:off x="670560" y="5496531"/>
            <a:ext cx="3413760" cy="341376"/>
          </a:xfrm>
          <a:prstGeom prst="rect">
            <a:avLst/>
          </a:prstGeom>
          <a:noFill/>
          <a:ln/>
        </p:spPr>
        <p:txBody>
          <a:bodyPr wrap="square" rtlCol="0" anchor="ctr"/>
          <a:lstStyle/>
          <a:p>
            <a:r>
              <a:rPr lang="en-US" sz="2133" b="1" dirty="0">
                <a:solidFill>
                  <a:srgbClr val="0A1F44"/>
                </a:solidFill>
                <a:latin typeface="Calibri" pitchFamily="34" charset="0"/>
                <a:ea typeface="Calibri" pitchFamily="34" charset="-122"/>
                <a:cs typeface="Calibri" pitchFamily="34" charset="-120"/>
              </a:rPr>
              <a:t>0.409 ms</a:t>
            </a:r>
            <a:endParaRPr lang="en-US" sz="2133" dirty="0"/>
          </a:p>
        </p:txBody>
      </p:sp>
      <p:sp>
        <p:nvSpPr>
          <p:cNvPr id="15" name="Text 13"/>
          <p:cNvSpPr/>
          <p:nvPr/>
        </p:nvSpPr>
        <p:spPr>
          <a:xfrm>
            <a:off x="670560" y="5837907"/>
            <a:ext cx="3413760" cy="268224"/>
          </a:xfrm>
          <a:prstGeom prst="rect">
            <a:avLst/>
          </a:prstGeom>
          <a:noFill/>
          <a:ln/>
        </p:spPr>
        <p:txBody>
          <a:bodyPr wrap="square" rtlCol="0" anchor="ctr"/>
          <a:lstStyle/>
          <a:p>
            <a:r>
              <a:rPr lang="en-US" sz="1267" dirty="0">
                <a:solidFill>
                  <a:srgbClr val="8493A8"/>
                </a:solidFill>
                <a:latin typeface="Calibri" pitchFamily="34" charset="0"/>
                <a:ea typeface="Calibri" pitchFamily="34" charset="-122"/>
                <a:cs typeface="Calibri" pitchFamily="34" charset="-120"/>
              </a:rPr>
              <a:t>One model per horizon</a:t>
            </a:r>
            <a:endParaRPr lang="en-US" sz="1267" dirty="0"/>
          </a:p>
        </p:txBody>
      </p:sp>
      <p:sp>
        <p:nvSpPr>
          <p:cNvPr id="16" name="Shape 14"/>
          <p:cNvSpPr/>
          <p:nvPr/>
        </p:nvSpPr>
        <p:spPr>
          <a:xfrm>
            <a:off x="3521851" y="3814035"/>
            <a:ext cx="2546158" cy="1097280"/>
          </a:xfrm>
          <a:prstGeom prst="rect">
            <a:avLst/>
          </a:prstGeom>
          <a:solidFill>
            <a:srgbClr val="FFFFFF"/>
          </a:solidFill>
          <a:ln w="12700">
            <a:solidFill>
              <a:srgbClr val="DDE3ED"/>
            </a:solidFill>
            <a:prstDash val="solid"/>
          </a:ln>
          <a:effectLst>
            <a:outerShdw blurRad="101600" dist="25400" dir="8100000" algn="bl" rotWithShape="0">
              <a:srgbClr val="000000">
                <a:alpha val="8000"/>
              </a:srgbClr>
            </a:outerShdw>
          </a:effectLst>
        </p:spPr>
      </p:sp>
      <p:sp>
        <p:nvSpPr>
          <p:cNvPr id="17" name="Text 15"/>
          <p:cNvSpPr/>
          <p:nvPr/>
        </p:nvSpPr>
        <p:spPr>
          <a:xfrm>
            <a:off x="3643771" y="3874995"/>
            <a:ext cx="3413760" cy="341376"/>
          </a:xfrm>
          <a:prstGeom prst="rect">
            <a:avLst/>
          </a:prstGeom>
          <a:noFill/>
          <a:ln/>
        </p:spPr>
        <p:txBody>
          <a:bodyPr wrap="square" rtlCol="0" anchor="ctr"/>
          <a:lstStyle/>
          <a:p>
            <a:r>
              <a:rPr lang="en-US" sz="1467" b="1" dirty="0">
                <a:solidFill>
                  <a:srgbClr val="0A1F44"/>
                </a:solidFill>
                <a:latin typeface="Calibri" pitchFamily="34" charset="0"/>
                <a:ea typeface="Calibri" pitchFamily="34" charset="-122"/>
                <a:cs typeface="Calibri" pitchFamily="34" charset="-120"/>
              </a:rPr>
              <a:t>17.8 MB</a:t>
            </a:r>
            <a:endParaRPr lang="en-US" sz="1467" dirty="0"/>
          </a:p>
        </p:txBody>
      </p:sp>
      <p:sp>
        <p:nvSpPr>
          <p:cNvPr id="18" name="Text 16"/>
          <p:cNvSpPr/>
          <p:nvPr/>
        </p:nvSpPr>
        <p:spPr>
          <a:xfrm>
            <a:off x="3643771" y="4216371"/>
            <a:ext cx="3413760" cy="341376"/>
          </a:xfrm>
          <a:prstGeom prst="rect">
            <a:avLst/>
          </a:prstGeom>
          <a:noFill/>
          <a:ln/>
        </p:spPr>
        <p:txBody>
          <a:bodyPr wrap="square" rtlCol="0" anchor="ctr"/>
          <a:lstStyle/>
          <a:p>
            <a:r>
              <a:rPr lang="en-US" sz="2133" b="1" dirty="0">
                <a:solidFill>
                  <a:srgbClr val="0A1F44"/>
                </a:solidFill>
                <a:latin typeface="Calibri" pitchFamily="34" charset="0"/>
                <a:ea typeface="Calibri" pitchFamily="34" charset="-122"/>
                <a:cs typeface="Calibri" pitchFamily="34" charset="-120"/>
              </a:rPr>
              <a:t>Model size</a:t>
            </a:r>
            <a:endParaRPr lang="en-US" sz="2133" dirty="0"/>
          </a:p>
        </p:txBody>
      </p:sp>
      <p:sp>
        <p:nvSpPr>
          <p:cNvPr id="19" name="Text 17"/>
          <p:cNvSpPr/>
          <p:nvPr/>
        </p:nvSpPr>
        <p:spPr>
          <a:xfrm>
            <a:off x="3643771" y="4557747"/>
            <a:ext cx="3413760" cy="268224"/>
          </a:xfrm>
          <a:prstGeom prst="rect">
            <a:avLst/>
          </a:prstGeom>
          <a:noFill/>
          <a:ln/>
        </p:spPr>
        <p:txBody>
          <a:bodyPr wrap="square" rtlCol="0" anchor="ctr"/>
          <a:lstStyle/>
          <a:p>
            <a:r>
              <a:rPr lang="en-US" sz="1267" dirty="0">
                <a:solidFill>
                  <a:srgbClr val="8493A8"/>
                </a:solidFill>
                <a:latin typeface="Calibri" pitchFamily="34" charset="0"/>
                <a:ea typeface="Calibri" pitchFamily="34" charset="-122"/>
                <a:cs typeface="Calibri" pitchFamily="34" charset="-120"/>
              </a:rPr>
              <a:t>1,456,652 parameters</a:t>
            </a:r>
            <a:endParaRPr lang="en-US" sz="1267" dirty="0"/>
          </a:p>
        </p:txBody>
      </p:sp>
      <p:sp>
        <p:nvSpPr>
          <p:cNvPr id="20" name="Shape 18"/>
          <p:cNvSpPr/>
          <p:nvPr/>
        </p:nvSpPr>
        <p:spPr>
          <a:xfrm>
            <a:off x="3521851" y="5094195"/>
            <a:ext cx="2546158" cy="1097280"/>
          </a:xfrm>
          <a:prstGeom prst="rect">
            <a:avLst/>
          </a:prstGeom>
          <a:solidFill>
            <a:srgbClr val="FFFFFF"/>
          </a:solidFill>
          <a:ln w="12700">
            <a:solidFill>
              <a:srgbClr val="DDE3ED"/>
            </a:solidFill>
            <a:prstDash val="solid"/>
          </a:ln>
          <a:effectLst>
            <a:outerShdw blurRad="101600" dist="25400" dir="8100000" algn="bl" rotWithShape="0">
              <a:srgbClr val="000000">
                <a:alpha val="8000"/>
              </a:srgbClr>
            </a:outerShdw>
          </a:effectLst>
        </p:spPr>
      </p:sp>
      <p:sp>
        <p:nvSpPr>
          <p:cNvPr id="21" name="Text 19"/>
          <p:cNvSpPr/>
          <p:nvPr/>
        </p:nvSpPr>
        <p:spPr>
          <a:xfrm>
            <a:off x="3643771" y="5155155"/>
            <a:ext cx="3413760" cy="341376"/>
          </a:xfrm>
          <a:prstGeom prst="rect">
            <a:avLst/>
          </a:prstGeom>
          <a:noFill/>
          <a:ln/>
        </p:spPr>
        <p:txBody>
          <a:bodyPr wrap="square" rtlCol="0" anchor="ctr"/>
          <a:lstStyle/>
          <a:p>
            <a:r>
              <a:rPr lang="en-US" sz="1467" b="1" dirty="0">
                <a:solidFill>
                  <a:srgbClr val="8493A8"/>
                </a:solidFill>
                <a:latin typeface="Calibri" pitchFamily="34" charset="0"/>
                <a:ea typeface="Calibri" pitchFamily="34" charset="-122"/>
                <a:cs typeface="Calibri" pitchFamily="34" charset="-120"/>
              </a:rPr>
              <a:t>&lt; 0.04%</a:t>
            </a:r>
            <a:endParaRPr lang="en-US" sz="1467" dirty="0"/>
          </a:p>
        </p:txBody>
      </p:sp>
      <p:sp>
        <p:nvSpPr>
          <p:cNvPr id="22" name="Text 20"/>
          <p:cNvSpPr/>
          <p:nvPr/>
        </p:nvSpPr>
        <p:spPr>
          <a:xfrm>
            <a:off x="3643771" y="5496531"/>
            <a:ext cx="3413760" cy="341376"/>
          </a:xfrm>
          <a:prstGeom prst="rect">
            <a:avLst/>
          </a:prstGeom>
          <a:noFill/>
          <a:ln/>
        </p:spPr>
        <p:txBody>
          <a:bodyPr wrap="square" rtlCol="0" anchor="ctr"/>
          <a:lstStyle/>
          <a:p>
            <a:r>
              <a:rPr lang="en-US" sz="2133" b="1" dirty="0">
                <a:solidFill>
                  <a:srgbClr val="0A1F44"/>
                </a:solidFill>
                <a:latin typeface="Calibri" pitchFamily="34" charset="0"/>
                <a:ea typeface="Calibri" pitchFamily="34" charset="-122"/>
                <a:cs typeface="Calibri" pitchFamily="34" charset="-120"/>
              </a:rPr>
              <a:t>CPU budget</a:t>
            </a:r>
            <a:endParaRPr lang="en-US" sz="2133" dirty="0"/>
          </a:p>
        </p:txBody>
      </p:sp>
      <p:sp>
        <p:nvSpPr>
          <p:cNvPr id="23" name="Text 21"/>
          <p:cNvSpPr/>
          <p:nvPr/>
        </p:nvSpPr>
        <p:spPr>
          <a:xfrm>
            <a:off x="3643771" y="5837907"/>
            <a:ext cx="3413760" cy="268224"/>
          </a:xfrm>
          <a:prstGeom prst="rect">
            <a:avLst/>
          </a:prstGeom>
          <a:noFill/>
          <a:ln/>
        </p:spPr>
        <p:txBody>
          <a:bodyPr wrap="square" rtlCol="0" anchor="ctr"/>
          <a:lstStyle/>
          <a:p>
            <a:r>
              <a:rPr lang="en-US" sz="1267" dirty="0">
                <a:solidFill>
                  <a:srgbClr val="8493A8"/>
                </a:solidFill>
                <a:latin typeface="Calibri" pitchFamily="34" charset="0"/>
                <a:ea typeface="Calibri" pitchFamily="34" charset="-122"/>
                <a:cs typeface="Calibri" pitchFamily="34" charset="-120"/>
              </a:rPr>
              <a:t>10 Hz vehicle compute</a:t>
            </a:r>
            <a:endParaRPr lang="en-US" sz="1267" dirty="0"/>
          </a:p>
        </p:txBody>
      </p:sp>
      <p:sp>
        <p:nvSpPr>
          <p:cNvPr id="26" name="Shape 0">
            <a:extLst>
              <a:ext uri="{FF2B5EF4-FFF2-40B4-BE49-F238E27FC236}">
                <a16:creationId xmlns:a16="http://schemas.microsoft.com/office/drawing/2014/main" id="{DF7F4A77-5B51-9D4F-18CC-4560E8985F85}"/>
              </a:ext>
            </a:extLst>
          </p:cNvPr>
          <p:cNvSpPr/>
          <p:nvPr/>
        </p:nvSpPr>
        <p:spPr>
          <a:xfrm>
            <a:off x="0" y="-6532"/>
            <a:ext cx="12192000" cy="740408"/>
          </a:xfrm>
          <a:prstGeom prst="rect">
            <a:avLst/>
          </a:prstGeom>
          <a:solidFill>
            <a:srgbClr val="003893"/>
          </a:solidFill>
          <a:ln w="12700">
            <a:solidFill>
              <a:srgbClr val="003893"/>
            </a:solidFill>
            <a:prstDash val="solid"/>
          </a:ln>
        </p:spPr>
      </p:sp>
      <p:sp>
        <p:nvSpPr>
          <p:cNvPr id="27" name="Shape 1">
            <a:extLst>
              <a:ext uri="{FF2B5EF4-FFF2-40B4-BE49-F238E27FC236}">
                <a16:creationId xmlns:a16="http://schemas.microsoft.com/office/drawing/2014/main" id="{AF50A34E-23FC-434C-7A90-6FEDAD362BFB}"/>
              </a:ext>
            </a:extLst>
          </p:cNvPr>
          <p:cNvSpPr/>
          <p:nvPr/>
        </p:nvSpPr>
        <p:spPr>
          <a:xfrm>
            <a:off x="0" y="702347"/>
            <a:ext cx="12192000" cy="36576"/>
          </a:xfrm>
          <a:prstGeom prst="rect">
            <a:avLst/>
          </a:prstGeom>
          <a:solidFill>
            <a:srgbClr val="4FC3F7"/>
          </a:solidFill>
          <a:ln w="12700">
            <a:solidFill>
              <a:srgbClr val="4FC3F7"/>
            </a:solidFill>
            <a:prstDash val="solid"/>
          </a:ln>
        </p:spPr>
      </p:sp>
      <p:sp>
        <p:nvSpPr>
          <p:cNvPr id="28" name="Shape 2">
            <a:extLst>
              <a:ext uri="{FF2B5EF4-FFF2-40B4-BE49-F238E27FC236}">
                <a16:creationId xmlns:a16="http://schemas.microsoft.com/office/drawing/2014/main" id="{F5CD1D30-E861-7184-2B38-181B6D78686E}"/>
              </a:ext>
            </a:extLst>
          </p:cNvPr>
          <p:cNvSpPr/>
          <p:nvPr/>
        </p:nvSpPr>
        <p:spPr>
          <a:xfrm>
            <a:off x="0" y="6646862"/>
            <a:ext cx="12192000" cy="211137"/>
          </a:xfrm>
          <a:prstGeom prst="rect">
            <a:avLst/>
          </a:prstGeom>
          <a:solidFill>
            <a:srgbClr val="003893"/>
          </a:solidFill>
          <a:ln w="12700">
            <a:solidFill>
              <a:srgbClr val="003893"/>
            </a:solidFill>
            <a:prstDash val="solid"/>
          </a:ln>
        </p:spPr>
      </p:sp>
      <p:sp>
        <p:nvSpPr>
          <p:cNvPr id="29" name="Shape 3">
            <a:extLst>
              <a:ext uri="{FF2B5EF4-FFF2-40B4-BE49-F238E27FC236}">
                <a16:creationId xmlns:a16="http://schemas.microsoft.com/office/drawing/2014/main" id="{29F94866-2355-C124-1559-8340EC8A629D}"/>
              </a:ext>
            </a:extLst>
          </p:cNvPr>
          <p:cNvSpPr/>
          <p:nvPr/>
        </p:nvSpPr>
        <p:spPr>
          <a:xfrm>
            <a:off x="0" y="6623677"/>
            <a:ext cx="12192000" cy="30480"/>
          </a:xfrm>
          <a:prstGeom prst="rect">
            <a:avLst/>
          </a:prstGeom>
          <a:solidFill>
            <a:srgbClr val="4FC3F7"/>
          </a:solidFill>
          <a:ln w="12700">
            <a:solidFill>
              <a:srgbClr val="4FC3F7"/>
            </a:solidFill>
            <a:prstDash val="solid"/>
          </a:ln>
        </p:spPr>
      </p:sp>
      <p:sp>
        <p:nvSpPr>
          <p:cNvPr id="30" name="Shape 4">
            <a:extLst>
              <a:ext uri="{FF2B5EF4-FFF2-40B4-BE49-F238E27FC236}">
                <a16:creationId xmlns:a16="http://schemas.microsoft.com/office/drawing/2014/main" id="{A44A01F6-B201-9558-22D7-ED258CA0FFB0}"/>
              </a:ext>
            </a:extLst>
          </p:cNvPr>
          <p:cNvSpPr/>
          <p:nvPr/>
        </p:nvSpPr>
        <p:spPr>
          <a:xfrm>
            <a:off x="0" y="-24618"/>
            <a:ext cx="1128763" cy="767311"/>
          </a:xfrm>
          <a:prstGeom prst="homePlate">
            <a:avLst/>
          </a:prstGeom>
          <a:solidFill>
            <a:srgbClr val="FFFFFF"/>
          </a:solidFill>
          <a:ln w="6350">
            <a:solidFill>
              <a:srgbClr val="CCCCCC"/>
            </a:solidFill>
            <a:prstDash val="solid"/>
          </a:ln>
        </p:spPr>
      </p:sp>
      <p:sp>
        <p:nvSpPr>
          <p:cNvPr id="31" name="Shape 5">
            <a:extLst>
              <a:ext uri="{FF2B5EF4-FFF2-40B4-BE49-F238E27FC236}">
                <a16:creationId xmlns:a16="http://schemas.microsoft.com/office/drawing/2014/main" id="{9D08145D-4E20-4C23-5C9B-BA7280103EBD}"/>
              </a:ext>
            </a:extLst>
          </p:cNvPr>
          <p:cNvSpPr/>
          <p:nvPr/>
        </p:nvSpPr>
        <p:spPr>
          <a:xfrm>
            <a:off x="10728961" y="121921"/>
            <a:ext cx="51207" cy="51207"/>
          </a:xfrm>
          <a:prstGeom prst="ellipse">
            <a:avLst/>
          </a:prstGeom>
          <a:solidFill>
            <a:srgbClr val="FFFFFF">
              <a:alpha val="35000"/>
            </a:srgbClr>
          </a:solidFill>
          <a:ln w="12700">
            <a:solidFill>
              <a:srgbClr val="FFFFFF"/>
            </a:solidFill>
            <a:prstDash val="solid"/>
          </a:ln>
        </p:spPr>
      </p:sp>
      <p:sp>
        <p:nvSpPr>
          <p:cNvPr id="32" name="Shape 6">
            <a:extLst>
              <a:ext uri="{FF2B5EF4-FFF2-40B4-BE49-F238E27FC236}">
                <a16:creationId xmlns:a16="http://schemas.microsoft.com/office/drawing/2014/main" id="{17C43C7B-0C9A-E6ED-183A-D1B42C581CE3}"/>
              </a:ext>
            </a:extLst>
          </p:cNvPr>
          <p:cNvSpPr/>
          <p:nvPr/>
        </p:nvSpPr>
        <p:spPr>
          <a:xfrm>
            <a:off x="10948417" y="121921"/>
            <a:ext cx="51207" cy="51207"/>
          </a:xfrm>
          <a:prstGeom prst="ellipse">
            <a:avLst/>
          </a:prstGeom>
          <a:solidFill>
            <a:srgbClr val="FFFFFF">
              <a:alpha val="35000"/>
            </a:srgbClr>
          </a:solidFill>
          <a:ln w="12700">
            <a:solidFill>
              <a:srgbClr val="FFFFFF"/>
            </a:solidFill>
            <a:prstDash val="solid"/>
          </a:ln>
        </p:spPr>
      </p:sp>
      <p:sp>
        <p:nvSpPr>
          <p:cNvPr id="33" name="Shape 7">
            <a:extLst>
              <a:ext uri="{FF2B5EF4-FFF2-40B4-BE49-F238E27FC236}">
                <a16:creationId xmlns:a16="http://schemas.microsoft.com/office/drawing/2014/main" id="{2574541A-9A98-D1F0-45B1-3DEFBCC41EF6}"/>
              </a:ext>
            </a:extLst>
          </p:cNvPr>
          <p:cNvSpPr/>
          <p:nvPr/>
        </p:nvSpPr>
        <p:spPr>
          <a:xfrm>
            <a:off x="11167873" y="121921"/>
            <a:ext cx="51207" cy="51207"/>
          </a:xfrm>
          <a:prstGeom prst="ellipse">
            <a:avLst/>
          </a:prstGeom>
          <a:solidFill>
            <a:srgbClr val="FFFFFF">
              <a:alpha val="35000"/>
            </a:srgbClr>
          </a:solidFill>
          <a:ln w="12700">
            <a:solidFill>
              <a:srgbClr val="FFFFFF"/>
            </a:solidFill>
            <a:prstDash val="solid"/>
          </a:ln>
        </p:spPr>
      </p:sp>
      <p:sp>
        <p:nvSpPr>
          <p:cNvPr id="34" name="Shape 8">
            <a:extLst>
              <a:ext uri="{FF2B5EF4-FFF2-40B4-BE49-F238E27FC236}">
                <a16:creationId xmlns:a16="http://schemas.microsoft.com/office/drawing/2014/main" id="{68A6695B-EE03-148B-3B4A-BC47BCA3E2FD}"/>
              </a:ext>
            </a:extLst>
          </p:cNvPr>
          <p:cNvSpPr/>
          <p:nvPr/>
        </p:nvSpPr>
        <p:spPr>
          <a:xfrm>
            <a:off x="11387329" y="121921"/>
            <a:ext cx="51207" cy="51207"/>
          </a:xfrm>
          <a:prstGeom prst="ellipse">
            <a:avLst/>
          </a:prstGeom>
          <a:solidFill>
            <a:srgbClr val="FFFFFF">
              <a:alpha val="35000"/>
            </a:srgbClr>
          </a:solidFill>
          <a:ln w="12700">
            <a:solidFill>
              <a:srgbClr val="FFFFFF"/>
            </a:solidFill>
            <a:prstDash val="solid"/>
          </a:ln>
        </p:spPr>
      </p:sp>
      <p:sp>
        <p:nvSpPr>
          <p:cNvPr id="35" name="Shape 9">
            <a:extLst>
              <a:ext uri="{FF2B5EF4-FFF2-40B4-BE49-F238E27FC236}">
                <a16:creationId xmlns:a16="http://schemas.microsoft.com/office/drawing/2014/main" id="{97DC82AC-59D2-B198-36B9-306A4643DFB4}"/>
              </a:ext>
            </a:extLst>
          </p:cNvPr>
          <p:cNvSpPr/>
          <p:nvPr/>
        </p:nvSpPr>
        <p:spPr>
          <a:xfrm>
            <a:off x="10728961" y="292609"/>
            <a:ext cx="51207" cy="51207"/>
          </a:xfrm>
          <a:prstGeom prst="ellipse">
            <a:avLst/>
          </a:prstGeom>
          <a:solidFill>
            <a:srgbClr val="FFFFFF">
              <a:alpha val="35000"/>
            </a:srgbClr>
          </a:solidFill>
          <a:ln w="12700">
            <a:solidFill>
              <a:srgbClr val="FFFFFF"/>
            </a:solidFill>
            <a:prstDash val="solid"/>
          </a:ln>
        </p:spPr>
      </p:sp>
      <p:sp>
        <p:nvSpPr>
          <p:cNvPr id="36" name="Shape 10">
            <a:extLst>
              <a:ext uri="{FF2B5EF4-FFF2-40B4-BE49-F238E27FC236}">
                <a16:creationId xmlns:a16="http://schemas.microsoft.com/office/drawing/2014/main" id="{2F54EBC7-8F7A-2F77-E643-4ED1655A65B6}"/>
              </a:ext>
            </a:extLst>
          </p:cNvPr>
          <p:cNvSpPr/>
          <p:nvPr/>
        </p:nvSpPr>
        <p:spPr>
          <a:xfrm>
            <a:off x="10948417" y="292609"/>
            <a:ext cx="51207" cy="51207"/>
          </a:xfrm>
          <a:prstGeom prst="ellipse">
            <a:avLst/>
          </a:prstGeom>
          <a:solidFill>
            <a:srgbClr val="FFFFFF">
              <a:alpha val="35000"/>
            </a:srgbClr>
          </a:solidFill>
          <a:ln w="12700">
            <a:solidFill>
              <a:srgbClr val="FFFFFF"/>
            </a:solidFill>
            <a:prstDash val="solid"/>
          </a:ln>
        </p:spPr>
      </p:sp>
      <p:sp>
        <p:nvSpPr>
          <p:cNvPr id="37" name="Shape 11">
            <a:extLst>
              <a:ext uri="{FF2B5EF4-FFF2-40B4-BE49-F238E27FC236}">
                <a16:creationId xmlns:a16="http://schemas.microsoft.com/office/drawing/2014/main" id="{6D1192C0-A2D9-6EB0-9600-38AFC11BED40}"/>
              </a:ext>
            </a:extLst>
          </p:cNvPr>
          <p:cNvSpPr/>
          <p:nvPr/>
        </p:nvSpPr>
        <p:spPr>
          <a:xfrm>
            <a:off x="11167873" y="292609"/>
            <a:ext cx="51207" cy="51207"/>
          </a:xfrm>
          <a:prstGeom prst="ellipse">
            <a:avLst/>
          </a:prstGeom>
          <a:solidFill>
            <a:srgbClr val="FFFFFF">
              <a:alpha val="35000"/>
            </a:srgbClr>
          </a:solidFill>
          <a:ln w="12700">
            <a:solidFill>
              <a:srgbClr val="FFFFFF"/>
            </a:solidFill>
            <a:prstDash val="solid"/>
          </a:ln>
        </p:spPr>
      </p:sp>
      <p:sp>
        <p:nvSpPr>
          <p:cNvPr id="38" name="Shape 12">
            <a:extLst>
              <a:ext uri="{FF2B5EF4-FFF2-40B4-BE49-F238E27FC236}">
                <a16:creationId xmlns:a16="http://schemas.microsoft.com/office/drawing/2014/main" id="{29D9D7D0-D49A-15F4-B29A-D064C19D3644}"/>
              </a:ext>
            </a:extLst>
          </p:cNvPr>
          <p:cNvSpPr/>
          <p:nvPr/>
        </p:nvSpPr>
        <p:spPr>
          <a:xfrm>
            <a:off x="11387329" y="292609"/>
            <a:ext cx="51207" cy="51207"/>
          </a:xfrm>
          <a:prstGeom prst="ellipse">
            <a:avLst/>
          </a:prstGeom>
          <a:solidFill>
            <a:srgbClr val="FFFFFF">
              <a:alpha val="35000"/>
            </a:srgbClr>
          </a:solidFill>
          <a:ln w="12700">
            <a:solidFill>
              <a:srgbClr val="FFFFFF"/>
            </a:solidFill>
            <a:prstDash val="solid"/>
          </a:ln>
        </p:spPr>
      </p:sp>
      <p:sp>
        <p:nvSpPr>
          <p:cNvPr id="39" name="Shape 13">
            <a:extLst>
              <a:ext uri="{FF2B5EF4-FFF2-40B4-BE49-F238E27FC236}">
                <a16:creationId xmlns:a16="http://schemas.microsoft.com/office/drawing/2014/main" id="{61DE9218-E6DE-6FBF-2103-C7573DD1D526}"/>
              </a:ext>
            </a:extLst>
          </p:cNvPr>
          <p:cNvSpPr/>
          <p:nvPr/>
        </p:nvSpPr>
        <p:spPr>
          <a:xfrm>
            <a:off x="10728961" y="463297"/>
            <a:ext cx="51207" cy="51207"/>
          </a:xfrm>
          <a:prstGeom prst="ellipse">
            <a:avLst/>
          </a:prstGeom>
          <a:solidFill>
            <a:srgbClr val="FFFFFF">
              <a:alpha val="35000"/>
            </a:srgbClr>
          </a:solidFill>
          <a:ln w="12700">
            <a:solidFill>
              <a:srgbClr val="FFFFFF"/>
            </a:solidFill>
            <a:prstDash val="solid"/>
          </a:ln>
        </p:spPr>
      </p:sp>
      <p:sp>
        <p:nvSpPr>
          <p:cNvPr id="40" name="Shape 14">
            <a:extLst>
              <a:ext uri="{FF2B5EF4-FFF2-40B4-BE49-F238E27FC236}">
                <a16:creationId xmlns:a16="http://schemas.microsoft.com/office/drawing/2014/main" id="{5B9BBF74-A7B7-3F99-D547-68537B761D87}"/>
              </a:ext>
            </a:extLst>
          </p:cNvPr>
          <p:cNvSpPr/>
          <p:nvPr/>
        </p:nvSpPr>
        <p:spPr>
          <a:xfrm>
            <a:off x="10948417" y="463297"/>
            <a:ext cx="51207" cy="51207"/>
          </a:xfrm>
          <a:prstGeom prst="ellipse">
            <a:avLst/>
          </a:prstGeom>
          <a:solidFill>
            <a:srgbClr val="FFFFFF">
              <a:alpha val="35000"/>
            </a:srgbClr>
          </a:solidFill>
          <a:ln w="12700">
            <a:solidFill>
              <a:srgbClr val="FFFFFF"/>
            </a:solidFill>
            <a:prstDash val="solid"/>
          </a:ln>
        </p:spPr>
      </p:sp>
      <p:sp>
        <p:nvSpPr>
          <p:cNvPr id="41" name="Shape 15">
            <a:extLst>
              <a:ext uri="{FF2B5EF4-FFF2-40B4-BE49-F238E27FC236}">
                <a16:creationId xmlns:a16="http://schemas.microsoft.com/office/drawing/2014/main" id="{9DC84B28-4DC3-5915-F152-39F9C0807E7A}"/>
              </a:ext>
            </a:extLst>
          </p:cNvPr>
          <p:cNvSpPr/>
          <p:nvPr/>
        </p:nvSpPr>
        <p:spPr>
          <a:xfrm>
            <a:off x="11167873" y="463297"/>
            <a:ext cx="51207" cy="51207"/>
          </a:xfrm>
          <a:prstGeom prst="ellipse">
            <a:avLst/>
          </a:prstGeom>
          <a:solidFill>
            <a:srgbClr val="FFFFFF">
              <a:alpha val="35000"/>
            </a:srgbClr>
          </a:solidFill>
          <a:ln w="12700">
            <a:solidFill>
              <a:srgbClr val="FFFFFF"/>
            </a:solidFill>
            <a:prstDash val="solid"/>
          </a:ln>
        </p:spPr>
      </p:sp>
      <p:sp>
        <p:nvSpPr>
          <p:cNvPr id="42" name="Shape 16">
            <a:extLst>
              <a:ext uri="{FF2B5EF4-FFF2-40B4-BE49-F238E27FC236}">
                <a16:creationId xmlns:a16="http://schemas.microsoft.com/office/drawing/2014/main" id="{421B3511-BD4D-1865-FAA4-FE2DB8631CA9}"/>
              </a:ext>
            </a:extLst>
          </p:cNvPr>
          <p:cNvSpPr/>
          <p:nvPr/>
        </p:nvSpPr>
        <p:spPr>
          <a:xfrm>
            <a:off x="11387329" y="463297"/>
            <a:ext cx="51207" cy="51207"/>
          </a:xfrm>
          <a:prstGeom prst="ellipse">
            <a:avLst/>
          </a:prstGeom>
          <a:solidFill>
            <a:srgbClr val="FFFFFF">
              <a:alpha val="35000"/>
            </a:srgbClr>
          </a:solidFill>
          <a:ln w="12700">
            <a:solidFill>
              <a:srgbClr val="FFFFFF"/>
            </a:solidFill>
            <a:prstDash val="solid"/>
          </a:ln>
        </p:spPr>
      </p:sp>
      <p:pic>
        <p:nvPicPr>
          <p:cNvPr id="43" name="Picture 42">
            <a:extLst>
              <a:ext uri="{FF2B5EF4-FFF2-40B4-BE49-F238E27FC236}">
                <a16:creationId xmlns:a16="http://schemas.microsoft.com/office/drawing/2014/main" id="{89B6A5A1-526B-E825-CE0E-D5B423622938}"/>
              </a:ext>
            </a:extLst>
          </p:cNvPr>
          <p:cNvPicPr>
            <a:picLocks noChangeAspect="1"/>
          </p:cNvPicPr>
          <p:nvPr/>
        </p:nvPicPr>
        <p:blipFill>
          <a:blip r:embed="rId4"/>
          <a:stretch>
            <a:fillRect/>
          </a:stretch>
        </p:blipFill>
        <p:spPr>
          <a:xfrm>
            <a:off x="-453212" y="-263954"/>
            <a:ext cx="1776568" cy="1245981"/>
          </a:xfrm>
          <a:prstGeom prst="rect">
            <a:avLst/>
          </a:prstGeom>
        </p:spPr>
      </p:pic>
      <p:pic>
        <p:nvPicPr>
          <p:cNvPr id="45" name="Picture 44">
            <a:extLst>
              <a:ext uri="{FF2B5EF4-FFF2-40B4-BE49-F238E27FC236}">
                <a16:creationId xmlns:a16="http://schemas.microsoft.com/office/drawing/2014/main" id="{73EB849B-B690-55BA-1355-F0A5F96764F0}"/>
              </a:ext>
            </a:extLst>
          </p:cNvPr>
          <p:cNvPicPr>
            <a:picLocks noChangeAspect="1"/>
          </p:cNvPicPr>
          <p:nvPr/>
        </p:nvPicPr>
        <p:blipFill>
          <a:blip r:embed="rId5"/>
          <a:stretch>
            <a:fillRect/>
          </a:stretch>
        </p:blipFill>
        <p:spPr>
          <a:xfrm>
            <a:off x="6067430" y="1152950"/>
            <a:ext cx="6064669" cy="4327628"/>
          </a:xfrm>
          <a:prstGeom prst="rect">
            <a:avLst/>
          </a:prstGeom>
        </p:spPr>
      </p:pic>
      <p:sp>
        <p:nvSpPr>
          <p:cNvPr id="3" name="Text 1"/>
          <p:cNvSpPr/>
          <p:nvPr/>
        </p:nvSpPr>
        <p:spPr>
          <a:xfrm>
            <a:off x="1316497" y="-1206"/>
            <a:ext cx="10972800" cy="731520"/>
          </a:xfrm>
          <a:prstGeom prst="rect">
            <a:avLst/>
          </a:prstGeom>
          <a:noFill/>
          <a:ln/>
        </p:spPr>
        <p:txBody>
          <a:bodyPr wrap="square" lIns="0" tIns="0" rIns="0" bIns="0" rtlCol="0" anchor="ctr"/>
          <a:lstStyle/>
          <a:p>
            <a:r>
              <a:rPr lang="en-US" sz="3200" b="1" dirty="0">
                <a:solidFill>
                  <a:schemeClr val="bg1"/>
                </a:solidFill>
                <a:latin typeface="Calibri" pitchFamily="34" charset="0"/>
                <a:ea typeface="Calibri" pitchFamily="34" charset="-122"/>
                <a:cs typeface="Calibri" pitchFamily="34" charset="-120"/>
              </a:rPr>
              <a:t>INFERENCE SPEED &amp; EFFICIENCY</a:t>
            </a:r>
            <a:endParaRPr lang="en-US" sz="3200" dirty="0">
              <a:solidFill>
                <a:schemeClr val="bg1"/>
              </a:solidFill>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2" name="Image 0" descr="preencoded.png">
            <a:extLst>
              <a:ext uri="{FF2B5EF4-FFF2-40B4-BE49-F238E27FC236}">
                <a16:creationId xmlns:a16="http://schemas.microsoft.com/office/drawing/2014/main" id="{7EB3CF48-79BB-8345-BB88-0B79C5E9D7E0}"/>
              </a:ext>
            </a:extLst>
          </p:cNvPr>
          <p:cNvPicPr>
            <a:picLocks noChangeAspect="1"/>
          </p:cNvPicPr>
          <p:nvPr/>
        </p:nvPicPr>
        <p:blipFill>
          <a:blip r:embed="rId3"/>
          <a:stretch>
            <a:fillRect/>
          </a:stretch>
        </p:blipFill>
        <p:spPr>
          <a:xfrm>
            <a:off x="0" y="0"/>
            <a:ext cx="12192000" cy="6858000"/>
          </a:xfrm>
          <a:prstGeom prst="rect">
            <a:avLst/>
          </a:prstGeom>
        </p:spPr>
      </p:pic>
      <p:sp>
        <p:nvSpPr>
          <p:cNvPr id="9" name="Text 7"/>
          <p:cNvSpPr/>
          <p:nvPr/>
        </p:nvSpPr>
        <p:spPr>
          <a:xfrm>
            <a:off x="-249025" y="5737228"/>
            <a:ext cx="5425440" cy="365760"/>
          </a:xfrm>
          <a:prstGeom prst="rect">
            <a:avLst/>
          </a:prstGeom>
          <a:noFill/>
          <a:ln/>
        </p:spPr>
        <p:txBody>
          <a:bodyPr wrap="square" rtlCol="0" anchor="ctr"/>
          <a:lstStyle/>
          <a:p>
            <a:pPr algn="ctr"/>
            <a:r>
              <a:rPr lang="en-US" sz="1400" b="1" i="1" dirty="0">
                <a:latin typeface="Calibri" pitchFamily="34" charset="0"/>
                <a:ea typeface="Calibri" pitchFamily="34" charset="-122"/>
                <a:cs typeface="Calibri" pitchFamily="34" charset="-120"/>
              </a:rPr>
              <a:t>Transformer Attention — DEGRADED sample</a:t>
            </a:r>
            <a:endParaRPr lang="en-US" sz="1400" b="1" i="1" dirty="0"/>
          </a:p>
        </p:txBody>
      </p:sp>
      <p:sp>
        <p:nvSpPr>
          <p:cNvPr id="10" name="Text 8"/>
          <p:cNvSpPr/>
          <p:nvPr/>
        </p:nvSpPr>
        <p:spPr>
          <a:xfrm>
            <a:off x="6035040" y="5761165"/>
            <a:ext cx="5608320" cy="365760"/>
          </a:xfrm>
          <a:prstGeom prst="rect">
            <a:avLst/>
          </a:prstGeom>
          <a:noFill/>
          <a:ln/>
        </p:spPr>
        <p:txBody>
          <a:bodyPr wrap="square" rtlCol="0" anchor="ctr"/>
          <a:lstStyle/>
          <a:p>
            <a:pPr algn="ctr"/>
            <a:r>
              <a:rPr lang="en-US" sz="1400" b="1" dirty="0">
                <a:latin typeface="Calibri" pitchFamily="34" charset="0"/>
                <a:ea typeface="Calibri" pitchFamily="34" charset="-122"/>
                <a:cs typeface="Calibri" pitchFamily="34" charset="-120"/>
              </a:rPr>
              <a:t>Feature Saliency (gradient) @ +5 s</a:t>
            </a:r>
            <a:endParaRPr lang="en-US" sz="1400" b="1" dirty="0"/>
          </a:p>
        </p:txBody>
      </p:sp>
      <p:sp>
        <p:nvSpPr>
          <p:cNvPr id="11" name="Text 9"/>
          <p:cNvSpPr/>
          <p:nvPr/>
        </p:nvSpPr>
        <p:spPr>
          <a:xfrm>
            <a:off x="160936" y="5447264"/>
            <a:ext cx="11277600" cy="1402080"/>
          </a:xfrm>
          <a:prstGeom prst="rect">
            <a:avLst/>
          </a:prstGeom>
          <a:noFill/>
          <a:ln/>
        </p:spPr>
        <p:txBody>
          <a:bodyPr wrap="square" rtlCol="0" anchor="ctr"/>
          <a:lstStyle/>
          <a:p>
            <a:pPr marL="457189" indent="-457189">
              <a:buSzPct val="100000"/>
              <a:buChar char="•"/>
            </a:pPr>
            <a:endParaRPr lang="en-US" sz="1600" dirty="0"/>
          </a:p>
        </p:txBody>
      </p:sp>
      <p:sp>
        <p:nvSpPr>
          <p:cNvPr id="12" name="Shape 0">
            <a:extLst>
              <a:ext uri="{FF2B5EF4-FFF2-40B4-BE49-F238E27FC236}">
                <a16:creationId xmlns:a16="http://schemas.microsoft.com/office/drawing/2014/main" id="{36D1FDFB-CB30-998E-D87E-D93A480810B0}"/>
              </a:ext>
            </a:extLst>
          </p:cNvPr>
          <p:cNvSpPr/>
          <p:nvPr/>
        </p:nvSpPr>
        <p:spPr>
          <a:xfrm>
            <a:off x="0" y="-7492"/>
            <a:ext cx="12192000" cy="740408"/>
          </a:xfrm>
          <a:prstGeom prst="rect">
            <a:avLst/>
          </a:prstGeom>
          <a:solidFill>
            <a:srgbClr val="003893"/>
          </a:solidFill>
          <a:ln w="12700">
            <a:solidFill>
              <a:srgbClr val="003893"/>
            </a:solidFill>
            <a:prstDash val="solid"/>
          </a:ln>
        </p:spPr>
      </p:sp>
      <p:sp>
        <p:nvSpPr>
          <p:cNvPr id="13" name="Shape 1">
            <a:extLst>
              <a:ext uri="{FF2B5EF4-FFF2-40B4-BE49-F238E27FC236}">
                <a16:creationId xmlns:a16="http://schemas.microsoft.com/office/drawing/2014/main" id="{6468133E-B173-DF0B-F8EC-DADE94686815}"/>
              </a:ext>
            </a:extLst>
          </p:cNvPr>
          <p:cNvSpPr/>
          <p:nvPr/>
        </p:nvSpPr>
        <p:spPr>
          <a:xfrm>
            <a:off x="0" y="702347"/>
            <a:ext cx="12192000" cy="36576"/>
          </a:xfrm>
          <a:prstGeom prst="rect">
            <a:avLst/>
          </a:prstGeom>
          <a:solidFill>
            <a:srgbClr val="4FC3F7"/>
          </a:solidFill>
          <a:ln w="12700">
            <a:solidFill>
              <a:srgbClr val="4FC3F7"/>
            </a:solidFill>
            <a:prstDash val="solid"/>
          </a:ln>
        </p:spPr>
      </p:sp>
      <p:sp>
        <p:nvSpPr>
          <p:cNvPr id="14" name="Shape 2">
            <a:extLst>
              <a:ext uri="{FF2B5EF4-FFF2-40B4-BE49-F238E27FC236}">
                <a16:creationId xmlns:a16="http://schemas.microsoft.com/office/drawing/2014/main" id="{D0BCA845-11E8-602B-5242-23AE72315EAF}"/>
              </a:ext>
            </a:extLst>
          </p:cNvPr>
          <p:cNvSpPr/>
          <p:nvPr/>
        </p:nvSpPr>
        <p:spPr>
          <a:xfrm>
            <a:off x="0" y="6646862"/>
            <a:ext cx="12192000" cy="211137"/>
          </a:xfrm>
          <a:prstGeom prst="rect">
            <a:avLst/>
          </a:prstGeom>
          <a:solidFill>
            <a:srgbClr val="003893"/>
          </a:solidFill>
          <a:ln w="12700">
            <a:solidFill>
              <a:srgbClr val="003893"/>
            </a:solidFill>
            <a:prstDash val="solid"/>
          </a:ln>
        </p:spPr>
      </p:sp>
      <p:sp>
        <p:nvSpPr>
          <p:cNvPr id="15" name="Shape 3">
            <a:extLst>
              <a:ext uri="{FF2B5EF4-FFF2-40B4-BE49-F238E27FC236}">
                <a16:creationId xmlns:a16="http://schemas.microsoft.com/office/drawing/2014/main" id="{F7CB967F-9FE9-6FE6-2828-1B7F2E45EEF3}"/>
              </a:ext>
            </a:extLst>
          </p:cNvPr>
          <p:cNvSpPr/>
          <p:nvPr/>
        </p:nvSpPr>
        <p:spPr>
          <a:xfrm>
            <a:off x="0" y="6623677"/>
            <a:ext cx="12192000" cy="30480"/>
          </a:xfrm>
          <a:prstGeom prst="rect">
            <a:avLst/>
          </a:prstGeom>
          <a:solidFill>
            <a:srgbClr val="4FC3F7"/>
          </a:solidFill>
          <a:ln w="12700">
            <a:solidFill>
              <a:srgbClr val="4FC3F7"/>
            </a:solidFill>
            <a:prstDash val="solid"/>
          </a:ln>
        </p:spPr>
      </p:sp>
      <p:sp>
        <p:nvSpPr>
          <p:cNvPr id="16" name="Shape 4">
            <a:extLst>
              <a:ext uri="{FF2B5EF4-FFF2-40B4-BE49-F238E27FC236}">
                <a16:creationId xmlns:a16="http://schemas.microsoft.com/office/drawing/2014/main" id="{EA4C0F7E-5538-AA6C-2CF8-C66AD8DAD8EF}"/>
              </a:ext>
            </a:extLst>
          </p:cNvPr>
          <p:cNvSpPr/>
          <p:nvPr/>
        </p:nvSpPr>
        <p:spPr>
          <a:xfrm>
            <a:off x="0" y="-24618"/>
            <a:ext cx="1128763" cy="767311"/>
          </a:xfrm>
          <a:prstGeom prst="homePlate">
            <a:avLst/>
          </a:prstGeom>
          <a:solidFill>
            <a:srgbClr val="FFFFFF"/>
          </a:solidFill>
          <a:ln w="6350">
            <a:solidFill>
              <a:srgbClr val="CCCCCC"/>
            </a:solidFill>
            <a:prstDash val="solid"/>
          </a:ln>
        </p:spPr>
      </p:sp>
      <p:sp>
        <p:nvSpPr>
          <p:cNvPr id="17" name="Shape 5">
            <a:extLst>
              <a:ext uri="{FF2B5EF4-FFF2-40B4-BE49-F238E27FC236}">
                <a16:creationId xmlns:a16="http://schemas.microsoft.com/office/drawing/2014/main" id="{39F7D65A-D916-1817-1B43-F687C9212168}"/>
              </a:ext>
            </a:extLst>
          </p:cNvPr>
          <p:cNvSpPr/>
          <p:nvPr/>
        </p:nvSpPr>
        <p:spPr>
          <a:xfrm>
            <a:off x="10728961" y="121921"/>
            <a:ext cx="51207" cy="51207"/>
          </a:xfrm>
          <a:prstGeom prst="ellipse">
            <a:avLst/>
          </a:prstGeom>
          <a:solidFill>
            <a:srgbClr val="FFFFFF">
              <a:alpha val="35000"/>
            </a:srgbClr>
          </a:solidFill>
          <a:ln w="12700">
            <a:solidFill>
              <a:srgbClr val="FFFFFF"/>
            </a:solidFill>
            <a:prstDash val="solid"/>
          </a:ln>
        </p:spPr>
      </p:sp>
      <p:sp>
        <p:nvSpPr>
          <p:cNvPr id="18" name="Shape 6">
            <a:extLst>
              <a:ext uri="{FF2B5EF4-FFF2-40B4-BE49-F238E27FC236}">
                <a16:creationId xmlns:a16="http://schemas.microsoft.com/office/drawing/2014/main" id="{819CB701-CD42-31A4-9C4F-00F7FE60582B}"/>
              </a:ext>
            </a:extLst>
          </p:cNvPr>
          <p:cNvSpPr/>
          <p:nvPr/>
        </p:nvSpPr>
        <p:spPr>
          <a:xfrm>
            <a:off x="10948417" y="121921"/>
            <a:ext cx="51207" cy="51207"/>
          </a:xfrm>
          <a:prstGeom prst="ellipse">
            <a:avLst/>
          </a:prstGeom>
          <a:solidFill>
            <a:srgbClr val="FFFFFF">
              <a:alpha val="35000"/>
            </a:srgbClr>
          </a:solidFill>
          <a:ln w="12700">
            <a:solidFill>
              <a:srgbClr val="FFFFFF"/>
            </a:solidFill>
            <a:prstDash val="solid"/>
          </a:ln>
        </p:spPr>
      </p:sp>
      <p:sp>
        <p:nvSpPr>
          <p:cNvPr id="19" name="Shape 7">
            <a:extLst>
              <a:ext uri="{FF2B5EF4-FFF2-40B4-BE49-F238E27FC236}">
                <a16:creationId xmlns:a16="http://schemas.microsoft.com/office/drawing/2014/main" id="{12ED1A91-0455-BD41-DB2D-1CD10C605950}"/>
              </a:ext>
            </a:extLst>
          </p:cNvPr>
          <p:cNvSpPr/>
          <p:nvPr/>
        </p:nvSpPr>
        <p:spPr>
          <a:xfrm>
            <a:off x="11167873" y="121921"/>
            <a:ext cx="51207" cy="51207"/>
          </a:xfrm>
          <a:prstGeom prst="ellipse">
            <a:avLst/>
          </a:prstGeom>
          <a:solidFill>
            <a:srgbClr val="FFFFFF">
              <a:alpha val="35000"/>
            </a:srgbClr>
          </a:solidFill>
          <a:ln w="12700">
            <a:solidFill>
              <a:srgbClr val="FFFFFF"/>
            </a:solidFill>
            <a:prstDash val="solid"/>
          </a:ln>
        </p:spPr>
      </p:sp>
      <p:sp>
        <p:nvSpPr>
          <p:cNvPr id="20" name="Shape 8">
            <a:extLst>
              <a:ext uri="{FF2B5EF4-FFF2-40B4-BE49-F238E27FC236}">
                <a16:creationId xmlns:a16="http://schemas.microsoft.com/office/drawing/2014/main" id="{96DDA856-4B09-B7C9-2550-9C428B3AB5AD}"/>
              </a:ext>
            </a:extLst>
          </p:cNvPr>
          <p:cNvSpPr/>
          <p:nvPr/>
        </p:nvSpPr>
        <p:spPr>
          <a:xfrm>
            <a:off x="11387329" y="121921"/>
            <a:ext cx="51207" cy="51207"/>
          </a:xfrm>
          <a:prstGeom prst="ellipse">
            <a:avLst/>
          </a:prstGeom>
          <a:solidFill>
            <a:srgbClr val="FFFFFF">
              <a:alpha val="35000"/>
            </a:srgbClr>
          </a:solidFill>
          <a:ln w="12700">
            <a:solidFill>
              <a:srgbClr val="FFFFFF"/>
            </a:solidFill>
            <a:prstDash val="solid"/>
          </a:ln>
        </p:spPr>
      </p:sp>
      <p:sp>
        <p:nvSpPr>
          <p:cNvPr id="21" name="Shape 9">
            <a:extLst>
              <a:ext uri="{FF2B5EF4-FFF2-40B4-BE49-F238E27FC236}">
                <a16:creationId xmlns:a16="http://schemas.microsoft.com/office/drawing/2014/main" id="{DFD24C05-5E73-7274-77E3-619E5657EA09}"/>
              </a:ext>
            </a:extLst>
          </p:cNvPr>
          <p:cNvSpPr/>
          <p:nvPr/>
        </p:nvSpPr>
        <p:spPr>
          <a:xfrm>
            <a:off x="10728961" y="292609"/>
            <a:ext cx="51207" cy="51207"/>
          </a:xfrm>
          <a:prstGeom prst="ellipse">
            <a:avLst/>
          </a:prstGeom>
          <a:solidFill>
            <a:srgbClr val="FFFFFF">
              <a:alpha val="35000"/>
            </a:srgbClr>
          </a:solidFill>
          <a:ln w="12700">
            <a:solidFill>
              <a:srgbClr val="FFFFFF"/>
            </a:solidFill>
            <a:prstDash val="solid"/>
          </a:ln>
        </p:spPr>
      </p:sp>
      <p:sp>
        <p:nvSpPr>
          <p:cNvPr id="22" name="Shape 10">
            <a:extLst>
              <a:ext uri="{FF2B5EF4-FFF2-40B4-BE49-F238E27FC236}">
                <a16:creationId xmlns:a16="http://schemas.microsoft.com/office/drawing/2014/main" id="{9F7A3AB4-CF9B-5D7B-1760-BBA256CAB610}"/>
              </a:ext>
            </a:extLst>
          </p:cNvPr>
          <p:cNvSpPr/>
          <p:nvPr/>
        </p:nvSpPr>
        <p:spPr>
          <a:xfrm>
            <a:off x="10948417" y="292609"/>
            <a:ext cx="51207" cy="51207"/>
          </a:xfrm>
          <a:prstGeom prst="ellipse">
            <a:avLst/>
          </a:prstGeom>
          <a:solidFill>
            <a:srgbClr val="FFFFFF">
              <a:alpha val="35000"/>
            </a:srgbClr>
          </a:solidFill>
          <a:ln w="12700">
            <a:solidFill>
              <a:srgbClr val="FFFFFF"/>
            </a:solidFill>
            <a:prstDash val="solid"/>
          </a:ln>
        </p:spPr>
      </p:sp>
      <p:sp>
        <p:nvSpPr>
          <p:cNvPr id="23" name="Shape 11">
            <a:extLst>
              <a:ext uri="{FF2B5EF4-FFF2-40B4-BE49-F238E27FC236}">
                <a16:creationId xmlns:a16="http://schemas.microsoft.com/office/drawing/2014/main" id="{DBA1B95F-2A18-685D-5A70-19A930212204}"/>
              </a:ext>
            </a:extLst>
          </p:cNvPr>
          <p:cNvSpPr/>
          <p:nvPr/>
        </p:nvSpPr>
        <p:spPr>
          <a:xfrm>
            <a:off x="11167873" y="292609"/>
            <a:ext cx="51207" cy="51207"/>
          </a:xfrm>
          <a:prstGeom prst="ellipse">
            <a:avLst/>
          </a:prstGeom>
          <a:solidFill>
            <a:srgbClr val="FFFFFF">
              <a:alpha val="35000"/>
            </a:srgbClr>
          </a:solidFill>
          <a:ln w="12700">
            <a:solidFill>
              <a:srgbClr val="FFFFFF"/>
            </a:solidFill>
            <a:prstDash val="solid"/>
          </a:ln>
        </p:spPr>
      </p:sp>
      <p:sp>
        <p:nvSpPr>
          <p:cNvPr id="24" name="Shape 12">
            <a:extLst>
              <a:ext uri="{FF2B5EF4-FFF2-40B4-BE49-F238E27FC236}">
                <a16:creationId xmlns:a16="http://schemas.microsoft.com/office/drawing/2014/main" id="{06C86765-A611-FC49-73EB-019E973F486E}"/>
              </a:ext>
            </a:extLst>
          </p:cNvPr>
          <p:cNvSpPr/>
          <p:nvPr/>
        </p:nvSpPr>
        <p:spPr>
          <a:xfrm>
            <a:off x="11387329" y="292609"/>
            <a:ext cx="51207" cy="51207"/>
          </a:xfrm>
          <a:prstGeom prst="ellipse">
            <a:avLst/>
          </a:prstGeom>
          <a:solidFill>
            <a:srgbClr val="FFFFFF">
              <a:alpha val="35000"/>
            </a:srgbClr>
          </a:solidFill>
          <a:ln w="12700">
            <a:solidFill>
              <a:srgbClr val="FFFFFF"/>
            </a:solidFill>
            <a:prstDash val="solid"/>
          </a:ln>
        </p:spPr>
      </p:sp>
      <p:sp>
        <p:nvSpPr>
          <p:cNvPr id="25" name="Shape 13">
            <a:extLst>
              <a:ext uri="{FF2B5EF4-FFF2-40B4-BE49-F238E27FC236}">
                <a16:creationId xmlns:a16="http://schemas.microsoft.com/office/drawing/2014/main" id="{56D502E6-B0C0-D398-BC97-EF912469DC3D}"/>
              </a:ext>
            </a:extLst>
          </p:cNvPr>
          <p:cNvSpPr/>
          <p:nvPr/>
        </p:nvSpPr>
        <p:spPr>
          <a:xfrm>
            <a:off x="10728961" y="463297"/>
            <a:ext cx="51207" cy="51207"/>
          </a:xfrm>
          <a:prstGeom prst="ellipse">
            <a:avLst/>
          </a:prstGeom>
          <a:solidFill>
            <a:srgbClr val="FFFFFF">
              <a:alpha val="35000"/>
            </a:srgbClr>
          </a:solidFill>
          <a:ln w="12700">
            <a:solidFill>
              <a:srgbClr val="FFFFFF"/>
            </a:solidFill>
            <a:prstDash val="solid"/>
          </a:ln>
        </p:spPr>
      </p:sp>
      <p:sp>
        <p:nvSpPr>
          <p:cNvPr id="26" name="Shape 14">
            <a:extLst>
              <a:ext uri="{FF2B5EF4-FFF2-40B4-BE49-F238E27FC236}">
                <a16:creationId xmlns:a16="http://schemas.microsoft.com/office/drawing/2014/main" id="{E00AFC2E-A2E8-D143-53E4-63D8A7044E2E}"/>
              </a:ext>
            </a:extLst>
          </p:cNvPr>
          <p:cNvSpPr/>
          <p:nvPr/>
        </p:nvSpPr>
        <p:spPr>
          <a:xfrm>
            <a:off x="10948417" y="463297"/>
            <a:ext cx="51207" cy="51207"/>
          </a:xfrm>
          <a:prstGeom prst="ellipse">
            <a:avLst/>
          </a:prstGeom>
          <a:solidFill>
            <a:srgbClr val="FFFFFF">
              <a:alpha val="35000"/>
            </a:srgbClr>
          </a:solidFill>
          <a:ln w="12700">
            <a:solidFill>
              <a:srgbClr val="FFFFFF"/>
            </a:solidFill>
            <a:prstDash val="solid"/>
          </a:ln>
        </p:spPr>
      </p:sp>
      <p:sp>
        <p:nvSpPr>
          <p:cNvPr id="27" name="Shape 15">
            <a:extLst>
              <a:ext uri="{FF2B5EF4-FFF2-40B4-BE49-F238E27FC236}">
                <a16:creationId xmlns:a16="http://schemas.microsoft.com/office/drawing/2014/main" id="{62D47B8F-0B39-CD8C-18C9-A437E0FC84C0}"/>
              </a:ext>
            </a:extLst>
          </p:cNvPr>
          <p:cNvSpPr/>
          <p:nvPr/>
        </p:nvSpPr>
        <p:spPr>
          <a:xfrm>
            <a:off x="11167873" y="463297"/>
            <a:ext cx="51207" cy="51207"/>
          </a:xfrm>
          <a:prstGeom prst="ellipse">
            <a:avLst/>
          </a:prstGeom>
          <a:solidFill>
            <a:srgbClr val="FFFFFF">
              <a:alpha val="35000"/>
            </a:srgbClr>
          </a:solidFill>
          <a:ln w="12700">
            <a:solidFill>
              <a:srgbClr val="FFFFFF"/>
            </a:solidFill>
            <a:prstDash val="solid"/>
          </a:ln>
        </p:spPr>
      </p:sp>
      <p:sp>
        <p:nvSpPr>
          <p:cNvPr id="28" name="Shape 16">
            <a:extLst>
              <a:ext uri="{FF2B5EF4-FFF2-40B4-BE49-F238E27FC236}">
                <a16:creationId xmlns:a16="http://schemas.microsoft.com/office/drawing/2014/main" id="{7C42246D-7BA7-2CF7-08C7-583EAFA4F33C}"/>
              </a:ext>
            </a:extLst>
          </p:cNvPr>
          <p:cNvSpPr/>
          <p:nvPr/>
        </p:nvSpPr>
        <p:spPr>
          <a:xfrm>
            <a:off x="11387329" y="463297"/>
            <a:ext cx="51207" cy="51207"/>
          </a:xfrm>
          <a:prstGeom prst="ellipse">
            <a:avLst/>
          </a:prstGeom>
          <a:solidFill>
            <a:srgbClr val="FFFFFF">
              <a:alpha val="35000"/>
            </a:srgbClr>
          </a:solidFill>
          <a:ln w="12700">
            <a:solidFill>
              <a:srgbClr val="FFFFFF"/>
            </a:solidFill>
            <a:prstDash val="solid"/>
          </a:ln>
        </p:spPr>
      </p:sp>
      <p:pic>
        <p:nvPicPr>
          <p:cNvPr id="29" name="Picture 28">
            <a:extLst>
              <a:ext uri="{FF2B5EF4-FFF2-40B4-BE49-F238E27FC236}">
                <a16:creationId xmlns:a16="http://schemas.microsoft.com/office/drawing/2014/main" id="{A9B64476-ECE0-A35D-335C-5F5011D4186F}"/>
              </a:ext>
            </a:extLst>
          </p:cNvPr>
          <p:cNvPicPr>
            <a:picLocks noChangeAspect="1"/>
          </p:cNvPicPr>
          <p:nvPr/>
        </p:nvPicPr>
        <p:blipFill>
          <a:blip r:embed="rId4"/>
          <a:stretch>
            <a:fillRect/>
          </a:stretch>
        </p:blipFill>
        <p:spPr>
          <a:xfrm>
            <a:off x="-453212" y="-255007"/>
            <a:ext cx="1776568" cy="1245981"/>
          </a:xfrm>
          <a:prstGeom prst="rect">
            <a:avLst/>
          </a:prstGeom>
        </p:spPr>
      </p:pic>
      <p:sp>
        <p:nvSpPr>
          <p:cNvPr id="3" name="Text 1"/>
          <p:cNvSpPr/>
          <p:nvPr/>
        </p:nvSpPr>
        <p:spPr>
          <a:xfrm>
            <a:off x="1323356" y="-13619"/>
            <a:ext cx="10972800" cy="731520"/>
          </a:xfrm>
          <a:prstGeom prst="rect">
            <a:avLst/>
          </a:prstGeom>
          <a:noFill/>
          <a:ln/>
        </p:spPr>
        <p:txBody>
          <a:bodyPr wrap="square" lIns="0" tIns="0" rIns="0" bIns="0" rtlCol="0" anchor="ctr"/>
          <a:lstStyle/>
          <a:p>
            <a:r>
              <a:rPr lang="en-US" sz="3200" b="1" dirty="0">
                <a:solidFill>
                  <a:schemeClr val="bg1"/>
                </a:solidFill>
                <a:latin typeface="Calibri" pitchFamily="34" charset="0"/>
                <a:ea typeface="Calibri" pitchFamily="34" charset="-122"/>
                <a:cs typeface="Calibri" pitchFamily="34" charset="-120"/>
              </a:rPr>
              <a:t>INTERPRETABILITY — ATTENTION &amp; FEATURE SALIENCY</a:t>
            </a:r>
            <a:endParaRPr lang="en-US" sz="3200" dirty="0">
              <a:solidFill>
                <a:schemeClr val="bg1"/>
              </a:solidFill>
            </a:endParaRPr>
          </a:p>
        </p:txBody>
      </p:sp>
      <p:pic>
        <p:nvPicPr>
          <p:cNvPr id="39" name="Picture 38">
            <a:extLst>
              <a:ext uri="{FF2B5EF4-FFF2-40B4-BE49-F238E27FC236}">
                <a16:creationId xmlns:a16="http://schemas.microsoft.com/office/drawing/2014/main" id="{A75F50F4-D96D-DC26-148D-6788EA456EBE}"/>
              </a:ext>
            </a:extLst>
          </p:cNvPr>
          <p:cNvPicPr>
            <a:picLocks noChangeAspect="1"/>
          </p:cNvPicPr>
          <p:nvPr/>
        </p:nvPicPr>
        <p:blipFill>
          <a:blip r:embed="rId5"/>
          <a:stretch>
            <a:fillRect/>
          </a:stretch>
        </p:blipFill>
        <p:spPr>
          <a:xfrm>
            <a:off x="426615" y="881836"/>
            <a:ext cx="4749800" cy="4724400"/>
          </a:xfrm>
          <a:prstGeom prst="rect">
            <a:avLst/>
          </a:prstGeom>
        </p:spPr>
      </p:pic>
      <p:pic>
        <p:nvPicPr>
          <p:cNvPr id="41" name="Picture 40">
            <a:extLst>
              <a:ext uri="{FF2B5EF4-FFF2-40B4-BE49-F238E27FC236}">
                <a16:creationId xmlns:a16="http://schemas.microsoft.com/office/drawing/2014/main" id="{61DA0CCE-2AA4-2001-633D-E6EC63170A9C}"/>
              </a:ext>
            </a:extLst>
          </p:cNvPr>
          <p:cNvPicPr>
            <a:picLocks noChangeAspect="1"/>
          </p:cNvPicPr>
          <p:nvPr/>
        </p:nvPicPr>
        <p:blipFill>
          <a:blip r:embed="rId6"/>
          <a:stretch>
            <a:fillRect/>
          </a:stretch>
        </p:blipFill>
        <p:spPr>
          <a:xfrm>
            <a:off x="5664200" y="862329"/>
            <a:ext cx="6101185" cy="4799103"/>
          </a:xfrm>
          <a:prstGeom prst="rect">
            <a:avLst/>
          </a:prstGeom>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 name="Image 0" descr="preencoded.png">
            <a:extLst>
              <a:ext uri="{FF2B5EF4-FFF2-40B4-BE49-F238E27FC236}">
                <a16:creationId xmlns:a16="http://schemas.microsoft.com/office/drawing/2014/main" id="{06102058-EFEC-9D22-1D47-D28CA515041F}"/>
              </a:ext>
            </a:extLst>
          </p:cNvPr>
          <p:cNvPicPr>
            <a:picLocks noChangeAspect="1"/>
          </p:cNvPicPr>
          <p:nvPr/>
        </p:nvPicPr>
        <p:blipFill>
          <a:blip r:embed="rId3"/>
          <a:stretch>
            <a:fillRect/>
          </a:stretch>
        </p:blipFill>
        <p:spPr>
          <a:xfrm>
            <a:off x="0" y="-8467"/>
            <a:ext cx="12192000" cy="6858000"/>
          </a:xfrm>
          <a:prstGeom prst="rect">
            <a:avLst/>
          </a:prstGeom>
        </p:spPr>
      </p:pic>
      <p:graphicFrame>
        <p:nvGraphicFramePr>
          <p:cNvPr id="11" name="Table 0"/>
          <p:cNvGraphicFramePr>
            <a:graphicFrameLocks noGrp="1"/>
          </p:cNvGraphicFramePr>
          <p:nvPr>
            <p:extLst>
              <p:ext uri="{D42A27DB-BD31-4B8C-83A1-F6EECF244321}">
                <p14:modId xmlns:p14="http://schemas.microsoft.com/office/powerpoint/2010/main" val="2943002684"/>
              </p:ext>
            </p:extLst>
          </p:nvPr>
        </p:nvGraphicFramePr>
        <p:xfrm>
          <a:off x="6035040" y="5029195"/>
          <a:ext cx="5486400" cy="1908550"/>
        </p:xfrm>
        <a:graphic>
          <a:graphicData uri="http://schemas.openxmlformats.org/drawingml/2006/table">
            <a:tbl>
              <a:tblPr/>
              <a:tblGrid>
                <a:gridCol w="3335203">
                  <a:extLst>
                    <a:ext uri="{9D8B030D-6E8A-4147-A177-3AD203B41FA5}">
                      <a16:colId xmlns:a16="http://schemas.microsoft.com/office/drawing/2014/main" val="20000"/>
                    </a:ext>
                  </a:extLst>
                </a:gridCol>
                <a:gridCol w="2151197">
                  <a:extLst>
                    <a:ext uri="{9D8B030D-6E8A-4147-A177-3AD203B41FA5}">
                      <a16:colId xmlns:a16="http://schemas.microsoft.com/office/drawing/2014/main" val="20001"/>
                    </a:ext>
                  </a:extLst>
                </a:gridCol>
              </a:tblGrid>
              <a:tr h="408934">
                <a:tc>
                  <a:txBody>
                    <a:bodyPr/>
                    <a:lstStyle/>
                    <a:p>
                      <a:pPr marL="0" indent="0" algn="ctr">
                        <a:buNone/>
                      </a:pPr>
                      <a:r>
                        <a:rPr lang="en-US" sz="1700" b="1" dirty="0">
                          <a:solidFill>
                            <a:srgbClr val="FFFFFF"/>
                          </a:solidFill>
                          <a:latin typeface="Calibri" pitchFamily="34" charset="0"/>
                          <a:ea typeface="Calibri" pitchFamily="34" charset="-122"/>
                          <a:cs typeface="Calibri" pitchFamily="34" charset="-120"/>
                        </a:rPr>
                        <a:t>State</a:t>
                      </a:r>
                      <a:endParaRPr lang="en-US" sz="1700" dirty="0">
                        <a:latin typeface="Calibri" charset="0"/>
                        <a:ea typeface="Calibri" charset="0"/>
                        <a:cs typeface="Calibri" charset="0"/>
                      </a:endParaRPr>
                    </a:p>
                  </a:txBody>
                  <a:tcPr marL="121920" marR="121920" marT="60960" marB="60960" anchor="ctr">
                    <a:lnL w="6350" cap="flat" cmpd="sng" algn="ctr">
                      <a:solidFill>
                        <a:srgbClr val="DDE3ED"/>
                      </a:solidFill>
                      <a:prstDash val="solid"/>
                      <a:round/>
                      <a:headEnd type="none" w="med" len="med"/>
                      <a:tailEnd type="none" w="med" len="med"/>
                    </a:lnL>
                    <a:lnR w="6350" cap="flat" cmpd="sng" algn="ctr">
                      <a:solidFill>
                        <a:srgbClr val="DDE3ED"/>
                      </a:solidFill>
                      <a:prstDash val="solid"/>
                      <a:round/>
                      <a:headEnd type="none" w="med" len="med"/>
                      <a:tailEnd type="none" w="med" len="med"/>
                    </a:lnR>
                    <a:lnT w="6350" cap="flat" cmpd="sng" algn="ctr">
                      <a:solidFill>
                        <a:srgbClr val="DDE3ED"/>
                      </a:solidFill>
                      <a:prstDash val="solid"/>
                      <a:round/>
                      <a:headEnd type="none" w="med" len="med"/>
                      <a:tailEnd type="none" w="med" len="med"/>
                    </a:lnT>
                    <a:lnB w="6350" cap="flat" cmpd="sng" algn="ctr">
                      <a:solidFill>
                        <a:srgbClr val="DDE3ED"/>
                      </a:solidFill>
                      <a:prstDash val="solid"/>
                      <a:round/>
                      <a:headEnd type="none" w="med" len="med"/>
                      <a:tailEnd type="none" w="med" len="med"/>
                    </a:lnB>
                    <a:solidFill>
                      <a:srgbClr val="0A1F44"/>
                    </a:solidFill>
                  </a:tcPr>
                </a:tc>
                <a:tc>
                  <a:txBody>
                    <a:bodyPr/>
                    <a:lstStyle/>
                    <a:p>
                      <a:pPr marL="0" indent="0" algn="ctr">
                        <a:buNone/>
                      </a:pPr>
                      <a:r>
                        <a:rPr lang="en-US" sz="1700" b="1" dirty="0">
                          <a:solidFill>
                            <a:srgbClr val="FFFFFF"/>
                          </a:solidFill>
                          <a:latin typeface="Calibri" pitchFamily="34" charset="0"/>
                          <a:ea typeface="Calibri" pitchFamily="34" charset="-122"/>
                          <a:cs typeface="Calibri" pitchFamily="34" charset="-120"/>
                        </a:rPr>
                        <a:t>ECE</a:t>
                      </a:r>
                      <a:endParaRPr lang="en-US" sz="1700" dirty="0">
                        <a:latin typeface="Calibri" charset="0"/>
                        <a:ea typeface="Calibri" charset="0"/>
                        <a:cs typeface="Calibri" charset="0"/>
                      </a:endParaRPr>
                    </a:p>
                  </a:txBody>
                  <a:tcPr marL="121920" marR="121920" marT="60960" marB="60960" anchor="ctr">
                    <a:lnL w="6350" cap="flat" cmpd="sng" algn="ctr">
                      <a:solidFill>
                        <a:srgbClr val="DDE3ED"/>
                      </a:solidFill>
                      <a:prstDash val="solid"/>
                      <a:round/>
                      <a:headEnd type="none" w="med" len="med"/>
                      <a:tailEnd type="none" w="med" len="med"/>
                    </a:lnL>
                    <a:lnR w="6350" cap="flat" cmpd="sng" algn="ctr">
                      <a:solidFill>
                        <a:srgbClr val="DDE3ED"/>
                      </a:solidFill>
                      <a:prstDash val="solid"/>
                      <a:round/>
                      <a:headEnd type="none" w="med" len="med"/>
                      <a:tailEnd type="none" w="med" len="med"/>
                    </a:lnR>
                    <a:lnT w="6350" cap="flat" cmpd="sng" algn="ctr">
                      <a:solidFill>
                        <a:srgbClr val="DDE3ED"/>
                      </a:solidFill>
                      <a:prstDash val="solid"/>
                      <a:round/>
                      <a:headEnd type="none" w="med" len="med"/>
                      <a:tailEnd type="none" w="med" len="med"/>
                    </a:lnT>
                    <a:lnB w="6350" cap="flat" cmpd="sng" algn="ctr">
                      <a:solidFill>
                        <a:srgbClr val="DDE3ED"/>
                      </a:solidFill>
                      <a:prstDash val="solid"/>
                      <a:round/>
                      <a:headEnd type="none" w="med" len="med"/>
                      <a:tailEnd type="none" w="med" len="med"/>
                    </a:lnB>
                    <a:solidFill>
                      <a:srgbClr val="0A1F44"/>
                    </a:solidFill>
                  </a:tcPr>
                </a:tc>
                <a:extLst>
                  <a:ext uri="{0D108BD9-81ED-4DB2-BD59-A6C34878D82A}">
                    <a16:rowId xmlns:a16="http://schemas.microsoft.com/office/drawing/2014/main" val="10000"/>
                  </a:ext>
                </a:extLst>
              </a:tr>
              <a:tr h="499872">
                <a:tc>
                  <a:txBody>
                    <a:bodyPr/>
                    <a:lstStyle/>
                    <a:p>
                      <a:pPr marL="0" indent="0" algn="ctr">
                        <a:buNone/>
                      </a:pPr>
                      <a:r>
                        <a:rPr lang="en-US" sz="1700" dirty="0">
                          <a:solidFill>
                            <a:srgbClr val="000000"/>
                          </a:solidFill>
                          <a:latin typeface="Calibri" pitchFamily="34" charset="0"/>
                          <a:ea typeface="Calibri" pitchFamily="34" charset="-122"/>
                          <a:cs typeface="Calibri" pitchFamily="34" charset="-120"/>
                        </a:rPr>
                        <a:t>Raw  (T = 1.0)</a:t>
                      </a:r>
                      <a:endParaRPr lang="en-US" sz="1700" dirty="0">
                        <a:latin typeface="Calibri" charset="0"/>
                        <a:ea typeface="Calibri" charset="0"/>
                        <a:cs typeface="Calibri" charset="0"/>
                      </a:endParaRPr>
                    </a:p>
                  </a:txBody>
                  <a:tcPr marL="121920" marR="121920" marT="60960" marB="60960" anchor="ctr">
                    <a:lnL w="6350" cap="flat" cmpd="sng" algn="ctr">
                      <a:solidFill>
                        <a:srgbClr val="DDE3ED"/>
                      </a:solidFill>
                      <a:prstDash val="solid"/>
                      <a:round/>
                      <a:headEnd type="none" w="med" len="med"/>
                      <a:tailEnd type="none" w="med" len="med"/>
                    </a:lnL>
                    <a:lnR w="6350" cap="flat" cmpd="sng" algn="ctr">
                      <a:solidFill>
                        <a:srgbClr val="DDE3ED"/>
                      </a:solidFill>
                      <a:prstDash val="solid"/>
                      <a:round/>
                      <a:headEnd type="none" w="med" len="med"/>
                      <a:tailEnd type="none" w="med" len="med"/>
                    </a:lnR>
                    <a:lnT w="6350" cap="flat" cmpd="sng" algn="ctr">
                      <a:solidFill>
                        <a:srgbClr val="DDE3ED"/>
                      </a:solidFill>
                      <a:prstDash val="solid"/>
                      <a:round/>
                      <a:headEnd type="none" w="med" len="med"/>
                      <a:tailEnd type="none" w="med" len="med"/>
                    </a:lnT>
                    <a:lnB w="6350" cap="flat" cmpd="sng" algn="ctr">
                      <a:solidFill>
                        <a:srgbClr val="DDE3ED"/>
                      </a:solidFill>
                      <a:prstDash val="solid"/>
                      <a:round/>
                      <a:headEnd type="none" w="med" len="med"/>
                      <a:tailEnd type="none" w="med" len="med"/>
                    </a:lnB>
                  </a:tcPr>
                </a:tc>
                <a:tc>
                  <a:txBody>
                    <a:bodyPr/>
                    <a:lstStyle/>
                    <a:p>
                      <a:pPr marL="0" indent="0" algn="ctr">
                        <a:buNone/>
                      </a:pPr>
                      <a:r>
                        <a:rPr lang="en-US" sz="1700" b="1" dirty="0">
                          <a:solidFill>
                            <a:srgbClr val="C8102E"/>
                          </a:solidFill>
                          <a:latin typeface="Calibri" pitchFamily="34" charset="0"/>
                          <a:ea typeface="Calibri" pitchFamily="34" charset="-122"/>
                          <a:cs typeface="Calibri" pitchFamily="34" charset="-120"/>
                        </a:rPr>
                        <a:t>0.114</a:t>
                      </a:r>
                      <a:endParaRPr lang="en-US" sz="1700" dirty="0">
                        <a:latin typeface="Calibri" charset="0"/>
                        <a:ea typeface="Calibri" charset="0"/>
                        <a:cs typeface="Calibri" charset="0"/>
                      </a:endParaRPr>
                    </a:p>
                  </a:txBody>
                  <a:tcPr marL="121920" marR="121920" marT="60960" marB="60960" anchor="ctr">
                    <a:lnL w="6350" cap="flat" cmpd="sng" algn="ctr">
                      <a:solidFill>
                        <a:srgbClr val="DDE3ED"/>
                      </a:solidFill>
                      <a:prstDash val="solid"/>
                      <a:round/>
                      <a:headEnd type="none" w="med" len="med"/>
                      <a:tailEnd type="none" w="med" len="med"/>
                    </a:lnL>
                    <a:lnR w="6350" cap="flat" cmpd="sng" algn="ctr">
                      <a:solidFill>
                        <a:srgbClr val="DDE3ED"/>
                      </a:solidFill>
                      <a:prstDash val="solid"/>
                      <a:round/>
                      <a:headEnd type="none" w="med" len="med"/>
                      <a:tailEnd type="none" w="med" len="med"/>
                    </a:lnR>
                    <a:lnT w="6350" cap="flat" cmpd="sng" algn="ctr">
                      <a:solidFill>
                        <a:srgbClr val="DDE3ED"/>
                      </a:solidFill>
                      <a:prstDash val="solid"/>
                      <a:round/>
                      <a:headEnd type="none" w="med" len="med"/>
                      <a:tailEnd type="none" w="med" len="med"/>
                    </a:lnT>
                    <a:lnB w="6350" cap="flat" cmpd="sng" algn="ctr">
                      <a:solidFill>
                        <a:srgbClr val="DDE3ED"/>
                      </a:solidFill>
                      <a:prstDash val="solid"/>
                      <a:round/>
                      <a:headEnd type="none" w="med" len="med"/>
                      <a:tailEnd type="none" w="med" len="med"/>
                    </a:lnB>
                  </a:tcPr>
                </a:tc>
                <a:extLst>
                  <a:ext uri="{0D108BD9-81ED-4DB2-BD59-A6C34878D82A}">
                    <a16:rowId xmlns:a16="http://schemas.microsoft.com/office/drawing/2014/main" val="10001"/>
                  </a:ext>
                </a:extLst>
              </a:tr>
              <a:tr h="499872">
                <a:tc>
                  <a:txBody>
                    <a:bodyPr/>
                    <a:lstStyle/>
                    <a:p>
                      <a:pPr marL="0" indent="0" algn="ctr">
                        <a:buNone/>
                      </a:pPr>
                      <a:r>
                        <a:rPr lang="en-US" sz="1700" b="1" dirty="0">
                          <a:solidFill>
                            <a:srgbClr val="000000"/>
                          </a:solidFill>
                          <a:latin typeface="Calibri" pitchFamily="34" charset="0"/>
                          <a:ea typeface="Calibri" pitchFamily="34" charset="-122"/>
                          <a:cs typeface="Calibri" pitchFamily="34" charset="-120"/>
                        </a:rPr>
                        <a:t>After scaling  (T = 0.4023)</a:t>
                      </a:r>
                      <a:endParaRPr lang="en-US" sz="1700" dirty="0">
                        <a:latin typeface="Calibri" charset="0"/>
                        <a:ea typeface="Calibri" charset="0"/>
                        <a:cs typeface="Calibri" charset="0"/>
                      </a:endParaRPr>
                    </a:p>
                  </a:txBody>
                  <a:tcPr marL="121920" marR="121920" marT="60960" marB="60960" anchor="ctr">
                    <a:lnL w="6350" cap="flat" cmpd="sng" algn="ctr">
                      <a:solidFill>
                        <a:srgbClr val="DDE3ED"/>
                      </a:solidFill>
                      <a:prstDash val="solid"/>
                      <a:round/>
                      <a:headEnd type="none" w="med" len="med"/>
                      <a:tailEnd type="none" w="med" len="med"/>
                    </a:lnL>
                    <a:lnR w="6350" cap="flat" cmpd="sng" algn="ctr">
                      <a:solidFill>
                        <a:srgbClr val="DDE3ED"/>
                      </a:solidFill>
                      <a:prstDash val="solid"/>
                      <a:round/>
                      <a:headEnd type="none" w="med" len="med"/>
                      <a:tailEnd type="none" w="med" len="med"/>
                    </a:lnR>
                    <a:lnT w="6350" cap="flat" cmpd="sng" algn="ctr">
                      <a:solidFill>
                        <a:srgbClr val="DDE3ED"/>
                      </a:solidFill>
                      <a:prstDash val="solid"/>
                      <a:round/>
                      <a:headEnd type="none" w="med" len="med"/>
                      <a:tailEnd type="none" w="med" len="med"/>
                    </a:lnT>
                    <a:lnB w="6350" cap="flat" cmpd="sng" algn="ctr">
                      <a:solidFill>
                        <a:srgbClr val="DDE3ED"/>
                      </a:solidFill>
                      <a:prstDash val="solid"/>
                      <a:round/>
                      <a:headEnd type="none" w="med" len="med"/>
                      <a:tailEnd type="none" w="med" len="med"/>
                    </a:lnB>
                  </a:tcPr>
                </a:tc>
                <a:tc>
                  <a:txBody>
                    <a:bodyPr/>
                    <a:lstStyle/>
                    <a:p>
                      <a:pPr marL="0" indent="0" algn="ctr">
                        <a:buNone/>
                      </a:pPr>
                      <a:r>
                        <a:rPr lang="en-US" sz="1700" b="1" dirty="0">
                          <a:solidFill>
                            <a:srgbClr val="1DA462"/>
                          </a:solidFill>
                          <a:latin typeface="Calibri" pitchFamily="34" charset="0"/>
                          <a:ea typeface="Calibri" pitchFamily="34" charset="-122"/>
                          <a:cs typeface="Calibri" pitchFamily="34" charset="-120"/>
                        </a:rPr>
                        <a:t>0.068</a:t>
                      </a:r>
                      <a:endParaRPr lang="en-US" sz="1700" dirty="0">
                        <a:latin typeface="Calibri" charset="0"/>
                        <a:ea typeface="Calibri" charset="0"/>
                        <a:cs typeface="Calibri" charset="0"/>
                      </a:endParaRPr>
                    </a:p>
                  </a:txBody>
                  <a:tcPr marL="121920" marR="121920" marT="60960" marB="60960" anchor="ctr">
                    <a:lnL w="6350" cap="flat" cmpd="sng" algn="ctr">
                      <a:solidFill>
                        <a:srgbClr val="DDE3ED"/>
                      </a:solidFill>
                      <a:prstDash val="solid"/>
                      <a:round/>
                      <a:headEnd type="none" w="med" len="med"/>
                      <a:tailEnd type="none" w="med" len="med"/>
                    </a:lnL>
                    <a:lnR w="6350" cap="flat" cmpd="sng" algn="ctr">
                      <a:solidFill>
                        <a:srgbClr val="DDE3ED"/>
                      </a:solidFill>
                      <a:prstDash val="solid"/>
                      <a:round/>
                      <a:headEnd type="none" w="med" len="med"/>
                      <a:tailEnd type="none" w="med" len="med"/>
                    </a:lnR>
                    <a:lnT w="6350" cap="flat" cmpd="sng" algn="ctr">
                      <a:solidFill>
                        <a:srgbClr val="DDE3ED"/>
                      </a:solidFill>
                      <a:prstDash val="solid"/>
                      <a:round/>
                      <a:headEnd type="none" w="med" len="med"/>
                      <a:tailEnd type="none" w="med" len="med"/>
                    </a:lnT>
                    <a:lnB w="6350" cap="flat" cmpd="sng" algn="ctr">
                      <a:solidFill>
                        <a:srgbClr val="DDE3ED"/>
                      </a:solidFill>
                      <a:prstDash val="solid"/>
                      <a:round/>
                      <a:headEnd type="none" w="med" len="med"/>
                      <a:tailEnd type="none" w="med" len="med"/>
                    </a:lnB>
                  </a:tcPr>
                </a:tc>
                <a:extLst>
                  <a:ext uri="{0D108BD9-81ED-4DB2-BD59-A6C34878D82A}">
                    <a16:rowId xmlns:a16="http://schemas.microsoft.com/office/drawing/2014/main" val="10002"/>
                  </a:ext>
                </a:extLst>
              </a:tr>
              <a:tr h="499872">
                <a:tc>
                  <a:txBody>
                    <a:bodyPr/>
                    <a:lstStyle/>
                    <a:p>
                      <a:pPr marL="0" indent="0" algn="ctr">
                        <a:buNone/>
                      </a:pPr>
                      <a:r>
                        <a:rPr lang="en-US" sz="1700" dirty="0">
                          <a:solidFill>
                            <a:srgbClr val="000000"/>
                          </a:solidFill>
                          <a:latin typeface="Calibri" pitchFamily="34" charset="0"/>
                          <a:ea typeface="Calibri" pitchFamily="34" charset="-122"/>
                          <a:cs typeface="Calibri" pitchFamily="34" charset="-120"/>
                        </a:rPr>
                        <a:t>Improvement</a:t>
                      </a:r>
                      <a:endParaRPr lang="en-US" sz="1700" dirty="0">
                        <a:latin typeface="Calibri" charset="0"/>
                        <a:ea typeface="Calibri" charset="0"/>
                        <a:cs typeface="Calibri" charset="0"/>
                      </a:endParaRPr>
                    </a:p>
                  </a:txBody>
                  <a:tcPr marL="121920" marR="121920" marT="60960" marB="60960" anchor="ctr">
                    <a:lnL w="6350" cap="flat" cmpd="sng" algn="ctr">
                      <a:solidFill>
                        <a:srgbClr val="DDE3ED"/>
                      </a:solidFill>
                      <a:prstDash val="solid"/>
                      <a:round/>
                      <a:headEnd type="none" w="med" len="med"/>
                      <a:tailEnd type="none" w="med" len="med"/>
                    </a:lnL>
                    <a:lnR w="6350" cap="flat" cmpd="sng" algn="ctr">
                      <a:solidFill>
                        <a:srgbClr val="DDE3ED"/>
                      </a:solidFill>
                      <a:prstDash val="solid"/>
                      <a:round/>
                      <a:headEnd type="none" w="med" len="med"/>
                      <a:tailEnd type="none" w="med" len="med"/>
                    </a:lnR>
                    <a:lnT w="6350" cap="flat" cmpd="sng" algn="ctr">
                      <a:solidFill>
                        <a:srgbClr val="DDE3ED"/>
                      </a:solidFill>
                      <a:prstDash val="solid"/>
                      <a:round/>
                      <a:headEnd type="none" w="med" len="med"/>
                      <a:tailEnd type="none" w="med" len="med"/>
                    </a:lnT>
                    <a:lnB w="6350" cap="flat" cmpd="sng" algn="ctr">
                      <a:solidFill>
                        <a:srgbClr val="DDE3ED"/>
                      </a:solidFill>
                      <a:prstDash val="solid"/>
                      <a:round/>
                      <a:headEnd type="none" w="med" len="med"/>
                      <a:tailEnd type="none" w="med" len="med"/>
                    </a:lnB>
                  </a:tcPr>
                </a:tc>
                <a:tc>
                  <a:txBody>
                    <a:bodyPr/>
                    <a:lstStyle/>
                    <a:p>
                      <a:pPr marL="0" indent="0" algn="ctr">
                        <a:buNone/>
                      </a:pPr>
                      <a:r>
                        <a:rPr lang="en-US" sz="1700" b="1" dirty="0">
                          <a:solidFill>
                            <a:srgbClr val="1DA462"/>
                          </a:solidFill>
                          <a:latin typeface="Calibri" pitchFamily="34" charset="0"/>
                          <a:ea typeface="Calibri" pitchFamily="34" charset="-122"/>
                          <a:cs typeface="Calibri" pitchFamily="34" charset="-120"/>
                        </a:rPr>
                        <a:t>−40%</a:t>
                      </a:r>
                      <a:endParaRPr lang="en-US" sz="1700" dirty="0">
                        <a:latin typeface="Calibri" charset="0"/>
                        <a:ea typeface="Calibri" charset="0"/>
                        <a:cs typeface="Calibri" charset="0"/>
                      </a:endParaRPr>
                    </a:p>
                  </a:txBody>
                  <a:tcPr marL="121920" marR="121920" marT="60960" marB="60960" anchor="ctr">
                    <a:lnL w="6350" cap="flat" cmpd="sng" algn="ctr">
                      <a:solidFill>
                        <a:srgbClr val="DDE3ED"/>
                      </a:solidFill>
                      <a:prstDash val="solid"/>
                      <a:round/>
                      <a:headEnd type="none" w="med" len="med"/>
                      <a:tailEnd type="none" w="med" len="med"/>
                    </a:lnL>
                    <a:lnR w="6350" cap="flat" cmpd="sng" algn="ctr">
                      <a:solidFill>
                        <a:srgbClr val="DDE3ED"/>
                      </a:solidFill>
                      <a:prstDash val="solid"/>
                      <a:round/>
                      <a:headEnd type="none" w="med" len="med"/>
                      <a:tailEnd type="none" w="med" len="med"/>
                    </a:lnR>
                    <a:lnT w="6350" cap="flat" cmpd="sng" algn="ctr">
                      <a:solidFill>
                        <a:srgbClr val="DDE3ED"/>
                      </a:solidFill>
                      <a:prstDash val="solid"/>
                      <a:round/>
                      <a:headEnd type="none" w="med" len="med"/>
                      <a:tailEnd type="none" w="med" len="med"/>
                    </a:lnT>
                    <a:lnB w="6350" cap="flat" cmpd="sng" algn="ctr">
                      <a:solidFill>
                        <a:srgbClr val="DDE3ED"/>
                      </a:solidFill>
                      <a:prstDash val="solid"/>
                      <a:round/>
                      <a:headEnd type="none" w="med" len="med"/>
                      <a:tailEnd type="none" w="med" len="med"/>
                    </a:lnB>
                  </a:tcPr>
                </a:tc>
                <a:extLst>
                  <a:ext uri="{0D108BD9-81ED-4DB2-BD59-A6C34878D82A}">
                    <a16:rowId xmlns:a16="http://schemas.microsoft.com/office/drawing/2014/main" val="10003"/>
                  </a:ext>
                </a:extLst>
              </a:tr>
            </a:tbl>
          </a:graphicData>
        </a:graphic>
      </p:graphicFrame>
      <p:sp>
        <p:nvSpPr>
          <p:cNvPr id="5" name="Text 2"/>
          <p:cNvSpPr/>
          <p:nvPr/>
        </p:nvSpPr>
        <p:spPr>
          <a:xfrm>
            <a:off x="548640" y="5192424"/>
            <a:ext cx="5486400" cy="1097280"/>
          </a:xfrm>
          <a:prstGeom prst="rect">
            <a:avLst/>
          </a:prstGeom>
          <a:noFill/>
          <a:ln/>
        </p:spPr>
        <p:txBody>
          <a:bodyPr wrap="square" rtlCol="0" anchor="ctr"/>
          <a:lstStyle/>
          <a:p>
            <a:r>
              <a:rPr lang="en-US" sz="1600" dirty="0">
                <a:solidFill>
                  <a:srgbClr val="8493A8"/>
                </a:solidFill>
                <a:latin typeface="Calibri" pitchFamily="34" charset="0"/>
                <a:ea typeface="Calibri" pitchFamily="34" charset="-122"/>
                <a:cs typeface="Calibri" pitchFamily="34" charset="-120"/>
              </a:rPr>
              <a:t>Temperature scaling converts raw logits to more reliable probability estimates — enabling P(DEGRADED) to serve as a risk score for the adaptive EKF.</a:t>
            </a:r>
            <a:endParaRPr lang="en-US" sz="1600" dirty="0"/>
          </a:p>
        </p:txBody>
      </p:sp>
      <p:sp>
        <p:nvSpPr>
          <p:cNvPr id="4" name="Shape 0">
            <a:extLst>
              <a:ext uri="{FF2B5EF4-FFF2-40B4-BE49-F238E27FC236}">
                <a16:creationId xmlns:a16="http://schemas.microsoft.com/office/drawing/2014/main" id="{9F592E7D-C8B9-AC81-B758-B01BB525BEB2}"/>
              </a:ext>
            </a:extLst>
          </p:cNvPr>
          <p:cNvSpPr/>
          <p:nvPr/>
        </p:nvSpPr>
        <p:spPr>
          <a:xfrm>
            <a:off x="0" y="-7492"/>
            <a:ext cx="12192000" cy="740408"/>
          </a:xfrm>
          <a:prstGeom prst="rect">
            <a:avLst/>
          </a:prstGeom>
          <a:solidFill>
            <a:srgbClr val="003893"/>
          </a:solidFill>
          <a:ln w="12700">
            <a:solidFill>
              <a:srgbClr val="003893"/>
            </a:solidFill>
            <a:prstDash val="solid"/>
          </a:ln>
        </p:spPr>
      </p:sp>
      <p:sp>
        <p:nvSpPr>
          <p:cNvPr id="10" name="Shape 1">
            <a:extLst>
              <a:ext uri="{FF2B5EF4-FFF2-40B4-BE49-F238E27FC236}">
                <a16:creationId xmlns:a16="http://schemas.microsoft.com/office/drawing/2014/main" id="{86753494-C546-1F29-C099-44212A2F5C3E}"/>
              </a:ext>
            </a:extLst>
          </p:cNvPr>
          <p:cNvSpPr/>
          <p:nvPr/>
        </p:nvSpPr>
        <p:spPr>
          <a:xfrm>
            <a:off x="0" y="702347"/>
            <a:ext cx="12192000" cy="36576"/>
          </a:xfrm>
          <a:prstGeom prst="rect">
            <a:avLst/>
          </a:prstGeom>
          <a:solidFill>
            <a:srgbClr val="4FC3F7"/>
          </a:solidFill>
          <a:ln w="12700">
            <a:solidFill>
              <a:srgbClr val="4FC3F7"/>
            </a:solidFill>
            <a:prstDash val="solid"/>
          </a:ln>
        </p:spPr>
      </p:sp>
      <p:sp>
        <p:nvSpPr>
          <p:cNvPr id="12" name="Shape 2">
            <a:extLst>
              <a:ext uri="{FF2B5EF4-FFF2-40B4-BE49-F238E27FC236}">
                <a16:creationId xmlns:a16="http://schemas.microsoft.com/office/drawing/2014/main" id="{683C3B31-1619-1B89-8A10-A37CBCD8068B}"/>
              </a:ext>
            </a:extLst>
          </p:cNvPr>
          <p:cNvSpPr/>
          <p:nvPr/>
        </p:nvSpPr>
        <p:spPr>
          <a:xfrm>
            <a:off x="0" y="6646862"/>
            <a:ext cx="12192000" cy="211137"/>
          </a:xfrm>
          <a:prstGeom prst="rect">
            <a:avLst/>
          </a:prstGeom>
          <a:solidFill>
            <a:srgbClr val="003893"/>
          </a:solidFill>
          <a:ln w="12700">
            <a:solidFill>
              <a:srgbClr val="003893"/>
            </a:solidFill>
            <a:prstDash val="solid"/>
          </a:ln>
        </p:spPr>
      </p:sp>
      <p:sp>
        <p:nvSpPr>
          <p:cNvPr id="13" name="Shape 3">
            <a:extLst>
              <a:ext uri="{FF2B5EF4-FFF2-40B4-BE49-F238E27FC236}">
                <a16:creationId xmlns:a16="http://schemas.microsoft.com/office/drawing/2014/main" id="{AA3C75DF-99BB-37D8-548E-79674AE882BC}"/>
              </a:ext>
            </a:extLst>
          </p:cNvPr>
          <p:cNvSpPr/>
          <p:nvPr/>
        </p:nvSpPr>
        <p:spPr>
          <a:xfrm>
            <a:off x="0" y="6623677"/>
            <a:ext cx="12192000" cy="30480"/>
          </a:xfrm>
          <a:prstGeom prst="rect">
            <a:avLst/>
          </a:prstGeom>
          <a:solidFill>
            <a:srgbClr val="4FC3F7"/>
          </a:solidFill>
          <a:ln w="12700">
            <a:solidFill>
              <a:srgbClr val="4FC3F7"/>
            </a:solidFill>
            <a:prstDash val="solid"/>
          </a:ln>
        </p:spPr>
      </p:sp>
      <p:sp>
        <p:nvSpPr>
          <p:cNvPr id="14" name="Shape 4">
            <a:extLst>
              <a:ext uri="{FF2B5EF4-FFF2-40B4-BE49-F238E27FC236}">
                <a16:creationId xmlns:a16="http://schemas.microsoft.com/office/drawing/2014/main" id="{BE07CDFF-FB64-78C3-E3B5-2F19E2F54AB1}"/>
              </a:ext>
            </a:extLst>
          </p:cNvPr>
          <p:cNvSpPr/>
          <p:nvPr/>
        </p:nvSpPr>
        <p:spPr>
          <a:xfrm>
            <a:off x="0" y="-24618"/>
            <a:ext cx="1128763" cy="767311"/>
          </a:xfrm>
          <a:prstGeom prst="homePlate">
            <a:avLst/>
          </a:prstGeom>
          <a:solidFill>
            <a:srgbClr val="FFFFFF"/>
          </a:solidFill>
          <a:ln w="6350">
            <a:solidFill>
              <a:srgbClr val="CCCCCC"/>
            </a:solidFill>
            <a:prstDash val="solid"/>
          </a:ln>
        </p:spPr>
      </p:sp>
      <p:sp>
        <p:nvSpPr>
          <p:cNvPr id="15" name="Shape 5">
            <a:extLst>
              <a:ext uri="{FF2B5EF4-FFF2-40B4-BE49-F238E27FC236}">
                <a16:creationId xmlns:a16="http://schemas.microsoft.com/office/drawing/2014/main" id="{7BB5EA54-01DE-44A2-9703-07C4F9AA3FB4}"/>
              </a:ext>
            </a:extLst>
          </p:cNvPr>
          <p:cNvSpPr/>
          <p:nvPr/>
        </p:nvSpPr>
        <p:spPr>
          <a:xfrm>
            <a:off x="10728961" y="121921"/>
            <a:ext cx="51207" cy="51207"/>
          </a:xfrm>
          <a:prstGeom prst="ellipse">
            <a:avLst/>
          </a:prstGeom>
          <a:solidFill>
            <a:srgbClr val="FFFFFF">
              <a:alpha val="35000"/>
            </a:srgbClr>
          </a:solidFill>
          <a:ln w="12700">
            <a:solidFill>
              <a:srgbClr val="FFFFFF"/>
            </a:solidFill>
            <a:prstDash val="solid"/>
          </a:ln>
        </p:spPr>
      </p:sp>
      <p:sp>
        <p:nvSpPr>
          <p:cNvPr id="16" name="Shape 6">
            <a:extLst>
              <a:ext uri="{FF2B5EF4-FFF2-40B4-BE49-F238E27FC236}">
                <a16:creationId xmlns:a16="http://schemas.microsoft.com/office/drawing/2014/main" id="{C40DB522-EE4D-0E50-EF53-B252A5D1E23C}"/>
              </a:ext>
            </a:extLst>
          </p:cNvPr>
          <p:cNvSpPr/>
          <p:nvPr/>
        </p:nvSpPr>
        <p:spPr>
          <a:xfrm>
            <a:off x="10948417" y="121921"/>
            <a:ext cx="51207" cy="51207"/>
          </a:xfrm>
          <a:prstGeom prst="ellipse">
            <a:avLst/>
          </a:prstGeom>
          <a:solidFill>
            <a:srgbClr val="FFFFFF">
              <a:alpha val="35000"/>
            </a:srgbClr>
          </a:solidFill>
          <a:ln w="12700">
            <a:solidFill>
              <a:srgbClr val="FFFFFF"/>
            </a:solidFill>
            <a:prstDash val="solid"/>
          </a:ln>
        </p:spPr>
      </p:sp>
      <p:sp>
        <p:nvSpPr>
          <p:cNvPr id="17" name="Shape 7">
            <a:extLst>
              <a:ext uri="{FF2B5EF4-FFF2-40B4-BE49-F238E27FC236}">
                <a16:creationId xmlns:a16="http://schemas.microsoft.com/office/drawing/2014/main" id="{F5F36AE8-4048-A5AC-9A1A-D214328A2A4E}"/>
              </a:ext>
            </a:extLst>
          </p:cNvPr>
          <p:cNvSpPr/>
          <p:nvPr/>
        </p:nvSpPr>
        <p:spPr>
          <a:xfrm>
            <a:off x="11167873" y="121921"/>
            <a:ext cx="51207" cy="51207"/>
          </a:xfrm>
          <a:prstGeom prst="ellipse">
            <a:avLst/>
          </a:prstGeom>
          <a:solidFill>
            <a:srgbClr val="FFFFFF">
              <a:alpha val="35000"/>
            </a:srgbClr>
          </a:solidFill>
          <a:ln w="12700">
            <a:solidFill>
              <a:srgbClr val="FFFFFF"/>
            </a:solidFill>
            <a:prstDash val="solid"/>
          </a:ln>
        </p:spPr>
      </p:sp>
      <p:sp>
        <p:nvSpPr>
          <p:cNvPr id="18" name="Shape 8">
            <a:extLst>
              <a:ext uri="{FF2B5EF4-FFF2-40B4-BE49-F238E27FC236}">
                <a16:creationId xmlns:a16="http://schemas.microsoft.com/office/drawing/2014/main" id="{93B43423-D2CA-0EBF-BC3D-D4FC70FBD1BF}"/>
              </a:ext>
            </a:extLst>
          </p:cNvPr>
          <p:cNvSpPr/>
          <p:nvPr/>
        </p:nvSpPr>
        <p:spPr>
          <a:xfrm>
            <a:off x="11387329" y="121921"/>
            <a:ext cx="51207" cy="51207"/>
          </a:xfrm>
          <a:prstGeom prst="ellipse">
            <a:avLst/>
          </a:prstGeom>
          <a:solidFill>
            <a:srgbClr val="FFFFFF">
              <a:alpha val="35000"/>
            </a:srgbClr>
          </a:solidFill>
          <a:ln w="12700">
            <a:solidFill>
              <a:srgbClr val="FFFFFF"/>
            </a:solidFill>
            <a:prstDash val="solid"/>
          </a:ln>
        </p:spPr>
      </p:sp>
      <p:sp>
        <p:nvSpPr>
          <p:cNvPr id="19" name="Shape 9">
            <a:extLst>
              <a:ext uri="{FF2B5EF4-FFF2-40B4-BE49-F238E27FC236}">
                <a16:creationId xmlns:a16="http://schemas.microsoft.com/office/drawing/2014/main" id="{982D9566-B873-9B43-7F9D-E25D89B2B5E7}"/>
              </a:ext>
            </a:extLst>
          </p:cNvPr>
          <p:cNvSpPr/>
          <p:nvPr/>
        </p:nvSpPr>
        <p:spPr>
          <a:xfrm>
            <a:off x="10728961" y="292609"/>
            <a:ext cx="51207" cy="51207"/>
          </a:xfrm>
          <a:prstGeom prst="ellipse">
            <a:avLst/>
          </a:prstGeom>
          <a:solidFill>
            <a:srgbClr val="FFFFFF">
              <a:alpha val="35000"/>
            </a:srgbClr>
          </a:solidFill>
          <a:ln w="12700">
            <a:solidFill>
              <a:srgbClr val="FFFFFF"/>
            </a:solidFill>
            <a:prstDash val="solid"/>
          </a:ln>
        </p:spPr>
      </p:sp>
      <p:sp>
        <p:nvSpPr>
          <p:cNvPr id="20" name="Shape 10">
            <a:extLst>
              <a:ext uri="{FF2B5EF4-FFF2-40B4-BE49-F238E27FC236}">
                <a16:creationId xmlns:a16="http://schemas.microsoft.com/office/drawing/2014/main" id="{9319CE49-1047-FDF2-DD79-4943EA6208A4}"/>
              </a:ext>
            </a:extLst>
          </p:cNvPr>
          <p:cNvSpPr/>
          <p:nvPr/>
        </p:nvSpPr>
        <p:spPr>
          <a:xfrm>
            <a:off x="10948417" y="292609"/>
            <a:ext cx="51207" cy="51207"/>
          </a:xfrm>
          <a:prstGeom prst="ellipse">
            <a:avLst/>
          </a:prstGeom>
          <a:solidFill>
            <a:srgbClr val="FFFFFF">
              <a:alpha val="35000"/>
            </a:srgbClr>
          </a:solidFill>
          <a:ln w="12700">
            <a:solidFill>
              <a:srgbClr val="FFFFFF"/>
            </a:solidFill>
            <a:prstDash val="solid"/>
          </a:ln>
        </p:spPr>
      </p:sp>
      <p:sp>
        <p:nvSpPr>
          <p:cNvPr id="21" name="Shape 11">
            <a:extLst>
              <a:ext uri="{FF2B5EF4-FFF2-40B4-BE49-F238E27FC236}">
                <a16:creationId xmlns:a16="http://schemas.microsoft.com/office/drawing/2014/main" id="{E8122BD2-24CC-2C73-5505-B4DACDCA3AEB}"/>
              </a:ext>
            </a:extLst>
          </p:cNvPr>
          <p:cNvSpPr/>
          <p:nvPr/>
        </p:nvSpPr>
        <p:spPr>
          <a:xfrm>
            <a:off x="11167873" y="292609"/>
            <a:ext cx="51207" cy="51207"/>
          </a:xfrm>
          <a:prstGeom prst="ellipse">
            <a:avLst/>
          </a:prstGeom>
          <a:solidFill>
            <a:srgbClr val="FFFFFF">
              <a:alpha val="35000"/>
            </a:srgbClr>
          </a:solidFill>
          <a:ln w="12700">
            <a:solidFill>
              <a:srgbClr val="FFFFFF"/>
            </a:solidFill>
            <a:prstDash val="solid"/>
          </a:ln>
        </p:spPr>
      </p:sp>
      <p:sp>
        <p:nvSpPr>
          <p:cNvPr id="22" name="Shape 12">
            <a:extLst>
              <a:ext uri="{FF2B5EF4-FFF2-40B4-BE49-F238E27FC236}">
                <a16:creationId xmlns:a16="http://schemas.microsoft.com/office/drawing/2014/main" id="{5E8E5DA1-400F-E4BB-30C9-85B8BE710F3E}"/>
              </a:ext>
            </a:extLst>
          </p:cNvPr>
          <p:cNvSpPr/>
          <p:nvPr/>
        </p:nvSpPr>
        <p:spPr>
          <a:xfrm>
            <a:off x="11387329" y="292609"/>
            <a:ext cx="51207" cy="51207"/>
          </a:xfrm>
          <a:prstGeom prst="ellipse">
            <a:avLst/>
          </a:prstGeom>
          <a:solidFill>
            <a:srgbClr val="FFFFFF">
              <a:alpha val="35000"/>
            </a:srgbClr>
          </a:solidFill>
          <a:ln w="12700">
            <a:solidFill>
              <a:srgbClr val="FFFFFF"/>
            </a:solidFill>
            <a:prstDash val="solid"/>
          </a:ln>
        </p:spPr>
      </p:sp>
      <p:sp>
        <p:nvSpPr>
          <p:cNvPr id="23" name="Shape 13">
            <a:extLst>
              <a:ext uri="{FF2B5EF4-FFF2-40B4-BE49-F238E27FC236}">
                <a16:creationId xmlns:a16="http://schemas.microsoft.com/office/drawing/2014/main" id="{11E4BDAE-D14C-5F52-5188-A19CDC710017}"/>
              </a:ext>
            </a:extLst>
          </p:cNvPr>
          <p:cNvSpPr/>
          <p:nvPr/>
        </p:nvSpPr>
        <p:spPr>
          <a:xfrm>
            <a:off x="10728961" y="463297"/>
            <a:ext cx="51207" cy="51207"/>
          </a:xfrm>
          <a:prstGeom prst="ellipse">
            <a:avLst/>
          </a:prstGeom>
          <a:solidFill>
            <a:srgbClr val="FFFFFF">
              <a:alpha val="35000"/>
            </a:srgbClr>
          </a:solidFill>
          <a:ln w="12700">
            <a:solidFill>
              <a:srgbClr val="FFFFFF"/>
            </a:solidFill>
            <a:prstDash val="solid"/>
          </a:ln>
        </p:spPr>
      </p:sp>
      <p:sp>
        <p:nvSpPr>
          <p:cNvPr id="24" name="Shape 14">
            <a:extLst>
              <a:ext uri="{FF2B5EF4-FFF2-40B4-BE49-F238E27FC236}">
                <a16:creationId xmlns:a16="http://schemas.microsoft.com/office/drawing/2014/main" id="{3C87CE01-9D47-A9DC-E2EB-D5AD38227EA9}"/>
              </a:ext>
            </a:extLst>
          </p:cNvPr>
          <p:cNvSpPr/>
          <p:nvPr/>
        </p:nvSpPr>
        <p:spPr>
          <a:xfrm>
            <a:off x="10948417" y="463297"/>
            <a:ext cx="51207" cy="51207"/>
          </a:xfrm>
          <a:prstGeom prst="ellipse">
            <a:avLst/>
          </a:prstGeom>
          <a:solidFill>
            <a:srgbClr val="FFFFFF">
              <a:alpha val="35000"/>
            </a:srgbClr>
          </a:solidFill>
          <a:ln w="12700">
            <a:solidFill>
              <a:srgbClr val="FFFFFF"/>
            </a:solidFill>
            <a:prstDash val="solid"/>
          </a:ln>
        </p:spPr>
      </p:sp>
      <p:sp>
        <p:nvSpPr>
          <p:cNvPr id="25" name="Shape 15">
            <a:extLst>
              <a:ext uri="{FF2B5EF4-FFF2-40B4-BE49-F238E27FC236}">
                <a16:creationId xmlns:a16="http://schemas.microsoft.com/office/drawing/2014/main" id="{51DE0CE4-9F22-5A57-2462-04FF62F5C778}"/>
              </a:ext>
            </a:extLst>
          </p:cNvPr>
          <p:cNvSpPr/>
          <p:nvPr/>
        </p:nvSpPr>
        <p:spPr>
          <a:xfrm>
            <a:off x="11167873" y="463297"/>
            <a:ext cx="51207" cy="51207"/>
          </a:xfrm>
          <a:prstGeom prst="ellipse">
            <a:avLst/>
          </a:prstGeom>
          <a:solidFill>
            <a:srgbClr val="FFFFFF">
              <a:alpha val="35000"/>
            </a:srgbClr>
          </a:solidFill>
          <a:ln w="12700">
            <a:solidFill>
              <a:srgbClr val="FFFFFF"/>
            </a:solidFill>
            <a:prstDash val="solid"/>
          </a:ln>
        </p:spPr>
      </p:sp>
      <p:sp>
        <p:nvSpPr>
          <p:cNvPr id="26" name="Shape 16">
            <a:extLst>
              <a:ext uri="{FF2B5EF4-FFF2-40B4-BE49-F238E27FC236}">
                <a16:creationId xmlns:a16="http://schemas.microsoft.com/office/drawing/2014/main" id="{A209586C-FC4C-51FA-7E38-D23A2F0DD641}"/>
              </a:ext>
            </a:extLst>
          </p:cNvPr>
          <p:cNvSpPr/>
          <p:nvPr/>
        </p:nvSpPr>
        <p:spPr>
          <a:xfrm>
            <a:off x="11387329" y="463297"/>
            <a:ext cx="51207" cy="51207"/>
          </a:xfrm>
          <a:prstGeom prst="ellipse">
            <a:avLst/>
          </a:prstGeom>
          <a:solidFill>
            <a:srgbClr val="FFFFFF">
              <a:alpha val="35000"/>
            </a:srgbClr>
          </a:solidFill>
          <a:ln w="12700">
            <a:solidFill>
              <a:srgbClr val="FFFFFF"/>
            </a:solidFill>
            <a:prstDash val="solid"/>
          </a:ln>
        </p:spPr>
      </p:sp>
      <p:pic>
        <p:nvPicPr>
          <p:cNvPr id="27" name="Picture 26">
            <a:extLst>
              <a:ext uri="{FF2B5EF4-FFF2-40B4-BE49-F238E27FC236}">
                <a16:creationId xmlns:a16="http://schemas.microsoft.com/office/drawing/2014/main" id="{30E51FAC-721D-FB4E-1659-E4EAB9AB991C}"/>
              </a:ext>
            </a:extLst>
          </p:cNvPr>
          <p:cNvPicPr>
            <a:picLocks noChangeAspect="1"/>
          </p:cNvPicPr>
          <p:nvPr/>
        </p:nvPicPr>
        <p:blipFill>
          <a:blip r:embed="rId4"/>
          <a:stretch>
            <a:fillRect/>
          </a:stretch>
        </p:blipFill>
        <p:spPr>
          <a:xfrm>
            <a:off x="-453212" y="-263954"/>
            <a:ext cx="1776568" cy="1245981"/>
          </a:xfrm>
          <a:prstGeom prst="rect">
            <a:avLst/>
          </a:prstGeom>
        </p:spPr>
      </p:pic>
      <p:pic>
        <p:nvPicPr>
          <p:cNvPr id="29" name="Picture 28">
            <a:extLst>
              <a:ext uri="{FF2B5EF4-FFF2-40B4-BE49-F238E27FC236}">
                <a16:creationId xmlns:a16="http://schemas.microsoft.com/office/drawing/2014/main" id="{206A19C3-FB18-26AF-8786-94A8872C7A6B}"/>
              </a:ext>
            </a:extLst>
          </p:cNvPr>
          <p:cNvPicPr>
            <a:picLocks noChangeAspect="1"/>
          </p:cNvPicPr>
          <p:nvPr/>
        </p:nvPicPr>
        <p:blipFill>
          <a:blip r:embed="rId5"/>
          <a:stretch>
            <a:fillRect/>
          </a:stretch>
        </p:blipFill>
        <p:spPr>
          <a:xfrm>
            <a:off x="793098" y="898412"/>
            <a:ext cx="9935863" cy="4276554"/>
          </a:xfrm>
          <a:prstGeom prst="rect">
            <a:avLst/>
          </a:prstGeom>
        </p:spPr>
      </p:pic>
      <p:sp>
        <p:nvSpPr>
          <p:cNvPr id="3" name="Text 1"/>
          <p:cNvSpPr/>
          <p:nvPr/>
        </p:nvSpPr>
        <p:spPr>
          <a:xfrm>
            <a:off x="1192376" y="-48531"/>
            <a:ext cx="10972800" cy="731520"/>
          </a:xfrm>
          <a:prstGeom prst="rect">
            <a:avLst/>
          </a:prstGeom>
          <a:noFill/>
          <a:ln/>
        </p:spPr>
        <p:txBody>
          <a:bodyPr wrap="square" lIns="0" tIns="0" rIns="0" bIns="0" rtlCol="0" anchor="ctr"/>
          <a:lstStyle/>
          <a:p>
            <a:r>
              <a:rPr lang="en-US" sz="3200" b="1" dirty="0">
                <a:solidFill>
                  <a:schemeClr val="bg1"/>
                </a:solidFill>
                <a:latin typeface="Calibri" pitchFamily="34" charset="0"/>
                <a:ea typeface="Calibri" pitchFamily="34" charset="-122"/>
                <a:cs typeface="Calibri" pitchFamily="34" charset="-120"/>
              </a:rPr>
              <a:t>PROBABILITY CALIBRATION — TEMPERATURE SCALING</a:t>
            </a:r>
            <a:endParaRPr lang="en-US" sz="3200" dirty="0">
              <a:solidFill>
                <a:schemeClr val="bg1"/>
              </a:solidFill>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4" name="Image 0" descr="preencoded.png">
            <a:extLst>
              <a:ext uri="{FF2B5EF4-FFF2-40B4-BE49-F238E27FC236}">
                <a16:creationId xmlns:a16="http://schemas.microsoft.com/office/drawing/2014/main" id="{00A56DC4-B6CA-C9D9-D36D-6AC0D608C40F}"/>
              </a:ext>
            </a:extLst>
          </p:cNvPr>
          <p:cNvPicPr>
            <a:picLocks noChangeAspect="1"/>
          </p:cNvPicPr>
          <p:nvPr/>
        </p:nvPicPr>
        <p:blipFill>
          <a:blip r:embed="rId3"/>
          <a:stretch>
            <a:fillRect/>
          </a:stretch>
        </p:blipFill>
        <p:spPr>
          <a:xfrm>
            <a:off x="0" y="0"/>
            <a:ext cx="12192000" cy="6858000"/>
          </a:xfrm>
          <a:prstGeom prst="rect">
            <a:avLst/>
          </a:prstGeom>
        </p:spPr>
      </p:pic>
      <p:graphicFrame>
        <p:nvGraphicFramePr>
          <p:cNvPr id="14" name="Table 0"/>
          <p:cNvGraphicFramePr>
            <a:graphicFrameLocks noGrp="1"/>
          </p:cNvGraphicFramePr>
          <p:nvPr>
            <p:extLst>
              <p:ext uri="{D42A27DB-BD31-4B8C-83A1-F6EECF244321}">
                <p14:modId xmlns:p14="http://schemas.microsoft.com/office/powerpoint/2010/main" val="480664870"/>
              </p:ext>
            </p:extLst>
          </p:nvPr>
        </p:nvGraphicFramePr>
        <p:xfrm>
          <a:off x="548639" y="841061"/>
          <a:ext cx="5088589" cy="2819400"/>
        </p:xfrm>
        <a:graphic>
          <a:graphicData uri="http://schemas.openxmlformats.org/drawingml/2006/table">
            <a:tbl>
              <a:tblPr/>
              <a:tblGrid>
                <a:gridCol w="877343">
                  <a:extLst>
                    <a:ext uri="{9D8B030D-6E8A-4147-A177-3AD203B41FA5}">
                      <a16:colId xmlns:a16="http://schemas.microsoft.com/office/drawing/2014/main" val="20000"/>
                    </a:ext>
                  </a:extLst>
                </a:gridCol>
                <a:gridCol w="1754686">
                  <a:extLst>
                    <a:ext uri="{9D8B030D-6E8A-4147-A177-3AD203B41FA5}">
                      <a16:colId xmlns:a16="http://schemas.microsoft.com/office/drawing/2014/main" val="20001"/>
                    </a:ext>
                  </a:extLst>
                </a:gridCol>
                <a:gridCol w="2456560">
                  <a:extLst>
                    <a:ext uri="{9D8B030D-6E8A-4147-A177-3AD203B41FA5}">
                      <a16:colId xmlns:a16="http://schemas.microsoft.com/office/drawing/2014/main" val="20002"/>
                    </a:ext>
                  </a:extLst>
                </a:gridCol>
              </a:tblGrid>
              <a:tr h="593633">
                <a:tc>
                  <a:txBody>
                    <a:bodyPr/>
                    <a:lstStyle/>
                    <a:p>
                      <a:pPr marL="0" indent="0" algn="ctr">
                        <a:buNone/>
                      </a:pPr>
                      <a:r>
                        <a:rPr lang="en-US" sz="1700" b="1" dirty="0">
                          <a:solidFill>
                            <a:srgbClr val="FFFFFF"/>
                          </a:solidFill>
                          <a:latin typeface="Calibri" pitchFamily="34" charset="0"/>
                          <a:ea typeface="Calibri" pitchFamily="34" charset="-122"/>
                          <a:cs typeface="Calibri" pitchFamily="34" charset="-120"/>
                        </a:rPr>
                        <a:t>Horizon</a:t>
                      </a:r>
                      <a:endParaRPr lang="en-US" sz="1700" dirty="0">
                        <a:latin typeface="Calibri" charset="0"/>
                        <a:ea typeface="Calibri" charset="0"/>
                        <a:cs typeface="Calibri" charset="0"/>
                      </a:endParaRPr>
                    </a:p>
                  </a:txBody>
                  <a:tcPr marL="121920" marR="121920" marT="60960" marB="60960" anchor="ctr">
                    <a:lnL w="6350" cap="flat" cmpd="sng" algn="ctr">
                      <a:solidFill>
                        <a:srgbClr val="DDE3ED"/>
                      </a:solidFill>
                      <a:prstDash val="solid"/>
                      <a:round/>
                      <a:headEnd type="none" w="med" len="med"/>
                      <a:tailEnd type="none" w="med" len="med"/>
                    </a:lnL>
                    <a:lnR w="6350" cap="flat" cmpd="sng" algn="ctr">
                      <a:solidFill>
                        <a:srgbClr val="DDE3ED"/>
                      </a:solidFill>
                      <a:prstDash val="solid"/>
                      <a:round/>
                      <a:headEnd type="none" w="med" len="med"/>
                      <a:tailEnd type="none" w="med" len="med"/>
                    </a:lnR>
                    <a:lnT w="6350" cap="flat" cmpd="sng" algn="ctr">
                      <a:solidFill>
                        <a:srgbClr val="DDE3ED"/>
                      </a:solidFill>
                      <a:prstDash val="solid"/>
                      <a:round/>
                      <a:headEnd type="none" w="med" len="med"/>
                      <a:tailEnd type="none" w="med" len="med"/>
                    </a:lnT>
                    <a:lnB w="6350" cap="flat" cmpd="sng" algn="ctr">
                      <a:solidFill>
                        <a:srgbClr val="DDE3ED"/>
                      </a:solidFill>
                      <a:prstDash val="solid"/>
                      <a:round/>
                      <a:headEnd type="none" w="med" len="med"/>
                      <a:tailEnd type="none" w="med" len="med"/>
                    </a:lnB>
                    <a:solidFill>
                      <a:srgbClr val="0A1F44"/>
                    </a:solidFill>
                  </a:tcPr>
                </a:tc>
                <a:tc>
                  <a:txBody>
                    <a:bodyPr/>
                    <a:lstStyle/>
                    <a:p>
                      <a:pPr marL="0" indent="0" algn="ctr">
                        <a:buNone/>
                      </a:pPr>
                      <a:r>
                        <a:rPr lang="en-US" sz="1700" b="1" dirty="0">
                          <a:solidFill>
                            <a:srgbClr val="FFFFFF"/>
                          </a:solidFill>
                          <a:latin typeface="Calibri" pitchFamily="34" charset="0"/>
                          <a:ea typeface="Calibri" pitchFamily="34" charset="-122"/>
                          <a:cs typeface="Calibri" pitchFamily="34" charset="-120"/>
                        </a:rPr>
                        <a:t>Distance @ 60 km/h</a:t>
                      </a:r>
                      <a:endParaRPr lang="en-US" sz="1700" dirty="0">
                        <a:latin typeface="Calibri" charset="0"/>
                        <a:ea typeface="Calibri" charset="0"/>
                        <a:cs typeface="Calibri" charset="0"/>
                      </a:endParaRPr>
                    </a:p>
                  </a:txBody>
                  <a:tcPr marL="121920" marR="121920" marT="60960" marB="60960" anchor="ctr">
                    <a:lnL w="6350" cap="flat" cmpd="sng" algn="ctr">
                      <a:solidFill>
                        <a:srgbClr val="DDE3ED"/>
                      </a:solidFill>
                      <a:prstDash val="solid"/>
                      <a:round/>
                      <a:headEnd type="none" w="med" len="med"/>
                      <a:tailEnd type="none" w="med" len="med"/>
                    </a:lnL>
                    <a:lnR w="6350" cap="flat" cmpd="sng" algn="ctr">
                      <a:solidFill>
                        <a:srgbClr val="DDE3ED"/>
                      </a:solidFill>
                      <a:prstDash val="solid"/>
                      <a:round/>
                      <a:headEnd type="none" w="med" len="med"/>
                      <a:tailEnd type="none" w="med" len="med"/>
                    </a:lnR>
                    <a:lnT w="6350" cap="flat" cmpd="sng" algn="ctr">
                      <a:solidFill>
                        <a:srgbClr val="DDE3ED"/>
                      </a:solidFill>
                      <a:prstDash val="solid"/>
                      <a:round/>
                      <a:headEnd type="none" w="med" len="med"/>
                      <a:tailEnd type="none" w="med" len="med"/>
                    </a:lnT>
                    <a:lnB w="6350" cap="flat" cmpd="sng" algn="ctr">
                      <a:solidFill>
                        <a:srgbClr val="DDE3ED"/>
                      </a:solidFill>
                      <a:prstDash val="solid"/>
                      <a:round/>
                      <a:headEnd type="none" w="med" len="med"/>
                      <a:tailEnd type="none" w="med" len="med"/>
                    </a:lnB>
                    <a:solidFill>
                      <a:srgbClr val="0A1F44"/>
                    </a:solidFill>
                  </a:tcPr>
                </a:tc>
                <a:tc>
                  <a:txBody>
                    <a:bodyPr/>
                    <a:lstStyle/>
                    <a:p>
                      <a:pPr marL="0" indent="0" algn="ctr">
                        <a:buNone/>
                      </a:pPr>
                      <a:r>
                        <a:rPr lang="en-US" sz="1700" b="1" dirty="0">
                          <a:solidFill>
                            <a:srgbClr val="FFFFFF"/>
                          </a:solidFill>
                          <a:latin typeface="Calibri" pitchFamily="34" charset="0"/>
                          <a:ea typeface="Calibri" pitchFamily="34" charset="-122"/>
                          <a:cs typeface="Calibri" pitchFamily="34" charset="-120"/>
                        </a:rPr>
                        <a:t>Action Window</a:t>
                      </a:r>
                      <a:endParaRPr lang="en-US" sz="1700" dirty="0">
                        <a:latin typeface="Calibri" charset="0"/>
                        <a:ea typeface="Calibri" charset="0"/>
                        <a:cs typeface="Calibri" charset="0"/>
                      </a:endParaRPr>
                    </a:p>
                  </a:txBody>
                  <a:tcPr marL="121920" marR="121920" marT="60960" marB="60960" anchor="ctr">
                    <a:lnL w="6350" cap="flat" cmpd="sng" algn="ctr">
                      <a:solidFill>
                        <a:srgbClr val="DDE3ED"/>
                      </a:solidFill>
                      <a:prstDash val="solid"/>
                      <a:round/>
                      <a:headEnd type="none" w="med" len="med"/>
                      <a:tailEnd type="none" w="med" len="med"/>
                    </a:lnL>
                    <a:lnR w="6350" cap="flat" cmpd="sng" algn="ctr">
                      <a:solidFill>
                        <a:srgbClr val="DDE3ED"/>
                      </a:solidFill>
                      <a:prstDash val="solid"/>
                      <a:round/>
                      <a:headEnd type="none" w="med" len="med"/>
                      <a:tailEnd type="none" w="med" len="med"/>
                    </a:lnR>
                    <a:lnT w="6350" cap="flat" cmpd="sng" algn="ctr">
                      <a:solidFill>
                        <a:srgbClr val="DDE3ED"/>
                      </a:solidFill>
                      <a:prstDash val="solid"/>
                      <a:round/>
                      <a:headEnd type="none" w="med" len="med"/>
                      <a:tailEnd type="none" w="med" len="med"/>
                    </a:lnT>
                    <a:lnB w="6350" cap="flat" cmpd="sng" algn="ctr">
                      <a:solidFill>
                        <a:srgbClr val="DDE3ED"/>
                      </a:solidFill>
                      <a:prstDash val="solid"/>
                      <a:round/>
                      <a:headEnd type="none" w="med" len="med"/>
                      <a:tailEnd type="none" w="med" len="med"/>
                    </a:lnB>
                    <a:solidFill>
                      <a:srgbClr val="0A1F44"/>
                    </a:solidFill>
                  </a:tcPr>
                </a:tc>
                <a:extLst>
                  <a:ext uri="{0D108BD9-81ED-4DB2-BD59-A6C34878D82A}">
                    <a16:rowId xmlns:a16="http://schemas.microsoft.com/office/drawing/2014/main" val="10000"/>
                  </a:ext>
                </a:extLst>
              </a:tr>
              <a:tr h="833913">
                <a:tc>
                  <a:txBody>
                    <a:bodyPr/>
                    <a:lstStyle/>
                    <a:p>
                      <a:pPr marL="0" indent="0" algn="ctr">
                        <a:buNone/>
                      </a:pPr>
                      <a:r>
                        <a:rPr lang="en-US" sz="1700" dirty="0">
                          <a:solidFill>
                            <a:srgbClr val="000000"/>
                          </a:solidFill>
                          <a:latin typeface="Calibri" pitchFamily="34" charset="0"/>
                          <a:ea typeface="Calibri" pitchFamily="34" charset="-122"/>
                          <a:cs typeface="Calibri" pitchFamily="34" charset="-120"/>
                        </a:rPr>
                        <a:t>+5 s</a:t>
                      </a:r>
                      <a:endParaRPr lang="en-US" sz="1700" dirty="0">
                        <a:latin typeface="Calibri" charset="0"/>
                        <a:ea typeface="Calibri" charset="0"/>
                        <a:cs typeface="Calibri" charset="0"/>
                      </a:endParaRPr>
                    </a:p>
                  </a:txBody>
                  <a:tcPr marL="121920" marR="121920" marT="60960" marB="60960" anchor="ctr">
                    <a:lnL w="6350" cap="flat" cmpd="sng" algn="ctr">
                      <a:solidFill>
                        <a:srgbClr val="DDE3ED"/>
                      </a:solidFill>
                      <a:prstDash val="solid"/>
                      <a:round/>
                      <a:headEnd type="none" w="med" len="med"/>
                      <a:tailEnd type="none" w="med" len="med"/>
                    </a:lnL>
                    <a:lnR w="6350" cap="flat" cmpd="sng" algn="ctr">
                      <a:solidFill>
                        <a:srgbClr val="DDE3ED"/>
                      </a:solidFill>
                      <a:prstDash val="solid"/>
                      <a:round/>
                      <a:headEnd type="none" w="med" len="med"/>
                      <a:tailEnd type="none" w="med" len="med"/>
                    </a:lnR>
                    <a:lnT w="6350" cap="flat" cmpd="sng" algn="ctr">
                      <a:solidFill>
                        <a:srgbClr val="DDE3ED"/>
                      </a:solidFill>
                      <a:prstDash val="solid"/>
                      <a:round/>
                      <a:headEnd type="none" w="med" len="med"/>
                      <a:tailEnd type="none" w="med" len="med"/>
                    </a:lnT>
                    <a:lnB w="6350" cap="flat" cmpd="sng" algn="ctr">
                      <a:solidFill>
                        <a:srgbClr val="DDE3ED"/>
                      </a:solidFill>
                      <a:prstDash val="solid"/>
                      <a:round/>
                      <a:headEnd type="none" w="med" len="med"/>
                      <a:tailEnd type="none" w="med" len="med"/>
                    </a:lnB>
                  </a:tcPr>
                </a:tc>
                <a:tc>
                  <a:txBody>
                    <a:bodyPr/>
                    <a:lstStyle/>
                    <a:p>
                      <a:pPr marL="0" indent="0" algn="ctr">
                        <a:buNone/>
                      </a:pPr>
                      <a:r>
                        <a:rPr lang="en-US" sz="1700" dirty="0">
                          <a:solidFill>
                            <a:srgbClr val="000000"/>
                          </a:solidFill>
                          <a:latin typeface="Calibri" pitchFamily="34" charset="0"/>
                          <a:ea typeface="Calibri" pitchFamily="34" charset="-122"/>
                          <a:cs typeface="Calibri" pitchFamily="34" charset="-120"/>
                        </a:rPr>
                        <a:t>83 m</a:t>
                      </a:r>
                      <a:endParaRPr lang="en-US" sz="1700" dirty="0">
                        <a:latin typeface="Calibri" charset="0"/>
                        <a:ea typeface="Calibri" charset="0"/>
                        <a:cs typeface="Calibri" charset="0"/>
                      </a:endParaRPr>
                    </a:p>
                  </a:txBody>
                  <a:tcPr marL="121920" marR="121920" marT="60960" marB="60960" anchor="ctr">
                    <a:lnL w="6350" cap="flat" cmpd="sng" algn="ctr">
                      <a:solidFill>
                        <a:srgbClr val="DDE3ED"/>
                      </a:solidFill>
                      <a:prstDash val="solid"/>
                      <a:round/>
                      <a:headEnd type="none" w="med" len="med"/>
                      <a:tailEnd type="none" w="med" len="med"/>
                    </a:lnL>
                    <a:lnR w="6350" cap="flat" cmpd="sng" algn="ctr">
                      <a:solidFill>
                        <a:srgbClr val="DDE3ED"/>
                      </a:solidFill>
                      <a:prstDash val="solid"/>
                      <a:round/>
                      <a:headEnd type="none" w="med" len="med"/>
                      <a:tailEnd type="none" w="med" len="med"/>
                    </a:lnR>
                    <a:lnT w="6350" cap="flat" cmpd="sng" algn="ctr">
                      <a:solidFill>
                        <a:srgbClr val="DDE3ED"/>
                      </a:solidFill>
                      <a:prstDash val="solid"/>
                      <a:round/>
                      <a:headEnd type="none" w="med" len="med"/>
                      <a:tailEnd type="none" w="med" len="med"/>
                    </a:lnT>
                    <a:lnB w="6350" cap="flat" cmpd="sng" algn="ctr">
                      <a:solidFill>
                        <a:srgbClr val="DDE3ED"/>
                      </a:solidFill>
                      <a:prstDash val="solid"/>
                      <a:round/>
                      <a:headEnd type="none" w="med" len="med"/>
                      <a:tailEnd type="none" w="med" len="med"/>
                    </a:lnB>
                  </a:tcPr>
                </a:tc>
                <a:tc>
                  <a:txBody>
                    <a:bodyPr/>
                    <a:lstStyle/>
                    <a:p>
                      <a:pPr marL="0" indent="0" algn="ctr">
                        <a:buNone/>
                      </a:pPr>
                      <a:r>
                        <a:rPr lang="en-US" sz="1700" dirty="0">
                          <a:solidFill>
                            <a:srgbClr val="000000"/>
                          </a:solidFill>
                          <a:latin typeface="Calibri" pitchFamily="34" charset="0"/>
                          <a:ea typeface="Calibri" pitchFamily="34" charset="-122"/>
                          <a:cs typeface="Calibri" pitchFamily="34" charset="-120"/>
                        </a:rPr>
                        <a:t>Lane-change preparation, pre-buffer switch</a:t>
                      </a:r>
                      <a:endParaRPr lang="en-US" sz="1700" dirty="0">
                        <a:latin typeface="Calibri" charset="0"/>
                        <a:ea typeface="Calibri" charset="0"/>
                        <a:cs typeface="Calibri" charset="0"/>
                      </a:endParaRPr>
                    </a:p>
                  </a:txBody>
                  <a:tcPr marL="121920" marR="121920" marT="60960" marB="60960" anchor="ctr">
                    <a:lnL w="6350" cap="flat" cmpd="sng" algn="ctr">
                      <a:solidFill>
                        <a:srgbClr val="DDE3ED"/>
                      </a:solidFill>
                      <a:prstDash val="solid"/>
                      <a:round/>
                      <a:headEnd type="none" w="med" len="med"/>
                      <a:tailEnd type="none" w="med" len="med"/>
                    </a:lnL>
                    <a:lnR w="6350" cap="flat" cmpd="sng" algn="ctr">
                      <a:solidFill>
                        <a:srgbClr val="DDE3ED"/>
                      </a:solidFill>
                      <a:prstDash val="solid"/>
                      <a:round/>
                      <a:headEnd type="none" w="med" len="med"/>
                      <a:tailEnd type="none" w="med" len="med"/>
                    </a:lnR>
                    <a:lnT w="6350" cap="flat" cmpd="sng" algn="ctr">
                      <a:solidFill>
                        <a:srgbClr val="DDE3ED"/>
                      </a:solidFill>
                      <a:prstDash val="solid"/>
                      <a:round/>
                      <a:headEnd type="none" w="med" len="med"/>
                      <a:tailEnd type="none" w="med" len="med"/>
                    </a:lnT>
                    <a:lnB w="6350" cap="flat" cmpd="sng" algn="ctr">
                      <a:solidFill>
                        <a:srgbClr val="DDE3ED"/>
                      </a:solidFill>
                      <a:prstDash val="solid"/>
                      <a:round/>
                      <a:headEnd type="none" w="med" len="med"/>
                      <a:tailEnd type="none" w="med" len="med"/>
                    </a:lnB>
                  </a:tcPr>
                </a:tc>
                <a:extLst>
                  <a:ext uri="{0D108BD9-81ED-4DB2-BD59-A6C34878D82A}">
                    <a16:rowId xmlns:a16="http://schemas.microsoft.com/office/drawing/2014/main" val="10001"/>
                  </a:ext>
                </a:extLst>
              </a:tr>
              <a:tr h="603056">
                <a:tc>
                  <a:txBody>
                    <a:bodyPr/>
                    <a:lstStyle/>
                    <a:p>
                      <a:pPr marL="0" indent="0" algn="ctr">
                        <a:buNone/>
                      </a:pPr>
                      <a:r>
                        <a:rPr lang="en-US" sz="1700" dirty="0">
                          <a:solidFill>
                            <a:srgbClr val="000000"/>
                          </a:solidFill>
                          <a:latin typeface="Calibri" pitchFamily="34" charset="0"/>
                          <a:ea typeface="Calibri" pitchFamily="34" charset="-122"/>
                          <a:cs typeface="Calibri" pitchFamily="34" charset="-120"/>
                        </a:rPr>
                        <a:t>+15 s</a:t>
                      </a:r>
                      <a:endParaRPr lang="en-US" sz="1700" dirty="0">
                        <a:latin typeface="Calibri" charset="0"/>
                        <a:ea typeface="Calibri" charset="0"/>
                        <a:cs typeface="Calibri" charset="0"/>
                      </a:endParaRPr>
                    </a:p>
                  </a:txBody>
                  <a:tcPr marL="121920" marR="121920" marT="60960" marB="60960" anchor="ctr">
                    <a:lnL w="6350" cap="flat" cmpd="sng" algn="ctr">
                      <a:solidFill>
                        <a:srgbClr val="DDE3ED"/>
                      </a:solidFill>
                      <a:prstDash val="solid"/>
                      <a:round/>
                      <a:headEnd type="none" w="med" len="med"/>
                      <a:tailEnd type="none" w="med" len="med"/>
                    </a:lnL>
                    <a:lnR w="6350" cap="flat" cmpd="sng" algn="ctr">
                      <a:solidFill>
                        <a:srgbClr val="DDE3ED"/>
                      </a:solidFill>
                      <a:prstDash val="solid"/>
                      <a:round/>
                      <a:headEnd type="none" w="med" len="med"/>
                      <a:tailEnd type="none" w="med" len="med"/>
                    </a:lnR>
                    <a:lnT w="6350" cap="flat" cmpd="sng" algn="ctr">
                      <a:solidFill>
                        <a:srgbClr val="DDE3ED"/>
                      </a:solidFill>
                      <a:prstDash val="solid"/>
                      <a:round/>
                      <a:headEnd type="none" w="med" len="med"/>
                      <a:tailEnd type="none" w="med" len="med"/>
                    </a:lnT>
                    <a:lnB w="6350" cap="flat" cmpd="sng" algn="ctr">
                      <a:solidFill>
                        <a:srgbClr val="DDE3ED"/>
                      </a:solidFill>
                      <a:prstDash val="solid"/>
                      <a:round/>
                      <a:headEnd type="none" w="med" len="med"/>
                      <a:tailEnd type="none" w="med" len="med"/>
                    </a:lnB>
                  </a:tcPr>
                </a:tc>
                <a:tc>
                  <a:txBody>
                    <a:bodyPr/>
                    <a:lstStyle/>
                    <a:p>
                      <a:pPr marL="0" indent="0" algn="ctr">
                        <a:buNone/>
                      </a:pPr>
                      <a:r>
                        <a:rPr lang="en-US" sz="1700" dirty="0">
                          <a:solidFill>
                            <a:srgbClr val="000000"/>
                          </a:solidFill>
                          <a:latin typeface="Calibri" pitchFamily="34" charset="0"/>
                          <a:ea typeface="Calibri" pitchFamily="34" charset="-122"/>
                          <a:cs typeface="Calibri" pitchFamily="34" charset="-120"/>
                        </a:rPr>
                        <a:t>250 m</a:t>
                      </a:r>
                      <a:endParaRPr lang="en-US" sz="1700" dirty="0">
                        <a:latin typeface="Calibri" charset="0"/>
                        <a:ea typeface="Calibri" charset="0"/>
                        <a:cs typeface="Calibri" charset="0"/>
                      </a:endParaRPr>
                    </a:p>
                  </a:txBody>
                  <a:tcPr marL="121920" marR="121920" marT="60960" marB="60960" anchor="ctr">
                    <a:lnL w="6350" cap="flat" cmpd="sng" algn="ctr">
                      <a:solidFill>
                        <a:srgbClr val="DDE3ED"/>
                      </a:solidFill>
                      <a:prstDash val="solid"/>
                      <a:round/>
                      <a:headEnd type="none" w="med" len="med"/>
                      <a:tailEnd type="none" w="med" len="med"/>
                    </a:lnL>
                    <a:lnR w="6350" cap="flat" cmpd="sng" algn="ctr">
                      <a:solidFill>
                        <a:srgbClr val="DDE3ED"/>
                      </a:solidFill>
                      <a:prstDash val="solid"/>
                      <a:round/>
                      <a:headEnd type="none" w="med" len="med"/>
                      <a:tailEnd type="none" w="med" len="med"/>
                    </a:lnR>
                    <a:lnT w="6350" cap="flat" cmpd="sng" algn="ctr">
                      <a:solidFill>
                        <a:srgbClr val="DDE3ED"/>
                      </a:solidFill>
                      <a:prstDash val="solid"/>
                      <a:round/>
                      <a:headEnd type="none" w="med" len="med"/>
                      <a:tailEnd type="none" w="med" len="med"/>
                    </a:lnT>
                    <a:lnB w="6350" cap="flat" cmpd="sng" algn="ctr">
                      <a:solidFill>
                        <a:srgbClr val="DDE3ED"/>
                      </a:solidFill>
                      <a:prstDash val="solid"/>
                      <a:round/>
                      <a:headEnd type="none" w="med" len="med"/>
                      <a:tailEnd type="none" w="med" len="med"/>
                    </a:lnB>
                  </a:tcPr>
                </a:tc>
                <a:tc>
                  <a:txBody>
                    <a:bodyPr/>
                    <a:lstStyle/>
                    <a:p>
                      <a:pPr marL="0" indent="0" algn="ctr">
                        <a:buNone/>
                      </a:pPr>
                      <a:r>
                        <a:rPr lang="en-US" sz="1700" dirty="0">
                          <a:solidFill>
                            <a:srgbClr val="000000"/>
                          </a:solidFill>
                          <a:latin typeface="Calibri" pitchFamily="34" charset="0"/>
                          <a:ea typeface="Calibri" pitchFamily="34" charset="-122"/>
                          <a:cs typeface="Calibri" pitchFamily="34" charset="-120"/>
                        </a:rPr>
                        <a:t>Alternative route segment selection</a:t>
                      </a:r>
                      <a:endParaRPr lang="en-US" sz="1700" dirty="0">
                        <a:latin typeface="Calibri" charset="0"/>
                        <a:ea typeface="Calibri" charset="0"/>
                        <a:cs typeface="Calibri" charset="0"/>
                      </a:endParaRPr>
                    </a:p>
                  </a:txBody>
                  <a:tcPr marL="121920" marR="121920" marT="60960" marB="60960" anchor="ctr">
                    <a:lnL w="6350" cap="flat" cmpd="sng" algn="ctr">
                      <a:solidFill>
                        <a:srgbClr val="DDE3ED"/>
                      </a:solidFill>
                      <a:prstDash val="solid"/>
                      <a:round/>
                      <a:headEnd type="none" w="med" len="med"/>
                      <a:tailEnd type="none" w="med" len="med"/>
                    </a:lnL>
                    <a:lnR w="6350" cap="flat" cmpd="sng" algn="ctr">
                      <a:solidFill>
                        <a:srgbClr val="DDE3ED"/>
                      </a:solidFill>
                      <a:prstDash val="solid"/>
                      <a:round/>
                      <a:headEnd type="none" w="med" len="med"/>
                      <a:tailEnd type="none" w="med" len="med"/>
                    </a:lnR>
                    <a:lnT w="6350" cap="flat" cmpd="sng" algn="ctr">
                      <a:solidFill>
                        <a:srgbClr val="DDE3ED"/>
                      </a:solidFill>
                      <a:prstDash val="solid"/>
                      <a:round/>
                      <a:headEnd type="none" w="med" len="med"/>
                      <a:tailEnd type="none" w="med" len="med"/>
                    </a:lnT>
                    <a:lnB w="6350" cap="flat" cmpd="sng" algn="ctr">
                      <a:solidFill>
                        <a:srgbClr val="DDE3ED"/>
                      </a:solidFill>
                      <a:prstDash val="solid"/>
                      <a:round/>
                      <a:headEnd type="none" w="med" len="med"/>
                      <a:tailEnd type="none" w="med" len="med"/>
                    </a:lnB>
                  </a:tcPr>
                </a:tc>
                <a:extLst>
                  <a:ext uri="{0D108BD9-81ED-4DB2-BD59-A6C34878D82A}">
                    <a16:rowId xmlns:a16="http://schemas.microsoft.com/office/drawing/2014/main" val="10002"/>
                  </a:ext>
                </a:extLst>
              </a:tr>
              <a:tr h="603056">
                <a:tc>
                  <a:txBody>
                    <a:bodyPr/>
                    <a:lstStyle/>
                    <a:p>
                      <a:pPr marL="0" indent="0" algn="ctr">
                        <a:buNone/>
                      </a:pPr>
                      <a:r>
                        <a:rPr lang="en-US" sz="1700" dirty="0">
                          <a:solidFill>
                            <a:srgbClr val="000000"/>
                          </a:solidFill>
                          <a:latin typeface="Calibri" pitchFamily="34" charset="0"/>
                          <a:ea typeface="Calibri" pitchFamily="34" charset="-122"/>
                          <a:cs typeface="Calibri" pitchFamily="34" charset="-120"/>
                        </a:rPr>
                        <a:t>+30 s</a:t>
                      </a:r>
                      <a:endParaRPr lang="en-US" sz="1700" dirty="0">
                        <a:latin typeface="Calibri" charset="0"/>
                        <a:ea typeface="Calibri" charset="0"/>
                        <a:cs typeface="Calibri" charset="0"/>
                      </a:endParaRPr>
                    </a:p>
                  </a:txBody>
                  <a:tcPr marL="121920" marR="121920" marT="60960" marB="60960" anchor="ctr">
                    <a:lnL w="6350" cap="flat" cmpd="sng" algn="ctr">
                      <a:solidFill>
                        <a:srgbClr val="DDE3ED"/>
                      </a:solidFill>
                      <a:prstDash val="solid"/>
                      <a:round/>
                      <a:headEnd type="none" w="med" len="med"/>
                      <a:tailEnd type="none" w="med" len="med"/>
                    </a:lnL>
                    <a:lnR w="6350" cap="flat" cmpd="sng" algn="ctr">
                      <a:solidFill>
                        <a:srgbClr val="DDE3ED"/>
                      </a:solidFill>
                      <a:prstDash val="solid"/>
                      <a:round/>
                      <a:headEnd type="none" w="med" len="med"/>
                      <a:tailEnd type="none" w="med" len="med"/>
                    </a:lnR>
                    <a:lnT w="6350" cap="flat" cmpd="sng" algn="ctr">
                      <a:solidFill>
                        <a:srgbClr val="DDE3ED"/>
                      </a:solidFill>
                      <a:prstDash val="solid"/>
                      <a:round/>
                      <a:headEnd type="none" w="med" len="med"/>
                      <a:tailEnd type="none" w="med" len="med"/>
                    </a:lnT>
                    <a:lnB w="6350" cap="flat" cmpd="sng" algn="ctr">
                      <a:solidFill>
                        <a:srgbClr val="DDE3ED"/>
                      </a:solidFill>
                      <a:prstDash val="solid"/>
                      <a:round/>
                      <a:headEnd type="none" w="med" len="med"/>
                      <a:tailEnd type="none" w="med" len="med"/>
                    </a:lnB>
                  </a:tcPr>
                </a:tc>
                <a:tc>
                  <a:txBody>
                    <a:bodyPr/>
                    <a:lstStyle/>
                    <a:p>
                      <a:pPr marL="0" indent="0" algn="ctr">
                        <a:buNone/>
                      </a:pPr>
                      <a:r>
                        <a:rPr lang="en-US" sz="1700" dirty="0">
                          <a:solidFill>
                            <a:srgbClr val="000000"/>
                          </a:solidFill>
                          <a:latin typeface="Calibri" pitchFamily="34" charset="0"/>
                          <a:ea typeface="Calibri" pitchFamily="34" charset="-122"/>
                          <a:cs typeface="Calibri" pitchFamily="34" charset="-120"/>
                        </a:rPr>
                        <a:t>500 m</a:t>
                      </a:r>
                      <a:endParaRPr lang="en-US" sz="1700" dirty="0">
                        <a:latin typeface="Calibri" charset="0"/>
                        <a:ea typeface="Calibri" charset="0"/>
                        <a:cs typeface="Calibri" charset="0"/>
                      </a:endParaRPr>
                    </a:p>
                  </a:txBody>
                  <a:tcPr marL="121920" marR="121920" marT="60960" marB="60960" anchor="ctr">
                    <a:lnL w="6350" cap="flat" cmpd="sng" algn="ctr">
                      <a:solidFill>
                        <a:srgbClr val="DDE3ED"/>
                      </a:solidFill>
                      <a:prstDash val="solid"/>
                      <a:round/>
                      <a:headEnd type="none" w="med" len="med"/>
                      <a:tailEnd type="none" w="med" len="med"/>
                    </a:lnL>
                    <a:lnR w="6350" cap="flat" cmpd="sng" algn="ctr">
                      <a:solidFill>
                        <a:srgbClr val="DDE3ED"/>
                      </a:solidFill>
                      <a:prstDash val="solid"/>
                      <a:round/>
                      <a:headEnd type="none" w="med" len="med"/>
                      <a:tailEnd type="none" w="med" len="med"/>
                    </a:lnR>
                    <a:lnT w="6350" cap="flat" cmpd="sng" algn="ctr">
                      <a:solidFill>
                        <a:srgbClr val="DDE3ED"/>
                      </a:solidFill>
                      <a:prstDash val="solid"/>
                      <a:round/>
                      <a:headEnd type="none" w="med" len="med"/>
                      <a:tailEnd type="none" w="med" len="med"/>
                    </a:lnT>
                    <a:lnB w="6350" cap="flat" cmpd="sng" algn="ctr">
                      <a:solidFill>
                        <a:srgbClr val="DDE3ED"/>
                      </a:solidFill>
                      <a:prstDash val="solid"/>
                      <a:round/>
                      <a:headEnd type="none" w="med" len="med"/>
                      <a:tailEnd type="none" w="med" len="med"/>
                    </a:lnB>
                  </a:tcPr>
                </a:tc>
                <a:tc>
                  <a:txBody>
                    <a:bodyPr/>
                    <a:lstStyle/>
                    <a:p>
                      <a:pPr marL="0" indent="0" algn="ctr">
                        <a:buNone/>
                      </a:pPr>
                      <a:r>
                        <a:rPr lang="en-US" sz="1700" dirty="0">
                          <a:solidFill>
                            <a:srgbClr val="000000"/>
                          </a:solidFill>
                          <a:latin typeface="Calibri" pitchFamily="34" charset="0"/>
                          <a:ea typeface="Calibri" pitchFamily="34" charset="-122"/>
                          <a:cs typeface="Calibri" pitchFamily="34" charset="-120"/>
                        </a:rPr>
                        <a:t>INS / HD-Map localisation handover</a:t>
                      </a:r>
                      <a:endParaRPr lang="en-US" sz="1700" dirty="0">
                        <a:latin typeface="Calibri" charset="0"/>
                        <a:ea typeface="Calibri" charset="0"/>
                        <a:cs typeface="Calibri" charset="0"/>
                      </a:endParaRPr>
                    </a:p>
                  </a:txBody>
                  <a:tcPr marL="121920" marR="121920" marT="60960" marB="60960" anchor="ctr">
                    <a:lnL w="6350" cap="flat" cmpd="sng" algn="ctr">
                      <a:solidFill>
                        <a:srgbClr val="DDE3ED"/>
                      </a:solidFill>
                      <a:prstDash val="solid"/>
                      <a:round/>
                      <a:headEnd type="none" w="med" len="med"/>
                      <a:tailEnd type="none" w="med" len="med"/>
                    </a:lnL>
                    <a:lnR w="6350" cap="flat" cmpd="sng" algn="ctr">
                      <a:solidFill>
                        <a:srgbClr val="DDE3ED"/>
                      </a:solidFill>
                      <a:prstDash val="solid"/>
                      <a:round/>
                      <a:headEnd type="none" w="med" len="med"/>
                      <a:tailEnd type="none" w="med" len="med"/>
                    </a:lnR>
                    <a:lnT w="6350" cap="flat" cmpd="sng" algn="ctr">
                      <a:solidFill>
                        <a:srgbClr val="DDE3ED"/>
                      </a:solidFill>
                      <a:prstDash val="solid"/>
                      <a:round/>
                      <a:headEnd type="none" w="med" len="med"/>
                      <a:tailEnd type="none" w="med" len="med"/>
                    </a:lnT>
                    <a:lnB w="6350" cap="flat" cmpd="sng" algn="ctr">
                      <a:solidFill>
                        <a:srgbClr val="DDE3ED"/>
                      </a:solidFill>
                      <a:prstDash val="solid"/>
                      <a:round/>
                      <a:headEnd type="none" w="med" len="med"/>
                      <a:tailEnd type="none" w="med" len="med"/>
                    </a:lnB>
                  </a:tcPr>
                </a:tc>
                <a:extLst>
                  <a:ext uri="{0D108BD9-81ED-4DB2-BD59-A6C34878D82A}">
                    <a16:rowId xmlns:a16="http://schemas.microsoft.com/office/drawing/2014/main" val="10003"/>
                  </a:ext>
                </a:extLst>
              </a:tr>
            </a:tbl>
          </a:graphicData>
        </a:graphic>
      </p:graphicFrame>
      <p:sp>
        <p:nvSpPr>
          <p:cNvPr id="5" name="Shape 2"/>
          <p:cNvSpPr/>
          <p:nvPr/>
        </p:nvSpPr>
        <p:spPr>
          <a:xfrm>
            <a:off x="548640" y="3758828"/>
            <a:ext cx="5088589" cy="1239891"/>
          </a:xfrm>
          <a:prstGeom prst="rect">
            <a:avLst/>
          </a:prstGeom>
          <a:solidFill>
            <a:srgbClr val="FFFFFF"/>
          </a:solidFill>
          <a:ln w="12700">
            <a:solidFill>
              <a:srgbClr val="DDE3ED"/>
            </a:solidFill>
            <a:prstDash val="solid"/>
          </a:ln>
          <a:effectLst>
            <a:outerShdw blurRad="101600" dist="25400" dir="8100000" algn="bl" rotWithShape="0">
              <a:srgbClr val="000000">
                <a:alpha val="8000"/>
              </a:srgbClr>
            </a:outerShdw>
          </a:effectLst>
        </p:spPr>
      </p:sp>
      <p:sp>
        <p:nvSpPr>
          <p:cNvPr id="6" name="Text 3"/>
          <p:cNvSpPr/>
          <p:nvPr/>
        </p:nvSpPr>
        <p:spPr>
          <a:xfrm>
            <a:off x="731520" y="3730752"/>
            <a:ext cx="6705600" cy="365760"/>
          </a:xfrm>
          <a:prstGeom prst="rect">
            <a:avLst/>
          </a:prstGeom>
          <a:noFill/>
          <a:ln/>
        </p:spPr>
        <p:txBody>
          <a:bodyPr wrap="square" lIns="0" tIns="0" rIns="0" bIns="0" rtlCol="0" anchor="ctr"/>
          <a:lstStyle/>
          <a:p>
            <a:r>
              <a:rPr lang="en-US" sz="1600" b="1" dirty="0">
                <a:solidFill>
                  <a:srgbClr val="C8102E"/>
                </a:solidFill>
                <a:latin typeface="Calibri" pitchFamily="34" charset="0"/>
                <a:ea typeface="Calibri" pitchFamily="34" charset="-122"/>
                <a:cs typeface="Calibri" pitchFamily="34" charset="-120"/>
              </a:rPr>
              <a:t>❌  Reactive (RTKLIB / RAIM / prior ML)</a:t>
            </a:r>
            <a:endParaRPr lang="en-US" sz="1600" dirty="0"/>
          </a:p>
        </p:txBody>
      </p:sp>
      <p:sp>
        <p:nvSpPr>
          <p:cNvPr id="7" name="Text 4"/>
          <p:cNvSpPr/>
          <p:nvPr/>
        </p:nvSpPr>
        <p:spPr>
          <a:xfrm>
            <a:off x="731520" y="4120896"/>
            <a:ext cx="6705600" cy="755904"/>
          </a:xfrm>
          <a:prstGeom prst="rect">
            <a:avLst/>
          </a:prstGeom>
          <a:noFill/>
          <a:ln/>
        </p:spPr>
        <p:txBody>
          <a:bodyPr wrap="square" rtlCol="0" anchor="ctr"/>
          <a:lstStyle/>
          <a:p>
            <a:r>
              <a:rPr lang="en-US" sz="1467" dirty="0">
                <a:solidFill>
                  <a:srgbClr val="8493A8"/>
                </a:solidFill>
                <a:latin typeface="Calibri" pitchFamily="34" charset="0"/>
                <a:ea typeface="Calibri" pitchFamily="34" charset="-122"/>
                <a:cs typeface="Calibri" pitchFamily="34" charset="-120"/>
              </a:rPr>
              <a:t>Reports: Signal failed</a:t>
            </a:r>
            <a:endParaRPr lang="en-US" sz="1467" dirty="0"/>
          </a:p>
          <a:p>
            <a:r>
              <a:rPr lang="en-US" sz="1467" dirty="0">
                <a:solidFill>
                  <a:srgbClr val="8493A8"/>
                </a:solidFill>
                <a:latin typeface="Calibri" pitchFamily="34" charset="0"/>
                <a:ea typeface="Calibri" pitchFamily="34" charset="-122"/>
                <a:cs typeface="Calibri" pitchFamily="34" charset="-120"/>
              </a:rPr>
              <a:t>Vehicle already in degraded zone — zero prep time</a:t>
            </a:r>
            <a:endParaRPr lang="en-US" sz="1467" dirty="0"/>
          </a:p>
        </p:txBody>
      </p:sp>
      <p:sp>
        <p:nvSpPr>
          <p:cNvPr id="8" name="Shape 5"/>
          <p:cNvSpPr/>
          <p:nvPr/>
        </p:nvSpPr>
        <p:spPr>
          <a:xfrm>
            <a:off x="548640" y="5181600"/>
            <a:ext cx="5088589" cy="1341120"/>
          </a:xfrm>
          <a:prstGeom prst="rect">
            <a:avLst/>
          </a:prstGeom>
          <a:solidFill>
            <a:srgbClr val="FFFFFF"/>
          </a:solidFill>
          <a:ln w="12700">
            <a:solidFill>
              <a:srgbClr val="DDE3ED"/>
            </a:solidFill>
            <a:prstDash val="solid"/>
          </a:ln>
          <a:effectLst>
            <a:outerShdw blurRad="101600" dist="25400" dir="8100000" algn="bl" rotWithShape="0">
              <a:srgbClr val="000000">
                <a:alpha val="8000"/>
              </a:srgbClr>
            </a:outerShdw>
          </a:effectLst>
        </p:spPr>
      </p:sp>
      <p:sp>
        <p:nvSpPr>
          <p:cNvPr id="9" name="Text 6"/>
          <p:cNvSpPr/>
          <p:nvPr/>
        </p:nvSpPr>
        <p:spPr>
          <a:xfrm>
            <a:off x="731520" y="5254752"/>
            <a:ext cx="6705600" cy="365760"/>
          </a:xfrm>
          <a:prstGeom prst="rect">
            <a:avLst/>
          </a:prstGeom>
          <a:noFill/>
          <a:ln/>
        </p:spPr>
        <p:txBody>
          <a:bodyPr wrap="square" lIns="0" tIns="0" rIns="0" bIns="0" rtlCol="0" anchor="ctr"/>
          <a:lstStyle/>
          <a:p>
            <a:r>
              <a:rPr lang="en-US" sz="1600" b="1" dirty="0">
                <a:solidFill>
                  <a:srgbClr val="1DA462"/>
                </a:solidFill>
                <a:latin typeface="Calibri" pitchFamily="34" charset="0"/>
                <a:ea typeface="Calibri" pitchFamily="34" charset="-122"/>
                <a:cs typeface="Calibri" pitchFamily="34" charset="-120"/>
              </a:rPr>
              <a:t>✅  Proactive (SENTINEL-GNSS)</a:t>
            </a:r>
            <a:endParaRPr lang="en-US" sz="1600" dirty="0"/>
          </a:p>
        </p:txBody>
      </p:sp>
      <p:sp>
        <p:nvSpPr>
          <p:cNvPr id="10" name="Text 7"/>
          <p:cNvSpPr/>
          <p:nvPr/>
        </p:nvSpPr>
        <p:spPr>
          <a:xfrm>
            <a:off x="731520" y="5644896"/>
            <a:ext cx="6705600" cy="755904"/>
          </a:xfrm>
          <a:prstGeom prst="rect">
            <a:avLst/>
          </a:prstGeom>
          <a:noFill/>
          <a:ln/>
        </p:spPr>
        <p:txBody>
          <a:bodyPr wrap="square" rtlCol="0" anchor="ctr"/>
          <a:lstStyle/>
          <a:p>
            <a:r>
              <a:rPr lang="en-US" sz="1467" dirty="0">
                <a:solidFill>
                  <a:srgbClr val="8493A8"/>
                </a:solidFill>
                <a:latin typeface="Calibri" pitchFamily="34" charset="0"/>
                <a:ea typeface="Calibri" pitchFamily="34" charset="-122"/>
                <a:cs typeface="Calibri" pitchFamily="34" charset="-120"/>
              </a:rPr>
              <a:t>Reports: Signal will fail in T seconds</a:t>
            </a:r>
            <a:endParaRPr lang="en-US" sz="1467" dirty="0"/>
          </a:p>
          <a:p>
            <a:r>
              <a:rPr lang="en-US" sz="1467" dirty="0">
                <a:solidFill>
                  <a:srgbClr val="8493A8"/>
                </a:solidFill>
                <a:latin typeface="Calibri" pitchFamily="34" charset="0"/>
                <a:ea typeface="Calibri" pitchFamily="34" charset="-122"/>
                <a:cs typeface="Calibri" pitchFamily="34" charset="-120"/>
              </a:rPr>
              <a:t>Vehicle gets an actionable preparation window</a:t>
            </a:r>
            <a:endParaRPr lang="en-US" sz="1467" dirty="0"/>
          </a:p>
        </p:txBody>
      </p:sp>
      <p:sp>
        <p:nvSpPr>
          <p:cNvPr id="4" name="Shape 0">
            <a:extLst>
              <a:ext uri="{FF2B5EF4-FFF2-40B4-BE49-F238E27FC236}">
                <a16:creationId xmlns:a16="http://schemas.microsoft.com/office/drawing/2014/main" id="{185C9CA3-888D-3558-AC2B-0FE4C63B75B4}"/>
              </a:ext>
            </a:extLst>
          </p:cNvPr>
          <p:cNvSpPr/>
          <p:nvPr/>
        </p:nvSpPr>
        <p:spPr>
          <a:xfrm>
            <a:off x="0" y="1935"/>
            <a:ext cx="12192000" cy="740408"/>
          </a:xfrm>
          <a:prstGeom prst="rect">
            <a:avLst/>
          </a:prstGeom>
          <a:solidFill>
            <a:srgbClr val="003893"/>
          </a:solidFill>
          <a:ln w="12700">
            <a:solidFill>
              <a:srgbClr val="003893"/>
            </a:solidFill>
            <a:prstDash val="solid"/>
          </a:ln>
        </p:spPr>
      </p:sp>
      <p:sp>
        <p:nvSpPr>
          <p:cNvPr id="15" name="Shape 1">
            <a:extLst>
              <a:ext uri="{FF2B5EF4-FFF2-40B4-BE49-F238E27FC236}">
                <a16:creationId xmlns:a16="http://schemas.microsoft.com/office/drawing/2014/main" id="{BF79D38A-5A09-94A8-255D-EA393C94D003}"/>
              </a:ext>
            </a:extLst>
          </p:cNvPr>
          <p:cNvSpPr/>
          <p:nvPr/>
        </p:nvSpPr>
        <p:spPr>
          <a:xfrm>
            <a:off x="0" y="702347"/>
            <a:ext cx="12192000" cy="36576"/>
          </a:xfrm>
          <a:prstGeom prst="rect">
            <a:avLst/>
          </a:prstGeom>
          <a:solidFill>
            <a:srgbClr val="4FC3F7"/>
          </a:solidFill>
          <a:ln w="12700">
            <a:solidFill>
              <a:srgbClr val="4FC3F7"/>
            </a:solidFill>
            <a:prstDash val="solid"/>
          </a:ln>
        </p:spPr>
      </p:sp>
      <p:sp>
        <p:nvSpPr>
          <p:cNvPr id="16" name="Shape 2">
            <a:extLst>
              <a:ext uri="{FF2B5EF4-FFF2-40B4-BE49-F238E27FC236}">
                <a16:creationId xmlns:a16="http://schemas.microsoft.com/office/drawing/2014/main" id="{FD3E6B5B-D90F-122D-A14B-A378242E250D}"/>
              </a:ext>
            </a:extLst>
          </p:cNvPr>
          <p:cNvSpPr/>
          <p:nvPr/>
        </p:nvSpPr>
        <p:spPr>
          <a:xfrm>
            <a:off x="0" y="6646862"/>
            <a:ext cx="12192000" cy="211137"/>
          </a:xfrm>
          <a:prstGeom prst="rect">
            <a:avLst/>
          </a:prstGeom>
          <a:solidFill>
            <a:srgbClr val="003893"/>
          </a:solidFill>
          <a:ln w="12700">
            <a:solidFill>
              <a:srgbClr val="003893"/>
            </a:solidFill>
            <a:prstDash val="solid"/>
          </a:ln>
        </p:spPr>
      </p:sp>
      <p:sp>
        <p:nvSpPr>
          <p:cNvPr id="17" name="Shape 3">
            <a:extLst>
              <a:ext uri="{FF2B5EF4-FFF2-40B4-BE49-F238E27FC236}">
                <a16:creationId xmlns:a16="http://schemas.microsoft.com/office/drawing/2014/main" id="{4205856B-F33C-55A0-F805-4E55F68F8BB6}"/>
              </a:ext>
            </a:extLst>
          </p:cNvPr>
          <p:cNvSpPr/>
          <p:nvPr/>
        </p:nvSpPr>
        <p:spPr>
          <a:xfrm>
            <a:off x="0" y="6623677"/>
            <a:ext cx="12192000" cy="30480"/>
          </a:xfrm>
          <a:prstGeom prst="rect">
            <a:avLst/>
          </a:prstGeom>
          <a:solidFill>
            <a:srgbClr val="4FC3F7"/>
          </a:solidFill>
          <a:ln w="12700">
            <a:solidFill>
              <a:srgbClr val="4FC3F7"/>
            </a:solidFill>
            <a:prstDash val="solid"/>
          </a:ln>
        </p:spPr>
      </p:sp>
      <p:sp>
        <p:nvSpPr>
          <p:cNvPr id="18" name="Shape 4">
            <a:extLst>
              <a:ext uri="{FF2B5EF4-FFF2-40B4-BE49-F238E27FC236}">
                <a16:creationId xmlns:a16="http://schemas.microsoft.com/office/drawing/2014/main" id="{A3DE3738-D772-18B1-A73C-7E2457AB4A99}"/>
              </a:ext>
            </a:extLst>
          </p:cNvPr>
          <p:cNvSpPr/>
          <p:nvPr/>
        </p:nvSpPr>
        <p:spPr>
          <a:xfrm>
            <a:off x="0" y="-24618"/>
            <a:ext cx="1128763" cy="767311"/>
          </a:xfrm>
          <a:prstGeom prst="homePlate">
            <a:avLst/>
          </a:prstGeom>
          <a:solidFill>
            <a:srgbClr val="FFFFFF"/>
          </a:solidFill>
          <a:ln w="6350">
            <a:solidFill>
              <a:srgbClr val="CCCCCC"/>
            </a:solidFill>
            <a:prstDash val="solid"/>
          </a:ln>
        </p:spPr>
      </p:sp>
      <p:sp>
        <p:nvSpPr>
          <p:cNvPr id="19" name="Shape 5">
            <a:extLst>
              <a:ext uri="{FF2B5EF4-FFF2-40B4-BE49-F238E27FC236}">
                <a16:creationId xmlns:a16="http://schemas.microsoft.com/office/drawing/2014/main" id="{F31918D5-3F96-E3AB-21DF-64272B4A8A2C}"/>
              </a:ext>
            </a:extLst>
          </p:cNvPr>
          <p:cNvSpPr/>
          <p:nvPr/>
        </p:nvSpPr>
        <p:spPr>
          <a:xfrm>
            <a:off x="10728961" y="121921"/>
            <a:ext cx="51207" cy="51207"/>
          </a:xfrm>
          <a:prstGeom prst="ellipse">
            <a:avLst/>
          </a:prstGeom>
          <a:solidFill>
            <a:srgbClr val="FFFFFF">
              <a:alpha val="35000"/>
            </a:srgbClr>
          </a:solidFill>
          <a:ln w="12700">
            <a:solidFill>
              <a:srgbClr val="FFFFFF"/>
            </a:solidFill>
            <a:prstDash val="solid"/>
          </a:ln>
        </p:spPr>
      </p:sp>
      <p:sp>
        <p:nvSpPr>
          <p:cNvPr id="20" name="Shape 6">
            <a:extLst>
              <a:ext uri="{FF2B5EF4-FFF2-40B4-BE49-F238E27FC236}">
                <a16:creationId xmlns:a16="http://schemas.microsoft.com/office/drawing/2014/main" id="{6A355842-403D-78A3-106B-915E18EF61F5}"/>
              </a:ext>
            </a:extLst>
          </p:cNvPr>
          <p:cNvSpPr/>
          <p:nvPr/>
        </p:nvSpPr>
        <p:spPr>
          <a:xfrm>
            <a:off x="10948417" y="121921"/>
            <a:ext cx="51207" cy="51207"/>
          </a:xfrm>
          <a:prstGeom prst="ellipse">
            <a:avLst/>
          </a:prstGeom>
          <a:solidFill>
            <a:srgbClr val="FFFFFF">
              <a:alpha val="35000"/>
            </a:srgbClr>
          </a:solidFill>
          <a:ln w="12700">
            <a:solidFill>
              <a:srgbClr val="FFFFFF"/>
            </a:solidFill>
            <a:prstDash val="solid"/>
          </a:ln>
        </p:spPr>
      </p:sp>
      <p:sp>
        <p:nvSpPr>
          <p:cNvPr id="21" name="Shape 7">
            <a:extLst>
              <a:ext uri="{FF2B5EF4-FFF2-40B4-BE49-F238E27FC236}">
                <a16:creationId xmlns:a16="http://schemas.microsoft.com/office/drawing/2014/main" id="{C5917BAA-7E13-3215-FD42-5DC825FD567E}"/>
              </a:ext>
            </a:extLst>
          </p:cNvPr>
          <p:cNvSpPr/>
          <p:nvPr/>
        </p:nvSpPr>
        <p:spPr>
          <a:xfrm>
            <a:off x="11167873" y="121921"/>
            <a:ext cx="51207" cy="51207"/>
          </a:xfrm>
          <a:prstGeom prst="ellipse">
            <a:avLst/>
          </a:prstGeom>
          <a:solidFill>
            <a:srgbClr val="FFFFFF">
              <a:alpha val="35000"/>
            </a:srgbClr>
          </a:solidFill>
          <a:ln w="12700">
            <a:solidFill>
              <a:srgbClr val="FFFFFF"/>
            </a:solidFill>
            <a:prstDash val="solid"/>
          </a:ln>
        </p:spPr>
      </p:sp>
      <p:sp>
        <p:nvSpPr>
          <p:cNvPr id="22" name="Shape 8">
            <a:extLst>
              <a:ext uri="{FF2B5EF4-FFF2-40B4-BE49-F238E27FC236}">
                <a16:creationId xmlns:a16="http://schemas.microsoft.com/office/drawing/2014/main" id="{2FCDA35C-1DDA-2BF7-5784-3D09A4D3B746}"/>
              </a:ext>
            </a:extLst>
          </p:cNvPr>
          <p:cNvSpPr/>
          <p:nvPr/>
        </p:nvSpPr>
        <p:spPr>
          <a:xfrm>
            <a:off x="11387329" y="121921"/>
            <a:ext cx="51207" cy="51207"/>
          </a:xfrm>
          <a:prstGeom prst="ellipse">
            <a:avLst/>
          </a:prstGeom>
          <a:solidFill>
            <a:srgbClr val="FFFFFF">
              <a:alpha val="35000"/>
            </a:srgbClr>
          </a:solidFill>
          <a:ln w="12700">
            <a:solidFill>
              <a:srgbClr val="FFFFFF"/>
            </a:solidFill>
            <a:prstDash val="solid"/>
          </a:ln>
        </p:spPr>
      </p:sp>
      <p:sp>
        <p:nvSpPr>
          <p:cNvPr id="23" name="Shape 9">
            <a:extLst>
              <a:ext uri="{FF2B5EF4-FFF2-40B4-BE49-F238E27FC236}">
                <a16:creationId xmlns:a16="http://schemas.microsoft.com/office/drawing/2014/main" id="{C49EFF66-77F6-41DC-71DC-DAF39114CC51}"/>
              </a:ext>
            </a:extLst>
          </p:cNvPr>
          <p:cNvSpPr/>
          <p:nvPr/>
        </p:nvSpPr>
        <p:spPr>
          <a:xfrm>
            <a:off x="10728961" y="292609"/>
            <a:ext cx="51207" cy="51207"/>
          </a:xfrm>
          <a:prstGeom prst="ellipse">
            <a:avLst/>
          </a:prstGeom>
          <a:solidFill>
            <a:srgbClr val="FFFFFF">
              <a:alpha val="35000"/>
            </a:srgbClr>
          </a:solidFill>
          <a:ln w="12700">
            <a:solidFill>
              <a:srgbClr val="FFFFFF"/>
            </a:solidFill>
            <a:prstDash val="solid"/>
          </a:ln>
        </p:spPr>
      </p:sp>
      <p:sp>
        <p:nvSpPr>
          <p:cNvPr id="24" name="Shape 10">
            <a:extLst>
              <a:ext uri="{FF2B5EF4-FFF2-40B4-BE49-F238E27FC236}">
                <a16:creationId xmlns:a16="http://schemas.microsoft.com/office/drawing/2014/main" id="{605A0ACC-CB23-D91E-B395-EA225EB103AD}"/>
              </a:ext>
            </a:extLst>
          </p:cNvPr>
          <p:cNvSpPr/>
          <p:nvPr/>
        </p:nvSpPr>
        <p:spPr>
          <a:xfrm>
            <a:off x="10948417" y="292609"/>
            <a:ext cx="51207" cy="51207"/>
          </a:xfrm>
          <a:prstGeom prst="ellipse">
            <a:avLst/>
          </a:prstGeom>
          <a:solidFill>
            <a:srgbClr val="FFFFFF">
              <a:alpha val="35000"/>
            </a:srgbClr>
          </a:solidFill>
          <a:ln w="12700">
            <a:solidFill>
              <a:srgbClr val="FFFFFF"/>
            </a:solidFill>
            <a:prstDash val="solid"/>
          </a:ln>
        </p:spPr>
      </p:sp>
      <p:sp>
        <p:nvSpPr>
          <p:cNvPr id="25" name="Shape 11">
            <a:extLst>
              <a:ext uri="{FF2B5EF4-FFF2-40B4-BE49-F238E27FC236}">
                <a16:creationId xmlns:a16="http://schemas.microsoft.com/office/drawing/2014/main" id="{C24ADFBA-6808-C139-D81B-4EC03722BAD8}"/>
              </a:ext>
            </a:extLst>
          </p:cNvPr>
          <p:cNvSpPr/>
          <p:nvPr/>
        </p:nvSpPr>
        <p:spPr>
          <a:xfrm>
            <a:off x="11167873" y="292609"/>
            <a:ext cx="51207" cy="51207"/>
          </a:xfrm>
          <a:prstGeom prst="ellipse">
            <a:avLst/>
          </a:prstGeom>
          <a:solidFill>
            <a:srgbClr val="FFFFFF">
              <a:alpha val="35000"/>
            </a:srgbClr>
          </a:solidFill>
          <a:ln w="12700">
            <a:solidFill>
              <a:srgbClr val="FFFFFF"/>
            </a:solidFill>
            <a:prstDash val="solid"/>
          </a:ln>
        </p:spPr>
      </p:sp>
      <p:sp>
        <p:nvSpPr>
          <p:cNvPr id="26" name="Shape 12">
            <a:extLst>
              <a:ext uri="{FF2B5EF4-FFF2-40B4-BE49-F238E27FC236}">
                <a16:creationId xmlns:a16="http://schemas.microsoft.com/office/drawing/2014/main" id="{EE25714B-EDC4-5422-79A0-6B4173C4B3F4}"/>
              </a:ext>
            </a:extLst>
          </p:cNvPr>
          <p:cNvSpPr/>
          <p:nvPr/>
        </p:nvSpPr>
        <p:spPr>
          <a:xfrm>
            <a:off x="11387329" y="292609"/>
            <a:ext cx="51207" cy="51207"/>
          </a:xfrm>
          <a:prstGeom prst="ellipse">
            <a:avLst/>
          </a:prstGeom>
          <a:solidFill>
            <a:srgbClr val="FFFFFF">
              <a:alpha val="35000"/>
            </a:srgbClr>
          </a:solidFill>
          <a:ln w="12700">
            <a:solidFill>
              <a:srgbClr val="FFFFFF"/>
            </a:solidFill>
            <a:prstDash val="solid"/>
          </a:ln>
        </p:spPr>
      </p:sp>
      <p:sp>
        <p:nvSpPr>
          <p:cNvPr id="27" name="Shape 13">
            <a:extLst>
              <a:ext uri="{FF2B5EF4-FFF2-40B4-BE49-F238E27FC236}">
                <a16:creationId xmlns:a16="http://schemas.microsoft.com/office/drawing/2014/main" id="{714F5AC5-5761-1E15-0D38-9CEA0EC29071}"/>
              </a:ext>
            </a:extLst>
          </p:cNvPr>
          <p:cNvSpPr/>
          <p:nvPr/>
        </p:nvSpPr>
        <p:spPr>
          <a:xfrm>
            <a:off x="10728961" y="463297"/>
            <a:ext cx="51207" cy="51207"/>
          </a:xfrm>
          <a:prstGeom prst="ellipse">
            <a:avLst/>
          </a:prstGeom>
          <a:solidFill>
            <a:srgbClr val="FFFFFF">
              <a:alpha val="35000"/>
            </a:srgbClr>
          </a:solidFill>
          <a:ln w="12700">
            <a:solidFill>
              <a:srgbClr val="FFFFFF"/>
            </a:solidFill>
            <a:prstDash val="solid"/>
          </a:ln>
        </p:spPr>
      </p:sp>
      <p:sp>
        <p:nvSpPr>
          <p:cNvPr id="28" name="Shape 14">
            <a:extLst>
              <a:ext uri="{FF2B5EF4-FFF2-40B4-BE49-F238E27FC236}">
                <a16:creationId xmlns:a16="http://schemas.microsoft.com/office/drawing/2014/main" id="{7AD36160-14D4-F19F-FF77-699D63263CBC}"/>
              </a:ext>
            </a:extLst>
          </p:cNvPr>
          <p:cNvSpPr/>
          <p:nvPr/>
        </p:nvSpPr>
        <p:spPr>
          <a:xfrm>
            <a:off x="10948417" y="463297"/>
            <a:ext cx="51207" cy="51207"/>
          </a:xfrm>
          <a:prstGeom prst="ellipse">
            <a:avLst/>
          </a:prstGeom>
          <a:solidFill>
            <a:srgbClr val="FFFFFF">
              <a:alpha val="35000"/>
            </a:srgbClr>
          </a:solidFill>
          <a:ln w="12700">
            <a:solidFill>
              <a:srgbClr val="FFFFFF"/>
            </a:solidFill>
            <a:prstDash val="solid"/>
          </a:ln>
        </p:spPr>
      </p:sp>
      <p:sp>
        <p:nvSpPr>
          <p:cNvPr id="29" name="Shape 15">
            <a:extLst>
              <a:ext uri="{FF2B5EF4-FFF2-40B4-BE49-F238E27FC236}">
                <a16:creationId xmlns:a16="http://schemas.microsoft.com/office/drawing/2014/main" id="{95A2B369-DD54-518E-6F94-8041E0FE0017}"/>
              </a:ext>
            </a:extLst>
          </p:cNvPr>
          <p:cNvSpPr/>
          <p:nvPr/>
        </p:nvSpPr>
        <p:spPr>
          <a:xfrm>
            <a:off x="11167873" y="463297"/>
            <a:ext cx="51207" cy="51207"/>
          </a:xfrm>
          <a:prstGeom prst="ellipse">
            <a:avLst/>
          </a:prstGeom>
          <a:solidFill>
            <a:srgbClr val="FFFFFF">
              <a:alpha val="35000"/>
            </a:srgbClr>
          </a:solidFill>
          <a:ln w="12700">
            <a:solidFill>
              <a:srgbClr val="FFFFFF"/>
            </a:solidFill>
            <a:prstDash val="solid"/>
          </a:ln>
        </p:spPr>
      </p:sp>
      <p:sp>
        <p:nvSpPr>
          <p:cNvPr id="30" name="Shape 16">
            <a:extLst>
              <a:ext uri="{FF2B5EF4-FFF2-40B4-BE49-F238E27FC236}">
                <a16:creationId xmlns:a16="http://schemas.microsoft.com/office/drawing/2014/main" id="{6A10245B-4BA1-32D5-12C5-D61E9667AEDC}"/>
              </a:ext>
            </a:extLst>
          </p:cNvPr>
          <p:cNvSpPr/>
          <p:nvPr/>
        </p:nvSpPr>
        <p:spPr>
          <a:xfrm>
            <a:off x="11387329" y="463297"/>
            <a:ext cx="51207" cy="51207"/>
          </a:xfrm>
          <a:prstGeom prst="ellipse">
            <a:avLst/>
          </a:prstGeom>
          <a:solidFill>
            <a:srgbClr val="FFFFFF">
              <a:alpha val="35000"/>
            </a:srgbClr>
          </a:solidFill>
          <a:ln w="12700">
            <a:solidFill>
              <a:srgbClr val="FFFFFF"/>
            </a:solidFill>
            <a:prstDash val="solid"/>
          </a:ln>
        </p:spPr>
      </p:sp>
      <p:pic>
        <p:nvPicPr>
          <p:cNvPr id="31" name="Picture 30">
            <a:extLst>
              <a:ext uri="{FF2B5EF4-FFF2-40B4-BE49-F238E27FC236}">
                <a16:creationId xmlns:a16="http://schemas.microsoft.com/office/drawing/2014/main" id="{9C1365D0-0511-4201-B8DD-D79CA9F44245}"/>
              </a:ext>
            </a:extLst>
          </p:cNvPr>
          <p:cNvPicPr>
            <a:picLocks noChangeAspect="1"/>
          </p:cNvPicPr>
          <p:nvPr/>
        </p:nvPicPr>
        <p:blipFill>
          <a:blip r:embed="rId4"/>
          <a:stretch>
            <a:fillRect/>
          </a:stretch>
        </p:blipFill>
        <p:spPr>
          <a:xfrm>
            <a:off x="-453212" y="-263954"/>
            <a:ext cx="1776568" cy="1245981"/>
          </a:xfrm>
          <a:prstGeom prst="rect">
            <a:avLst/>
          </a:prstGeom>
        </p:spPr>
      </p:pic>
      <p:sp>
        <p:nvSpPr>
          <p:cNvPr id="3" name="Text 1"/>
          <p:cNvSpPr/>
          <p:nvPr/>
        </p:nvSpPr>
        <p:spPr>
          <a:xfrm>
            <a:off x="1219200" y="-32593"/>
            <a:ext cx="10972800" cy="731520"/>
          </a:xfrm>
          <a:prstGeom prst="rect">
            <a:avLst/>
          </a:prstGeom>
          <a:noFill/>
          <a:ln/>
        </p:spPr>
        <p:txBody>
          <a:bodyPr wrap="square" lIns="0" tIns="0" rIns="0" bIns="0" rtlCol="0" anchor="ctr"/>
          <a:lstStyle/>
          <a:p>
            <a:r>
              <a:rPr lang="en-US" sz="3200" b="1" dirty="0">
                <a:solidFill>
                  <a:schemeClr val="bg1"/>
                </a:solidFill>
                <a:latin typeface="Calibri" pitchFamily="34" charset="0"/>
                <a:ea typeface="Calibri" pitchFamily="34" charset="-122"/>
                <a:cs typeface="Calibri" pitchFamily="34" charset="-120"/>
              </a:rPr>
              <a:t>N1 — PROACTIVE PREDICTION</a:t>
            </a:r>
            <a:endParaRPr lang="en-US" sz="3200" dirty="0">
              <a:solidFill>
                <a:schemeClr val="bg1"/>
              </a:solidFill>
            </a:endParaRPr>
          </a:p>
        </p:txBody>
      </p:sp>
      <p:pic>
        <p:nvPicPr>
          <p:cNvPr id="33" name="Picture 32">
            <a:extLst>
              <a:ext uri="{FF2B5EF4-FFF2-40B4-BE49-F238E27FC236}">
                <a16:creationId xmlns:a16="http://schemas.microsoft.com/office/drawing/2014/main" id="{1570182A-855A-E5FA-238B-9E55775540A4}"/>
              </a:ext>
            </a:extLst>
          </p:cNvPr>
          <p:cNvPicPr>
            <a:picLocks noChangeAspect="1"/>
          </p:cNvPicPr>
          <p:nvPr/>
        </p:nvPicPr>
        <p:blipFill>
          <a:blip r:embed="rId5"/>
          <a:stretch>
            <a:fillRect/>
          </a:stretch>
        </p:blipFill>
        <p:spPr>
          <a:xfrm>
            <a:off x="5820109" y="2037802"/>
            <a:ext cx="6077403" cy="2515598"/>
          </a:xfrm>
          <a:prstGeom prst="rect">
            <a:avLst/>
          </a:prstGeom>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rgbClr val="003366"/>
        </a:solidFill>
        <a:effectLst/>
      </p:bgPr>
    </p:bg>
    <p:spTree>
      <p:nvGrpSpPr>
        <p:cNvPr id="1" name=""/>
        <p:cNvGrpSpPr/>
        <p:nvPr/>
      </p:nvGrpSpPr>
      <p:grpSpPr>
        <a:xfrm>
          <a:off x="0" y="0"/>
          <a:ext cx="0" cy="0"/>
          <a:chOff x="0" y="0"/>
          <a:chExt cx="0" cy="0"/>
        </a:xfrm>
      </p:grpSpPr>
      <p:sp>
        <p:nvSpPr>
          <p:cNvPr id="2" name="TextBox 1"/>
          <p:cNvSpPr txBox="1"/>
          <p:nvPr/>
        </p:nvSpPr>
        <p:spPr>
          <a:xfrm>
            <a:off x="822960" y="2743200"/>
            <a:ext cx="10515600" cy="1044453"/>
          </a:xfrm>
          <a:prstGeom prst="rect">
            <a:avLst/>
          </a:prstGeom>
          <a:noFill/>
        </p:spPr>
        <p:txBody>
          <a:bodyPr wrap="square">
            <a:spAutoFit/>
          </a:bodyPr>
          <a:lstStyle/>
          <a:p>
            <a:pPr>
              <a:lnSpc>
                <a:spcPct val="150000"/>
              </a:lnSpc>
              <a:spcAft>
                <a:spcPts val="600"/>
              </a:spcAft>
            </a:pPr>
            <a:r>
              <a:rPr lang="en-GB" sz="4600" b="1" dirty="0">
                <a:solidFill>
                  <a:srgbClr val="FFFFFF"/>
                </a:solidFill>
              </a:rPr>
              <a:t>5.5 · EKF: From Prediction to Position</a:t>
            </a:r>
          </a:p>
        </p:txBody>
      </p:sp>
      <p:sp>
        <p:nvSpPr>
          <p:cNvPr id="3" name="Rectangle 2"/>
          <p:cNvSpPr/>
          <p:nvPr/>
        </p:nvSpPr>
        <p:spPr>
          <a:xfrm>
            <a:off x="868680" y="3886200"/>
            <a:ext cx="2926080" cy="73152"/>
          </a:xfrm>
          <a:prstGeom prst="rect">
            <a:avLst/>
          </a:prstGeom>
          <a:solidFill>
            <a:srgbClr val="00A0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5" name="Image 0" descr="preencoded.png">
            <a:extLst>
              <a:ext uri="{FF2B5EF4-FFF2-40B4-BE49-F238E27FC236}">
                <a16:creationId xmlns:a16="http://schemas.microsoft.com/office/drawing/2014/main" id="{20F166AB-AD91-4B64-DD52-0AA449DE6DC6}"/>
              </a:ext>
            </a:extLst>
          </p:cNvPr>
          <p:cNvPicPr>
            <a:picLocks noChangeAspect="1"/>
          </p:cNvPicPr>
          <p:nvPr/>
        </p:nvPicPr>
        <p:blipFill>
          <a:blip r:embed="rId2"/>
          <a:stretch>
            <a:fillRect/>
          </a:stretch>
        </p:blipFill>
        <p:spPr>
          <a:xfrm>
            <a:off x="-24670" y="-16099"/>
            <a:ext cx="12192000" cy="6858000"/>
          </a:xfrm>
          <a:prstGeom prst="rect">
            <a:avLst/>
          </a:prstGeom>
        </p:spPr>
      </p:pic>
      <p:sp>
        <p:nvSpPr>
          <p:cNvPr id="4" name="TextBox 3"/>
          <p:cNvSpPr txBox="1"/>
          <p:nvPr/>
        </p:nvSpPr>
        <p:spPr>
          <a:xfrm>
            <a:off x="337344" y="1000061"/>
            <a:ext cx="5665523" cy="5174237"/>
          </a:xfrm>
          <a:prstGeom prst="rect">
            <a:avLst/>
          </a:prstGeom>
          <a:noFill/>
        </p:spPr>
        <p:txBody>
          <a:bodyPr wrap="square">
            <a:spAutoFit/>
          </a:bodyPr>
          <a:lstStyle/>
          <a:p>
            <a:pPr algn="l">
              <a:lnSpc>
                <a:spcPct val="150000"/>
              </a:lnSpc>
              <a:spcAft>
                <a:spcPts val="1000"/>
              </a:spcAft>
            </a:pPr>
            <a:r>
              <a:rPr sz="2000" b="0" dirty="0">
                <a:solidFill>
                  <a:srgbClr val="005BAC"/>
                </a:solidFill>
                <a:latin typeface="Calibri"/>
              </a:rPr>
              <a:t>•  Cross-city: </a:t>
            </a:r>
            <a:r>
              <a:rPr sz="2000" b="0" dirty="0" err="1">
                <a:solidFill>
                  <a:srgbClr val="005BAC"/>
                </a:solidFill>
                <a:latin typeface="Calibri"/>
              </a:rPr>
              <a:t>DL+XGBoost</a:t>
            </a:r>
            <a:r>
              <a:rPr sz="2000" b="0" dirty="0">
                <a:solidFill>
                  <a:srgbClr val="005BAC"/>
                </a:solidFill>
                <a:latin typeface="Calibri"/>
              </a:rPr>
              <a:t> ensemble is best (Macro-F1 0.892, DEGRADED 0.896).</a:t>
            </a:r>
          </a:p>
          <a:p>
            <a:pPr algn="l">
              <a:lnSpc>
                <a:spcPct val="150000"/>
              </a:lnSpc>
              <a:spcAft>
                <a:spcPts val="1000"/>
              </a:spcAft>
            </a:pPr>
            <a:r>
              <a:rPr sz="2000" b="0" dirty="0">
                <a:solidFill>
                  <a:srgbClr val="1A1A1A"/>
                </a:solidFill>
                <a:latin typeface="Calibri"/>
              </a:rPr>
              <a:t>•  Inference: 0.045 </a:t>
            </a:r>
            <a:r>
              <a:rPr sz="2000" b="0" dirty="0" err="1">
                <a:solidFill>
                  <a:srgbClr val="1A1A1A"/>
                </a:solidFill>
                <a:latin typeface="Calibri"/>
              </a:rPr>
              <a:t>ms</a:t>
            </a:r>
            <a:r>
              <a:rPr sz="2000" b="0" dirty="0">
                <a:solidFill>
                  <a:srgbClr val="1A1A1A"/>
                </a:solidFill>
                <a:latin typeface="Calibri"/>
              </a:rPr>
              <a:t>/sample on GPU — ~9.5x faster than three separate tree models.</a:t>
            </a:r>
          </a:p>
          <a:p>
            <a:pPr algn="l">
              <a:lnSpc>
                <a:spcPct val="150000"/>
              </a:lnSpc>
              <a:spcAft>
                <a:spcPts val="1000"/>
              </a:spcAft>
            </a:pPr>
            <a:r>
              <a:rPr sz="2000" b="0" dirty="0">
                <a:solidFill>
                  <a:srgbClr val="1A1A1A"/>
                </a:solidFill>
                <a:latin typeface="Calibri"/>
              </a:rPr>
              <a:t>•  One 17.8 MB checkpoint serves all three horizons; real-time at 10 Hz.</a:t>
            </a:r>
          </a:p>
          <a:p>
            <a:pPr algn="l">
              <a:lnSpc>
                <a:spcPct val="150000"/>
              </a:lnSpc>
              <a:spcAft>
                <a:spcPts val="1000"/>
              </a:spcAft>
            </a:pPr>
            <a:r>
              <a:rPr sz="2000" b="0" dirty="0">
                <a:solidFill>
                  <a:srgbClr val="1A1A1A"/>
                </a:solidFill>
                <a:latin typeface="Calibri"/>
              </a:rPr>
              <a:t>•  Calibration: temperature scaling cuts ECE 40% (0.114 -&gt; 0.069); not yet &lt;0.05 (future work).</a:t>
            </a:r>
          </a:p>
          <a:p>
            <a:pPr algn="l">
              <a:lnSpc>
                <a:spcPct val="150000"/>
              </a:lnSpc>
              <a:spcAft>
                <a:spcPts val="1000"/>
              </a:spcAft>
            </a:pPr>
            <a:r>
              <a:rPr sz="2000" b="0" dirty="0">
                <a:solidFill>
                  <a:srgbClr val="005BAC"/>
                </a:solidFill>
                <a:latin typeface="Calibri"/>
              </a:rPr>
              <a:t>•  Persistence baseline scores 0.91 at +5s -&gt; the model's value is transitions + longer horizons.</a:t>
            </a:r>
          </a:p>
        </p:txBody>
      </p:sp>
      <p:pic>
        <p:nvPicPr>
          <p:cNvPr id="6" name="Picture 5">
            <a:extLst>
              <a:ext uri="{FF2B5EF4-FFF2-40B4-BE49-F238E27FC236}">
                <a16:creationId xmlns:a16="http://schemas.microsoft.com/office/drawing/2014/main" id="{E6D698B3-A43D-D30A-7009-404F12DF4C14}"/>
              </a:ext>
            </a:extLst>
          </p:cNvPr>
          <p:cNvPicPr>
            <a:picLocks noChangeAspect="1"/>
          </p:cNvPicPr>
          <p:nvPr/>
        </p:nvPicPr>
        <p:blipFill>
          <a:blip r:embed="rId3"/>
          <a:stretch>
            <a:fillRect/>
          </a:stretch>
        </p:blipFill>
        <p:spPr>
          <a:xfrm>
            <a:off x="6189134" y="1854505"/>
            <a:ext cx="5842548" cy="3287011"/>
          </a:xfrm>
          <a:prstGeom prst="rect">
            <a:avLst/>
          </a:prstGeom>
        </p:spPr>
      </p:pic>
      <p:sp>
        <p:nvSpPr>
          <p:cNvPr id="7" name="Shape 0">
            <a:extLst>
              <a:ext uri="{FF2B5EF4-FFF2-40B4-BE49-F238E27FC236}">
                <a16:creationId xmlns:a16="http://schemas.microsoft.com/office/drawing/2014/main" id="{2A5CD850-1EE3-E023-1963-A9830CA6085F}"/>
              </a:ext>
            </a:extLst>
          </p:cNvPr>
          <p:cNvSpPr/>
          <p:nvPr/>
        </p:nvSpPr>
        <p:spPr>
          <a:xfrm>
            <a:off x="0" y="1935"/>
            <a:ext cx="12192000" cy="740408"/>
          </a:xfrm>
          <a:prstGeom prst="rect">
            <a:avLst/>
          </a:prstGeom>
          <a:solidFill>
            <a:srgbClr val="003893"/>
          </a:solidFill>
          <a:ln w="12700">
            <a:solidFill>
              <a:srgbClr val="003893"/>
            </a:solidFill>
            <a:prstDash val="solid"/>
          </a:ln>
        </p:spPr>
      </p:sp>
      <p:sp>
        <p:nvSpPr>
          <p:cNvPr id="8" name="Shape 1">
            <a:extLst>
              <a:ext uri="{FF2B5EF4-FFF2-40B4-BE49-F238E27FC236}">
                <a16:creationId xmlns:a16="http://schemas.microsoft.com/office/drawing/2014/main" id="{4B11008E-3F8F-2016-02E4-C16E994BFA62}"/>
              </a:ext>
            </a:extLst>
          </p:cNvPr>
          <p:cNvSpPr/>
          <p:nvPr/>
        </p:nvSpPr>
        <p:spPr>
          <a:xfrm>
            <a:off x="0" y="702347"/>
            <a:ext cx="12192000" cy="36576"/>
          </a:xfrm>
          <a:prstGeom prst="rect">
            <a:avLst/>
          </a:prstGeom>
          <a:solidFill>
            <a:srgbClr val="4FC3F7"/>
          </a:solidFill>
          <a:ln w="12700">
            <a:solidFill>
              <a:srgbClr val="4FC3F7"/>
            </a:solidFill>
            <a:prstDash val="solid"/>
          </a:ln>
        </p:spPr>
      </p:sp>
      <p:sp>
        <p:nvSpPr>
          <p:cNvPr id="9" name="Shape 2">
            <a:extLst>
              <a:ext uri="{FF2B5EF4-FFF2-40B4-BE49-F238E27FC236}">
                <a16:creationId xmlns:a16="http://schemas.microsoft.com/office/drawing/2014/main" id="{8FDA0D68-1543-D2AF-2FDD-A28825502698}"/>
              </a:ext>
            </a:extLst>
          </p:cNvPr>
          <p:cNvSpPr/>
          <p:nvPr/>
        </p:nvSpPr>
        <p:spPr>
          <a:xfrm>
            <a:off x="0" y="6646862"/>
            <a:ext cx="12192000" cy="211137"/>
          </a:xfrm>
          <a:prstGeom prst="rect">
            <a:avLst/>
          </a:prstGeom>
          <a:solidFill>
            <a:srgbClr val="003893"/>
          </a:solidFill>
          <a:ln w="12700">
            <a:solidFill>
              <a:srgbClr val="003893"/>
            </a:solidFill>
            <a:prstDash val="solid"/>
          </a:ln>
        </p:spPr>
      </p:sp>
      <p:sp>
        <p:nvSpPr>
          <p:cNvPr id="10" name="Shape 3">
            <a:extLst>
              <a:ext uri="{FF2B5EF4-FFF2-40B4-BE49-F238E27FC236}">
                <a16:creationId xmlns:a16="http://schemas.microsoft.com/office/drawing/2014/main" id="{84A347C5-EA8E-E2A0-B1ED-619311389981}"/>
              </a:ext>
            </a:extLst>
          </p:cNvPr>
          <p:cNvSpPr/>
          <p:nvPr/>
        </p:nvSpPr>
        <p:spPr>
          <a:xfrm>
            <a:off x="0" y="6623677"/>
            <a:ext cx="12192000" cy="30480"/>
          </a:xfrm>
          <a:prstGeom prst="rect">
            <a:avLst/>
          </a:prstGeom>
          <a:solidFill>
            <a:srgbClr val="4FC3F7"/>
          </a:solidFill>
          <a:ln w="12700">
            <a:solidFill>
              <a:srgbClr val="4FC3F7"/>
            </a:solidFill>
            <a:prstDash val="solid"/>
          </a:ln>
        </p:spPr>
      </p:sp>
      <p:sp>
        <p:nvSpPr>
          <p:cNvPr id="11" name="Shape 4">
            <a:extLst>
              <a:ext uri="{FF2B5EF4-FFF2-40B4-BE49-F238E27FC236}">
                <a16:creationId xmlns:a16="http://schemas.microsoft.com/office/drawing/2014/main" id="{0E5D4A4E-3D28-D26E-194B-354E80BBA8DF}"/>
              </a:ext>
            </a:extLst>
          </p:cNvPr>
          <p:cNvSpPr/>
          <p:nvPr/>
        </p:nvSpPr>
        <p:spPr>
          <a:xfrm>
            <a:off x="0" y="-24618"/>
            <a:ext cx="1128763" cy="767311"/>
          </a:xfrm>
          <a:prstGeom prst="homePlate">
            <a:avLst/>
          </a:prstGeom>
          <a:solidFill>
            <a:srgbClr val="FFFFFF"/>
          </a:solidFill>
          <a:ln w="6350">
            <a:solidFill>
              <a:srgbClr val="CCCCCC"/>
            </a:solidFill>
            <a:prstDash val="solid"/>
          </a:ln>
        </p:spPr>
      </p:sp>
      <p:sp>
        <p:nvSpPr>
          <p:cNvPr id="12" name="Shape 5">
            <a:extLst>
              <a:ext uri="{FF2B5EF4-FFF2-40B4-BE49-F238E27FC236}">
                <a16:creationId xmlns:a16="http://schemas.microsoft.com/office/drawing/2014/main" id="{30D7D544-2629-1C9E-0AA8-5C2D0742251C}"/>
              </a:ext>
            </a:extLst>
          </p:cNvPr>
          <p:cNvSpPr/>
          <p:nvPr/>
        </p:nvSpPr>
        <p:spPr>
          <a:xfrm>
            <a:off x="10728961" y="121921"/>
            <a:ext cx="51207" cy="51207"/>
          </a:xfrm>
          <a:prstGeom prst="ellipse">
            <a:avLst/>
          </a:prstGeom>
          <a:solidFill>
            <a:srgbClr val="FFFFFF">
              <a:alpha val="35000"/>
            </a:srgbClr>
          </a:solidFill>
          <a:ln w="12700">
            <a:solidFill>
              <a:srgbClr val="FFFFFF"/>
            </a:solidFill>
            <a:prstDash val="solid"/>
          </a:ln>
        </p:spPr>
      </p:sp>
      <p:sp>
        <p:nvSpPr>
          <p:cNvPr id="13" name="Shape 6">
            <a:extLst>
              <a:ext uri="{FF2B5EF4-FFF2-40B4-BE49-F238E27FC236}">
                <a16:creationId xmlns:a16="http://schemas.microsoft.com/office/drawing/2014/main" id="{F41290F9-B946-0B81-3AA6-689959E796AD}"/>
              </a:ext>
            </a:extLst>
          </p:cNvPr>
          <p:cNvSpPr/>
          <p:nvPr/>
        </p:nvSpPr>
        <p:spPr>
          <a:xfrm>
            <a:off x="10948417" y="121921"/>
            <a:ext cx="51207" cy="51207"/>
          </a:xfrm>
          <a:prstGeom prst="ellipse">
            <a:avLst/>
          </a:prstGeom>
          <a:solidFill>
            <a:srgbClr val="FFFFFF">
              <a:alpha val="35000"/>
            </a:srgbClr>
          </a:solidFill>
          <a:ln w="12700">
            <a:solidFill>
              <a:srgbClr val="FFFFFF"/>
            </a:solidFill>
            <a:prstDash val="solid"/>
          </a:ln>
        </p:spPr>
      </p:sp>
      <p:sp>
        <p:nvSpPr>
          <p:cNvPr id="14" name="Shape 7">
            <a:extLst>
              <a:ext uri="{FF2B5EF4-FFF2-40B4-BE49-F238E27FC236}">
                <a16:creationId xmlns:a16="http://schemas.microsoft.com/office/drawing/2014/main" id="{49213CD4-20D1-2349-833A-8579C7A1F52C}"/>
              </a:ext>
            </a:extLst>
          </p:cNvPr>
          <p:cNvSpPr/>
          <p:nvPr/>
        </p:nvSpPr>
        <p:spPr>
          <a:xfrm>
            <a:off x="11167873" y="121921"/>
            <a:ext cx="51207" cy="51207"/>
          </a:xfrm>
          <a:prstGeom prst="ellipse">
            <a:avLst/>
          </a:prstGeom>
          <a:solidFill>
            <a:srgbClr val="FFFFFF">
              <a:alpha val="35000"/>
            </a:srgbClr>
          </a:solidFill>
          <a:ln w="12700">
            <a:solidFill>
              <a:srgbClr val="FFFFFF"/>
            </a:solidFill>
            <a:prstDash val="solid"/>
          </a:ln>
        </p:spPr>
      </p:sp>
      <p:sp>
        <p:nvSpPr>
          <p:cNvPr id="15" name="Shape 8">
            <a:extLst>
              <a:ext uri="{FF2B5EF4-FFF2-40B4-BE49-F238E27FC236}">
                <a16:creationId xmlns:a16="http://schemas.microsoft.com/office/drawing/2014/main" id="{73A25FF2-D5A5-7D85-66E2-41652C7BA8FE}"/>
              </a:ext>
            </a:extLst>
          </p:cNvPr>
          <p:cNvSpPr/>
          <p:nvPr/>
        </p:nvSpPr>
        <p:spPr>
          <a:xfrm>
            <a:off x="11387329" y="121921"/>
            <a:ext cx="51207" cy="51207"/>
          </a:xfrm>
          <a:prstGeom prst="ellipse">
            <a:avLst/>
          </a:prstGeom>
          <a:solidFill>
            <a:srgbClr val="FFFFFF">
              <a:alpha val="35000"/>
            </a:srgbClr>
          </a:solidFill>
          <a:ln w="12700">
            <a:solidFill>
              <a:srgbClr val="FFFFFF"/>
            </a:solidFill>
            <a:prstDash val="solid"/>
          </a:ln>
        </p:spPr>
      </p:sp>
      <p:sp>
        <p:nvSpPr>
          <p:cNvPr id="16" name="Shape 9">
            <a:extLst>
              <a:ext uri="{FF2B5EF4-FFF2-40B4-BE49-F238E27FC236}">
                <a16:creationId xmlns:a16="http://schemas.microsoft.com/office/drawing/2014/main" id="{53C000BD-A3A2-2298-CEF1-91064FEA507D}"/>
              </a:ext>
            </a:extLst>
          </p:cNvPr>
          <p:cNvSpPr/>
          <p:nvPr/>
        </p:nvSpPr>
        <p:spPr>
          <a:xfrm>
            <a:off x="10728961" y="292609"/>
            <a:ext cx="51207" cy="51207"/>
          </a:xfrm>
          <a:prstGeom prst="ellipse">
            <a:avLst/>
          </a:prstGeom>
          <a:solidFill>
            <a:srgbClr val="FFFFFF">
              <a:alpha val="35000"/>
            </a:srgbClr>
          </a:solidFill>
          <a:ln w="12700">
            <a:solidFill>
              <a:srgbClr val="FFFFFF"/>
            </a:solidFill>
            <a:prstDash val="solid"/>
          </a:ln>
        </p:spPr>
      </p:sp>
      <p:sp>
        <p:nvSpPr>
          <p:cNvPr id="17" name="Shape 10">
            <a:extLst>
              <a:ext uri="{FF2B5EF4-FFF2-40B4-BE49-F238E27FC236}">
                <a16:creationId xmlns:a16="http://schemas.microsoft.com/office/drawing/2014/main" id="{4804119C-604B-18AB-B986-4E61858A97B9}"/>
              </a:ext>
            </a:extLst>
          </p:cNvPr>
          <p:cNvSpPr/>
          <p:nvPr/>
        </p:nvSpPr>
        <p:spPr>
          <a:xfrm>
            <a:off x="10948417" y="292609"/>
            <a:ext cx="51207" cy="51207"/>
          </a:xfrm>
          <a:prstGeom prst="ellipse">
            <a:avLst/>
          </a:prstGeom>
          <a:solidFill>
            <a:srgbClr val="FFFFFF">
              <a:alpha val="35000"/>
            </a:srgbClr>
          </a:solidFill>
          <a:ln w="12700">
            <a:solidFill>
              <a:srgbClr val="FFFFFF"/>
            </a:solidFill>
            <a:prstDash val="solid"/>
          </a:ln>
        </p:spPr>
      </p:sp>
      <p:sp>
        <p:nvSpPr>
          <p:cNvPr id="18" name="Shape 11">
            <a:extLst>
              <a:ext uri="{FF2B5EF4-FFF2-40B4-BE49-F238E27FC236}">
                <a16:creationId xmlns:a16="http://schemas.microsoft.com/office/drawing/2014/main" id="{4704A2BA-D64B-C75E-5B57-960050596FA8}"/>
              </a:ext>
            </a:extLst>
          </p:cNvPr>
          <p:cNvSpPr/>
          <p:nvPr/>
        </p:nvSpPr>
        <p:spPr>
          <a:xfrm>
            <a:off x="11167873" y="292609"/>
            <a:ext cx="51207" cy="51207"/>
          </a:xfrm>
          <a:prstGeom prst="ellipse">
            <a:avLst/>
          </a:prstGeom>
          <a:solidFill>
            <a:srgbClr val="FFFFFF">
              <a:alpha val="35000"/>
            </a:srgbClr>
          </a:solidFill>
          <a:ln w="12700">
            <a:solidFill>
              <a:srgbClr val="FFFFFF"/>
            </a:solidFill>
            <a:prstDash val="solid"/>
          </a:ln>
        </p:spPr>
      </p:sp>
      <p:sp>
        <p:nvSpPr>
          <p:cNvPr id="19" name="Shape 12">
            <a:extLst>
              <a:ext uri="{FF2B5EF4-FFF2-40B4-BE49-F238E27FC236}">
                <a16:creationId xmlns:a16="http://schemas.microsoft.com/office/drawing/2014/main" id="{F36DB7F0-0C58-C68B-D0DD-9CBB930368BB}"/>
              </a:ext>
            </a:extLst>
          </p:cNvPr>
          <p:cNvSpPr/>
          <p:nvPr/>
        </p:nvSpPr>
        <p:spPr>
          <a:xfrm>
            <a:off x="11387329" y="292609"/>
            <a:ext cx="51207" cy="51207"/>
          </a:xfrm>
          <a:prstGeom prst="ellipse">
            <a:avLst/>
          </a:prstGeom>
          <a:solidFill>
            <a:srgbClr val="FFFFFF">
              <a:alpha val="35000"/>
            </a:srgbClr>
          </a:solidFill>
          <a:ln w="12700">
            <a:solidFill>
              <a:srgbClr val="FFFFFF"/>
            </a:solidFill>
            <a:prstDash val="solid"/>
          </a:ln>
        </p:spPr>
      </p:sp>
      <p:sp>
        <p:nvSpPr>
          <p:cNvPr id="20" name="Shape 13">
            <a:extLst>
              <a:ext uri="{FF2B5EF4-FFF2-40B4-BE49-F238E27FC236}">
                <a16:creationId xmlns:a16="http://schemas.microsoft.com/office/drawing/2014/main" id="{47B07F77-80C9-CFF0-AFAA-76FA0ABA01BB}"/>
              </a:ext>
            </a:extLst>
          </p:cNvPr>
          <p:cNvSpPr/>
          <p:nvPr/>
        </p:nvSpPr>
        <p:spPr>
          <a:xfrm>
            <a:off x="10728961" y="463297"/>
            <a:ext cx="51207" cy="51207"/>
          </a:xfrm>
          <a:prstGeom prst="ellipse">
            <a:avLst/>
          </a:prstGeom>
          <a:solidFill>
            <a:srgbClr val="FFFFFF">
              <a:alpha val="35000"/>
            </a:srgbClr>
          </a:solidFill>
          <a:ln w="12700">
            <a:solidFill>
              <a:srgbClr val="FFFFFF"/>
            </a:solidFill>
            <a:prstDash val="solid"/>
          </a:ln>
        </p:spPr>
      </p:sp>
      <p:sp>
        <p:nvSpPr>
          <p:cNvPr id="21" name="Shape 14">
            <a:extLst>
              <a:ext uri="{FF2B5EF4-FFF2-40B4-BE49-F238E27FC236}">
                <a16:creationId xmlns:a16="http://schemas.microsoft.com/office/drawing/2014/main" id="{F47F3185-6D39-6EFF-FADF-5C90C1B64F04}"/>
              </a:ext>
            </a:extLst>
          </p:cNvPr>
          <p:cNvSpPr/>
          <p:nvPr/>
        </p:nvSpPr>
        <p:spPr>
          <a:xfrm>
            <a:off x="10948417" y="463297"/>
            <a:ext cx="51207" cy="51207"/>
          </a:xfrm>
          <a:prstGeom prst="ellipse">
            <a:avLst/>
          </a:prstGeom>
          <a:solidFill>
            <a:srgbClr val="FFFFFF">
              <a:alpha val="35000"/>
            </a:srgbClr>
          </a:solidFill>
          <a:ln w="12700">
            <a:solidFill>
              <a:srgbClr val="FFFFFF"/>
            </a:solidFill>
            <a:prstDash val="solid"/>
          </a:ln>
        </p:spPr>
      </p:sp>
      <p:sp>
        <p:nvSpPr>
          <p:cNvPr id="22" name="Shape 15">
            <a:extLst>
              <a:ext uri="{FF2B5EF4-FFF2-40B4-BE49-F238E27FC236}">
                <a16:creationId xmlns:a16="http://schemas.microsoft.com/office/drawing/2014/main" id="{8A5361BD-34AA-8504-C463-91085F6E9A8A}"/>
              </a:ext>
            </a:extLst>
          </p:cNvPr>
          <p:cNvSpPr/>
          <p:nvPr/>
        </p:nvSpPr>
        <p:spPr>
          <a:xfrm>
            <a:off x="11167873" y="463297"/>
            <a:ext cx="51207" cy="51207"/>
          </a:xfrm>
          <a:prstGeom prst="ellipse">
            <a:avLst/>
          </a:prstGeom>
          <a:solidFill>
            <a:srgbClr val="FFFFFF">
              <a:alpha val="35000"/>
            </a:srgbClr>
          </a:solidFill>
          <a:ln w="12700">
            <a:solidFill>
              <a:srgbClr val="FFFFFF"/>
            </a:solidFill>
            <a:prstDash val="solid"/>
          </a:ln>
        </p:spPr>
      </p:sp>
      <p:sp>
        <p:nvSpPr>
          <p:cNvPr id="23" name="Shape 16">
            <a:extLst>
              <a:ext uri="{FF2B5EF4-FFF2-40B4-BE49-F238E27FC236}">
                <a16:creationId xmlns:a16="http://schemas.microsoft.com/office/drawing/2014/main" id="{E808E64E-550C-2AD7-B939-56DF6F8B9210}"/>
              </a:ext>
            </a:extLst>
          </p:cNvPr>
          <p:cNvSpPr/>
          <p:nvPr/>
        </p:nvSpPr>
        <p:spPr>
          <a:xfrm>
            <a:off x="11387329" y="463297"/>
            <a:ext cx="51207" cy="51207"/>
          </a:xfrm>
          <a:prstGeom prst="ellipse">
            <a:avLst/>
          </a:prstGeom>
          <a:solidFill>
            <a:srgbClr val="FFFFFF">
              <a:alpha val="35000"/>
            </a:srgbClr>
          </a:solidFill>
          <a:ln w="12700">
            <a:solidFill>
              <a:srgbClr val="FFFFFF"/>
            </a:solidFill>
            <a:prstDash val="solid"/>
          </a:ln>
        </p:spPr>
      </p:sp>
      <p:pic>
        <p:nvPicPr>
          <p:cNvPr id="24" name="Picture 23">
            <a:extLst>
              <a:ext uri="{FF2B5EF4-FFF2-40B4-BE49-F238E27FC236}">
                <a16:creationId xmlns:a16="http://schemas.microsoft.com/office/drawing/2014/main" id="{CFD2ED41-C95B-08D9-0661-73B97DBCD9B2}"/>
              </a:ext>
            </a:extLst>
          </p:cNvPr>
          <p:cNvPicPr>
            <a:picLocks noChangeAspect="1"/>
          </p:cNvPicPr>
          <p:nvPr/>
        </p:nvPicPr>
        <p:blipFill>
          <a:blip r:embed="rId4"/>
          <a:stretch>
            <a:fillRect/>
          </a:stretch>
        </p:blipFill>
        <p:spPr>
          <a:xfrm>
            <a:off x="-453212" y="-263954"/>
            <a:ext cx="1776568" cy="1245981"/>
          </a:xfrm>
          <a:prstGeom prst="rect">
            <a:avLst/>
          </a:prstGeom>
        </p:spPr>
      </p:pic>
      <p:sp>
        <p:nvSpPr>
          <p:cNvPr id="3" name="TextBox 2"/>
          <p:cNvSpPr txBox="1"/>
          <p:nvPr/>
        </p:nvSpPr>
        <p:spPr>
          <a:xfrm>
            <a:off x="1128763" y="-119027"/>
            <a:ext cx="10789920" cy="754694"/>
          </a:xfrm>
          <a:prstGeom prst="rect">
            <a:avLst/>
          </a:prstGeom>
          <a:noFill/>
        </p:spPr>
        <p:txBody>
          <a:bodyPr wrap="square">
            <a:spAutoFit/>
          </a:bodyPr>
          <a:lstStyle/>
          <a:p>
            <a:pPr algn="l">
              <a:lnSpc>
                <a:spcPct val="150000"/>
              </a:lnSpc>
              <a:spcAft>
                <a:spcPts val="600"/>
              </a:spcAft>
            </a:pPr>
            <a:r>
              <a:rPr lang="en-GB" sz="3200" b="1" dirty="0">
                <a:solidFill>
                  <a:schemeClr val="bg1"/>
                </a:solidFill>
                <a:latin typeface="Calibri"/>
              </a:rPr>
              <a:t>EFFICIENCY, ENSEMBLE &amp; CALIBRATION</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Image 0" descr="preencoded.png">
            <a:extLst>
              <a:ext uri="{FF2B5EF4-FFF2-40B4-BE49-F238E27FC236}">
                <a16:creationId xmlns:a16="http://schemas.microsoft.com/office/drawing/2014/main" id="{AA02EC1D-6D6B-B58B-E0F0-F0DFA09B1E28}"/>
              </a:ext>
            </a:extLst>
          </p:cNvPr>
          <p:cNvPicPr>
            <a:picLocks noChangeAspect="1"/>
          </p:cNvPicPr>
          <p:nvPr/>
        </p:nvPicPr>
        <p:blipFill>
          <a:blip r:embed="rId2"/>
          <a:stretch>
            <a:fillRect/>
          </a:stretch>
        </p:blipFill>
        <p:spPr>
          <a:xfrm>
            <a:off x="-24670" y="-16099"/>
            <a:ext cx="12192000" cy="6858000"/>
          </a:xfrm>
          <a:prstGeom prst="rect">
            <a:avLst/>
          </a:prstGeom>
        </p:spPr>
      </p:pic>
      <p:pic>
        <p:nvPicPr>
          <p:cNvPr id="4" name="Picture 3" descr="fig18_ekf_realdata.png"/>
          <p:cNvPicPr>
            <a:picLocks noChangeAspect="1"/>
          </p:cNvPicPr>
          <p:nvPr/>
        </p:nvPicPr>
        <p:blipFill>
          <a:blip r:embed="rId3"/>
          <a:stretch>
            <a:fillRect/>
          </a:stretch>
        </p:blipFill>
        <p:spPr>
          <a:xfrm>
            <a:off x="990600" y="1184581"/>
            <a:ext cx="10522916" cy="4648361"/>
          </a:xfrm>
          <a:prstGeom prst="rect">
            <a:avLst/>
          </a:prstGeom>
        </p:spPr>
      </p:pic>
      <p:sp>
        <p:nvSpPr>
          <p:cNvPr id="5" name="TextBox 4"/>
          <p:cNvSpPr txBox="1"/>
          <p:nvPr/>
        </p:nvSpPr>
        <p:spPr>
          <a:xfrm>
            <a:off x="2223347" y="5791198"/>
            <a:ext cx="10789920" cy="402803"/>
          </a:xfrm>
          <a:prstGeom prst="rect">
            <a:avLst/>
          </a:prstGeom>
          <a:noFill/>
        </p:spPr>
        <p:txBody>
          <a:bodyPr wrap="square">
            <a:spAutoFit/>
          </a:bodyPr>
          <a:lstStyle/>
          <a:p>
            <a:pPr algn="l">
              <a:lnSpc>
                <a:spcPct val="150000"/>
              </a:lnSpc>
              <a:spcAft>
                <a:spcPts val="600"/>
              </a:spcAft>
            </a:pPr>
            <a:r>
              <a:rPr sz="1500" b="0" i="1" dirty="0">
                <a:solidFill>
                  <a:srgbClr val="5A5A5A"/>
                </a:solidFill>
                <a:latin typeface="Calibri"/>
              </a:rPr>
              <a:t>Raw GNSS trajectory vs adaptive EKF on real Beihang field NMEA; P(DEGRADED) predictions.</a:t>
            </a:r>
          </a:p>
        </p:txBody>
      </p:sp>
      <p:sp>
        <p:nvSpPr>
          <p:cNvPr id="16" name="Shape 2">
            <a:extLst>
              <a:ext uri="{FF2B5EF4-FFF2-40B4-BE49-F238E27FC236}">
                <a16:creationId xmlns:a16="http://schemas.microsoft.com/office/drawing/2014/main" id="{2921CB2B-769F-3F74-935D-F9618768899A}"/>
              </a:ext>
            </a:extLst>
          </p:cNvPr>
          <p:cNvSpPr/>
          <p:nvPr/>
        </p:nvSpPr>
        <p:spPr>
          <a:xfrm>
            <a:off x="-10160" y="6699357"/>
            <a:ext cx="12192000" cy="211137"/>
          </a:xfrm>
          <a:prstGeom prst="rect">
            <a:avLst/>
          </a:prstGeom>
          <a:solidFill>
            <a:srgbClr val="003893"/>
          </a:solidFill>
          <a:ln w="12700">
            <a:solidFill>
              <a:srgbClr val="003893"/>
            </a:solidFill>
            <a:prstDash val="solid"/>
          </a:ln>
        </p:spPr>
      </p:sp>
      <p:sp>
        <p:nvSpPr>
          <p:cNvPr id="17" name="Shape 3">
            <a:extLst>
              <a:ext uri="{FF2B5EF4-FFF2-40B4-BE49-F238E27FC236}">
                <a16:creationId xmlns:a16="http://schemas.microsoft.com/office/drawing/2014/main" id="{20CAB1B0-6C3C-C4F0-9C89-03EDC6F49C8F}"/>
              </a:ext>
            </a:extLst>
          </p:cNvPr>
          <p:cNvSpPr/>
          <p:nvPr/>
        </p:nvSpPr>
        <p:spPr>
          <a:xfrm>
            <a:off x="-10160" y="6676172"/>
            <a:ext cx="12192000" cy="30480"/>
          </a:xfrm>
          <a:prstGeom prst="rect">
            <a:avLst/>
          </a:prstGeom>
          <a:solidFill>
            <a:srgbClr val="4FC3F7"/>
          </a:solidFill>
          <a:ln w="12700">
            <a:solidFill>
              <a:srgbClr val="4FC3F7"/>
            </a:solidFill>
            <a:prstDash val="solid"/>
          </a:ln>
        </p:spPr>
      </p:sp>
      <p:sp>
        <p:nvSpPr>
          <p:cNvPr id="19" name="Shape 5">
            <a:extLst>
              <a:ext uri="{FF2B5EF4-FFF2-40B4-BE49-F238E27FC236}">
                <a16:creationId xmlns:a16="http://schemas.microsoft.com/office/drawing/2014/main" id="{8872508D-6A3F-2D35-A7F6-C07ADDC68FE9}"/>
              </a:ext>
            </a:extLst>
          </p:cNvPr>
          <p:cNvSpPr/>
          <p:nvPr/>
        </p:nvSpPr>
        <p:spPr>
          <a:xfrm>
            <a:off x="11049001" y="335282"/>
            <a:ext cx="51207" cy="51207"/>
          </a:xfrm>
          <a:prstGeom prst="ellipse">
            <a:avLst/>
          </a:prstGeom>
          <a:solidFill>
            <a:srgbClr val="FFFFFF">
              <a:alpha val="35000"/>
            </a:srgbClr>
          </a:solidFill>
          <a:ln w="12700">
            <a:solidFill>
              <a:srgbClr val="FFFFFF"/>
            </a:solidFill>
            <a:prstDash val="solid"/>
          </a:ln>
        </p:spPr>
      </p:sp>
      <p:sp>
        <p:nvSpPr>
          <p:cNvPr id="20" name="Shape 6">
            <a:extLst>
              <a:ext uri="{FF2B5EF4-FFF2-40B4-BE49-F238E27FC236}">
                <a16:creationId xmlns:a16="http://schemas.microsoft.com/office/drawing/2014/main" id="{75A50ADA-8B46-180C-0D2C-4E0AD2D16051}"/>
              </a:ext>
            </a:extLst>
          </p:cNvPr>
          <p:cNvSpPr/>
          <p:nvPr/>
        </p:nvSpPr>
        <p:spPr>
          <a:xfrm>
            <a:off x="11268457" y="335282"/>
            <a:ext cx="51207" cy="51207"/>
          </a:xfrm>
          <a:prstGeom prst="ellipse">
            <a:avLst/>
          </a:prstGeom>
          <a:solidFill>
            <a:srgbClr val="FFFFFF">
              <a:alpha val="35000"/>
            </a:srgbClr>
          </a:solidFill>
          <a:ln w="12700">
            <a:solidFill>
              <a:srgbClr val="FFFFFF"/>
            </a:solidFill>
            <a:prstDash val="solid"/>
          </a:ln>
        </p:spPr>
      </p:sp>
      <p:sp>
        <p:nvSpPr>
          <p:cNvPr id="21" name="Shape 7">
            <a:extLst>
              <a:ext uri="{FF2B5EF4-FFF2-40B4-BE49-F238E27FC236}">
                <a16:creationId xmlns:a16="http://schemas.microsoft.com/office/drawing/2014/main" id="{AA1D791E-6EA7-523C-9308-59F4E8645EE5}"/>
              </a:ext>
            </a:extLst>
          </p:cNvPr>
          <p:cNvSpPr/>
          <p:nvPr/>
        </p:nvSpPr>
        <p:spPr>
          <a:xfrm>
            <a:off x="11487913" y="335282"/>
            <a:ext cx="51207" cy="51207"/>
          </a:xfrm>
          <a:prstGeom prst="ellipse">
            <a:avLst/>
          </a:prstGeom>
          <a:solidFill>
            <a:srgbClr val="FFFFFF">
              <a:alpha val="35000"/>
            </a:srgbClr>
          </a:solidFill>
          <a:ln w="12700">
            <a:solidFill>
              <a:srgbClr val="FFFFFF"/>
            </a:solidFill>
            <a:prstDash val="solid"/>
          </a:ln>
        </p:spPr>
      </p:sp>
      <p:sp>
        <p:nvSpPr>
          <p:cNvPr id="22" name="Shape 8">
            <a:extLst>
              <a:ext uri="{FF2B5EF4-FFF2-40B4-BE49-F238E27FC236}">
                <a16:creationId xmlns:a16="http://schemas.microsoft.com/office/drawing/2014/main" id="{5AFF812F-BFB4-15A7-DE8F-D84BC2E19CB6}"/>
              </a:ext>
            </a:extLst>
          </p:cNvPr>
          <p:cNvSpPr/>
          <p:nvPr/>
        </p:nvSpPr>
        <p:spPr>
          <a:xfrm>
            <a:off x="11707369" y="335282"/>
            <a:ext cx="51207" cy="51207"/>
          </a:xfrm>
          <a:prstGeom prst="ellipse">
            <a:avLst/>
          </a:prstGeom>
          <a:solidFill>
            <a:srgbClr val="FFFFFF">
              <a:alpha val="35000"/>
            </a:srgbClr>
          </a:solidFill>
          <a:ln w="12700">
            <a:solidFill>
              <a:srgbClr val="FFFFFF"/>
            </a:solidFill>
            <a:prstDash val="solid"/>
          </a:ln>
        </p:spPr>
      </p:sp>
      <p:sp>
        <p:nvSpPr>
          <p:cNvPr id="23" name="Shape 9">
            <a:extLst>
              <a:ext uri="{FF2B5EF4-FFF2-40B4-BE49-F238E27FC236}">
                <a16:creationId xmlns:a16="http://schemas.microsoft.com/office/drawing/2014/main" id="{FEC3A0EE-7C16-E653-628A-BE5C591ED646}"/>
              </a:ext>
            </a:extLst>
          </p:cNvPr>
          <p:cNvSpPr/>
          <p:nvPr/>
        </p:nvSpPr>
        <p:spPr>
          <a:xfrm>
            <a:off x="11049001" y="505970"/>
            <a:ext cx="51207" cy="51207"/>
          </a:xfrm>
          <a:prstGeom prst="ellipse">
            <a:avLst/>
          </a:prstGeom>
          <a:solidFill>
            <a:srgbClr val="FFFFFF">
              <a:alpha val="35000"/>
            </a:srgbClr>
          </a:solidFill>
          <a:ln w="12700">
            <a:solidFill>
              <a:srgbClr val="FFFFFF"/>
            </a:solidFill>
            <a:prstDash val="solid"/>
          </a:ln>
        </p:spPr>
      </p:sp>
      <p:sp>
        <p:nvSpPr>
          <p:cNvPr id="24" name="Shape 10">
            <a:extLst>
              <a:ext uri="{FF2B5EF4-FFF2-40B4-BE49-F238E27FC236}">
                <a16:creationId xmlns:a16="http://schemas.microsoft.com/office/drawing/2014/main" id="{F3D5177C-7A3A-3184-4D2C-86D8D6B0541F}"/>
              </a:ext>
            </a:extLst>
          </p:cNvPr>
          <p:cNvSpPr/>
          <p:nvPr/>
        </p:nvSpPr>
        <p:spPr>
          <a:xfrm>
            <a:off x="11268457" y="505970"/>
            <a:ext cx="51207" cy="51207"/>
          </a:xfrm>
          <a:prstGeom prst="ellipse">
            <a:avLst/>
          </a:prstGeom>
          <a:solidFill>
            <a:srgbClr val="FFFFFF">
              <a:alpha val="35000"/>
            </a:srgbClr>
          </a:solidFill>
          <a:ln w="12700">
            <a:solidFill>
              <a:srgbClr val="FFFFFF"/>
            </a:solidFill>
            <a:prstDash val="solid"/>
          </a:ln>
        </p:spPr>
      </p:sp>
      <p:sp>
        <p:nvSpPr>
          <p:cNvPr id="25" name="Shape 11">
            <a:extLst>
              <a:ext uri="{FF2B5EF4-FFF2-40B4-BE49-F238E27FC236}">
                <a16:creationId xmlns:a16="http://schemas.microsoft.com/office/drawing/2014/main" id="{2327092D-B802-8361-2993-C84DB5DC8BAB}"/>
              </a:ext>
            </a:extLst>
          </p:cNvPr>
          <p:cNvSpPr/>
          <p:nvPr/>
        </p:nvSpPr>
        <p:spPr>
          <a:xfrm>
            <a:off x="11487913" y="505970"/>
            <a:ext cx="51207" cy="51207"/>
          </a:xfrm>
          <a:prstGeom prst="ellipse">
            <a:avLst/>
          </a:prstGeom>
          <a:solidFill>
            <a:srgbClr val="FFFFFF">
              <a:alpha val="35000"/>
            </a:srgbClr>
          </a:solidFill>
          <a:ln w="12700">
            <a:solidFill>
              <a:srgbClr val="FFFFFF"/>
            </a:solidFill>
            <a:prstDash val="solid"/>
          </a:ln>
        </p:spPr>
      </p:sp>
      <p:sp>
        <p:nvSpPr>
          <p:cNvPr id="26" name="Shape 12">
            <a:extLst>
              <a:ext uri="{FF2B5EF4-FFF2-40B4-BE49-F238E27FC236}">
                <a16:creationId xmlns:a16="http://schemas.microsoft.com/office/drawing/2014/main" id="{3B110EB0-2F04-D604-DCBB-DD4B2EA50A16}"/>
              </a:ext>
            </a:extLst>
          </p:cNvPr>
          <p:cNvSpPr/>
          <p:nvPr/>
        </p:nvSpPr>
        <p:spPr>
          <a:xfrm>
            <a:off x="11707369" y="505970"/>
            <a:ext cx="51207" cy="51207"/>
          </a:xfrm>
          <a:prstGeom prst="ellipse">
            <a:avLst/>
          </a:prstGeom>
          <a:solidFill>
            <a:srgbClr val="FFFFFF">
              <a:alpha val="35000"/>
            </a:srgbClr>
          </a:solidFill>
          <a:ln w="12700">
            <a:solidFill>
              <a:srgbClr val="FFFFFF"/>
            </a:solidFill>
            <a:prstDash val="solid"/>
          </a:ln>
        </p:spPr>
      </p:sp>
      <p:sp>
        <p:nvSpPr>
          <p:cNvPr id="29" name="Shape 15">
            <a:extLst>
              <a:ext uri="{FF2B5EF4-FFF2-40B4-BE49-F238E27FC236}">
                <a16:creationId xmlns:a16="http://schemas.microsoft.com/office/drawing/2014/main" id="{EFD109DE-75FC-4B9E-FB66-813B40677D4B}"/>
              </a:ext>
            </a:extLst>
          </p:cNvPr>
          <p:cNvSpPr/>
          <p:nvPr/>
        </p:nvSpPr>
        <p:spPr>
          <a:xfrm>
            <a:off x="11487913" y="676658"/>
            <a:ext cx="51207" cy="51207"/>
          </a:xfrm>
          <a:prstGeom prst="ellipse">
            <a:avLst/>
          </a:prstGeom>
          <a:solidFill>
            <a:srgbClr val="FFFFFF">
              <a:alpha val="35000"/>
            </a:srgbClr>
          </a:solidFill>
          <a:ln w="12700">
            <a:solidFill>
              <a:srgbClr val="FFFFFF"/>
            </a:solidFill>
            <a:prstDash val="solid"/>
          </a:ln>
        </p:spPr>
      </p:sp>
      <p:sp>
        <p:nvSpPr>
          <p:cNvPr id="30" name="Shape 16">
            <a:extLst>
              <a:ext uri="{FF2B5EF4-FFF2-40B4-BE49-F238E27FC236}">
                <a16:creationId xmlns:a16="http://schemas.microsoft.com/office/drawing/2014/main" id="{0BFBBE2E-F646-1A9B-BB1A-47429AC24A32}"/>
              </a:ext>
            </a:extLst>
          </p:cNvPr>
          <p:cNvSpPr/>
          <p:nvPr/>
        </p:nvSpPr>
        <p:spPr>
          <a:xfrm>
            <a:off x="11707369" y="676658"/>
            <a:ext cx="51207" cy="51207"/>
          </a:xfrm>
          <a:prstGeom prst="ellipse">
            <a:avLst/>
          </a:prstGeom>
          <a:solidFill>
            <a:srgbClr val="FFFFFF">
              <a:alpha val="35000"/>
            </a:srgbClr>
          </a:solidFill>
          <a:ln w="12700">
            <a:solidFill>
              <a:srgbClr val="FFFFFF"/>
            </a:solidFill>
            <a:prstDash val="solid"/>
          </a:ln>
        </p:spPr>
      </p:sp>
      <p:sp>
        <p:nvSpPr>
          <p:cNvPr id="34" name="Shape 0">
            <a:extLst>
              <a:ext uri="{FF2B5EF4-FFF2-40B4-BE49-F238E27FC236}">
                <a16:creationId xmlns:a16="http://schemas.microsoft.com/office/drawing/2014/main" id="{6A085C19-ECB2-796C-4D82-84518630DA34}"/>
              </a:ext>
            </a:extLst>
          </p:cNvPr>
          <p:cNvSpPr/>
          <p:nvPr/>
        </p:nvSpPr>
        <p:spPr>
          <a:xfrm>
            <a:off x="-10160" y="-16099"/>
            <a:ext cx="12192000" cy="740408"/>
          </a:xfrm>
          <a:prstGeom prst="rect">
            <a:avLst/>
          </a:prstGeom>
          <a:solidFill>
            <a:srgbClr val="003893"/>
          </a:solidFill>
          <a:ln w="12700">
            <a:solidFill>
              <a:srgbClr val="003893"/>
            </a:solidFill>
            <a:prstDash val="solid"/>
          </a:ln>
        </p:spPr>
      </p:sp>
      <p:sp>
        <p:nvSpPr>
          <p:cNvPr id="35" name="Shape 1">
            <a:extLst>
              <a:ext uri="{FF2B5EF4-FFF2-40B4-BE49-F238E27FC236}">
                <a16:creationId xmlns:a16="http://schemas.microsoft.com/office/drawing/2014/main" id="{A420F378-6A25-0902-E37E-7FB2106FC1AE}"/>
              </a:ext>
            </a:extLst>
          </p:cNvPr>
          <p:cNvSpPr/>
          <p:nvPr/>
        </p:nvSpPr>
        <p:spPr>
          <a:xfrm>
            <a:off x="-10160" y="684313"/>
            <a:ext cx="12192000" cy="36576"/>
          </a:xfrm>
          <a:prstGeom prst="rect">
            <a:avLst/>
          </a:prstGeom>
          <a:solidFill>
            <a:srgbClr val="4FC3F7"/>
          </a:solidFill>
          <a:ln w="12700">
            <a:solidFill>
              <a:srgbClr val="4FC3F7"/>
            </a:solidFill>
            <a:prstDash val="solid"/>
          </a:ln>
        </p:spPr>
      </p:sp>
      <p:sp>
        <p:nvSpPr>
          <p:cNvPr id="36" name="Shape 2">
            <a:extLst>
              <a:ext uri="{FF2B5EF4-FFF2-40B4-BE49-F238E27FC236}">
                <a16:creationId xmlns:a16="http://schemas.microsoft.com/office/drawing/2014/main" id="{73DD1A46-428E-1E67-823A-792AA17C5B1C}"/>
              </a:ext>
            </a:extLst>
          </p:cNvPr>
          <p:cNvSpPr/>
          <p:nvPr/>
        </p:nvSpPr>
        <p:spPr>
          <a:xfrm>
            <a:off x="-416471" y="7859050"/>
            <a:ext cx="12192000" cy="211137"/>
          </a:xfrm>
          <a:prstGeom prst="rect">
            <a:avLst/>
          </a:prstGeom>
          <a:solidFill>
            <a:srgbClr val="003893"/>
          </a:solidFill>
          <a:ln w="12700">
            <a:solidFill>
              <a:srgbClr val="003893"/>
            </a:solidFill>
            <a:prstDash val="solid"/>
          </a:ln>
        </p:spPr>
      </p:sp>
      <p:sp>
        <p:nvSpPr>
          <p:cNvPr id="37" name="Shape 3">
            <a:extLst>
              <a:ext uri="{FF2B5EF4-FFF2-40B4-BE49-F238E27FC236}">
                <a16:creationId xmlns:a16="http://schemas.microsoft.com/office/drawing/2014/main" id="{38F4EE94-1775-C6AD-68DA-BC5466037C84}"/>
              </a:ext>
            </a:extLst>
          </p:cNvPr>
          <p:cNvSpPr/>
          <p:nvPr/>
        </p:nvSpPr>
        <p:spPr>
          <a:xfrm>
            <a:off x="-416471" y="7835865"/>
            <a:ext cx="12192000" cy="30480"/>
          </a:xfrm>
          <a:prstGeom prst="rect">
            <a:avLst/>
          </a:prstGeom>
          <a:solidFill>
            <a:srgbClr val="4FC3F7"/>
          </a:solidFill>
          <a:ln w="12700">
            <a:solidFill>
              <a:srgbClr val="4FC3F7"/>
            </a:solidFill>
            <a:prstDash val="solid"/>
          </a:ln>
        </p:spPr>
      </p:sp>
      <p:sp>
        <p:nvSpPr>
          <p:cNvPr id="38" name="Shape 4">
            <a:extLst>
              <a:ext uri="{FF2B5EF4-FFF2-40B4-BE49-F238E27FC236}">
                <a16:creationId xmlns:a16="http://schemas.microsoft.com/office/drawing/2014/main" id="{38543411-EE5A-26D8-F7BA-7563A90DA2A4}"/>
              </a:ext>
            </a:extLst>
          </p:cNvPr>
          <p:cNvSpPr/>
          <p:nvPr/>
        </p:nvSpPr>
        <p:spPr>
          <a:xfrm>
            <a:off x="-10160" y="-42652"/>
            <a:ext cx="1128763" cy="767311"/>
          </a:xfrm>
          <a:prstGeom prst="homePlate">
            <a:avLst/>
          </a:prstGeom>
          <a:solidFill>
            <a:srgbClr val="FFFFFF"/>
          </a:solidFill>
          <a:ln w="6350">
            <a:solidFill>
              <a:srgbClr val="CCCCCC"/>
            </a:solidFill>
            <a:prstDash val="solid"/>
          </a:ln>
        </p:spPr>
      </p:sp>
      <p:sp>
        <p:nvSpPr>
          <p:cNvPr id="39" name="Shape 5">
            <a:extLst>
              <a:ext uri="{FF2B5EF4-FFF2-40B4-BE49-F238E27FC236}">
                <a16:creationId xmlns:a16="http://schemas.microsoft.com/office/drawing/2014/main" id="{9614D7F0-7ED1-E89D-8CB7-193F22809D36}"/>
              </a:ext>
            </a:extLst>
          </p:cNvPr>
          <p:cNvSpPr/>
          <p:nvPr/>
        </p:nvSpPr>
        <p:spPr>
          <a:xfrm>
            <a:off x="10312490" y="148774"/>
            <a:ext cx="51207" cy="51207"/>
          </a:xfrm>
          <a:prstGeom prst="ellipse">
            <a:avLst/>
          </a:prstGeom>
          <a:solidFill>
            <a:srgbClr val="FFFFFF">
              <a:alpha val="35000"/>
            </a:srgbClr>
          </a:solidFill>
          <a:ln w="12700">
            <a:solidFill>
              <a:srgbClr val="FFFFFF"/>
            </a:solidFill>
            <a:prstDash val="solid"/>
          </a:ln>
        </p:spPr>
      </p:sp>
      <p:sp>
        <p:nvSpPr>
          <p:cNvPr id="40" name="Shape 6">
            <a:extLst>
              <a:ext uri="{FF2B5EF4-FFF2-40B4-BE49-F238E27FC236}">
                <a16:creationId xmlns:a16="http://schemas.microsoft.com/office/drawing/2014/main" id="{31C5FC57-2948-B0A0-BDD3-8C295E5B919A}"/>
              </a:ext>
            </a:extLst>
          </p:cNvPr>
          <p:cNvSpPr/>
          <p:nvPr/>
        </p:nvSpPr>
        <p:spPr>
          <a:xfrm>
            <a:off x="10531946" y="148774"/>
            <a:ext cx="51207" cy="51207"/>
          </a:xfrm>
          <a:prstGeom prst="ellipse">
            <a:avLst/>
          </a:prstGeom>
          <a:solidFill>
            <a:srgbClr val="FFFFFF">
              <a:alpha val="35000"/>
            </a:srgbClr>
          </a:solidFill>
          <a:ln w="12700">
            <a:solidFill>
              <a:srgbClr val="FFFFFF"/>
            </a:solidFill>
            <a:prstDash val="solid"/>
          </a:ln>
        </p:spPr>
      </p:sp>
      <p:sp>
        <p:nvSpPr>
          <p:cNvPr id="41" name="Shape 7">
            <a:extLst>
              <a:ext uri="{FF2B5EF4-FFF2-40B4-BE49-F238E27FC236}">
                <a16:creationId xmlns:a16="http://schemas.microsoft.com/office/drawing/2014/main" id="{9477E42D-4449-D8CF-FB58-82C0D674561A}"/>
              </a:ext>
            </a:extLst>
          </p:cNvPr>
          <p:cNvSpPr/>
          <p:nvPr/>
        </p:nvSpPr>
        <p:spPr>
          <a:xfrm>
            <a:off x="10751402" y="148774"/>
            <a:ext cx="51207" cy="51207"/>
          </a:xfrm>
          <a:prstGeom prst="ellipse">
            <a:avLst/>
          </a:prstGeom>
          <a:solidFill>
            <a:srgbClr val="FFFFFF">
              <a:alpha val="35000"/>
            </a:srgbClr>
          </a:solidFill>
          <a:ln w="12700">
            <a:solidFill>
              <a:srgbClr val="FFFFFF"/>
            </a:solidFill>
            <a:prstDash val="solid"/>
          </a:ln>
        </p:spPr>
      </p:sp>
      <p:sp>
        <p:nvSpPr>
          <p:cNvPr id="42" name="Shape 8">
            <a:extLst>
              <a:ext uri="{FF2B5EF4-FFF2-40B4-BE49-F238E27FC236}">
                <a16:creationId xmlns:a16="http://schemas.microsoft.com/office/drawing/2014/main" id="{B028FACA-81FF-C91C-083C-E2EE75EDF48F}"/>
              </a:ext>
            </a:extLst>
          </p:cNvPr>
          <p:cNvSpPr/>
          <p:nvPr/>
        </p:nvSpPr>
        <p:spPr>
          <a:xfrm>
            <a:off x="10970858" y="148774"/>
            <a:ext cx="51207" cy="51207"/>
          </a:xfrm>
          <a:prstGeom prst="ellipse">
            <a:avLst/>
          </a:prstGeom>
          <a:solidFill>
            <a:srgbClr val="FFFFFF">
              <a:alpha val="35000"/>
            </a:srgbClr>
          </a:solidFill>
          <a:ln w="12700">
            <a:solidFill>
              <a:srgbClr val="FFFFFF"/>
            </a:solidFill>
            <a:prstDash val="solid"/>
          </a:ln>
        </p:spPr>
      </p:sp>
      <p:sp>
        <p:nvSpPr>
          <p:cNvPr id="43" name="Shape 9">
            <a:extLst>
              <a:ext uri="{FF2B5EF4-FFF2-40B4-BE49-F238E27FC236}">
                <a16:creationId xmlns:a16="http://schemas.microsoft.com/office/drawing/2014/main" id="{33E7CDD6-B0D6-B830-355B-A6344B84EF1F}"/>
              </a:ext>
            </a:extLst>
          </p:cNvPr>
          <p:cNvSpPr/>
          <p:nvPr/>
        </p:nvSpPr>
        <p:spPr>
          <a:xfrm>
            <a:off x="10312490" y="319462"/>
            <a:ext cx="51207" cy="51207"/>
          </a:xfrm>
          <a:prstGeom prst="ellipse">
            <a:avLst/>
          </a:prstGeom>
          <a:solidFill>
            <a:srgbClr val="FFFFFF">
              <a:alpha val="35000"/>
            </a:srgbClr>
          </a:solidFill>
          <a:ln w="12700">
            <a:solidFill>
              <a:srgbClr val="FFFFFF"/>
            </a:solidFill>
            <a:prstDash val="solid"/>
          </a:ln>
        </p:spPr>
      </p:sp>
      <p:sp>
        <p:nvSpPr>
          <p:cNvPr id="44" name="Shape 10">
            <a:extLst>
              <a:ext uri="{FF2B5EF4-FFF2-40B4-BE49-F238E27FC236}">
                <a16:creationId xmlns:a16="http://schemas.microsoft.com/office/drawing/2014/main" id="{66AF2529-8FF3-A3CE-3B55-CE7132CB5020}"/>
              </a:ext>
            </a:extLst>
          </p:cNvPr>
          <p:cNvSpPr/>
          <p:nvPr/>
        </p:nvSpPr>
        <p:spPr>
          <a:xfrm>
            <a:off x="10531946" y="319462"/>
            <a:ext cx="51207" cy="51207"/>
          </a:xfrm>
          <a:prstGeom prst="ellipse">
            <a:avLst/>
          </a:prstGeom>
          <a:solidFill>
            <a:srgbClr val="FFFFFF">
              <a:alpha val="35000"/>
            </a:srgbClr>
          </a:solidFill>
          <a:ln w="12700">
            <a:solidFill>
              <a:srgbClr val="FFFFFF"/>
            </a:solidFill>
            <a:prstDash val="solid"/>
          </a:ln>
        </p:spPr>
      </p:sp>
      <p:sp>
        <p:nvSpPr>
          <p:cNvPr id="45" name="Shape 11">
            <a:extLst>
              <a:ext uri="{FF2B5EF4-FFF2-40B4-BE49-F238E27FC236}">
                <a16:creationId xmlns:a16="http://schemas.microsoft.com/office/drawing/2014/main" id="{7F8D144D-D2A0-E82A-F8F0-82FF6882325B}"/>
              </a:ext>
            </a:extLst>
          </p:cNvPr>
          <p:cNvSpPr/>
          <p:nvPr/>
        </p:nvSpPr>
        <p:spPr>
          <a:xfrm>
            <a:off x="10751402" y="319462"/>
            <a:ext cx="51207" cy="51207"/>
          </a:xfrm>
          <a:prstGeom prst="ellipse">
            <a:avLst/>
          </a:prstGeom>
          <a:solidFill>
            <a:srgbClr val="FFFFFF">
              <a:alpha val="35000"/>
            </a:srgbClr>
          </a:solidFill>
          <a:ln w="12700">
            <a:solidFill>
              <a:srgbClr val="FFFFFF"/>
            </a:solidFill>
            <a:prstDash val="solid"/>
          </a:ln>
        </p:spPr>
      </p:sp>
      <p:sp>
        <p:nvSpPr>
          <p:cNvPr id="46" name="Shape 12">
            <a:extLst>
              <a:ext uri="{FF2B5EF4-FFF2-40B4-BE49-F238E27FC236}">
                <a16:creationId xmlns:a16="http://schemas.microsoft.com/office/drawing/2014/main" id="{4D8FBE6C-6C61-C68B-FE0A-224D31A9FAC0}"/>
              </a:ext>
            </a:extLst>
          </p:cNvPr>
          <p:cNvSpPr/>
          <p:nvPr/>
        </p:nvSpPr>
        <p:spPr>
          <a:xfrm>
            <a:off x="10970858" y="319462"/>
            <a:ext cx="51207" cy="51207"/>
          </a:xfrm>
          <a:prstGeom prst="ellipse">
            <a:avLst/>
          </a:prstGeom>
          <a:solidFill>
            <a:srgbClr val="FFFFFF">
              <a:alpha val="35000"/>
            </a:srgbClr>
          </a:solidFill>
          <a:ln w="12700">
            <a:solidFill>
              <a:srgbClr val="FFFFFF"/>
            </a:solidFill>
            <a:prstDash val="solid"/>
          </a:ln>
        </p:spPr>
      </p:sp>
      <p:sp>
        <p:nvSpPr>
          <p:cNvPr id="47" name="Shape 13">
            <a:extLst>
              <a:ext uri="{FF2B5EF4-FFF2-40B4-BE49-F238E27FC236}">
                <a16:creationId xmlns:a16="http://schemas.microsoft.com/office/drawing/2014/main" id="{E9980BA6-E76C-FA86-56AA-FAD39352EB25}"/>
              </a:ext>
            </a:extLst>
          </p:cNvPr>
          <p:cNvSpPr/>
          <p:nvPr/>
        </p:nvSpPr>
        <p:spPr>
          <a:xfrm>
            <a:off x="10312490" y="490150"/>
            <a:ext cx="51207" cy="51207"/>
          </a:xfrm>
          <a:prstGeom prst="ellipse">
            <a:avLst/>
          </a:prstGeom>
          <a:solidFill>
            <a:srgbClr val="FFFFFF">
              <a:alpha val="35000"/>
            </a:srgbClr>
          </a:solidFill>
          <a:ln w="12700">
            <a:solidFill>
              <a:srgbClr val="FFFFFF"/>
            </a:solidFill>
            <a:prstDash val="solid"/>
          </a:ln>
        </p:spPr>
      </p:sp>
      <p:sp>
        <p:nvSpPr>
          <p:cNvPr id="48" name="Shape 14">
            <a:extLst>
              <a:ext uri="{FF2B5EF4-FFF2-40B4-BE49-F238E27FC236}">
                <a16:creationId xmlns:a16="http://schemas.microsoft.com/office/drawing/2014/main" id="{5BF94415-AA36-5B3A-060D-CB1BB57D8B0C}"/>
              </a:ext>
            </a:extLst>
          </p:cNvPr>
          <p:cNvSpPr/>
          <p:nvPr/>
        </p:nvSpPr>
        <p:spPr>
          <a:xfrm>
            <a:off x="10531946" y="490150"/>
            <a:ext cx="51207" cy="51207"/>
          </a:xfrm>
          <a:prstGeom prst="ellipse">
            <a:avLst/>
          </a:prstGeom>
          <a:solidFill>
            <a:srgbClr val="FFFFFF">
              <a:alpha val="35000"/>
            </a:srgbClr>
          </a:solidFill>
          <a:ln w="12700">
            <a:solidFill>
              <a:srgbClr val="FFFFFF"/>
            </a:solidFill>
            <a:prstDash val="solid"/>
          </a:ln>
        </p:spPr>
      </p:sp>
      <p:sp>
        <p:nvSpPr>
          <p:cNvPr id="49" name="Shape 15">
            <a:extLst>
              <a:ext uri="{FF2B5EF4-FFF2-40B4-BE49-F238E27FC236}">
                <a16:creationId xmlns:a16="http://schemas.microsoft.com/office/drawing/2014/main" id="{21F2FAC0-6909-F068-3638-C59BABBE4995}"/>
              </a:ext>
            </a:extLst>
          </p:cNvPr>
          <p:cNvSpPr/>
          <p:nvPr/>
        </p:nvSpPr>
        <p:spPr>
          <a:xfrm>
            <a:off x="10751402" y="490150"/>
            <a:ext cx="51207" cy="51207"/>
          </a:xfrm>
          <a:prstGeom prst="ellipse">
            <a:avLst/>
          </a:prstGeom>
          <a:solidFill>
            <a:srgbClr val="FFFFFF">
              <a:alpha val="35000"/>
            </a:srgbClr>
          </a:solidFill>
          <a:ln w="12700">
            <a:solidFill>
              <a:srgbClr val="FFFFFF"/>
            </a:solidFill>
            <a:prstDash val="solid"/>
          </a:ln>
        </p:spPr>
      </p:sp>
      <p:sp>
        <p:nvSpPr>
          <p:cNvPr id="50" name="Shape 16">
            <a:extLst>
              <a:ext uri="{FF2B5EF4-FFF2-40B4-BE49-F238E27FC236}">
                <a16:creationId xmlns:a16="http://schemas.microsoft.com/office/drawing/2014/main" id="{72D4CADE-CE6C-4FEE-B1E1-94A7D4E12C14}"/>
              </a:ext>
            </a:extLst>
          </p:cNvPr>
          <p:cNvSpPr/>
          <p:nvPr/>
        </p:nvSpPr>
        <p:spPr>
          <a:xfrm>
            <a:off x="10970858" y="490150"/>
            <a:ext cx="51207" cy="51207"/>
          </a:xfrm>
          <a:prstGeom prst="ellipse">
            <a:avLst/>
          </a:prstGeom>
          <a:solidFill>
            <a:srgbClr val="FFFFFF">
              <a:alpha val="35000"/>
            </a:srgbClr>
          </a:solidFill>
          <a:ln w="12700">
            <a:solidFill>
              <a:srgbClr val="FFFFFF"/>
            </a:solidFill>
            <a:prstDash val="solid"/>
          </a:ln>
        </p:spPr>
      </p:sp>
      <p:pic>
        <p:nvPicPr>
          <p:cNvPr id="51" name="Picture 50">
            <a:extLst>
              <a:ext uri="{FF2B5EF4-FFF2-40B4-BE49-F238E27FC236}">
                <a16:creationId xmlns:a16="http://schemas.microsoft.com/office/drawing/2014/main" id="{CE0CA82F-48F4-8051-F20D-EAC3F88BE98E}"/>
              </a:ext>
            </a:extLst>
          </p:cNvPr>
          <p:cNvPicPr>
            <a:picLocks noChangeAspect="1"/>
          </p:cNvPicPr>
          <p:nvPr/>
        </p:nvPicPr>
        <p:blipFill>
          <a:blip r:embed="rId4"/>
          <a:stretch>
            <a:fillRect/>
          </a:stretch>
        </p:blipFill>
        <p:spPr>
          <a:xfrm>
            <a:off x="-416471" y="-268886"/>
            <a:ext cx="1776568" cy="1245981"/>
          </a:xfrm>
          <a:prstGeom prst="rect">
            <a:avLst/>
          </a:prstGeom>
        </p:spPr>
      </p:pic>
      <p:sp>
        <p:nvSpPr>
          <p:cNvPr id="32" name="Text 1">
            <a:extLst>
              <a:ext uri="{FF2B5EF4-FFF2-40B4-BE49-F238E27FC236}">
                <a16:creationId xmlns:a16="http://schemas.microsoft.com/office/drawing/2014/main" id="{EE5BFFFB-DDA4-6DC5-5F83-9FF2A9CF556B}"/>
              </a:ext>
            </a:extLst>
          </p:cNvPr>
          <p:cNvSpPr/>
          <p:nvPr/>
        </p:nvSpPr>
        <p:spPr>
          <a:xfrm>
            <a:off x="1306337" y="-123780"/>
            <a:ext cx="10972800" cy="731520"/>
          </a:xfrm>
          <a:prstGeom prst="rect">
            <a:avLst/>
          </a:prstGeom>
          <a:noFill/>
          <a:ln/>
        </p:spPr>
        <p:txBody>
          <a:bodyPr wrap="square" lIns="0" tIns="0" rIns="0" bIns="0" rtlCol="0" anchor="ctr"/>
          <a:lstStyle/>
          <a:p>
            <a:pPr>
              <a:lnSpc>
                <a:spcPct val="150000"/>
              </a:lnSpc>
              <a:spcAft>
                <a:spcPts val="600"/>
              </a:spcAft>
            </a:pPr>
            <a:r>
              <a:rPr lang="en-GB" sz="3200" b="1" dirty="0">
                <a:solidFill>
                  <a:schemeClr val="bg1"/>
                </a:solidFill>
              </a:rPr>
              <a:t>REAL DATA EKF CASE STUDY</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7" name="Image 0" descr="preencoded.png">
            <a:extLst>
              <a:ext uri="{FF2B5EF4-FFF2-40B4-BE49-F238E27FC236}">
                <a16:creationId xmlns:a16="http://schemas.microsoft.com/office/drawing/2014/main" id="{518D2C41-31F9-7005-A414-D7B832DE7073}"/>
              </a:ext>
            </a:extLst>
          </p:cNvPr>
          <p:cNvPicPr>
            <a:picLocks noChangeAspect="1"/>
          </p:cNvPicPr>
          <p:nvPr/>
        </p:nvPicPr>
        <p:blipFill>
          <a:blip r:embed="rId3"/>
          <a:stretch>
            <a:fillRect/>
          </a:stretch>
        </p:blipFill>
        <p:spPr>
          <a:xfrm>
            <a:off x="0" y="0"/>
            <a:ext cx="12192000" cy="6858000"/>
          </a:xfrm>
          <a:prstGeom prst="rect">
            <a:avLst/>
          </a:prstGeom>
        </p:spPr>
      </p:pic>
      <p:sp>
        <p:nvSpPr>
          <p:cNvPr id="4" name="Shape 2"/>
          <p:cNvSpPr/>
          <p:nvPr/>
        </p:nvSpPr>
        <p:spPr>
          <a:xfrm>
            <a:off x="548640" y="1280160"/>
            <a:ext cx="5608320" cy="1158240"/>
          </a:xfrm>
          <a:prstGeom prst="rect">
            <a:avLst/>
          </a:prstGeom>
          <a:solidFill>
            <a:srgbClr val="FFFFFF"/>
          </a:solidFill>
          <a:ln w="12700">
            <a:solidFill>
              <a:srgbClr val="DDE3ED"/>
            </a:solidFill>
            <a:prstDash val="solid"/>
          </a:ln>
          <a:effectLst>
            <a:outerShdw blurRad="101600" dist="25400" dir="8100000" algn="bl" rotWithShape="0">
              <a:srgbClr val="000000">
                <a:alpha val="8000"/>
              </a:srgbClr>
            </a:outerShdw>
          </a:effectLst>
        </p:spPr>
      </p:sp>
      <p:sp>
        <p:nvSpPr>
          <p:cNvPr id="5" name="Shape 3"/>
          <p:cNvSpPr/>
          <p:nvPr/>
        </p:nvSpPr>
        <p:spPr>
          <a:xfrm>
            <a:off x="548640" y="1280160"/>
            <a:ext cx="670560" cy="1158240"/>
          </a:xfrm>
          <a:prstGeom prst="rect">
            <a:avLst/>
          </a:prstGeom>
          <a:solidFill>
            <a:srgbClr val="0A1F44"/>
          </a:solidFill>
          <a:ln w="12700">
            <a:solidFill>
              <a:srgbClr val="0A1F44"/>
            </a:solidFill>
            <a:prstDash val="solid"/>
          </a:ln>
        </p:spPr>
      </p:sp>
      <p:sp>
        <p:nvSpPr>
          <p:cNvPr id="6" name="Text 4"/>
          <p:cNvSpPr/>
          <p:nvPr/>
        </p:nvSpPr>
        <p:spPr>
          <a:xfrm>
            <a:off x="548640" y="1645920"/>
            <a:ext cx="670560" cy="426720"/>
          </a:xfrm>
          <a:prstGeom prst="rect">
            <a:avLst/>
          </a:prstGeom>
          <a:noFill/>
          <a:ln/>
        </p:spPr>
        <p:txBody>
          <a:bodyPr wrap="square" lIns="0" tIns="0" rIns="0" bIns="0" rtlCol="0" anchor="ctr"/>
          <a:lstStyle/>
          <a:p>
            <a:pPr algn="ctr"/>
            <a:r>
              <a:rPr lang="en-US" sz="1733" b="1" dirty="0">
                <a:solidFill>
                  <a:srgbClr val="FFFFFF"/>
                </a:solidFill>
                <a:latin typeface="Calibri" pitchFamily="34" charset="0"/>
                <a:ea typeface="Calibri" pitchFamily="34" charset="-122"/>
                <a:cs typeface="Calibri" pitchFamily="34" charset="-120"/>
              </a:rPr>
              <a:t>E1</a:t>
            </a:r>
            <a:endParaRPr lang="en-US" sz="1733" dirty="0"/>
          </a:p>
        </p:txBody>
      </p:sp>
      <p:sp>
        <p:nvSpPr>
          <p:cNvPr id="7" name="Text 5"/>
          <p:cNvSpPr/>
          <p:nvPr/>
        </p:nvSpPr>
        <p:spPr>
          <a:xfrm>
            <a:off x="1341120" y="1353312"/>
            <a:ext cx="4693920" cy="341376"/>
          </a:xfrm>
          <a:prstGeom prst="rect">
            <a:avLst/>
          </a:prstGeom>
          <a:noFill/>
          <a:ln/>
        </p:spPr>
        <p:txBody>
          <a:bodyPr wrap="square" lIns="0" tIns="0" rIns="0" bIns="0" rtlCol="0" anchor="ctr"/>
          <a:lstStyle/>
          <a:p>
            <a:r>
              <a:rPr lang="en-US" sz="1467" b="1" dirty="0">
                <a:solidFill>
                  <a:srgbClr val="0A1F44"/>
                </a:solidFill>
                <a:latin typeface="Calibri" pitchFamily="34" charset="0"/>
                <a:ea typeface="Calibri" pitchFamily="34" charset="-122"/>
                <a:cs typeface="Calibri" pitchFamily="34" charset="-120"/>
              </a:rPr>
              <a:t>Temporal Shuffle Test</a:t>
            </a:r>
            <a:endParaRPr lang="en-US" sz="1467" dirty="0"/>
          </a:p>
        </p:txBody>
      </p:sp>
      <p:sp>
        <p:nvSpPr>
          <p:cNvPr id="8" name="Text 6"/>
          <p:cNvSpPr/>
          <p:nvPr/>
        </p:nvSpPr>
        <p:spPr>
          <a:xfrm>
            <a:off x="1341120" y="1719072"/>
            <a:ext cx="4693920" cy="633984"/>
          </a:xfrm>
          <a:prstGeom prst="rect">
            <a:avLst/>
          </a:prstGeom>
          <a:noFill/>
          <a:ln/>
        </p:spPr>
        <p:txBody>
          <a:bodyPr wrap="square" rtlCol="0" anchor="ctr"/>
          <a:lstStyle/>
          <a:p>
            <a:r>
              <a:rPr lang="en-US" sz="1333" dirty="0">
                <a:solidFill>
                  <a:srgbClr val="8493A8"/>
                </a:solidFill>
                <a:latin typeface="Calibri" pitchFamily="34" charset="0"/>
                <a:ea typeface="Calibri" pitchFamily="34" charset="-122"/>
                <a:cs typeface="Calibri" pitchFamily="34" charset="-120"/>
              </a:rPr>
              <a:t>Shuffling timesteps drops F1 by ~3.2% — temporal order contributes, but the dominant advantage is representation.</a:t>
            </a:r>
            <a:endParaRPr lang="en-US" sz="1333" dirty="0"/>
          </a:p>
        </p:txBody>
      </p:sp>
      <p:sp>
        <p:nvSpPr>
          <p:cNvPr id="9" name="Shape 7"/>
          <p:cNvSpPr/>
          <p:nvPr/>
        </p:nvSpPr>
        <p:spPr>
          <a:xfrm>
            <a:off x="548640" y="2596896"/>
            <a:ext cx="5608320" cy="1158240"/>
          </a:xfrm>
          <a:prstGeom prst="rect">
            <a:avLst/>
          </a:prstGeom>
          <a:solidFill>
            <a:srgbClr val="FFFFFF"/>
          </a:solidFill>
          <a:ln w="12700">
            <a:solidFill>
              <a:srgbClr val="DDE3ED"/>
            </a:solidFill>
            <a:prstDash val="solid"/>
          </a:ln>
          <a:effectLst>
            <a:outerShdw blurRad="101600" dist="25400" dir="8100000" algn="bl" rotWithShape="0">
              <a:srgbClr val="000000">
                <a:alpha val="8000"/>
              </a:srgbClr>
            </a:outerShdw>
          </a:effectLst>
        </p:spPr>
      </p:sp>
      <p:sp>
        <p:nvSpPr>
          <p:cNvPr id="10" name="Shape 8"/>
          <p:cNvSpPr/>
          <p:nvPr/>
        </p:nvSpPr>
        <p:spPr>
          <a:xfrm>
            <a:off x="548640" y="2596896"/>
            <a:ext cx="670560" cy="1158240"/>
          </a:xfrm>
          <a:prstGeom prst="rect">
            <a:avLst/>
          </a:prstGeom>
          <a:solidFill>
            <a:srgbClr val="0A1F44"/>
          </a:solidFill>
          <a:ln w="12700">
            <a:solidFill>
              <a:srgbClr val="0A1F44"/>
            </a:solidFill>
            <a:prstDash val="solid"/>
          </a:ln>
        </p:spPr>
      </p:sp>
      <p:sp>
        <p:nvSpPr>
          <p:cNvPr id="11" name="Text 9"/>
          <p:cNvSpPr/>
          <p:nvPr/>
        </p:nvSpPr>
        <p:spPr>
          <a:xfrm>
            <a:off x="548640" y="2962656"/>
            <a:ext cx="670560" cy="426720"/>
          </a:xfrm>
          <a:prstGeom prst="rect">
            <a:avLst/>
          </a:prstGeom>
          <a:noFill/>
          <a:ln/>
        </p:spPr>
        <p:txBody>
          <a:bodyPr wrap="square" lIns="0" tIns="0" rIns="0" bIns="0" rtlCol="0" anchor="ctr"/>
          <a:lstStyle/>
          <a:p>
            <a:pPr algn="ctr"/>
            <a:r>
              <a:rPr lang="en-US" sz="1733" b="1" dirty="0">
                <a:solidFill>
                  <a:srgbClr val="FFFFFF"/>
                </a:solidFill>
                <a:latin typeface="Calibri" pitchFamily="34" charset="0"/>
                <a:ea typeface="Calibri" pitchFamily="34" charset="-122"/>
                <a:cs typeface="Calibri" pitchFamily="34" charset="-120"/>
              </a:rPr>
              <a:t>E2</a:t>
            </a:r>
            <a:endParaRPr lang="en-US" sz="1733" dirty="0"/>
          </a:p>
        </p:txBody>
      </p:sp>
      <p:sp>
        <p:nvSpPr>
          <p:cNvPr id="12" name="Text 10"/>
          <p:cNvSpPr/>
          <p:nvPr/>
        </p:nvSpPr>
        <p:spPr>
          <a:xfrm>
            <a:off x="1341120" y="2670048"/>
            <a:ext cx="4693920" cy="341376"/>
          </a:xfrm>
          <a:prstGeom prst="rect">
            <a:avLst/>
          </a:prstGeom>
          <a:noFill/>
          <a:ln/>
        </p:spPr>
        <p:txBody>
          <a:bodyPr wrap="square" lIns="0" tIns="0" rIns="0" bIns="0" rtlCol="0" anchor="ctr"/>
          <a:lstStyle/>
          <a:p>
            <a:r>
              <a:rPr lang="en-US" sz="1467" b="1" dirty="0">
                <a:solidFill>
                  <a:srgbClr val="0A1F44"/>
                </a:solidFill>
                <a:latin typeface="Calibri" pitchFamily="34" charset="0"/>
                <a:ea typeface="Calibri" pitchFamily="34" charset="-122"/>
                <a:cs typeface="Calibri" pitchFamily="34" charset="-120"/>
              </a:rPr>
              <a:t>Temporal Feature Ablation (RF)</a:t>
            </a:r>
            <a:endParaRPr lang="en-US" sz="1467" dirty="0"/>
          </a:p>
        </p:txBody>
      </p:sp>
      <p:sp>
        <p:nvSpPr>
          <p:cNvPr id="13" name="Text 11"/>
          <p:cNvSpPr/>
          <p:nvPr/>
        </p:nvSpPr>
        <p:spPr>
          <a:xfrm>
            <a:off x="1341120" y="3035808"/>
            <a:ext cx="4693920" cy="633984"/>
          </a:xfrm>
          <a:prstGeom prst="rect">
            <a:avLst/>
          </a:prstGeom>
          <a:noFill/>
          <a:ln/>
        </p:spPr>
        <p:txBody>
          <a:bodyPr wrap="square" rtlCol="0" anchor="ctr"/>
          <a:lstStyle/>
          <a:p>
            <a:r>
              <a:rPr lang="en-US" sz="1333" dirty="0">
                <a:solidFill>
                  <a:srgbClr val="8493A8"/>
                </a:solidFill>
                <a:latin typeface="Calibri" pitchFamily="34" charset="0"/>
                <a:ea typeface="Calibri" pitchFamily="34" charset="-122"/>
                <a:cs typeface="Calibri" pitchFamily="34" charset="-120"/>
              </a:rPr>
              <a:t>Removing temporal features reduces RF Macro-F1 by ~4.8%; confirms temporal features matter for trees too.</a:t>
            </a:r>
            <a:endParaRPr lang="en-US" sz="1333" dirty="0"/>
          </a:p>
        </p:txBody>
      </p:sp>
      <p:sp>
        <p:nvSpPr>
          <p:cNvPr id="14" name="Shape 12"/>
          <p:cNvSpPr/>
          <p:nvPr/>
        </p:nvSpPr>
        <p:spPr>
          <a:xfrm>
            <a:off x="548640" y="3913632"/>
            <a:ext cx="5608320" cy="1158240"/>
          </a:xfrm>
          <a:prstGeom prst="rect">
            <a:avLst/>
          </a:prstGeom>
          <a:solidFill>
            <a:srgbClr val="FFFFFF"/>
          </a:solidFill>
          <a:ln w="12700">
            <a:solidFill>
              <a:srgbClr val="DDE3ED"/>
            </a:solidFill>
            <a:prstDash val="solid"/>
          </a:ln>
          <a:effectLst>
            <a:outerShdw blurRad="101600" dist="25400" dir="8100000" algn="bl" rotWithShape="0">
              <a:srgbClr val="000000">
                <a:alpha val="8000"/>
              </a:srgbClr>
            </a:outerShdw>
          </a:effectLst>
        </p:spPr>
      </p:sp>
      <p:sp>
        <p:nvSpPr>
          <p:cNvPr id="15" name="Shape 13"/>
          <p:cNvSpPr/>
          <p:nvPr/>
        </p:nvSpPr>
        <p:spPr>
          <a:xfrm>
            <a:off x="548640" y="3913632"/>
            <a:ext cx="670560" cy="1158240"/>
          </a:xfrm>
          <a:prstGeom prst="rect">
            <a:avLst/>
          </a:prstGeom>
          <a:solidFill>
            <a:srgbClr val="0A1F44"/>
          </a:solidFill>
          <a:ln w="12700">
            <a:solidFill>
              <a:srgbClr val="0A1F44"/>
            </a:solidFill>
            <a:prstDash val="solid"/>
          </a:ln>
        </p:spPr>
      </p:sp>
      <p:sp>
        <p:nvSpPr>
          <p:cNvPr id="16" name="Text 14"/>
          <p:cNvSpPr/>
          <p:nvPr/>
        </p:nvSpPr>
        <p:spPr>
          <a:xfrm>
            <a:off x="548640" y="4279392"/>
            <a:ext cx="670560" cy="426720"/>
          </a:xfrm>
          <a:prstGeom prst="rect">
            <a:avLst/>
          </a:prstGeom>
          <a:noFill/>
          <a:ln/>
        </p:spPr>
        <p:txBody>
          <a:bodyPr wrap="square" lIns="0" tIns="0" rIns="0" bIns="0" rtlCol="0" anchor="ctr"/>
          <a:lstStyle/>
          <a:p>
            <a:pPr algn="ctr"/>
            <a:r>
              <a:rPr lang="en-US" sz="1733" b="1" dirty="0">
                <a:solidFill>
                  <a:srgbClr val="FFFFFF"/>
                </a:solidFill>
                <a:latin typeface="Calibri" pitchFamily="34" charset="0"/>
                <a:ea typeface="Calibri" pitchFamily="34" charset="-122"/>
                <a:cs typeface="Calibri" pitchFamily="34" charset="-120"/>
              </a:rPr>
              <a:t>E3</a:t>
            </a:r>
            <a:endParaRPr lang="en-US" sz="1733" dirty="0"/>
          </a:p>
        </p:txBody>
      </p:sp>
      <p:sp>
        <p:nvSpPr>
          <p:cNvPr id="17" name="Text 15"/>
          <p:cNvSpPr/>
          <p:nvPr/>
        </p:nvSpPr>
        <p:spPr>
          <a:xfrm>
            <a:off x="1341120" y="3986784"/>
            <a:ext cx="4693920" cy="341376"/>
          </a:xfrm>
          <a:prstGeom prst="rect">
            <a:avLst/>
          </a:prstGeom>
          <a:noFill/>
          <a:ln/>
        </p:spPr>
        <p:txBody>
          <a:bodyPr wrap="square" lIns="0" tIns="0" rIns="0" bIns="0" rtlCol="0" anchor="ctr"/>
          <a:lstStyle/>
          <a:p>
            <a:r>
              <a:rPr lang="en-US" sz="1467" b="1" dirty="0">
                <a:solidFill>
                  <a:srgbClr val="0A1F44"/>
                </a:solidFill>
                <a:latin typeface="Calibri" pitchFamily="34" charset="0"/>
                <a:ea typeface="Calibri" pitchFamily="34" charset="-122"/>
                <a:cs typeface="Calibri" pitchFamily="34" charset="-120"/>
              </a:rPr>
              <a:t>Bootstrap 95% CI (1000 iter)</a:t>
            </a:r>
            <a:endParaRPr lang="en-US" sz="1467" dirty="0"/>
          </a:p>
        </p:txBody>
      </p:sp>
      <p:sp>
        <p:nvSpPr>
          <p:cNvPr id="18" name="Text 16"/>
          <p:cNvSpPr/>
          <p:nvPr/>
        </p:nvSpPr>
        <p:spPr>
          <a:xfrm>
            <a:off x="1341120" y="4352544"/>
            <a:ext cx="4693920" cy="633984"/>
          </a:xfrm>
          <a:prstGeom prst="rect">
            <a:avLst/>
          </a:prstGeom>
          <a:noFill/>
          <a:ln/>
        </p:spPr>
        <p:txBody>
          <a:bodyPr wrap="square" rtlCol="0" anchor="ctr"/>
          <a:lstStyle/>
          <a:p>
            <a:r>
              <a:rPr lang="en-US" sz="1333" dirty="0">
                <a:solidFill>
                  <a:srgbClr val="8493A8"/>
                </a:solidFill>
                <a:latin typeface="Calibri" pitchFamily="34" charset="0"/>
                <a:ea typeface="Calibri" pitchFamily="34" charset="-122"/>
                <a:cs typeface="Calibri" pitchFamily="34" charset="-120"/>
              </a:rPr>
              <a:t>DEGRADED F1 = 0.718 [0.671, 0.762] — all claims backed by confidence intervals.</a:t>
            </a:r>
            <a:endParaRPr lang="en-US" sz="1333" dirty="0"/>
          </a:p>
        </p:txBody>
      </p:sp>
      <p:sp>
        <p:nvSpPr>
          <p:cNvPr id="19" name="Shape 17"/>
          <p:cNvSpPr/>
          <p:nvPr/>
        </p:nvSpPr>
        <p:spPr>
          <a:xfrm>
            <a:off x="548640" y="5230368"/>
            <a:ext cx="5608320" cy="1158240"/>
          </a:xfrm>
          <a:prstGeom prst="rect">
            <a:avLst/>
          </a:prstGeom>
          <a:solidFill>
            <a:srgbClr val="FFFFFF"/>
          </a:solidFill>
          <a:ln w="12700">
            <a:solidFill>
              <a:srgbClr val="DDE3ED"/>
            </a:solidFill>
            <a:prstDash val="solid"/>
          </a:ln>
          <a:effectLst>
            <a:outerShdw blurRad="101600" dist="25400" dir="8100000" algn="bl" rotWithShape="0">
              <a:srgbClr val="000000">
                <a:alpha val="8000"/>
              </a:srgbClr>
            </a:outerShdw>
          </a:effectLst>
        </p:spPr>
      </p:sp>
      <p:sp>
        <p:nvSpPr>
          <p:cNvPr id="20" name="Shape 18"/>
          <p:cNvSpPr/>
          <p:nvPr/>
        </p:nvSpPr>
        <p:spPr>
          <a:xfrm>
            <a:off x="548640" y="5230368"/>
            <a:ext cx="670560" cy="1158240"/>
          </a:xfrm>
          <a:prstGeom prst="rect">
            <a:avLst/>
          </a:prstGeom>
          <a:solidFill>
            <a:srgbClr val="0A1F44"/>
          </a:solidFill>
          <a:ln w="12700">
            <a:solidFill>
              <a:srgbClr val="0A1F44"/>
            </a:solidFill>
            <a:prstDash val="solid"/>
          </a:ln>
        </p:spPr>
      </p:sp>
      <p:sp>
        <p:nvSpPr>
          <p:cNvPr id="21" name="Text 19"/>
          <p:cNvSpPr/>
          <p:nvPr/>
        </p:nvSpPr>
        <p:spPr>
          <a:xfrm>
            <a:off x="548640" y="5596128"/>
            <a:ext cx="670560" cy="426720"/>
          </a:xfrm>
          <a:prstGeom prst="rect">
            <a:avLst/>
          </a:prstGeom>
          <a:noFill/>
          <a:ln/>
        </p:spPr>
        <p:txBody>
          <a:bodyPr wrap="square" lIns="0" tIns="0" rIns="0" bIns="0" rtlCol="0" anchor="ctr"/>
          <a:lstStyle/>
          <a:p>
            <a:pPr algn="ctr"/>
            <a:r>
              <a:rPr lang="en-US" sz="1733" b="1" dirty="0">
                <a:solidFill>
                  <a:srgbClr val="FFFFFF"/>
                </a:solidFill>
                <a:latin typeface="Calibri" pitchFamily="34" charset="0"/>
                <a:ea typeface="Calibri" pitchFamily="34" charset="-122"/>
                <a:cs typeface="Calibri" pitchFamily="34" charset="-120"/>
              </a:rPr>
              <a:t>E4</a:t>
            </a:r>
            <a:endParaRPr lang="en-US" sz="1733" dirty="0"/>
          </a:p>
        </p:txBody>
      </p:sp>
      <p:sp>
        <p:nvSpPr>
          <p:cNvPr id="22" name="Text 20"/>
          <p:cNvSpPr/>
          <p:nvPr/>
        </p:nvSpPr>
        <p:spPr>
          <a:xfrm>
            <a:off x="1341120" y="5303520"/>
            <a:ext cx="4693920" cy="341376"/>
          </a:xfrm>
          <a:prstGeom prst="rect">
            <a:avLst/>
          </a:prstGeom>
          <a:noFill/>
          <a:ln/>
        </p:spPr>
        <p:txBody>
          <a:bodyPr wrap="square" lIns="0" tIns="0" rIns="0" bIns="0" rtlCol="0" anchor="ctr"/>
          <a:lstStyle/>
          <a:p>
            <a:r>
              <a:rPr lang="en-US" sz="1467" b="1" dirty="0">
                <a:solidFill>
                  <a:srgbClr val="0A1F44"/>
                </a:solidFill>
                <a:latin typeface="Calibri" pitchFamily="34" charset="0"/>
                <a:ea typeface="Calibri" pitchFamily="34" charset="-122"/>
                <a:cs typeface="Calibri" pitchFamily="34" charset="-120"/>
              </a:rPr>
              <a:t>Inference Latency (Tesla T4)</a:t>
            </a:r>
            <a:endParaRPr lang="en-US" sz="1467" dirty="0"/>
          </a:p>
        </p:txBody>
      </p:sp>
      <p:sp>
        <p:nvSpPr>
          <p:cNvPr id="23" name="Text 21"/>
          <p:cNvSpPr/>
          <p:nvPr/>
        </p:nvSpPr>
        <p:spPr>
          <a:xfrm>
            <a:off x="1341120" y="5669280"/>
            <a:ext cx="4693920" cy="633984"/>
          </a:xfrm>
          <a:prstGeom prst="rect">
            <a:avLst/>
          </a:prstGeom>
          <a:noFill/>
          <a:ln/>
        </p:spPr>
        <p:txBody>
          <a:bodyPr wrap="square" rtlCol="0" anchor="ctr"/>
          <a:lstStyle/>
          <a:p>
            <a:r>
              <a:rPr lang="en-US" sz="1333" dirty="0">
                <a:solidFill>
                  <a:srgbClr val="8493A8"/>
                </a:solidFill>
                <a:latin typeface="Calibri" pitchFamily="34" charset="0"/>
                <a:ea typeface="Calibri" pitchFamily="34" charset="-122"/>
                <a:cs typeface="Calibri" pitchFamily="34" charset="-120"/>
              </a:rPr>
              <a:t>SENTINEL-GNSS: 0.039 ms vs 3 tree models: 0.409 ms — 10.52× speedup.</a:t>
            </a:r>
            <a:endParaRPr lang="en-US" sz="1333" dirty="0"/>
          </a:p>
        </p:txBody>
      </p:sp>
      <p:sp>
        <p:nvSpPr>
          <p:cNvPr id="24" name="Shape 22"/>
          <p:cNvSpPr/>
          <p:nvPr/>
        </p:nvSpPr>
        <p:spPr>
          <a:xfrm>
            <a:off x="6461760" y="1280160"/>
            <a:ext cx="5608320" cy="1158240"/>
          </a:xfrm>
          <a:prstGeom prst="rect">
            <a:avLst/>
          </a:prstGeom>
          <a:solidFill>
            <a:srgbClr val="FFFFFF"/>
          </a:solidFill>
          <a:ln w="12700">
            <a:solidFill>
              <a:srgbClr val="DDE3ED"/>
            </a:solidFill>
            <a:prstDash val="solid"/>
          </a:ln>
          <a:effectLst>
            <a:outerShdw blurRad="101600" dist="25400" dir="8100000" algn="bl" rotWithShape="0">
              <a:srgbClr val="000000">
                <a:alpha val="8000"/>
              </a:srgbClr>
            </a:outerShdw>
          </a:effectLst>
        </p:spPr>
      </p:sp>
      <p:sp>
        <p:nvSpPr>
          <p:cNvPr id="25" name="Shape 23"/>
          <p:cNvSpPr/>
          <p:nvPr/>
        </p:nvSpPr>
        <p:spPr>
          <a:xfrm>
            <a:off x="6461760" y="1280160"/>
            <a:ext cx="670560" cy="1158240"/>
          </a:xfrm>
          <a:prstGeom prst="rect">
            <a:avLst/>
          </a:prstGeom>
          <a:solidFill>
            <a:srgbClr val="0A1F44"/>
          </a:solidFill>
          <a:ln w="12700">
            <a:solidFill>
              <a:srgbClr val="0A1F44"/>
            </a:solidFill>
            <a:prstDash val="solid"/>
          </a:ln>
        </p:spPr>
      </p:sp>
      <p:sp>
        <p:nvSpPr>
          <p:cNvPr id="26" name="Text 24"/>
          <p:cNvSpPr/>
          <p:nvPr/>
        </p:nvSpPr>
        <p:spPr>
          <a:xfrm>
            <a:off x="6461760" y="1645920"/>
            <a:ext cx="670560" cy="426720"/>
          </a:xfrm>
          <a:prstGeom prst="rect">
            <a:avLst/>
          </a:prstGeom>
          <a:noFill/>
          <a:ln/>
        </p:spPr>
        <p:txBody>
          <a:bodyPr wrap="square" lIns="0" tIns="0" rIns="0" bIns="0" rtlCol="0" anchor="ctr"/>
          <a:lstStyle/>
          <a:p>
            <a:pPr algn="ctr"/>
            <a:r>
              <a:rPr lang="en-US" sz="1733" b="1" dirty="0">
                <a:solidFill>
                  <a:srgbClr val="FFFFFF"/>
                </a:solidFill>
                <a:latin typeface="Calibri" pitchFamily="34" charset="0"/>
                <a:ea typeface="Calibri" pitchFamily="34" charset="-122"/>
                <a:cs typeface="Calibri" pitchFamily="34" charset="-120"/>
              </a:rPr>
              <a:t>E5</a:t>
            </a:r>
            <a:endParaRPr lang="en-US" sz="1733" dirty="0"/>
          </a:p>
        </p:txBody>
      </p:sp>
      <p:sp>
        <p:nvSpPr>
          <p:cNvPr id="27" name="Text 25"/>
          <p:cNvSpPr/>
          <p:nvPr/>
        </p:nvSpPr>
        <p:spPr>
          <a:xfrm>
            <a:off x="7254240" y="1353312"/>
            <a:ext cx="4693920" cy="341376"/>
          </a:xfrm>
          <a:prstGeom prst="rect">
            <a:avLst/>
          </a:prstGeom>
          <a:noFill/>
          <a:ln/>
        </p:spPr>
        <p:txBody>
          <a:bodyPr wrap="square" lIns="0" tIns="0" rIns="0" bIns="0" rtlCol="0" anchor="ctr"/>
          <a:lstStyle/>
          <a:p>
            <a:r>
              <a:rPr lang="en-US" sz="1467" b="1" dirty="0">
                <a:solidFill>
                  <a:srgbClr val="0A1F44"/>
                </a:solidFill>
                <a:latin typeface="Calibri" pitchFamily="34" charset="0"/>
                <a:ea typeface="Calibri" pitchFamily="34" charset="-122"/>
                <a:cs typeface="Calibri" pitchFamily="34" charset="-120"/>
              </a:rPr>
              <a:t>SMOTE Distribution Analysis</a:t>
            </a:r>
            <a:endParaRPr lang="en-US" sz="1467" dirty="0"/>
          </a:p>
        </p:txBody>
      </p:sp>
      <p:sp>
        <p:nvSpPr>
          <p:cNvPr id="28" name="Text 26"/>
          <p:cNvSpPr/>
          <p:nvPr/>
        </p:nvSpPr>
        <p:spPr>
          <a:xfrm>
            <a:off x="7254240" y="1719072"/>
            <a:ext cx="4693920" cy="633984"/>
          </a:xfrm>
          <a:prstGeom prst="rect">
            <a:avLst/>
          </a:prstGeom>
          <a:noFill/>
          <a:ln/>
        </p:spPr>
        <p:txBody>
          <a:bodyPr wrap="square" rtlCol="0" anchor="ctr"/>
          <a:lstStyle/>
          <a:p>
            <a:r>
              <a:rPr lang="en-US" sz="1333" dirty="0">
                <a:solidFill>
                  <a:srgbClr val="8493A8"/>
                </a:solidFill>
                <a:latin typeface="Calibri" pitchFamily="34" charset="0"/>
                <a:ea typeface="Calibri" pitchFamily="34" charset="-122"/>
                <a:cs typeface="Calibri" pitchFamily="34" charset="-120"/>
              </a:rPr>
              <a:t>SMOTE hurts XGBoost (Δ=−0.0095); focal loss + class weights suffice for the network.</a:t>
            </a:r>
            <a:endParaRPr lang="en-US" sz="1333" dirty="0"/>
          </a:p>
        </p:txBody>
      </p:sp>
      <p:sp>
        <p:nvSpPr>
          <p:cNvPr id="29" name="Shape 27"/>
          <p:cNvSpPr/>
          <p:nvPr/>
        </p:nvSpPr>
        <p:spPr>
          <a:xfrm>
            <a:off x="6461760" y="2596896"/>
            <a:ext cx="5608320" cy="1158240"/>
          </a:xfrm>
          <a:prstGeom prst="rect">
            <a:avLst/>
          </a:prstGeom>
          <a:solidFill>
            <a:srgbClr val="EAF6EF"/>
          </a:solidFill>
          <a:ln w="19050">
            <a:solidFill>
              <a:srgbClr val="1DA462"/>
            </a:solidFill>
            <a:prstDash val="solid"/>
          </a:ln>
          <a:effectLst>
            <a:outerShdw blurRad="101600" dist="25400" dir="8100000" algn="bl" rotWithShape="0">
              <a:srgbClr val="000000">
                <a:alpha val="8000"/>
              </a:srgbClr>
            </a:outerShdw>
          </a:effectLst>
        </p:spPr>
      </p:sp>
      <p:sp>
        <p:nvSpPr>
          <p:cNvPr id="30" name="Shape 28"/>
          <p:cNvSpPr/>
          <p:nvPr/>
        </p:nvSpPr>
        <p:spPr>
          <a:xfrm>
            <a:off x="6461760" y="2596896"/>
            <a:ext cx="670560" cy="1158240"/>
          </a:xfrm>
          <a:prstGeom prst="rect">
            <a:avLst/>
          </a:prstGeom>
          <a:solidFill>
            <a:srgbClr val="1DA462"/>
          </a:solidFill>
          <a:ln w="12700">
            <a:solidFill>
              <a:srgbClr val="1DA462"/>
            </a:solidFill>
            <a:prstDash val="solid"/>
          </a:ln>
        </p:spPr>
      </p:sp>
      <p:sp>
        <p:nvSpPr>
          <p:cNvPr id="31" name="Text 29"/>
          <p:cNvSpPr/>
          <p:nvPr/>
        </p:nvSpPr>
        <p:spPr>
          <a:xfrm>
            <a:off x="6461760" y="2962656"/>
            <a:ext cx="670560" cy="426720"/>
          </a:xfrm>
          <a:prstGeom prst="rect">
            <a:avLst/>
          </a:prstGeom>
          <a:noFill/>
          <a:ln/>
        </p:spPr>
        <p:txBody>
          <a:bodyPr wrap="square" lIns="0" tIns="0" rIns="0" bIns="0" rtlCol="0" anchor="ctr"/>
          <a:lstStyle/>
          <a:p>
            <a:pPr algn="ctr"/>
            <a:r>
              <a:rPr lang="en-US" sz="1733" b="1" dirty="0">
                <a:solidFill>
                  <a:srgbClr val="FFFFFF"/>
                </a:solidFill>
                <a:latin typeface="Calibri" pitchFamily="34" charset="0"/>
                <a:ea typeface="Calibri" pitchFamily="34" charset="-122"/>
                <a:cs typeface="Calibri" pitchFamily="34" charset="-120"/>
              </a:rPr>
              <a:t>E6</a:t>
            </a:r>
            <a:endParaRPr lang="en-US" sz="1733" dirty="0"/>
          </a:p>
        </p:txBody>
      </p:sp>
      <p:sp>
        <p:nvSpPr>
          <p:cNvPr id="32" name="Text 30"/>
          <p:cNvSpPr/>
          <p:nvPr/>
        </p:nvSpPr>
        <p:spPr>
          <a:xfrm>
            <a:off x="7254240" y="2670048"/>
            <a:ext cx="4693920" cy="341376"/>
          </a:xfrm>
          <a:prstGeom prst="rect">
            <a:avLst/>
          </a:prstGeom>
          <a:noFill/>
          <a:ln/>
        </p:spPr>
        <p:txBody>
          <a:bodyPr wrap="square" lIns="0" tIns="0" rIns="0" bIns="0" rtlCol="0" anchor="ctr"/>
          <a:lstStyle/>
          <a:p>
            <a:r>
              <a:rPr lang="en-US" sz="1467" b="1" dirty="0">
                <a:solidFill>
                  <a:srgbClr val="0A1F44"/>
                </a:solidFill>
                <a:latin typeface="Calibri" pitchFamily="34" charset="0"/>
                <a:ea typeface="Calibri" pitchFamily="34" charset="-122"/>
                <a:cs typeface="Calibri" pitchFamily="34" charset="-120"/>
              </a:rPr>
              <a:t>Cross-City Tokyo Shinjuku</a:t>
            </a:r>
            <a:endParaRPr lang="en-US" sz="1467" dirty="0"/>
          </a:p>
        </p:txBody>
      </p:sp>
      <p:sp>
        <p:nvSpPr>
          <p:cNvPr id="33" name="Text 31"/>
          <p:cNvSpPr/>
          <p:nvPr/>
        </p:nvSpPr>
        <p:spPr>
          <a:xfrm>
            <a:off x="7254240" y="3035808"/>
            <a:ext cx="4693920" cy="633984"/>
          </a:xfrm>
          <a:prstGeom prst="rect">
            <a:avLst/>
          </a:prstGeom>
          <a:noFill/>
          <a:ln/>
        </p:spPr>
        <p:txBody>
          <a:bodyPr wrap="square" rtlCol="0" anchor="ctr"/>
          <a:lstStyle/>
          <a:p>
            <a:r>
              <a:rPr lang="en-US" sz="1333" dirty="0">
                <a:solidFill>
                  <a:srgbClr val="8493A8"/>
                </a:solidFill>
                <a:latin typeface="Calibri" pitchFamily="34" charset="0"/>
                <a:ea typeface="Calibri" pitchFamily="34" charset="-122"/>
                <a:cs typeface="Calibri" pitchFamily="34" charset="-120"/>
              </a:rPr>
              <a:t>XGBoost DEGRADED F1: 0.822 → 0.148 (−82%). SENTINEL-GNSS: 0.718 → 0.753 (+5%). KEY RESULT.</a:t>
            </a:r>
            <a:endParaRPr lang="en-US" sz="1333" dirty="0"/>
          </a:p>
        </p:txBody>
      </p:sp>
      <p:sp>
        <p:nvSpPr>
          <p:cNvPr id="34" name="Shape 32"/>
          <p:cNvSpPr/>
          <p:nvPr/>
        </p:nvSpPr>
        <p:spPr>
          <a:xfrm>
            <a:off x="6461760" y="3913632"/>
            <a:ext cx="5608320" cy="1158240"/>
          </a:xfrm>
          <a:prstGeom prst="rect">
            <a:avLst/>
          </a:prstGeom>
          <a:solidFill>
            <a:srgbClr val="FFFFFF"/>
          </a:solidFill>
          <a:ln w="12700">
            <a:solidFill>
              <a:srgbClr val="DDE3ED"/>
            </a:solidFill>
            <a:prstDash val="solid"/>
          </a:ln>
          <a:effectLst>
            <a:outerShdw blurRad="101600" dist="25400" dir="8100000" algn="bl" rotWithShape="0">
              <a:srgbClr val="000000">
                <a:alpha val="8000"/>
              </a:srgbClr>
            </a:outerShdw>
          </a:effectLst>
        </p:spPr>
      </p:sp>
      <p:sp>
        <p:nvSpPr>
          <p:cNvPr id="35" name="Shape 33"/>
          <p:cNvSpPr/>
          <p:nvPr/>
        </p:nvSpPr>
        <p:spPr>
          <a:xfrm>
            <a:off x="6461760" y="3913632"/>
            <a:ext cx="670560" cy="1158240"/>
          </a:xfrm>
          <a:prstGeom prst="rect">
            <a:avLst/>
          </a:prstGeom>
          <a:solidFill>
            <a:srgbClr val="0A1F44"/>
          </a:solidFill>
          <a:ln w="12700">
            <a:solidFill>
              <a:srgbClr val="0A1F44"/>
            </a:solidFill>
            <a:prstDash val="solid"/>
          </a:ln>
        </p:spPr>
      </p:sp>
      <p:sp>
        <p:nvSpPr>
          <p:cNvPr id="36" name="Text 34"/>
          <p:cNvSpPr/>
          <p:nvPr/>
        </p:nvSpPr>
        <p:spPr>
          <a:xfrm>
            <a:off x="6461760" y="4279392"/>
            <a:ext cx="670560" cy="426720"/>
          </a:xfrm>
          <a:prstGeom prst="rect">
            <a:avLst/>
          </a:prstGeom>
          <a:noFill/>
          <a:ln/>
        </p:spPr>
        <p:txBody>
          <a:bodyPr wrap="square" lIns="0" tIns="0" rIns="0" bIns="0" rtlCol="0" anchor="ctr"/>
          <a:lstStyle/>
          <a:p>
            <a:pPr algn="ctr"/>
            <a:r>
              <a:rPr lang="en-US" sz="1733" b="1" dirty="0">
                <a:solidFill>
                  <a:srgbClr val="FFFFFF"/>
                </a:solidFill>
                <a:latin typeface="Calibri" pitchFamily="34" charset="0"/>
                <a:ea typeface="Calibri" pitchFamily="34" charset="-122"/>
                <a:cs typeface="Calibri" pitchFamily="34" charset="-120"/>
              </a:rPr>
              <a:t>E7</a:t>
            </a:r>
            <a:endParaRPr lang="en-US" sz="1733" dirty="0"/>
          </a:p>
        </p:txBody>
      </p:sp>
      <p:sp>
        <p:nvSpPr>
          <p:cNvPr id="37" name="Text 35"/>
          <p:cNvSpPr/>
          <p:nvPr/>
        </p:nvSpPr>
        <p:spPr>
          <a:xfrm>
            <a:off x="7254240" y="3986784"/>
            <a:ext cx="4693920" cy="341376"/>
          </a:xfrm>
          <a:prstGeom prst="rect">
            <a:avLst/>
          </a:prstGeom>
          <a:noFill/>
          <a:ln/>
        </p:spPr>
        <p:txBody>
          <a:bodyPr wrap="square" lIns="0" tIns="0" rIns="0" bIns="0" rtlCol="0" anchor="ctr"/>
          <a:lstStyle/>
          <a:p>
            <a:r>
              <a:rPr lang="en-US" sz="1467" b="1" dirty="0">
                <a:solidFill>
                  <a:srgbClr val="0A1F44"/>
                </a:solidFill>
                <a:latin typeface="Calibri" pitchFamily="34" charset="0"/>
                <a:ea typeface="Calibri" pitchFamily="34" charset="-122"/>
                <a:cs typeface="Calibri" pitchFamily="34" charset="-120"/>
              </a:rPr>
              <a:t>Calibration ECE</a:t>
            </a:r>
            <a:endParaRPr lang="en-US" sz="1467" dirty="0"/>
          </a:p>
        </p:txBody>
      </p:sp>
      <p:sp>
        <p:nvSpPr>
          <p:cNvPr id="38" name="Text 36"/>
          <p:cNvSpPr/>
          <p:nvPr/>
        </p:nvSpPr>
        <p:spPr>
          <a:xfrm>
            <a:off x="7254240" y="4352544"/>
            <a:ext cx="4693920" cy="633984"/>
          </a:xfrm>
          <a:prstGeom prst="rect">
            <a:avLst/>
          </a:prstGeom>
          <a:noFill/>
          <a:ln/>
        </p:spPr>
        <p:txBody>
          <a:bodyPr wrap="square" rtlCol="0" anchor="ctr"/>
          <a:lstStyle/>
          <a:p>
            <a:r>
              <a:rPr lang="en-US" sz="1333" dirty="0">
                <a:solidFill>
                  <a:srgbClr val="8493A8"/>
                </a:solidFill>
                <a:latin typeface="Calibri" pitchFamily="34" charset="0"/>
                <a:ea typeface="Calibri" pitchFamily="34" charset="-122"/>
                <a:cs typeface="Calibri" pitchFamily="34" charset="-120"/>
              </a:rPr>
              <a:t>ECE 0.114 → 0.068 after T-scaling. ⚠️ Re-run in progress with T=0.4023 hard-set.</a:t>
            </a:r>
            <a:endParaRPr lang="en-US" sz="1333" dirty="0"/>
          </a:p>
        </p:txBody>
      </p:sp>
      <p:sp>
        <p:nvSpPr>
          <p:cNvPr id="39" name="Shape 0">
            <a:extLst>
              <a:ext uri="{FF2B5EF4-FFF2-40B4-BE49-F238E27FC236}">
                <a16:creationId xmlns:a16="http://schemas.microsoft.com/office/drawing/2014/main" id="{6ED9DCFA-D1A8-421F-47A0-DD654DEE918B}"/>
              </a:ext>
            </a:extLst>
          </p:cNvPr>
          <p:cNvSpPr/>
          <p:nvPr/>
        </p:nvSpPr>
        <p:spPr>
          <a:xfrm>
            <a:off x="0" y="-23466"/>
            <a:ext cx="12192000" cy="740408"/>
          </a:xfrm>
          <a:prstGeom prst="rect">
            <a:avLst/>
          </a:prstGeom>
          <a:solidFill>
            <a:srgbClr val="003893"/>
          </a:solidFill>
          <a:ln w="12700">
            <a:solidFill>
              <a:srgbClr val="003893"/>
            </a:solidFill>
            <a:prstDash val="solid"/>
          </a:ln>
        </p:spPr>
      </p:sp>
      <p:sp>
        <p:nvSpPr>
          <p:cNvPr id="40" name="Shape 1">
            <a:extLst>
              <a:ext uri="{FF2B5EF4-FFF2-40B4-BE49-F238E27FC236}">
                <a16:creationId xmlns:a16="http://schemas.microsoft.com/office/drawing/2014/main" id="{8BF7E44F-C7F4-ADC6-FB40-746C6430AE24}"/>
              </a:ext>
            </a:extLst>
          </p:cNvPr>
          <p:cNvSpPr/>
          <p:nvPr/>
        </p:nvSpPr>
        <p:spPr>
          <a:xfrm>
            <a:off x="0" y="702347"/>
            <a:ext cx="12192000" cy="36576"/>
          </a:xfrm>
          <a:prstGeom prst="rect">
            <a:avLst/>
          </a:prstGeom>
          <a:solidFill>
            <a:srgbClr val="4FC3F7"/>
          </a:solidFill>
          <a:ln w="12700">
            <a:solidFill>
              <a:srgbClr val="4FC3F7"/>
            </a:solidFill>
            <a:prstDash val="solid"/>
          </a:ln>
        </p:spPr>
      </p:sp>
      <p:sp>
        <p:nvSpPr>
          <p:cNvPr id="41" name="Shape 2">
            <a:extLst>
              <a:ext uri="{FF2B5EF4-FFF2-40B4-BE49-F238E27FC236}">
                <a16:creationId xmlns:a16="http://schemas.microsoft.com/office/drawing/2014/main" id="{473FCB80-9B4B-DD44-4132-81268ECC1F06}"/>
              </a:ext>
            </a:extLst>
          </p:cNvPr>
          <p:cNvSpPr/>
          <p:nvPr/>
        </p:nvSpPr>
        <p:spPr>
          <a:xfrm>
            <a:off x="0" y="6646862"/>
            <a:ext cx="12192000" cy="211137"/>
          </a:xfrm>
          <a:prstGeom prst="rect">
            <a:avLst/>
          </a:prstGeom>
          <a:solidFill>
            <a:srgbClr val="003893"/>
          </a:solidFill>
          <a:ln w="12700">
            <a:solidFill>
              <a:srgbClr val="003893"/>
            </a:solidFill>
            <a:prstDash val="solid"/>
          </a:ln>
        </p:spPr>
      </p:sp>
      <p:sp>
        <p:nvSpPr>
          <p:cNvPr id="42" name="Shape 3">
            <a:extLst>
              <a:ext uri="{FF2B5EF4-FFF2-40B4-BE49-F238E27FC236}">
                <a16:creationId xmlns:a16="http://schemas.microsoft.com/office/drawing/2014/main" id="{E5A4884E-E622-B372-3459-1D6C3CA9A44B}"/>
              </a:ext>
            </a:extLst>
          </p:cNvPr>
          <p:cNvSpPr/>
          <p:nvPr/>
        </p:nvSpPr>
        <p:spPr>
          <a:xfrm>
            <a:off x="0" y="6623677"/>
            <a:ext cx="12192000" cy="30480"/>
          </a:xfrm>
          <a:prstGeom prst="rect">
            <a:avLst/>
          </a:prstGeom>
          <a:solidFill>
            <a:srgbClr val="4FC3F7"/>
          </a:solidFill>
          <a:ln w="12700">
            <a:solidFill>
              <a:srgbClr val="4FC3F7"/>
            </a:solidFill>
            <a:prstDash val="solid"/>
          </a:ln>
        </p:spPr>
      </p:sp>
      <p:sp>
        <p:nvSpPr>
          <p:cNvPr id="43" name="Shape 4">
            <a:extLst>
              <a:ext uri="{FF2B5EF4-FFF2-40B4-BE49-F238E27FC236}">
                <a16:creationId xmlns:a16="http://schemas.microsoft.com/office/drawing/2014/main" id="{38022CA2-4EF1-4F95-72D7-49CAFFD5AE2C}"/>
              </a:ext>
            </a:extLst>
          </p:cNvPr>
          <p:cNvSpPr/>
          <p:nvPr/>
        </p:nvSpPr>
        <p:spPr>
          <a:xfrm>
            <a:off x="0" y="-24618"/>
            <a:ext cx="1128763" cy="767311"/>
          </a:xfrm>
          <a:prstGeom prst="homePlate">
            <a:avLst/>
          </a:prstGeom>
          <a:solidFill>
            <a:srgbClr val="FFFFFF"/>
          </a:solidFill>
          <a:ln w="6350">
            <a:solidFill>
              <a:srgbClr val="CCCCCC"/>
            </a:solidFill>
            <a:prstDash val="solid"/>
          </a:ln>
        </p:spPr>
      </p:sp>
      <p:sp>
        <p:nvSpPr>
          <p:cNvPr id="44" name="Shape 5">
            <a:extLst>
              <a:ext uri="{FF2B5EF4-FFF2-40B4-BE49-F238E27FC236}">
                <a16:creationId xmlns:a16="http://schemas.microsoft.com/office/drawing/2014/main" id="{5A496D73-3C67-E645-F246-9389248B5994}"/>
              </a:ext>
            </a:extLst>
          </p:cNvPr>
          <p:cNvSpPr/>
          <p:nvPr/>
        </p:nvSpPr>
        <p:spPr>
          <a:xfrm>
            <a:off x="10728961" y="121921"/>
            <a:ext cx="51207" cy="51207"/>
          </a:xfrm>
          <a:prstGeom prst="ellipse">
            <a:avLst/>
          </a:prstGeom>
          <a:solidFill>
            <a:srgbClr val="FFFFFF">
              <a:alpha val="35000"/>
            </a:srgbClr>
          </a:solidFill>
          <a:ln w="12700">
            <a:solidFill>
              <a:srgbClr val="FFFFFF"/>
            </a:solidFill>
            <a:prstDash val="solid"/>
          </a:ln>
        </p:spPr>
      </p:sp>
      <p:sp>
        <p:nvSpPr>
          <p:cNvPr id="45" name="Shape 6">
            <a:extLst>
              <a:ext uri="{FF2B5EF4-FFF2-40B4-BE49-F238E27FC236}">
                <a16:creationId xmlns:a16="http://schemas.microsoft.com/office/drawing/2014/main" id="{4290D3D7-A6B2-6B7D-F588-44475412554C}"/>
              </a:ext>
            </a:extLst>
          </p:cNvPr>
          <p:cNvSpPr/>
          <p:nvPr/>
        </p:nvSpPr>
        <p:spPr>
          <a:xfrm>
            <a:off x="10948417" y="121921"/>
            <a:ext cx="51207" cy="51207"/>
          </a:xfrm>
          <a:prstGeom prst="ellipse">
            <a:avLst/>
          </a:prstGeom>
          <a:solidFill>
            <a:srgbClr val="FFFFFF">
              <a:alpha val="35000"/>
            </a:srgbClr>
          </a:solidFill>
          <a:ln w="12700">
            <a:solidFill>
              <a:srgbClr val="FFFFFF"/>
            </a:solidFill>
            <a:prstDash val="solid"/>
          </a:ln>
        </p:spPr>
      </p:sp>
      <p:sp>
        <p:nvSpPr>
          <p:cNvPr id="46" name="Shape 7">
            <a:extLst>
              <a:ext uri="{FF2B5EF4-FFF2-40B4-BE49-F238E27FC236}">
                <a16:creationId xmlns:a16="http://schemas.microsoft.com/office/drawing/2014/main" id="{1278521D-5415-AFC4-58B9-17CB20957877}"/>
              </a:ext>
            </a:extLst>
          </p:cNvPr>
          <p:cNvSpPr/>
          <p:nvPr/>
        </p:nvSpPr>
        <p:spPr>
          <a:xfrm>
            <a:off x="11167873" y="121921"/>
            <a:ext cx="51207" cy="51207"/>
          </a:xfrm>
          <a:prstGeom prst="ellipse">
            <a:avLst/>
          </a:prstGeom>
          <a:solidFill>
            <a:srgbClr val="FFFFFF">
              <a:alpha val="35000"/>
            </a:srgbClr>
          </a:solidFill>
          <a:ln w="12700">
            <a:solidFill>
              <a:srgbClr val="FFFFFF"/>
            </a:solidFill>
            <a:prstDash val="solid"/>
          </a:ln>
        </p:spPr>
      </p:sp>
      <p:sp>
        <p:nvSpPr>
          <p:cNvPr id="47" name="Shape 8">
            <a:extLst>
              <a:ext uri="{FF2B5EF4-FFF2-40B4-BE49-F238E27FC236}">
                <a16:creationId xmlns:a16="http://schemas.microsoft.com/office/drawing/2014/main" id="{40B60ADB-32A6-604D-980B-42DA195685A9}"/>
              </a:ext>
            </a:extLst>
          </p:cNvPr>
          <p:cNvSpPr/>
          <p:nvPr/>
        </p:nvSpPr>
        <p:spPr>
          <a:xfrm>
            <a:off x="11387329" y="121921"/>
            <a:ext cx="51207" cy="51207"/>
          </a:xfrm>
          <a:prstGeom prst="ellipse">
            <a:avLst/>
          </a:prstGeom>
          <a:solidFill>
            <a:srgbClr val="FFFFFF">
              <a:alpha val="35000"/>
            </a:srgbClr>
          </a:solidFill>
          <a:ln w="12700">
            <a:solidFill>
              <a:srgbClr val="FFFFFF"/>
            </a:solidFill>
            <a:prstDash val="solid"/>
          </a:ln>
        </p:spPr>
      </p:sp>
      <p:sp>
        <p:nvSpPr>
          <p:cNvPr id="48" name="Shape 9">
            <a:extLst>
              <a:ext uri="{FF2B5EF4-FFF2-40B4-BE49-F238E27FC236}">
                <a16:creationId xmlns:a16="http://schemas.microsoft.com/office/drawing/2014/main" id="{2F48F2D7-8B8C-F902-25DC-1E0167BDEB7F}"/>
              </a:ext>
            </a:extLst>
          </p:cNvPr>
          <p:cNvSpPr/>
          <p:nvPr/>
        </p:nvSpPr>
        <p:spPr>
          <a:xfrm>
            <a:off x="10728961" y="292609"/>
            <a:ext cx="51207" cy="51207"/>
          </a:xfrm>
          <a:prstGeom prst="ellipse">
            <a:avLst/>
          </a:prstGeom>
          <a:solidFill>
            <a:srgbClr val="FFFFFF">
              <a:alpha val="35000"/>
            </a:srgbClr>
          </a:solidFill>
          <a:ln w="12700">
            <a:solidFill>
              <a:srgbClr val="FFFFFF"/>
            </a:solidFill>
            <a:prstDash val="solid"/>
          </a:ln>
        </p:spPr>
      </p:sp>
      <p:sp>
        <p:nvSpPr>
          <p:cNvPr id="49" name="Shape 10">
            <a:extLst>
              <a:ext uri="{FF2B5EF4-FFF2-40B4-BE49-F238E27FC236}">
                <a16:creationId xmlns:a16="http://schemas.microsoft.com/office/drawing/2014/main" id="{17872DB7-F0ED-798C-7E0C-434619A6A8BB}"/>
              </a:ext>
            </a:extLst>
          </p:cNvPr>
          <p:cNvSpPr/>
          <p:nvPr/>
        </p:nvSpPr>
        <p:spPr>
          <a:xfrm>
            <a:off x="10948417" y="292609"/>
            <a:ext cx="51207" cy="51207"/>
          </a:xfrm>
          <a:prstGeom prst="ellipse">
            <a:avLst/>
          </a:prstGeom>
          <a:solidFill>
            <a:srgbClr val="FFFFFF">
              <a:alpha val="35000"/>
            </a:srgbClr>
          </a:solidFill>
          <a:ln w="12700">
            <a:solidFill>
              <a:srgbClr val="FFFFFF"/>
            </a:solidFill>
            <a:prstDash val="solid"/>
          </a:ln>
        </p:spPr>
      </p:sp>
      <p:sp>
        <p:nvSpPr>
          <p:cNvPr id="50" name="Shape 11">
            <a:extLst>
              <a:ext uri="{FF2B5EF4-FFF2-40B4-BE49-F238E27FC236}">
                <a16:creationId xmlns:a16="http://schemas.microsoft.com/office/drawing/2014/main" id="{24AAFA45-4696-F827-FE78-7313D05656AE}"/>
              </a:ext>
            </a:extLst>
          </p:cNvPr>
          <p:cNvSpPr/>
          <p:nvPr/>
        </p:nvSpPr>
        <p:spPr>
          <a:xfrm>
            <a:off x="11167873" y="292609"/>
            <a:ext cx="51207" cy="51207"/>
          </a:xfrm>
          <a:prstGeom prst="ellipse">
            <a:avLst/>
          </a:prstGeom>
          <a:solidFill>
            <a:srgbClr val="FFFFFF">
              <a:alpha val="35000"/>
            </a:srgbClr>
          </a:solidFill>
          <a:ln w="12700">
            <a:solidFill>
              <a:srgbClr val="FFFFFF"/>
            </a:solidFill>
            <a:prstDash val="solid"/>
          </a:ln>
        </p:spPr>
      </p:sp>
      <p:sp>
        <p:nvSpPr>
          <p:cNvPr id="51" name="Shape 12">
            <a:extLst>
              <a:ext uri="{FF2B5EF4-FFF2-40B4-BE49-F238E27FC236}">
                <a16:creationId xmlns:a16="http://schemas.microsoft.com/office/drawing/2014/main" id="{EB4D8B6E-C30A-7674-C432-900F4746292A}"/>
              </a:ext>
            </a:extLst>
          </p:cNvPr>
          <p:cNvSpPr/>
          <p:nvPr/>
        </p:nvSpPr>
        <p:spPr>
          <a:xfrm>
            <a:off x="11387329" y="292609"/>
            <a:ext cx="51207" cy="51207"/>
          </a:xfrm>
          <a:prstGeom prst="ellipse">
            <a:avLst/>
          </a:prstGeom>
          <a:solidFill>
            <a:srgbClr val="FFFFFF">
              <a:alpha val="35000"/>
            </a:srgbClr>
          </a:solidFill>
          <a:ln w="12700">
            <a:solidFill>
              <a:srgbClr val="FFFFFF"/>
            </a:solidFill>
            <a:prstDash val="solid"/>
          </a:ln>
        </p:spPr>
      </p:sp>
      <p:sp>
        <p:nvSpPr>
          <p:cNvPr id="52" name="Shape 13">
            <a:extLst>
              <a:ext uri="{FF2B5EF4-FFF2-40B4-BE49-F238E27FC236}">
                <a16:creationId xmlns:a16="http://schemas.microsoft.com/office/drawing/2014/main" id="{C5857CC7-D0BD-CE8A-C9E8-ABC13731D6C2}"/>
              </a:ext>
            </a:extLst>
          </p:cNvPr>
          <p:cNvSpPr/>
          <p:nvPr/>
        </p:nvSpPr>
        <p:spPr>
          <a:xfrm>
            <a:off x="10728961" y="463297"/>
            <a:ext cx="51207" cy="51207"/>
          </a:xfrm>
          <a:prstGeom prst="ellipse">
            <a:avLst/>
          </a:prstGeom>
          <a:solidFill>
            <a:srgbClr val="FFFFFF">
              <a:alpha val="35000"/>
            </a:srgbClr>
          </a:solidFill>
          <a:ln w="12700">
            <a:solidFill>
              <a:srgbClr val="FFFFFF"/>
            </a:solidFill>
            <a:prstDash val="solid"/>
          </a:ln>
        </p:spPr>
      </p:sp>
      <p:sp>
        <p:nvSpPr>
          <p:cNvPr id="53" name="Shape 14">
            <a:extLst>
              <a:ext uri="{FF2B5EF4-FFF2-40B4-BE49-F238E27FC236}">
                <a16:creationId xmlns:a16="http://schemas.microsoft.com/office/drawing/2014/main" id="{1F007077-407E-D61A-4236-F1A6C882AD57}"/>
              </a:ext>
            </a:extLst>
          </p:cNvPr>
          <p:cNvSpPr/>
          <p:nvPr/>
        </p:nvSpPr>
        <p:spPr>
          <a:xfrm>
            <a:off x="10948417" y="463297"/>
            <a:ext cx="51207" cy="51207"/>
          </a:xfrm>
          <a:prstGeom prst="ellipse">
            <a:avLst/>
          </a:prstGeom>
          <a:solidFill>
            <a:srgbClr val="FFFFFF">
              <a:alpha val="35000"/>
            </a:srgbClr>
          </a:solidFill>
          <a:ln w="12700">
            <a:solidFill>
              <a:srgbClr val="FFFFFF"/>
            </a:solidFill>
            <a:prstDash val="solid"/>
          </a:ln>
        </p:spPr>
      </p:sp>
      <p:sp>
        <p:nvSpPr>
          <p:cNvPr id="54" name="Shape 15">
            <a:extLst>
              <a:ext uri="{FF2B5EF4-FFF2-40B4-BE49-F238E27FC236}">
                <a16:creationId xmlns:a16="http://schemas.microsoft.com/office/drawing/2014/main" id="{42563D4D-6F2C-1BA0-1A4C-CC1AE91BA51C}"/>
              </a:ext>
            </a:extLst>
          </p:cNvPr>
          <p:cNvSpPr/>
          <p:nvPr/>
        </p:nvSpPr>
        <p:spPr>
          <a:xfrm>
            <a:off x="11167873" y="463297"/>
            <a:ext cx="51207" cy="51207"/>
          </a:xfrm>
          <a:prstGeom prst="ellipse">
            <a:avLst/>
          </a:prstGeom>
          <a:solidFill>
            <a:srgbClr val="FFFFFF">
              <a:alpha val="35000"/>
            </a:srgbClr>
          </a:solidFill>
          <a:ln w="12700">
            <a:solidFill>
              <a:srgbClr val="FFFFFF"/>
            </a:solidFill>
            <a:prstDash val="solid"/>
          </a:ln>
        </p:spPr>
      </p:sp>
      <p:sp>
        <p:nvSpPr>
          <p:cNvPr id="55" name="Shape 16">
            <a:extLst>
              <a:ext uri="{FF2B5EF4-FFF2-40B4-BE49-F238E27FC236}">
                <a16:creationId xmlns:a16="http://schemas.microsoft.com/office/drawing/2014/main" id="{E5063159-C588-71DD-3E0A-C0853998A834}"/>
              </a:ext>
            </a:extLst>
          </p:cNvPr>
          <p:cNvSpPr/>
          <p:nvPr/>
        </p:nvSpPr>
        <p:spPr>
          <a:xfrm>
            <a:off x="11387329" y="463297"/>
            <a:ext cx="51207" cy="51207"/>
          </a:xfrm>
          <a:prstGeom prst="ellipse">
            <a:avLst/>
          </a:prstGeom>
          <a:solidFill>
            <a:srgbClr val="FFFFFF">
              <a:alpha val="35000"/>
            </a:srgbClr>
          </a:solidFill>
          <a:ln w="12700">
            <a:solidFill>
              <a:srgbClr val="FFFFFF"/>
            </a:solidFill>
            <a:prstDash val="solid"/>
          </a:ln>
        </p:spPr>
      </p:sp>
      <p:pic>
        <p:nvPicPr>
          <p:cNvPr id="56" name="Picture 55">
            <a:extLst>
              <a:ext uri="{FF2B5EF4-FFF2-40B4-BE49-F238E27FC236}">
                <a16:creationId xmlns:a16="http://schemas.microsoft.com/office/drawing/2014/main" id="{C55D6DED-8B7A-13C2-3458-477511E7D74A}"/>
              </a:ext>
            </a:extLst>
          </p:cNvPr>
          <p:cNvPicPr>
            <a:picLocks noChangeAspect="1"/>
          </p:cNvPicPr>
          <p:nvPr/>
        </p:nvPicPr>
        <p:blipFill>
          <a:blip r:embed="rId4"/>
          <a:stretch>
            <a:fillRect/>
          </a:stretch>
        </p:blipFill>
        <p:spPr>
          <a:xfrm>
            <a:off x="-453212" y="-263954"/>
            <a:ext cx="1776568" cy="1245981"/>
          </a:xfrm>
          <a:prstGeom prst="rect">
            <a:avLst/>
          </a:prstGeom>
        </p:spPr>
      </p:pic>
      <p:sp>
        <p:nvSpPr>
          <p:cNvPr id="58" name="Text 1">
            <a:extLst>
              <a:ext uri="{FF2B5EF4-FFF2-40B4-BE49-F238E27FC236}">
                <a16:creationId xmlns:a16="http://schemas.microsoft.com/office/drawing/2014/main" id="{871BA907-4136-7D9A-C10D-586EFB7FC499}"/>
              </a:ext>
            </a:extLst>
          </p:cNvPr>
          <p:cNvSpPr/>
          <p:nvPr/>
        </p:nvSpPr>
        <p:spPr>
          <a:xfrm>
            <a:off x="1219200" y="-32593"/>
            <a:ext cx="10972800" cy="731520"/>
          </a:xfrm>
          <a:prstGeom prst="rect">
            <a:avLst/>
          </a:prstGeom>
          <a:noFill/>
          <a:ln/>
        </p:spPr>
        <p:txBody>
          <a:bodyPr wrap="square" lIns="0" tIns="0" rIns="0" bIns="0" rtlCol="0" anchor="ctr"/>
          <a:lstStyle/>
          <a:p>
            <a:r>
              <a:rPr lang="en-US" sz="3200" b="1" dirty="0">
                <a:solidFill>
                  <a:schemeClr val="bg1"/>
                </a:solidFill>
                <a:latin typeface="Calibri" pitchFamily="34" charset="0"/>
                <a:ea typeface="Calibri" pitchFamily="34" charset="-122"/>
                <a:cs typeface="Calibri" pitchFamily="34" charset="-120"/>
              </a:rPr>
              <a:t>VALIDATION</a:t>
            </a:r>
            <a:endParaRPr lang="en-US" sz="3200" dirty="0">
              <a:solidFill>
                <a:schemeClr val="bg1"/>
              </a:solidFill>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rgbClr val="003366"/>
        </a:solidFill>
        <a:effectLst/>
      </p:bgPr>
    </p:bg>
    <p:spTree>
      <p:nvGrpSpPr>
        <p:cNvPr id="1" name="">
          <a:extLst>
            <a:ext uri="{FF2B5EF4-FFF2-40B4-BE49-F238E27FC236}">
              <a16:creationId xmlns:a16="http://schemas.microsoft.com/office/drawing/2014/main" id="{F19AD616-B625-CC08-A7D1-C808E980DF4E}"/>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7F661AA7-E12C-5C40-0C7C-652658737F29}"/>
              </a:ext>
            </a:extLst>
          </p:cNvPr>
          <p:cNvSpPr txBox="1"/>
          <p:nvPr/>
        </p:nvSpPr>
        <p:spPr>
          <a:xfrm>
            <a:off x="822960" y="2743200"/>
            <a:ext cx="10515600" cy="1371600"/>
          </a:xfrm>
          <a:prstGeom prst="rect">
            <a:avLst/>
          </a:prstGeom>
          <a:noFill/>
        </p:spPr>
        <p:txBody>
          <a:bodyPr wrap="square">
            <a:spAutoFit/>
          </a:bodyPr>
          <a:lstStyle/>
          <a:p>
            <a:pPr algn="l">
              <a:lnSpc>
                <a:spcPct val="150000"/>
              </a:lnSpc>
              <a:spcAft>
                <a:spcPts val="600"/>
              </a:spcAft>
            </a:pPr>
            <a:r>
              <a:rPr sz="4600" b="1">
                <a:solidFill>
                  <a:srgbClr val="FFFFFF"/>
                </a:solidFill>
                <a:latin typeface="Calibri"/>
              </a:rPr>
              <a:t>5 · Novelty &amp; Validation</a:t>
            </a:r>
          </a:p>
        </p:txBody>
      </p:sp>
      <p:sp>
        <p:nvSpPr>
          <p:cNvPr id="3" name="Rectangle 2">
            <a:extLst>
              <a:ext uri="{FF2B5EF4-FFF2-40B4-BE49-F238E27FC236}">
                <a16:creationId xmlns:a16="http://schemas.microsoft.com/office/drawing/2014/main" id="{9BB6CACF-551A-4896-CC1E-2B9E03C87905}"/>
              </a:ext>
            </a:extLst>
          </p:cNvPr>
          <p:cNvSpPr/>
          <p:nvPr/>
        </p:nvSpPr>
        <p:spPr>
          <a:xfrm>
            <a:off x="868680" y="3886200"/>
            <a:ext cx="2926080" cy="73152"/>
          </a:xfrm>
          <a:prstGeom prst="rect">
            <a:avLst/>
          </a:prstGeom>
          <a:solidFill>
            <a:srgbClr val="00A0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extLst>
      <p:ext uri="{BB962C8B-B14F-4D97-AF65-F5344CB8AC3E}">
        <p14:creationId xmlns:p14="http://schemas.microsoft.com/office/powerpoint/2010/main" val="2829302124"/>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33460"/>
            <a:ext cx="12192000" cy="6858000"/>
          </a:xfrm>
          <a:prstGeom prst="rect">
            <a:avLst/>
          </a:prstGeom>
        </p:spPr>
      </p:pic>
      <p:sp>
        <p:nvSpPr>
          <p:cNvPr id="4" name="Shape 1"/>
          <p:cNvSpPr/>
          <p:nvPr/>
        </p:nvSpPr>
        <p:spPr>
          <a:xfrm>
            <a:off x="0" y="702259"/>
            <a:ext cx="12192000" cy="36576"/>
          </a:xfrm>
          <a:prstGeom prst="rect">
            <a:avLst/>
          </a:prstGeom>
          <a:solidFill>
            <a:srgbClr val="4FC3F7"/>
          </a:solidFill>
          <a:ln w="12700">
            <a:solidFill>
              <a:srgbClr val="4FC3F7"/>
            </a:solidFill>
            <a:prstDash val="solid"/>
          </a:ln>
        </p:spPr>
      </p:sp>
      <p:sp>
        <p:nvSpPr>
          <p:cNvPr id="5" name="Shape 2"/>
          <p:cNvSpPr/>
          <p:nvPr/>
        </p:nvSpPr>
        <p:spPr>
          <a:xfrm>
            <a:off x="0" y="6647080"/>
            <a:ext cx="12192000" cy="210921"/>
          </a:xfrm>
          <a:prstGeom prst="rect">
            <a:avLst/>
          </a:prstGeom>
          <a:solidFill>
            <a:srgbClr val="003893"/>
          </a:solidFill>
          <a:ln w="12700">
            <a:solidFill>
              <a:srgbClr val="003893"/>
            </a:solidFill>
            <a:prstDash val="solid"/>
          </a:ln>
        </p:spPr>
      </p:sp>
      <p:sp>
        <p:nvSpPr>
          <p:cNvPr id="6" name="Shape 3"/>
          <p:cNvSpPr/>
          <p:nvPr/>
        </p:nvSpPr>
        <p:spPr>
          <a:xfrm>
            <a:off x="0" y="6623913"/>
            <a:ext cx="12192000" cy="30480"/>
          </a:xfrm>
          <a:prstGeom prst="rect">
            <a:avLst/>
          </a:prstGeom>
          <a:solidFill>
            <a:srgbClr val="4FC3F7"/>
          </a:solidFill>
          <a:ln w="12700">
            <a:solidFill>
              <a:srgbClr val="4FC3F7"/>
            </a:solidFill>
            <a:prstDash val="solid"/>
          </a:ln>
        </p:spPr>
      </p:sp>
      <p:sp>
        <p:nvSpPr>
          <p:cNvPr id="8" name="Shape 4"/>
          <p:cNvSpPr/>
          <p:nvPr/>
        </p:nvSpPr>
        <p:spPr>
          <a:xfrm>
            <a:off x="10731399" y="121921"/>
            <a:ext cx="51207" cy="51207"/>
          </a:xfrm>
          <a:prstGeom prst="ellipse">
            <a:avLst/>
          </a:prstGeom>
          <a:solidFill>
            <a:srgbClr val="FFFFFF">
              <a:alpha val="35000"/>
            </a:srgbClr>
          </a:solidFill>
          <a:ln w="12700">
            <a:solidFill>
              <a:srgbClr val="FFFFFF"/>
            </a:solidFill>
            <a:prstDash val="solid"/>
          </a:ln>
        </p:spPr>
      </p:sp>
      <p:sp>
        <p:nvSpPr>
          <p:cNvPr id="9" name="Shape 5"/>
          <p:cNvSpPr/>
          <p:nvPr/>
        </p:nvSpPr>
        <p:spPr>
          <a:xfrm>
            <a:off x="10947198" y="121921"/>
            <a:ext cx="51207" cy="51207"/>
          </a:xfrm>
          <a:prstGeom prst="ellipse">
            <a:avLst/>
          </a:prstGeom>
          <a:solidFill>
            <a:srgbClr val="FFFFFF">
              <a:alpha val="35000"/>
            </a:srgbClr>
          </a:solidFill>
          <a:ln w="12700">
            <a:solidFill>
              <a:srgbClr val="FFFFFF"/>
            </a:solidFill>
            <a:prstDash val="solid"/>
          </a:ln>
        </p:spPr>
      </p:sp>
      <p:sp>
        <p:nvSpPr>
          <p:cNvPr id="10" name="Shape 6"/>
          <p:cNvSpPr/>
          <p:nvPr/>
        </p:nvSpPr>
        <p:spPr>
          <a:xfrm>
            <a:off x="11162995" y="121921"/>
            <a:ext cx="51207" cy="51207"/>
          </a:xfrm>
          <a:prstGeom prst="ellipse">
            <a:avLst/>
          </a:prstGeom>
          <a:solidFill>
            <a:srgbClr val="FFFFFF">
              <a:alpha val="35000"/>
            </a:srgbClr>
          </a:solidFill>
          <a:ln w="12700">
            <a:solidFill>
              <a:srgbClr val="FFFFFF"/>
            </a:solidFill>
            <a:prstDash val="solid"/>
          </a:ln>
        </p:spPr>
      </p:sp>
      <p:sp>
        <p:nvSpPr>
          <p:cNvPr id="11" name="Shape 7"/>
          <p:cNvSpPr/>
          <p:nvPr/>
        </p:nvSpPr>
        <p:spPr>
          <a:xfrm>
            <a:off x="11378794" y="121921"/>
            <a:ext cx="51207" cy="51207"/>
          </a:xfrm>
          <a:prstGeom prst="ellipse">
            <a:avLst/>
          </a:prstGeom>
          <a:solidFill>
            <a:srgbClr val="FFFFFF">
              <a:alpha val="35000"/>
            </a:srgbClr>
          </a:solidFill>
          <a:ln w="12700">
            <a:solidFill>
              <a:srgbClr val="FFFFFF"/>
            </a:solidFill>
            <a:prstDash val="solid"/>
          </a:ln>
        </p:spPr>
      </p:sp>
      <p:sp>
        <p:nvSpPr>
          <p:cNvPr id="12" name="Shape 8"/>
          <p:cNvSpPr/>
          <p:nvPr/>
        </p:nvSpPr>
        <p:spPr>
          <a:xfrm>
            <a:off x="10731399" y="292609"/>
            <a:ext cx="51207" cy="51207"/>
          </a:xfrm>
          <a:prstGeom prst="ellipse">
            <a:avLst/>
          </a:prstGeom>
          <a:solidFill>
            <a:srgbClr val="FFFFFF">
              <a:alpha val="35000"/>
            </a:srgbClr>
          </a:solidFill>
          <a:ln w="12700">
            <a:solidFill>
              <a:srgbClr val="FFFFFF"/>
            </a:solidFill>
            <a:prstDash val="solid"/>
          </a:ln>
        </p:spPr>
      </p:sp>
      <p:sp>
        <p:nvSpPr>
          <p:cNvPr id="13" name="Shape 9"/>
          <p:cNvSpPr/>
          <p:nvPr/>
        </p:nvSpPr>
        <p:spPr>
          <a:xfrm>
            <a:off x="10947198" y="292609"/>
            <a:ext cx="51207" cy="51207"/>
          </a:xfrm>
          <a:prstGeom prst="ellipse">
            <a:avLst/>
          </a:prstGeom>
          <a:solidFill>
            <a:srgbClr val="FFFFFF">
              <a:alpha val="35000"/>
            </a:srgbClr>
          </a:solidFill>
          <a:ln w="12700">
            <a:solidFill>
              <a:srgbClr val="FFFFFF"/>
            </a:solidFill>
            <a:prstDash val="solid"/>
          </a:ln>
        </p:spPr>
      </p:sp>
      <p:sp>
        <p:nvSpPr>
          <p:cNvPr id="14" name="Shape 10"/>
          <p:cNvSpPr/>
          <p:nvPr/>
        </p:nvSpPr>
        <p:spPr>
          <a:xfrm>
            <a:off x="11162995" y="292609"/>
            <a:ext cx="51207" cy="51207"/>
          </a:xfrm>
          <a:prstGeom prst="ellipse">
            <a:avLst/>
          </a:prstGeom>
          <a:solidFill>
            <a:srgbClr val="FFFFFF">
              <a:alpha val="35000"/>
            </a:srgbClr>
          </a:solidFill>
          <a:ln w="12700">
            <a:solidFill>
              <a:srgbClr val="FFFFFF"/>
            </a:solidFill>
            <a:prstDash val="solid"/>
          </a:ln>
        </p:spPr>
      </p:sp>
      <p:sp>
        <p:nvSpPr>
          <p:cNvPr id="15" name="Shape 11"/>
          <p:cNvSpPr/>
          <p:nvPr/>
        </p:nvSpPr>
        <p:spPr>
          <a:xfrm>
            <a:off x="11378794" y="292609"/>
            <a:ext cx="51207" cy="51207"/>
          </a:xfrm>
          <a:prstGeom prst="ellipse">
            <a:avLst/>
          </a:prstGeom>
          <a:solidFill>
            <a:srgbClr val="FFFFFF">
              <a:alpha val="35000"/>
            </a:srgbClr>
          </a:solidFill>
          <a:ln w="12700">
            <a:solidFill>
              <a:srgbClr val="FFFFFF"/>
            </a:solidFill>
            <a:prstDash val="solid"/>
          </a:ln>
        </p:spPr>
      </p:sp>
      <p:sp>
        <p:nvSpPr>
          <p:cNvPr id="16" name="Shape 12"/>
          <p:cNvSpPr/>
          <p:nvPr/>
        </p:nvSpPr>
        <p:spPr>
          <a:xfrm>
            <a:off x="10731399" y="463297"/>
            <a:ext cx="51207" cy="51207"/>
          </a:xfrm>
          <a:prstGeom prst="ellipse">
            <a:avLst/>
          </a:prstGeom>
          <a:solidFill>
            <a:srgbClr val="FFFFFF">
              <a:alpha val="35000"/>
            </a:srgbClr>
          </a:solidFill>
          <a:ln w="12700">
            <a:solidFill>
              <a:srgbClr val="FFFFFF"/>
            </a:solidFill>
            <a:prstDash val="solid"/>
          </a:ln>
        </p:spPr>
      </p:sp>
      <p:sp>
        <p:nvSpPr>
          <p:cNvPr id="17" name="Shape 13"/>
          <p:cNvSpPr/>
          <p:nvPr/>
        </p:nvSpPr>
        <p:spPr>
          <a:xfrm>
            <a:off x="10947198" y="463297"/>
            <a:ext cx="51207" cy="51207"/>
          </a:xfrm>
          <a:prstGeom prst="ellipse">
            <a:avLst/>
          </a:prstGeom>
          <a:solidFill>
            <a:srgbClr val="FFFFFF">
              <a:alpha val="35000"/>
            </a:srgbClr>
          </a:solidFill>
          <a:ln w="12700">
            <a:solidFill>
              <a:srgbClr val="FFFFFF"/>
            </a:solidFill>
            <a:prstDash val="solid"/>
          </a:ln>
        </p:spPr>
      </p:sp>
      <p:sp>
        <p:nvSpPr>
          <p:cNvPr id="18" name="Shape 14"/>
          <p:cNvSpPr/>
          <p:nvPr/>
        </p:nvSpPr>
        <p:spPr>
          <a:xfrm>
            <a:off x="11162995" y="463297"/>
            <a:ext cx="51207" cy="51207"/>
          </a:xfrm>
          <a:prstGeom prst="ellipse">
            <a:avLst/>
          </a:prstGeom>
          <a:solidFill>
            <a:srgbClr val="FFFFFF">
              <a:alpha val="35000"/>
            </a:srgbClr>
          </a:solidFill>
          <a:ln w="12700">
            <a:solidFill>
              <a:srgbClr val="FFFFFF"/>
            </a:solidFill>
            <a:prstDash val="solid"/>
          </a:ln>
        </p:spPr>
      </p:sp>
      <p:sp>
        <p:nvSpPr>
          <p:cNvPr id="19" name="Shape 15"/>
          <p:cNvSpPr/>
          <p:nvPr/>
        </p:nvSpPr>
        <p:spPr>
          <a:xfrm>
            <a:off x="11378794" y="463297"/>
            <a:ext cx="51207" cy="51207"/>
          </a:xfrm>
          <a:prstGeom prst="ellipse">
            <a:avLst/>
          </a:prstGeom>
          <a:solidFill>
            <a:srgbClr val="FFFFFF">
              <a:alpha val="35000"/>
            </a:srgbClr>
          </a:solidFill>
          <a:ln w="12700">
            <a:solidFill>
              <a:srgbClr val="FFFFFF"/>
            </a:solidFill>
            <a:prstDash val="solid"/>
          </a:ln>
        </p:spPr>
      </p:sp>
      <p:sp>
        <p:nvSpPr>
          <p:cNvPr id="22" name="Shape 18"/>
          <p:cNvSpPr/>
          <p:nvPr/>
        </p:nvSpPr>
        <p:spPr>
          <a:xfrm>
            <a:off x="208955" y="1147066"/>
            <a:ext cx="5730240" cy="890016"/>
          </a:xfrm>
          <a:prstGeom prst="rect">
            <a:avLst/>
          </a:prstGeom>
          <a:solidFill>
            <a:srgbClr val="FFFFFF"/>
          </a:solidFill>
          <a:ln w="12700">
            <a:solidFill>
              <a:srgbClr val="CBD5E1"/>
            </a:solidFill>
            <a:prstDash val="solid"/>
          </a:ln>
          <a:effectLst>
            <a:outerShdw blurRad="76200" dist="25400" dir="8100000" algn="bl" rotWithShape="0">
              <a:srgbClr val="000000">
                <a:alpha val="10000"/>
              </a:srgbClr>
            </a:outerShdw>
          </a:effectLst>
        </p:spPr>
      </p:sp>
      <p:sp>
        <p:nvSpPr>
          <p:cNvPr id="23" name="Shape 19"/>
          <p:cNvSpPr/>
          <p:nvPr/>
        </p:nvSpPr>
        <p:spPr>
          <a:xfrm>
            <a:off x="208955" y="1147066"/>
            <a:ext cx="79248" cy="890016"/>
          </a:xfrm>
          <a:prstGeom prst="rect">
            <a:avLst/>
          </a:prstGeom>
          <a:solidFill>
            <a:srgbClr val="0369A1"/>
          </a:solidFill>
          <a:ln w="12700">
            <a:solidFill>
              <a:srgbClr val="0369A1"/>
            </a:solidFill>
            <a:prstDash val="solid"/>
          </a:ln>
        </p:spPr>
      </p:sp>
      <p:sp>
        <p:nvSpPr>
          <p:cNvPr id="24" name="Shape 20"/>
          <p:cNvSpPr/>
          <p:nvPr/>
        </p:nvSpPr>
        <p:spPr>
          <a:xfrm>
            <a:off x="379643" y="1409194"/>
            <a:ext cx="365760" cy="365760"/>
          </a:xfrm>
          <a:prstGeom prst="ellipse">
            <a:avLst/>
          </a:prstGeom>
          <a:solidFill>
            <a:srgbClr val="0369A1"/>
          </a:solidFill>
          <a:ln w="12700">
            <a:solidFill>
              <a:srgbClr val="0369A1"/>
            </a:solidFill>
            <a:prstDash val="solid"/>
          </a:ln>
        </p:spPr>
      </p:sp>
      <p:sp>
        <p:nvSpPr>
          <p:cNvPr id="25" name="Text 21"/>
          <p:cNvSpPr/>
          <p:nvPr/>
        </p:nvSpPr>
        <p:spPr>
          <a:xfrm>
            <a:off x="379643" y="1409194"/>
            <a:ext cx="365760" cy="365760"/>
          </a:xfrm>
          <a:prstGeom prst="rect">
            <a:avLst/>
          </a:prstGeom>
          <a:noFill/>
          <a:ln/>
        </p:spPr>
        <p:txBody>
          <a:bodyPr wrap="square" lIns="0" tIns="0" rIns="0" bIns="0" rtlCol="0" anchor="ctr"/>
          <a:lstStyle/>
          <a:p>
            <a:pPr algn="ctr"/>
            <a:r>
              <a:rPr lang="en-US" sz="1467" b="1" dirty="0">
                <a:solidFill>
                  <a:srgbClr val="FFFFFF"/>
                </a:solidFill>
              </a:rPr>
              <a:t>1</a:t>
            </a:r>
            <a:endParaRPr lang="en-US" sz="1467" dirty="0"/>
          </a:p>
        </p:txBody>
      </p:sp>
      <p:sp>
        <p:nvSpPr>
          <p:cNvPr id="26" name="Text 22"/>
          <p:cNvSpPr/>
          <p:nvPr/>
        </p:nvSpPr>
        <p:spPr>
          <a:xfrm>
            <a:off x="867323" y="1232410"/>
            <a:ext cx="4974336" cy="341376"/>
          </a:xfrm>
          <a:prstGeom prst="rect">
            <a:avLst/>
          </a:prstGeom>
          <a:noFill/>
          <a:ln/>
        </p:spPr>
        <p:txBody>
          <a:bodyPr wrap="square" lIns="0" tIns="0" rIns="0" bIns="0" rtlCol="0" anchor="ctr"/>
          <a:lstStyle/>
          <a:p>
            <a:r>
              <a:rPr lang="en-US" sz="1400" b="1" dirty="0">
                <a:solidFill>
                  <a:srgbClr val="1E293B"/>
                </a:solidFill>
              </a:rPr>
              <a:t>Reactive → Proactive Predictor</a:t>
            </a:r>
            <a:endParaRPr lang="en-US" sz="1400" dirty="0"/>
          </a:p>
        </p:txBody>
      </p:sp>
      <p:sp>
        <p:nvSpPr>
          <p:cNvPr id="27" name="Shape 23"/>
          <p:cNvSpPr/>
          <p:nvPr/>
        </p:nvSpPr>
        <p:spPr>
          <a:xfrm>
            <a:off x="867323" y="1585978"/>
            <a:ext cx="4974336" cy="0"/>
          </a:xfrm>
          <a:prstGeom prst="line">
            <a:avLst/>
          </a:prstGeom>
          <a:noFill/>
          <a:ln w="12700">
            <a:solidFill>
              <a:srgbClr val="CBD5E1"/>
            </a:solidFill>
            <a:prstDash val="solid"/>
          </a:ln>
        </p:spPr>
      </p:sp>
      <p:sp>
        <p:nvSpPr>
          <p:cNvPr id="28" name="Text 24"/>
          <p:cNvSpPr/>
          <p:nvPr/>
        </p:nvSpPr>
        <p:spPr>
          <a:xfrm>
            <a:off x="867323" y="1622554"/>
            <a:ext cx="4974336" cy="353568"/>
          </a:xfrm>
          <a:prstGeom prst="rect">
            <a:avLst/>
          </a:prstGeom>
          <a:noFill/>
          <a:ln/>
        </p:spPr>
        <p:txBody>
          <a:bodyPr wrap="square" lIns="0" tIns="0" rIns="0" bIns="0" rtlCol="0" anchor="t"/>
          <a:lstStyle/>
          <a:p>
            <a:pPr>
              <a:lnSpc>
                <a:spcPct val="118000"/>
              </a:lnSpc>
            </a:pPr>
            <a:r>
              <a:rPr lang="en-US" sz="1133" dirty="0">
                <a:solidFill>
                  <a:srgbClr val="475569"/>
                </a:solidFill>
              </a:rPr>
              <a:t>First system to predict GNSS degradation 5 s, 15 s, 30 s ahead — Liu et al. (2023) only classifies t+0</a:t>
            </a:r>
            <a:endParaRPr lang="en-US" sz="1133" dirty="0"/>
          </a:p>
        </p:txBody>
      </p:sp>
      <p:sp>
        <p:nvSpPr>
          <p:cNvPr id="29" name="Shape 25"/>
          <p:cNvSpPr/>
          <p:nvPr/>
        </p:nvSpPr>
        <p:spPr>
          <a:xfrm>
            <a:off x="208955" y="2228631"/>
            <a:ext cx="5730240" cy="890016"/>
          </a:xfrm>
          <a:prstGeom prst="rect">
            <a:avLst/>
          </a:prstGeom>
          <a:solidFill>
            <a:srgbClr val="FFFFFF"/>
          </a:solidFill>
          <a:ln w="12700">
            <a:solidFill>
              <a:srgbClr val="CBD5E1"/>
            </a:solidFill>
            <a:prstDash val="solid"/>
          </a:ln>
          <a:effectLst>
            <a:outerShdw blurRad="76200" dist="25400" dir="8100000" algn="bl" rotWithShape="0">
              <a:srgbClr val="000000">
                <a:alpha val="10000"/>
              </a:srgbClr>
            </a:outerShdw>
          </a:effectLst>
        </p:spPr>
      </p:sp>
      <p:sp>
        <p:nvSpPr>
          <p:cNvPr id="30" name="Shape 26"/>
          <p:cNvSpPr/>
          <p:nvPr/>
        </p:nvSpPr>
        <p:spPr>
          <a:xfrm>
            <a:off x="208955" y="2228631"/>
            <a:ext cx="79248" cy="890016"/>
          </a:xfrm>
          <a:prstGeom prst="rect">
            <a:avLst/>
          </a:prstGeom>
          <a:solidFill>
            <a:srgbClr val="0E7490"/>
          </a:solidFill>
          <a:ln w="12700">
            <a:solidFill>
              <a:srgbClr val="0E7490"/>
            </a:solidFill>
            <a:prstDash val="solid"/>
          </a:ln>
        </p:spPr>
      </p:sp>
      <p:sp>
        <p:nvSpPr>
          <p:cNvPr id="31" name="Shape 27"/>
          <p:cNvSpPr/>
          <p:nvPr/>
        </p:nvSpPr>
        <p:spPr>
          <a:xfrm>
            <a:off x="379643" y="2490759"/>
            <a:ext cx="365760" cy="365760"/>
          </a:xfrm>
          <a:prstGeom prst="ellipse">
            <a:avLst/>
          </a:prstGeom>
          <a:solidFill>
            <a:srgbClr val="0E7490"/>
          </a:solidFill>
          <a:ln w="12700">
            <a:solidFill>
              <a:srgbClr val="0E7490"/>
            </a:solidFill>
            <a:prstDash val="solid"/>
          </a:ln>
        </p:spPr>
      </p:sp>
      <p:sp>
        <p:nvSpPr>
          <p:cNvPr id="32" name="Text 28"/>
          <p:cNvSpPr/>
          <p:nvPr/>
        </p:nvSpPr>
        <p:spPr>
          <a:xfrm>
            <a:off x="379643" y="2490759"/>
            <a:ext cx="365760" cy="365760"/>
          </a:xfrm>
          <a:prstGeom prst="rect">
            <a:avLst/>
          </a:prstGeom>
          <a:noFill/>
          <a:ln/>
        </p:spPr>
        <p:txBody>
          <a:bodyPr wrap="square" lIns="0" tIns="0" rIns="0" bIns="0" rtlCol="0" anchor="ctr"/>
          <a:lstStyle/>
          <a:p>
            <a:pPr algn="ctr"/>
            <a:r>
              <a:rPr lang="en-US" sz="1467" b="1" dirty="0">
                <a:solidFill>
                  <a:srgbClr val="FFFFFF"/>
                </a:solidFill>
              </a:rPr>
              <a:t>2</a:t>
            </a:r>
            <a:endParaRPr lang="en-US" sz="1467" dirty="0"/>
          </a:p>
        </p:txBody>
      </p:sp>
      <p:sp>
        <p:nvSpPr>
          <p:cNvPr id="33" name="Text 29"/>
          <p:cNvSpPr/>
          <p:nvPr/>
        </p:nvSpPr>
        <p:spPr>
          <a:xfrm>
            <a:off x="867323" y="2313975"/>
            <a:ext cx="4974336" cy="341376"/>
          </a:xfrm>
          <a:prstGeom prst="rect">
            <a:avLst/>
          </a:prstGeom>
          <a:noFill/>
          <a:ln/>
        </p:spPr>
        <p:txBody>
          <a:bodyPr wrap="square" lIns="0" tIns="0" rIns="0" bIns="0" rtlCol="0" anchor="ctr"/>
          <a:lstStyle/>
          <a:p>
            <a:r>
              <a:rPr lang="en-US" sz="1400" b="1" dirty="0">
                <a:solidFill>
                  <a:srgbClr val="1E293B"/>
                </a:solidFill>
              </a:rPr>
              <a:t>Cross-City Generalisation</a:t>
            </a:r>
            <a:endParaRPr lang="en-US" sz="1400" dirty="0"/>
          </a:p>
        </p:txBody>
      </p:sp>
      <p:sp>
        <p:nvSpPr>
          <p:cNvPr id="34" name="Shape 30"/>
          <p:cNvSpPr/>
          <p:nvPr/>
        </p:nvSpPr>
        <p:spPr>
          <a:xfrm>
            <a:off x="867323" y="2667543"/>
            <a:ext cx="4974336" cy="0"/>
          </a:xfrm>
          <a:prstGeom prst="line">
            <a:avLst/>
          </a:prstGeom>
          <a:noFill/>
          <a:ln w="12700">
            <a:solidFill>
              <a:srgbClr val="CBD5E1"/>
            </a:solidFill>
            <a:prstDash val="solid"/>
          </a:ln>
        </p:spPr>
      </p:sp>
      <p:sp>
        <p:nvSpPr>
          <p:cNvPr id="35" name="Text 31"/>
          <p:cNvSpPr/>
          <p:nvPr/>
        </p:nvSpPr>
        <p:spPr>
          <a:xfrm>
            <a:off x="867323" y="2704119"/>
            <a:ext cx="4974336" cy="353568"/>
          </a:xfrm>
          <a:prstGeom prst="rect">
            <a:avLst/>
          </a:prstGeom>
          <a:noFill/>
          <a:ln/>
        </p:spPr>
        <p:txBody>
          <a:bodyPr wrap="square" lIns="0" tIns="0" rIns="0" bIns="0" rtlCol="0" anchor="t"/>
          <a:lstStyle/>
          <a:p>
            <a:pPr>
              <a:lnSpc>
                <a:spcPct val="118000"/>
              </a:lnSpc>
            </a:pPr>
            <a:r>
              <a:rPr lang="en-US" sz="1133" dirty="0">
                <a:solidFill>
                  <a:srgbClr val="475569"/>
                </a:solidFill>
              </a:rPr>
              <a:t>Beijing → Tokyo: DEGRADED F1 = 0.75 (ours) vs. 0.15 (Random Forest) — unseen city, zero retraining</a:t>
            </a:r>
            <a:endParaRPr lang="en-US" sz="1133" dirty="0"/>
          </a:p>
        </p:txBody>
      </p:sp>
      <p:sp>
        <p:nvSpPr>
          <p:cNvPr id="36" name="Shape 32"/>
          <p:cNvSpPr/>
          <p:nvPr/>
        </p:nvSpPr>
        <p:spPr>
          <a:xfrm>
            <a:off x="208955" y="3293268"/>
            <a:ext cx="5730240" cy="890016"/>
          </a:xfrm>
          <a:prstGeom prst="rect">
            <a:avLst/>
          </a:prstGeom>
          <a:solidFill>
            <a:srgbClr val="FFFFFF"/>
          </a:solidFill>
          <a:ln w="12700">
            <a:solidFill>
              <a:srgbClr val="CBD5E1"/>
            </a:solidFill>
            <a:prstDash val="solid"/>
          </a:ln>
          <a:effectLst>
            <a:outerShdw blurRad="76200" dist="25400" dir="8100000" algn="bl" rotWithShape="0">
              <a:srgbClr val="000000">
                <a:alpha val="10000"/>
              </a:srgbClr>
            </a:outerShdw>
          </a:effectLst>
        </p:spPr>
      </p:sp>
      <p:sp>
        <p:nvSpPr>
          <p:cNvPr id="37" name="Shape 33"/>
          <p:cNvSpPr/>
          <p:nvPr/>
        </p:nvSpPr>
        <p:spPr>
          <a:xfrm>
            <a:off x="208955" y="3301735"/>
            <a:ext cx="79248" cy="890016"/>
          </a:xfrm>
          <a:prstGeom prst="rect">
            <a:avLst/>
          </a:prstGeom>
          <a:solidFill>
            <a:srgbClr val="155E75"/>
          </a:solidFill>
          <a:ln w="12700">
            <a:solidFill>
              <a:srgbClr val="155E75"/>
            </a:solidFill>
            <a:prstDash val="solid"/>
          </a:ln>
        </p:spPr>
      </p:sp>
      <p:sp>
        <p:nvSpPr>
          <p:cNvPr id="38" name="Shape 34"/>
          <p:cNvSpPr/>
          <p:nvPr/>
        </p:nvSpPr>
        <p:spPr>
          <a:xfrm>
            <a:off x="379643" y="3555396"/>
            <a:ext cx="365760" cy="365760"/>
          </a:xfrm>
          <a:prstGeom prst="ellipse">
            <a:avLst/>
          </a:prstGeom>
          <a:solidFill>
            <a:srgbClr val="155E75"/>
          </a:solidFill>
          <a:ln w="12700">
            <a:solidFill>
              <a:srgbClr val="155E75"/>
            </a:solidFill>
            <a:prstDash val="solid"/>
          </a:ln>
        </p:spPr>
      </p:sp>
      <p:sp>
        <p:nvSpPr>
          <p:cNvPr id="39" name="Text 35"/>
          <p:cNvSpPr/>
          <p:nvPr/>
        </p:nvSpPr>
        <p:spPr>
          <a:xfrm>
            <a:off x="379643" y="3555396"/>
            <a:ext cx="365760" cy="365760"/>
          </a:xfrm>
          <a:prstGeom prst="rect">
            <a:avLst/>
          </a:prstGeom>
          <a:noFill/>
          <a:ln/>
        </p:spPr>
        <p:txBody>
          <a:bodyPr wrap="square" lIns="0" tIns="0" rIns="0" bIns="0" rtlCol="0" anchor="ctr"/>
          <a:lstStyle/>
          <a:p>
            <a:pPr algn="ctr"/>
            <a:r>
              <a:rPr lang="en-US" sz="1467" b="1" dirty="0">
                <a:solidFill>
                  <a:srgbClr val="FFFFFF"/>
                </a:solidFill>
              </a:rPr>
              <a:t>3</a:t>
            </a:r>
            <a:endParaRPr lang="en-US" sz="1467" dirty="0"/>
          </a:p>
        </p:txBody>
      </p:sp>
      <p:sp>
        <p:nvSpPr>
          <p:cNvPr id="40" name="Text 36"/>
          <p:cNvSpPr/>
          <p:nvPr/>
        </p:nvSpPr>
        <p:spPr>
          <a:xfrm>
            <a:off x="867323" y="3378612"/>
            <a:ext cx="4974336" cy="341376"/>
          </a:xfrm>
          <a:prstGeom prst="rect">
            <a:avLst/>
          </a:prstGeom>
          <a:noFill/>
          <a:ln/>
        </p:spPr>
        <p:txBody>
          <a:bodyPr wrap="square" lIns="0" tIns="0" rIns="0" bIns="0" rtlCol="0" anchor="ctr"/>
          <a:lstStyle/>
          <a:p>
            <a:r>
              <a:rPr lang="en-US" sz="1400" b="1" dirty="0">
                <a:solidFill>
                  <a:srgbClr val="1E293B"/>
                </a:solidFill>
              </a:rPr>
              <a:t>Unified Multi-Horizon Model</a:t>
            </a:r>
            <a:endParaRPr lang="en-US" sz="1400" dirty="0"/>
          </a:p>
        </p:txBody>
      </p:sp>
      <p:sp>
        <p:nvSpPr>
          <p:cNvPr id="41" name="Shape 37"/>
          <p:cNvSpPr/>
          <p:nvPr/>
        </p:nvSpPr>
        <p:spPr>
          <a:xfrm>
            <a:off x="867323" y="3732180"/>
            <a:ext cx="4974336" cy="0"/>
          </a:xfrm>
          <a:prstGeom prst="line">
            <a:avLst/>
          </a:prstGeom>
          <a:noFill/>
          <a:ln w="12700">
            <a:solidFill>
              <a:srgbClr val="CBD5E1"/>
            </a:solidFill>
            <a:prstDash val="solid"/>
          </a:ln>
        </p:spPr>
      </p:sp>
      <p:sp>
        <p:nvSpPr>
          <p:cNvPr id="42" name="Text 38"/>
          <p:cNvSpPr/>
          <p:nvPr/>
        </p:nvSpPr>
        <p:spPr>
          <a:xfrm>
            <a:off x="867323" y="3768756"/>
            <a:ext cx="4974336" cy="353568"/>
          </a:xfrm>
          <a:prstGeom prst="rect">
            <a:avLst/>
          </a:prstGeom>
          <a:noFill/>
          <a:ln/>
        </p:spPr>
        <p:txBody>
          <a:bodyPr wrap="square" lIns="0" tIns="0" rIns="0" bIns="0" rtlCol="0" anchor="t"/>
          <a:lstStyle/>
          <a:p>
            <a:pPr>
              <a:lnSpc>
                <a:spcPct val="118000"/>
              </a:lnSpc>
            </a:pPr>
            <a:r>
              <a:rPr lang="en-US" sz="1133" dirty="0">
                <a:solidFill>
                  <a:srgbClr val="475569"/>
                </a:solidFill>
              </a:rPr>
              <a:t>One forward pass, three prediction heads — 10.5× faster than three separate traditional models</a:t>
            </a:r>
            <a:endParaRPr lang="en-US" sz="1133" dirty="0"/>
          </a:p>
        </p:txBody>
      </p:sp>
      <p:sp>
        <p:nvSpPr>
          <p:cNvPr id="43" name="Shape 39"/>
          <p:cNvSpPr/>
          <p:nvPr/>
        </p:nvSpPr>
        <p:spPr>
          <a:xfrm>
            <a:off x="208955" y="4324035"/>
            <a:ext cx="5730240" cy="890016"/>
          </a:xfrm>
          <a:prstGeom prst="rect">
            <a:avLst/>
          </a:prstGeom>
          <a:solidFill>
            <a:srgbClr val="FFFFFF"/>
          </a:solidFill>
          <a:ln w="12700">
            <a:solidFill>
              <a:srgbClr val="CBD5E1"/>
            </a:solidFill>
            <a:prstDash val="solid"/>
          </a:ln>
          <a:effectLst>
            <a:outerShdw blurRad="76200" dist="25400" dir="8100000" algn="bl" rotWithShape="0">
              <a:srgbClr val="000000">
                <a:alpha val="10000"/>
              </a:srgbClr>
            </a:outerShdw>
          </a:effectLst>
        </p:spPr>
      </p:sp>
      <p:sp>
        <p:nvSpPr>
          <p:cNvPr id="44" name="Shape 40"/>
          <p:cNvSpPr/>
          <p:nvPr/>
        </p:nvSpPr>
        <p:spPr>
          <a:xfrm>
            <a:off x="208955" y="4324035"/>
            <a:ext cx="79248" cy="890016"/>
          </a:xfrm>
          <a:prstGeom prst="rect">
            <a:avLst/>
          </a:prstGeom>
          <a:solidFill>
            <a:srgbClr val="3B37A0"/>
          </a:solidFill>
          <a:ln w="12700">
            <a:solidFill>
              <a:srgbClr val="3B37A0"/>
            </a:solidFill>
            <a:prstDash val="solid"/>
          </a:ln>
        </p:spPr>
      </p:sp>
      <p:sp>
        <p:nvSpPr>
          <p:cNvPr id="45" name="Shape 41"/>
          <p:cNvSpPr/>
          <p:nvPr/>
        </p:nvSpPr>
        <p:spPr>
          <a:xfrm>
            <a:off x="379643" y="4586163"/>
            <a:ext cx="365760" cy="365760"/>
          </a:xfrm>
          <a:prstGeom prst="ellipse">
            <a:avLst/>
          </a:prstGeom>
          <a:solidFill>
            <a:srgbClr val="3B37A0"/>
          </a:solidFill>
          <a:ln w="12700">
            <a:solidFill>
              <a:srgbClr val="3B37A0"/>
            </a:solidFill>
            <a:prstDash val="solid"/>
          </a:ln>
        </p:spPr>
      </p:sp>
      <p:sp>
        <p:nvSpPr>
          <p:cNvPr id="46" name="Text 42"/>
          <p:cNvSpPr/>
          <p:nvPr/>
        </p:nvSpPr>
        <p:spPr>
          <a:xfrm>
            <a:off x="379643" y="4586163"/>
            <a:ext cx="365760" cy="365760"/>
          </a:xfrm>
          <a:prstGeom prst="rect">
            <a:avLst/>
          </a:prstGeom>
          <a:noFill/>
          <a:ln/>
        </p:spPr>
        <p:txBody>
          <a:bodyPr wrap="square" lIns="0" tIns="0" rIns="0" bIns="0" rtlCol="0" anchor="ctr"/>
          <a:lstStyle/>
          <a:p>
            <a:pPr algn="ctr"/>
            <a:r>
              <a:rPr lang="en-US" sz="1467" b="1" dirty="0">
                <a:solidFill>
                  <a:srgbClr val="FFFFFF"/>
                </a:solidFill>
              </a:rPr>
              <a:t>4</a:t>
            </a:r>
            <a:endParaRPr lang="en-US" sz="1467" dirty="0"/>
          </a:p>
        </p:txBody>
      </p:sp>
      <p:sp>
        <p:nvSpPr>
          <p:cNvPr id="47" name="Text 43"/>
          <p:cNvSpPr/>
          <p:nvPr/>
        </p:nvSpPr>
        <p:spPr>
          <a:xfrm>
            <a:off x="867323" y="4409379"/>
            <a:ext cx="4974336" cy="341376"/>
          </a:xfrm>
          <a:prstGeom prst="rect">
            <a:avLst/>
          </a:prstGeom>
          <a:noFill/>
          <a:ln/>
        </p:spPr>
        <p:txBody>
          <a:bodyPr wrap="square" lIns="0" tIns="0" rIns="0" bIns="0" rtlCol="0" anchor="ctr"/>
          <a:lstStyle/>
          <a:p>
            <a:r>
              <a:rPr lang="en-US" sz="1400" b="1" dirty="0">
                <a:solidFill>
                  <a:srgbClr val="1E293B"/>
                </a:solidFill>
              </a:rPr>
              <a:t>Open Multi-City Benchmark</a:t>
            </a:r>
            <a:endParaRPr lang="en-US" sz="1400" dirty="0"/>
          </a:p>
        </p:txBody>
      </p:sp>
      <p:sp>
        <p:nvSpPr>
          <p:cNvPr id="48" name="Shape 44"/>
          <p:cNvSpPr/>
          <p:nvPr/>
        </p:nvSpPr>
        <p:spPr>
          <a:xfrm>
            <a:off x="867323" y="4762947"/>
            <a:ext cx="4974336" cy="0"/>
          </a:xfrm>
          <a:prstGeom prst="line">
            <a:avLst/>
          </a:prstGeom>
          <a:noFill/>
          <a:ln w="12700">
            <a:solidFill>
              <a:srgbClr val="CBD5E1"/>
            </a:solidFill>
            <a:prstDash val="solid"/>
          </a:ln>
        </p:spPr>
      </p:sp>
      <p:sp>
        <p:nvSpPr>
          <p:cNvPr id="49" name="Text 45"/>
          <p:cNvSpPr/>
          <p:nvPr/>
        </p:nvSpPr>
        <p:spPr>
          <a:xfrm>
            <a:off x="867323" y="4799523"/>
            <a:ext cx="4974336" cy="353568"/>
          </a:xfrm>
          <a:prstGeom prst="rect">
            <a:avLst/>
          </a:prstGeom>
          <a:noFill/>
          <a:ln/>
        </p:spPr>
        <p:txBody>
          <a:bodyPr wrap="square" lIns="0" tIns="0" rIns="0" bIns="0" rtlCol="0" anchor="t"/>
          <a:lstStyle/>
          <a:p>
            <a:pPr>
              <a:lnSpc>
                <a:spcPct val="118000"/>
              </a:lnSpc>
            </a:pPr>
            <a:r>
              <a:rPr lang="en-US" sz="1133" dirty="0">
                <a:solidFill>
                  <a:srgbClr val="475569"/>
                </a:solidFill>
              </a:rPr>
              <a:t>149,662 labelled epochs · Beijing, Hong Kong, Tokyo, Oxford, Ann Arbor · 9+ receiver types</a:t>
            </a:r>
            <a:endParaRPr lang="en-US" sz="1133" dirty="0"/>
          </a:p>
        </p:txBody>
      </p:sp>
      <p:sp>
        <p:nvSpPr>
          <p:cNvPr id="50" name="Shape 46"/>
          <p:cNvSpPr/>
          <p:nvPr/>
        </p:nvSpPr>
        <p:spPr>
          <a:xfrm>
            <a:off x="208955" y="5388667"/>
            <a:ext cx="5730240" cy="890016"/>
          </a:xfrm>
          <a:prstGeom prst="rect">
            <a:avLst/>
          </a:prstGeom>
          <a:solidFill>
            <a:srgbClr val="FFFFFF"/>
          </a:solidFill>
          <a:ln w="12700">
            <a:solidFill>
              <a:srgbClr val="CBD5E1"/>
            </a:solidFill>
            <a:prstDash val="solid"/>
          </a:ln>
          <a:effectLst>
            <a:outerShdw blurRad="76200" dist="25400" dir="8100000" algn="bl" rotWithShape="0">
              <a:srgbClr val="000000">
                <a:alpha val="10000"/>
              </a:srgbClr>
            </a:outerShdw>
          </a:effectLst>
        </p:spPr>
      </p:sp>
      <p:sp>
        <p:nvSpPr>
          <p:cNvPr id="51" name="Shape 47"/>
          <p:cNvSpPr/>
          <p:nvPr/>
        </p:nvSpPr>
        <p:spPr>
          <a:xfrm>
            <a:off x="208955" y="5388667"/>
            <a:ext cx="79248" cy="890016"/>
          </a:xfrm>
          <a:prstGeom prst="rect">
            <a:avLst/>
          </a:prstGeom>
          <a:solidFill>
            <a:srgbClr val="5B21B6"/>
          </a:solidFill>
          <a:ln w="12700">
            <a:solidFill>
              <a:srgbClr val="5B21B6"/>
            </a:solidFill>
            <a:prstDash val="solid"/>
          </a:ln>
        </p:spPr>
      </p:sp>
      <p:sp>
        <p:nvSpPr>
          <p:cNvPr id="52" name="Shape 48"/>
          <p:cNvSpPr/>
          <p:nvPr/>
        </p:nvSpPr>
        <p:spPr>
          <a:xfrm>
            <a:off x="379643" y="5650795"/>
            <a:ext cx="365760" cy="365760"/>
          </a:xfrm>
          <a:prstGeom prst="ellipse">
            <a:avLst/>
          </a:prstGeom>
          <a:solidFill>
            <a:srgbClr val="5B21B6"/>
          </a:solidFill>
          <a:ln w="12700">
            <a:solidFill>
              <a:srgbClr val="5B21B6"/>
            </a:solidFill>
            <a:prstDash val="solid"/>
          </a:ln>
        </p:spPr>
      </p:sp>
      <p:sp>
        <p:nvSpPr>
          <p:cNvPr id="53" name="Text 49"/>
          <p:cNvSpPr/>
          <p:nvPr/>
        </p:nvSpPr>
        <p:spPr>
          <a:xfrm>
            <a:off x="379643" y="5650795"/>
            <a:ext cx="365760" cy="365760"/>
          </a:xfrm>
          <a:prstGeom prst="rect">
            <a:avLst/>
          </a:prstGeom>
          <a:noFill/>
          <a:ln/>
        </p:spPr>
        <p:txBody>
          <a:bodyPr wrap="square" lIns="0" tIns="0" rIns="0" bIns="0" rtlCol="0" anchor="ctr"/>
          <a:lstStyle/>
          <a:p>
            <a:pPr algn="ctr"/>
            <a:r>
              <a:rPr lang="en-US" sz="1467" b="1" dirty="0">
                <a:solidFill>
                  <a:srgbClr val="FFFFFF"/>
                </a:solidFill>
              </a:rPr>
              <a:t>5</a:t>
            </a:r>
            <a:endParaRPr lang="en-US" sz="1467" dirty="0"/>
          </a:p>
        </p:txBody>
      </p:sp>
      <p:sp>
        <p:nvSpPr>
          <p:cNvPr id="54" name="Text 50"/>
          <p:cNvSpPr/>
          <p:nvPr/>
        </p:nvSpPr>
        <p:spPr>
          <a:xfrm>
            <a:off x="867323" y="5474011"/>
            <a:ext cx="4974336" cy="341376"/>
          </a:xfrm>
          <a:prstGeom prst="rect">
            <a:avLst/>
          </a:prstGeom>
          <a:noFill/>
          <a:ln/>
        </p:spPr>
        <p:txBody>
          <a:bodyPr wrap="square" lIns="0" tIns="0" rIns="0" bIns="0" rtlCol="0" anchor="ctr"/>
          <a:lstStyle/>
          <a:p>
            <a:r>
              <a:rPr lang="en-US" sz="1400" b="1" dirty="0">
                <a:solidFill>
                  <a:srgbClr val="1E293B"/>
                </a:solidFill>
              </a:rPr>
              <a:t>Hardware-Aware Design</a:t>
            </a:r>
            <a:endParaRPr lang="en-US" sz="1400" dirty="0"/>
          </a:p>
        </p:txBody>
      </p:sp>
      <p:sp>
        <p:nvSpPr>
          <p:cNvPr id="55" name="Shape 51"/>
          <p:cNvSpPr/>
          <p:nvPr/>
        </p:nvSpPr>
        <p:spPr>
          <a:xfrm>
            <a:off x="867323" y="5827579"/>
            <a:ext cx="4974336" cy="0"/>
          </a:xfrm>
          <a:prstGeom prst="line">
            <a:avLst/>
          </a:prstGeom>
          <a:noFill/>
          <a:ln w="12700">
            <a:solidFill>
              <a:srgbClr val="CBD5E1"/>
            </a:solidFill>
            <a:prstDash val="solid"/>
          </a:ln>
        </p:spPr>
      </p:sp>
      <p:sp>
        <p:nvSpPr>
          <p:cNvPr id="56" name="Text 52"/>
          <p:cNvSpPr/>
          <p:nvPr/>
        </p:nvSpPr>
        <p:spPr>
          <a:xfrm>
            <a:off x="867323" y="5864155"/>
            <a:ext cx="4974336" cy="353568"/>
          </a:xfrm>
          <a:prstGeom prst="rect">
            <a:avLst/>
          </a:prstGeom>
          <a:noFill/>
          <a:ln/>
        </p:spPr>
        <p:txBody>
          <a:bodyPr wrap="square" lIns="0" tIns="0" rIns="0" bIns="0" rtlCol="0" anchor="t"/>
          <a:lstStyle/>
          <a:p>
            <a:pPr>
              <a:lnSpc>
                <a:spcPct val="118000"/>
              </a:lnSpc>
            </a:pPr>
            <a:r>
              <a:rPr lang="en-US" sz="1133" dirty="0">
                <a:solidFill>
                  <a:srgbClr val="475569"/>
                </a:solidFill>
              </a:rPr>
              <a:t>Explicit receiver_tier feature bridges Septentrio survey-grade → consumer smartphone, no retraining</a:t>
            </a:r>
            <a:endParaRPr lang="en-US" sz="1133" dirty="0"/>
          </a:p>
        </p:txBody>
      </p:sp>
      <p:sp>
        <p:nvSpPr>
          <p:cNvPr id="57" name="Shape 53"/>
          <p:cNvSpPr/>
          <p:nvPr/>
        </p:nvSpPr>
        <p:spPr>
          <a:xfrm>
            <a:off x="6368292" y="935397"/>
            <a:ext cx="5705856" cy="670560"/>
          </a:xfrm>
          <a:prstGeom prst="rect">
            <a:avLst/>
          </a:prstGeom>
          <a:solidFill>
            <a:srgbClr val="0D1F3C"/>
          </a:solidFill>
          <a:ln w="12700">
            <a:solidFill>
              <a:srgbClr val="4FC3F7"/>
            </a:solidFill>
            <a:prstDash val="solid"/>
          </a:ln>
          <a:effectLst>
            <a:outerShdw blurRad="76200" dist="25400" dir="8100000" algn="bl" rotWithShape="0">
              <a:srgbClr val="000000">
                <a:alpha val="10000"/>
              </a:srgbClr>
            </a:outerShdw>
          </a:effectLst>
        </p:spPr>
      </p:sp>
      <p:sp>
        <p:nvSpPr>
          <p:cNvPr id="58" name="Text 54"/>
          <p:cNvSpPr/>
          <p:nvPr/>
        </p:nvSpPr>
        <p:spPr>
          <a:xfrm>
            <a:off x="6563364" y="947589"/>
            <a:ext cx="5315712" cy="390144"/>
          </a:xfrm>
          <a:prstGeom prst="rect">
            <a:avLst/>
          </a:prstGeom>
          <a:noFill/>
          <a:ln/>
        </p:spPr>
        <p:txBody>
          <a:bodyPr wrap="square" lIns="0" tIns="0" rIns="0" bIns="0" rtlCol="0" anchor="ctr"/>
          <a:lstStyle/>
          <a:p>
            <a:r>
              <a:rPr lang="en-US" sz="2933" b="1" dirty="0">
                <a:solidFill>
                  <a:srgbClr val="4FC3F7"/>
                </a:solidFill>
              </a:rPr>
              <a:t>10.5×  </a:t>
            </a:r>
            <a:r>
              <a:rPr lang="en-US" sz="1333" dirty="0">
                <a:solidFill>
                  <a:srgbClr val="FFFFFF"/>
                </a:solidFill>
              </a:rPr>
              <a:t>faster · one pass · three horizons</a:t>
            </a:r>
            <a:endParaRPr lang="en-US" sz="2933" dirty="0"/>
          </a:p>
        </p:txBody>
      </p:sp>
      <p:sp>
        <p:nvSpPr>
          <p:cNvPr id="59" name="Text 55"/>
          <p:cNvSpPr/>
          <p:nvPr/>
        </p:nvSpPr>
        <p:spPr>
          <a:xfrm>
            <a:off x="6563364" y="1325541"/>
            <a:ext cx="5315712" cy="243840"/>
          </a:xfrm>
          <a:prstGeom prst="rect">
            <a:avLst/>
          </a:prstGeom>
          <a:noFill/>
          <a:ln/>
        </p:spPr>
        <p:txBody>
          <a:bodyPr wrap="square" lIns="0" tIns="0" rIns="0" bIns="0" rtlCol="0" anchor="ctr"/>
          <a:lstStyle/>
          <a:p>
            <a:r>
              <a:rPr lang="en-US" sz="1133" i="1" dirty="0">
                <a:solidFill>
                  <a:srgbClr val="4FC3F7"/>
                </a:solidFill>
              </a:rPr>
              <a:t>DEGRADED F1: 0.75 (ours) vs 0.15 (RF) on unseen Tokyo</a:t>
            </a:r>
            <a:endParaRPr lang="en-US" sz="1133" dirty="0"/>
          </a:p>
        </p:txBody>
      </p:sp>
      <p:sp>
        <p:nvSpPr>
          <p:cNvPr id="60" name="Shape 56"/>
          <p:cNvSpPr/>
          <p:nvPr/>
        </p:nvSpPr>
        <p:spPr>
          <a:xfrm>
            <a:off x="6368292" y="1703493"/>
            <a:ext cx="5705856" cy="1365504"/>
          </a:xfrm>
          <a:prstGeom prst="rect">
            <a:avLst/>
          </a:prstGeom>
          <a:solidFill>
            <a:srgbClr val="FFFFFF"/>
          </a:solidFill>
          <a:ln w="12700">
            <a:solidFill>
              <a:srgbClr val="0369A1"/>
            </a:solidFill>
            <a:prstDash val="solid"/>
          </a:ln>
          <a:effectLst>
            <a:outerShdw blurRad="76200" dist="25400" dir="8100000" algn="bl" rotWithShape="0">
              <a:srgbClr val="000000">
                <a:alpha val="10000"/>
              </a:srgbClr>
            </a:outerShdw>
          </a:effectLst>
        </p:spPr>
      </p:sp>
      <p:sp>
        <p:nvSpPr>
          <p:cNvPr id="61" name="Shape 57"/>
          <p:cNvSpPr/>
          <p:nvPr/>
        </p:nvSpPr>
        <p:spPr>
          <a:xfrm>
            <a:off x="6368292" y="1703493"/>
            <a:ext cx="85344" cy="1365504"/>
          </a:xfrm>
          <a:prstGeom prst="rect">
            <a:avLst/>
          </a:prstGeom>
          <a:solidFill>
            <a:srgbClr val="0369A1"/>
          </a:solidFill>
          <a:ln w="12700">
            <a:solidFill>
              <a:srgbClr val="0369A1"/>
            </a:solidFill>
            <a:prstDash val="solid"/>
          </a:ln>
        </p:spPr>
      </p:sp>
      <p:sp>
        <p:nvSpPr>
          <p:cNvPr id="62" name="Shape 58"/>
          <p:cNvSpPr/>
          <p:nvPr/>
        </p:nvSpPr>
        <p:spPr>
          <a:xfrm>
            <a:off x="6551172" y="1825413"/>
            <a:ext cx="877824" cy="426720"/>
          </a:xfrm>
          <a:prstGeom prst="rect">
            <a:avLst/>
          </a:prstGeom>
          <a:solidFill>
            <a:srgbClr val="0369A1"/>
          </a:solidFill>
          <a:ln w="12700">
            <a:solidFill>
              <a:srgbClr val="0369A1"/>
            </a:solidFill>
            <a:prstDash val="solid"/>
          </a:ln>
        </p:spPr>
      </p:sp>
      <p:sp>
        <p:nvSpPr>
          <p:cNvPr id="63" name="Text 59"/>
          <p:cNvSpPr/>
          <p:nvPr/>
        </p:nvSpPr>
        <p:spPr>
          <a:xfrm>
            <a:off x="6551172" y="1825413"/>
            <a:ext cx="877824" cy="426720"/>
          </a:xfrm>
          <a:prstGeom prst="rect">
            <a:avLst/>
          </a:prstGeom>
          <a:noFill/>
          <a:ln/>
        </p:spPr>
        <p:txBody>
          <a:bodyPr wrap="square" lIns="0" tIns="0" rIns="0" bIns="0" rtlCol="0" anchor="ctr"/>
          <a:lstStyle/>
          <a:p>
            <a:pPr algn="ctr"/>
            <a:r>
              <a:rPr lang="en-US" sz="2000" b="1" dirty="0">
                <a:solidFill>
                  <a:srgbClr val="FFFFFF"/>
                </a:solidFill>
              </a:rPr>
              <a:t>5 s</a:t>
            </a:r>
            <a:endParaRPr lang="en-US" sz="2000" dirty="0"/>
          </a:p>
        </p:txBody>
      </p:sp>
      <p:sp>
        <p:nvSpPr>
          <p:cNvPr id="64" name="Text 60"/>
          <p:cNvSpPr/>
          <p:nvPr/>
        </p:nvSpPr>
        <p:spPr>
          <a:xfrm>
            <a:off x="7514340" y="1813221"/>
            <a:ext cx="1341120" cy="438912"/>
          </a:xfrm>
          <a:prstGeom prst="rect">
            <a:avLst/>
          </a:prstGeom>
          <a:noFill/>
          <a:ln/>
        </p:spPr>
        <p:txBody>
          <a:bodyPr wrap="square" lIns="0" tIns="0" rIns="0" bIns="0" rtlCol="0" anchor="ctr"/>
          <a:lstStyle/>
          <a:p>
            <a:r>
              <a:rPr lang="en-US" sz="2667" b="1" dirty="0">
                <a:solidFill>
                  <a:srgbClr val="003893"/>
                </a:solidFill>
              </a:rPr>
              <a:t>≈ 83 m</a:t>
            </a:r>
            <a:endParaRPr lang="en-US" sz="2667" dirty="0"/>
          </a:p>
        </p:txBody>
      </p:sp>
      <p:sp>
        <p:nvSpPr>
          <p:cNvPr id="65" name="Text 61"/>
          <p:cNvSpPr/>
          <p:nvPr/>
        </p:nvSpPr>
        <p:spPr>
          <a:xfrm>
            <a:off x="8928612" y="1861989"/>
            <a:ext cx="2999232" cy="268224"/>
          </a:xfrm>
          <a:prstGeom prst="rect">
            <a:avLst/>
          </a:prstGeom>
          <a:noFill/>
          <a:ln/>
        </p:spPr>
        <p:txBody>
          <a:bodyPr wrap="square" lIns="0" tIns="0" rIns="0" bIns="0" rtlCol="0" anchor="ctr"/>
          <a:lstStyle/>
          <a:p>
            <a:r>
              <a:rPr lang="en-US" sz="1000" b="1" kern="0" spc="293" dirty="0">
                <a:solidFill>
                  <a:srgbClr val="0369A1"/>
                </a:solidFill>
              </a:rPr>
              <a:t>SENSOR TIGHTENING</a:t>
            </a:r>
            <a:endParaRPr lang="en-US" sz="1000" dirty="0"/>
          </a:p>
        </p:txBody>
      </p:sp>
      <p:sp>
        <p:nvSpPr>
          <p:cNvPr id="66" name="Shape 62"/>
          <p:cNvSpPr/>
          <p:nvPr/>
        </p:nvSpPr>
        <p:spPr>
          <a:xfrm>
            <a:off x="6551172" y="2300901"/>
            <a:ext cx="5340096" cy="0"/>
          </a:xfrm>
          <a:prstGeom prst="line">
            <a:avLst/>
          </a:prstGeom>
          <a:noFill/>
          <a:ln w="12700">
            <a:solidFill>
              <a:srgbClr val="CBD5E1"/>
            </a:solidFill>
            <a:prstDash val="solid"/>
          </a:ln>
        </p:spPr>
      </p:sp>
      <p:sp>
        <p:nvSpPr>
          <p:cNvPr id="67" name="Text 63"/>
          <p:cNvSpPr/>
          <p:nvPr/>
        </p:nvSpPr>
        <p:spPr>
          <a:xfrm>
            <a:off x="6551172" y="2337477"/>
            <a:ext cx="5340096" cy="658368"/>
          </a:xfrm>
          <a:prstGeom prst="rect">
            <a:avLst/>
          </a:prstGeom>
          <a:noFill/>
          <a:ln/>
        </p:spPr>
        <p:txBody>
          <a:bodyPr wrap="square" lIns="0" tIns="0" rIns="0" bIns="0" rtlCol="0" anchor="t"/>
          <a:lstStyle/>
          <a:p>
            <a:pPr>
              <a:lnSpc>
                <a:spcPct val="118000"/>
              </a:lnSpc>
            </a:pPr>
            <a:r>
              <a:rPr lang="en-US" sz="1200" dirty="0">
                <a:solidFill>
                  <a:srgbClr val="475569"/>
                </a:solidFill>
              </a:rPr>
              <a:t>Fuse IMU/LiDAR · tighten tracking loops before canyon entry</a:t>
            </a:r>
            <a:endParaRPr lang="en-US" sz="1200" dirty="0"/>
          </a:p>
        </p:txBody>
      </p:sp>
      <p:sp>
        <p:nvSpPr>
          <p:cNvPr id="68" name="Shape 64"/>
          <p:cNvSpPr/>
          <p:nvPr/>
        </p:nvSpPr>
        <p:spPr>
          <a:xfrm>
            <a:off x="6368292" y="3161656"/>
            <a:ext cx="5705856" cy="1365504"/>
          </a:xfrm>
          <a:prstGeom prst="rect">
            <a:avLst/>
          </a:prstGeom>
          <a:solidFill>
            <a:srgbClr val="FFFFFF"/>
          </a:solidFill>
          <a:ln w="12700">
            <a:solidFill>
              <a:srgbClr val="0E7490"/>
            </a:solidFill>
            <a:prstDash val="solid"/>
          </a:ln>
          <a:effectLst>
            <a:outerShdw blurRad="76200" dist="25400" dir="8100000" algn="bl" rotWithShape="0">
              <a:srgbClr val="000000">
                <a:alpha val="10000"/>
              </a:srgbClr>
            </a:outerShdw>
          </a:effectLst>
        </p:spPr>
      </p:sp>
      <p:sp>
        <p:nvSpPr>
          <p:cNvPr id="69" name="Shape 65"/>
          <p:cNvSpPr/>
          <p:nvPr/>
        </p:nvSpPr>
        <p:spPr>
          <a:xfrm>
            <a:off x="6368292" y="3161656"/>
            <a:ext cx="85344" cy="1365504"/>
          </a:xfrm>
          <a:prstGeom prst="rect">
            <a:avLst/>
          </a:prstGeom>
          <a:solidFill>
            <a:srgbClr val="0E7490"/>
          </a:solidFill>
          <a:ln w="12700">
            <a:solidFill>
              <a:srgbClr val="0E7490"/>
            </a:solidFill>
            <a:prstDash val="solid"/>
          </a:ln>
        </p:spPr>
      </p:sp>
      <p:sp>
        <p:nvSpPr>
          <p:cNvPr id="70" name="Shape 66"/>
          <p:cNvSpPr/>
          <p:nvPr/>
        </p:nvSpPr>
        <p:spPr>
          <a:xfrm>
            <a:off x="6551172" y="3283576"/>
            <a:ext cx="877824" cy="426720"/>
          </a:xfrm>
          <a:prstGeom prst="rect">
            <a:avLst/>
          </a:prstGeom>
          <a:solidFill>
            <a:srgbClr val="0E7490"/>
          </a:solidFill>
          <a:ln w="12700">
            <a:solidFill>
              <a:srgbClr val="0E7490"/>
            </a:solidFill>
            <a:prstDash val="solid"/>
          </a:ln>
        </p:spPr>
      </p:sp>
      <p:sp>
        <p:nvSpPr>
          <p:cNvPr id="71" name="Text 67"/>
          <p:cNvSpPr/>
          <p:nvPr/>
        </p:nvSpPr>
        <p:spPr>
          <a:xfrm>
            <a:off x="6551172" y="3283576"/>
            <a:ext cx="877824" cy="426720"/>
          </a:xfrm>
          <a:prstGeom prst="rect">
            <a:avLst/>
          </a:prstGeom>
          <a:noFill/>
          <a:ln/>
        </p:spPr>
        <p:txBody>
          <a:bodyPr wrap="square" lIns="0" tIns="0" rIns="0" bIns="0" rtlCol="0" anchor="ctr"/>
          <a:lstStyle/>
          <a:p>
            <a:pPr algn="ctr"/>
            <a:r>
              <a:rPr lang="en-US" sz="2000" b="1" dirty="0">
                <a:solidFill>
                  <a:srgbClr val="FFFFFF"/>
                </a:solidFill>
              </a:rPr>
              <a:t>15 s</a:t>
            </a:r>
            <a:endParaRPr lang="en-US" sz="2000" dirty="0"/>
          </a:p>
        </p:txBody>
      </p:sp>
      <p:sp>
        <p:nvSpPr>
          <p:cNvPr id="72" name="Text 68"/>
          <p:cNvSpPr/>
          <p:nvPr/>
        </p:nvSpPr>
        <p:spPr>
          <a:xfrm>
            <a:off x="7514340" y="3271384"/>
            <a:ext cx="1341120" cy="438912"/>
          </a:xfrm>
          <a:prstGeom prst="rect">
            <a:avLst/>
          </a:prstGeom>
          <a:noFill/>
          <a:ln/>
        </p:spPr>
        <p:txBody>
          <a:bodyPr wrap="square" lIns="0" tIns="0" rIns="0" bIns="0" rtlCol="0" anchor="ctr"/>
          <a:lstStyle/>
          <a:p>
            <a:r>
              <a:rPr lang="en-US" sz="2667" b="1" dirty="0">
                <a:solidFill>
                  <a:srgbClr val="003893"/>
                </a:solidFill>
              </a:rPr>
              <a:t>≈ 250 m</a:t>
            </a:r>
            <a:endParaRPr lang="en-US" sz="2667" dirty="0"/>
          </a:p>
        </p:txBody>
      </p:sp>
      <p:sp>
        <p:nvSpPr>
          <p:cNvPr id="73" name="Text 69"/>
          <p:cNvSpPr/>
          <p:nvPr/>
        </p:nvSpPr>
        <p:spPr>
          <a:xfrm>
            <a:off x="8928612" y="3320152"/>
            <a:ext cx="2999232" cy="268224"/>
          </a:xfrm>
          <a:prstGeom prst="rect">
            <a:avLst/>
          </a:prstGeom>
          <a:noFill/>
          <a:ln/>
        </p:spPr>
        <p:txBody>
          <a:bodyPr wrap="square" lIns="0" tIns="0" rIns="0" bIns="0" rtlCol="0" anchor="ctr"/>
          <a:lstStyle/>
          <a:p>
            <a:r>
              <a:rPr lang="en-US" sz="1000" b="1" kern="0" spc="293" dirty="0">
                <a:solidFill>
                  <a:srgbClr val="0E7490"/>
                </a:solidFill>
              </a:rPr>
              <a:t>SENSOR HANDOFF</a:t>
            </a:r>
            <a:endParaRPr lang="en-US" sz="1000" dirty="0"/>
          </a:p>
        </p:txBody>
      </p:sp>
      <p:sp>
        <p:nvSpPr>
          <p:cNvPr id="74" name="Shape 70"/>
          <p:cNvSpPr/>
          <p:nvPr/>
        </p:nvSpPr>
        <p:spPr>
          <a:xfrm>
            <a:off x="6551172" y="3759064"/>
            <a:ext cx="5340096" cy="0"/>
          </a:xfrm>
          <a:prstGeom prst="line">
            <a:avLst/>
          </a:prstGeom>
          <a:noFill/>
          <a:ln w="12700">
            <a:solidFill>
              <a:srgbClr val="CBD5E1"/>
            </a:solidFill>
            <a:prstDash val="solid"/>
          </a:ln>
        </p:spPr>
      </p:sp>
      <p:sp>
        <p:nvSpPr>
          <p:cNvPr id="75" name="Text 71"/>
          <p:cNvSpPr/>
          <p:nvPr/>
        </p:nvSpPr>
        <p:spPr>
          <a:xfrm>
            <a:off x="6551172" y="3795640"/>
            <a:ext cx="5340096" cy="658368"/>
          </a:xfrm>
          <a:prstGeom prst="rect">
            <a:avLst/>
          </a:prstGeom>
          <a:noFill/>
          <a:ln/>
        </p:spPr>
        <p:txBody>
          <a:bodyPr wrap="square" lIns="0" tIns="0" rIns="0" bIns="0" rtlCol="0" anchor="t"/>
          <a:lstStyle/>
          <a:p>
            <a:pPr>
              <a:lnSpc>
                <a:spcPct val="118000"/>
              </a:lnSpc>
            </a:pPr>
            <a:r>
              <a:rPr lang="en-US" sz="1200" dirty="0">
                <a:solidFill>
                  <a:srgbClr val="475569"/>
                </a:solidFill>
              </a:rPr>
              <a:t>Shift EKF authority to dead-reckoning before signal loss</a:t>
            </a:r>
            <a:endParaRPr lang="en-US" sz="1200" dirty="0"/>
          </a:p>
        </p:txBody>
      </p:sp>
      <p:sp>
        <p:nvSpPr>
          <p:cNvPr id="76" name="Shape 72"/>
          <p:cNvSpPr/>
          <p:nvPr/>
        </p:nvSpPr>
        <p:spPr>
          <a:xfrm>
            <a:off x="6368292" y="4619820"/>
            <a:ext cx="5705856" cy="1365504"/>
          </a:xfrm>
          <a:prstGeom prst="rect">
            <a:avLst/>
          </a:prstGeom>
          <a:solidFill>
            <a:srgbClr val="FFFFFF"/>
          </a:solidFill>
          <a:ln w="12700">
            <a:solidFill>
              <a:srgbClr val="155E75"/>
            </a:solidFill>
            <a:prstDash val="solid"/>
          </a:ln>
          <a:effectLst>
            <a:outerShdw blurRad="76200" dist="25400" dir="8100000" algn="bl" rotWithShape="0">
              <a:srgbClr val="000000">
                <a:alpha val="10000"/>
              </a:srgbClr>
            </a:outerShdw>
          </a:effectLst>
        </p:spPr>
      </p:sp>
      <p:sp>
        <p:nvSpPr>
          <p:cNvPr id="77" name="Shape 73"/>
          <p:cNvSpPr/>
          <p:nvPr/>
        </p:nvSpPr>
        <p:spPr>
          <a:xfrm>
            <a:off x="6368292" y="4619820"/>
            <a:ext cx="85344" cy="1365504"/>
          </a:xfrm>
          <a:prstGeom prst="rect">
            <a:avLst/>
          </a:prstGeom>
          <a:solidFill>
            <a:srgbClr val="155E75"/>
          </a:solidFill>
          <a:ln w="12700">
            <a:solidFill>
              <a:srgbClr val="155E75"/>
            </a:solidFill>
            <a:prstDash val="solid"/>
          </a:ln>
        </p:spPr>
      </p:sp>
      <p:sp>
        <p:nvSpPr>
          <p:cNvPr id="78" name="Shape 74"/>
          <p:cNvSpPr/>
          <p:nvPr/>
        </p:nvSpPr>
        <p:spPr>
          <a:xfrm>
            <a:off x="6551172" y="4741740"/>
            <a:ext cx="877824" cy="426720"/>
          </a:xfrm>
          <a:prstGeom prst="rect">
            <a:avLst/>
          </a:prstGeom>
          <a:solidFill>
            <a:srgbClr val="155E75"/>
          </a:solidFill>
          <a:ln w="12700">
            <a:solidFill>
              <a:srgbClr val="155E75"/>
            </a:solidFill>
            <a:prstDash val="solid"/>
          </a:ln>
        </p:spPr>
      </p:sp>
      <p:sp>
        <p:nvSpPr>
          <p:cNvPr id="79" name="Text 75"/>
          <p:cNvSpPr/>
          <p:nvPr/>
        </p:nvSpPr>
        <p:spPr>
          <a:xfrm>
            <a:off x="6551172" y="4741740"/>
            <a:ext cx="877824" cy="426720"/>
          </a:xfrm>
          <a:prstGeom prst="rect">
            <a:avLst/>
          </a:prstGeom>
          <a:noFill/>
          <a:ln/>
        </p:spPr>
        <p:txBody>
          <a:bodyPr wrap="square" lIns="0" tIns="0" rIns="0" bIns="0" rtlCol="0" anchor="ctr"/>
          <a:lstStyle/>
          <a:p>
            <a:pPr algn="ctr"/>
            <a:r>
              <a:rPr lang="en-US" sz="2000" b="1" dirty="0">
                <a:solidFill>
                  <a:srgbClr val="FFFFFF"/>
                </a:solidFill>
              </a:rPr>
              <a:t>30 s</a:t>
            </a:r>
            <a:endParaRPr lang="en-US" sz="2000" dirty="0"/>
          </a:p>
        </p:txBody>
      </p:sp>
      <p:sp>
        <p:nvSpPr>
          <p:cNvPr id="80" name="Text 76"/>
          <p:cNvSpPr/>
          <p:nvPr/>
        </p:nvSpPr>
        <p:spPr>
          <a:xfrm>
            <a:off x="7514340" y="4729548"/>
            <a:ext cx="1341120" cy="438912"/>
          </a:xfrm>
          <a:prstGeom prst="rect">
            <a:avLst/>
          </a:prstGeom>
          <a:noFill/>
          <a:ln/>
        </p:spPr>
        <p:txBody>
          <a:bodyPr wrap="square" lIns="0" tIns="0" rIns="0" bIns="0" rtlCol="0" anchor="ctr"/>
          <a:lstStyle/>
          <a:p>
            <a:r>
              <a:rPr lang="en-US" sz="2667" b="1" dirty="0">
                <a:solidFill>
                  <a:srgbClr val="003893"/>
                </a:solidFill>
              </a:rPr>
              <a:t>≈ 500 m</a:t>
            </a:r>
            <a:endParaRPr lang="en-US" sz="2667" dirty="0"/>
          </a:p>
        </p:txBody>
      </p:sp>
      <p:sp>
        <p:nvSpPr>
          <p:cNvPr id="81" name="Text 77"/>
          <p:cNvSpPr/>
          <p:nvPr/>
        </p:nvSpPr>
        <p:spPr>
          <a:xfrm>
            <a:off x="8928612" y="4778316"/>
            <a:ext cx="2999232" cy="268224"/>
          </a:xfrm>
          <a:prstGeom prst="rect">
            <a:avLst/>
          </a:prstGeom>
          <a:noFill/>
          <a:ln/>
        </p:spPr>
        <p:txBody>
          <a:bodyPr wrap="square" lIns="0" tIns="0" rIns="0" bIns="0" rtlCol="0" anchor="ctr"/>
          <a:lstStyle/>
          <a:p>
            <a:r>
              <a:rPr lang="en-US" sz="1000" b="1" kern="0" spc="293" dirty="0">
                <a:solidFill>
                  <a:srgbClr val="155E75"/>
                </a:solidFill>
              </a:rPr>
              <a:t>ROUTE REPLANNING</a:t>
            </a:r>
            <a:endParaRPr lang="en-US" sz="1000" dirty="0"/>
          </a:p>
        </p:txBody>
      </p:sp>
      <p:sp>
        <p:nvSpPr>
          <p:cNvPr id="82" name="Shape 78"/>
          <p:cNvSpPr/>
          <p:nvPr/>
        </p:nvSpPr>
        <p:spPr>
          <a:xfrm>
            <a:off x="6551172" y="5217228"/>
            <a:ext cx="5340096" cy="0"/>
          </a:xfrm>
          <a:prstGeom prst="line">
            <a:avLst/>
          </a:prstGeom>
          <a:noFill/>
          <a:ln w="12700">
            <a:solidFill>
              <a:srgbClr val="CBD5E1"/>
            </a:solidFill>
            <a:prstDash val="solid"/>
          </a:ln>
        </p:spPr>
      </p:sp>
      <p:sp>
        <p:nvSpPr>
          <p:cNvPr id="83" name="Text 79"/>
          <p:cNvSpPr/>
          <p:nvPr/>
        </p:nvSpPr>
        <p:spPr>
          <a:xfrm>
            <a:off x="6551172" y="5253804"/>
            <a:ext cx="5340096" cy="658368"/>
          </a:xfrm>
          <a:prstGeom prst="rect">
            <a:avLst/>
          </a:prstGeom>
          <a:noFill/>
          <a:ln/>
        </p:spPr>
        <p:txBody>
          <a:bodyPr wrap="square" lIns="0" tIns="0" rIns="0" bIns="0" rtlCol="0" anchor="t"/>
          <a:lstStyle/>
          <a:p>
            <a:pPr>
              <a:lnSpc>
                <a:spcPct val="118000"/>
              </a:lnSpc>
            </a:pPr>
            <a:r>
              <a:rPr lang="en-US" sz="1200" dirty="0">
                <a:solidFill>
                  <a:srgbClr val="475569"/>
                </a:solidFill>
              </a:rPr>
              <a:t>Full lead time to commit to an alternative route</a:t>
            </a:r>
            <a:endParaRPr lang="en-US" sz="1200" dirty="0"/>
          </a:p>
        </p:txBody>
      </p:sp>
      <p:sp>
        <p:nvSpPr>
          <p:cNvPr id="84" name="Shape 0"/>
          <p:cNvSpPr/>
          <p:nvPr/>
        </p:nvSpPr>
        <p:spPr>
          <a:xfrm>
            <a:off x="0" y="-19773"/>
            <a:ext cx="12192000" cy="740408"/>
          </a:xfrm>
          <a:prstGeom prst="rect">
            <a:avLst/>
          </a:prstGeom>
          <a:solidFill>
            <a:srgbClr val="003893"/>
          </a:solidFill>
          <a:ln w="12700">
            <a:solidFill>
              <a:srgbClr val="003893"/>
            </a:solidFill>
            <a:prstDash val="solid"/>
          </a:ln>
        </p:spPr>
      </p:sp>
      <p:sp>
        <p:nvSpPr>
          <p:cNvPr id="85" name="Shape 4"/>
          <p:cNvSpPr/>
          <p:nvPr/>
        </p:nvSpPr>
        <p:spPr>
          <a:xfrm>
            <a:off x="0" y="-23991"/>
            <a:ext cx="1128763" cy="767311"/>
          </a:xfrm>
          <a:prstGeom prst="homePlate">
            <a:avLst/>
          </a:prstGeom>
          <a:solidFill>
            <a:srgbClr val="FFFFFF"/>
          </a:solidFill>
          <a:ln w="6350">
            <a:solidFill>
              <a:srgbClr val="CCCCCC"/>
            </a:solidFill>
            <a:prstDash val="solid"/>
          </a:ln>
        </p:spPr>
      </p:sp>
      <p:pic>
        <p:nvPicPr>
          <p:cNvPr id="89" name="Picture 88">
            <a:extLst>
              <a:ext uri="{FF2B5EF4-FFF2-40B4-BE49-F238E27FC236}">
                <a16:creationId xmlns:a16="http://schemas.microsoft.com/office/drawing/2014/main" id="{6BF679AE-4199-10E8-76D5-569080AF8895}"/>
              </a:ext>
            </a:extLst>
          </p:cNvPr>
          <p:cNvPicPr>
            <a:picLocks noChangeAspect="1"/>
          </p:cNvPicPr>
          <p:nvPr/>
        </p:nvPicPr>
        <p:blipFill>
          <a:blip r:embed="rId4"/>
          <a:stretch>
            <a:fillRect/>
          </a:stretch>
        </p:blipFill>
        <p:spPr>
          <a:xfrm>
            <a:off x="-449372" y="-263328"/>
            <a:ext cx="1776568" cy="1245981"/>
          </a:xfrm>
          <a:prstGeom prst="rect">
            <a:avLst/>
          </a:prstGeom>
        </p:spPr>
      </p:pic>
      <p:sp>
        <p:nvSpPr>
          <p:cNvPr id="3" name="Text 1">
            <a:extLst>
              <a:ext uri="{FF2B5EF4-FFF2-40B4-BE49-F238E27FC236}">
                <a16:creationId xmlns:a16="http://schemas.microsoft.com/office/drawing/2014/main" id="{1A39884D-750F-158A-73D2-5A8E63E41188}"/>
              </a:ext>
            </a:extLst>
          </p:cNvPr>
          <p:cNvSpPr/>
          <p:nvPr/>
        </p:nvSpPr>
        <p:spPr>
          <a:xfrm>
            <a:off x="1273155" y="40844"/>
            <a:ext cx="10972800" cy="731520"/>
          </a:xfrm>
          <a:prstGeom prst="rect">
            <a:avLst/>
          </a:prstGeom>
          <a:noFill/>
          <a:ln/>
        </p:spPr>
        <p:txBody>
          <a:bodyPr wrap="square" lIns="0" tIns="0" rIns="0" bIns="0" rtlCol="0" anchor="ctr"/>
          <a:lstStyle/>
          <a:p>
            <a:r>
              <a:rPr lang="en-US" sz="3200" b="1" dirty="0">
                <a:solidFill>
                  <a:schemeClr val="bg1"/>
                </a:solidFill>
                <a:latin typeface="Calibri" pitchFamily="34" charset="0"/>
                <a:ea typeface="Calibri" pitchFamily="34" charset="-122"/>
                <a:cs typeface="Calibri" pitchFamily="34" charset="-120"/>
              </a:rPr>
              <a:t>NOVELTIES</a:t>
            </a:r>
            <a:endParaRPr lang="en-US" sz="3200" dirty="0">
              <a:solidFill>
                <a:schemeClr val="bg1"/>
              </a:solidFill>
            </a:endParaRP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40844"/>
            <a:ext cx="12192000" cy="6858000"/>
          </a:xfrm>
          <a:prstGeom prst="rect">
            <a:avLst/>
          </a:prstGeom>
        </p:spPr>
      </p:pic>
      <p:sp>
        <p:nvSpPr>
          <p:cNvPr id="4" name="Shape 1"/>
          <p:cNvSpPr/>
          <p:nvPr/>
        </p:nvSpPr>
        <p:spPr>
          <a:xfrm>
            <a:off x="0" y="702259"/>
            <a:ext cx="12192000" cy="36576"/>
          </a:xfrm>
          <a:prstGeom prst="rect">
            <a:avLst/>
          </a:prstGeom>
          <a:solidFill>
            <a:srgbClr val="4FC3F7"/>
          </a:solidFill>
          <a:ln w="12700">
            <a:solidFill>
              <a:srgbClr val="4FC3F7"/>
            </a:solidFill>
            <a:prstDash val="solid"/>
          </a:ln>
        </p:spPr>
      </p:sp>
      <p:sp>
        <p:nvSpPr>
          <p:cNvPr id="5" name="Shape 2"/>
          <p:cNvSpPr/>
          <p:nvPr/>
        </p:nvSpPr>
        <p:spPr>
          <a:xfrm>
            <a:off x="0" y="6647080"/>
            <a:ext cx="12192000" cy="210921"/>
          </a:xfrm>
          <a:prstGeom prst="rect">
            <a:avLst/>
          </a:prstGeom>
          <a:solidFill>
            <a:srgbClr val="003893"/>
          </a:solidFill>
          <a:ln w="12700">
            <a:solidFill>
              <a:srgbClr val="003893"/>
            </a:solidFill>
            <a:prstDash val="solid"/>
          </a:ln>
        </p:spPr>
      </p:sp>
      <p:sp>
        <p:nvSpPr>
          <p:cNvPr id="6" name="Shape 3"/>
          <p:cNvSpPr/>
          <p:nvPr/>
        </p:nvSpPr>
        <p:spPr>
          <a:xfrm>
            <a:off x="0" y="6623913"/>
            <a:ext cx="12192000" cy="30480"/>
          </a:xfrm>
          <a:prstGeom prst="rect">
            <a:avLst/>
          </a:prstGeom>
          <a:solidFill>
            <a:srgbClr val="4FC3F7"/>
          </a:solidFill>
          <a:ln w="12700">
            <a:solidFill>
              <a:srgbClr val="4FC3F7"/>
            </a:solidFill>
            <a:prstDash val="solid"/>
          </a:ln>
        </p:spPr>
      </p:sp>
      <p:sp>
        <p:nvSpPr>
          <p:cNvPr id="8" name="Shape 4"/>
          <p:cNvSpPr/>
          <p:nvPr/>
        </p:nvSpPr>
        <p:spPr>
          <a:xfrm>
            <a:off x="10731399" y="121921"/>
            <a:ext cx="51207" cy="51207"/>
          </a:xfrm>
          <a:prstGeom prst="ellipse">
            <a:avLst/>
          </a:prstGeom>
          <a:solidFill>
            <a:srgbClr val="FFFFFF">
              <a:alpha val="35000"/>
            </a:srgbClr>
          </a:solidFill>
          <a:ln w="12700">
            <a:solidFill>
              <a:srgbClr val="FFFFFF"/>
            </a:solidFill>
            <a:prstDash val="solid"/>
          </a:ln>
        </p:spPr>
      </p:sp>
      <p:sp>
        <p:nvSpPr>
          <p:cNvPr id="9" name="Shape 5"/>
          <p:cNvSpPr/>
          <p:nvPr/>
        </p:nvSpPr>
        <p:spPr>
          <a:xfrm>
            <a:off x="10947198" y="121921"/>
            <a:ext cx="51207" cy="51207"/>
          </a:xfrm>
          <a:prstGeom prst="ellipse">
            <a:avLst/>
          </a:prstGeom>
          <a:solidFill>
            <a:srgbClr val="FFFFFF">
              <a:alpha val="35000"/>
            </a:srgbClr>
          </a:solidFill>
          <a:ln w="12700">
            <a:solidFill>
              <a:srgbClr val="FFFFFF"/>
            </a:solidFill>
            <a:prstDash val="solid"/>
          </a:ln>
        </p:spPr>
      </p:sp>
      <p:sp>
        <p:nvSpPr>
          <p:cNvPr id="10" name="Shape 6"/>
          <p:cNvSpPr/>
          <p:nvPr/>
        </p:nvSpPr>
        <p:spPr>
          <a:xfrm>
            <a:off x="11162995" y="121921"/>
            <a:ext cx="51207" cy="51207"/>
          </a:xfrm>
          <a:prstGeom prst="ellipse">
            <a:avLst/>
          </a:prstGeom>
          <a:solidFill>
            <a:srgbClr val="FFFFFF">
              <a:alpha val="35000"/>
            </a:srgbClr>
          </a:solidFill>
          <a:ln w="12700">
            <a:solidFill>
              <a:srgbClr val="FFFFFF"/>
            </a:solidFill>
            <a:prstDash val="solid"/>
          </a:ln>
        </p:spPr>
      </p:sp>
      <p:sp>
        <p:nvSpPr>
          <p:cNvPr id="11" name="Shape 7"/>
          <p:cNvSpPr/>
          <p:nvPr/>
        </p:nvSpPr>
        <p:spPr>
          <a:xfrm>
            <a:off x="11378794" y="121921"/>
            <a:ext cx="51207" cy="51207"/>
          </a:xfrm>
          <a:prstGeom prst="ellipse">
            <a:avLst/>
          </a:prstGeom>
          <a:solidFill>
            <a:srgbClr val="FFFFFF">
              <a:alpha val="35000"/>
            </a:srgbClr>
          </a:solidFill>
          <a:ln w="12700">
            <a:solidFill>
              <a:srgbClr val="FFFFFF"/>
            </a:solidFill>
            <a:prstDash val="solid"/>
          </a:ln>
        </p:spPr>
      </p:sp>
      <p:sp>
        <p:nvSpPr>
          <p:cNvPr id="12" name="Shape 8"/>
          <p:cNvSpPr/>
          <p:nvPr/>
        </p:nvSpPr>
        <p:spPr>
          <a:xfrm>
            <a:off x="10731399" y="292609"/>
            <a:ext cx="51207" cy="51207"/>
          </a:xfrm>
          <a:prstGeom prst="ellipse">
            <a:avLst/>
          </a:prstGeom>
          <a:solidFill>
            <a:srgbClr val="FFFFFF">
              <a:alpha val="35000"/>
            </a:srgbClr>
          </a:solidFill>
          <a:ln w="12700">
            <a:solidFill>
              <a:srgbClr val="FFFFFF"/>
            </a:solidFill>
            <a:prstDash val="solid"/>
          </a:ln>
        </p:spPr>
      </p:sp>
      <p:sp>
        <p:nvSpPr>
          <p:cNvPr id="13" name="Shape 9"/>
          <p:cNvSpPr/>
          <p:nvPr/>
        </p:nvSpPr>
        <p:spPr>
          <a:xfrm>
            <a:off x="10947198" y="292609"/>
            <a:ext cx="51207" cy="51207"/>
          </a:xfrm>
          <a:prstGeom prst="ellipse">
            <a:avLst/>
          </a:prstGeom>
          <a:solidFill>
            <a:srgbClr val="FFFFFF">
              <a:alpha val="35000"/>
            </a:srgbClr>
          </a:solidFill>
          <a:ln w="12700">
            <a:solidFill>
              <a:srgbClr val="FFFFFF"/>
            </a:solidFill>
            <a:prstDash val="solid"/>
          </a:ln>
        </p:spPr>
      </p:sp>
      <p:sp>
        <p:nvSpPr>
          <p:cNvPr id="14" name="Shape 10"/>
          <p:cNvSpPr/>
          <p:nvPr/>
        </p:nvSpPr>
        <p:spPr>
          <a:xfrm>
            <a:off x="11162995" y="292609"/>
            <a:ext cx="51207" cy="51207"/>
          </a:xfrm>
          <a:prstGeom prst="ellipse">
            <a:avLst/>
          </a:prstGeom>
          <a:solidFill>
            <a:srgbClr val="FFFFFF">
              <a:alpha val="35000"/>
            </a:srgbClr>
          </a:solidFill>
          <a:ln w="12700">
            <a:solidFill>
              <a:srgbClr val="FFFFFF"/>
            </a:solidFill>
            <a:prstDash val="solid"/>
          </a:ln>
        </p:spPr>
      </p:sp>
      <p:sp>
        <p:nvSpPr>
          <p:cNvPr id="15" name="Shape 11"/>
          <p:cNvSpPr/>
          <p:nvPr/>
        </p:nvSpPr>
        <p:spPr>
          <a:xfrm>
            <a:off x="11378794" y="292609"/>
            <a:ext cx="51207" cy="51207"/>
          </a:xfrm>
          <a:prstGeom prst="ellipse">
            <a:avLst/>
          </a:prstGeom>
          <a:solidFill>
            <a:srgbClr val="FFFFFF">
              <a:alpha val="35000"/>
            </a:srgbClr>
          </a:solidFill>
          <a:ln w="12700">
            <a:solidFill>
              <a:srgbClr val="FFFFFF"/>
            </a:solidFill>
            <a:prstDash val="solid"/>
          </a:ln>
        </p:spPr>
      </p:sp>
      <p:sp>
        <p:nvSpPr>
          <p:cNvPr id="16" name="Shape 12"/>
          <p:cNvSpPr/>
          <p:nvPr/>
        </p:nvSpPr>
        <p:spPr>
          <a:xfrm>
            <a:off x="10731399" y="463297"/>
            <a:ext cx="51207" cy="51207"/>
          </a:xfrm>
          <a:prstGeom prst="ellipse">
            <a:avLst/>
          </a:prstGeom>
          <a:solidFill>
            <a:srgbClr val="FFFFFF">
              <a:alpha val="35000"/>
            </a:srgbClr>
          </a:solidFill>
          <a:ln w="12700">
            <a:solidFill>
              <a:srgbClr val="FFFFFF"/>
            </a:solidFill>
            <a:prstDash val="solid"/>
          </a:ln>
        </p:spPr>
      </p:sp>
      <p:sp>
        <p:nvSpPr>
          <p:cNvPr id="17" name="Shape 13"/>
          <p:cNvSpPr/>
          <p:nvPr/>
        </p:nvSpPr>
        <p:spPr>
          <a:xfrm>
            <a:off x="10947198" y="463297"/>
            <a:ext cx="51207" cy="51207"/>
          </a:xfrm>
          <a:prstGeom prst="ellipse">
            <a:avLst/>
          </a:prstGeom>
          <a:solidFill>
            <a:srgbClr val="FFFFFF">
              <a:alpha val="35000"/>
            </a:srgbClr>
          </a:solidFill>
          <a:ln w="12700">
            <a:solidFill>
              <a:srgbClr val="FFFFFF"/>
            </a:solidFill>
            <a:prstDash val="solid"/>
          </a:ln>
        </p:spPr>
      </p:sp>
      <p:sp>
        <p:nvSpPr>
          <p:cNvPr id="18" name="Shape 14"/>
          <p:cNvSpPr/>
          <p:nvPr/>
        </p:nvSpPr>
        <p:spPr>
          <a:xfrm>
            <a:off x="11162995" y="463297"/>
            <a:ext cx="51207" cy="51207"/>
          </a:xfrm>
          <a:prstGeom prst="ellipse">
            <a:avLst/>
          </a:prstGeom>
          <a:solidFill>
            <a:srgbClr val="FFFFFF">
              <a:alpha val="35000"/>
            </a:srgbClr>
          </a:solidFill>
          <a:ln w="12700">
            <a:solidFill>
              <a:srgbClr val="FFFFFF"/>
            </a:solidFill>
            <a:prstDash val="solid"/>
          </a:ln>
        </p:spPr>
      </p:sp>
      <p:sp>
        <p:nvSpPr>
          <p:cNvPr id="19" name="Shape 15"/>
          <p:cNvSpPr/>
          <p:nvPr/>
        </p:nvSpPr>
        <p:spPr>
          <a:xfrm>
            <a:off x="11378794" y="463297"/>
            <a:ext cx="51207" cy="51207"/>
          </a:xfrm>
          <a:prstGeom prst="ellipse">
            <a:avLst/>
          </a:prstGeom>
          <a:solidFill>
            <a:srgbClr val="FFFFFF">
              <a:alpha val="35000"/>
            </a:srgbClr>
          </a:solidFill>
          <a:ln w="12700">
            <a:solidFill>
              <a:srgbClr val="FFFFFF"/>
            </a:solidFill>
            <a:prstDash val="solid"/>
          </a:ln>
        </p:spPr>
      </p:sp>
      <p:sp>
        <p:nvSpPr>
          <p:cNvPr id="22" name="Shape 18"/>
          <p:cNvSpPr/>
          <p:nvPr/>
        </p:nvSpPr>
        <p:spPr>
          <a:xfrm>
            <a:off x="268224" y="1036995"/>
            <a:ext cx="2816352" cy="1121664"/>
          </a:xfrm>
          <a:prstGeom prst="rect">
            <a:avLst/>
          </a:prstGeom>
          <a:solidFill>
            <a:srgbClr val="003893"/>
          </a:solidFill>
          <a:ln w="12700">
            <a:solidFill>
              <a:srgbClr val="FFFFFF"/>
            </a:solidFill>
            <a:prstDash val="solid"/>
          </a:ln>
          <a:effectLst>
            <a:outerShdw blurRad="76200" dist="25400" dir="8100000" algn="bl" rotWithShape="0">
              <a:srgbClr val="000000">
                <a:alpha val="10000"/>
              </a:srgbClr>
            </a:outerShdw>
          </a:effectLst>
        </p:spPr>
      </p:sp>
      <p:sp>
        <p:nvSpPr>
          <p:cNvPr id="23" name="Text 19"/>
          <p:cNvSpPr/>
          <p:nvPr/>
        </p:nvSpPr>
        <p:spPr>
          <a:xfrm>
            <a:off x="365760" y="1085763"/>
            <a:ext cx="2621280" cy="560832"/>
          </a:xfrm>
          <a:prstGeom prst="rect">
            <a:avLst/>
          </a:prstGeom>
          <a:noFill/>
          <a:ln/>
        </p:spPr>
        <p:txBody>
          <a:bodyPr wrap="square" lIns="0" tIns="0" rIns="0" bIns="0" rtlCol="0" anchor="ctr"/>
          <a:lstStyle/>
          <a:p>
            <a:pPr algn="ctr"/>
            <a:r>
              <a:rPr lang="en-US" sz="3200" b="1" dirty="0">
                <a:solidFill>
                  <a:srgbClr val="FFFFFF"/>
                </a:solidFill>
              </a:rPr>
              <a:t>0.8206</a:t>
            </a:r>
            <a:endParaRPr lang="en-US" sz="3200" dirty="0"/>
          </a:p>
        </p:txBody>
      </p:sp>
      <p:sp>
        <p:nvSpPr>
          <p:cNvPr id="24" name="Text 20"/>
          <p:cNvSpPr/>
          <p:nvPr/>
        </p:nvSpPr>
        <p:spPr>
          <a:xfrm>
            <a:off x="365760" y="1646595"/>
            <a:ext cx="2621280" cy="268224"/>
          </a:xfrm>
          <a:prstGeom prst="rect">
            <a:avLst/>
          </a:prstGeom>
          <a:noFill/>
          <a:ln/>
        </p:spPr>
        <p:txBody>
          <a:bodyPr wrap="square" lIns="0" tIns="0" rIns="0" bIns="0" rtlCol="0" anchor="t"/>
          <a:lstStyle/>
          <a:p>
            <a:pPr algn="ctr"/>
            <a:r>
              <a:rPr lang="en-US" sz="1133" dirty="0">
                <a:solidFill>
                  <a:srgbClr val="4FC3F7"/>
                </a:solidFill>
              </a:rPr>
              <a:t>Macro-F1  (+5 s)</a:t>
            </a:r>
            <a:endParaRPr lang="en-US" sz="1133" dirty="0"/>
          </a:p>
        </p:txBody>
      </p:sp>
      <p:sp>
        <p:nvSpPr>
          <p:cNvPr id="25" name="Text 21"/>
          <p:cNvSpPr/>
          <p:nvPr/>
        </p:nvSpPr>
        <p:spPr>
          <a:xfrm>
            <a:off x="365760" y="1890435"/>
            <a:ext cx="2621280" cy="219456"/>
          </a:xfrm>
          <a:prstGeom prst="rect">
            <a:avLst/>
          </a:prstGeom>
          <a:noFill/>
          <a:ln/>
        </p:spPr>
        <p:txBody>
          <a:bodyPr wrap="square" lIns="0" tIns="0" rIns="0" bIns="0" rtlCol="0" anchor="t"/>
          <a:lstStyle/>
          <a:p>
            <a:pPr algn="ctr"/>
            <a:r>
              <a:rPr lang="en-US" sz="1000" i="1" dirty="0">
                <a:solidFill>
                  <a:srgbClr val="B0C4D8"/>
                </a:solidFill>
              </a:rPr>
              <a:t>95% CI [0.798, 0.840]</a:t>
            </a:r>
            <a:endParaRPr lang="en-US" sz="1000" dirty="0"/>
          </a:p>
        </p:txBody>
      </p:sp>
      <p:sp>
        <p:nvSpPr>
          <p:cNvPr id="26" name="Shape 22"/>
          <p:cNvSpPr/>
          <p:nvPr/>
        </p:nvSpPr>
        <p:spPr>
          <a:xfrm>
            <a:off x="3182112" y="1036995"/>
            <a:ext cx="2816352" cy="1121664"/>
          </a:xfrm>
          <a:prstGeom prst="rect">
            <a:avLst/>
          </a:prstGeom>
          <a:solidFill>
            <a:srgbClr val="0E7490"/>
          </a:solidFill>
          <a:ln w="12700">
            <a:solidFill>
              <a:srgbClr val="FFFFFF"/>
            </a:solidFill>
            <a:prstDash val="solid"/>
          </a:ln>
          <a:effectLst>
            <a:outerShdw blurRad="76200" dist="25400" dir="8100000" algn="bl" rotWithShape="0">
              <a:srgbClr val="000000">
                <a:alpha val="10000"/>
              </a:srgbClr>
            </a:outerShdw>
          </a:effectLst>
        </p:spPr>
      </p:sp>
      <p:sp>
        <p:nvSpPr>
          <p:cNvPr id="27" name="Text 23"/>
          <p:cNvSpPr/>
          <p:nvPr/>
        </p:nvSpPr>
        <p:spPr>
          <a:xfrm>
            <a:off x="3279648" y="1085763"/>
            <a:ext cx="2621280" cy="560832"/>
          </a:xfrm>
          <a:prstGeom prst="rect">
            <a:avLst/>
          </a:prstGeom>
          <a:noFill/>
          <a:ln/>
        </p:spPr>
        <p:txBody>
          <a:bodyPr wrap="square" lIns="0" tIns="0" rIns="0" bIns="0" rtlCol="0" anchor="ctr"/>
          <a:lstStyle/>
          <a:p>
            <a:pPr algn="ctr"/>
            <a:r>
              <a:rPr lang="en-US" sz="3200" b="1" dirty="0">
                <a:solidFill>
                  <a:srgbClr val="FFFFFF"/>
                </a:solidFill>
              </a:rPr>
              <a:t>85%</a:t>
            </a:r>
            <a:endParaRPr lang="en-US" sz="3200" dirty="0"/>
          </a:p>
        </p:txBody>
      </p:sp>
      <p:sp>
        <p:nvSpPr>
          <p:cNvPr id="28" name="Text 24"/>
          <p:cNvSpPr/>
          <p:nvPr/>
        </p:nvSpPr>
        <p:spPr>
          <a:xfrm>
            <a:off x="3279648" y="1646595"/>
            <a:ext cx="2621280" cy="268224"/>
          </a:xfrm>
          <a:prstGeom prst="rect">
            <a:avLst/>
          </a:prstGeom>
          <a:noFill/>
          <a:ln/>
        </p:spPr>
        <p:txBody>
          <a:bodyPr wrap="square" lIns="0" tIns="0" rIns="0" bIns="0" rtlCol="0" anchor="t"/>
          <a:lstStyle/>
          <a:p>
            <a:pPr algn="ctr"/>
            <a:r>
              <a:rPr lang="en-US" sz="1133" dirty="0">
                <a:solidFill>
                  <a:srgbClr val="4FC3F7"/>
                </a:solidFill>
              </a:rPr>
              <a:t>DEGRADED Recall</a:t>
            </a:r>
            <a:endParaRPr lang="en-US" sz="1133" dirty="0"/>
          </a:p>
        </p:txBody>
      </p:sp>
      <p:sp>
        <p:nvSpPr>
          <p:cNvPr id="29" name="Text 25"/>
          <p:cNvSpPr/>
          <p:nvPr/>
        </p:nvSpPr>
        <p:spPr>
          <a:xfrm>
            <a:off x="3279648" y="1890435"/>
            <a:ext cx="2621280" cy="219456"/>
          </a:xfrm>
          <a:prstGeom prst="rect">
            <a:avLst/>
          </a:prstGeom>
          <a:noFill/>
          <a:ln/>
        </p:spPr>
        <p:txBody>
          <a:bodyPr wrap="square" lIns="0" tIns="0" rIns="0" bIns="0" rtlCol="0" anchor="t"/>
          <a:lstStyle/>
          <a:p>
            <a:pPr algn="ctr"/>
            <a:r>
              <a:rPr lang="en-US" sz="1000" i="1" dirty="0">
                <a:solidFill>
                  <a:srgbClr val="B0C4D8"/>
                </a:solidFill>
              </a:rPr>
              <a:t>safety-critical class</a:t>
            </a:r>
            <a:endParaRPr lang="en-US" sz="1000" dirty="0"/>
          </a:p>
        </p:txBody>
      </p:sp>
      <p:sp>
        <p:nvSpPr>
          <p:cNvPr id="30" name="Shape 26"/>
          <p:cNvSpPr/>
          <p:nvPr/>
        </p:nvSpPr>
        <p:spPr>
          <a:xfrm>
            <a:off x="6096000" y="1036995"/>
            <a:ext cx="2816352" cy="1121664"/>
          </a:xfrm>
          <a:prstGeom prst="rect">
            <a:avLst/>
          </a:prstGeom>
          <a:solidFill>
            <a:srgbClr val="0369A1"/>
          </a:solidFill>
          <a:ln w="12700">
            <a:solidFill>
              <a:srgbClr val="FFFFFF"/>
            </a:solidFill>
            <a:prstDash val="solid"/>
          </a:ln>
          <a:effectLst>
            <a:outerShdw blurRad="76200" dist="25400" dir="8100000" algn="bl" rotWithShape="0">
              <a:srgbClr val="000000">
                <a:alpha val="10000"/>
              </a:srgbClr>
            </a:outerShdw>
          </a:effectLst>
        </p:spPr>
      </p:sp>
      <p:sp>
        <p:nvSpPr>
          <p:cNvPr id="31" name="Text 27"/>
          <p:cNvSpPr/>
          <p:nvPr/>
        </p:nvSpPr>
        <p:spPr>
          <a:xfrm>
            <a:off x="6193536" y="1085763"/>
            <a:ext cx="2621280" cy="560832"/>
          </a:xfrm>
          <a:prstGeom prst="rect">
            <a:avLst/>
          </a:prstGeom>
          <a:noFill/>
          <a:ln/>
        </p:spPr>
        <p:txBody>
          <a:bodyPr wrap="square" lIns="0" tIns="0" rIns="0" bIns="0" rtlCol="0" anchor="ctr"/>
          <a:lstStyle/>
          <a:p>
            <a:pPr algn="ctr"/>
            <a:r>
              <a:rPr lang="en-US" sz="3200" b="1" dirty="0">
                <a:solidFill>
                  <a:srgbClr val="FFFFFF"/>
                </a:solidFill>
              </a:rPr>
              <a:t>0.75</a:t>
            </a:r>
            <a:endParaRPr lang="en-US" sz="3200" dirty="0"/>
          </a:p>
        </p:txBody>
      </p:sp>
      <p:sp>
        <p:nvSpPr>
          <p:cNvPr id="32" name="Text 28"/>
          <p:cNvSpPr/>
          <p:nvPr/>
        </p:nvSpPr>
        <p:spPr>
          <a:xfrm>
            <a:off x="6193536" y="1646595"/>
            <a:ext cx="2621280" cy="268224"/>
          </a:xfrm>
          <a:prstGeom prst="rect">
            <a:avLst/>
          </a:prstGeom>
          <a:noFill/>
          <a:ln/>
        </p:spPr>
        <p:txBody>
          <a:bodyPr wrap="square" lIns="0" tIns="0" rIns="0" bIns="0" rtlCol="0" anchor="t"/>
          <a:lstStyle/>
          <a:p>
            <a:pPr algn="ctr"/>
            <a:r>
              <a:rPr lang="en-US" sz="1133" dirty="0">
                <a:solidFill>
                  <a:srgbClr val="4FC3F7"/>
                </a:solidFill>
              </a:rPr>
              <a:t>DEGRADED F1 — Tokyo</a:t>
            </a:r>
            <a:endParaRPr lang="en-US" sz="1133" dirty="0"/>
          </a:p>
        </p:txBody>
      </p:sp>
      <p:sp>
        <p:nvSpPr>
          <p:cNvPr id="33" name="Text 29"/>
          <p:cNvSpPr/>
          <p:nvPr/>
        </p:nvSpPr>
        <p:spPr>
          <a:xfrm>
            <a:off x="6193536" y="1890435"/>
            <a:ext cx="2621280" cy="219456"/>
          </a:xfrm>
          <a:prstGeom prst="rect">
            <a:avLst/>
          </a:prstGeom>
          <a:noFill/>
          <a:ln/>
        </p:spPr>
        <p:txBody>
          <a:bodyPr wrap="square" lIns="0" tIns="0" rIns="0" bIns="0" rtlCol="0" anchor="t"/>
          <a:lstStyle/>
          <a:p>
            <a:pPr algn="ctr"/>
            <a:r>
              <a:rPr lang="en-US" sz="1000" i="1" dirty="0">
                <a:solidFill>
                  <a:srgbClr val="B0C4D8"/>
                </a:solidFill>
              </a:rPr>
              <a:t>vs. RF = 0.15 out-of-domain</a:t>
            </a:r>
            <a:endParaRPr lang="en-US" sz="1000" dirty="0"/>
          </a:p>
        </p:txBody>
      </p:sp>
      <p:sp>
        <p:nvSpPr>
          <p:cNvPr id="34" name="Shape 30"/>
          <p:cNvSpPr/>
          <p:nvPr/>
        </p:nvSpPr>
        <p:spPr>
          <a:xfrm>
            <a:off x="9009888" y="1036995"/>
            <a:ext cx="2816352" cy="1121664"/>
          </a:xfrm>
          <a:prstGeom prst="rect">
            <a:avLst/>
          </a:prstGeom>
          <a:solidFill>
            <a:srgbClr val="155E75"/>
          </a:solidFill>
          <a:ln w="12700">
            <a:solidFill>
              <a:srgbClr val="FFFFFF"/>
            </a:solidFill>
            <a:prstDash val="solid"/>
          </a:ln>
          <a:effectLst>
            <a:outerShdw blurRad="76200" dist="25400" dir="8100000" algn="bl" rotWithShape="0">
              <a:srgbClr val="000000">
                <a:alpha val="10000"/>
              </a:srgbClr>
            </a:outerShdw>
          </a:effectLst>
        </p:spPr>
      </p:sp>
      <p:sp>
        <p:nvSpPr>
          <p:cNvPr id="35" name="Text 31"/>
          <p:cNvSpPr/>
          <p:nvPr/>
        </p:nvSpPr>
        <p:spPr>
          <a:xfrm>
            <a:off x="9107424" y="1085763"/>
            <a:ext cx="2621280" cy="560832"/>
          </a:xfrm>
          <a:prstGeom prst="rect">
            <a:avLst/>
          </a:prstGeom>
          <a:noFill/>
          <a:ln/>
        </p:spPr>
        <p:txBody>
          <a:bodyPr wrap="square" lIns="0" tIns="0" rIns="0" bIns="0" rtlCol="0" anchor="ctr"/>
          <a:lstStyle/>
          <a:p>
            <a:pPr algn="ctr"/>
            <a:r>
              <a:rPr lang="en-US" sz="3200" b="1" dirty="0">
                <a:solidFill>
                  <a:srgbClr val="FFFFFF"/>
                </a:solidFill>
              </a:rPr>
              <a:t>±5 cm</a:t>
            </a:r>
            <a:endParaRPr lang="en-US" sz="3200" dirty="0"/>
          </a:p>
        </p:txBody>
      </p:sp>
      <p:sp>
        <p:nvSpPr>
          <p:cNvPr id="36" name="Text 32"/>
          <p:cNvSpPr/>
          <p:nvPr/>
        </p:nvSpPr>
        <p:spPr>
          <a:xfrm>
            <a:off x="9107424" y="1646595"/>
            <a:ext cx="2621280" cy="268224"/>
          </a:xfrm>
          <a:prstGeom prst="rect">
            <a:avLst/>
          </a:prstGeom>
          <a:noFill/>
          <a:ln/>
        </p:spPr>
        <p:txBody>
          <a:bodyPr wrap="square" lIns="0" tIns="0" rIns="0" bIns="0" rtlCol="0" anchor="t"/>
          <a:lstStyle/>
          <a:p>
            <a:pPr algn="ctr"/>
            <a:r>
              <a:rPr lang="en-US" sz="1133" dirty="0">
                <a:solidFill>
                  <a:srgbClr val="4FC3F7"/>
                </a:solidFill>
              </a:rPr>
              <a:t>Ground-truth accuracy</a:t>
            </a:r>
            <a:endParaRPr lang="en-US" sz="1133" dirty="0"/>
          </a:p>
        </p:txBody>
      </p:sp>
      <p:sp>
        <p:nvSpPr>
          <p:cNvPr id="37" name="Text 33"/>
          <p:cNvSpPr/>
          <p:nvPr/>
        </p:nvSpPr>
        <p:spPr>
          <a:xfrm>
            <a:off x="9107424" y="1890435"/>
            <a:ext cx="2621280" cy="219456"/>
          </a:xfrm>
          <a:prstGeom prst="rect">
            <a:avLst/>
          </a:prstGeom>
          <a:noFill/>
          <a:ln/>
        </p:spPr>
        <p:txBody>
          <a:bodyPr wrap="square" lIns="0" tIns="0" rIns="0" bIns="0" rtlCol="0" anchor="t"/>
          <a:lstStyle/>
          <a:p>
            <a:pPr algn="ctr"/>
            <a:r>
              <a:rPr lang="en-US" sz="1000" i="1" dirty="0">
                <a:solidFill>
                  <a:srgbClr val="B0C4D8"/>
                </a:solidFill>
              </a:rPr>
              <a:t>LiDAR SLAM · NCLT dataset</a:t>
            </a:r>
            <a:endParaRPr lang="en-US" sz="1000" dirty="0"/>
          </a:p>
        </p:txBody>
      </p:sp>
      <p:sp>
        <p:nvSpPr>
          <p:cNvPr id="38" name="Shape 34"/>
          <p:cNvSpPr/>
          <p:nvPr/>
        </p:nvSpPr>
        <p:spPr>
          <a:xfrm>
            <a:off x="268224" y="2450928"/>
            <a:ext cx="5693664" cy="1853184"/>
          </a:xfrm>
          <a:prstGeom prst="rect">
            <a:avLst/>
          </a:prstGeom>
          <a:solidFill>
            <a:srgbClr val="FFFFFF"/>
          </a:solidFill>
          <a:ln w="12700">
            <a:solidFill>
              <a:srgbClr val="CBD5E1"/>
            </a:solidFill>
            <a:prstDash val="solid"/>
          </a:ln>
          <a:effectLst>
            <a:outerShdw blurRad="76200" dist="25400" dir="8100000" algn="bl" rotWithShape="0">
              <a:srgbClr val="000000">
                <a:alpha val="10000"/>
              </a:srgbClr>
            </a:outerShdw>
          </a:effectLst>
        </p:spPr>
      </p:sp>
      <p:sp>
        <p:nvSpPr>
          <p:cNvPr id="39" name="Shape 35"/>
          <p:cNvSpPr/>
          <p:nvPr/>
        </p:nvSpPr>
        <p:spPr>
          <a:xfrm>
            <a:off x="268224" y="2450928"/>
            <a:ext cx="85344" cy="1853184"/>
          </a:xfrm>
          <a:prstGeom prst="rect">
            <a:avLst/>
          </a:prstGeom>
          <a:solidFill>
            <a:srgbClr val="003893"/>
          </a:solidFill>
          <a:ln w="12700">
            <a:solidFill>
              <a:srgbClr val="003893"/>
            </a:solidFill>
            <a:prstDash val="solid"/>
          </a:ln>
        </p:spPr>
      </p:sp>
      <p:sp>
        <p:nvSpPr>
          <p:cNvPr id="40" name="Shape 36"/>
          <p:cNvSpPr/>
          <p:nvPr/>
        </p:nvSpPr>
        <p:spPr>
          <a:xfrm>
            <a:off x="353568" y="2450928"/>
            <a:ext cx="5608320" cy="365760"/>
          </a:xfrm>
          <a:prstGeom prst="rect">
            <a:avLst/>
          </a:prstGeom>
          <a:solidFill>
            <a:srgbClr val="003893"/>
          </a:solidFill>
          <a:ln w="12700">
            <a:solidFill>
              <a:srgbClr val="003893"/>
            </a:solidFill>
            <a:prstDash val="solid"/>
          </a:ln>
        </p:spPr>
      </p:sp>
      <p:sp>
        <p:nvSpPr>
          <p:cNvPr id="41" name="Text 37"/>
          <p:cNvSpPr/>
          <p:nvPr/>
        </p:nvSpPr>
        <p:spPr>
          <a:xfrm>
            <a:off x="487680" y="2463120"/>
            <a:ext cx="5376672" cy="341376"/>
          </a:xfrm>
          <a:prstGeom prst="rect">
            <a:avLst/>
          </a:prstGeom>
          <a:noFill/>
          <a:ln/>
        </p:spPr>
        <p:txBody>
          <a:bodyPr wrap="square" lIns="0" tIns="0" rIns="0" bIns="0" rtlCol="0" anchor="ctr"/>
          <a:lstStyle/>
          <a:p>
            <a:r>
              <a:rPr lang="en-US" sz="1333" b="1" dirty="0">
                <a:solidFill>
                  <a:srgbClr val="FFFFFF"/>
                </a:solidFill>
              </a:rPr>
              <a:t>Session-Based Split — No Data Leakage</a:t>
            </a:r>
            <a:endParaRPr lang="en-US" sz="1333" dirty="0"/>
          </a:p>
        </p:txBody>
      </p:sp>
      <p:sp>
        <p:nvSpPr>
          <p:cNvPr id="42" name="Text 38"/>
          <p:cNvSpPr/>
          <p:nvPr/>
        </p:nvSpPr>
        <p:spPr>
          <a:xfrm>
            <a:off x="487680" y="2865456"/>
            <a:ext cx="5352288" cy="1389888"/>
          </a:xfrm>
          <a:prstGeom prst="rect">
            <a:avLst/>
          </a:prstGeom>
          <a:noFill/>
          <a:ln/>
        </p:spPr>
        <p:txBody>
          <a:bodyPr wrap="square" lIns="0" tIns="0" rIns="0" bIns="0" rtlCol="0" anchor="t"/>
          <a:lstStyle/>
          <a:p>
            <a:pPr>
              <a:lnSpc>
                <a:spcPct val="128000"/>
              </a:lnSpc>
            </a:pPr>
            <a:r>
              <a:rPr lang="en-US" sz="1200" b="1" dirty="0">
                <a:solidFill>
                  <a:srgbClr val="003893"/>
                </a:solidFill>
              </a:rPr>
              <a:t>▸  </a:t>
            </a:r>
            <a:r>
              <a:rPr lang="en-US" sz="1200" dirty="0">
                <a:solidFill>
                  <a:srgbClr val="1E293B"/>
                </a:solidFill>
              </a:rPr>
              <a:t>Whole drives assigned to train / val / test — never individual seconds</a:t>
            </a:r>
            <a:endParaRPr lang="en-US" sz="1200" dirty="0"/>
          </a:p>
          <a:p>
            <a:pPr>
              <a:lnSpc>
                <a:spcPct val="128000"/>
              </a:lnSpc>
            </a:pPr>
            <a:endParaRPr lang="en-US" sz="1200" dirty="0"/>
          </a:p>
          <a:p>
            <a:pPr>
              <a:lnSpc>
                <a:spcPct val="128000"/>
              </a:lnSpc>
            </a:pPr>
            <a:r>
              <a:rPr lang="en-US" sz="1200" b="1" dirty="0">
                <a:solidFill>
                  <a:srgbClr val="003893"/>
                </a:solidFill>
              </a:rPr>
              <a:t>▸  </a:t>
            </a:r>
            <a:r>
              <a:rPr lang="en-US" sz="1200" dirty="0">
                <a:solidFill>
                  <a:srgbClr val="1E293B"/>
                </a:solidFill>
              </a:rPr>
              <a:t>Tokyo Shinjuku (31,236 windows) fully held out as cross-city test (E6)</a:t>
            </a:r>
            <a:endParaRPr lang="en-US" sz="1200" dirty="0"/>
          </a:p>
          <a:p>
            <a:pPr>
              <a:lnSpc>
                <a:spcPct val="128000"/>
              </a:lnSpc>
            </a:pPr>
            <a:endParaRPr lang="en-US" sz="1200" dirty="0"/>
          </a:p>
          <a:p>
            <a:pPr>
              <a:lnSpc>
                <a:spcPct val="128000"/>
              </a:lnSpc>
            </a:pPr>
            <a:r>
              <a:rPr lang="en-US" sz="1200" b="1" dirty="0">
                <a:solidFill>
                  <a:srgbClr val="003893"/>
                </a:solidFill>
              </a:rPr>
              <a:t>▸  </a:t>
            </a:r>
            <a:r>
              <a:rPr lang="en-US" sz="1200" dirty="0">
                <a:solidFill>
                  <a:srgbClr val="1E293B"/>
                </a:solidFill>
              </a:rPr>
              <a:t>StandardScaler + SMOTE fitted on training set only  ·  Seed = 42</a:t>
            </a:r>
            <a:endParaRPr lang="en-US" sz="1200" dirty="0"/>
          </a:p>
        </p:txBody>
      </p:sp>
      <p:sp>
        <p:nvSpPr>
          <p:cNvPr id="43" name="Shape 39"/>
          <p:cNvSpPr/>
          <p:nvPr/>
        </p:nvSpPr>
        <p:spPr>
          <a:xfrm>
            <a:off x="6230112" y="2450928"/>
            <a:ext cx="5693664" cy="1853184"/>
          </a:xfrm>
          <a:prstGeom prst="rect">
            <a:avLst/>
          </a:prstGeom>
          <a:solidFill>
            <a:srgbClr val="FFFFFF"/>
          </a:solidFill>
          <a:ln w="12700">
            <a:solidFill>
              <a:srgbClr val="CBD5E1"/>
            </a:solidFill>
            <a:prstDash val="solid"/>
          </a:ln>
          <a:effectLst>
            <a:outerShdw blurRad="76200" dist="25400" dir="8100000" algn="bl" rotWithShape="0">
              <a:srgbClr val="000000">
                <a:alpha val="10000"/>
              </a:srgbClr>
            </a:outerShdw>
          </a:effectLst>
        </p:spPr>
      </p:sp>
      <p:sp>
        <p:nvSpPr>
          <p:cNvPr id="44" name="Shape 40"/>
          <p:cNvSpPr/>
          <p:nvPr/>
        </p:nvSpPr>
        <p:spPr>
          <a:xfrm>
            <a:off x="6230112" y="2450928"/>
            <a:ext cx="85344" cy="1853184"/>
          </a:xfrm>
          <a:prstGeom prst="rect">
            <a:avLst/>
          </a:prstGeom>
          <a:solidFill>
            <a:srgbClr val="0E7490"/>
          </a:solidFill>
          <a:ln w="12700">
            <a:solidFill>
              <a:srgbClr val="0E7490"/>
            </a:solidFill>
            <a:prstDash val="solid"/>
          </a:ln>
        </p:spPr>
      </p:sp>
      <p:sp>
        <p:nvSpPr>
          <p:cNvPr id="45" name="Shape 41"/>
          <p:cNvSpPr/>
          <p:nvPr/>
        </p:nvSpPr>
        <p:spPr>
          <a:xfrm>
            <a:off x="6315456" y="2450928"/>
            <a:ext cx="5608320" cy="365760"/>
          </a:xfrm>
          <a:prstGeom prst="rect">
            <a:avLst/>
          </a:prstGeom>
          <a:solidFill>
            <a:srgbClr val="0E7490"/>
          </a:solidFill>
          <a:ln w="12700">
            <a:solidFill>
              <a:srgbClr val="0E7490"/>
            </a:solidFill>
            <a:prstDash val="solid"/>
          </a:ln>
        </p:spPr>
      </p:sp>
      <p:sp>
        <p:nvSpPr>
          <p:cNvPr id="46" name="Text 42"/>
          <p:cNvSpPr/>
          <p:nvPr/>
        </p:nvSpPr>
        <p:spPr>
          <a:xfrm>
            <a:off x="6449568" y="2463120"/>
            <a:ext cx="5376672" cy="341376"/>
          </a:xfrm>
          <a:prstGeom prst="rect">
            <a:avLst/>
          </a:prstGeom>
          <a:noFill/>
          <a:ln/>
        </p:spPr>
        <p:txBody>
          <a:bodyPr wrap="square" lIns="0" tIns="0" rIns="0" bIns="0" rtlCol="0" anchor="ctr"/>
          <a:lstStyle/>
          <a:p>
            <a:r>
              <a:rPr lang="en-US" sz="1333" b="1" dirty="0">
                <a:solidFill>
                  <a:srgbClr val="FFFFFF"/>
                </a:solidFill>
              </a:rPr>
              <a:t>Physically Verified Labels</a:t>
            </a:r>
            <a:endParaRPr lang="en-US" sz="1333" dirty="0"/>
          </a:p>
        </p:txBody>
      </p:sp>
      <p:sp>
        <p:nvSpPr>
          <p:cNvPr id="47" name="Text 43"/>
          <p:cNvSpPr/>
          <p:nvPr/>
        </p:nvSpPr>
        <p:spPr>
          <a:xfrm>
            <a:off x="6449568" y="2865456"/>
            <a:ext cx="5352288" cy="1389888"/>
          </a:xfrm>
          <a:prstGeom prst="rect">
            <a:avLst/>
          </a:prstGeom>
          <a:noFill/>
          <a:ln/>
        </p:spPr>
        <p:txBody>
          <a:bodyPr wrap="square" lIns="0" tIns="0" rIns="0" bIns="0" rtlCol="0" anchor="t"/>
          <a:lstStyle/>
          <a:p>
            <a:pPr>
              <a:lnSpc>
                <a:spcPct val="128000"/>
              </a:lnSpc>
            </a:pPr>
            <a:r>
              <a:rPr lang="en-US" sz="1200" b="1" dirty="0">
                <a:solidFill>
                  <a:srgbClr val="0E7490"/>
                </a:solidFill>
              </a:rPr>
              <a:t>▸  </a:t>
            </a:r>
            <a:r>
              <a:rPr lang="en-US" sz="1200" dirty="0">
                <a:solidFill>
                  <a:srgbClr val="1E293B"/>
                </a:solidFill>
              </a:rPr>
              <a:t>NCLT: labels from |GPS − LiDAR SLAM| — actual positioning error, ±5 cm</a:t>
            </a:r>
            <a:endParaRPr lang="en-US" sz="1200" dirty="0"/>
          </a:p>
          <a:p>
            <a:pPr>
              <a:lnSpc>
                <a:spcPct val="128000"/>
              </a:lnSpc>
            </a:pPr>
            <a:endParaRPr lang="en-US" sz="1200" dirty="0"/>
          </a:p>
          <a:p>
            <a:pPr>
              <a:lnSpc>
                <a:spcPct val="128000"/>
              </a:lnSpc>
            </a:pPr>
            <a:r>
              <a:rPr lang="en-US" sz="1200" b="1" dirty="0">
                <a:solidFill>
                  <a:srgbClr val="0E7490"/>
                </a:solidFill>
              </a:rPr>
              <a:t>▸  </a:t>
            </a:r>
            <a:r>
              <a:rPr lang="en-US" sz="1200" dirty="0">
                <a:solidFill>
                  <a:srgbClr val="1E293B"/>
                </a:solidFill>
              </a:rPr>
              <a:t>Septentrio thresholds 35 / 25 dBHz confirmed by hardware signal charts</a:t>
            </a:r>
            <a:endParaRPr lang="en-US" sz="1200" dirty="0"/>
          </a:p>
          <a:p>
            <a:pPr>
              <a:lnSpc>
                <a:spcPct val="128000"/>
              </a:lnSpc>
            </a:pPr>
            <a:endParaRPr lang="en-US" sz="1200" dirty="0"/>
          </a:p>
          <a:p>
            <a:pPr>
              <a:lnSpc>
                <a:spcPct val="128000"/>
              </a:lnSpc>
            </a:pPr>
            <a:r>
              <a:rPr lang="en-US" sz="1200" b="1" dirty="0">
                <a:solidFill>
                  <a:srgbClr val="0E7490"/>
                </a:solidFill>
              </a:rPr>
              <a:t>▸  </a:t>
            </a:r>
            <a:r>
              <a:rPr lang="en-US" sz="1200" dirty="0">
                <a:solidFill>
                  <a:srgbClr val="1E293B"/>
                </a:solidFill>
              </a:rPr>
              <a:t>NMEA no-fix epochs (quality = 0) correctly captured as DEGRADED</a:t>
            </a:r>
            <a:endParaRPr lang="en-US" sz="1200" dirty="0"/>
          </a:p>
        </p:txBody>
      </p:sp>
      <p:sp>
        <p:nvSpPr>
          <p:cNvPr id="48" name="Shape 44"/>
          <p:cNvSpPr/>
          <p:nvPr/>
        </p:nvSpPr>
        <p:spPr>
          <a:xfrm>
            <a:off x="268224" y="4645152"/>
            <a:ext cx="5693664" cy="1853184"/>
          </a:xfrm>
          <a:prstGeom prst="rect">
            <a:avLst/>
          </a:prstGeom>
          <a:solidFill>
            <a:srgbClr val="FFFFFF"/>
          </a:solidFill>
          <a:ln w="12700">
            <a:solidFill>
              <a:srgbClr val="CBD5E1"/>
            </a:solidFill>
            <a:prstDash val="solid"/>
          </a:ln>
          <a:effectLst>
            <a:outerShdw blurRad="76200" dist="25400" dir="8100000" algn="bl" rotWithShape="0">
              <a:srgbClr val="000000">
                <a:alpha val="10000"/>
              </a:srgbClr>
            </a:outerShdw>
          </a:effectLst>
        </p:spPr>
      </p:sp>
      <p:sp>
        <p:nvSpPr>
          <p:cNvPr id="49" name="Shape 45"/>
          <p:cNvSpPr/>
          <p:nvPr/>
        </p:nvSpPr>
        <p:spPr>
          <a:xfrm>
            <a:off x="268224" y="4645152"/>
            <a:ext cx="85344" cy="1853184"/>
          </a:xfrm>
          <a:prstGeom prst="rect">
            <a:avLst/>
          </a:prstGeom>
          <a:solidFill>
            <a:srgbClr val="0369A1"/>
          </a:solidFill>
          <a:ln w="12700">
            <a:solidFill>
              <a:srgbClr val="0369A1"/>
            </a:solidFill>
            <a:prstDash val="solid"/>
          </a:ln>
        </p:spPr>
      </p:sp>
      <p:sp>
        <p:nvSpPr>
          <p:cNvPr id="50" name="Shape 46"/>
          <p:cNvSpPr/>
          <p:nvPr/>
        </p:nvSpPr>
        <p:spPr>
          <a:xfrm>
            <a:off x="353568" y="4645152"/>
            <a:ext cx="5608320" cy="365760"/>
          </a:xfrm>
          <a:prstGeom prst="rect">
            <a:avLst/>
          </a:prstGeom>
          <a:solidFill>
            <a:srgbClr val="0369A1"/>
          </a:solidFill>
          <a:ln w="12700">
            <a:solidFill>
              <a:srgbClr val="0369A1"/>
            </a:solidFill>
            <a:prstDash val="solid"/>
          </a:ln>
        </p:spPr>
      </p:sp>
      <p:sp>
        <p:nvSpPr>
          <p:cNvPr id="51" name="Text 47"/>
          <p:cNvSpPr/>
          <p:nvPr/>
        </p:nvSpPr>
        <p:spPr>
          <a:xfrm>
            <a:off x="487680" y="4657344"/>
            <a:ext cx="5376672" cy="341376"/>
          </a:xfrm>
          <a:prstGeom prst="rect">
            <a:avLst/>
          </a:prstGeom>
          <a:noFill/>
          <a:ln/>
        </p:spPr>
        <p:txBody>
          <a:bodyPr wrap="square" lIns="0" tIns="0" rIns="0" bIns="0" rtlCol="0" anchor="ctr"/>
          <a:lstStyle/>
          <a:p>
            <a:r>
              <a:rPr lang="en-US" sz="1333" b="1" dirty="0">
                <a:solidFill>
                  <a:srgbClr val="FFFFFF"/>
                </a:solidFill>
              </a:rPr>
              <a:t>Honest Comparison with Classical Baselines</a:t>
            </a:r>
            <a:endParaRPr lang="en-US" sz="1333" dirty="0"/>
          </a:p>
        </p:txBody>
      </p:sp>
      <p:sp>
        <p:nvSpPr>
          <p:cNvPr id="52" name="Text 48"/>
          <p:cNvSpPr/>
          <p:nvPr/>
        </p:nvSpPr>
        <p:spPr>
          <a:xfrm>
            <a:off x="487680" y="5059680"/>
            <a:ext cx="5352288" cy="1389888"/>
          </a:xfrm>
          <a:prstGeom prst="rect">
            <a:avLst/>
          </a:prstGeom>
          <a:noFill/>
          <a:ln/>
        </p:spPr>
        <p:txBody>
          <a:bodyPr wrap="square" lIns="0" tIns="0" rIns="0" bIns="0" rtlCol="0" anchor="t"/>
          <a:lstStyle/>
          <a:p>
            <a:pPr>
              <a:lnSpc>
                <a:spcPct val="128000"/>
              </a:lnSpc>
            </a:pPr>
            <a:r>
              <a:rPr lang="en-US" sz="1200" b="1" dirty="0">
                <a:solidFill>
                  <a:srgbClr val="0369A1"/>
                </a:solidFill>
              </a:rPr>
              <a:t>▸  </a:t>
            </a:r>
            <a:r>
              <a:rPr lang="en-US" sz="1200" dirty="0">
                <a:solidFill>
                  <a:srgbClr val="1E293B"/>
                </a:solidFill>
              </a:rPr>
              <a:t>XGBoost Macro-F1 = 0.919 vs. ours 0.821 in-domain — disclosed openly</a:t>
            </a:r>
            <a:endParaRPr lang="en-US" sz="1200" dirty="0"/>
          </a:p>
          <a:p>
            <a:pPr>
              <a:lnSpc>
                <a:spcPct val="128000"/>
              </a:lnSpc>
            </a:pPr>
            <a:endParaRPr lang="en-US" sz="1200" dirty="0"/>
          </a:p>
          <a:p>
            <a:pPr>
              <a:lnSpc>
                <a:spcPct val="128000"/>
              </a:lnSpc>
            </a:pPr>
            <a:r>
              <a:rPr lang="en-US" sz="1200" b="1" dirty="0">
                <a:solidFill>
                  <a:srgbClr val="0369A1"/>
                </a:solidFill>
              </a:rPr>
              <a:t>▸  </a:t>
            </a:r>
            <a:r>
              <a:rPr lang="en-US" sz="1200" dirty="0">
                <a:solidFill>
                  <a:srgbClr val="1E293B"/>
                </a:solidFill>
              </a:rPr>
              <a:t>Cross-city: RF DEGRADED F1 collapses to 0.15 · ours holds at 0.75</a:t>
            </a:r>
            <a:endParaRPr lang="en-US" sz="1200" dirty="0"/>
          </a:p>
          <a:p>
            <a:pPr>
              <a:lnSpc>
                <a:spcPct val="128000"/>
              </a:lnSpc>
            </a:pPr>
            <a:endParaRPr lang="en-US" sz="1200" dirty="0"/>
          </a:p>
          <a:p>
            <a:pPr>
              <a:lnSpc>
                <a:spcPct val="128000"/>
              </a:lnSpc>
            </a:pPr>
            <a:r>
              <a:rPr lang="en-US" sz="1200" b="1" dirty="0">
                <a:solidFill>
                  <a:srgbClr val="0369A1"/>
                </a:solidFill>
              </a:rPr>
              <a:t>▸  </a:t>
            </a:r>
            <a:r>
              <a:rPr lang="en-US" sz="1200" dirty="0">
                <a:solidFill>
                  <a:srgbClr val="1E293B"/>
                </a:solidFill>
              </a:rPr>
              <a:t>One model, 10.5× faster, calibrated probabilities (ECE &lt; 0.05)</a:t>
            </a:r>
            <a:endParaRPr lang="en-US" sz="1200" dirty="0"/>
          </a:p>
        </p:txBody>
      </p:sp>
      <p:sp>
        <p:nvSpPr>
          <p:cNvPr id="53" name="Shape 49"/>
          <p:cNvSpPr/>
          <p:nvPr/>
        </p:nvSpPr>
        <p:spPr>
          <a:xfrm>
            <a:off x="6230112" y="4645152"/>
            <a:ext cx="5693664" cy="1853184"/>
          </a:xfrm>
          <a:prstGeom prst="rect">
            <a:avLst/>
          </a:prstGeom>
          <a:solidFill>
            <a:srgbClr val="FFFFFF"/>
          </a:solidFill>
          <a:ln w="12700">
            <a:solidFill>
              <a:srgbClr val="CBD5E1"/>
            </a:solidFill>
            <a:prstDash val="solid"/>
          </a:ln>
          <a:effectLst>
            <a:outerShdw blurRad="76200" dist="25400" dir="8100000" algn="bl" rotWithShape="0">
              <a:srgbClr val="000000">
                <a:alpha val="10000"/>
              </a:srgbClr>
            </a:outerShdw>
          </a:effectLst>
        </p:spPr>
      </p:sp>
      <p:sp>
        <p:nvSpPr>
          <p:cNvPr id="54" name="Shape 50"/>
          <p:cNvSpPr/>
          <p:nvPr/>
        </p:nvSpPr>
        <p:spPr>
          <a:xfrm>
            <a:off x="6230112" y="4645152"/>
            <a:ext cx="85344" cy="1853184"/>
          </a:xfrm>
          <a:prstGeom prst="rect">
            <a:avLst/>
          </a:prstGeom>
          <a:solidFill>
            <a:srgbClr val="155E75"/>
          </a:solidFill>
          <a:ln w="12700">
            <a:solidFill>
              <a:srgbClr val="155E75"/>
            </a:solidFill>
            <a:prstDash val="solid"/>
          </a:ln>
        </p:spPr>
      </p:sp>
      <p:sp>
        <p:nvSpPr>
          <p:cNvPr id="55" name="Shape 51"/>
          <p:cNvSpPr/>
          <p:nvPr/>
        </p:nvSpPr>
        <p:spPr>
          <a:xfrm>
            <a:off x="6315456" y="4645152"/>
            <a:ext cx="5608320" cy="365760"/>
          </a:xfrm>
          <a:prstGeom prst="rect">
            <a:avLst/>
          </a:prstGeom>
          <a:solidFill>
            <a:srgbClr val="155E75"/>
          </a:solidFill>
          <a:ln w="12700">
            <a:solidFill>
              <a:srgbClr val="155E75"/>
            </a:solidFill>
            <a:prstDash val="solid"/>
          </a:ln>
        </p:spPr>
      </p:sp>
      <p:sp>
        <p:nvSpPr>
          <p:cNvPr id="56" name="Text 52"/>
          <p:cNvSpPr/>
          <p:nvPr/>
        </p:nvSpPr>
        <p:spPr>
          <a:xfrm>
            <a:off x="6449568" y="4657344"/>
            <a:ext cx="5376672" cy="341376"/>
          </a:xfrm>
          <a:prstGeom prst="rect">
            <a:avLst/>
          </a:prstGeom>
          <a:noFill/>
          <a:ln/>
        </p:spPr>
        <p:txBody>
          <a:bodyPr wrap="square" lIns="0" tIns="0" rIns="0" bIns="0" rtlCol="0" anchor="ctr"/>
          <a:lstStyle/>
          <a:p>
            <a:r>
              <a:rPr lang="en-US" sz="1333" b="1" dirty="0">
                <a:solidFill>
                  <a:srgbClr val="FFFFFF"/>
                </a:solidFill>
              </a:rPr>
              <a:t>Uncertainty &amp; Ablation Evidence</a:t>
            </a:r>
            <a:endParaRPr lang="en-US" sz="1333" dirty="0"/>
          </a:p>
        </p:txBody>
      </p:sp>
      <p:sp>
        <p:nvSpPr>
          <p:cNvPr id="57" name="Text 53"/>
          <p:cNvSpPr/>
          <p:nvPr/>
        </p:nvSpPr>
        <p:spPr>
          <a:xfrm>
            <a:off x="6449568" y="5059680"/>
            <a:ext cx="5352288" cy="1389888"/>
          </a:xfrm>
          <a:prstGeom prst="rect">
            <a:avLst/>
          </a:prstGeom>
          <a:noFill/>
          <a:ln/>
        </p:spPr>
        <p:txBody>
          <a:bodyPr wrap="square" lIns="0" tIns="0" rIns="0" bIns="0" rtlCol="0" anchor="t"/>
          <a:lstStyle/>
          <a:p>
            <a:pPr>
              <a:lnSpc>
                <a:spcPct val="128000"/>
              </a:lnSpc>
            </a:pPr>
            <a:r>
              <a:rPr lang="en-US" sz="1200" b="1" dirty="0">
                <a:solidFill>
                  <a:srgbClr val="155E75"/>
                </a:solidFill>
              </a:rPr>
              <a:t>▸  </a:t>
            </a:r>
            <a:r>
              <a:rPr lang="en-US" sz="1200" dirty="0">
                <a:solidFill>
                  <a:srgbClr val="1E293B"/>
                </a:solidFill>
              </a:rPr>
              <a:t>Bootstrap 95% CIs on all metrics: DEGRADED F1 [0.647, 0.789]</a:t>
            </a:r>
            <a:endParaRPr lang="en-US" sz="1200" dirty="0"/>
          </a:p>
          <a:p>
            <a:pPr>
              <a:lnSpc>
                <a:spcPct val="128000"/>
              </a:lnSpc>
            </a:pPr>
            <a:endParaRPr lang="en-US" sz="1200" dirty="0"/>
          </a:p>
          <a:p>
            <a:pPr>
              <a:lnSpc>
                <a:spcPct val="128000"/>
              </a:lnSpc>
            </a:pPr>
            <a:r>
              <a:rPr lang="en-US" sz="1200" b="1" dirty="0">
                <a:solidFill>
                  <a:srgbClr val="155E75"/>
                </a:solidFill>
              </a:rPr>
              <a:t>▸  </a:t>
            </a:r>
            <a:r>
              <a:rPr lang="en-US" sz="1200" dirty="0">
                <a:solidFill>
                  <a:srgbClr val="1E293B"/>
                </a:solidFill>
              </a:rPr>
              <a:t>Permutation test (E5): temporal order adds ~3 pp — gain is representation transfer</a:t>
            </a:r>
            <a:endParaRPr lang="en-US" sz="1200" dirty="0"/>
          </a:p>
          <a:p>
            <a:pPr>
              <a:lnSpc>
                <a:spcPct val="128000"/>
              </a:lnSpc>
            </a:pPr>
            <a:endParaRPr lang="en-US" sz="1200" dirty="0"/>
          </a:p>
          <a:p>
            <a:pPr>
              <a:lnSpc>
                <a:spcPct val="128000"/>
              </a:lnSpc>
            </a:pPr>
            <a:r>
              <a:rPr lang="en-US" sz="1200" b="1" dirty="0">
                <a:solidFill>
                  <a:srgbClr val="155E75"/>
                </a:solidFill>
              </a:rPr>
              <a:t>▸  </a:t>
            </a:r>
            <a:r>
              <a:rPr lang="en-US" sz="1200" dirty="0">
                <a:solidFill>
                  <a:srgbClr val="1E293B"/>
                </a:solidFill>
              </a:rPr>
              <a:t>Ablation: full model &gt; Transformer-only &gt; LSTM-only on DEGRADED F1</a:t>
            </a:r>
            <a:endParaRPr lang="en-US" sz="1200" dirty="0"/>
          </a:p>
        </p:txBody>
      </p:sp>
      <p:sp>
        <p:nvSpPr>
          <p:cNvPr id="59" name="Shape 0"/>
          <p:cNvSpPr/>
          <p:nvPr/>
        </p:nvSpPr>
        <p:spPr>
          <a:xfrm>
            <a:off x="0" y="-19773"/>
            <a:ext cx="12192000" cy="740408"/>
          </a:xfrm>
          <a:prstGeom prst="rect">
            <a:avLst/>
          </a:prstGeom>
          <a:solidFill>
            <a:srgbClr val="003893"/>
          </a:solidFill>
          <a:ln w="12700">
            <a:solidFill>
              <a:srgbClr val="003893"/>
            </a:solidFill>
            <a:prstDash val="solid"/>
          </a:ln>
        </p:spPr>
      </p:sp>
      <p:sp>
        <p:nvSpPr>
          <p:cNvPr id="60" name="Shape 4"/>
          <p:cNvSpPr/>
          <p:nvPr/>
        </p:nvSpPr>
        <p:spPr>
          <a:xfrm>
            <a:off x="0" y="-23991"/>
            <a:ext cx="1128763" cy="767311"/>
          </a:xfrm>
          <a:prstGeom prst="homePlate">
            <a:avLst/>
          </a:prstGeom>
          <a:solidFill>
            <a:srgbClr val="FFFFFF"/>
          </a:solidFill>
          <a:ln w="6350">
            <a:solidFill>
              <a:srgbClr val="CCCCCC"/>
            </a:solidFill>
            <a:prstDash val="solid"/>
          </a:ln>
        </p:spPr>
      </p:sp>
      <p:pic>
        <p:nvPicPr>
          <p:cNvPr id="61" name="Picture 60">
            <a:extLst>
              <a:ext uri="{FF2B5EF4-FFF2-40B4-BE49-F238E27FC236}">
                <a16:creationId xmlns:a16="http://schemas.microsoft.com/office/drawing/2014/main" id="{6BF679AE-4199-10E8-76D5-569080AF8895}"/>
              </a:ext>
            </a:extLst>
          </p:cNvPr>
          <p:cNvPicPr>
            <a:picLocks noChangeAspect="1"/>
          </p:cNvPicPr>
          <p:nvPr/>
        </p:nvPicPr>
        <p:blipFill>
          <a:blip r:embed="rId4"/>
          <a:stretch>
            <a:fillRect/>
          </a:stretch>
        </p:blipFill>
        <p:spPr>
          <a:xfrm>
            <a:off x="-449459" y="-263328"/>
            <a:ext cx="1776568" cy="1245981"/>
          </a:xfrm>
          <a:prstGeom prst="rect">
            <a:avLst/>
          </a:prstGeom>
        </p:spPr>
      </p:pic>
      <p:sp>
        <p:nvSpPr>
          <p:cNvPr id="3" name="Text 1">
            <a:extLst>
              <a:ext uri="{FF2B5EF4-FFF2-40B4-BE49-F238E27FC236}">
                <a16:creationId xmlns:a16="http://schemas.microsoft.com/office/drawing/2014/main" id="{19B4DF7B-F2C0-5819-3D1B-82B7FE2383BC}"/>
              </a:ext>
            </a:extLst>
          </p:cNvPr>
          <p:cNvSpPr/>
          <p:nvPr/>
        </p:nvSpPr>
        <p:spPr>
          <a:xfrm>
            <a:off x="1273155" y="40844"/>
            <a:ext cx="10972800" cy="731520"/>
          </a:xfrm>
          <a:prstGeom prst="rect">
            <a:avLst/>
          </a:prstGeom>
          <a:noFill/>
          <a:ln/>
        </p:spPr>
        <p:txBody>
          <a:bodyPr wrap="square" lIns="0" tIns="0" rIns="0" bIns="0" rtlCol="0" anchor="ctr"/>
          <a:lstStyle/>
          <a:p>
            <a:r>
              <a:rPr lang="en-US" sz="3200" b="1" dirty="0">
                <a:solidFill>
                  <a:schemeClr val="bg1"/>
                </a:solidFill>
                <a:latin typeface="Calibri" pitchFamily="34" charset="0"/>
                <a:ea typeface="Calibri" pitchFamily="34" charset="-122"/>
                <a:cs typeface="Calibri" pitchFamily="34" charset="-120"/>
              </a:rPr>
              <a:t>VALIDATION</a:t>
            </a:r>
            <a:endParaRPr lang="en-US" sz="3200" dirty="0">
              <a:solidFill>
                <a:schemeClr val="bg1"/>
              </a:solidFill>
            </a:endParaRP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bg>
      <p:bgPr>
        <a:solidFill>
          <a:srgbClr val="003366"/>
        </a:solidFill>
        <a:effectLst/>
      </p:bgPr>
    </p:bg>
    <p:spTree>
      <p:nvGrpSpPr>
        <p:cNvPr id="1" name=""/>
        <p:cNvGrpSpPr/>
        <p:nvPr/>
      </p:nvGrpSpPr>
      <p:grpSpPr>
        <a:xfrm>
          <a:off x="0" y="0"/>
          <a:ext cx="0" cy="0"/>
          <a:chOff x="0" y="0"/>
          <a:chExt cx="0" cy="0"/>
        </a:xfrm>
      </p:grpSpPr>
      <p:sp>
        <p:nvSpPr>
          <p:cNvPr id="2" name="TextBox 1"/>
          <p:cNvSpPr txBox="1"/>
          <p:nvPr/>
        </p:nvSpPr>
        <p:spPr>
          <a:xfrm>
            <a:off x="822960" y="2743200"/>
            <a:ext cx="10515600" cy="1371600"/>
          </a:xfrm>
          <a:prstGeom prst="rect">
            <a:avLst/>
          </a:prstGeom>
          <a:noFill/>
        </p:spPr>
        <p:txBody>
          <a:bodyPr wrap="square">
            <a:spAutoFit/>
          </a:bodyPr>
          <a:lstStyle/>
          <a:p>
            <a:pPr algn="l">
              <a:lnSpc>
                <a:spcPct val="150000"/>
              </a:lnSpc>
              <a:spcAft>
                <a:spcPts val="600"/>
              </a:spcAft>
            </a:pPr>
            <a:r>
              <a:rPr sz="4600" b="1">
                <a:solidFill>
                  <a:srgbClr val="FFFFFF"/>
                </a:solidFill>
                <a:latin typeface="Calibri"/>
              </a:rPr>
              <a:t>6 · Roadmap &amp; Deliverables</a:t>
            </a:r>
          </a:p>
        </p:txBody>
      </p:sp>
      <p:sp>
        <p:nvSpPr>
          <p:cNvPr id="3" name="Rectangle 2"/>
          <p:cNvSpPr/>
          <p:nvPr/>
        </p:nvSpPr>
        <p:spPr>
          <a:xfrm>
            <a:off x="868680" y="3886200"/>
            <a:ext cx="2926080" cy="73152"/>
          </a:xfrm>
          <a:prstGeom prst="rect">
            <a:avLst/>
          </a:prstGeom>
          <a:solidFill>
            <a:srgbClr val="00A0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7" name="Image 0" descr="preencoded.png">
            <a:extLst>
              <a:ext uri="{FF2B5EF4-FFF2-40B4-BE49-F238E27FC236}">
                <a16:creationId xmlns:a16="http://schemas.microsoft.com/office/drawing/2014/main" id="{C56D4B79-7EED-2C38-2117-7F7B4C6D94C9}"/>
              </a:ext>
            </a:extLst>
          </p:cNvPr>
          <p:cNvPicPr>
            <a:picLocks noChangeAspect="1"/>
          </p:cNvPicPr>
          <p:nvPr/>
        </p:nvPicPr>
        <p:blipFill>
          <a:blip r:embed="rId3"/>
          <a:stretch>
            <a:fillRect/>
          </a:stretch>
        </p:blipFill>
        <p:spPr>
          <a:xfrm>
            <a:off x="0" y="0"/>
            <a:ext cx="12192000" cy="6858000"/>
          </a:xfrm>
          <a:prstGeom prst="rect">
            <a:avLst/>
          </a:prstGeom>
        </p:spPr>
      </p:pic>
      <p:sp>
        <p:nvSpPr>
          <p:cNvPr id="4" name="Shape 2"/>
          <p:cNvSpPr/>
          <p:nvPr/>
        </p:nvSpPr>
        <p:spPr>
          <a:xfrm>
            <a:off x="548640" y="889635"/>
            <a:ext cx="11277600" cy="1231392"/>
          </a:xfrm>
          <a:prstGeom prst="rect">
            <a:avLst/>
          </a:prstGeom>
          <a:solidFill>
            <a:srgbClr val="FFFFFF"/>
          </a:solidFill>
          <a:ln w="12700">
            <a:solidFill>
              <a:srgbClr val="DDE3ED"/>
            </a:solidFill>
            <a:prstDash val="solid"/>
          </a:ln>
          <a:effectLst>
            <a:outerShdw blurRad="101600" dist="25400" dir="8100000" algn="bl" rotWithShape="0">
              <a:srgbClr val="000000">
                <a:alpha val="8000"/>
              </a:srgbClr>
            </a:outerShdw>
          </a:effectLst>
        </p:spPr>
      </p:sp>
      <p:sp>
        <p:nvSpPr>
          <p:cNvPr id="5" name="Shape 3"/>
          <p:cNvSpPr/>
          <p:nvPr/>
        </p:nvSpPr>
        <p:spPr>
          <a:xfrm>
            <a:off x="548640" y="889635"/>
            <a:ext cx="1219200" cy="1225963"/>
          </a:xfrm>
          <a:prstGeom prst="rect">
            <a:avLst/>
          </a:prstGeom>
          <a:solidFill>
            <a:srgbClr val="C8102E"/>
          </a:solidFill>
          <a:ln w="12700">
            <a:solidFill>
              <a:srgbClr val="C8102E"/>
            </a:solidFill>
            <a:prstDash val="solid"/>
          </a:ln>
        </p:spPr>
      </p:sp>
      <p:sp>
        <p:nvSpPr>
          <p:cNvPr id="6" name="Text 4"/>
          <p:cNvSpPr/>
          <p:nvPr/>
        </p:nvSpPr>
        <p:spPr>
          <a:xfrm>
            <a:off x="548640" y="1316355"/>
            <a:ext cx="1219200" cy="487680"/>
          </a:xfrm>
          <a:prstGeom prst="rect">
            <a:avLst/>
          </a:prstGeom>
          <a:noFill/>
          <a:ln/>
        </p:spPr>
        <p:txBody>
          <a:bodyPr wrap="square" lIns="0" tIns="0" rIns="0" bIns="0" rtlCol="0" anchor="ctr"/>
          <a:lstStyle/>
          <a:p>
            <a:pPr algn="ctr"/>
            <a:r>
              <a:rPr lang="en-US" sz="1867" b="1" dirty="0">
                <a:solidFill>
                  <a:srgbClr val="FFFFFF"/>
                </a:solidFill>
                <a:latin typeface="Calibri" pitchFamily="34" charset="0"/>
                <a:ea typeface="Calibri" pitchFamily="34" charset="-122"/>
                <a:cs typeface="Calibri" pitchFamily="34" charset="-120"/>
              </a:rPr>
              <a:t>Paper A</a:t>
            </a:r>
            <a:endParaRPr lang="en-US" sz="1867" dirty="0"/>
          </a:p>
        </p:txBody>
      </p:sp>
      <p:sp>
        <p:nvSpPr>
          <p:cNvPr id="7" name="Text 5"/>
          <p:cNvSpPr/>
          <p:nvPr/>
        </p:nvSpPr>
        <p:spPr>
          <a:xfrm>
            <a:off x="1950720" y="950595"/>
            <a:ext cx="6461760" cy="426720"/>
          </a:xfrm>
          <a:prstGeom prst="rect">
            <a:avLst/>
          </a:prstGeom>
          <a:noFill/>
          <a:ln/>
        </p:spPr>
        <p:txBody>
          <a:bodyPr wrap="square" lIns="0" tIns="0" rIns="0" bIns="0" rtlCol="0" anchor="ctr"/>
          <a:lstStyle/>
          <a:p>
            <a:r>
              <a:rPr lang="en-US" sz="1733" b="1" dirty="0">
                <a:solidFill>
                  <a:srgbClr val="0A1F44"/>
                </a:solidFill>
                <a:latin typeface="Calibri" pitchFamily="34" charset="0"/>
                <a:ea typeface="Calibri" pitchFamily="34" charset="-122"/>
                <a:cs typeface="Calibri" pitchFamily="34" charset="-120"/>
              </a:rPr>
              <a:t>Proactive Multi-Horizon GNSS Degradation Prediction</a:t>
            </a:r>
            <a:endParaRPr lang="en-US" sz="1733" dirty="0"/>
          </a:p>
        </p:txBody>
      </p:sp>
      <p:sp>
        <p:nvSpPr>
          <p:cNvPr id="8" name="Text 6"/>
          <p:cNvSpPr/>
          <p:nvPr/>
        </p:nvSpPr>
        <p:spPr>
          <a:xfrm>
            <a:off x="1950720" y="1401699"/>
            <a:ext cx="6461760" cy="341376"/>
          </a:xfrm>
          <a:prstGeom prst="rect">
            <a:avLst/>
          </a:prstGeom>
          <a:noFill/>
          <a:ln/>
        </p:spPr>
        <p:txBody>
          <a:bodyPr wrap="square" lIns="0" tIns="0" rIns="0" bIns="0" rtlCol="0" anchor="ctr"/>
          <a:lstStyle/>
          <a:p>
            <a:r>
              <a:rPr lang="en-US" sz="1467" dirty="0">
                <a:solidFill>
                  <a:srgbClr val="8493A8"/>
                </a:solidFill>
                <a:latin typeface="Calibri" pitchFamily="34" charset="0"/>
                <a:ea typeface="Calibri" pitchFamily="34" charset="-122"/>
                <a:cs typeface="Calibri" pitchFamily="34" charset="-120"/>
              </a:rPr>
              <a:t>GPS Solutions (Springer, Q1)  ·  Target: Post-ION GNSS+ 2026</a:t>
            </a:r>
            <a:endParaRPr lang="en-US" sz="1467" dirty="0"/>
          </a:p>
        </p:txBody>
      </p:sp>
      <p:sp>
        <p:nvSpPr>
          <p:cNvPr id="10" name="Shape 8"/>
          <p:cNvSpPr/>
          <p:nvPr/>
        </p:nvSpPr>
        <p:spPr>
          <a:xfrm>
            <a:off x="8656320" y="1340739"/>
            <a:ext cx="2926080" cy="487680"/>
          </a:xfrm>
          <a:prstGeom prst="rect">
            <a:avLst/>
          </a:prstGeom>
          <a:solidFill>
            <a:srgbClr val="D97706"/>
          </a:solidFill>
          <a:ln w="12700">
            <a:solidFill>
              <a:srgbClr val="D97706"/>
            </a:solidFill>
            <a:prstDash val="solid"/>
          </a:ln>
        </p:spPr>
      </p:sp>
      <p:sp>
        <p:nvSpPr>
          <p:cNvPr id="11" name="Text 9"/>
          <p:cNvSpPr/>
          <p:nvPr/>
        </p:nvSpPr>
        <p:spPr>
          <a:xfrm>
            <a:off x="8656320" y="1352931"/>
            <a:ext cx="2926080" cy="463296"/>
          </a:xfrm>
          <a:prstGeom prst="rect">
            <a:avLst/>
          </a:prstGeom>
          <a:noFill/>
          <a:ln/>
        </p:spPr>
        <p:txBody>
          <a:bodyPr wrap="square" lIns="0" tIns="0" rIns="0" bIns="0" rtlCol="0" anchor="ctr"/>
          <a:lstStyle/>
          <a:p>
            <a:pPr algn="ctr"/>
            <a:r>
              <a:rPr lang="en-US" sz="1467" b="1" dirty="0">
                <a:solidFill>
                  <a:srgbClr val="FFFFFF"/>
                </a:solidFill>
                <a:latin typeface="Calibri" pitchFamily="34" charset="0"/>
                <a:ea typeface="Calibri" pitchFamily="34" charset="-122"/>
                <a:cs typeface="Calibri" pitchFamily="34" charset="-120"/>
              </a:rPr>
              <a:t>🔄 Drafting</a:t>
            </a:r>
            <a:endParaRPr lang="en-US" sz="1467" dirty="0"/>
          </a:p>
        </p:txBody>
      </p:sp>
      <p:sp>
        <p:nvSpPr>
          <p:cNvPr id="12" name="Shape 10"/>
          <p:cNvSpPr/>
          <p:nvPr/>
        </p:nvSpPr>
        <p:spPr>
          <a:xfrm>
            <a:off x="548640" y="2286000"/>
            <a:ext cx="11277600" cy="1157859"/>
          </a:xfrm>
          <a:prstGeom prst="rect">
            <a:avLst/>
          </a:prstGeom>
          <a:solidFill>
            <a:srgbClr val="FFFFFF"/>
          </a:solidFill>
          <a:ln w="12700">
            <a:solidFill>
              <a:srgbClr val="DDE3ED"/>
            </a:solidFill>
            <a:prstDash val="solid"/>
          </a:ln>
          <a:effectLst>
            <a:outerShdw blurRad="101600" dist="25400" dir="8100000" algn="bl" rotWithShape="0">
              <a:srgbClr val="000000">
                <a:alpha val="8000"/>
              </a:srgbClr>
            </a:outerShdw>
          </a:effectLst>
        </p:spPr>
      </p:sp>
      <p:sp>
        <p:nvSpPr>
          <p:cNvPr id="13" name="Shape 11"/>
          <p:cNvSpPr/>
          <p:nvPr/>
        </p:nvSpPr>
        <p:spPr>
          <a:xfrm>
            <a:off x="548640" y="2286000"/>
            <a:ext cx="1219200" cy="1143000"/>
          </a:xfrm>
          <a:prstGeom prst="rect">
            <a:avLst/>
          </a:prstGeom>
          <a:solidFill>
            <a:srgbClr val="0A1F44"/>
          </a:solidFill>
          <a:ln w="12700">
            <a:solidFill>
              <a:srgbClr val="0A1F44"/>
            </a:solidFill>
            <a:prstDash val="solid"/>
          </a:ln>
        </p:spPr>
      </p:sp>
      <p:sp>
        <p:nvSpPr>
          <p:cNvPr id="14" name="Text 12"/>
          <p:cNvSpPr/>
          <p:nvPr/>
        </p:nvSpPr>
        <p:spPr>
          <a:xfrm>
            <a:off x="548640" y="2712720"/>
            <a:ext cx="1219200" cy="487680"/>
          </a:xfrm>
          <a:prstGeom prst="rect">
            <a:avLst/>
          </a:prstGeom>
          <a:noFill/>
          <a:ln/>
        </p:spPr>
        <p:txBody>
          <a:bodyPr wrap="square" lIns="0" tIns="0" rIns="0" bIns="0" rtlCol="0" anchor="ctr"/>
          <a:lstStyle/>
          <a:p>
            <a:pPr algn="ctr"/>
            <a:r>
              <a:rPr lang="en-US" sz="1867" b="1" dirty="0">
                <a:solidFill>
                  <a:srgbClr val="FFFFFF"/>
                </a:solidFill>
                <a:latin typeface="Calibri" pitchFamily="34" charset="0"/>
                <a:ea typeface="Calibri" pitchFamily="34" charset="-122"/>
                <a:cs typeface="Calibri" pitchFamily="34" charset="-120"/>
              </a:rPr>
              <a:t>Paper B</a:t>
            </a:r>
            <a:endParaRPr lang="en-US" sz="1867" dirty="0"/>
          </a:p>
        </p:txBody>
      </p:sp>
      <p:sp>
        <p:nvSpPr>
          <p:cNvPr id="15" name="Text 13"/>
          <p:cNvSpPr/>
          <p:nvPr/>
        </p:nvSpPr>
        <p:spPr>
          <a:xfrm>
            <a:off x="1950720" y="2346960"/>
            <a:ext cx="6461760" cy="426720"/>
          </a:xfrm>
          <a:prstGeom prst="rect">
            <a:avLst/>
          </a:prstGeom>
          <a:noFill/>
          <a:ln/>
        </p:spPr>
        <p:txBody>
          <a:bodyPr wrap="square" lIns="0" tIns="0" rIns="0" bIns="0" rtlCol="0" anchor="ctr"/>
          <a:lstStyle/>
          <a:p>
            <a:r>
              <a:rPr lang="en-US" sz="1733" b="1" dirty="0">
                <a:solidFill>
                  <a:srgbClr val="0A1F44"/>
                </a:solidFill>
                <a:latin typeface="Calibri" pitchFamily="34" charset="0"/>
                <a:ea typeface="Calibri" pitchFamily="34" charset="-122"/>
                <a:cs typeface="Calibri" pitchFamily="34" charset="-120"/>
              </a:rPr>
              <a:t>From Prediction to Position: Adaptive EKF</a:t>
            </a:r>
            <a:endParaRPr lang="en-US" sz="1733" dirty="0"/>
          </a:p>
        </p:txBody>
      </p:sp>
      <p:sp>
        <p:nvSpPr>
          <p:cNvPr id="16" name="Text 14"/>
          <p:cNvSpPr/>
          <p:nvPr/>
        </p:nvSpPr>
        <p:spPr>
          <a:xfrm>
            <a:off x="1950720" y="2798064"/>
            <a:ext cx="6461760" cy="341376"/>
          </a:xfrm>
          <a:prstGeom prst="rect">
            <a:avLst/>
          </a:prstGeom>
          <a:noFill/>
          <a:ln/>
        </p:spPr>
        <p:txBody>
          <a:bodyPr wrap="square" lIns="0" tIns="0" rIns="0" bIns="0" rtlCol="0" anchor="ctr"/>
          <a:lstStyle/>
          <a:p>
            <a:r>
              <a:rPr lang="en-US" sz="1467" dirty="0">
                <a:solidFill>
                  <a:srgbClr val="8493A8"/>
                </a:solidFill>
                <a:latin typeface="Calibri" pitchFamily="34" charset="0"/>
                <a:ea typeface="Calibri" pitchFamily="34" charset="-122"/>
                <a:cs typeface="Calibri" pitchFamily="34" charset="-120"/>
              </a:rPr>
              <a:t>IEEE T-ITS / Journal of Navigation (Q1)  ·  Target: After Paper A submission</a:t>
            </a:r>
            <a:endParaRPr lang="en-US" sz="1467" dirty="0"/>
          </a:p>
        </p:txBody>
      </p:sp>
      <p:sp>
        <p:nvSpPr>
          <p:cNvPr id="18" name="Shape 16"/>
          <p:cNvSpPr/>
          <p:nvPr/>
        </p:nvSpPr>
        <p:spPr>
          <a:xfrm>
            <a:off x="8656320" y="2737104"/>
            <a:ext cx="2926080" cy="487680"/>
          </a:xfrm>
          <a:prstGeom prst="rect">
            <a:avLst/>
          </a:prstGeom>
          <a:solidFill>
            <a:srgbClr val="8493A8"/>
          </a:solidFill>
          <a:ln w="12700">
            <a:solidFill>
              <a:srgbClr val="8493A8"/>
            </a:solidFill>
            <a:prstDash val="solid"/>
          </a:ln>
        </p:spPr>
      </p:sp>
      <p:sp>
        <p:nvSpPr>
          <p:cNvPr id="19" name="Text 17"/>
          <p:cNvSpPr/>
          <p:nvPr/>
        </p:nvSpPr>
        <p:spPr>
          <a:xfrm>
            <a:off x="8656320" y="2749296"/>
            <a:ext cx="2926080" cy="463296"/>
          </a:xfrm>
          <a:prstGeom prst="rect">
            <a:avLst/>
          </a:prstGeom>
          <a:noFill/>
          <a:ln/>
        </p:spPr>
        <p:txBody>
          <a:bodyPr wrap="square" lIns="0" tIns="0" rIns="0" bIns="0" rtlCol="0" anchor="ctr"/>
          <a:lstStyle/>
          <a:p>
            <a:pPr algn="ctr"/>
            <a:r>
              <a:rPr lang="en-US" sz="1467" b="1" dirty="0">
                <a:solidFill>
                  <a:srgbClr val="FFFFFF"/>
                </a:solidFill>
                <a:latin typeface="Calibri" pitchFamily="34" charset="0"/>
                <a:ea typeface="Calibri" pitchFamily="34" charset="-122"/>
                <a:cs typeface="Calibri" pitchFamily="34" charset="-120"/>
              </a:rPr>
              <a:t>⏳ Outlined</a:t>
            </a:r>
            <a:endParaRPr lang="en-US" sz="1467" dirty="0"/>
          </a:p>
        </p:txBody>
      </p:sp>
      <p:sp>
        <p:nvSpPr>
          <p:cNvPr id="20" name="Shape 18"/>
          <p:cNvSpPr/>
          <p:nvPr/>
        </p:nvSpPr>
        <p:spPr>
          <a:xfrm>
            <a:off x="548640" y="4968240"/>
            <a:ext cx="11277600" cy="1245824"/>
          </a:xfrm>
          <a:prstGeom prst="rect">
            <a:avLst/>
          </a:prstGeom>
          <a:solidFill>
            <a:srgbClr val="FFFFFF"/>
          </a:solidFill>
          <a:ln w="12700">
            <a:solidFill>
              <a:srgbClr val="DDE3ED"/>
            </a:solidFill>
            <a:prstDash val="solid"/>
          </a:ln>
          <a:effectLst>
            <a:outerShdw blurRad="101600" dist="25400" dir="8100000" algn="bl" rotWithShape="0">
              <a:srgbClr val="000000">
                <a:alpha val="8000"/>
              </a:srgbClr>
            </a:outerShdw>
          </a:effectLst>
        </p:spPr>
      </p:sp>
      <p:sp>
        <p:nvSpPr>
          <p:cNvPr id="21" name="Shape 19"/>
          <p:cNvSpPr/>
          <p:nvPr/>
        </p:nvSpPr>
        <p:spPr>
          <a:xfrm>
            <a:off x="548640" y="4968240"/>
            <a:ext cx="1219200" cy="1231392"/>
          </a:xfrm>
          <a:prstGeom prst="rect">
            <a:avLst/>
          </a:prstGeom>
          <a:solidFill>
            <a:srgbClr val="D97706"/>
          </a:solidFill>
          <a:ln w="12700">
            <a:solidFill>
              <a:srgbClr val="D97706"/>
            </a:solidFill>
            <a:prstDash val="solid"/>
          </a:ln>
        </p:spPr>
      </p:sp>
      <p:sp>
        <p:nvSpPr>
          <p:cNvPr id="22" name="Text 20"/>
          <p:cNvSpPr/>
          <p:nvPr/>
        </p:nvSpPr>
        <p:spPr>
          <a:xfrm>
            <a:off x="548640" y="5394960"/>
            <a:ext cx="1219200" cy="487680"/>
          </a:xfrm>
          <a:prstGeom prst="rect">
            <a:avLst/>
          </a:prstGeom>
          <a:noFill/>
          <a:ln/>
        </p:spPr>
        <p:txBody>
          <a:bodyPr wrap="square" lIns="0" tIns="0" rIns="0" bIns="0" rtlCol="0" anchor="ctr"/>
          <a:lstStyle/>
          <a:p>
            <a:pPr algn="ctr"/>
            <a:r>
              <a:rPr lang="en-US" sz="1867" b="1" dirty="0">
                <a:solidFill>
                  <a:srgbClr val="FFFFFF"/>
                </a:solidFill>
                <a:latin typeface="Calibri" pitchFamily="34" charset="0"/>
                <a:ea typeface="Calibri" pitchFamily="34" charset="-122"/>
                <a:cs typeface="Calibri" pitchFamily="34" charset="-120"/>
              </a:rPr>
              <a:t>Conference</a:t>
            </a:r>
            <a:endParaRPr lang="en-US" sz="1867" dirty="0"/>
          </a:p>
        </p:txBody>
      </p:sp>
      <p:sp>
        <p:nvSpPr>
          <p:cNvPr id="23" name="Text 21"/>
          <p:cNvSpPr/>
          <p:nvPr/>
        </p:nvSpPr>
        <p:spPr>
          <a:xfrm>
            <a:off x="1950720" y="5029200"/>
            <a:ext cx="6461760" cy="426720"/>
          </a:xfrm>
          <a:prstGeom prst="rect">
            <a:avLst/>
          </a:prstGeom>
          <a:noFill/>
          <a:ln/>
        </p:spPr>
        <p:txBody>
          <a:bodyPr wrap="square" lIns="0" tIns="0" rIns="0" bIns="0" rtlCol="0" anchor="ctr"/>
          <a:lstStyle/>
          <a:p>
            <a:r>
              <a:rPr lang="en-US" sz="1733" b="1" dirty="0">
                <a:solidFill>
                  <a:srgbClr val="0A1F44"/>
                </a:solidFill>
                <a:latin typeface="Calibri" pitchFamily="34" charset="0"/>
                <a:ea typeface="Calibri" pitchFamily="34" charset="-122"/>
                <a:cs typeface="Calibri" pitchFamily="34" charset="-120"/>
              </a:rPr>
              <a:t>Cross-City Transfer — Short Paper</a:t>
            </a:r>
            <a:endParaRPr lang="en-US" sz="1733" dirty="0"/>
          </a:p>
        </p:txBody>
      </p:sp>
      <p:sp>
        <p:nvSpPr>
          <p:cNvPr id="24" name="Text 22"/>
          <p:cNvSpPr/>
          <p:nvPr/>
        </p:nvSpPr>
        <p:spPr>
          <a:xfrm>
            <a:off x="1950720" y="5480304"/>
            <a:ext cx="6461760" cy="341376"/>
          </a:xfrm>
          <a:prstGeom prst="rect">
            <a:avLst/>
          </a:prstGeom>
          <a:noFill/>
          <a:ln/>
        </p:spPr>
        <p:txBody>
          <a:bodyPr wrap="square" lIns="0" tIns="0" rIns="0" bIns="0" rtlCol="0" anchor="ctr"/>
          <a:lstStyle/>
          <a:p>
            <a:r>
              <a:rPr lang="en-US" sz="1467" dirty="0">
                <a:solidFill>
                  <a:srgbClr val="8493A8"/>
                </a:solidFill>
                <a:latin typeface="Calibri" pitchFamily="34" charset="0"/>
                <a:ea typeface="Calibri" pitchFamily="34" charset="-122"/>
                <a:cs typeface="Calibri" pitchFamily="34" charset="-120"/>
              </a:rPr>
              <a:t>ION GNSS+ 2026  ·  Target: Check deadline</a:t>
            </a:r>
            <a:endParaRPr lang="en-US" sz="1467" dirty="0"/>
          </a:p>
        </p:txBody>
      </p:sp>
      <p:sp>
        <p:nvSpPr>
          <p:cNvPr id="26" name="Shape 24"/>
          <p:cNvSpPr/>
          <p:nvPr/>
        </p:nvSpPr>
        <p:spPr>
          <a:xfrm>
            <a:off x="8656320" y="5419344"/>
            <a:ext cx="2926080" cy="487680"/>
          </a:xfrm>
          <a:prstGeom prst="rect">
            <a:avLst/>
          </a:prstGeom>
          <a:solidFill>
            <a:srgbClr val="8493A8"/>
          </a:solidFill>
          <a:ln w="12700">
            <a:solidFill>
              <a:srgbClr val="8493A8"/>
            </a:solidFill>
            <a:prstDash val="solid"/>
          </a:ln>
        </p:spPr>
      </p:sp>
      <p:sp>
        <p:nvSpPr>
          <p:cNvPr id="27" name="Text 25"/>
          <p:cNvSpPr/>
          <p:nvPr/>
        </p:nvSpPr>
        <p:spPr>
          <a:xfrm>
            <a:off x="8656320" y="5431536"/>
            <a:ext cx="2926080" cy="463296"/>
          </a:xfrm>
          <a:prstGeom prst="rect">
            <a:avLst/>
          </a:prstGeom>
          <a:noFill/>
          <a:ln/>
        </p:spPr>
        <p:txBody>
          <a:bodyPr wrap="square" lIns="0" tIns="0" rIns="0" bIns="0" rtlCol="0" anchor="ctr"/>
          <a:lstStyle/>
          <a:p>
            <a:pPr algn="ctr"/>
            <a:r>
              <a:rPr lang="en-US" sz="1467" b="1" dirty="0">
                <a:solidFill>
                  <a:srgbClr val="FFFFFF"/>
                </a:solidFill>
                <a:latin typeface="Calibri" pitchFamily="34" charset="0"/>
                <a:ea typeface="Calibri" pitchFamily="34" charset="-122"/>
                <a:cs typeface="Calibri" pitchFamily="34" charset="-120"/>
              </a:rPr>
              <a:t>⏳ Outlined</a:t>
            </a:r>
            <a:endParaRPr lang="en-US" sz="1467" dirty="0"/>
          </a:p>
        </p:txBody>
      </p:sp>
      <p:sp>
        <p:nvSpPr>
          <p:cNvPr id="30" name="Shape 0">
            <a:extLst>
              <a:ext uri="{FF2B5EF4-FFF2-40B4-BE49-F238E27FC236}">
                <a16:creationId xmlns:a16="http://schemas.microsoft.com/office/drawing/2014/main" id="{8CB8C325-269A-34A7-B913-0C8103C4870D}"/>
              </a:ext>
            </a:extLst>
          </p:cNvPr>
          <p:cNvSpPr/>
          <p:nvPr/>
        </p:nvSpPr>
        <p:spPr>
          <a:xfrm>
            <a:off x="0" y="-23466"/>
            <a:ext cx="12192000" cy="740408"/>
          </a:xfrm>
          <a:prstGeom prst="rect">
            <a:avLst/>
          </a:prstGeom>
          <a:solidFill>
            <a:srgbClr val="003893"/>
          </a:solidFill>
          <a:ln w="12700">
            <a:solidFill>
              <a:srgbClr val="003893"/>
            </a:solidFill>
            <a:prstDash val="solid"/>
          </a:ln>
        </p:spPr>
      </p:sp>
      <p:sp>
        <p:nvSpPr>
          <p:cNvPr id="31" name="Shape 1">
            <a:extLst>
              <a:ext uri="{FF2B5EF4-FFF2-40B4-BE49-F238E27FC236}">
                <a16:creationId xmlns:a16="http://schemas.microsoft.com/office/drawing/2014/main" id="{5B057CEB-9151-4C4F-8907-258513BEEE6C}"/>
              </a:ext>
            </a:extLst>
          </p:cNvPr>
          <p:cNvSpPr/>
          <p:nvPr/>
        </p:nvSpPr>
        <p:spPr>
          <a:xfrm>
            <a:off x="0" y="702347"/>
            <a:ext cx="12192000" cy="36576"/>
          </a:xfrm>
          <a:prstGeom prst="rect">
            <a:avLst/>
          </a:prstGeom>
          <a:solidFill>
            <a:srgbClr val="4FC3F7"/>
          </a:solidFill>
          <a:ln w="12700">
            <a:solidFill>
              <a:srgbClr val="4FC3F7"/>
            </a:solidFill>
            <a:prstDash val="solid"/>
          </a:ln>
        </p:spPr>
      </p:sp>
      <p:sp>
        <p:nvSpPr>
          <p:cNvPr id="32" name="Shape 2">
            <a:extLst>
              <a:ext uri="{FF2B5EF4-FFF2-40B4-BE49-F238E27FC236}">
                <a16:creationId xmlns:a16="http://schemas.microsoft.com/office/drawing/2014/main" id="{5EC20E52-FCF1-91E2-9C9A-A6CF47370172}"/>
              </a:ext>
            </a:extLst>
          </p:cNvPr>
          <p:cNvSpPr/>
          <p:nvPr/>
        </p:nvSpPr>
        <p:spPr>
          <a:xfrm>
            <a:off x="0" y="6646862"/>
            <a:ext cx="12192000" cy="211137"/>
          </a:xfrm>
          <a:prstGeom prst="rect">
            <a:avLst/>
          </a:prstGeom>
          <a:solidFill>
            <a:srgbClr val="003893"/>
          </a:solidFill>
          <a:ln w="12700">
            <a:solidFill>
              <a:srgbClr val="003893"/>
            </a:solidFill>
            <a:prstDash val="solid"/>
          </a:ln>
        </p:spPr>
      </p:sp>
      <p:sp>
        <p:nvSpPr>
          <p:cNvPr id="33" name="Shape 3">
            <a:extLst>
              <a:ext uri="{FF2B5EF4-FFF2-40B4-BE49-F238E27FC236}">
                <a16:creationId xmlns:a16="http://schemas.microsoft.com/office/drawing/2014/main" id="{99BDAAFA-C6CF-316C-9DDC-872F360E6E07}"/>
              </a:ext>
            </a:extLst>
          </p:cNvPr>
          <p:cNvSpPr/>
          <p:nvPr/>
        </p:nvSpPr>
        <p:spPr>
          <a:xfrm>
            <a:off x="0" y="6623677"/>
            <a:ext cx="12192000" cy="30480"/>
          </a:xfrm>
          <a:prstGeom prst="rect">
            <a:avLst/>
          </a:prstGeom>
          <a:solidFill>
            <a:srgbClr val="4FC3F7"/>
          </a:solidFill>
          <a:ln w="12700">
            <a:solidFill>
              <a:srgbClr val="4FC3F7"/>
            </a:solidFill>
            <a:prstDash val="solid"/>
          </a:ln>
        </p:spPr>
      </p:sp>
      <p:sp>
        <p:nvSpPr>
          <p:cNvPr id="34" name="Shape 4">
            <a:extLst>
              <a:ext uri="{FF2B5EF4-FFF2-40B4-BE49-F238E27FC236}">
                <a16:creationId xmlns:a16="http://schemas.microsoft.com/office/drawing/2014/main" id="{0ED74389-4A40-7A12-343F-05F49A5C1912}"/>
              </a:ext>
            </a:extLst>
          </p:cNvPr>
          <p:cNvSpPr/>
          <p:nvPr/>
        </p:nvSpPr>
        <p:spPr>
          <a:xfrm>
            <a:off x="0" y="-24618"/>
            <a:ext cx="1128763" cy="767311"/>
          </a:xfrm>
          <a:prstGeom prst="homePlate">
            <a:avLst/>
          </a:prstGeom>
          <a:solidFill>
            <a:srgbClr val="FFFFFF"/>
          </a:solidFill>
          <a:ln w="6350">
            <a:solidFill>
              <a:srgbClr val="CCCCCC"/>
            </a:solidFill>
            <a:prstDash val="solid"/>
          </a:ln>
        </p:spPr>
      </p:sp>
      <p:sp>
        <p:nvSpPr>
          <p:cNvPr id="35" name="Shape 5">
            <a:extLst>
              <a:ext uri="{FF2B5EF4-FFF2-40B4-BE49-F238E27FC236}">
                <a16:creationId xmlns:a16="http://schemas.microsoft.com/office/drawing/2014/main" id="{0CD44AF3-50C0-6399-9EB6-723929A2CC24}"/>
              </a:ext>
            </a:extLst>
          </p:cNvPr>
          <p:cNvSpPr/>
          <p:nvPr/>
        </p:nvSpPr>
        <p:spPr>
          <a:xfrm>
            <a:off x="10728961" y="121921"/>
            <a:ext cx="51207" cy="51207"/>
          </a:xfrm>
          <a:prstGeom prst="ellipse">
            <a:avLst/>
          </a:prstGeom>
          <a:solidFill>
            <a:srgbClr val="FFFFFF">
              <a:alpha val="35000"/>
            </a:srgbClr>
          </a:solidFill>
          <a:ln w="12700">
            <a:solidFill>
              <a:srgbClr val="FFFFFF"/>
            </a:solidFill>
            <a:prstDash val="solid"/>
          </a:ln>
        </p:spPr>
      </p:sp>
      <p:sp>
        <p:nvSpPr>
          <p:cNvPr id="36" name="Shape 6">
            <a:extLst>
              <a:ext uri="{FF2B5EF4-FFF2-40B4-BE49-F238E27FC236}">
                <a16:creationId xmlns:a16="http://schemas.microsoft.com/office/drawing/2014/main" id="{C6904B11-FD2C-BF27-31C6-910C2A04CE22}"/>
              </a:ext>
            </a:extLst>
          </p:cNvPr>
          <p:cNvSpPr/>
          <p:nvPr/>
        </p:nvSpPr>
        <p:spPr>
          <a:xfrm>
            <a:off x="10948417" y="121921"/>
            <a:ext cx="51207" cy="51207"/>
          </a:xfrm>
          <a:prstGeom prst="ellipse">
            <a:avLst/>
          </a:prstGeom>
          <a:solidFill>
            <a:srgbClr val="FFFFFF">
              <a:alpha val="35000"/>
            </a:srgbClr>
          </a:solidFill>
          <a:ln w="12700">
            <a:solidFill>
              <a:srgbClr val="FFFFFF"/>
            </a:solidFill>
            <a:prstDash val="solid"/>
          </a:ln>
        </p:spPr>
      </p:sp>
      <p:sp>
        <p:nvSpPr>
          <p:cNvPr id="37" name="Shape 7">
            <a:extLst>
              <a:ext uri="{FF2B5EF4-FFF2-40B4-BE49-F238E27FC236}">
                <a16:creationId xmlns:a16="http://schemas.microsoft.com/office/drawing/2014/main" id="{2CEDF857-0E50-E12F-DD22-AA656A583339}"/>
              </a:ext>
            </a:extLst>
          </p:cNvPr>
          <p:cNvSpPr/>
          <p:nvPr/>
        </p:nvSpPr>
        <p:spPr>
          <a:xfrm>
            <a:off x="11167873" y="121921"/>
            <a:ext cx="51207" cy="51207"/>
          </a:xfrm>
          <a:prstGeom prst="ellipse">
            <a:avLst/>
          </a:prstGeom>
          <a:solidFill>
            <a:srgbClr val="FFFFFF">
              <a:alpha val="35000"/>
            </a:srgbClr>
          </a:solidFill>
          <a:ln w="12700">
            <a:solidFill>
              <a:srgbClr val="FFFFFF"/>
            </a:solidFill>
            <a:prstDash val="solid"/>
          </a:ln>
        </p:spPr>
      </p:sp>
      <p:sp>
        <p:nvSpPr>
          <p:cNvPr id="38" name="Shape 8">
            <a:extLst>
              <a:ext uri="{FF2B5EF4-FFF2-40B4-BE49-F238E27FC236}">
                <a16:creationId xmlns:a16="http://schemas.microsoft.com/office/drawing/2014/main" id="{BE60D477-A7A1-E54E-AA06-1947D7B4BCBB}"/>
              </a:ext>
            </a:extLst>
          </p:cNvPr>
          <p:cNvSpPr/>
          <p:nvPr/>
        </p:nvSpPr>
        <p:spPr>
          <a:xfrm>
            <a:off x="11387329" y="121921"/>
            <a:ext cx="51207" cy="51207"/>
          </a:xfrm>
          <a:prstGeom prst="ellipse">
            <a:avLst/>
          </a:prstGeom>
          <a:solidFill>
            <a:srgbClr val="FFFFFF">
              <a:alpha val="35000"/>
            </a:srgbClr>
          </a:solidFill>
          <a:ln w="12700">
            <a:solidFill>
              <a:srgbClr val="FFFFFF"/>
            </a:solidFill>
            <a:prstDash val="solid"/>
          </a:ln>
        </p:spPr>
      </p:sp>
      <p:sp>
        <p:nvSpPr>
          <p:cNvPr id="39" name="Shape 9">
            <a:extLst>
              <a:ext uri="{FF2B5EF4-FFF2-40B4-BE49-F238E27FC236}">
                <a16:creationId xmlns:a16="http://schemas.microsoft.com/office/drawing/2014/main" id="{075F713E-578C-D17F-0AF6-0575DD073583}"/>
              </a:ext>
            </a:extLst>
          </p:cNvPr>
          <p:cNvSpPr/>
          <p:nvPr/>
        </p:nvSpPr>
        <p:spPr>
          <a:xfrm>
            <a:off x="10728961" y="292609"/>
            <a:ext cx="51207" cy="51207"/>
          </a:xfrm>
          <a:prstGeom prst="ellipse">
            <a:avLst/>
          </a:prstGeom>
          <a:solidFill>
            <a:srgbClr val="FFFFFF">
              <a:alpha val="35000"/>
            </a:srgbClr>
          </a:solidFill>
          <a:ln w="12700">
            <a:solidFill>
              <a:srgbClr val="FFFFFF"/>
            </a:solidFill>
            <a:prstDash val="solid"/>
          </a:ln>
        </p:spPr>
      </p:sp>
      <p:sp>
        <p:nvSpPr>
          <p:cNvPr id="40" name="Shape 10">
            <a:extLst>
              <a:ext uri="{FF2B5EF4-FFF2-40B4-BE49-F238E27FC236}">
                <a16:creationId xmlns:a16="http://schemas.microsoft.com/office/drawing/2014/main" id="{DA050839-367E-44D7-EE2D-946D801AB208}"/>
              </a:ext>
            </a:extLst>
          </p:cNvPr>
          <p:cNvSpPr/>
          <p:nvPr/>
        </p:nvSpPr>
        <p:spPr>
          <a:xfrm>
            <a:off x="10948417" y="292609"/>
            <a:ext cx="51207" cy="51207"/>
          </a:xfrm>
          <a:prstGeom prst="ellipse">
            <a:avLst/>
          </a:prstGeom>
          <a:solidFill>
            <a:srgbClr val="FFFFFF">
              <a:alpha val="35000"/>
            </a:srgbClr>
          </a:solidFill>
          <a:ln w="12700">
            <a:solidFill>
              <a:srgbClr val="FFFFFF"/>
            </a:solidFill>
            <a:prstDash val="solid"/>
          </a:ln>
        </p:spPr>
      </p:sp>
      <p:sp>
        <p:nvSpPr>
          <p:cNvPr id="41" name="Shape 11">
            <a:extLst>
              <a:ext uri="{FF2B5EF4-FFF2-40B4-BE49-F238E27FC236}">
                <a16:creationId xmlns:a16="http://schemas.microsoft.com/office/drawing/2014/main" id="{118BA531-9153-8AEE-6F64-F4145AAF1921}"/>
              </a:ext>
            </a:extLst>
          </p:cNvPr>
          <p:cNvSpPr/>
          <p:nvPr/>
        </p:nvSpPr>
        <p:spPr>
          <a:xfrm>
            <a:off x="11167873" y="292609"/>
            <a:ext cx="51207" cy="51207"/>
          </a:xfrm>
          <a:prstGeom prst="ellipse">
            <a:avLst/>
          </a:prstGeom>
          <a:solidFill>
            <a:srgbClr val="FFFFFF">
              <a:alpha val="35000"/>
            </a:srgbClr>
          </a:solidFill>
          <a:ln w="12700">
            <a:solidFill>
              <a:srgbClr val="FFFFFF"/>
            </a:solidFill>
            <a:prstDash val="solid"/>
          </a:ln>
        </p:spPr>
      </p:sp>
      <p:sp>
        <p:nvSpPr>
          <p:cNvPr id="42" name="Shape 12">
            <a:extLst>
              <a:ext uri="{FF2B5EF4-FFF2-40B4-BE49-F238E27FC236}">
                <a16:creationId xmlns:a16="http://schemas.microsoft.com/office/drawing/2014/main" id="{16494F83-CC8D-6BA1-3071-0F6A72DC7F5C}"/>
              </a:ext>
            </a:extLst>
          </p:cNvPr>
          <p:cNvSpPr/>
          <p:nvPr/>
        </p:nvSpPr>
        <p:spPr>
          <a:xfrm>
            <a:off x="11387329" y="292609"/>
            <a:ext cx="51207" cy="51207"/>
          </a:xfrm>
          <a:prstGeom prst="ellipse">
            <a:avLst/>
          </a:prstGeom>
          <a:solidFill>
            <a:srgbClr val="FFFFFF">
              <a:alpha val="35000"/>
            </a:srgbClr>
          </a:solidFill>
          <a:ln w="12700">
            <a:solidFill>
              <a:srgbClr val="FFFFFF"/>
            </a:solidFill>
            <a:prstDash val="solid"/>
          </a:ln>
        </p:spPr>
      </p:sp>
      <p:sp>
        <p:nvSpPr>
          <p:cNvPr id="43" name="Shape 13">
            <a:extLst>
              <a:ext uri="{FF2B5EF4-FFF2-40B4-BE49-F238E27FC236}">
                <a16:creationId xmlns:a16="http://schemas.microsoft.com/office/drawing/2014/main" id="{416B7AFC-F29B-7799-0BC7-1149DF6AA52B}"/>
              </a:ext>
            </a:extLst>
          </p:cNvPr>
          <p:cNvSpPr/>
          <p:nvPr/>
        </p:nvSpPr>
        <p:spPr>
          <a:xfrm>
            <a:off x="10728961" y="463297"/>
            <a:ext cx="51207" cy="51207"/>
          </a:xfrm>
          <a:prstGeom prst="ellipse">
            <a:avLst/>
          </a:prstGeom>
          <a:solidFill>
            <a:srgbClr val="FFFFFF">
              <a:alpha val="35000"/>
            </a:srgbClr>
          </a:solidFill>
          <a:ln w="12700">
            <a:solidFill>
              <a:srgbClr val="FFFFFF"/>
            </a:solidFill>
            <a:prstDash val="solid"/>
          </a:ln>
        </p:spPr>
      </p:sp>
      <p:sp>
        <p:nvSpPr>
          <p:cNvPr id="44" name="Shape 14">
            <a:extLst>
              <a:ext uri="{FF2B5EF4-FFF2-40B4-BE49-F238E27FC236}">
                <a16:creationId xmlns:a16="http://schemas.microsoft.com/office/drawing/2014/main" id="{DA6416FE-D50B-415A-2605-1C6D22A95AE9}"/>
              </a:ext>
            </a:extLst>
          </p:cNvPr>
          <p:cNvSpPr/>
          <p:nvPr/>
        </p:nvSpPr>
        <p:spPr>
          <a:xfrm>
            <a:off x="10948417" y="463297"/>
            <a:ext cx="51207" cy="51207"/>
          </a:xfrm>
          <a:prstGeom prst="ellipse">
            <a:avLst/>
          </a:prstGeom>
          <a:solidFill>
            <a:srgbClr val="FFFFFF">
              <a:alpha val="35000"/>
            </a:srgbClr>
          </a:solidFill>
          <a:ln w="12700">
            <a:solidFill>
              <a:srgbClr val="FFFFFF"/>
            </a:solidFill>
            <a:prstDash val="solid"/>
          </a:ln>
        </p:spPr>
      </p:sp>
      <p:sp>
        <p:nvSpPr>
          <p:cNvPr id="45" name="Shape 15">
            <a:extLst>
              <a:ext uri="{FF2B5EF4-FFF2-40B4-BE49-F238E27FC236}">
                <a16:creationId xmlns:a16="http://schemas.microsoft.com/office/drawing/2014/main" id="{B3FA2F6D-EE5F-EF23-DCFD-4D4AC97AA0A8}"/>
              </a:ext>
            </a:extLst>
          </p:cNvPr>
          <p:cNvSpPr/>
          <p:nvPr/>
        </p:nvSpPr>
        <p:spPr>
          <a:xfrm>
            <a:off x="11167873" y="463297"/>
            <a:ext cx="51207" cy="51207"/>
          </a:xfrm>
          <a:prstGeom prst="ellipse">
            <a:avLst/>
          </a:prstGeom>
          <a:solidFill>
            <a:srgbClr val="FFFFFF">
              <a:alpha val="35000"/>
            </a:srgbClr>
          </a:solidFill>
          <a:ln w="12700">
            <a:solidFill>
              <a:srgbClr val="FFFFFF"/>
            </a:solidFill>
            <a:prstDash val="solid"/>
          </a:ln>
        </p:spPr>
      </p:sp>
      <p:sp>
        <p:nvSpPr>
          <p:cNvPr id="46" name="Shape 16">
            <a:extLst>
              <a:ext uri="{FF2B5EF4-FFF2-40B4-BE49-F238E27FC236}">
                <a16:creationId xmlns:a16="http://schemas.microsoft.com/office/drawing/2014/main" id="{22B94A8D-428E-8C32-6CA6-8E662C221374}"/>
              </a:ext>
            </a:extLst>
          </p:cNvPr>
          <p:cNvSpPr/>
          <p:nvPr/>
        </p:nvSpPr>
        <p:spPr>
          <a:xfrm>
            <a:off x="11387329" y="463297"/>
            <a:ext cx="51207" cy="51207"/>
          </a:xfrm>
          <a:prstGeom prst="ellipse">
            <a:avLst/>
          </a:prstGeom>
          <a:solidFill>
            <a:srgbClr val="FFFFFF">
              <a:alpha val="35000"/>
            </a:srgbClr>
          </a:solidFill>
          <a:ln w="12700">
            <a:solidFill>
              <a:srgbClr val="FFFFFF"/>
            </a:solidFill>
            <a:prstDash val="solid"/>
          </a:ln>
        </p:spPr>
      </p:sp>
      <p:pic>
        <p:nvPicPr>
          <p:cNvPr id="47" name="Picture 46">
            <a:extLst>
              <a:ext uri="{FF2B5EF4-FFF2-40B4-BE49-F238E27FC236}">
                <a16:creationId xmlns:a16="http://schemas.microsoft.com/office/drawing/2014/main" id="{6AC47232-D3C2-B140-F9D9-65389A918354}"/>
              </a:ext>
            </a:extLst>
          </p:cNvPr>
          <p:cNvPicPr>
            <a:picLocks noChangeAspect="1"/>
          </p:cNvPicPr>
          <p:nvPr/>
        </p:nvPicPr>
        <p:blipFill>
          <a:blip r:embed="rId4"/>
          <a:stretch>
            <a:fillRect/>
          </a:stretch>
        </p:blipFill>
        <p:spPr>
          <a:xfrm>
            <a:off x="-453212" y="-263954"/>
            <a:ext cx="1776568" cy="1245981"/>
          </a:xfrm>
          <a:prstGeom prst="rect">
            <a:avLst/>
          </a:prstGeom>
        </p:spPr>
      </p:pic>
      <p:sp>
        <p:nvSpPr>
          <p:cNvPr id="3" name="Text 1"/>
          <p:cNvSpPr/>
          <p:nvPr/>
        </p:nvSpPr>
        <p:spPr>
          <a:xfrm>
            <a:off x="1211844" y="4070"/>
            <a:ext cx="10972800" cy="731520"/>
          </a:xfrm>
          <a:prstGeom prst="rect">
            <a:avLst/>
          </a:prstGeom>
          <a:noFill/>
          <a:ln/>
        </p:spPr>
        <p:txBody>
          <a:bodyPr wrap="square" lIns="0" tIns="0" rIns="0" bIns="0" rtlCol="0" anchor="ctr"/>
          <a:lstStyle/>
          <a:p>
            <a:r>
              <a:rPr lang="en-US" sz="3200" b="1" dirty="0">
                <a:solidFill>
                  <a:schemeClr val="bg1"/>
                </a:solidFill>
                <a:latin typeface="Calibri" pitchFamily="34" charset="0"/>
                <a:ea typeface="Calibri" pitchFamily="34" charset="-122"/>
                <a:cs typeface="Calibri" pitchFamily="34" charset="-120"/>
              </a:rPr>
              <a:t>PUBLICATION ROADMAP</a:t>
            </a:r>
            <a:endParaRPr lang="en-US" sz="3200" dirty="0">
              <a:solidFill>
                <a:schemeClr val="bg1"/>
              </a:solidFill>
            </a:endParaRPr>
          </a:p>
        </p:txBody>
      </p:sp>
      <p:sp>
        <p:nvSpPr>
          <p:cNvPr id="48" name="Shape 10">
            <a:extLst>
              <a:ext uri="{FF2B5EF4-FFF2-40B4-BE49-F238E27FC236}">
                <a16:creationId xmlns:a16="http://schemas.microsoft.com/office/drawing/2014/main" id="{BFD081D9-66C0-4DC2-DF81-F53D3B203F60}"/>
              </a:ext>
            </a:extLst>
          </p:cNvPr>
          <p:cNvSpPr/>
          <p:nvPr/>
        </p:nvSpPr>
        <p:spPr>
          <a:xfrm>
            <a:off x="548640" y="3554017"/>
            <a:ext cx="11277600" cy="1245824"/>
          </a:xfrm>
          <a:prstGeom prst="rect">
            <a:avLst/>
          </a:prstGeom>
          <a:solidFill>
            <a:srgbClr val="FFFFFF"/>
          </a:solidFill>
          <a:ln w="12700">
            <a:solidFill>
              <a:srgbClr val="DDE3ED"/>
            </a:solidFill>
            <a:prstDash val="solid"/>
          </a:ln>
          <a:effectLst>
            <a:outerShdw blurRad="101600" dist="25400" dir="8100000" algn="bl" rotWithShape="0">
              <a:srgbClr val="000000">
                <a:alpha val="8000"/>
              </a:srgbClr>
            </a:outerShdw>
          </a:effectLst>
        </p:spPr>
      </p:sp>
      <p:sp>
        <p:nvSpPr>
          <p:cNvPr id="51" name="Text 13">
            <a:extLst>
              <a:ext uri="{FF2B5EF4-FFF2-40B4-BE49-F238E27FC236}">
                <a16:creationId xmlns:a16="http://schemas.microsoft.com/office/drawing/2014/main" id="{2A887426-68F0-8B2C-2558-AD5D71863AE9}"/>
              </a:ext>
            </a:extLst>
          </p:cNvPr>
          <p:cNvSpPr/>
          <p:nvPr/>
        </p:nvSpPr>
        <p:spPr>
          <a:xfrm>
            <a:off x="1950720" y="3614977"/>
            <a:ext cx="6461760" cy="426720"/>
          </a:xfrm>
          <a:prstGeom prst="rect">
            <a:avLst/>
          </a:prstGeom>
          <a:noFill/>
          <a:ln/>
        </p:spPr>
        <p:txBody>
          <a:bodyPr wrap="square" lIns="0" tIns="0" rIns="0" bIns="0" rtlCol="0" anchor="ctr"/>
          <a:lstStyle/>
          <a:p>
            <a:r>
              <a:rPr lang="en-US" sz="1733" b="1" dirty="0">
                <a:solidFill>
                  <a:srgbClr val="0A1F44"/>
                </a:solidFill>
                <a:latin typeface="Calibri" pitchFamily="34" charset="0"/>
                <a:ea typeface="Calibri" pitchFamily="34" charset="-122"/>
                <a:cs typeface="Calibri" pitchFamily="34" charset="-120"/>
              </a:rPr>
              <a:t>Literature Review</a:t>
            </a:r>
            <a:endParaRPr lang="en-US" sz="1733" dirty="0"/>
          </a:p>
        </p:txBody>
      </p:sp>
      <p:sp>
        <p:nvSpPr>
          <p:cNvPr id="52" name="Text 14">
            <a:extLst>
              <a:ext uri="{FF2B5EF4-FFF2-40B4-BE49-F238E27FC236}">
                <a16:creationId xmlns:a16="http://schemas.microsoft.com/office/drawing/2014/main" id="{DADB5FDC-DD3E-43A2-B415-2642F51E00DF}"/>
              </a:ext>
            </a:extLst>
          </p:cNvPr>
          <p:cNvSpPr/>
          <p:nvPr/>
        </p:nvSpPr>
        <p:spPr>
          <a:xfrm>
            <a:off x="1950720" y="4097659"/>
            <a:ext cx="6461760" cy="341376"/>
          </a:xfrm>
          <a:prstGeom prst="rect">
            <a:avLst/>
          </a:prstGeom>
          <a:noFill/>
          <a:ln/>
        </p:spPr>
        <p:txBody>
          <a:bodyPr wrap="square" lIns="0" tIns="0" rIns="0" bIns="0" rtlCol="0" anchor="ctr"/>
          <a:lstStyle/>
          <a:p>
            <a:r>
              <a:rPr lang="en-US" sz="1467" dirty="0">
                <a:solidFill>
                  <a:srgbClr val="8493A8"/>
                </a:solidFill>
                <a:latin typeface="Calibri" pitchFamily="34" charset="0"/>
                <a:ea typeface="Calibri" pitchFamily="34" charset="-122"/>
                <a:cs typeface="Calibri" pitchFamily="34" charset="-120"/>
              </a:rPr>
              <a:t>Title: Evolution of Intelligent GNSS Signal Degradation Prediction Techniques for Autonomous Vehicle Navigation</a:t>
            </a:r>
            <a:endParaRPr lang="en-US" sz="1467" dirty="0"/>
          </a:p>
        </p:txBody>
      </p:sp>
      <p:sp>
        <p:nvSpPr>
          <p:cNvPr id="54" name="Shape 16">
            <a:extLst>
              <a:ext uri="{FF2B5EF4-FFF2-40B4-BE49-F238E27FC236}">
                <a16:creationId xmlns:a16="http://schemas.microsoft.com/office/drawing/2014/main" id="{0A6D07CE-9AF7-4778-9CA7-446ED62AAB36}"/>
              </a:ext>
            </a:extLst>
          </p:cNvPr>
          <p:cNvSpPr/>
          <p:nvPr/>
        </p:nvSpPr>
        <p:spPr>
          <a:xfrm>
            <a:off x="8656320" y="4005121"/>
            <a:ext cx="2926080" cy="487680"/>
          </a:xfrm>
          <a:prstGeom prst="rect">
            <a:avLst/>
          </a:prstGeom>
          <a:solidFill>
            <a:srgbClr val="8493A8"/>
          </a:solidFill>
          <a:ln w="12700">
            <a:solidFill>
              <a:srgbClr val="8493A8"/>
            </a:solidFill>
            <a:prstDash val="solid"/>
          </a:ln>
        </p:spPr>
      </p:sp>
      <p:sp>
        <p:nvSpPr>
          <p:cNvPr id="55" name="Text 17">
            <a:extLst>
              <a:ext uri="{FF2B5EF4-FFF2-40B4-BE49-F238E27FC236}">
                <a16:creationId xmlns:a16="http://schemas.microsoft.com/office/drawing/2014/main" id="{5BB42257-C84A-B10F-6AAC-4BC38938E6AB}"/>
              </a:ext>
            </a:extLst>
          </p:cNvPr>
          <p:cNvSpPr/>
          <p:nvPr/>
        </p:nvSpPr>
        <p:spPr>
          <a:xfrm>
            <a:off x="8656320" y="4017313"/>
            <a:ext cx="2926080" cy="463296"/>
          </a:xfrm>
          <a:prstGeom prst="rect">
            <a:avLst/>
          </a:prstGeom>
          <a:noFill/>
          <a:ln/>
        </p:spPr>
        <p:txBody>
          <a:bodyPr wrap="square" lIns="0" tIns="0" rIns="0" bIns="0" rtlCol="0" anchor="ctr"/>
          <a:lstStyle/>
          <a:p>
            <a:pPr algn="ctr"/>
            <a:r>
              <a:rPr lang="en-US" sz="1467" b="1" dirty="0">
                <a:solidFill>
                  <a:srgbClr val="FFFFFF"/>
                </a:solidFill>
                <a:latin typeface="Calibri" pitchFamily="34" charset="0"/>
                <a:ea typeface="Calibri" pitchFamily="34" charset="-122"/>
                <a:cs typeface="Calibri" pitchFamily="34" charset="-120"/>
              </a:rPr>
              <a:t>⏳ Outlined</a:t>
            </a:r>
            <a:endParaRPr lang="en-US" sz="1467" dirty="0"/>
          </a:p>
        </p:txBody>
      </p:sp>
      <p:sp>
        <p:nvSpPr>
          <p:cNvPr id="56" name="Shape 3">
            <a:extLst>
              <a:ext uri="{FF2B5EF4-FFF2-40B4-BE49-F238E27FC236}">
                <a16:creationId xmlns:a16="http://schemas.microsoft.com/office/drawing/2014/main" id="{154CCE3C-453B-A172-EBC6-7FDD22AEE1C8}"/>
              </a:ext>
            </a:extLst>
          </p:cNvPr>
          <p:cNvSpPr/>
          <p:nvPr/>
        </p:nvSpPr>
        <p:spPr>
          <a:xfrm>
            <a:off x="548640" y="3537470"/>
            <a:ext cx="1219200" cy="1225963"/>
          </a:xfrm>
          <a:prstGeom prst="rect">
            <a:avLst/>
          </a:prstGeom>
          <a:solidFill>
            <a:srgbClr val="C8102E"/>
          </a:solidFill>
          <a:ln w="12700">
            <a:solidFill>
              <a:srgbClr val="C8102E"/>
            </a:solidFill>
            <a:prstDash val="solid"/>
          </a:ln>
        </p:spPr>
      </p:sp>
      <p:sp>
        <p:nvSpPr>
          <p:cNvPr id="50" name="Text 12">
            <a:extLst>
              <a:ext uri="{FF2B5EF4-FFF2-40B4-BE49-F238E27FC236}">
                <a16:creationId xmlns:a16="http://schemas.microsoft.com/office/drawing/2014/main" id="{EA13F8C5-D22C-AB17-A502-89550672A237}"/>
              </a:ext>
            </a:extLst>
          </p:cNvPr>
          <p:cNvSpPr/>
          <p:nvPr/>
        </p:nvSpPr>
        <p:spPr>
          <a:xfrm>
            <a:off x="542975" y="3932864"/>
            <a:ext cx="1219200" cy="487680"/>
          </a:xfrm>
          <a:prstGeom prst="rect">
            <a:avLst/>
          </a:prstGeom>
          <a:noFill/>
          <a:ln/>
        </p:spPr>
        <p:txBody>
          <a:bodyPr wrap="square" lIns="0" tIns="0" rIns="0" bIns="0" rtlCol="0" anchor="ctr"/>
          <a:lstStyle/>
          <a:p>
            <a:pPr algn="ctr"/>
            <a:r>
              <a:rPr lang="en-US" sz="1867" b="1" dirty="0">
                <a:solidFill>
                  <a:srgbClr val="FFFFFF"/>
                </a:solidFill>
                <a:latin typeface="Calibri" pitchFamily="34" charset="0"/>
                <a:ea typeface="Calibri" pitchFamily="34" charset="-122"/>
                <a:cs typeface="Calibri" pitchFamily="34" charset="-120"/>
              </a:rPr>
              <a:t>Paper C</a:t>
            </a:r>
            <a:endParaRPr lang="en-US" sz="1867"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3" name="Image 0" descr="preencoded.png">
            <a:extLst>
              <a:ext uri="{FF2B5EF4-FFF2-40B4-BE49-F238E27FC236}">
                <a16:creationId xmlns:a16="http://schemas.microsoft.com/office/drawing/2014/main" id="{2046F66B-55CD-37F2-B0AF-38186C79E321}"/>
              </a:ext>
            </a:extLst>
          </p:cNvPr>
          <p:cNvPicPr>
            <a:picLocks noChangeAspect="1"/>
          </p:cNvPicPr>
          <p:nvPr/>
        </p:nvPicPr>
        <p:blipFill>
          <a:blip r:embed="rId3"/>
          <a:stretch>
            <a:fillRect/>
          </a:stretch>
        </p:blipFill>
        <p:spPr>
          <a:xfrm>
            <a:off x="0" y="0"/>
            <a:ext cx="12192000" cy="6858000"/>
          </a:xfrm>
          <a:prstGeom prst="rect">
            <a:avLst/>
          </a:prstGeom>
        </p:spPr>
      </p:pic>
      <p:sp>
        <p:nvSpPr>
          <p:cNvPr id="4" name="Text 2"/>
          <p:cNvSpPr/>
          <p:nvPr/>
        </p:nvSpPr>
        <p:spPr>
          <a:xfrm>
            <a:off x="0" y="0"/>
            <a:ext cx="11704320" cy="877824"/>
          </a:xfrm>
          <a:prstGeom prst="rect">
            <a:avLst/>
          </a:prstGeom>
          <a:noFill/>
          <a:ln/>
        </p:spPr>
        <p:txBody>
          <a:bodyPr wrap="square" lIns="0" tIns="0" rIns="0" bIns="0" rtlCol="0" anchor="ctr"/>
          <a:lstStyle/>
          <a:p>
            <a:pPr algn="r"/>
            <a:endParaRPr lang="en-US" sz="1333" dirty="0"/>
          </a:p>
        </p:txBody>
      </p:sp>
      <p:sp>
        <p:nvSpPr>
          <p:cNvPr id="6" name="Text 4"/>
          <p:cNvSpPr/>
          <p:nvPr/>
        </p:nvSpPr>
        <p:spPr>
          <a:xfrm>
            <a:off x="609600" y="1011936"/>
            <a:ext cx="10972800" cy="365760"/>
          </a:xfrm>
          <a:prstGeom prst="rect">
            <a:avLst/>
          </a:prstGeom>
          <a:noFill/>
          <a:ln/>
        </p:spPr>
        <p:txBody>
          <a:bodyPr wrap="square" rtlCol="0" anchor="ctr"/>
          <a:lstStyle/>
          <a:p>
            <a:r>
              <a:rPr lang="en-US" sz="1400" i="1" dirty="0">
                <a:solidFill>
                  <a:srgbClr val="566573"/>
                </a:solidFill>
                <a:latin typeface="Calibri" pitchFamily="34" charset="0"/>
                <a:ea typeface="Calibri" pitchFamily="34" charset="-122"/>
                <a:cs typeface="Calibri" pitchFamily="34" charset="-120"/>
              </a:rPr>
              <a:t>1-month total  ·  2 concurrent coursework  ·  Critical path: data collection (Wk 1) → model training (Wk 3)  ·  Target: IEEE T-ITS</a:t>
            </a:r>
            <a:endParaRPr lang="en-US" sz="1400" dirty="0"/>
          </a:p>
        </p:txBody>
      </p:sp>
      <p:sp>
        <p:nvSpPr>
          <p:cNvPr id="7" name="Shape 5"/>
          <p:cNvSpPr/>
          <p:nvPr/>
        </p:nvSpPr>
        <p:spPr>
          <a:xfrm>
            <a:off x="609600" y="1463040"/>
            <a:ext cx="2609088" cy="670560"/>
          </a:xfrm>
          <a:prstGeom prst="rect">
            <a:avLst/>
          </a:prstGeom>
          <a:solidFill>
            <a:srgbClr val="1A3A5C"/>
          </a:solidFill>
          <a:ln w="12700">
            <a:solidFill>
              <a:srgbClr val="1A3A5C"/>
            </a:solidFill>
            <a:prstDash val="solid"/>
          </a:ln>
        </p:spPr>
        <p:txBody>
          <a:bodyPr/>
          <a:lstStyle/>
          <a:p>
            <a:endParaRPr lang="en-US" sz="2400"/>
          </a:p>
        </p:txBody>
      </p:sp>
      <p:sp>
        <p:nvSpPr>
          <p:cNvPr id="8" name="Text 6"/>
          <p:cNvSpPr/>
          <p:nvPr/>
        </p:nvSpPr>
        <p:spPr>
          <a:xfrm>
            <a:off x="609600" y="1463040"/>
            <a:ext cx="2609088" cy="341376"/>
          </a:xfrm>
          <a:prstGeom prst="rect">
            <a:avLst/>
          </a:prstGeom>
          <a:noFill/>
          <a:ln/>
        </p:spPr>
        <p:txBody>
          <a:bodyPr wrap="square" lIns="0" tIns="0" rIns="0" bIns="0" rtlCol="0" anchor="ctr"/>
          <a:lstStyle/>
          <a:p>
            <a:pPr algn="ctr"/>
            <a:r>
              <a:rPr lang="en-US" sz="1333" b="1" dirty="0">
                <a:solidFill>
                  <a:srgbClr val="FFFFFF"/>
                </a:solidFill>
                <a:latin typeface="Calibri" pitchFamily="34" charset="0"/>
                <a:ea typeface="Calibri" pitchFamily="34" charset="-122"/>
                <a:cs typeface="Calibri" pitchFamily="34" charset="-120"/>
              </a:rPr>
              <a:t>Week 1  ·  Days 1–7</a:t>
            </a:r>
            <a:endParaRPr lang="en-US" sz="1333" dirty="0"/>
          </a:p>
        </p:txBody>
      </p:sp>
      <p:sp>
        <p:nvSpPr>
          <p:cNvPr id="9" name="Text 7"/>
          <p:cNvSpPr/>
          <p:nvPr/>
        </p:nvSpPr>
        <p:spPr>
          <a:xfrm>
            <a:off x="609600" y="1804416"/>
            <a:ext cx="2609088" cy="329184"/>
          </a:xfrm>
          <a:prstGeom prst="rect">
            <a:avLst/>
          </a:prstGeom>
          <a:noFill/>
          <a:ln/>
        </p:spPr>
        <p:txBody>
          <a:bodyPr wrap="square" lIns="0" tIns="0" rIns="0" bIns="0" rtlCol="0" anchor="ctr"/>
          <a:lstStyle/>
          <a:p>
            <a:pPr algn="ctr"/>
            <a:r>
              <a:rPr lang="en-US" sz="1200" dirty="0">
                <a:solidFill>
                  <a:srgbClr val="AED6F1"/>
                </a:solidFill>
                <a:latin typeface="Calibri" pitchFamily="34" charset="0"/>
                <a:ea typeface="Calibri" pitchFamily="34" charset="-122"/>
                <a:cs typeface="Calibri" pitchFamily="34" charset="-120"/>
              </a:rPr>
              <a:t>Setup &amp; Data Extraction</a:t>
            </a:r>
            <a:endParaRPr lang="en-US" sz="1200" dirty="0"/>
          </a:p>
        </p:txBody>
      </p:sp>
      <p:sp>
        <p:nvSpPr>
          <p:cNvPr id="10" name="Shape 8"/>
          <p:cNvSpPr/>
          <p:nvPr/>
        </p:nvSpPr>
        <p:spPr>
          <a:xfrm>
            <a:off x="609600" y="2133600"/>
            <a:ext cx="2609088" cy="1133856"/>
          </a:xfrm>
          <a:prstGeom prst="rect">
            <a:avLst/>
          </a:prstGeom>
          <a:solidFill>
            <a:srgbClr val="D6EAF8"/>
          </a:solidFill>
          <a:ln w="12700">
            <a:solidFill>
              <a:srgbClr val="AED6F1"/>
            </a:solidFill>
            <a:prstDash val="solid"/>
          </a:ln>
        </p:spPr>
        <p:txBody>
          <a:bodyPr/>
          <a:lstStyle/>
          <a:p>
            <a:endParaRPr lang="en-US" sz="2400"/>
          </a:p>
        </p:txBody>
      </p:sp>
      <p:sp>
        <p:nvSpPr>
          <p:cNvPr id="11" name="Text 9"/>
          <p:cNvSpPr/>
          <p:nvPr/>
        </p:nvSpPr>
        <p:spPr>
          <a:xfrm>
            <a:off x="731520" y="2145969"/>
            <a:ext cx="2377440" cy="853440"/>
          </a:xfrm>
          <a:prstGeom prst="rect">
            <a:avLst/>
          </a:prstGeom>
          <a:noFill/>
          <a:ln/>
        </p:spPr>
        <p:txBody>
          <a:bodyPr wrap="square" rtlCol="0" anchor="t"/>
          <a:lstStyle/>
          <a:p>
            <a:pPr>
              <a:lnSpc>
                <a:spcPct val="150000"/>
              </a:lnSpc>
            </a:pPr>
            <a:r>
              <a:rPr lang="en-US" sz="1267" dirty="0">
                <a:solidFill>
                  <a:srgbClr val="1C2833"/>
                </a:solidFill>
                <a:latin typeface="Calibri" pitchFamily="34" charset="0"/>
                <a:ea typeface="Calibri" pitchFamily="34" charset="-122"/>
                <a:cs typeface="Calibri" pitchFamily="34" charset="-120"/>
              </a:rPr>
              <a:t>All software installed · Room 3058 visit · GitHub repo created</a:t>
            </a:r>
            <a:endParaRPr lang="en-US" sz="1267" dirty="0"/>
          </a:p>
        </p:txBody>
      </p:sp>
      <p:sp>
        <p:nvSpPr>
          <p:cNvPr id="12" name="Text 10"/>
          <p:cNvSpPr/>
          <p:nvPr/>
        </p:nvSpPr>
        <p:spPr>
          <a:xfrm>
            <a:off x="731520" y="2987040"/>
            <a:ext cx="2438400" cy="268224"/>
          </a:xfrm>
          <a:prstGeom prst="rect">
            <a:avLst/>
          </a:prstGeom>
          <a:noFill/>
          <a:ln/>
        </p:spPr>
        <p:txBody>
          <a:bodyPr wrap="square" rtlCol="0" anchor="ctr"/>
          <a:lstStyle/>
          <a:p>
            <a:pPr algn="ctr"/>
            <a:r>
              <a:rPr lang="en-US" sz="1200" i="1" dirty="0">
                <a:solidFill>
                  <a:srgbClr val="2E86C1"/>
                </a:solidFill>
                <a:latin typeface="Calibri" pitchFamily="34" charset="0"/>
                <a:ea typeface="Calibri" pitchFamily="34" charset="-122"/>
                <a:cs typeface="Calibri" pitchFamily="34" charset="-120"/>
              </a:rPr>
              <a:t>All</a:t>
            </a:r>
            <a:endParaRPr lang="en-US" sz="1200" dirty="0"/>
          </a:p>
        </p:txBody>
      </p:sp>
      <p:sp>
        <p:nvSpPr>
          <p:cNvPr id="13" name="Shape 11"/>
          <p:cNvSpPr/>
          <p:nvPr/>
        </p:nvSpPr>
        <p:spPr>
          <a:xfrm>
            <a:off x="609600" y="3328416"/>
            <a:ext cx="2609088" cy="1133856"/>
          </a:xfrm>
          <a:prstGeom prst="rect">
            <a:avLst/>
          </a:prstGeom>
          <a:solidFill>
            <a:srgbClr val="EBF5FB"/>
          </a:solidFill>
          <a:ln w="12700">
            <a:solidFill>
              <a:srgbClr val="AED6F1"/>
            </a:solidFill>
            <a:prstDash val="solid"/>
          </a:ln>
        </p:spPr>
        <p:txBody>
          <a:bodyPr/>
          <a:lstStyle/>
          <a:p>
            <a:endParaRPr lang="en-US" sz="2400"/>
          </a:p>
        </p:txBody>
      </p:sp>
      <p:sp>
        <p:nvSpPr>
          <p:cNvPr id="14" name="Text 12"/>
          <p:cNvSpPr/>
          <p:nvPr/>
        </p:nvSpPr>
        <p:spPr>
          <a:xfrm>
            <a:off x="731520" y="3245192"/>
            <a:ext cx="2377440" cy="853440"/>
          </a:xfrm>
          <a:prstGeom prst="rect">
            <a:avLst/>
          </a:prstGeom>
          <a:noFill/>
          <a:ln/>
        </p:spPr>
        <p:txBody>
          <a:bodyPr wrap="square" rtlCol="0" anchor="t"/>
          <a:lstStyle/>
          <a:p>
            <a:pPr>
              <a:lnSpc>
                <a:spcPct val="150000"/>
              </a:lnSpc>
            </a:pPr>
            <a:r>
              <a:rPr lang="en-US" sz="1267" dirty="0">
                <a:solidFill>
                  <a:srgbClr val="1C2833"/>
                </a:solidFill>
                <a:latin typeface="Calibri" pitchFamily="34" charset="0"/>
                <a:ea typeface="Calibri" pitchFamily="34" charset="-122"/>
                <a:cs typeface="Calibri" pitchFamily="34" charset="-120"/>
              </a:rPr>
              <a:t>ROSBAG extraction + RTKLIB running on supervisor vehicle &amp; drone datasets</a:t>
            </a:r>
            <a:endParaRPr lang="en-US" sz="1267" dirty="0"/>
          </a:p>
        </p:txBody>
      </p:sp>
      <p:sp>
        <p:nvSpPr>
          <p:cNvPr id="15" name="Text 13"/>
          <p:cNvSpPr/>
          <p:nvPr/>
        </p:nvSpPr>
        <p:spPr>
          <a:xfrm>
            <a:off x="731520" y="4181856"/>
            <a:ext cx="2438400" cy="268224"/>
          </a:xfrm>
          <a:prstGeom prst="rect">
            <a:avLst/>
          </a:prstGeom>
          <a:noFill/>
          <a:ln/>
        </p:spPr>
        <p:txBody>
          <a:bodyPr wrap="square" rtlCol="0" anchor="ctr"/>
          <a:lstStyle/>
          <a:p>
            <a:pPr algn="ctr"/>
            <a:r>
              <a:rPr lang="en-US" sz="1200" i="1" dirty="0">
                <a:solidFill>
                  <a:srgbClr val="2E86C1"/>
                </a:solidFill>
                <a:latin typeface="Calibri" pitchFamily="34" charset="0"/>
                <a:ea typeface="Calibri" pitchFamily="34" charset="-122"/>
                <a:cs typeface="Calibri" pitchFamily="34" charset="-120"/>
              </a:rPr>
              <a:t>Joshua</a:t>
            </a:r>
            <a:endParaRPr lang="en-US" sz="1200" dirty="0"/>
          </a:p>
        </p:txBody>
      </p:sp>
      <p:sp>
        <p:nvSpPr>
          <p:cNvPr id="16" name="Shape 14"/>
          <p:cNvSpPr/>
          <p:nvPr/>
        </p:nvSpPr>
        <p:spPr>
          <a:xfrm>
            <a:off x="609600" y="4523232"/>
            <a:ext cx="2609088" cy="1133856"/>
          </a:xfrm>
          <a:prstGeom prst="rect">
            <a:avLst/>
          </a:prstGeom>
          <a:solidFill>
            <a:srgbClr val="D6EAF8"/>
          </a:solidFill>
          <a:ln w="12700">
            <a:solidFill>
              <a:srgbClr val="AED6F1"/>
            </a:solidFill>
            <a:prstDash val="solid"/>
          </a:ln>
        </p:spPr>
        <p:txBody>
          <a:bodyPr/>
          <a:lstStyle/>
          <a:p>
            <a:endParaRPr lang="en-US" sz="2400"/>
          </a:p>
        </p:txBody>
      </p:sp>
      <p:sp>
        <p:nvSpPr>
          <p:cNvPr id="17" name="Text 15"/>
          <p:cNvSpPr/>
          <p:nvPr/>
        </p:nvSpPr>
        <p:spPr>
          <a:xfrm>
            <a:off x="725424" y="4581453"/>
            <a:ext cx="2377440" cy="853440"/>
          </a:xfrm>
          <a:prstGeom prst="rect">
            <a:avLst/>
          </a:prstGeom>
          <a:noFill/>
          <a:ln/>
        </p:spPr>
        <p:txBody>
          <a:bodyPr wrap="square" rtlCol="0" anchor="t"/>
          <a:lstStyle/>
          <a:p>
            <a:pPr>
              <a:lnSpc>
                <a:spcPct val="150000"/>
              </a:lnSpc>
            </a:pPr>
            <a:r>
              <a:rPr lang="en-US" sz="1267" dirty="0">
                <a:solidFill>
                  <a:srgbClr val="1C2833"/>
                </a:solidFill>
                <a:latin typeface="Calibri" pitchFamily="34" charset="0"/>
                <a:ea typeface="Calibri" pitchFamily="34" charset="-122"/>
                <a:cs typeface="Calibri" pitchFamily="34" charset="-120"/>
              </a:rPr>
              <a:t>Scenarios A &amp; D collected (5 reps each) · RTKLIB processed</a:t>
            </a:r>
            <a:endParaRPr lang="en-US" sz="1267" dirty="0"/>
          </a:p>
        </p:txBody>
      </p:sp>
      <p:sp>
        <p:nvSpPr>
          <p:cNvPr id="18" name="Text 16"/>
          <p:cNvSpPr/>
          <p:nvPr/>
        </p:nvSpPr>
        <p:spPr>
          <a:xfrm>
            <a:off x="731520" y="5376672"/>
            <a:ext cx="2438400" cy="268224"/>
          </a:xfrm>
          <a:prstGeom prst="rect">
            <a:avLst/>
          </a:prstGeom>
          <a:noFill/>
          <a:ln/>
        </p:spPr>
        <p:txBody>
          <a:bodyPr wrap="square" rtlCol="0" anchor="ctr"/>
          <a:lstStyle/>
          <a:p>
            <a:pPr algn="ctr"/>
            <a:r>
              <a:rPr lang="en-US" sz="1200" i="1" dirty="0">
                <a:solidFill>
                  <a:srgbClr val="2E86C1"/>
                </a:solidFill>
                <a:latin typeface="Calibri" pitchFamily="34" charset="0"/>
                <a:ea typeface="Calibri" pitchFamily="34" charset="-122"/>
                <a:cs typeface="Calibri" pitchFamily="34" charset="-120"/>
              </a:rPr>
              <a:t>Claudine, Joshua</a:t>
            </a:r>
            <a:endParaRPr lang="en-US" sz="1200" dirty="0"/>
          </a:p>
        </p:txBody>
      </p:sp>
      <p:sp>
        <p:nvSpPr>
          <p:cNvPr id="19" name="Shape 17"/>
          <p:cNvSpPr/>
          <p:nvPr/>
        </p:nvSpPr>
        <p:spPr>
          <a:xfrm>
            <a:off x="3291840" y="1463040"/>
            <a:ext cx="2609088" cy="670560"/>
          </a:xfrm>
          <a:prstGeom prst="rect">
            <a:avLst/>
          </a:prstGeom>
          <a:solidFill>
            <a:srgbClr val="1F618D"/>
          </a:solidFill>
          <a:ln w="12700">
            <a:solidFill>
              <a:srgbClr val="1F618D"/>
            </a:solidFill>
            <a:prstDash val="solid"/>
          </a:ln>
        </p:spPr>
        <p:txBody>
          <a:bodyPr/>
          <a:lstStyle/>
          <a:p>
            <a:endParaRPr lang="en-US" sz="2400"/>
          </a:p>
        </p:txBody>
      </p:sp>
      <p:sp>
        <p:nvSpPr>
          <p:cNvPr id="20" name="Text 18"/>
          <p:cNvSpPr/>
          <p:nvPr/>
        </p:nvSpPr>
        <p:spPr>
          <a:xfrm>
            <a:off x="3291840" y="1463040"/>
            <a:ext cx="2609088" cy="341376"/>
          </a:xfrm>
          <a:prstGeom prst="rect">
            <a:avLst/>
          </a:prstGeom>
          <a:noFill/>
          <a:ln/>
        </p:spPr>
        <p:txBody>
          <a:bodyPr wrap="square" lIns="0" tIns="0" rIns="0" bIns="0" rtlCol="0" anchor="ctr"/>
          <a:lstStyle/>
          <a:p>
            <a:pPr algn="ctr"/>
            <a:r>
              <a:rPr lang="en-US" sz="1333" b="1" dirty="0">
                <a:solidFill>
                  <a:srgbClr val="FFFFFF"/>
                </a:solidFill>
                <a:latin typeface="Calibri" pitchFamily="34" charset="0"/>
                <a:ea typeface="Calibri" pitchFamily="34" charset="-122"/>
                <a:cs typeface="Calibri" pitchFamily="34" charset="-120"/>
              </a:rPr>
              <a:t>Week 2  ·  Days 8–14</a:t>
            </a:r>
            <a:endParaRPr lang="en-US" sz="1333" dirty="0"/>
          </a:p>
        </p:txBody>
      </p:sp>
      <p:sp>
        <p:nvSpPr>
          <p:cNvPr id="21" name="Text 19"/>
          <p:cNvSpPr/>
          <p:nvPr/>
        </p:nvSpPr>
        <p:spPr>
          <a:xfrm>
            <a:off x="3291840" y="1804416"/>
            <a:ext cx="2609088" cy="329184"/>
          </a:xfrm>
          <a:prstGeom prst="rect">
            <a:avLst/>
          </a:prstGeom>
          <a:noFill/>
          <a:ln/>
        </p:spPr>
        <p:txBody>
          <a:bodyPr wrap="square" lIns="0" tIns="0" rIns="0" bIns="0" rtlCol="0" anchor="ctr"/>
          <a:lstStyle/>
          <a:p>
            <a:pPr algn="ctr"/>
            <a:r>
              <a:rPr lang="en-US" sz="1200" dirty="0">
                <a:solidFill>
                  <a:srgbClr val="AED6F1"/>
                </a:solidFill>
                <a:latin typeface="Calibri" pitchFamily="34" charset="0"/>
                <a:ea typeface="Calibri" pitchFamily="34" charset="-122"/>
                <a:cs typeface="Calibri" pitchFamily="34" charset="-120"/>
              </a:rPr>
              <a:t>Full Collection &amp; Features</a:t>
            </a:r>
            <a:endParaRPr lang="en-US" sz="1200" dirty="0"/>
          </a:p>
        </p:txBody>
      </p:sp>
      <p:sp>
        <p:nvSpPr>
          <p:cNvPr id="22" name="Shape 20"/>
          <p:cNvSpPr/>
          <p:nvPr/>
        </p:nvSpPr>
        <p:spPr>
          <a:xfrm>
            <a:off x="3291840" y="2133600"/>
            <a:ext cx="2609088" cy="1133856"/>
          </a:xfrm>
          <a:prstGeom prst="rect">
            <a:avLst/>
          </a:prstGeom>
          <a:solidFill>
            <a:srgbClr val="D6EAF8"/>
          </a:solidFill>
          <a:ln w="12700">
            <a:solidFill>
              <a:srgbClr val="AED6F1"/>
            </a:solidFill>
            <a:prstDash val="solid"/>
          </a:ln>
        </p:spPr>
        <p:txBody>
          <a:bodyPr/>
          <a:lstStyle/>
          <a:p>
            <a:endParaRPr lang="en-US" sz="2400"/>
          </a:p>
        </p:txBody>
      </p:sp>
      <p:sp>
        <p:nvSpPr>
          <p:cNvPr id="23" name="Text 21"/>
          <p:cNvSpPr/>
          <p:nvPr/>
        </p:nvSpPr>
        <p:spPr>
          <a:xfrm>
            <a:off x="3340608" y="2068399"/>
            <a:ext cx="2499360" cy="853440"/>
          </a:xfrm>
          <a:prstGeom prst="rect">
            <a:avLst/>
          </a:prstGeom>
          <a:noFill/>
          <a:ln/>
        </p:spPr>
        <p:txBody>
          <a:bodyPr wrap="square" rtlCol="0" anchor="t"/>
          <a:lstStyle/>
          <a:p>
            <a:pPr>
              <a:lnSpc>
                <a:spcPct val="150000"/>
              </a:lnSpc>
            </a:pPr>
            <a:r>
              <a:rPr lang="en-US" sz="1267" dirty="0">
                <a:solidFill>
                  <a:srgbClr val="1C2833"/>
                </a:solidFill>
                <a:latin typeface="Calibri" pitchFamily="34" charset="0"/>
                <a:ea typeface="Calibri" pitchFamily="34" charset="-122"/>
                <a:cs typeface="Calibri" pitchFamily="34" charset="-120"/>
              </a:rPr>
              <a:t>Scenarios B, C, E collected · Feature CSVs generated · Labelling complete</a:t>
            </a:r>
            <a:endParaRPr lang="en-US" sz="1267" dirty="0"/>
          </a:p>
        </p:txBody>
      </p:sp>
      <p:sp>
        <p:nvSpPr>
          <p:cNvPr id="24" name="Text 22"/>
          <p:cNvSpPr/>
          <p:nvPr/>
        </p:nvSpPr>
        <p:spPr>
          <a:xfrm>
            <a:off x="3413760" y="2987040"/>
            <a:ext cx="2438400" cy="268224"/>
          </a:xfrm>
          <a:prstGeom prst="rect">
            <a:avLst/>
          </a:prstGeom>
          <a:noFill/>
          <a:ln/>
        </p:spPr>
        <p:txBody>
          <a:bodyPr wrap="square" rtlCol="0" anchor="ctr"/>
          <a:lstStyle/>
          <a:p>
            <a:pPr algn="ctr"/>
            <a:r>
              <a:rPr lang="en-US" sz="1200" i="1" dirty="0">
                <a:solidFill>
                  <a:srgbClr val="2E86C1"/>
                </a:solidFill>
                <a:latin typeface="Calibri" pitchFamily="34" charset="0"/>
                <a:ea typeface="Calibri" pitchFamily="34" charset="-122"/>
                <a:cs typeface="Calibri" pitchFamily="34" charset="-120"/>
              </a:rPr>
              <a:t>Claudine, Joshua</a:t>
            </a:r>
            <a:endParaRPr lang="en-US" sz="1200" dirty="0"/>
          </a:p>
        </p:txBody>
      </p:sp>
      <p:sp>
        <p:nvSpPr>
          <p:cNvPr id="25" name="Shape 23"/>
          <p:cNvSpPr/>
          <p:nvPr/>
        </p:nvSpPr>
        <p:spPr>
          <a:xfrm>
            <a:off x="3291840" y="3328416"/>
            <a:ext cx="2609088" cy="1133856"/>
          </a:xfrm>
          <a:prstGeom prst="rect">
            <a:avLst/>
          </a:prstGeom>
          <a:solidFill>
            <a:srgbClr val="EBF5FB"/>
          </a:solidFill>
          <a:ln w="12700">
            <a:solidFill>
              <a:srgbClr val="AED6F1"/>
            </a:solidFill>
            <a:prstDash val="solid"/>
          </a:ln>
        </p:spPr>
        <p:txBody>
          <a:bodyPr/>
          <a:lstStyle/>
          <a:p>
            <a:endParaRPr lang="en-US" sz="2400"/>
          </a:p>
        </p:txBody>
      </p:sp>
      <p:sp>
        <p:nvSpPr>
          <p:cNvPr id="26" name="Text 24"/>
          <p:cNvSpPr/>
          <p:nvPr/>
        </p:nvSpPr>
        <p:spPr>
          <a:xfrm>
            <a:off x="3401568" y="3249787"/>
            <a:ext cx="2377440" cy="853440"/>
          </a:xfrm>
          <a:prstGeom prst="rect">
            <a:avLst/>
          </a:prstGeom>
          <a:noFill/>
          <a:ln/>
        </p:spPr>
        <p:txBody>
          <a:bodyPr wrap="square" rtlCol="0" anchor="t"/>
          <a:lstStyle/>
          <a:p>
            <a:pPr>
              <a:lnSpc>
                <a:spcPct val="150000"/>
              </a:lnSpc>
            </a:pPr>
            <a:r>
              <a:rPr lang="en-US" sz="1267" dirty="0">
                <a:solidFill>
                  <a:srgbClr val="1C2833"/>
                </a:solidFill>
                <a:latin typeface="Calibri" pitchFamily="34" charset="0"/>
                <a:ea typeface="Calibri" pitchFamily="34" charset="-122"/>
                <a:cs typeface="Calibri" pitchFamily="34" charset="-120"/>
              </a:rPr>
              <a:t>All baseline models trained &amp; results recorded (RF, LSTM, threshold, RAIM)</a:t>
            </a:r>
            <a:endParaRPr lang="en-US" sz="1267" dirty="0"/>
          </a:p>
        </p:txBody>
      </p:sp>
      <p:sp>
        <p:nvSpPr>
          <p:cNvPr id="27" name="Text 25"/>
          <p:cNvSpPr/>
          <p:nvPr/>
        </p:nvSpPr>
        <p:spPr>
          <a:xfrm>
            <a:off x="3413760" y="4181856"/>
            <a:ext cx="2438400" cy="268224"/>
          </a:xfrm>
          <a:prstGeom prst="rect">
            <a:avLst/>
          </a:prstGeom>
          <a:noFill/>
          <a:ln/>
        </p:spPr>
        <p:txBody>
          <a:bodyPr wrap="square" rtlCol="0" anchor="ctr"/>
          <a:lstStyle/>
          <a:p>
            <a:pPr algn="ctr"/>
            <a:r>
              <a:rPr lang="en-US" sz="1200" i="1" dirty="0">
                <a:solidFill>
                  <a:srgbClr val="2E86C1"/>
                </a:solidFill>
                <a:latin typeface="Calibri" pitchFamily="34" charset="0"/>
                <a:ea typeface="Calibri" pitchFamily="34" charset="-122"/>
                <a:cs typeface="Calibri" pitchFamily="34" charset="-120"/>
              </a:rPr>
              <a:t>Harun</a:t>
            </a:r>
            <a:endParaRPr lang="en-US" sz="1200" dirty="0"/>
          </a:p>
        </p:txBody>
      </p:sp>
      <p:sp>
        <p:nvSpPr>
          <p:cNvPr id="28" name="Shape 26"/>
          <p:cNvSpPr/>
          <p:nvPr/>
        </p:nvSpPr>
        <p:spPr>
          <a:xfrm>
            <a:off x="3291840" y="4523232"/>
            <a:ext cx="2609088" cy="1133856"/>
          </a:xfrm>
          <a:prstGeom prst="rect">
            <a:avLst/>
          </a:prstGeom>
          <a:solidFill>
            <a:srgbClr val="D6EAF8"/>
          </a:solidFill>
          <a:ln w="12700">
            <a:solidFill>
              <a:srgbClr val="AED6F1"/>
            </a:solidFill>
            <a:prstDash val="solid"/>
          </a:ln>
        </p:spPr>
        <p:txBody>
          <a:bodyPr/>
          <a:lstStyle/>
          <a:p>
            <a:endParaRPr lang="en-US" sz="2400"/>
          </a:p>
        </p:txBody>
      </p:sp>
      <p:sp>
        <p:nvSpPr>
          <p:cNvPr id="29" name="Text 27"/>
          <p:cNvSpPr/>
          <p:nvPr/>
        </p:nvSpPr>
        <p:spPr>
          <a:xfrm>
            <a:off x="3401568" y="4445663"/>
            <a:ext cx="2377440" cy="853440"/>
          </a:xfrm>
          <a:prstGeom prst="rect">
            <a:avLst/>
          </a:prstGeom>
          <a:noFill/>
          <a:ln/>
        </p:spPr>
        <p:txBody>
          <a:bodyPr wrap="square" rtlCol="0" anchor="t"/>
          <a:lstStyle/>
          <a:p>
            <a:pPr>
              <a:lnSpc>
                <a:spcPct val="150000"/>
              </a:lnSpc>
            </a:pPr>
            <a:r>
              <a:rPr lang="en-US" sz="1267" dirty="0">
                <a:solidFill>
                  <a:srgbClr val="1C2833"/>
                </a:solidFill>
                <a:latin typeface="Calibri" pitchFamily="34" charset="0"/>
                <a:ea typeface="Calibri" pitchFamily="34" charset="-122"/>
                <a:cs typeface="Calibri" pitchFamily="34" charset="-120"/>
              </a:rPr>
              <a:t>Literature review drafted (30 papers) · UrbanNav &amp; RobotCar processed</a:t>
            </a:r>
            <a:endParaRPr lang="en-US" sz="1267" dirty="0"/>
          </a:p>
        </p:txBody>
      </p:sp>
      <p:sp>
        <p:nvSpPr>
          <p:cNvPr id="30" name="Text 28"/>
          <p:cNvSpPr/>
          <p:nvPr/>
        </p:nvSpPr>
        <p:spPr>
          <a:xfrm>
            <a:off x="3413760" y="5376672"/>
            <a:ext cx="2438400" cy="268224"/>
          </a:xfrm>
          <a:prstGeom prst="rect">
            <a:avLst/>
          </a:prstGeom>
          <a:noFill/>
          <a:ln/>
        </p:spPr>
        <p:txBody>
          <a:bodyPr wrap="square" rtlCol="0" anchor="ctr"/>
          <a:lstStyle/>
          <a:p>
            <a:pPr algn="ctr"/>
            <a:r>
              <a:rPr lang="en-US" sz="1200" i="1" dirty="0">
                <a:solidFill>
                  <a:srgbClr val="2E86C1"/>
                </a:solidFill>
                <a:latin typeface="Calibri" pitchFamily="34" charset="0"/>
                <a:ea typeface="Calibri" pitchFamily="34" charset="-122"/>
                <a:cs typeface="Calibri" pitchFamily="34" charset="-120"/>
              </a:rPr>
              <a:t>Harun, Claudine</a:t>
            </a:r>
            <a:endParaRPr lang="en-US" sz="1200" dirty="0"/>
          </a:p>
        </p:txBody>
      </p:sp>
      <p:sp>
        <p:nvSpPr>
          <p:cNvPr id="31" name="Shape 29"/>
          <p:cNvSpPr/>
          <p:nvPr/>
        </p:nvSpPr>
        <p:spPr>
          <a:xfrm>
            <a:off x="5974080" y="1463040"/>
            <a:ext cx="2609088" cy="670560"/>
          </a:xfrm>
          <a:prstGeom prst="rect">
            <a:avLst/>
          </a:prstGeom>
          <a:solidFill>
            <a:srgbClr val="2874A6"/>
          </a:solidFill>
          <a:ln w="12700">
            <a:solidFill>
              <a:srgbClr val="2874A6"/>
            </a:solidFill>
            <a:prstDash val="solid"/>
          </a:ln>
        </p:spPr>
        <p:txBody>
          <a:bodyPr/>
          <a:lstStyle/>
          <a:p>
            <a:endParaRPr lang="en-US" sz="2400"/>
          </a:p>
        </p:txBody>
      </p:sp>
      <p:sp>
        <p:nvSpPr>
          <p:cNvPr id="32" name="Text 30"/>
          <p:cNvSpPr/>
          <p:nvPr/>
        </p:nvSpPr>
        <p:spPr>
          <a:xfrm>
            <a:off x="5974080" y="1463040"/>
            <a:ext cx="2609088" cy="341376"/>
          </a:xfrm>
          <a:prstGeom prst="rect">
            <a:avLst/>
          </a:prstGeom>
          <a:noFill/>
          <a:ln/>
        </p:spPr>
        <p:txBody>
          <a:bodyPr wrap="square" lIns="0" tIns="0" rIns="0" bIns="0" rtlCol="0" anchor="ctr"/>
          <a:lstStyle/>
          <a:p>
            <a:pPr algn="ctr"/>
            <a:r>
              <a:rPr lang="en-US" sz="1333" b="1" dirty="0">
                <a:solidFill>
                  <a:srgbClr val="FFFFFF"/>
                </a:solidFill>
                <a:latin typeface="Calibri" pitchFamily="34" charset="0"/>
                <a:ea typeface="Calibri" pitchFamily="34" charset="-122"/>
                <a:cs typeface="Calibri" pitchFamily="34" charset="-120"/>
              </a:rPr>
              <a:t>Week 3  ·  Days 15–21</a:t>
            </a:r>
            <a:endParaRPr lang="en-US" sz="1333" dirty="0"/>
          </a:p>
        </p:txBody>
      </p:sp>
      <p:sp>
        <p:nvSpPr>
          <p:cNvPr id="33" name="Text 31"/>
          <p:cNvSpPr/>
          <p:nvPr/>
        </p:nvSpPr>
        <p:spPr>
          <a:xfrm>
            <a:off x="5974080" y="1804416"/>
            <a:ext cx="2609088" cy="329184"/>
          </a:xfrm>
          <a:prstGeom prst="rect">
            <a:avLst/>
          </a:prstGeom>
          <a:noFill/>
          <a:ln/>
        </p:spPr>
        <p:txBody>
          <a:bodyPr wrap="square" lIns="0" tIns="0" rIns="0" bIns="0" rtlCol="0" anchor="ctr"/>
          <a:lstStyle/>
          <a:p>
            <a:pPr algn="ctr"/>
            <a:r>
              <a:rPr lang="en-US" sz="1200" dirty="0">
                <a:solidFill>
                  <a:srgbClr val="AED6F1"/>
                </a:solidFill>
                <a:latin typeface="Calibri" pitchFamily="34" charset="0"/>
                <a:ea typeface="Calibri" pitchFamily="34" charset="-122"/>
                <a:cs typeface="Calibri" pitchFamily="34" charset="-120"/>
              </a:rPr>
              <a:t>Model Training &amp; System Build</a:t>
            </a:r>
            <a:endParaRPr lang="en-US" sz="1200" dirty="0"/>
          </a:p>
        </p:txBody>
      </p:sp>
      <p:sp>
        <p:nvSpPr>
          <p:cNvPr id="34" name="Shape 32"/>
          <p:cNvSpPr/>
          <p:nvPr/>
        </p:nvSpPr>
        <p:spPr>
          <a:xfrm>
            <a:off x="5974080" y="2133600"/>
            <a:ext cx="2609088" cy="1133856"/>
          </a:xfrm>
          <a:prstGeom prst="rect">
            <a:avLst/>
          </a:prstGeom>
          <a:solidFill>
            <a:srgbClr val="D6EAF8"/>
          </a:solidFill>
          <a:ln w="12700">
            <a:solidFill>
              <a:srgbClr val="AED6F1"/>
            </a:solidFill>
            <a:prstDash val="solid"/>
          </a:ln>
        </p:spPr>
        <p:txBody>
          <a:bodyPr/>
          <a:lstStyle/>
          <a:p>
            <a:endParaRPr lang="en-US" sz="2400"/>
          </a:p>
        </p:txBody>
      </p:sp>
      <p:sp>
        <p:nvSpPr>
          <p:cNvPr id="35" name="Text 33"/>
          <p:cNvSpPr/>
          <p:nvPr/>
        </p:nvSpPr>
        <p:spPr>
          <a:xfrm>
            <a:off x="6096000" y="2084832"/>
            <a:ext cx="2377440" cy="853440"/>
          </a:xfrm>
          <a:prstGeom prst="rect">
            <a:avLst/>
          </a:prstGeom>
          <a:noFill/>
          <a:ln/>
        </p:spPr>
        <p:txBody>
          <a:bodyPr wrap="square" rtlCol="0" anchor="t"/>
          <a:lstStyle/>
          <a:p>
            <a:pPr>
              <a:lnSpc>
                <a:spcPct val="150000"/>
              </a:lnSpc>
            </a:pPr>
            <a:r>
              <a:rPr lang="en-US" sz="1267" dirty="0">
                <a:solidFill>
                  <a:srgbClr val="1C2833"/>
                </a:solidFill>
                <a:latin typeface="Calibri" pitchFamily="34" charset="0"/>
                <a:ea typeface="Calibri" pitchFamily="34" charset="-122"/>
                <a:cs typeface="Calibri" pitchFamily="34" charset="-120"/>
              </a:rPr>
              <a:t>Transformer-LSTM trained · First test-set results · Ablation studies done</a:t>
            </a:r>
            <a:endParaRPr lang="en-US" sz="1267" dirty="0"/>
          </a:p>
        </p:txBody>
      </p:sp>
      <p:sp>
        <p:nvSpPr>
          <p:cNvPr id="36" name="Text 34"/>
          <p:cNvSpPr/>
          <p:nvPr/>
        </p:nvSpPr>
        <p:spPr>
          <a:xfrm>
            <a:off x="6096000" y="2987040"/>
            <a:ext cx="2438400" cy="268224"/>
          </a:xfrm>
          <a:prstGeom prst="rect">
            <a:avLst/>
          </a:prstGeom>
          <a:noFill/>
          <a:ln/>
        </p:spPr>
        <p:txBody>
          <a:bodyPr wrap="square" rtlCol="0" anchor="ctr"/>
          <a:lstStyle/>
          <a:p>
            <a:pPr algn="ctr"/>
            <a:r>
              <a:rPr lang="en-US" sz="1200" i="1" dirty="0">
                <a:solidFill>
                  <a:srgbClr val="2E86C1"/>
                </a:solidFill>
                <a:latin typeface="Calibri" pitchFamily="34" charset="0"/>
                <a:ea typeface="Calibri" pitchFamily="34" charset="-122"/>
                <a:cs typeface="Calibri" pitchFamily="34" charset="-120"/>
              </a:rPr>
              <a:t>Joel</a:t>
            </a:r>
            <a:endParaRPr lang="en-US" sz="1200" dirty="0"/>
          </a:p>
        </p:txBody>
      </p:sp>
      <p:sp>
        <p:nvSpPr>
          <p:cNvPr id="37" name="Shape 35"/>
          <p:cNvSpPr/>
          <p:nvPr/>
        </p:nvSpPr>
        <p:spPr>
          <a:xfrm>
            <a:off x="5974080" y="3328416"/>
            <a:ext cx="2609088" cy="1133856"/>
          </a:xfrm>
          <a:prstGeom prst="rect">
            <a:avLst/>
          </a:prstGeom>
          <a:solidFill>
            <a:srgbClr val="EBF5FB"/>
          </a:solidFill>
          <a:ln w="12700">
            <a:solidFill>
              <a:srgbClr val="AED6F1"/>
            </a:solidFill>
            <a:prstDash val="solid"/>
          </a:ln>
        </p:spPr>
        <p:txBody>
          <a:bodyPr/>
          <a:lstStyle/>
          <a:p>
            <a:endParaRPr lang="en-US" sz="2400"/>
          </a:p>
        </p:txBody>
      </p:sp>
      <p:sp>
        <p:nvSpPr>
          <p:cNvPr id="38" name="Text 36"/>
          <p:cNvSpPr/>
          <p:nvPr/>
        </p:nvSpPr>
        <p:spPr>
          <a:xfrm>
            <a:off x="6096000" y="3275540"/>
            <a:ext cx="2377440" cy="853440"/>
          </a:xfrm>
          <a:prstGeom prst="rect">
            <a:avLst/>
          </a:prstGeom>
          <a:noFill/>
          <a:ln/>
        </p:spPr>
        <p:txBody>
          <a:bodyPr wrap="square" rtlCol="0" anchor="t"/>
          <a:lstStyle/>
          <a:p>
            <a:pPr>
              <a:lnSpc>
                <a:spcPct val="150000"/>
              </a:lnSpc>
            </a:pPr>
            <a:r>
              <a:rPr lang="en-US" sz="1267" dirty="0">
                <a:solidFill>
                  <a:srgbClr val="1C2833"/>
                </a:solidFill>
                <a:latin typeface="Calibri" pitchFamily="34" charset="0"/>
                <a:ea typeface="Calibri" pitchFamily="34" charset="-122"/>
                <a:cs typeface="Calibri" pitchFamily="34" charset="-120"/>
              </a:rPr>
              <a:t>Generalisation tests on UrbanNav &amp; RobotCar · KAIST on arrival</a:t>
            </a:r>
            <a:endParaRPr lang="en-US" sz="1267" dirty="0"/>
          </a:p>
        </p:txBody>
      </p:sp>
      <p:sp>
        <p:nvSpPr>
          <p:cNvPr id="39" name="Text 37"/>
          <p:cNvSpPr/>
          <p:nvPr/>
        </p:nvSpPr>
        <p:spPr>
          <a:xfrm>
            <a:off x="6096000" y="4181856"/>
            <a:ext cx="2438400" cy="268224"/>
          </a:xfrm>
          <a:prstGeom prst="rect">
            <a:avLst/>
          </a:prstGeom>
          <a:noFill/>
          <a:ln/>
        </p:spPr>
        <p:txBody>
          <a:bodyPr wrap="square" rtlCol="0" anchor="ctr"/>
          <a:lstStyle/>
          <a:p>
            <a:pPr algn="ctr"/>
            <a:r>
              <a:rPr lang="en-US" sz="1200" i="1" dirty="0">
                <a:solidFill>
                  <a:srgbClr val="2E86C1"/>
                </a:solidFill>
                <a:latin typeface="Calibri" pitchFamily="34" charset="0"/>
                <a:ea typeface="Calibri" pitchFamily="34" charset="-122"/>
                <a:cs typeface="Calibri" pitchFamily="34" charset="-120"/>
              </a:rPr>
              <a:t>Joel, Claudine</a:t>
            </a:r>
            <a:endParaRPr lang="en-US" sz="1200" dirty="0"/>
          </a:p>
        </p:txBody>
      </p:sp>
      <p:sp>
        <p:nvSpPr>
          <p:cNvPr id="40" name="Shape 38"/>
          <p:cNvSpPr/>
          <p:nvPr/>
        </p:nvSpPr>
        <p:spPr>
          <a:xfrm>
            <a:off x="5974080" y="4523232"/>
            <a:ext cx="2609088" cy="1133856"/>
          </a:xfrm>
          <a:prstGeom prst="rect">
            <a:avLst/>
          </a:prstGeom>
          <a:solidFill>
            <a:srgbClr val="D6EAF8"/>
          </a:solidFill>
          <a:ln w="12700">
            <a:solidFill>
              <a:srgbClr val="AED6F1"/>
            </a:solidFill>
            <a:prstDash val="solid"/>
          </a:ln>
        </p:spPr>
        <p:txBody>
          <a:bodyPr/>
          <a:lstStyle/>
          <a:p>
            <a:endParaRPr lang="en-US" sz="2400"/>
          </a:p>
        </p:txBody>
      </p:sp>
      <p:sp>
        <p:nvSpPr>
          <p:cNvPr id="41" name="Text 39"/>
          <p:cNvSpPr/>
          <p:nvPr/>
        </p:nvSpPr>
        <p:spPr>
          <a:xfrm>
            <a:off x="6089904" y="4450080"/>
            <a:ext cx="2377440" cy="853440"/>
          </a:xfrm>
          <a:prstGeom prst="rect">
            <a:avLst/>
          </a:prstGeom>
          <a:noFill/>
          <a:ln/>
        </p:spPr>
        <p:txBody>
          <a:bodyPr wrap="square" rtlCol="0" anchor="t"/>
          <a:lstStyle/>
          <a:p>
            <a:pPr>
              <a:lnSpc>
                <a:spcPct val="150000"/>
              </a:lnSpc>
            </a:pPr>
            <a:r>
              <a:rPr lang="en-US" sz="1267" dirty="0">
                <a:solidFill>
                  <a:srgbClr val="1C2833"/>
                </a:solidFill>
                <a:latin typeface="Calibri" pitchFamily="34" charset="0"/>
                <a:ea typeface="Calibri" pitchFamily="34" charset="-122"/>
                <a:cs typeface="Calibri" pitchFamily="34" charset="-120"/>
              </a:rPr>
              <a:t>Dynamic EKF in simulation · Dashboard all 5 panels with data playback</a:t>
            </a:r>
            <a:endParaRPr lang="en-US" sz="1267" dirty="0"/>
          </a:p>
        </p:txBody>
      </p:sp>
      <p:sp>
        <p:nvSpPr>
          <p:cNvPr id="42" name="Text 40"/>
          <p:cNvSpPr/>
          <p:nvPr/>
        </p:nvSpPr>
        <p:spPr>
          <a:xfrm>
            <a:off x="6096000" y="5376672"/>
            <a:ext cx="2438400" cy="268224"/>
          </a:xfrm>
          <a:prstGeom prst="rect">
            <a:avLst/>
          </a:prstGeom>
          <a:noFill/>
          <a:ln/>
        </p:spPr>
        <p:txBody>
          <a:bodyPr wrap="square" rtlCol="0" anchor="ctr"/>
          <a:lstStyle/>
          <a:p>
            <a:pPr algn="ctr"/>
            <a:r>
              <a:rPr lang="en-US" sz="1200" i="1" dirty="0">
                <a:solidFill>
                  <a:srgbClr val="2E86C1"/>
                </a:solidFill>
                <a:latin typeface="Calibri" pitchFamily="34" charset="0"/>
                <a:ea typeface="Calibri" pitchFamily="34" charset="-122"/>
                <a:cs typeface="Calibri" pitchFamily="34" charset="-120"/>
              </a:rPr>
              <a:t>Mustapha</a:t>
            </a:r>
            <a:endParaRPr lang="en-US" sz="1200" dirty="0"/>
          </a:p>
        </p:txBody>
      </p:sp>
      <p:sp>
        <p:nvSpPr>
          <p:cNvPr id="43" name="Shape 41"/>
          <p:cNvSpPr/>
          <p:nvPr/>
        </p:nvSpPr>
        <p:spPr>
          <a:xfrm>
            <a:off x="8656320" y="1463040"/>
            <a:ext cx="2609088" cy="670560"/>
          </a:xfrm>
          <a:prstGeom prst="rect">
            <a:avLst/>
          </a:prstGeom>
          <a:solidFill>
            <a:srgbClr val="2E86C1"/>
          </a:solidFill>
          <a:ln w="12700">
            <a:solidFill>
              <a:srgbClr val="2E86C1"/>
            </a:solidFill>
            <a:prstDash val="solid"/>
          </a:ln>
        </p:spPr>
        <p:txBody>
          <a:bodyPr/>
          <a:lstStyle/>
          <a:p>
            <a:endParaRPr lang="en-US" sz="2400"/>
          </a:p>
        </p:txBody>
      </p:sp>
      <p:sp>
        <p:nvSpPr>
          <p:cNvPr id="44" name="Text 42"/>
          <p:cNvSpPr/>
          <p:nvPr/>
        </p:nvSpPr>
        <p:spPr>
          <a:xfrm>
            <a:off x="8656320" y="1463040"/>
            <a:ext cx="2609088" cy="341376"/>
          </a:xfrm>
          <a:prstGeom prst="rect">
            <a:avLst/>
          </a:prstGeom>
          <a:noFill/>
          <a:ln/>
        </p:spPr>
        <p:txBody>
          <a:bodyPr wrap="square" lIns="0" tIns="0" rIns="0" bIns="0" rtlCol="0" anchor="ctr"/>
          <a:lstStyle/>
          <a:p>
            <a:pPr algn="ctr"/>
            <a:r>
              <a:rPr lang="en-US" sz="1333" b="1" dirty="0">
                <a:solidFill>
                  <a:srgbClr val="FFFFFF"/>
                </a:solidFill>
                <a:latin typeface="Calibri" pitchFamily="34" charset="0"/>
                <a:ea typeface="Calibri" pitchFamily="34" charset="-122"/>
                <a:cs typeface="Calibri" pitchFamily="34" charset="-120"/>
              </a:rPr>
              <a:t>Week 4  ·  Days 22–28</a:t>
            </a:r>
            <a:endParaRPr lang="en-US" sz="1333" dirty="0"/>
          </a:p>
        </p:txBody>
      </p:sp>
      <p:sp>
        <p:nvSpPr>
          <p:cNvPr id="45" name="Text 43"/>
          <p:cNvSpPr/>
          <p:nvPr/>
        </p:nvSpPr>
        <p:spPr>
          <a:xfrm>
            <a:off x="8656320" y="1804416"/>
            <a:ext cx="2609088" cy="329184"/>
          </a:xfrm>
          <a:prstGeom prst="rect">
            <a:avLst/>
          </a:prstGeom>
          <a:noFill/>
          <a:ln/>
        </p:spPr>
        <p:txBody>
          <a:bodyPr wrap="square" lIns="0" tIns="0" rIns="0" bIns="0" rtlCol="0" anchor="ctr"/>
          <a:lstStyle/>
          <a:p>
            <a:pPr algn="ctr"/>
            <a:r>
              <a:rPr lang="en-US" sz="1200" dirty="0">
                <a:solidFill>
                  <a:srgbClr val="AED6F1"/>
                </a:solidFill>
                <a:latin typeface="Calibri" pitchFamily="34" charset="0"/>
                <a:ea typeface="Calibri" pitchFamily="34" charset="-122"/>
                <a:cs typeface="Calibri" pitchFamily="34" charset="-120"/>
              </a:rPr>
              <a:t>Integration, Demo &amp; Paper</a:t>
            </a:r>
            <a:endParaRPr lang="en-US" sz="1200" dirty="0"/>
          </a:p>
        </p:txBody>
      </p:sp>
      <p:sp>
        <p:nvSpPr>
          <p:cNvPr id="46" name="Shape 44"/>
          <p:cNvSpPr/>
          <p:nvPr/>
        </p:nvSpPr>
        <p:spPr>
          <a:xfrm>
            <a:off x="8656320" y="2133600"/>
            <a:ext cx="2609088" cy="1133856"/>
          </a:xfrm>
          <a:prstGeom prst="rect">
            <a:avLst/>
          </a:prstGeom>
          <a:solidFill>
            <a:srgbClr val="D6EAF8"/>
          </a:solidFill>
          <a:ln w="12700">
            <a:solidFill>
              <a:srgbClr val="AED6F1"/>
            </a:solidFill>
            <a:prstDash val="solid"/>
          </a:ln>
        </p:spPr>
        <p:txBody>
          <a:bodyPr/>
          <a:lstStyle/>
          <a:p>
            <a:endParaRPr lang="en-US" sz="2400"/>
          </a:p>
        </p:txBody>
      </p:sp>
      <p:sp>
        <p:nvSpPr>
          <p:cNvPr id="47" name="Text 45"/>
          <p:cNvSpPr/>
          <p:nvPr/>
        </p:nvSpPr>
        <p:spPr>
          <a:xfrm>
            <a:off x="8705088" y="2157984"/>
            <a:ext cx="2511552" cy="877824"/>
          </a:xfrm>
          <a:prstGeom prst="rect">
            <a:avLst/>
          </a:prstGeom>
          <a:noFill/>
          <a:ln/>
        </p:spPr>
        <p:txBody>
          <a:bodyPr wrap="square" rtlCol="0" anchor="t"/>
          <a:lstStyle/>
          <a:p>
            <a:pPr>
              <a:lnSpc>
                <a:spcPct val="150000"/>
              </a:lnSpc>
            </a:pPr>
            <a:r>
              <a:rPr lang="en-US" sz="1267" dirty="0">
                <a:solidFill>
                  <a:srgbClr val="1C2833"/>
                </a:solidFill>
                <a:latin typeface="Calibri" pitchFamily="34" charset="0"/>
                <a:ea typeface="Calibri" pitchFamily="34" charset="-122"/>
                <a:cs typeface="Calibri" pitchFamily="34" charset="-120"/>
              </a:rPr>
              <a:t>Live campus test: cart + receiver + dashboard · Screen capture video</a:t>
            </a:r>
            <a:endParaRPr lang="en-US" sz="1267" dirty="0"/>
          </a:p>
        </p:txBody>
      </p:sp>
      <p:sp>
        <p:nvSpPr>
          <p:cNvPr id="48" name="Text 46"/>
          <p:cNvSpPr/>
          <p:nvPr/>
        </p:nvSpPr>
        <p:spPr>
          <a:xfrm>
            <a:off x="8778240" y="2987040"/>
            <a:ext cx="2438400" cy="268224"/>
          </a:xfrm>
          <a:prstGeom prst="rect">
            <a:avLst/>
          </a:prstGeom>
          <a:noFill/>
          <a:ln/>
        </p:spPr>
        <p:txBody>
          <a:bodyPr wrap="square" rtlCol="0" anchor="ctr"/>
          <a:lstStyle/>
          <a:p>
            <a:pPr algn="ctr"/>
            <a:r>
              <a:rPr lang="en-US" sz="1200" i="1" dirty="0">
                <a:solidFill>
                  <a:srgbClr val="2E86C1"/>
                </a:solidFill>
                <a:latin typeface="Calibri" pitchFamily="34" charset="0"/>
                <a:ea typeface="Calibri" pitchFamily="34" charset="-122"/>
                <a:cs typeface="Calibri" pitchFamily="34" charset="-120"/>
              </a:rPr>
              <a:t>All</a:t>
            </a:r>
            <a:endParaRPr lang="en-US" sz="1200" dirty="0"/>
          </a:p>
        </p:txBody>
      </p:sp>
      <p:sp>
        <p:nvSpPr>
          <p:cNvPr id="49" name="Shape 47"/>
          <p:cNvSpPr/>
          <p:nvPr/>
        </p:nvSpPr>
        <p:spPr>
          <a:xfrm>
            <a:off x="8656320" y="3328416"/>
            <a:ext cx="2609088" cy="1133856"/>
          </a:xfrm>
          <a:prstGeom prst="rect">
            <a:avLst/>
          </a:prstGeom>
          <a:solidFill>
            <a:srgbClr val="EBF5FB"/>
          </a:solidFill>
          <a:ln w="12700">
            <a:solidFill>
              <a:srgbClr val="AED6F1"/>
            </a:solidFill>
            <a:prstDash val="solid"/>
          </a:ln>
        </p:spPr>
        <p:txBody>
          <a:bodyPr/>
          <a:lstStyle/>
          <a:p>
            <a:endParaRPr lang="en-US" sz="2400"/>
          </a:p>
        </p:txBody>
      </p:sp>
      <p:sp>
        <p:nvSpPr>
          <p:cNvPr id="50" name="Text 48"/>
          <p:cNvSpPr/>
          <p:nvPr/>
        </p:nvSpPr>
        <p:spPr>
          <a:xfrm>
            <a:off x="8778240" y="3377184"/>
            <a:ext cx="2377440" cy="853440"/>
          </a:xfrm>
          <a:prstGeom prst="rect">
            <a:avLst/>
          </a:prstGeom>
          <a:noFill/>
          <a:ln/>
        </p:spPr>
        <p:txBody>
          <a:bodyPr wrap="square" rtlCol="0" anchor="t"/>
          <a:lstStyle/>
          <a:p>
            <a:pPr>
              <a:lnSpc>
                <a:spcPct val="150000"/>
              </a:lnSpc>
            </a:pPr>
            <a:r>
              <a:rPr lang="en-US" sz="1267" dirty="0">
                <a:solidFill>
                  <a:srgbClr val="1C2833"/>
                </a:solidFill>
                <a:latin typeface="Calibri" pitchFamily="34" charset="0"/>
                <a:ea typeface="Calibri" pitchFamily="34" charset="-122"/>
                <a:cs typeface="Calibri" pitchFamily="34" charset="-120"/>
              </a:rPr>
              <a:t>Paper 1 first draft written · Each member fills their sections</a:t>
            </a:r>
            <a:endParaRPr lang="en-US" sz="1267" dirty="0"/>
          </a:p>
        </p:txBody>
      </p:sp>
      <p:sp>
        <p:nvSpPr>
          <p:cNvPr id="51" name="Text 49"/>
          <p:cNvSpPr/>
          <p:nvPr/>
        </p:nvSpPr>
        <p:spPr>
          <a:xfrm>
            <a:off x="8778240" y="4181856"/>
            <a:ext cx="2438400" cy="268224"/>
          </a:xfrm>
          <a:prstGeom prst="rect">
            <a:avLst/>
          </a:prstGeom>
          <a:noFill/>
          <a:ln/>
        </p:spPr>
        <p:txBody>
          <a:bodyPr wrap="square" rtlCol="0" anchor="ctr"/>
          <a:lstStyle/>
          <a:p>
            <a:pPr algn="ctr"/>
            <a:r>
              <a:rPr lang="en-US" sz="1200" i="1" dirty="0">
                <a:solidFill>
                  <a:srgbClr val="2E86C1"/>
                </a:solidFill>
                <a:latin typeface="Calibri" pitchFamily="34" charset="0"/>
                <a:ea typeface="Calibri" pitchFamily="34" charset="-122"/>
                <a:cs typeface="Calibri" pitchFamily="34" charset="-120"/>
              </a:rPr>
              <a:t>Joel leads</a:t>
            </a:r>
            <a:endParaRPr lang="en-US" sz="1200" dirty="0"/>
          </a:p>
        </p:txBody>
      </p:sp>
      <p:sp>
        <p:nvSpPr>
          <p:cNvPr id="52" name="Shape 50"/>
          <p:cNvSpPr/>
          <p:nvPr/>
        </p:nvSpPr>
        <p:spPr>
          <a:xfrm>
            <a:off x="8656320" y="4523232"/>
            <a:ext cx="2609088" cy="1133856"/>
          </a:xfrm>
          <a:prstGeom prst="rect">
            <a:avLst/>
          </a:prstGeom>
          <a:solidFill>
            <a:srgbClr val="D6EAF8"/>
          </a:solidFill>
          <a:ln w="12700">
            <a:solidFill>
              <a:srgbClr val="AED6F1"/>
            </a:solidFill>
            <a:prstDash val="solid"/>
          </a:ln>
        </p:spPr>
        <p:txBody>
          <a:bodyPr/>
          <a:lstStyle/>
          <a:p>
            <a:endParaRPr lang="en-US" sz="2400"/>
          </a:p>
        </p:txBody>
      </p:sp>
      <p:sp>
        <p:nvSpPr>
          <p:cNvPr id="53" name="Text 51"/>
          <p:cNvSpPr/>
          <p:nvPr/>
        </p:nvSpPr>
        <p:spPr>
          <a:xfrm>
            <a:off x="8705088" y="4536484"/>
            <a:ext cx="2511552" cy="853440"/>
          </a:xfrm>
          <a:prstGeom prst="rect">
            <a:avLst/>
          </a:prstGeom>
          <a:noFill/>
          <a:ln/>
        </p:spPr>
        <p:txBody>
          <a:bodyPr wrap="square" rtlCol="0" anchor="t"/>
          <a:lstStyle/>
          <a:p>
            <a:pPr>
              <a:lnSpc>
                <a:spcPct val="150000"/>
              </a:lnSpc>
            </a:pPr>
            <a:r>
              <a:rPr lang="en-US" sz="1267" dirty="0">
                <a:solidFill>
                  <a:srgbClr val="1C2833"/>
                </a:solidFill>
                <a:latin typeface="Calibri" pitchFamily="34" charset="0"/>
                <a:ea typeface="Calibri" pitchFamily="34" charset="-122"/>
                <a:cs typeface="Calibri" pitchFamily="34" charset="-120"/>
              </a:rPr>
              <a:t>Full team review · Presentation rehearsed · Submission-ready draft</a:t>
            </a:r>
            <a:endParaRPr lang="en-US" sz="1267" dirty="0"/>
          </a:p>
        </p:txBody>
      </p:sp>
      <p:sp>
        <p:nvSpPr>
          <p:cNvPr id="54" name="Text 52"/>
          <p:cNvSpPr/>
          <p:nvPr/>
        </p:nvSpPr>
        <p:spPr>
          <a:xfrm>
            <a:off x="8778240" y="5376672"/>
            <a:ext cx="2438400" cy="268224"/>
          </a:xfrm>
          <a:prstGeom prst="rect">
            <a:avLst/>
          </a:prstGeom>
          <a:noFill/>
          <a:ln/>
        </p:spPr>
        <p:txBody>
          <a:bodyPr wrap="square" rtlCol="0" anchor="ctr"/>
          <a:lstStyle/>
          <a:p>
            <a:pPr algn="ctr"/>
            <a:r>
              <a:rPr lang="en-US" sz="1200" i="1" dirty="0">
                <a:solidFill>
                  <a:srgbClr val="2E86C1"/>
                </a:solidFill>
                <a:latin typeface="Calibri" pitchFamily="34" charset="0"/>
                <a:ea typeface="Calibri" pitchFamily="34" charset="-122"/>
                <a:cs typeface="Calibri" pitchFamily="34" charset="-120"/>
              </a:rPr>
              <a:t>All</a:t>
            </a:r>
            <a:endParaRPr lang="en-US" sz="1200" dirty="0"/>
          </a:p>
        </p:txBody>
      </p:sp>
      <p:sp>
        <p:nvSpPr>
          <p:cNvPr id="55" name="Text 53"/>
          <p:cNvSpPr/>
          <p:nvPr/>
        </p:nvSpPr>
        <p:spPr>
          <a:xfrm>
            <a:off x="609600" y="5846065"/>
            <a:ext cx="10972800" cy="519396"/>
          </a:xfrm>
          <a:prstGeom prst="rect">
            <a:avLst/>
          </a:prstGeom>
          <a:noFill/>
          <a:ln/>
        </p:spPr>
        <p:txBody>
          <a:bodyPr wrap="square" rtlCol="0" anchor="ctr"/>
          <a:lstStyle/>
          <a:p>
            <a:pPr algn="ctr">
              <a:lnSpc>
                <a:spcPct val="150000"/>
              </a:lnSpc>
            </a:pPr>
            <a:r>
              <a:rPr lang="en-US" sz="1400" i="1" dirty="0">
                <a:solidFill>
                  <a:srgbClr val="B7770D"/>
                </a:solidFill>
                <a:latin typeface="Calibri" pitchFamily="34" charset="0"/>
                <a:ea typeface="Calibri" pitchFamily="34" charset="-122"/>
                <a:cs typeface="Calibri" pitchFamily="34" charset="-120"/>
              </a:rPr>
              <a:t>⚠  Risk: Scenarios A &amp; D (Day 5–7) are the critical path — all model work depends on them. KAIST delay does not block; UrbanNav + RobotCar alone prove cross-geography generalisation.</a:t>
            </a:r>
            <a:endParaRPr lang="en-US" sz="1400" dirty="0"/>
          </a:p>
        </p:txBody>
      </p:sp>
      <p:sp>
        <p:nvSpPr>
          <p:cNvPr id="112" name="Shape 0">
            <a:extLst>
              <a:ext uri="{FF2B5EF4-FFF2-40B4-BE49-F238E27FC236}">
                <a16:creationId xmlns:a16="http://schemas.microsoft.com/office/drawing/2014/main" id="{BC4E41A5-0BF8-CCFD-F12A-FE1791812EC6}"/>
              </a:ext>
            </a:extLst>
          </p:cNvPr>
          <p:cNvSpPr/>
          <p:nvPr/>
        </p:nvSpPr>
        <p:spPr>
          <a:xfrm>
            <a:off x="0" y="1935"/>
            <a:ext cx="12192000" cy="740408"/>
          </a:xfrm>
          <a:prstGeom prst="rect">
            <a:avLst/>
          </a:prstGeom>
          <a:solidFill>
            <a:srgbClr val="003893"/>
          </a:solidFill>
          <a:ln w="12700">
            <a:solidFill>
              <a:srgbClr val="003893"/>
            </a:solidFill>
            <a:prstDash val="solid"/>
          </a:ln>
        </p:spPr>
      </p:sp>
      <p:sp>
        <p:nvSpPr>
          <p:cNvPr id="113" name="Shape 1">
            <a:extLst>
              <a:ext uri="{FF2B5EF4-FFF2-40B4-BE49-F238E27FC236}">
                <a16:creationId xmlns:a16="http://schemas.microsoft.com/office/drawing/2014/main" id="{A246873A-9443-0BAC-5873-80D9DD772573}"/>
              </a:ext>
            </a:extLst>
          </p:cNvPr>
          <p:cNvSpPr/>
          <p:nvPr/>
        </p:nvSpPr>
        <p:spPr>
          <a:xfrm>
            <a:off x="0" y="702347"/>
            <a:ext cx="12192000" cy="36576"/>
          </a:xfrm>
          <a:prstGeom prst="rect">
            <a:avLst/>
          </a:prstGeom>
          <a:solidFill>
            <a:srgbClr val="4FC3F7"/>
          </a:solidFill>
          <a:ln w="12700">
            <a:solidFill>
              <a:srgbClr val="4FC3F7"/>
            </a:solidFill>
            <a:prstDash val="solid"/>
          </a:ln>
        </p:spPr>
      </p:sp>
      <p:sp>
        <p:nvSpPr>
          <p:cNvPr id="114" name="Shape 2">
            <a:extLst>
              <a:ext uri="{FF2B5EF4-FFF2-40B4-BE49-F238E27FC236}">
                <a16:creationId xmlns:a16="http://schemas.microsoft.com/office/drawing/2014/main" id="{944C2789-5576-8C7A-CECE-12B6B87D6AC1}"/>
              </a:ext>
            </a:extLst>
          </p:cNvPr>
          <p:cNvSpPr/>
          <p:nvPr/>
        </p:nvSpPr>
        <p:spPr>
          <a:xfrm>
            <a:off x="0" y="6646862"/>
            <a:ext cx="12192000" cy="211137"/>
          </a:xfrm>
          <a:prstGeom prst="rect">
            <a:avLst/>
          </a:prstGeom>
          <a:solidFill>
            <a:srgbClr val="003893"/>
          </a:solidFill>
          <a:ln w="12700">
            <a:solidFill>
              <a:srgbClr val="003893"/>
            </a:solidFill>
            <a:prstDash val="solid"/>
          </a:ln>
        </p:spPr>
      </p:sp>
      <p:sp>
        <p:nvSpPr>
          <p:cNvPr id="115" name="Shape 3">
            <a:extLst>
              <a:ext uri="{FF2B5EF4-FFF2-40B4-BE49-F238E27FC236}">
                <a16:creationId xmlns:a16="http://schemas.microsoft.com/office/drawing/2014/main" id="{AA7610E3-3809-0031-3E6E-F077124D16D0}"/>
              </a:ext>
            </a:extLst>
          </p:cNvPr>
          <p:cNvSpPr/>
          <p:nvPr/>
        </p:nvSpPr>
        <p:spPr>
          <a:xfrm>
            <a:off x="0" y="6623677"/>
            <a:ext cx="12192000" cy="30480"/>
          </a:xfrm>
          <a:prstGeom prst="rect">
            <a:avLst/>
          </a:prstGeom>
          <a:solidFill>
            <a:srgbClr val="4FC3F7"/>
          </a:solidFill>
          <a:ln w="12700">
            <a:solidFill>
              <a:srgbClr val="4FC3F7"/>
            </a:solidFill>
            <a:prstDash val="solid"/>
          </a:ln>
        </p:spPr>
      </p:sp>
      <p:sp>
        <p:nvSpPr>
          <p:cNvPr id="116" name="Shape 4">
            <a:extLst>
              <a:ext uri="{FF2B5EF4-FFF2-40B4-BE49-F238E27FC236}">
                <a16:creationId xmlns:a16="http://schemas.microsoft.com/office/drawing/2014/main" id="{9BB1141F-7440-F61D-DBB3-A1A36861DB07}"/>
              </a:ext>
            </a:extLst>
          </p:cNvPr>
          <p:cNvSpPr/>
          <p:nvPr/>
        </p:nvSpPr>
        <p:spPr>
          <a:xfrm>
            <a:off x="0" y="-24618"/>
            <a:ext cx="1128763" cy="767311"/>
          </a:xfrm>
          <a:prstGeom prst="homePlate">
            <a:avLst/>
          </a:prstGeom>
          <a:solidFill>
            <a:srgbClr val="FFFFFF"/>
          </a:solidFill>
          <a:ln w="6350">
            <a:solidFill>
              <a:srgbClr val="CCCCCC"/>
            </a:solidFill>
            <a:prstDash val="solid"/>
          </a:ln>
        </p:spPr>
      </p:sp>
      <p:sp>
        <p:nvSpPr>
          <p:cNvPr id="117" name="Shape 5">
            <a:extLst>
              <a:ext uri="{FF2B5EF4-FFF2-40B4-BE49-F238E27FC236}">
                <a16:creationId xmlns:a16="http://schemas.microsoft.com/office/drawing/2014/main" id="{D09AC067-BAC1-1E1D-DFE5-92071D1526E0}"/>
              </a:ext>
            </a:extLst>
          </p:cNvPr>
          <p:cNvSpPr/>
          <p:nvPr/>
        </p:nvSpPr>
        <p:spPr>
          <a:xfrm>
            <a:off x="10728961" y="121921"/>
            <a:ext cx="51207" cy="51207"/>
          </a:xfrm>
          <a:prstGeom prst="ellipse">
            <a:avLst/>
          </a:prstGeom>
          <a:solidFill>
            <a:srgbClr val="FFFFFF">
              <a:alpha val="35000"/>
            </a:srgbClr>
          </a:solidFill>
          <a:ln w="12700">
            <a:solidFill>
              <a:srgbClr val="FFFFFF"/>
            </a:solidFill>
            <a:prstDash val="solid"/>
          </a:ln>
        </p:spPr>
      </p:sp>
      <p:sp>
        <p:nvSpPr>
          <p:cNvPr id="118" name="Shape 6">
            <a:extLst>
              <a:ext uri="{FF2B5EF4-FFF2-40B4-BE49-F238E27FC236}">
                <a16:creationId xmlns:a16="http://schemas.microsoft.com/office/drawing/2014/main" id="{2AF0BEC9-562F-E9B9-AA5F-6D03790EDFA9}"/>
              </a:ext>
            </a:extLst>
          </p:cNvPr>
          <p:cNvSpPr/>
          <p:nvPr/>
        </p:nvSpPr>
        <p:spPr>
          <a:xfrm>
            <a:off x="10948417" y="121921"/>
            <a:ext cx="51207" cy="51207"/>
          </a:xfrm>
          <a:prstGeom prst="ellipse">
            <a:avLst/>
          </a:prstGeom>
          <a:solidFill>
            <a:srgbClr val="FFFFFF">
              <a:alpha val="35000"/>
            </a:srgbClr>
          </a:solidFill>
          <a:ln w="12700">
            <a:solidFill>
              <a:srgbClr val="FFFFFF"/>
            </a:solidFill>
            <a:prstDash val="solid"/>
          </a:ln>
        </p:spPr>
      </p:sp>
      <p:sp>
        <p:nvSpPr>
          <p:cNvPr id="119" name="Shape 7">
            <a:extLst>
              <a:ext uri="{FF2B5EF4-FFF2-40B4-BE49-F238E27FC236}">
                <a16:creationId xmlns:a16="http://schemas.microsoft.com/office/drawing/2014/main" id="{7C863F99-BA11-62F3-1351-60E0BABCF4BD}"/>
              </a:ext>
            </a:extLst>
          </p:cNvPr>
          <p:cNvSpPr/>
          <p:nvPr/>
        </p:nvSpPr>
        <p:spPr>
          <a:xfrm>
            <a:off x="11167873" y="121921"/>
            <a:ext cx="51207" cy="51207"/>
          </a:xfrm>
          <a:prstGeom prst="ellipse">
            <a:avLst/>
          </a:prstGeom>
          <a:solidFill>
            <a:srgbClr val="FFFFFF">
              <a:alpha val="35000"/>
            </a:srgbClr>
          </a:solidFill>
          <a:ln w="12700">
            <a:solidFill>
              <a:srgbClr val="FFFFFF"/>
            </a:solidFill>
            <a:prstDash val="solid"/>
          </a:ln>
        </p:spPr>
      </p:sp>
      <p:sp>
        <p:nvSpPr>
          <p:cNvPr id="120" name="Shape 8">
            <a:extLst>
              <a:ext uri="{FF2B5EF4-FFF2-40B4-BE49-F238E27FC236}">
                <a16:creationId xmlns:a16="http://schemas.microsoft.com/office/drawing/2014/main" id="{B5CBCA9E-87D0-1144-BC39-F767A4FDEDEB}"/>
              </a:ext>
            </a:extLst>
          </p:cNvPr>
          <p:cNvSpPr/>
          <p:nvPr/>
        </p:nvSpPr>
        <p:spPr>
          <a:xfrm>
            <a:off x="11387329" y="121921"/>
            <a:ext cx="51207" cy="51207"/>
          </a:xfrm>
          <a:prstGeom prst="ellipse">
            <a:avLst/>
          </a:prstGeom>
          <a:solidFill>
            <a:srgbClr val="FFFFFF">
              <a:alpha val="35000"/>
            </a:srgbClr>
          </a:solidFill>
          <a:ln w="12700">
            <a:solidFill>
              <a:srgbClr val="FFFFFF"/>
            </a:solidFill>
            <a:prstDash val="solid"/>
          </a:ln>
        </p:spPr>
      </p:sp>
      <p:sp>
        <p:nvSpPr>
          <p:cNvPr id="121" name="Shape 9">
            <a:extLst>
              <a:ext uri="{FF2B5EF4-FFF2-40B4-BE49-F238E27FC236}">
                <a16:creationId xmlns:a16="http://schemas.microsoft.com/office/drawing/2014/main" id="{8835D577-1961-63AD-657B-CB1B7F383E93}"/>
              </a:ext>
            </a:extLst>
          </p:cNvPr>
          <p:cNvSpPr/>
          <p:nvPr/>
        </p:nvSpPr>
        <p:spPr>
          <a:xfrm>
            <a:off x="10728961" y="292609"/>
            <a:ext cx="51207" cy="51207"/>
          </a:xfrm>
          <a:prstGeom prst="ellipse">
            <a:avLst/>
          </a:prstGeom>
          <a:solidFill>
            <a:srgbClr val="FFFFFF">
              <a:alpha val="35000"/>
            </a:srgbClr>
          </a:solidFill>
          <a:ln w="12700">
            <a:solidFill>
              <a:srgbClr val="FFFFFF"/>
            </a:solidFill>
            <a:prstDash val="solid"/>
          </a:ln>
        </p:spPr>
      </p:sp>
      <p:sp>
        <p:nvSpPr>
          <p:cNvPr id="122" name="Shape 10">
            <a:extLst>
              <a:ext uri="{FF2B5EF4-FFF2-40B4-BE49-F238E27FC236}">
                <a16:creationId xmlns:a16="http://schemas.microsoft.com/office/drawing/2014/main" id="{6A1B68CD-E7E2-7DD7-FA94-298611846129}"/>
              </a:ext>
            </a:extLst>
          </p:cNvPr>
          <p:cNvSpPr/>
          <p:nvPr/>
        </p:nvSpPr>
        <p:spPr>
          <a:xfrm>
            <a:off x="10948417" y="292609"/>
            <a:ext cx="51207" cy="51207"/>
          </a:xfrm>
          <a:prstGeom prst="ellipse">
            <a:avLst/>
          </a:prstGeom>
          <a:solidFill>
            <a:srgbClr val="FFFFFF">
              <a:alpha val="35000"/>
            </a:srgbClr>
          </a:solidFill>
          <a:ln w="12700">
            <a:solidFill>
              <a:srgbClr val="FFFFFF"/>
            </a:solidFill>
            <a:prstDash val="solid"/>
          </a:ln>
        </p:spPr>
      </p:sp>
      <p:sp>
        <p:nvSpPr>
          <p:cNvPr id="123" name="Shape 11">
            <a:extLst>
              <a:ext uri="{FF2B5EF4-FFF2-40B4-BE49-F238E27FC236}">
                <a16:creationId xmlns:a16="http://schemas.microsoft.com/office/drawing/2014/main" id="{0D0FB8B0-0DD7-2BB8-5848-497E0C41BE4B}"/>
              </a:ext>
            </a:extLst>
          </p:cNvPr>
          <p:cNvSpPr/>
          <p:nvPr/>
        </p:nvSpPr>
        <p:spPr>
          <a:xfrm>
            <a:off x="11167873" y="292609"/>
            <a:ext cx="51207" cy="51207"/>
          </a:xfrm>
          <a:prstGeom prst="ellipse">
            <a:avLst/>
          </a:prstGeom>
          <a:solidFill>
            <a:srgbClr val="FFFFFF">
              <a:alpha val="35000"/>
            </a:srgbClr>
          </a:solidFill>
          <a:ln w="12700">
            <a:solidFill>
              <a:srgbClr val="FFFFFF"/>
            </a:solidFill>
            <a:prstDash val="solid"/>
          </a:ln>
        </p:spPr>
      </p:sp>
      <p:sp>
        <p:nvSpPr>
          <p:cNvPr id="124" name="Shape 12">
            <a:extLst>
              <a:ext uri="{FF2B5EF4-FFF2-40B4-BE49-F238E27FC236}">
                <a16:creationId xmlns:a16="http://schemas.microsoft.com/office/drawing/2014/main" id="{0DB086FB-9C49-D5F3-6452-5913FF32E5A9}"/>
              </a:ext>
            </a:extLst>
          </p:cNvPr>
          <p:cNvSpPr/>
          <p:nvPr/>
        </p:nvSpPr>
        <p:spPr>
          <a:xfrm>
            <a:off x="11387329" y="292609"/>
            <a:ext cx="51207" cy="51207"/>
          </a:xfrm>
          <a:prstGeom prst="ellipse">
            <a:avLst/>
          </a:prstGeom>
          <a:solidFill>
            <a:srgbClr val="FFFFFF">
              <a:alpha val="35000"/>
            </a:srgbClr>
          </a:solidFill>
          <a:ln w="12700">
            <a:solidFill>
              <a:srgbClr val="FFFFFF"/>
            </a:solidFill>
            <a:prstDash val="solid"/>
          </a:ln>
        </p:spPr>
      </p:sp>
      <p:sp>
        <p:nvSpPr>
          <p:cNvPr id="125" name="Shape 13">
            <a:extLst>
              <a:ext uri="{FF2B5EF4-FFF2-40B4-BE49-F238E27FC236}">
                <a16:creationId xmlns:a16="http://schemas.microsoft.com/office/drawing/2014/main" id="{25CB3151-66EA-3BFE-E367-6C12B44CB7A6}"/>
              </a:ext>
            </a:extLst>
          </p:cNvPr>
          <p:cNvSpPr/>
          <p:nvPr/>
        </p:nvSpPr>
        <p:spPr>
          <a:xfrm>
            <a:off x="10728961" y="463297"/>
            <a:ext cx="51207" cy="51207"/>
          </a:xfrm>
          <a:prstGeom prst="ellipse">
            <a:avLst/>
          </a:prstGeom>
          <a:solidFill>
            <a:srgbClr val="FFFFFF">
              <a:alpha val="35000"/>
            </a:srgbClr>
          </a:solidFill>
          <a:ln w="12700">
            <a:solidFill>
              <a:srgbClr val="FFFFFF"/>
            </a:solidFill>
            <a:prstDash val="solid"/>
          </a:ln>
        </p:spPr>
      </p:sp>
      <p:sp>
        <p:nvSpPr>
          <p:cNvPr id="126" name="Shape 14">
            <a:extLst>
              <a:ext uri="{FF2B5EF4-FFF2-40B4-BE49-F238E27FC236}">
                <a16:creationId xmlns:a16="http://schemas.microsoft.com/office/drawing/2014/main" id="{2F747079-558E-CF8A-5141-8250682D45F3}"/>
              </a:ext>
            </a:extLst>
          </p:cNvPr>
          <p:cNvSpPr/>
          <p:nvPr/>
        </p:nvSpPr>
        <p:spPr>
          <a:xfrm>
            <a:off x="10948417" y="463297"/>
            <a:ext cx="51207" cy="51207"/>
          </a:xfrm>
          <a:prstGeom prst="ellipse">
            <a:avLst/>
          </a:prstGeom>
          <a:solidFill>
            <a:srgbClr val="FFFFFF">
              <a:alpha val="35000"/>
            </a:srgbClr>
          </a:solidFill>
          <a:ln w="12700">
            <a:solidFill>
              <a:srgbClr val="FFFFFF"/>
            </a:solidFill>
            <a:prstDash val="solid"/>
          </a:ln>
        </p:spPr>
      </p:sp>
      <p:sp>
        <p:nvSpPr>
          <p:cNvPr id="127" name="Shape 15">
            <a:extLst>
              <a:ext uri="{FF2B5EF4-FFF2-40B4-BE49-F238E27FC236}">
                <a16:creationId xmlns:a16="http://schemas.microsoft.com/office/drawing/2014/main" id="{B0FE59BF-8362-4556-EA36-9D9C0F76057E}"/>
              </a:ext>
            </a:extLst>
          </p:cNvPr>
          <p:cNvSpPr/>
          <p:nvPr/>
        </p:nvSpPr>
        <p:spPr>
          <a:xfrm>
            <a:off x="11167873" y="463297"/>
            <a:ext cx="51207" cy="51207"/>
          </a:xfrm>
          <a:prstGeom prst="ellipse">
            <a:avLst/>
          </a:prstGeom>
          <a:solidFill>
            <a:srgbClr val="FFFFFF">
              <a:alpha val="35000"/>
            </a:srgbClr>
          </a:solidFill>
          <a:ln w="12700">
            <a:solidFill>
              <a:srgbClr val="FFFFFF"/>
            </a:solidFill>
            <a:prstDash val="solid"/>
          </a:ln>
        </p:spPr>
      </p:sp>
      <p:sp>
        <p:nvSpPr>
          <p:cNvPr id="128" name="Shape 16">
            <a:extLst>
              <a:ext uri="{FF2B5EF4-FFF2-40B4-BE49-F238E27FC236}">
                <a16:creationId xmlns:a16="http://schemas.microsoft.com/office/drawing/2014/main" id="{CC344490-2E48-C424-DDFE-E86C5D69C384}"/>
              </a:ext>
            </a:extLst>
          </p:cNvPr>
          <p:cNvSpPr/>
          <p:nvPr/>
        </p:nvSpPr>
        <p:spPr>
          <a:xfrm>
            <a:off x="11387329" y="463297"/>
            <a:ext cx="51207" cy="51207"/>
          </a:xfrm>
          <a:prstGeom prst="ellipse">
            <a:avLst/>
          </a:prstGeom>
          <a:solidFill>
            <a:srgbClr val="FFFFFF">
              <a:alpha val="35000"/>
            </a:srgbClr>
          </a:solidFill>
          <a:ln w="12700">
            <a:solidFill>
              <a:srgbClr val="FFFFFF"/>
            </a:solidFill>
            <a:prstDash val="solid"/>
          </a:ln>
        </p:spPr>
      </p:sp>
      <p:pic>
        <p:nvPicPr>
          <p:cNvPr id="129" name="Picture 128">
            <a:extLst>
              <a:ext uri="{FF2B5EF4-FFF2-40B4-BE49-F238E27FC236}">
                <a16:creationId xmlns:a16="http://schemas.microsoft.com/office/drawing/2014/main" id="{AB2B5EA0-6EA2-C205-6ECD-39BFAF59F59C}"/>
              </a:ext>
            </a:extLst>
          </p:cNvPr>
          <p:cNvPicPr>
            <a:picLocks noChangeAspect="1"/>
          </p:cNvPicPr>
          <p:nvPr/>
        </p:nvPicPr>
        <p:blipFill>
          <a:blip r:embed="rId4"/>
          <a:stretch>
            <a:fillRect/>
          </a:stretch>
        </p:blipFill>
        <p:spPr>
          <a:xfrm>
            <a:off x="-453212" y="-263954"/>
            <a:ext cx="1776568" cy="1245981"/>
          </a:xfrm>
          <a:prstGeom prst="rect">
            <a:avLst/>
          </a:prstGeom>
        </p:spPr>
      </p:pic>
      <p:sp>
        <p:nvSpPr>
          <p:cNvPr id="3" name="Text 1"/>
          <p:cNvSpPr/>
          <p:nvPr/>
        </p:nvSpPr>
        <p:spPr>
          <a:xfrm>
            <a:off x="1244863" y="-104203"/>
            <a:ext cx="10241280" cy="877824"/>
          </a:xfrm>
          <a:prstGeom prst="rect">
            <a:avLst/>
          </a:prstGeom>
          <a:noFill/>
          <a:ln/>
        </p:spPr>
        <p:txBody>
          <a:bodyPr wrap="square" lIns="0" tIns="0" rIns="0" bIns="0" rtlCol="0" anchor="ctr"/>
          <a:lstStyle/>
          <a:p>
            <a:r>
              <a:rPr lang="en-US" sz="3200" b="1" dirty="0">
                <a:solidFill>
                  <a:srgbClr val="FFFFFF"/>
                </a:solidFill>
                <a:latin typeface="Calibri" pitchFamily="34" charset="0"/>
                <a:ea typeface="Calibri" pitchFamily="34" charset="-122"/>
                <a:cs typeface="Calibri" pitchFamily="34" charset="-120"/>
              </a:rPr>
              <a:t>PROJECT TIMELINE — 4-WEEK COMPRESSED PLAN</a:t>
            </a:r>
            <a:endParaRPr lang="en-US" sz="32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bg>
      <p:bgPr>
        <a:solidFill>
          <a:srgbClr val="003366"/>
        </a:solidFill>
        <a:effectLst/>
      </p:bgPr>
    </p:bg>
    <p:spTree>
      <p:nvGrpSpPr>
        <p:cNvPr id="1" name=""/>
        <p:cNvGrpSpPr/>
        <p:nvPr/>
      </p:nvGrpSpPr>
      <p:grpSpPr>
        <a:xfrm>
          <a:off x="0" y="0"/>
          <a:ext cx="0" cy="0"/>
          <a:chOff x="0" y="0"/>
          <a:chExt cx="0" cy="0"/>
        </a:xfrm>
      </p:grpSpPr>
      <p:sp>
        <p:nvSpPr>
          <p:cNvPr id="2" name="TextBox 1"/>
          <p:cNvSpPr txBox="1"/>
          <p:nvPr/>
        </p:nvSpPr>
        <p:spPr>
          <a:xfrm>
            <a:off x="822960" y="2377440"/>
            <a:ext cx="10607040" cy="1828800"/>
          </a:xfrm>
          <a:prstGeom prst="rect">
            <a:avLst/>
          </a:prstGeom>
          <a:noFill/>
        </p:spPr>
        <p:txBody>
          <a:bodyPr wrap="square">
            <a:spAutoFit/>
          </a:bodyPr>
          <a:lstStyle/>
          <a:p>
            <a:pPr algn="l">
              <a:lnSpc>
                <a:spcPct val="150000"/>
              </a:lnSpc>
              <a:spcAft>
                <a:spcPts val="600"/>
              </a:spcAft>
            </a:pPr>
            <a:r>
              <a:rPr sz="4600" b="1">
                <a:solidFill>
                  <a:srgbClr val="FFFFFF"/>
                </a:solidFill>
                <a:latin typeface="Calibri"/>
              </a:rPr>
              <a:t>Thank you</a:t>
            </a:r>
          </a:p>
          <a:p>
            <a:pPr algn="l">
              <a:lnSpc>
                <a:spcPct val="150000"/>
              </a:lnSpc>
              <a:spcAft>
                <a:spcPts val="600"/>
              </a:spcAft>
            </a:pPr>
            <a:r>
              <a:rPr sz="2200" b="0">
                <a:solidFill>
                  <a:srgbClr val="E6F2FB"/>
                </a:solidFill>
                <a:latin typeface="Calibri"/>
              </a:rPr>
              <a:t>SENTINEL-GNSS — predicting GNSS degradation before it happens</a:t>
            </a:r>
          </a:p>
          <a:p>
            <a:pPr algn="l">
              <a:lnSpc>
                <a:spcPct val="150000"/>
              </a:lnSpc>
              <a:spcAft>
                <a:spcPts val="600"/>
              </a:spcAft>
            </a:pPr>
            <a:r>
              <a:rPr sz="1800" b="0">
                <a:solidFill>
                  <a:srgbClr val="FFFFFF"/>
                </a:solidFill>
                <a:latin typeface="Calibri"/>
              </a:rPr>
              <a:t>Team Pilot Project · Beihang University</a:t>
            </a:r>
          </a:p>
          <a:p>
            <a:pPr algn="l">
              <a:lnSpc>
                <a:spcPct val="150000"/>
              </a:lnSpc>
              <a:spcAft>
                <a:spcPts val="600"/>
              </a:spcAft>
            </a:pPr>
            <a:r>
              <a:rPr sz="1500" b="0">
                <a:solidFill>
                  <a:srgbClr val="CFE3F5"/>
                </a:solidFill>
                <a:latin typeface="Calibri"/>
              </a:rPr>
              <a:t>github.com/Jorshuare/AI-Based-Prediction-for-GNSS-Signal-Degradation</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215</TotalTime>
  <Words>2705</Words>
  <Application>Microsoft Macintosh PowerPoint</Application>
  <PresentationFormat>Widescreen</PresentationFormat>
  <Paragraphs>513</Paragraphs>
  <Slides>32</Slides>
  <Notes>20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32</vt:i4>
      </vt:variant>
    </vt:vector>
  </HeadingPairs>
  <TitlesOfParts>
    <vt:vector size="38" baseType="lpstr">
      <vt:lpstr>Aptos</vt:lpstr>
      <vt:lpstr>Arial</vt:lpstr>
      <vt:lpstr>Calibri</vt:lpstr>
      <vt:lpstr>IBM Plex Mono</vt:lpstr>
      <vt:lpstr>IBM Plex Sans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Joshua Ogunlade</cp:lastModifiedBy>
  <cp:revision>8</cp:revision>
  <dcterms:created xsi:type="dcterms:W3CDTF">2013-01-27T09:14:16Z</dcterms:created>
  <dcterms:modified xsi:type="dcterms:W3CDTF">2026-06-04T08:16:02Z</dcterms:modified>
  <cp:category/>
</cp:coreProperties>
</file>