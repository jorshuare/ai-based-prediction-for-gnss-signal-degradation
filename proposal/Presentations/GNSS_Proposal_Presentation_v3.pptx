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84" r:id="rId3"/>
    <p:sldId id="257" r:id="rId4"/>
    <p:sldId id="258" r:id="rId5"/>
    <p:sldId id="276" r:id="rId6"/>
    <p:sldId id="259" r:id="rId7"/>
    <p:sldId id="285" r:id="rId8"/>
    <p:sldId id="292" r:id="rId9"/>
    <p:sldId id="261" r:id="rId10"/>
    <p:sldId id="288" r:id="rId11"/>
    <p:sldId id="289" r:id="rId12"/>
    <p:sldId id="277" r:id="rId13"/>
    <p:sldId id="281" r:id="rId14"/>
    <p:sldId id="293" r:id="rId26"/>
    <p:sldId id="294" r:id="rId27"/>
    <p:sldId id="295" r:id="rId28"/>
    <p:sldId id="296" r:id="rId29"/>
    <p:sldId id="297" r:id="rId30"/>
    <p:sldId id="286" r:id="rId15"/>
    <p:sldId id="287" r:id="rId16"/>
    <p:sldId id="290" r:id="rId17"/>
    <p:sldId id="274" r:id="rId18"/>
    <p:sldId id="273" r:id="rId19"/>
    <p:sldId id="275" r:id="rId2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708" autoAdjust="0"/>
    <p:restoredTop sz="94610"/>
  </p:normalViewPr>
  <p:slideViewPr>
    <p:cSldViewPr snapToGrid="0" snapToObjects="1">
      <p:cViewPr varScale="1">
        <p:scale>
          <a:sx n="149" d="100"/>
          <a:sy n="149" d="100"/>
        </p:scale>
        <p:origin x="392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385405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5984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88DCF2-868A-563F-4963-2235003E89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E7E8E8A-24AA-91B2-5AC6-4E69D12B059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8DE93A1-090C-ABBA-115E-0071A7149B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BE0718-60EE-9A04-9800-53CC11DE1E0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63742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519527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6E8940-D5BF-755A-489C-D4F11B57A0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8FA161-0187-EA6E-FD67-143020CBBE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E30023B-C9D6-D83A-BE7E-0A1A11313B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D8685F-D041-61D5-C148-039A7559CAC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283285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C85914-34FA-09E6-C316-015610808C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76C0FE3-96DB-DE33-2FD2-B190C39073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ECAC537-3D7C-B62A-F6CF-AA9881F8E1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3BBB20-83D3-DBED-2493-E03449B6008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211298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C85914-34FA-09E6-C316-015610808C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76C0FE3-96DB-DE33-2FD2-B190C39073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ECAC537-3D7C-B62A-F6CF-AA9881F8E1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3BBB20-83D3-DBED-2493-E03449B6008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01030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C85914-34FA-09E6-C316-015610808C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76C0FE3-96DB-DE33-2FD2-B190C39073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ECAC537-3D7C-B62A-F6CF-AA9881F8E1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3BBB20-83D3-DBED-2493-E03449B6008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216674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851882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jpe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206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199" y="822959"/>
            <a:ext cx="99391" cy="4051189"/>
          </a:xfrm>
          <a:prstGeom prst="rect">
            <a:avLst/>
          </a:prstGeom>
          <a:solidFill>
            <a:srgbClr val="AED6F1"/>
          </a:solidFill>
          <a:ln w="12700">
            <a:solidFill>
              <a:srgbClr val="AED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85800" y="478137"/>
            <a:ext cx="80467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AI-Based Prediction of GNSS Signal</a:t>
            </a:r>
            <a:endParaRPr lang="en-US" sz="3400" dirty="0"/>
          </a:p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Degradation for Autonomous Driving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85800" y="2078337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AED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Pilot Study</a:t>
            </a:r>
            <a:endParaRPr lang="en-US" sz="2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0948232"/>
              </p:ext>
            </p:extLst>
          </p:nvPr>
        </p:nvGraphicFramePr>
        <p:xfrm>
          <a:off x="685800" y="2581257"/>
          <a:ext cx="7863840" cy="1828800"/>
        </p:xfrm>
        <a:graphic>
          <a:graphicData uri="http://schemas.openxmlformats.org/drawingml/2006/table">
            <a:tbl>
              <a:tblPr/>
              <a:tblGrid>
                <a:gridCol w="6692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0860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S/N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27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27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Student ID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27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8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Ojerinde Joel Segun 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8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LS2525253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84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8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Mustapha Ibrahim Ishola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8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LS2525238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84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84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Ogunlade Joshua Oluwaseun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8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LS2525237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84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8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Ingeriyinkindi Claudine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8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LS2525236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84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8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Rashid Md Harun 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8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LS2525219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84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E77A5688-5D3D-76CB-DF27-D06D55042F3B}"/>
              </a:ext>
            </a:extLst>
          </p:cNvPr>
          <p:cNvSpPr/>
          <p:nvPr/>
        </p:nvSpPr>
        <p:spPr>
          <a:xfrm>
            <a:off x="2914116" y="4537816"/>
            <a:ext cx="3144852" cy="36746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Supervisor: Dr. Ahmed Wasiu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slides_tmpl/image/25-08-27-19:57:29-d2nf5a98bjvh7rlivrvg.png"/>
          <p:cNvPicPr>
            <a:picLocks noChangeAspect="1"/>
          </p:cNvPicPr>
          <p:nvPr/>
        </p:nvPicPr>
        <p:blipFill>
          <a:blip r:embed="rId3"/>
          <a:srcRect l="20060" t="9520" b="9520"/>
          <a:stretch/>
        </p:blipFill>
        <p:spPr>
          <a:xfrm>
            <a:off x="2191554" y="250107"/>
            <a:ext cx="5078730" cy="5143500"/>
          </a:xfrm>
          <a:prstGeom prst="rect">
            <a:avLst/>
          </a:prstGeom>
        </p:spPr>
      </p:pic>
      <p:pic>
        <p:nvPicPr>
          <p:cNvPr id="3" name="Image 1" descr="https://kimi-img.moonshot.cn/pub/slides/slides_tmpl/image/25-08-27-19:57:29-d2nf5a98bjvh7rlivru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7715" y="1791414"/>
            <a:ext cx="1200150" cy="123825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1128237" y="2136457"/>
            <a:ext cx="990124" cy="1001078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1"/>
          <p:cNvSpPr/>
          <p:nvPr/>
        </p:nvSpPr>
        <p:spPr>
          <a:xfrm>
            <a:off x="1132047" y="2138939"/>
            <a:ext cx="990124" cy="1001078"/>
          </a:xfrm>
          <a:prstGeom prst="ellipse">
            <a:avLst/>
          </a:prstGeom>
          <a:gradFill flip="none" rotWithShape="1">
            <a:gsLst>
              <a:gs pos="0">
                <a:srgbClr val="D1DCF2">
                  <a:alpha val="84000"/>
                </a:srgbClr>
              </a:gs>
              <a:gs pos="2000">
                <a:srgbClr val="D1DCF2">
                  <a:alpha val="84000"/>
                </a:srgbClr>
              </a:gs>
              <a:gs pos="55000">
                <a:srgbClr val="4874CB">
                  <a:alpha val="69000"/>
                </a:srgbClr>
              </a:gs>
              <a:gs pos="100000">
                <a:srgbClr val="345FB6"/>
              </a:gs>
            </a:gsLst>
            <a:path path="circle">
              <a:fillToRect r="100000" b="100000"/>
            </a:path>
            <a:tileRect l="-100000" t="-100000"/>
          </a:gradFill>
          <a:ln/>
          <a:effectLst>
            <a:outerShdw blurRad="304800" dist="184847" dir="2700000" algn="bl" rotWithShape="0">
              <a:srgbClr val="2E54A1">
                <a:alpha val="23922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2"/>
          <p:cNvSpPr/>
          <p:nvPr/>
        </p:nvSpPr>
        <p:spPr>
          <a:xfrm>
            <a:off x="1128237" y="2264093"/>
            <a:ext cx="990124" cy="744855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ctr"/>
          <a:lstStyle/>
          <a:p>
            <a:pPr algn="ctr">
              <a:lnSpc>
                <a:spcPct val="100000"/>
              </a:lnSpc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1200" dirty="0"/>
          </a:p>
        </p:txBody>
      </p:sp>
      <p:sp>
        <p:nvSpPr>
          <p:cNvPr id="8" name="Text 4"/>
          <p:cNvSpPr/>
          <p:nvPr/>
        </p:nvSpPr>
        <p:spPr>
          <a:xfrm>
            <a:off x="2478883" y="2182730"/>
            <a:ext cx="6544973" cy="954805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t"/>
          <a:lstStyle/>
          <a:p>
            <a:pPr>
              <a:lnSpc>
                <a:spcPct val="150000"/>
              </a:lnSpc>
            </a:pPr>
            <a:r>
              <a:rPr lang="en-US" sz="4000" b="1" dirty="0">
                <a:solidFill>
                  <a:srgbClr val="000000"/>
                </a:solidFill>
                <a:latin typeface="Arial Black" pitchFamily="34" charset="0"/>
              </a:rPr>
              <a:t>RECAP</a:t>
            </a:r>
            <a:endParaRPr lang="en-US" sz="4000" dirty="0"/>
          </a:p>
        </p:txBody>
      </p:sp>
      <p:sp>
        <p:nvSpPr>
          <p:cNvPr id="10" name="Shape 5"/>
          <p:cNvSpPr/>
          <p:nvPr/>
        </p:nvSpPr>
        <p:spPr>
          <a:xfrm rot="7680000">
            <a:off x="6853237" y="4416266"/>
            <a:ext cx="322898" cy="322898"/>
          </a:xfrm>
          <a:prstGeom prst="ellipse">
            <a:avLst/>
          </a:prstGeom>
          <a:gradFill flip="none" rotWithShape="1">
            <a:gsLst>
              <a:gs pos="0">
                <a:srgbClr val="D1DCF2">
                  <a:alpha val="14000"/>
                </a:srgbClr>
              </a:gs>
              <a:gs pos="22000">
                <a:srgbClr val="6389D3">
                  <a:alpha val="48000"/>
                </a:srgbClr>
              </a:gs>
              <a:gs pos="45000">
                <a:srgbClr val="6389D3">
                  <a:alpha val="83000"/>
                </a:srgbClr>
              </a:gs>
              <a:gs pos="66000">
                <a:srgbClr val="6389D3">
                  <a:alpha val="87000"/>
                </a:srgbClr>
              </a:gs>
              <a:gs pos="100000">
                <a:srgbClr val="6389D3">
                  <a:alpha val="87000"/>
                </a:srgbClr>
              </a:gs>
            </a:gsLst>
            <a:lin ang="5400000" scaled="1"/>
          </a:gra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6"/>
          <p:cNvSpPr/>
          <p:nvPr/>
        </p:nvSpPr>
        <p:spPr>
          <a:xfrm rot="4020000">
            <a:off x="7080409" y="664846"/>
            <a:ext cx="164306" cy="164306"/>
          </a:xfrm>
          <a:prstGeom prst="ellipse">
            <a:avLst/>
          </a:prstGeom>
          <a:gradFill flip="none" rotWithShape="1">
            <a:gsLst>
              <a:gs pos="0">
                <a:srgbClr val="D1DCF2">
                  <a:alpha val="14000"/>
                </a:srgbClr>
              </a:gs>
              <a:gs pos="22000">
                <a:srgbClr val="6389D3">
                  <a:alpha val="42000"/>
                </a:srgbClr>
              </a:gs>
              <a:gs pos="45000">
                <a:srgbClr val="6389D3">
                  <a:alpha val="68000"/>
                </a:srgbClr>
              </a:gs>
              <a:gs pos="66000">
                <a:srgbClr val="6389D3">
                  <a:alpha val="76000"/>
                </a:srgbClr>
              </a:gs>
              <a:gs pos="100000">
                <a:srgbClr val="6389D3">
                  <a:alpha val="76000"/>
                </a:srgbClr>
              </a:gs>
            </a:gsLst>
            <a:lin ang="5400000" scaled="1"/>
          </a:gra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Rectangle 11"/>
          <p:cNvSpPr/>
          <p:nvPr/>
        </p:nvSpPr>
        <p:spPr>
          <a:xfrm>
            <a:off x="8321040" y="4701540"/>
            <a:ext cx="822960" cy="44196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100" b="1" dirty="0">
                <a:solidFill>
                  <a:schemeClr val="tx1"/>
                </a:solidFill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476188833"/>
      </p:ext>
    </p:extLst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Outline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4846320"/>
            <a:ext cx="8229600" cy="27432"/>
          </a:xfrm>
          <a:prstGeom prst="rect">
            <a:avLst/>
          </a:prstGeom>
          <a:solidFill>
            <a:srgbClr val="AED6F1"/>
          </a:solidFill>
          <a:ln w="12700">
            <a:solidFill>
              <a:srgbClr val="AED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822960"/>
          <a:ext cx="4023360" cy="3474720"/>
        </p:xfrm>
        <a:graphic>
          <a:graphicData uri="http://schemas.openxmlformats.org/drawingml/2006/table">
            <a:tbl>
              <a:tblPr/>
              <a:tblGrid>
                <a:gridCol w="457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66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E86C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Problem Statement &amp; Motivation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E86C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 Prediction, Not Detection?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E86C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Our Contributions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E86C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Sources &amp; Collection Strategy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E86C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Processing Pipeline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E86C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 Engineering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E86C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 Architecture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E86C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Model Design — Transformer-LSTM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E86C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Training Protocol &amp; Class Imbalance Handling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E86C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 Strategy &amp; Datasets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graphicFrame>
        <p:nvGraphicFramePr>
          <p:cNvPr id="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822960"/>
          <a:ext cx="4023360" cy="3474720"/>
        </p:xfrm>
        <a:graphic>
          <a:graphicData uri="http://schemas.openxmlformats.org/drawingml/2006/table">
            <a:tbl>
              <a:tblPr/>
              <a:tblGrid>
                <a:gridCol w="457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66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E86C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Results Overview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E86C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Real-Time Monitoring Interface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E86C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Sensor Fusion Adaptation (Dynamic EKF)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E86C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Novelty Claims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E86C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Team Responsibilities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E86C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Project Timeline (Milestones)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E86C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Anticipated Challenges &amp; Mitigations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E86C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Real-World Impact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E86C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Conclusion &amp; Future Work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E86C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Q&amp;A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A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7" name="Rectangle 6">
            <a:extLst>
              <a:ext uri="{FF2B5EF4-FFF2-40B4-BE49-F238E27FC236}">
                <a16:creationId xmlns:a16="http://schemas.microsoft.com/office/drawing/2014/main" id="{421166E3-4E33-D9E0-BFA1-24A9E483232F}"/>
              </a:ext>
            </a:extLst>
          </p:cNvPr>
          <p:cNvSpPr/>
          <p:nvPr/>
        </p:nvSpPr>
        <p:spPr>
          <a:xfrm>
            <a:off x="8321040" y="4701540"/>
            <a:ext cx="822960" cy="44196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100" b="1" dirty="0">
                <a:solidFill>
                  <a:schemeClr val="tx1"/>
                </a:solidFill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4846320"/>
            <a:ext cx="8229600" cy="27432"/>
          </a:xfrm>
          <a:prstGeom prst="rect">
            <a:avLst/>
          </a:prstGeom>
          <a:solidFill>
            <a:srgbClr val="AED6F1"/>
          </a:solidFill>
          <a:ln w="12700">
            <a:solidFill>
              <a:srgbClr val="AED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7772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GNSS is the primary positioning source for autonomous vehicles. Yet it fails—predictably and frequently.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2651760" cy="2560320"/>
          </a:xfrm>
          <a:prstGeom prst="rect">
            <a:avLst/>
          </a:prstGeom>
          <a:solidFill>
            <a:srgbClr val="D6EAF8"/>
          </a:solidFill>
          <a:ln w="12700">
            <a:solidFill>
              <a:srgbClr val="AED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457200" y="1417320"/>
            <a:ext cx="2651760" cy="411480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57200" y="141732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Urban Canyons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920240"/>
            <a:ext cx="237744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200000"/>
              </a:lnSpc>
              <a:buNone/>
            </a:pPr>
            <a:r>
              <a:rPr lang="en-US" sz="12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 buildings block or reflect satellite signals, causing multipath errors and signal loss in densely built environments.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291840" y="1417320"/>
            <a:ext cx="2651760" cy="2560320"/>
          </a:xfrm>
          <a:prstGeom prst="rect">
            <a:avLst/>
          </a:prstGeom>
          <a:solidFill>
            <a:srgbClr val="D6EAF8"/>
          </a:solidFill>
          <a:ln w="12700">
            <a:solidFill>
              <a:srgbClr val="AED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3291840" y="1417320"/>
            <a:ext cx="2651760" cy="411480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291840" y="141732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Tunnels &amp; Underpasses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429000" y="1920240"/>
            <a:ext cx="237744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200000"/>
              </a:lnSpc>
              <a:buNone/>
            </a:pPr>
            <a:r>
              <a:rPr lang="en-US" sz="12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signal blockage causes instantaneous position loss. Reactive systems detect failure too late to plan a safe response.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126480" y="1417320"/>
            <a:ext cx="2651760" cy="2560320"/>
          </a:xfrm>
          <a:prstGeom prst="rect">
            <a:avLst/>
          </a:prstGeom>
          <a:solidFill>
            <a:srgbClr val="D6EAF8"/>
          </a:solidFill>
          <a:ln w="12700">
            <a:solidFill>
              <a:srgbClr val="AED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6126480" y="1417320"/>
            <a:ext cx="2651760" cy="411480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126480" y="141732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Atmospheric Effects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263640" y="1920240"/>
            <a:ext cx="237744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200000"/>
              </a:lnSpc>
              <a:buNone/>
            </a:pPr>
            <a:r>
              <a:rPr lang="en-US" sz="12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Ionospheric and tropospheric disturbances degrade range accuracy across wide areas, particularly during daytime and equatorial conditions.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57200" y="41605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E8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systems detect degradation after it occurs — autonomous vehicles need advance warning to respond safely.</a:t>
            </a:r>
            <a:endParaRPr lang="en-US" sz="13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0CC156A-8A33-74F9-A29B-C451009586D5}"/>
              </a:ext>
            </a:extLst>
          </p:cNvPr>
          <p:cNvSpPr/>
          <p:nvPr/>
        </p:nvSpPr>
        <p:spPr>
          <a:xfrm>
            <a:off x="8321040" y="4701540"/>
            <a:ext cx="822960" cy="44196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100" b="1" dirty="0">
                <a:solidFill>
                  <a:schemeClr val="tx1"/>
                </a:solidFill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4DA33B-A089-EED4-2DFE-5AF93D5DD8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F59BECB2-5CC8-7222-89E2-75E45AF2028C}"/>
              </a:ext>
            </a:extLst>
          </p:cNvPr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A224C6EC-B47C-8F50-3551-AF2381CE0850}"/>
              </a:ext>
            </a:extLst>
          </p:cNvPr>
          <p:cNvSpPr/>
          <p:nvPr/>
        </p:nvSpPr>
        <p:spPr>
          <a:xfrm>
            <a:off x="457200" y="0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22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2141CBB7-1709-E31D-23BD-2BC6728E6745}"/>
              </a:ext>
            </a:extLst>
          </p:cNvPr>
          <p:cNvSpPr/>
          <p:nvPr/>
        </p:nvSpPr>
        <p:spPr>
          <a:xfrm>
            <a:off x="0" y="0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endParaRPr lang="en-US" sz="1000" dirty="0"/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AE006491-F032-E4A0-4109-2905383A30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9694" y="712304"/>
            <a:ext cx="6718852" cy="4379844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2ACBE733-B86B-B422-EC3B-A2260821AD08}"/>
              </a:ext>
            </a:extLst>
          </p:cNvPr>
          <p:cNvSpPr/>
          <p:nvPr/>
        </p:nvSpPr>
        <p:spPr>
          <a:xfrm>
            <a:off x="8321040" y="4701540"/>
            <a:ext cx="822960" cy="44196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100" b="1" dirty="0">
                <a:solidFill>
                  <a:schemeClr val="tx1"/>
                </a:solidFill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37250191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Prediction, Not Detection?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4846320"/>
            <a:ext cx="8229600" cy="27432"/>
          </a:xfrm>
          <a:prstGeom prst="rect">
            <a:avLst/>
          </a:prstGeom>
          <a:solidFill>
            <a:srgbClr val="AED6F1"/>
          </a:solidFill>
          <a:ln w="12700">
            <a:solidFill>
              <a:srgbClr val="AED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7772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03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Reactive vs. Proactive Navigation Response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57200" y="1280160"/>
            <a:ext cx="8229600" cy="320040"/>
          </a:xfrm>
          <a:prstGeom prst="rect">
            <a:avLst/>
          </a:prstGeom>
          <a:solidFill>
            <a:srgbClr val="D6EAF8"/>
          </a:solidFill>
          <a:ln w="12700">
            <a:solidFill>
              <a:srgbClr val="AED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57200" y="12801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3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REACTIVE SYSTEM  (Current State of Practice)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1691640"/>
            <a:ext cx="1920240" cy="822960"/>
          </a:xfrm>
          <a:prstGeom prst="rect">
            <a:avLst/>
          </a:prstGeom>
          <a:solidFill>
            <a:srgbClr val="E8F5E9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57200" y="1691640"/>
            <a:ext cx="1920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 OK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651760" y="1691640"/>
            <a:ext cx="1920240" cy="822960"/>
          </a:xfrm>
          <a:prstGeom prst="rect">
            <a:avLst/>
          </a:prstGeom>
          <a:solidFill>
            <a:srgbClr val="FFEBEE"/>
          </a:solidFill>
          <a:ln w="12700">
            <a:solidFill>
              <a:srgbClr val="B7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2651760" y="1691640"/>
            <a:ext cx="1920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B7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Degradation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B7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Occurs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846320" y="1691640"/>
            <a:ext cx="1920240" cy="822960"/>
          </a:xfrm>
          <a:prstGeom prst="rect">
            <a:avLst/>
          </a:prstGeom>
          <a:solidFill>
            <a:srgbClr val="FFF3E0"/>
          </a:solidFill>
          <a:ln w="12700">
            <a:solidFill>
              <a:srgbClr val="E651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846320" y="1691640"/>
            <a:ext cx="1920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65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E65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040880" y="1691640"/>
            <a:ext cx="1920240" cy="822960"/>
          </a:xfrm>
          <a:prstGeom prst="rect">
            <a:avLst/>
          </a:prstGeom>
          <a:solidFill>
            <a:srgbClr val="F3E5F5"/>
          </a:solidFill>
          <a:ln w="12700">
            <a:solidFill>
              <a:srgbClr val="4A14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7040880" y="1691640"/>
            <a:ext cx="1920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A1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4A1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(Too Late)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377440" y="2103120"/>
            <a:ext cx="274320" cy="0"/>
          </a:xfrm>
          <a:prstGeom prst="line">
            <a:avLst/>
          </a:prstGeom>
          <a:noFill/>
          <a:ln w="19050">
            <a:solidFill>
              <a:srgbClr val="5665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4572000" y="2103120"/>
            <a:ext cx="274320" cy="0"/>
          </a:xfrm>
          <a:prstGeom prst="line">
            <a:avLst/>
          </a:prstGeom>
          <a:noFill/>
          <a:ln w="19050">
            <a:solidFill>
              <a:srgbClr val="5665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6766560" y="2103120"/>
            <a:ext cx="274320" cy="0"/>
          </a:xfrm>
          <a:prstGeom prst="line">
            <a:avLst/>
          </a:prstGeom>
          <a:noFill/>
          <a:ln w="19050">
            <a:solidFill>
              <a:srgbClr val="5665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SYSTEM  (Proactive — This Work)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3154680"/>
            <a:ext cx="1920240" cy="822960"/>
          </a:xfrm>
          <a:prstGeom prst="rect">
            <a:avLst/>
          </a:prstGeom>
          <a:solidFill>
            <a:srgbClr val="E3F2FD"/>
          </a:solidFill>
          <a:ln w="12700">
            <a:solidFill>
              <a:srgbClr val="1565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57200" y="3154680"/>
            <a:ext cx="1920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 OK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2651760" y="3154680"/>
            <a:ext cx="1920240" cy="822960"/>
          </a:xfrm>
          <a:prstGeom prst="rect">
            <a:avLst/>
          </a:prstGeom>
          <a:solidFill>
            <a:srgbClr val="E0F2F1"/>
          </a:solidFill>
          <a:ln w="12700">
            <a:solidFill>
              <a:srgbClr val="0069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2651760" y="3154680"/>
            <a:ext cx="1920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6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Predicts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006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30s Ahead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846320" y="3154680"/>
            <a:ext cx="1920240" cy="822960"/>
          </a:xfrm>
          <a:prstGeom prst="rect">
            <a:avLst/>
          </a:prstGeom>
          <a:solidFill>
            <a:srgbClr val="E8F5E9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4846320" y="3154680"/>
            <a:ext cx="1920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 Weights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Adjusted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7040880" y="3154680"/>
            <a:ext cx="1920240" cy="822960"/>
          </a:xfrm>
          <a:prstGeom prst="rect">
            <a:avLst/>
          </a:prstGeom>
          <a:solidFill>
            <a:srgbClr val="F1F8E9"/>
          </a:solidFill>
          <a:ln w="12700">
            <a:solidFill>
              <a:srgbClr val="1B5E2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7040880" y="3154680"/>
            <a:ext cx="1920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Smooth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Navigation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2377440" y="3566160"/>
            <a:ext cx="274320" cy="0"/>
          </a:xfrm>
          <a:prstGeom prst="line">
            <a:avLst/>
          </a:prstGeom>
          <a:noFill/>
          <a:ln w="19050">
            <a:solidFill>
              <a:srgbClr val="5665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4572000" y="3566160"/>
            <a:ext cx="274320" cy="0"/>
          </a:xfrm>
          <a:prstGeom prst="line">
            <a:avLst/>
          </a:prstGeom>
          <a:noFill/>
          <a:ln w="19050">
            <a:solidFill>
              <a:srgbClr val="5665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6766560" y="3566160"/>
            <a:ext cx="274320" cy="0"/>
          </a:xfrm>
          <a:prstGeom prst="line">
            <a:avLst/>
          </a:prstGeom>
          <a:noFill/>
          <a:ln w="19050">
            <a:solidFill>
              <a:srgbClr val="5665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457200" y="42062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400" i="1" dirty="0">
                <a:solidFill>
                  <a:srgbClr val="2E8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60 km/h, a 30-second prediction window provides 500 metres of advance notice — enough for safe, graduated navigation adjustment.</a:t>
            </a:r>
            <a:endParaRPr lang="en-US" sz="1400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E7DF6BBB-0492-9AD1-0972-DD5F3B150987}"/>
              </a:ext>
            </a:extLst>
          </p:cNvPr>
          <p:cNvSpPr/>
          <p:nvPr/>
        </p:nvSpPr>
        <p:spPr>
          <a:xfrm>
            <a:off x="8321040" y="4701540"/>
            <a:ext cx="822960" cy="44196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100" b="1" dirty="0">
                <a:solidFill>
                  <a:schemeClr val="tx1"/>
                </a:solidFill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slides_tmpl/image/25-08-27-19:57:29-d2nf5a98bjvh7rlivrvg.png"/>
          <p:cNvPicPr>
            <a:picLocks noChangeAspect="1"/>
          </p:cNvPicPr>
          <p:nvPr/>
        </p:nvPicPr>
        <p:blipFill>
          <a:blip r:embed="rId3"/>
          <a:srcRect l="20060" t="9520" b="9520"/>
          <a:stretch/>
        </p:blipFill>
        <p:spPr>
          <a:xfrm>
            <a:off x="2191554" y="121920"/>
            <a:ext cx="5078730" cy="5143500"/>
          </a:xfrm>
          <a:prstGeom prst="rect">
            <a:avLst/>
          </a:prstGeom>
        </p:spPr>
      </p:pic>
      <p:pic>
        <p:nvPicPr>
          <p:cNvPr id="3" name="Image 1" descr="https://kimi-img.moonshot.cn/pub/slides/slides_tmpl/image/25-08-27-19:57:29-d2nf5a98bjvh7rlivru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7715" y="1791414"/>
            <a:ext cx="1200150" cy="123825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1128237" y="2136457"/>
            <a:ext cx="990124" cy="1001078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1"/>
          <p:cNvSpPr/>
          <p:nvPr/>
        </p:nvSpPr>
        <p:spPr>
          <a:xfrm>
            <a:off x="1132047" y="2138939"/>
            <a:ext cx="990124" cy="1001078"/>
          </a:xfrm>
          <a:prstGeom prst="ellipse">
            <a:avLst/>
          </a:prstGeom>
          <a:gradFill flip="none" rotWithShape="1">
            <a:gsLst>
              <a:gs pos="0">
                <a:srgbClr val="D1DCF2">
                  <a:alpha val="84000"/>
                </a:srgbClr>
              </a:gs>
              <a:gs pos="2000">
                <a:srgbClr val="D1DCF2">
                  <a:alpha val="84000"/>
                </a:srgbClr>
              </a:gs>
              <a:gs pos="55000">
                <a:srgbClr val="4874CB">
                  <a:alpha val="69000"/>
                </a:srgbClr>
              </a:gs>
              <a:gs pos="100000">
                <a:srgbClr val="345FB6"/>
              </a:gs>
            </a:gsLst>
            <a:path path="circle">
              <a:fillToRect r="100000" b="100000"/>
            </a:path>
            <a:tileRect l="-100000" t="-100000"/>
          </a:gradFill>
          <a:ln/>
          <a:effectLst>
            <a:outerShdw blurRad="304800" dist="184847" dir="2700000" algn="bl" rotWithShape="0">
              <a:srgbClr val="2E54A1">
                <a:alpha val="23922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2"/>
          <p:cNvSpPr/>
          <p:nvPr/>
        </p:nvSpPr>
        <p:spPr>
          <a:xfrm>
            <a:off x="1128237" y="2264093"/>
            <a:ext cx="990124" cy="744855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ctr"/>
          <a:lstStyle/>
          <a:p>
            <a:pPr algn="ctr">
              <a:lnSpc>
                <a:spcPct val="100000"/>
              </a:lnSpc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1200" dirty="0"/>
          </a:p>
        </p:txBody>
      </p:sp>
      <p:sp>
        <p:nvSpPr>
          <p:cNvPr id="8" name="Text 4"/>
          <p:cNvSpPr/>
          <p:nvPr/>
        </p:nvSpPr>
        <p:spPr>
          <a:xfrm>
            <a:off x="2478883" y="2148147"/>
            <a:ext cx="6544973" cy="860801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t"/>
          <a:lstStyle/>
          <a:p>
            <a:pPr>
              <a:lnSpc>
                <a:spcPct val="150000"/>
              </a:lnSpc>
            </a:pPr>
            <a:r>
              <a:rPr lang="en-US" sz="3300" b="1" dirty="0">
                <a:solidFill>
                  <a:srgbClr val="000000"/>
                </a:solidFill>
                <a:latin typeface="Arial Black" pitchFamily="34" charset="0"/>
              </a:rPr>
              <a:t>PROJECT PROGRESS</a:t>
            </a:r>
            <a:endParaRPr lang="en-US" sz="1200" dirty="0"/>
          </a:p>
        </p:txBody>
      </p:sp>
      <p:sp>
        <p:nvSpPr>
          <p:cNvPr id="10" name="Shape 5"/>
          <p:cNvSpPr/>
          <p:nvPr/>
        </p:nvSpPr>
        <p:spPr>
          <a:xfrm rot="7680000">
            <a:off x="6853237" y="4416266"/>
            <a:ext cx="322898" cy="322898"/>
          </a:xfrm>
          <a:prstGeom prst="ellipse">
            <a:avLst/>
          </a:prstGeom>
          <a:gradFill flip="none" rotWithShape="1">
            <a:gsLst>
              <a:gs pos="0">
                <a:srgbClr val="D1DCF2">
                  <a:alpha val="14000"/>
                </a:srgbClr>
              </a:gs>
              <a:gs pos="22000">
                <a:srgbClr val="6389D3">
                  <a:alpha val="48000"/>
                </a:srgbClr>
              </a:gs>
              <a:gs pos="45000">
                <a:srgbClr val="6389D3">
                  <a:alpha val="83000"/>
                </a:srgbClr>
              </a:gs>
              <a:gs pos="66000">
                <a:srgbClr val="6389D3">
                  <a:alpha val="87000"/>
                </a:srgbClr>
              </a:gs>
              <a:gs pos="100000">
                <a:srgbClr val="6389D3">
                  <a:alpha val="87000"/>
                </a:srgbClr>
              </a:gs>
            </a:gsLst>
            <a:lin ang="5400000" scaled="1"/>
          </a:gra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6"/>
          <p:cNvSpPr/>
          <p:nvPr/>
        </p:nvSpPr>
        <p:spPr>
          <a:xfrm rot="4020000">
            <a:off x="7080409" y="664846"/>
            <a:ext cx="164306" cy="164306"/>
          </a:xfrm>
          <a:prstGeom prst="ellipse">
            <a:avLst/>
          </a:prstGeom>
          <a:gradFill flip="none" rotWithShape="1">
            <a:gsLst>
              <a:gs pos="0">
                <a:srgbClr val="D1DCF2">
                  <a:alpha val="14000"/>
                </a:srgbClr>
              </a:gs>
              <a:gs pos="22000">
                <a:srgbClr val="6389D3">
                  <a:alpha val="42000"/>
                </a:srgbClr>
              </a:gs>
              <a:gs pos="45000">
                <a:srgbClr val="6389D3">
                  <a:alpha val="68000"/>
                </a:srgbClr>
              </a:gs>
              <a:gs pos="66000">
                <a:srgbClr val="6389D3">
                  <a:alpha val="76000"/>
                </a:srgbClr>
              </a:gs>
              <a:gs pos="100000">
                <a:srgbClr val="6389D3">
                  <a:alpha val="76000"/>
                </a:srgbClr>
              </a:gs>
            </a:gsLst>
            <a:lin ang="5400000" scaled="1"/>
          </a:gra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Rectangle 11"/>
          <p:cNvSpPr/>
          <p:nvPr/>
        </p:nvSpPr>
        <p:spPr>
          <a:xfrm>
            <a:off x="8321040" y="4701540"/>
            <a:ext cx="822960" cy="44196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100" b="1" dirty="0">
                <a:solidFill>
                  <a:schemeClr val="tx1"/>
                </a:solidFill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1800128329"/>
      </p:ext>
    </p:extLst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EAA96A-DC9D-BA03-D0E2-42AC02D1C4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F6953FDA-4F2B-A0E9-FE45-DED26DA4BCBD}"/>
              </a:ext>
            </a:extLst>
          </p:cNvPr>
          <p:cNvSpPr txBox="1"/>
          <p:nvPr/>
        </p:nvSpPr>
        <p:spPr>
          <a:xfrm>
            <a:off x="502920" y="1079170"/>
            <a:ext cx="82296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>
                <a:solidFill>
                  <a:schemeClr val="accent1">
                    <a:lumMod val="50000"/>
                  </a:schemeClr>
                </a:solidFill>
              </a:rPr>
              <a:t>✔</a:t>
            </a:r>
            <a:r>
              <a:rPr sz="1400" b="1" i="0" dirty="0"/>
              <a:t>  Field data collected — all 5 scenarios, Septentrio MOSAIC-X5C receiver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943DC02-4451-E9F3-258E-E9189BCA5C32}"/>
              </a:ext>
            </a:extLst>
          </p:cNvPr>
          <p:cNvSpPr txBox="1"/>
          <p:nvPr/>
        </p:nvSpPr>
        <p:spPr>
          <a:xfrm>
            <a:off x="502920" y="1573637"/>
            <a:ext cx="82296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>
                <a:solidFill>
                  <a:srgbClr val="002060"/>
                </a:solidFill>
              </a:rPr>
              <a:t>✔</a:t>
            </a:r>
            <a:r>
              <a:rPr sz="1400" b="1" i="0" dirty="0"/>
              <a:t>  Public datasets downloaded — NCLT (2 dates), Oxford (4 traversals), </a:t>
            </a:r>
            <a:r>
              <a:rPr sz="1400" b="1" i="0" dirty="0" err="1"/>
              <a:t>UrbanNav</a:t>
            </a:r>
            <a:r>
              <a:rPr sz="1400" b="1" i="0" dirty="0"/>
              <a:t> HK</a:t>
            </a:r>
            <a:r>
              <a:rPr lang="en-US" sz="1400" b="1" i="0" dirty="0"/>
              <a:t> and </a:t>
            </a:r>
            <a:r>
              <a:rPr sz="1400" b="1" i="0" dirty="0"/>
              <a:t>Tokyo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1529F75-2450-4F75-55C2-2E3EE1C44557}"/>
              </a:ext>
            </a:extLst>
          </p:cNvPr>
          <p:cNvSpPr txBox="1"/>
          <p:nvPr/>
        </p:nvSpPr>
        <p:spPr>
          <a:xfrm>
            <a:off x="457200" y="2060013"/>
            <a:ext cx="82296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>
                <a:solidFill>
                  <a:srgbClr val="002060"/>
                </a:solidFill>
              </a:rPr>
              <a:t>✔</a:t>
            </a:r>
            <a:r>
              <a:rPr sz="1400" b="1" i="0" dirty="0"/>
              <a:t>  Full processing pipeline implemented and validated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88F1D20-6D1F-A1D6-5F7F-2EE4A18C7226}"/>
              </a:ext>
            </a:extLst>
          </p:cNvPr>
          <p:cNvSpPr txBox="1"/>
          <p:nvPr/>
        </p:nvSpPr>
        <p:spPr>
          <a:xfrm>
            <a:off x="457200" y="2574690"/>
            <a:ext cx="82296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/>
              <a:t>✔  Signal quality analysis charts generated for every run</a:t>
            </a:r>
          </a:p>
        </p:txBody>
      </p:sp>
      <p:sp>
        <p:nvSpPr>
          <p:cNvPr id="16" name="Shape 0">
            <a:extLst>
              <a:ext uri="{FF2B5EF4-FFF2-40B4-BE49-F238E27FC236}">
                <a16:creationId xmlns:a16="http://schemas.microsoft.com/office/drawing/2014/main" id="{65D97442-EDE0-8DDA-AD8C-A069FE6616E4}"/>
              </a:ext>
            </a:extLst>
          </p:cNvPr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">
            <a:extLst>
              <a:ext uri="{FF2B5EF4-FFF2-40B4-BE49-F238E27FC236}">
                <a16:creationId xmlns:a16="http://schemas.microsoft.com/office/drawing/2014/main" id="{8B8F2B29-FABC-A5DB-1418-23E677A9E40B}"/>
              </a:ext>
            </a:extLst>
          </p:cNvPr>
          <p:cNvSpPr/>
          <p:nvPr/>
        </p:nvSpPr>
        <p:spPr>
          <a:xfrm>
            <a:off x="457200" y="0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PROGRESS</a:t>
            </a:r>
            <a:endParaRPr lang="en-US" sz="22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DF6FCE6-5A5D-DAA6-1C16-E555A4F9F7D2}"/>
              </a:ext>
            </a:extLst>
          </p:cNvPr>
          <p:cNvSpPr/>
          <p:nvPr/>
        </p:nvSpPr>
        <p:spPr>
          <a:xfrm>
            <a:off x="8321040" y="4701540"/>
            <a:ext cx="822960" cy="44196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100" b="1" dirty="0">
                <a:solidFill>
                  <a:schemeClr val="tx1"/>
                </a:solidFill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30185443"/>
      </p:ext>
    </p:extLst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Sources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4965192"/>
            <a:ext cx="8229600" cy="27432"/>
          </a:xfrm>
          <a:prstGeom prst="rect">
            <a:avLst/>
          </a:prstGeom>
          <a:solidFill>
            <a:srgbClr val="AED6F1"/>
          </a:solidFill>
          <a:ln w="12700">
            <a:solidFill>
              <a:srgbClr val="AED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6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complementary data platforms — supervisor-provided and self-collected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2651760" cy="3246120"/>
          </a:xfrm>
          <a:prstGeom prst="rect">
            <a:avLst/>
          </a:prstGeom>
          <a:solidFill>
            <a:srgbClr val="D6EAF8"/>
          </a:solidFill>
          <a:ln w="12700">
            <a:solidFill>
              <a:srgbClr val="AED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2651760" cy="457200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57200" y="11887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 Vehicle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10606" y="1747698"/>
            <a:ext cx="248862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6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Urban / Suburban  ·  0–80 km/h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66928" y="2003730"/>
            <a:ext cx="2432304" cy="147099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200000"/>
              </a:lnSpc>
              <a:buSzPct val="100000"/>
              <a:buChar char="•"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ROSBAG format</a:t>
            </a:r>
            <a:endParaRPr lang="en-US" sz="1100" dirty="0"/>
          </a:p>
          <a:p>
            <a:pPr marL="342900" indent="-342900">
              <a:lnSpc>
                <a:spcPct val="200000"/>
              </a:lnSpc>
              <a:buSzPct val="100000"/>
              <a:buChar char="•"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Multipath from buildings</a:t>
            </a:r>
            <a:endParaRPr lang="en-US" sz="1100" dirty="0"/>
          </a:p>
          <a:p>
            <a:pPr marL="342900" indent="-342900">
              <a:lnSpc>
                <a:spcPct val="200000"/>
              </a:lnSpc>
              <a:buSzPct val="100000"/>
              <a:buChar char="•"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Tunnel &amp; underpass blockage</a:t>
            </a:r>
            <a:endParaRPr lang="en-US" sz="1100" dirty="0"/>
          </a:p>
          <a:p>
            <a:pPr marL="342900" indent="-342900">
              <a:lnSpc>
                <a:spcPct val="200000"/>
              </a:lnSpc>
              <a:buSzPct val="100000"/>
              <a:buChar char="•"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AV context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66928" y="4114800"/>
            <a:ext cx="2432304" cy="256032"/>
          </a:xfrm>
          <a:prstGeom prst="rect">
            <a:avLst/>
          </a:prstGeom>
          <a:solidFill>
            <a:srgbClr val="D5F5E3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66928" y="4114800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Data acquired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291840" y="1188720"/>
            <a:ext cx="2651760" cy="3246120"/>
          </a:xfrm>
          <a:prstGeom prst="rect">
            <a:avLst/>
          </a:prstGeom>
          <a:solidFill>
            <a:srgbClr val="D6EAF8"/>
          </a:solidFill>
          <a:ln w="12700">
            <a:solidFill>
              <a:srgbClr val="AED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3291840" y="1188720"/>
            <a:ext cx="2651760" cy="457200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3291840" y="11887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Drone / UAV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401568" y="1747698"/>
            <a:ext cx="243230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6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Aerial  ·  0–20 m/s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401568" y="1977555"/>
            <a:ext cx="2432304" cy="1447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200000"/>
              </a:lnSpc>
              <a:buSzPct val="100000"/>
              <a:buChar char="•"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ROSBAG / RINEX</a:t>
            </a:r>
            <a:endParaRPr lang="en-US" sz="1100" dirty="0"/>
          </a:p>
          <a:p>
            <a:pPr marL="342900" indent="-342900">
              <a:lnSpc>
                <a:spcPct val="200000"/>
              </a:lnSpc>
              <a:buSzPct val="100000"/>
              <a:buChar char="•"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Open-sky clean baseline</a:t>
            </a:r>
            <a:endParaRPr lang="en-US" sz="1100" dirty="0"/>
          </a:p>
          <a:p>
            <a:pPr marL="342900" indent="-342900">
              <a:lnSpc>
                <a:spcPct val="200000"/>
              </a:lnSpc>
              <a:buSzPct val="100000"/>
              <a:buChar char="•"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Healthy signal reference</a:t>
            </a:r>
            <a:endParaRPr lang="en-US" sz="1100" dirty="0"/>
          </a:p>
          <a:p>
            <a:pPr marL="342900" indent="-342900">
              <a:lnSpc>
                <a:spcPct val="200000"/>
              </a:lnSpc>
              <a:buSzPct val="100000"/>
              <a:buChar char="•"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Processed via RTKLIB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401568" y="4114800"/>
            <a:ext cx="2432304" cy="256032"/>
          </a:xfrm>
          <a:prstGeom prst="rect">
            <a:avLst/>
          </a:prstGeom>
          <a:solidFill>
            <a:srgbClr val="D5F5E3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3401568" y="4114800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Data acquired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126480" y="1202436"/>
            <a:ext cx="2651760" cy="3246120"/>
          </a:xfrm>
          <a:prstGeom prst="rect">
            <a:avLst/>
          </a:prstGeom>
          <a:solidFill>
            <a:srgbClr val="D6EAF8"/>
          </a:solidFill>
          <a:ln w="12700">
            <a:solidFill>
              <a:srgbClr val="AED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6126480" y="1188720"/>
            <a:ext cx="2651760" cy="457200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6126480" y="11887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Septentrio MOSAIC-X5C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236208" y="1753264"/>
            <a:ext cx="243230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6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Pedestrian  ·  Campus routes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236208" y="1977555"/>
            <a:ext cx="2432304" cy="14047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200000"/>
              </a:lnSpc>
              <a:buSzPct val="100000"/>
              <a:buChar char="•"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5 scenarios collected</a:t>
            </a:r>
            <a:endParaRPr lang="en-US" sz="1100" dirty="0"/>
          </a:p>
          <a:p>
            <a:pPr marL="342900" indent="-342900">
              <a:lnSpc>
                <a:spcPct val="200000"/>
              </a:lnSpc>
              <a:buSzPct val="100000"/>
              <a:buChar char="•"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Controlled degradation events</a:t>
            </a:r>
            <a:endParaRPr lang="en-US" sz="1100" dirty="0"/>
          </a:p>
          <a:p>
            <a:pPr marL="342900" indent="-342900">
              <a:lnSpc>
                <a:spcPct val="200000"/>
              </a:lnSpc>
              <a:buSzPct val="100000"/>
              <a:buChar char="•"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repeatable routes</a:t>
            </a:r>
            <a:endParaRPr lang="en-US" sz="1100" dirty="0"/>
          </a:p>
          <a:p>
            <a:pPr marL="342900" indent="-342900">
              <a:lnSpc>
                <a:spcPct val="200000"/>
              </a:lnSpc>
              <a:buSzPct val="100000"/>
              <a:buChar char="•"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RINEX output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36208" y="4114800"/>
            <a:ext cx="2432304" cy="2560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6236208" y="4114800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Collected (May 2026)</a:t>
            </a:r>
            <a:endParaRPr lang="en-US" sz="1000" dirty="0">
              <a:solidFill>
                <a:srgbClr val="FF0000"/>
              </a:solidFill>
            </a:endParaRPr>
          </a:p>
        </p:txBody>
      </p:sp>
      <p:sp>
        <p:nvSpPr>
          <p:cNvPr id="31" name="Text 29"/>
          <p:cNvSpPr/>
          <p:nvPr/>
        </p:nvSpPr>
        <p:spPr>
          <a:xfrm>
            <a:off x="438912" y="455371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6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Validation Datasets: UrbanNav (Hong Kong) ✔  ·  KAIST Urban (Korea) — awaiting delivery  ·  Oxford RobotCar ✔  ·  NCLT Michigan ✔</a:t>
            </a:r>
            <a:endParaRPr lang="en-US" sz="100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18C3520-599B-0264-9155-0996C585894C}"/>
              </a:ext>
            </a:extLst>
          </p:cNvPr>
          <p:cNvSpPr/>
          <p:nvPr/>
        </p:nvSpPr>
        <p:spPr>
          <a:xfrm>
            <a:off x="8321040" y="4701540"/>
            <a:ext cx="822960" cy="44196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100" b="1" dirty="0">
                <a:solidFill>
                  <a:schemeClr val="tx1"/>
                </a:solidFill>
              </a:rPr>
              <a:t>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A788E6-EEB4-AEE3-6405-C342D46797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54BDE42-35EC-AB19-86AE-0F1E646E56BE}"/>
              </a:ext>
            </a:extLst>
          </p:cNvPr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200F6773-9D8D-24A6-77AE-C59891D57618}"/>
              </a:ext>
            </a:extLst>
          </p:cNvPr>
          <p:cNvSpPr/>
          <p:nvPr/>
        </p:nvSpPr>
        <p:spPr>
          <a:xfrm>
            <a:off x="457200" y="0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Collection Process (Software)</a:t>
            </a:r>
            <a:endParaRPr lang="en-US" sz="22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18D22E51-0DD1-1BB7-B3B3-56F2DF7599D1}"/>
              </a:ext>
            </a:extLst>
          </p:cNvPr>
          <p:cNvSpPr/>
          <p:nvPr/>
        </p:nvSpPr>
        <p:spPr>
          <a:xfrm>
            <a:off x="0" y="0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endParaRPr lang="en-US" sz="10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F3330CA-DD02-FBFD-1993-8C5CEDB98B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26858" y="798343"/>
            <a:ext cx="3084197" cy="383461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3F0919C-DA7B-D3FC-16E6-18120C8CD8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63644" y="798344"/>
            <a:ext cx="2488295" cy="383461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C47474A-1056-1208-1DC8-6E5D2341927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01" y="798343"/>
            <a:ext cx="3228168" cy="3834616"/>
          </a:xfrm>
          <a:prstGeom prst="rect">
            <a:avLst/>
          </a:prstGeom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2B6A3B2F-007A-54D6-29B4-6763613E6327}"/>
              </a:ext>
            </a:extLst>
          </p:cNvPr>
          <p:cNvSpPr/>
          <p:nvPr/>
        </p:nvSpPr>
        <p:spPr>
          <a:xfrm>
            <a:off x="676102" y="4698119"/>
            <a:ext cx="1609898" cy="30960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RxControl</a:t>
            </a:r>
            <a:endParaRPr lang="en-US" b="1" dirty="0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9377BE00-2591-97A6-239F-85A9B0C90F2A}"/>
              </a:ext>
            </a:extLst>
          </p:cNvPr>
          <p:cNvSpPr/>
          <p:nvPr/>
        </p:nvSpPr>
        <p:spPr>
          <a:xfrm>
            <a:off x="6523466" y="4678959"/>
            <a:ext cx="1897104" cy="30960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SBF Converter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A158D79A-521B-A4A6-6006-BE8E8F6A4165}"/>
              </a:ext>
            </a:extLst>
          </p:cNvPr>
          <p:cNvSpPr/>
          <p:nvPr/>
        </p:nvSpPr>
        <p:spPr>
          <a:xfrm>
            <a:off x="3971476" y="4698119"/>
            <a:ext cx="1667324" cy="30960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RXLogger</a:t>
            </a:r>
            <a:endParaRPr lang="en-US" b="1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A6CB0E4-2C6A-EAF7-BD00-C5C063F47FED}"/>
              </a:ext>
            </a:extLst>
          </p:cNvPr>
          <p:cNvSpPr/>
          <p:nvPr/>
        </p:nvSpPr>
        <p:spPr>
          <a:xfrm>
            <a:off x="8588522" y="4772936"/>
            <a:ext cx="555477" cy="3705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100" b="1" dirty="0">
                <a:solidFill>
                  <a:schemeClr val="tx1"/>
                </a:solidFill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94924507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A788E6-EEB4-AEE3-6405-C342D46797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54BDE42-35EC-AB19-86AE-0F1E646E56BE}"/>
              </a:ext>
            </a:extLst>
          </p:cNvPr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200F6773-9D8D-24A6-77AE-C59891D57618}"/>
              </a:ext>
            </a:extLst>
          </p:cNvPr>
          <p:cNvSpPr/>
          <p:nvPr/>
        </p:nvSpPr>
        <p:spPr>
          <a:xfrm>
            <a:off x="457200" y="0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Collection Process (Hardware)</a:t>
            </a:r>
            <a:endParaRPr lang="en-US" sz="22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18D22E51-0DD1-1BB7-B3B3-56F2DF7599D1}"/>
              </a:ext>
            </a:extLst>
          </p:cNvPr>
          <p:cNvSpPr/>
          <p:nvPr/>
        </p:nvSpPr>
        <p:spPr>
          <a:xfrm>
            <a:off x="0" y="0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endParaRPr lang="en-US" sz="10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4334015-8E54-3EAE-E0EB-1D080D0C14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787448"/>
            <a:ext cx="3886359" cy="416809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082F83A-B9C5-6A83-F66A-5DB1CF70EE3F}"/>
              </a:ext>
            </a:extLst>
          </p:cNvPr>
          <p:cNvSpPr txBox="1"/>
          <p:nvPr/>
        </p:nvSpPr>
        <p:spPr>
          <a:xfrm>
            <a:off x="255851" y="895600"/>
            <a:ext cx="4231640" cy="5386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dirty="0"/>
              <a:t>Septentrio GNSS Receiver.</a:t>
            </a:r>
          </a:p>
          <a:p>
            <a:r>
              <a:rPr lang="en-US" sz="1100" dirty="0"/>
              <a:t>Receives and processes satellite signals from GNSS constellations.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0653E67-3B9D-C592-F886-FE216E7AF453}"/>
              </a:ext>
            </a:extLst>
          </p:cNvPr>
          <p:cNvSpPr txBox="1"/>
          <p:nvPr/>
        </p:nvSpPr>
        <p:spPr>
          <a:xfrm>
            <a:off x="255851" y="1586609"/>
            <a:ext cx="4231640" cy="5386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2. GNSS Module Evaluation Kit.</a:t>
            </a:r>
          </a:p>
          <a:p>
            <a:r>
              <a:rPr lang="en-US" sz="1100" dirty="0"/>
              <a:t>Serves as the interface between the GNSS hardware and the laptop. 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51FBBAF-2521-8A83-AD5C-223B7C077437}"/>
              </a:ext>
            </a:extLst>
          </p:cNvPr>
          <p:cNvSpPr txBox="1"/>
          <p:nvPr/>
        </p:nvSpPr>
        <p:spPr>
          <a:xfrm>
            <a:off x="255851" y="2212286"/>
            <a:ext cx="4114800" cy="8771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3. Laptop.</a:t>
            </a:r>
          </a:p>
          <a:p>
            <a:r>
              <a:rPr lang="en-US" sz="1100" dirty="0"/>
              <a:t>Used to configure the receiver, </a:t>
            </a:r>
          </a:p>
          <a:p>
            <a:r>
              <a:rPr lang="en-US" sz="1100" dirty="0"/>
              <a:t>monitor data collection, record GNSS observations, and store the collected data for later processing and analysis.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9139396-05D8-7213-BD1A-D2E7EA8EF245}"/>
              </a:ext>
            </a:extLst>
          </p:cNvPr>
          <p:cNvSpPr txBox="1"/>
          <p:nvPr/>
        </p:nvSpPr>
        <p:spPr>
          <a:xfrm>
            <a:off x="239686" y="3163882"/>
            <a:ext cx="423164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4. Cart.</a:t>
            </a:r>
          </a:p>
          <a:p>
            <a:r>
              <a:rPr lang="en-US" sz="1100" dirty="0"/>
              <a:t>Provides a mobile platform for carrying the GNSS equipment during field data collection.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811BBB9-F4EA-C39D-8BA8-C03E6116BEC7}"/>
              </a:ext>
            </a:extLst>
          </p:cNvPr>
          <p:cNvSpPr txBox="1"/>
          <p:nvPr/>
        </p:nvSpPr>
        <p:spPr>
          <a:xfrm>
            <a:off x="255851" y="3946201"/>
            <a:ext cx="423164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5.USB 3.0 Cord.</a:t>
            </a:r>
          </a:p>
          <a:p>
            <a:r>
              <a:rPr lang="en-US" sz="1100" dirty="0"/>
              <a:t>Provides connection between the evaluation kit and laptop for data transfer.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4982DCB-2533-2657-F53F-8E9444F1E3A7}"/>
              </a:ext>
            </a:extLst>
          </p:cNvPr>
          <p:cNvSpPr/>
          <p:nvPr/>
        </p:nvSpPr>
        <p:spPr>
          <a:xfrm>
            <a:off x="8458358" y="4785644"/>
            <a:ext cx="685641" cy="35785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100" b="1" dirty="0">
                <a:solidFill>
                  <a:schemeClr val="tx1"/>
                </a:solidFill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640854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A788E6-EEB4-AEE3-6405-C342D46797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54BDE42-35EC-AB19-86AE-0F1E646E56BE}"/>
              </a:ext>
            </a:extLst>
          </p:cNvPr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200F6773-9D8D-24A6-77AE-C59891D57618}"/>
              </a:ext>
            </a:extLst>
          </p:cNvPr>
          <p:cNvSpPr/>
          <p:nvPr/>
        </p:nvSpPr>
        <p:spPr>
          <a:xfrm>
            <a:off x="457200" y="0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Collection — 5 Controlled Scenarios</a:t>
            </a:r>
            <a:endParaRPr lang="en-US" sz="22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18D22E51-0DD1-1BB7-B3B3-56F2DF7599D1}"/>
              </a:ext>
            </a:extLst>
          </p:cNvPr>
          <p:cNvSpPr/>
          <p:nvPr/>
        </p:nvSpPr>
        <p:spPr>
          <a:xfrm>
            <a:off x="0" y="0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endParaRPr lang="en-US" sz="1000" dirty="0"/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B5DADA93-8C5C-C73D-A265-EB1C90BEB6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0358" y="788062"/>
            <a:ext cx="6629400" cy="4198068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5C00420C-74C3-2592-97CF-FEE344E8BAE4}"/>
              </a:ext>
            </a:extLst>
          </p:cNvPr>
          <p:cNvSpPr/>
          <p:nvPr/>
        </p:nvSpPr>
        <p:spPr>
          <a:xfrm>
            <a:off x="8321040" y="4701540"/>
            <a:ext cx="822960" cy="44196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100" b="1" dirty="0">
                <a:solidFill>
                  <a:schemeClr val="tx1"/>
                </a:solidFill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169826184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0"/>
          <p:cNvSpPr/>
          <p:nvPr/>
        </p:nvSpPr>
        <p:spPr>
          <a:xfrm>
            <a:off x="0" y="2286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0" y="749808"/>
            <a:ext cx="8595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 dirty="0">
                <a:solidFill>
                  <a:srgbClr val="556575"/>
                </a:solidFill>
              </a:rPr>
              <a:t>Derived from RINEX 3 SNR indicators · all 4 constellations · 1 Hz · Septentrio MOSAIC-X5C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" y="1005840"/>
            <a:ext cx="292608" cy="548640"/>
          </a:xfrm>
          <a:prstGeom prst="rect">
            <a:avLst/>
          </a:prstGeom>
          <a:solidFill>
            <a:srgbClr val="00C8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94360" y="103327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1B2A"/>
                </a:solidFill>
              </a:rPr>
              <a:t>D — Open Sky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28016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56575"/>
                </a:solidFill>
              </a:rPr>
              <a:t>41.2 dB-Hz mean  ·  0.5% epochs below 25 dB-Hz  ·  ~39 obs/epoch (most satellites of any scenario)</a:t>
            </a:r>
          </a:p>
        </p:txBody>
      </p:sp>
      <p:sp>
        <p:nvSpPr>
          <p:cNvPr id="9" name="Rectangle 8"/>
          <p:cNvSpPr/>
          <p:nvPr/>
        </p:nvSpPr>
        <p:spPr>
          <a:xfrm>
            <a:off x="228600" y="1773936"/>
            <a:ext cx="292608" cy="548640"/>
          </a:xfrm>
          <a:prstGeom prst="rect">
            <a:avLst/>
          </a:prstGeom>
          <a:solidFill>
            <a:srgbClr val="008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94360" y="1801368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1B2A"/>
                </a:solidFill>
              </a:rPr>
              <a:t>C — Partial Blockage (Trees)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048256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56575"/>
                </a:solidFill>
              </a:rPr>
              <a:t>38.6 dB-Hz mean  ·  0.6% epochs degraded  ·  Gradual C/N₀ fluctuations consistent with foliage attenuation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8600" y="2542032"/>
            <a:ext cx="292608" cy="548640"/>
          </a:xfrm>
          <a:prstGeom prst="rect">
            <a:avLst/>
          </a:prstGeom>
          <a:solidFill>
            <a:srgbClr val="FF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94360" y="2569464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1B2A"/>
                </a:solidFill>
              </a:rPr>
              <a:t>B — Urban Canyon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2816352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56575"/>
                </a:solidFill>
              </a:rPr>
              <a:t>37.2 dB-Hz mean  ·  3.0% epochs below threshold  ·  Periodic sharp dips from building reflections visible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8600" y="3310128"/>
            <a:ext cx="292608" cy="548640"/>
          </a:xfrm>
          <a:prstGeom prst="rect">
            <a:avLst/>
          </a:prstGeom>
          <a:solidFill>
            <a:srgbClr val="FF7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94360" y="333756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1B2A"/>
                </a:solidFill>
              </a:rPr>
              <a:t>E — Approaching Blockage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3584448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56575"/>
                </a:solidFill>
              </a:rPr>
              <a:t>38.6 dB-Hz mean  ·  5.9% degraded  ·  Gradual deterioration pattern clearly identifiable for prediction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8600" y="4078224"/>
            <a:ext cx="292608" cy="548640"/>
          </a:xfrm>
          <a:prstGeom prst="rect">
            <a:avLst/>
          </a:prstGeom>
          <a:solidFill>
            <a:srgbClr val="E02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94360" y="4105656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1B2A"/>
                </a:solidFill>
              </a:rPr>
              <a:t>A — Instant Blockage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4352544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56575"/>
                </a:solidFill>
              </a:rPr>
              <a:t>Sharp satellite dropout in first 15 s  ·  Count collapses 24 → 0–2 sats  ·  C/N₀ falls below 25 dB-Hz immediately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28600" y="4736592"/>
            <a:ext cx="8686800" cy="6000"/>
          </a:xfrm>
          <a:prstGeom prst="rect">
            <a:avLst/>
          </a:prstGeom>
          <a:solidFill>
            <a:srgbClr val="00A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20040" y="4709160"/>
            <a:ext cx="8503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0D1B2A"/>
                </a:solidFill>
              </a:rPr>
              <a:t>Key insight: Scenario A shows clear distinct signature; D and A are near-perfectly separable. B/C/E have partial overlaps — exactly the challenge the Transformer-LSTM must solve.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15F4650A-D740-8073-C045-651B37CCE8F2}"/>
              </a:ext>
            </a:extLst>
          </p:cNvPr>
          <p:cNvSpPr/>
          <p:nvPr/>
        </p:nvSpPr>
        <p:spPr>
          <a:xfrm>
            <a:off x="8374879" y="4992624"/>
            <a:ext cx="769121" cy="34747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100" b="1" dirty="0">
                <a:solidFill>
                  <a:schemeClr val="tx1"/>
                </a:solidFill>
              </a:rPr>
              <a:t>13</a:t>
            </a:r>
          </a:p>
        </p:txBody>
      </p:sp>
      <p:sp>
        <p:nvSpPr>
          <p:cNvPr id="26" name="Shape 0">
            <a:extLst>
              <a:ext uri="{FF2B5EF4-FFF2-40B4-BE49-F238E27FC236}">
                <a16:creationId xmlns:a16="http://schemas.microsoft.com/office/drawing/2014/main" id="{39C9D68A-6BA1-0DB6-3925-E056FDEB3370}"/>
              </a:ext>
            </a:extLst>
          </p:cNvPr>
          <p:cNvSpPr/>
          <p:nvPr/>
        </p:nvSpPr>
        <p:spPr>
          <a:xfrm>
            <a:off x="0" y="-8080"/>
            <a:ext cx="9144000" cy="658368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73152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 dirty="0">
                <a:solidFill>
                  <a:srgbClr val="FFFFFF"/>
                </a:solidFill>
              </a:rPr>
              <a:t>Signal Quality Analysis — Key Findings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Picture 32">
            <a:extLst>
              <a:ext uri="{FF2B5EF4-FFF2-40B4-BE49-F238E27FC236}">
                <a16:creationId xmlns:a16="http://schemas.microsoft.com/office/drawing/2014/main" id="{111EA080-5F89-B34B-5A52-DCF36586BD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8837" y="2597130"/>
            <a:ext cx="5230933" cy="2245724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3DBC2D3D-E7DE-B46E-F5E7-30DE9808EB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5706" y="463557"/>
            <a:ext cx="4615063" cy="1971843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5306E547-A408-D7C6-71DD-FB5484EB01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52109" y="396018"/>
            <a:ext cx="4591891" cy="204852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71CD758C-DCA4-9159-4F01-EC3C8F1DD525}"/>
              </a:ext>
            </a:extLst>
          </p:cNvPr>
          <p:cNvSpPr/>
          <p:nvPr/>
        </p:nvSpPr>
        <p:spPr>
          <a:xfrm>
            <a:off x="1356260" y="2595124"/>
            <a:ext cx="3044823" cy="282011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D330A7D-2E75-9A63-9108-DA65A4F879A3}"/>
              </a:ext>
            </a:extLst>
          </p:cNvPr>
          <p:cNvSpPr/>
          <p:nvPr/>
        </p:nvSpPr>
        <p:spPr>
          <a:xfrm>
            <a:off x="5324031" y="2620494"/>
            <a:ext cx="2921132" cy="282011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581DAD8-D10A-3D18-7E3E-9A05983954D3}"/>
              </a:ext>
            </a:extLst>
          </p:cNvPr>
          <p:cNvSpPr/>
          <p:nvPr/>
        </p:nvSpPr>
        <p:spPr>
          <a:xfrm>
            <a:off x="2004993" y="4833073"/>
            <a:ext cx="3805871" cy="282011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49BDDC50-819A-726F-3522-18A5581AADD7}"/>
              </a:ext>
            </a:extLst>
          </p:cNvPr>
          <p:cNvCxnSpPr>
            <a:cxnSpLocks/>
          </p:cNvCxnSpPr>
          <p:nvPr/>
        </p:nvCxnSpPr>
        <p:spPr>
          <a:xfrm>
            <a:off x="4560812" y="695254"/>
            <a:ext cx="0" cy="225360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EE18D1E0-A6DD-7C0F-D2BD-73D40F88FEE7}"/>
              </a:ext>
            </a:extLst>
          </p:cNvPr>
          <p:cNvSpPr txBox="1"/>
          <p:nvPr/>
        </p:nvSpPr>
        <p:spPr>
          <a:xfrm>
            <a:off x="1402839" y="2554400"/>
            <a:ext cx="33058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Scenario A – Instant Blockage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5E99913-AD74-B369-BCB2-9E818686AF33}"/>
              </a:ext>
            </a:extLst>
          </p:cNvPr>
          <p:cNvSpPr txBox="1"/>
          <p:nvPr/>
        </p:nvSpPr>
        <p:spPr>
          <a:xfrm>
            <a:off x="2113217" y="4789412"/>
            <a:ext cx="3805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Scenario C – Partial Blockage (Tree)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EBF32EB-7E6D-E6FC-92CD-B3B138FC4796}"/>
              </a:ext>
            </a:extLst>
          </p:cNvPr>
          <p:cNvSpPr txBox="1"/>
          <p:nvPr/>
        </p:nvSpPr>
        <p:spPr>
          <a:xfrm>
            <a:off x="5385071" y="2597130"/>
            <a:ext cx="33058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Scenario B – Urban Canyon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7B498B7C-AED0-DAA0-9298-7887FF46369C}"/>
              </a:ext>
            </a:extLst>
          </p:cNvPr>
          <p:cNvCxnSpPr>
            <a:cxnSpLocks/>
          </p:cNvCxnSpPr>
          <p:nvPr/>
        </p:nvCxnSpPr>
        <p:spPr>
          <a:xfrm>
            <a:off x="-45706" y="2919597"/>
            <a:ext cx="9189706" cy="46865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ectangle 25">
            <a:extLst>
              <a:ext uri="{FF2B5EF4-FFF2-40B4-BE49-F238E27FC236}">
                <a16:creationId xmlns:a16="http://schemas.microsoft.com/office/drawing/2014/main" id="{6DBEB0DC-A96D-7912-0953-CBDCD1EF2FB6}"/>
              </a:ext>
            </a:extLst>
          </p:cNvPr>
          <p:cNvSpPr/>
          <p:nvPr/>
        </p:nvSpPr>
        <p:spPr>
          <a:xfrm>
            <a:off x="8321040" y="4701540"/>
            <a:ext cx="822960" cy="44196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100" b="1" dirty="0">
                <a:solidFill>
                  <a:schemeClr val="tx1"/>
                </a:solidFill>
              </a:rPr>
              <a:t>14</a:t>
            </a:r>
          </a:p>
        </p:txBody>
      </p:sp>
      <p:sp>
        <p:nvSpPr>
          <p:cNvPr id="27" name="Shape 0">
            <a:extLst>
              <a:ext uri="{FF2B5EF4-FFF2-40B4-BE49-F238E27FC236}">
                <a16:creationId xmlns:a16="http://schemas.microsoft.com/office/drawing/2014/main" id="{7DD36704-48C1-25A7-879C-D9374092CB65}"/>
              </a:ext>
            </a:extLst>
          </p:cNvPr>
          <p:cNvSpPr/>
          <p:nvPr/>
        </p:nvSpPr>
        <p:spPr>
          <a:xfrm>
            <a:off x="-45706" y="-28538"/>
            <a:ext cx="9144000" cy="658368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274319" y="72194"/>
            <a:ext cx="73152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 dirty="0">
                <a:solidFill>
                  <a:srgbClr val="FFFFFF"/>
                </a:solidFill>
              </a:rPr>
              <a:t>Signal Quality Analysis — Key Findings</a:t>
            </a:r>
          </a:p>
        </p:txBody>
      </p:sp>
    </p:spTree>
    <p:extLst>
      <p:ext uri="{BB962C8B-B14F-4D97-AF65-F5344CB8AC3E}">
        <p14:creationId xmlns:p14="http://schemas.microsoft.com/office/powerpoint/2010/main" val="4197354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940BFD6D-E6CF-A3DD-A4A9-86F5FDDA27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2010"/>
            <a:ext cx="5811140" cy="254195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74320" y="142845"/>
            <a:ext cx="73152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 dirty="0">
                <a:solidFill>
                  <a:srgbClr val="FFFFFF"/>
                </a:solidFill>
              </a:rPr>
              <a:t>Signal Quality Analysis — Key Findings</a:t>
            </a:r>
            <a:r>
              <a:rPr lang="en-US" sz="2000" b="1" i="0" dirty="0">
                <a:solidFill>
                  <a:srgbClr val="FFFFFF"/>
                </a:solidFill>
              </a:rPr>
              <a:t> (</a:t>
            </a:r>
            <a:r>
              <a:rPr lang="en-US" sz="2000" b="1" i="0" dirty="0" err="1">
                <a:solidFill>
                  <a:srgbClr val="FFFFFF"/>
                </a:solidFill>
              </a:rPr>
              <a:t>Contd</a:t>
            </a:r>
            <a:r>
              <a:rPr lang="en-US" sz="2000" b="1" i="0" dirty="0">
                <a:solidFill>
                  <a:srgbClr val="FFFFFF"/>
                </a:solidFill>
              </a:rPr>
              <a:t>)</a:t>
            </a:r>
            <a:endParaRPr sz="2000" b="1" i="0" dirty="0">
              <a:solidFill>
                <a:srgbClr val="FFFFFF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421BED0-E88F-BC01-1572-80A7EED368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1920" y="2779052"/>
            <a:ext cx="4900815" cy="2143751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3F9FAC30-8449-559A-6E4F-D2EFDEC19C30}"/>
              </a:ext>
            </a:extLst>
          </p:cNvPr>
          <p:cNvSpPr/>
          <p:nvPr/>
        </p:nvSpPr>
        <p:spPr>
          <a:xfrm>
            <a:off x="4666006" y="4832855"/>
            <a:ext cx="3805871" cy="282011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37BF34B-B8FC-0C49-9203-4A9A7DCE8FFE}"/>
              </a:ext>
            </a:extLst>
          </p:cNvPr>
          <p:cNvSpPr/>
          <p:nvPr/>
        </p:nvSpPr>
        <p:spPr>
          <a:xfrm>
            <a:off x="751863" y="2833286"/>
            <a:ext cx="3805871" cy="282011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B30582E-5EA8-5F1B-6266-502420228209}"/>
              </a:ext>
            </a:extLst>
          </p:cNvPr>
          <p:cNvSpPr txBox="1"/>
          <p:nvPr/>
        </p:nvSpPr>
        <p:spPr>
          <a:xfrm>
            <a:off x="1377887" y="2790521"/>
            <a:ext cx="33058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Scenario D – Open Sky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704F3A3-FD64-E501-C490-8E90EB7DBB93}"/>
              </a:ext>
            </a:extLst>
          </p:cNvPr>
          <p:cNvSpPr txBox="1"/>
          <p:nvPr/>
        </p:nvSpPr>
        <p:spPr>
          <a:xfrm>
            <a:off x="4759492" y="4784777"/>
            <a:ext cx="3868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Scenario E – Approaching Blockage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0086B82-ADAF-0250-8ACE-00154F9D905E}"/>
              </a:ext>
            </a:extLst>
          </p:cNvPr>
          <p:cNvSpPr/>
          <p:nvPr/>
        </p:nvSpPr>
        <p:spPr>
          <a:xfrm>
            <a:off x="5503492" y="2681587"/>
            <a:ext cx="1974078" cy="327783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75F11DC-8A53-EBAE-B13B-BE9D4FBEB788}"/>
              </a:ext>
            </a:extLst>
          </p:cNvPr>
          <p:cNvSpPr/>
          <p:nvPr/>
        </p:nvSpPr>
        <p:spPr>
          <a:xfrm>
            <a:off x="8565363" y="4832854"/>
            <a:ext cx="578636" cy="31064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100" b="1" dirty="0">
                <a:solidFill>
                  <a:schemeClr val="tx1"/>
                </a:solidFill>
              </a:rPr>
              <a:t>15</a:t>
            </a:r>
          </a:p>
        </p:txBody>
      </p:sp>
      <p:sp>
        <p:nvSpPr>
          <p:cNvPr id="2" name="Shape 0">
            <a:extLst>
              <a:ext uri="{FF2B5EF4-FFF2-40B4-BE49-F238E27FC236}">
                <a16:creationId xmlns:a16="http://schemas.microsoft.com/office/drawing/2014/main" id="{8F2D09CC-A2AD-C4B0-FCF8-87BB2ACA1368}"/>
              </a:ext>
            </a:extLst>
          </p:cNvPr>
          <p:cNvSpPr/>
          <p:nvPr/>
        </p:nvSpPr>
        <p:spPr>
          <a:xfrm>
            <a:off x="-14266" y="-32582"/>
            <a:ext cx="9144000" cy="658368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B2F4695-51CA-8E31-F2B8-0A88105F3394}"/>
              </a:ext>
            </a:extLst>
          </p:cNvPr>
          <p:cNvSpPr txBox="1"/>
          <p:nvPr/>
        </p:nvSpPr>
        <p:spPr>
          <a:xfrm>
            <a:off x="274319" y="72194"/>
            <a:ext cx="73152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 dirty="0">
                <a:solidFill>
                  <a:srgbClr val="FFFFFF"/>
                </a:solidFill>
              </a:rPr>
              <a:t>Signal Quality Analysis — Key Findings</a:t>
            </a:r>
          </a:p>
        </p:txBody>
      </p:sp>
    </p:spTree>
    <p:extLst>
      <p:ext uri="{BB962C8B-B14F-4D97-AF65-F5344CB8AC3E}">
        <p14:creationId xmlns:p14="http://schemas.microsoft.com/office/powerpoint/2010/main" val="425256695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slides_tmpl/image/25-08-27-19:57:29-d2nf5a98bjvh7rlivrvg.png"/>
          <p:cNvPicPr>
            <a:picLocks noChangeAspect="1"/>
          </p:cNvPicPr>
          <p:nvPr/>
        </p:nvPicPr>
        <p:blipFill>
          <a:blip r:embed="rId3"/>
          <a:srcRect l="20060" t="9520" b="9520"/>
          <a:stretch/>
        </p:blipFill>
        <p:spPr>
          <a:xfrm>
            <a:off x="2191554" y="121920"/>
            <a:ext cx="5078730" cy="5143500"/>
          </a:xfrm>
          <a:prstGeom prst="rect">
            <a:avLst/>
          </a:prstGeom>
        </p:spPr>
      </p:pic>
      <p:pic>
        <p:nvPicPr>
          <p:cNvPr id="3" name="Image 1" descr="https://kimi-img.moonshot.cn/pub/slides/slides_tmpl/image/25-08-27-19:57:29-d2nf5a98bjvh7rlivru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7715" y="1791414"/>
            <a:ext cx="1200150" cy="123825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1128237" y="2136457"/>
            <a:ext cx="990124" cy="1001078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1"/>
          <p:cNvSpPr/>
          <p:nvPr/>
        </p:nvSpPr>
        <p:spPr>
          <a:xfrm>
            <a:off x="1132047" y="2138939"/>
            <a:ext cx="990124" cy="1001078"/>
          </a:xfrm>
          <a:prstGeom prst="ellipse">
            <a:avLst/>
          </a:prstGeom>
          <a:gradFill flip="none" rotWithShape="1">
            <a:gsLst>
              <a:gs pos="0">
                <a:srgbClr val="D1DCF2">
                  <a:alpha val="84000"/>
                </a:srgbClr>
              </a:gs>
              <a:gs pos="2000">
                <a:srgbClr val="D1DCF2">
                  <a:alpha val="84000"/>
                </a:srgbClr>
              </a:gs>
              <a:gs pos="55000">
                <a:srgbClr val="4874CB">
                  <a:alpha val="69000"/>
                </a:srgbClr>
              </a:gs>
              <a:gs pos="100000">
                <a:srgbClr val="345FB6"/>
              </a:gs>
            </a:gsLst>
            <a:path path="circle">
              <a:fillToRect r="100000" b="100000"/>
            </a:path>
            <a:tileRect l="-100000" t="-100000"/>
          </a:gradFill>
          <a:ln/>
          <a:effectLst>
            <a:outerShdw blurRad="304800" dist="184847" dir="2700000" algn="bl" rotWithShape="0">
              <a:srgbClr val="2E54A1">
                <a:alpha val="23922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2"/>
          <p:cNvSpPr/>
          <p:nvPr/>
        </p:nvSpPr>
        <p:spPr>
          <a:xfrm>
            <a:off x="1128237" y="2264093"/>
            <a:ext cx="990124" cy="744855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ctr"/>
          <a:lstStyle/>
          <a:p>
            <a:pPr algn="ctr">
              <a:lnSpc>
                <a:spcPct val="100000"/>
              </a:lnSpc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1200" dirty="0"/>
          </a:p>
        </p:txBody>
      </p:sp>
      <p:sp>
        <p:nvSpPr>
          <p:cNvPr id="8" name="Text 4"/>
          <p:cNvSpPr/>
          <p:nvPr/>
        </p:nvSpPr>
        <p:spPr>
          <a:xfrm>
            <a:off x="2650678" y="2231707"/>
            <a:ext cx="6373178" cy="680085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t"/>
          <a:lstStyle/>
          <a:p>
            <a:pPr>
              <a:lnSpc>
                <a:spcPct val="150000"/>
              </a:lnSpc>
            </a:pPr>
            <a:r>
              <a:rPr lang="en-US" sz="3300" b="1" dirty="0">
                <a:solidFill>
                  <a:srgbClr val="000000"/>
                </a:solidFill>
                <a:latin typeface="Arial Black" pitchFamily="34" charset="0"/>
              </a:rPr>
              <a:t>NEXT STAGE </a:t>
            </a:r>
            <a:endParaRPr lang="en-US" sz="1200" dirty="0"/>
          </a:p>
        </p:txBody>
      </p:sp>
      <p:sp>
        <p:nvSpPr>
          <p:cNvPr id="10" name="Shape 5"/>
          <p:cNvSpPr/>
          <p:nvPr/>
        </p:nvSpPr>
        <p:spPr>
          <a:xfrm rot="7680000">
            <a:off x="6853237" y="4416266"/>
            <a:ext cx="322898" cy="322898"/>
          </a:xfrm>
          <a:prstGeom prst="ellipse">
            <a:avLst/>
          </a:prstGeom>
          <a:gradFill flip="none" rotWithShape="1">
            <a:gsLst>
              <a:gs pos="0">
                <a:srgbClr val="D1DCF2">
                  <a:alpha val="14000"/>
                </a:srgbClr>
              </a:gs>
              <a:gs pos="22000">
                <a:srgbClr val="6389D3">
                  <a:alpha val="48000"/>
                </a:srgbClr>
              </a:gs>
              <a:gs pos="45000">
                <a:srgbClr val="6389D3">
                  <a:alpha val="83000"/>
                </a:srgbClr>
              </a:gs>
              <a:gs pos="66000">
                <a:srgbClr val="6389D3">
                  <a:alpha val="87000"/>
                </a:srgbClr>
              </a:gs>
              <a:gs pos="100000">
                <a:srgbClr val="6389D3">
                  <a:alpha val="87000"/>
                </a:srgbClr>
              </a:gs>
            </a:gsLst>
            <a:lin ang="5400000" scaled="1"/>
          </a:gra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6"/>
          <p:cNvSpPr/>
          <p:nvPr/>
        </p:nvSpPr>
        <p:spPr>
          <a:xfrm rot="4020000">
            <a:off x="7080409" y="664846"/>
            <a:ext cx="164306" cy="164306"/>
          </a:xfrm>
          <a:prstGeom prst="ellipse">
            <a:avLst/>
          </a:prstGeom>
          <a:gradFill flip="none" rotWithShape="1">
            <a:gsLst>
              <a:gs pos="0">
                <a:srgbClr val="D1DCF2">
                  <a:alpha val="14000"/>
                </a:srgbClr>
              </a:gs>
              <a:gs pos="22000">
                <a:srgbClr val="6389D3">
                  <a:alpha val="42000"/>
                </a:srgbClr>
              </a:gs>
              <a:gs pos="45000">
                <a:srgbClr val="6389D3">
                  <a:alpha val="68000"/>
                </a:srgbClr>
              </a:gs>
              <a:gs pos="66000">
                <a:srgbClr val="6389D3">
                  <a:alpha val="76000"/>
                </a:srgbClr>
              </a:gs>
              <a:gs pos="100000">
                <a:srgbClr val="6389D3">
                  <a:alpha val="76000"/>
                </a:srgbClr>
              </a:gs>
            </a:gsLst>
            <a:lin ang="5400000" scaled="1"/>
          </a:gra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8854F16-AFD4-F50D-BFC9-5D69273DB526}"/>
              </a:ext>
            </a:extLst>
          </p:cNvPr>
          <p:cNvSpPr/>
          <p:nvPr/>
        </p:nvSpPr>
        <p:spPr>
          <a:xfrm>
            <a:off x="8321040" y="4701540"/>
            <a:ext cx="822960" cy="44196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100" b="1" dirty="0">
                <a:solidFill>
                  <a:schemeClr val="tx1"/>
                </a:solidFill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534901578"/>
      </p:ext>
    </p:extLst>
  </p:cSld>
  <p:clrMapOvr>
    <a:masterClrMapping/>
  </p:clrMapOvr>
  <p:transition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14960" y="0"/>
            <a:ext cx="8463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Timeline — 4-Week Compressed Plan(Week 1 Goals Achieved)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4915827"/>
            <a:ext cx="8229600" cy="27432"/>
          </a:xfrm>
          <a:prstGeom prst="rect">
            <a:avLst/>
          </a:prstGeom>
          <a:solidFill>
            <a:srgbClr val="AED6F1"/>
          </a:solidFill>
          <a:ln w="12700">
            <a:solidFill>
              <a:srgbClr val="AED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758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6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1-month total  ·  2 concurrent coursework  ·  Critical path: data collection (Wk 1) → model training (Wk 3)  ·  Target: IEEE T-ITS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1956816" cy="50292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57200" y="1097280"/>
            <a:ext cx="1956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 ·  Days 1–7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1353312"/>
            <a:ext cx="195681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AED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&amp; Data Extraction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57200" y="1600200"/>
            <a:ext cx="1956816" cy="850392"/>
          </a:xfrm>
          <a:prstGeom prst="rect">
            <a:avLst/>
          </a:prstGeom>
          <a:solidFill>
            <a:srgbClr val="D6EAF8"/>
          </a:solidFill>
          <a:ln w="12700">
            <a:solidFill>
              <a:srgbClr val="AED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48640" y="1609477"/>
            <a:ext cx="17830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sz="95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All software installed · Room 3058 visit · GitHub repo created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548640" y="224028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2E8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57200" y="2496312"/>
            <a:ext cx="1956816" cy="850392"/>
          </a:xfrm>
          <a:prstGeom prst="rect">
            <a:avLst/>
          </a:prstGeom>
          <a:solidFill>
            <a:srgbClr val="EBF5FB"/>
          </a:solidFill>
          <a:ln w="12700">
            <a:solidFill>
              <a:srgbClr val="AED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48640" y="2433894"/>
            <a:ext cx="17830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sz="95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ROSBAG extraction + RTKLIB running on supervisor vehicle &amp; drone datasets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548640" y="3136392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2E8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Joshua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57200" y="3392424"/>
            <a:ext cx="1956816" cy="850392"/>
          </a:xfrm>
          <a:prstGeom prst="rect">
            <a:avLst/>
          </a:prstGeom>
          <a:solidFill>
            <a:srgbClr val="D6EAF8"/>
          </a:solidFill>
          <a:ln w="12700">
            <a:solidFill>
              <a:srgbClr val="AED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44068" y="3436090"/>
            <a:ext cx="17830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sz="95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✅ ALL scenarios A–E collected (May 5, 2026) · RTKLIB processed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548640" y="4032504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2E8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Claudine, Joshua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468880" y="1097280"/>
            <a:ext cx="1956816" cy="502920"/>
          </a:xfrm>
          <a:prstGeom prst="rect">
            <a:avLst/>
          </a:prstGeom>
          <a:solidFill>
            <a:srgbClr val="1F618D"/>
          </a:solidFill>
          <a:ln w="12700">
            <a:solidFill>
              <a:srgbClr val="1F618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2468880" y="1097280"/>
            <a:ext cx="1956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 ·  Days 8–14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2468880" y="1353312"/>
            <a:ext cx="195681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AED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Collection &amp; Features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468880" y="1600200"/>
            <a:ext cx="1956816" cy="850392"/>
          </a:xfrm>
          <a:prstGeom prst="rect">
            <a:avLst/>
          </a:prstGeom>
          <a:solidFill>
            <a:srgbClr val="D6EAF8"/>
          </a:solidFill>
          <a:ln w="12700">
            <a:solidFill>
              <a:srgbClr val="AED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2505456" y="1551299"/>
            <a:ext cx="18745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sz="95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Scenarios B, C, E collected · Feature CSVs generated · Labelling complete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2560320" y="224028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2E8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Claudine, Joshua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468880" y="2496312"/>
            <a:ext cx="1956816" cy="850392"/>
          </a:xfrm>
          <a:prstGeom prst="rect">
            <a:avLst/>
          </a:prstGeom>
          <a:solidFill>
            <a:srgbClr val="EBF5FB"/>
          </a:solidFill>
          <a:ln w="12700">
            <a:solidFill>
              <a:srgbClr val="AED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2551176" y="2437340"/>
            <a:ext cx="17830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sz="95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baseline models trained &amp; results recorded (RF, LSTM, threshold, RAIM)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2560320" y="3136392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2E8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Harun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468880" y="3392424"/>
            <a:ext cx="1956816" cy="850392"/>
          </a:xfrm>
          <a:prstGeom prst="rect">
            <a:avLst/>
          </a:prstGeom>
          <a:solidFill>
            <a:srgbClr val="D6EAF8"/>
          </a:solidFill>
          <a:ln w="12700">
            <a:solidFill>
              <a:srgbClr val="AED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2551176" y="3334247"/>
            <a:ext cx="17830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sz="95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review drafted (30 papers) · UrbanNav &amp; RobotCar processed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2560320" y="4032504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2E8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Harun, Claudine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480560" y="1097280"/>
            <a:ext cx="1956816" cy="502920"/>
          </a:xfrm>
          <a:prstGeom prst="rect">
            <a:avLst/>
          </a:prstGeom>
          <a:solidFill>
            <a:srgbClr val="2874A6"/>
          </a:solidFill>
          <a:ln w="12700">
            <a:solidFill>
              <a:srgbClr val="2874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4480560" y="1097280"/>
            <a:ext cx="1956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 ·  Days 15–21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480560" y="1353312"/>
            <a:ext cx="195681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AED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Training &amp; System Build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480560" y="1600200"/>
            <a:ext cx="1956816" cy="850392"/>
          </a:xfrm>
          <a:prstGeom prst="rect">
            <a:avLst/>
          </a:prstGeom>
          <a:solidFill>
            <a:srgbClr val="D6EAF8"/>
          </a:solidFill>
          <a:ln w="12700">
            <a:solidFill>
              <a:srgbClr val="AED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4572000" y="1563624"/>
            <a:ext cx="17830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sz="95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Transformer-LSTM trained · First test-set results · Ablation studies done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4572000" y="224028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2E8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Joel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480560" y="2496312"/>
            <a:ext cx="1956816" cy="850392"/>
          </a:xfrm>
          <a:prstGeom prst="rect">
            <a:avLst/>
          </a:prstGeom>
          <a:solidFill>
            <a:srgbClr val="EBF5FB"/>
          </a:solidFill>
          <a:ln w="12700">
            <a:solidFill>
              <a:srgbClr val="AED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4572000" y="2456655"/>
            <a:ext cx="17830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sz="95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Generalisation tests on UrbanNav &amp; RobotCar · KAIST on arrival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4572000" y="3136392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2E8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Joel, Claudine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480560" y="3392424"/>
            <a:ext cx="1956816" cy="850392"/>
          </a:xfrm>
          <a:prstGeom prst="rect">
            <a:avLst/>
          </a:prstGeom>
          <a:solidFill>
            <a:srgbClr val="D6EAF8"/>
          </a:solidFill>
          <a:ln w="12700">
            <a:solidFill>
              <a:srgbClr val="AED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4567428" y="3337560"/>
            <a:ext cx="17830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sz="95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EKF in simulation · Dashboard all 5 panels with data playback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4572000" y="4032504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2E8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Mustapha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492240" y="1097280"/>
            <a:ext cx="1956816" cy="50292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6492240" y="1097280"/>
            <a:ext cx="1956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 ·  Days 22–28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6492240" y="1353312"/>
            <a:ext cx="195681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AED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Integration, Demo &amp; Paper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492240" y="1600200"/>
            <a:ext cx="1956816" cy="850392"/>
          </a:xfrm>
          <a:prstGeom prst="rect">
            <a:avLst/>
          </a:prstGeom>
          <a:solidFill>
            <a:srgbClr val="D6EAF8"/>
          </a:solidFill>
          <a:ln w="12700">
            <a:solidFill>
              <a:srgbClr val="AED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6528816" y="1618488"/>
            <a:ext cx="1883664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sz="95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campus test: cart + receiver + dashboard · Screen capture video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6583680" y="224028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2E8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492240" y="2496312"/>
            <a:ext cx="1956816" cy="850392"/>
          </a:xfrm>
          <a:prstGeom prst="rect">
            <a:avLst/>
          </a:prstGeom>
          <a:solidFill>
            <a:srgbClr val="EBF5FB"/>
          </a:solidFill>
          <a:ln w="12700">
            <a:solidFill>
              <a:srgbClr val="AED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Text 48"/>
          <p:cNvSpPr/>
          <p:nvPr/>
        </p:nvSpPr>
        <p:spPr>
          <a:xfrm>
            <a:off x="6583680" y="2532888"/>
            <a:ext cx="17830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sz="95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1 first draft written · Each member fills their sections</a:t>
            </a:r>
            <a:endParaRPr lang="en-US" sz="950" dirty="0"/>
          </a:p>
        </p:txBody>
      </p:sp>
      <p:sp>
        <p:nvSpPr>
          <p:cNvPr id="51" name="Text 49"/>
          <p:cNvSpPr/>
          <p:nvPr/>
        </p:nvSpPr>
        <p:spPr>
          <a:xfrm>
            <a:off x="6583680" y="3136392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2E8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Joel leads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492240" y="3392424"/>
            <a:ext cx="1956816" cy="850392"/>
          </a:xfrm>
          <a:prstGeom prst="rect">
            <a:avLst/>
          </a:prstGeom>
          <a:solidFill>
            <a:srgbClr val="D6EAF8"/>
          </a:solidFill>
          <a:ln w="12700">
            <a:solidFill>
              <a:srgbClr val="AED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Text 51"/>
          <p:cNvSpPr/>
          <p:nvPr/>
        </p:nvSpPr>
        <p:spPr>
          <a:xfrm>
            <a:off x="6528816" y="3402363"/>
            <a:ext cx="188366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sz="95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team review · Presentation rehearsed · Submission-ready draft</a:t>
            </a:r>
            <a:endParaRPr lang="en-US" sz="950" dirty="0"/>
          </a:p>
        </p:txBody>
      </p:sp>
      <p:sp>
        <p:nvSpPr>
          <p:cNvPr id="54" name="Text 52"/>
          <p:cNvSpPr/>
          <p:nvPr/>
        </p:nvSpPr>
        <p:spPr>
          <a:xfrm>
            <a:off x="6583680" y="4032504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2E8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457200" y="4384548"/>
            <a:ext cx="8229600" cy="38954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050" i="1" dirty="0">
                <a:solidFill>
                  <a:srgbClr val="B777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Risk: Scenarios A &amp; D (Day 5–7) are the critical path — all model work depends on them. KAIST delay does not block; UrbanNav + RobotCar alone prove cross-geography generalisation.</a:t>
            </a:r>
            <a:endParaRPr lang="en-US" sz="1050" dirty="0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CE8DE5DC-DC50-E176-BB12-4E05E830AB35}"/>
              </a:ext>
            </a:extLst>
          </p:cNvPr>
          <p:cNvSpPr/>
          <p:nvPr/>
        </p:nvSpPr>
        <p:spPr>
          <a:xfrm>
            <a:off x="8449056" y="4774094"/>
            <a:ext cx="694944" cy="36940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100" b="1" dirty="0">
                <a:solidFill>
                  <a:schemeClr val="tx1"/>
                </a:solidFill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Responsibilities &amp; Presentation Division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740664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6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member owns specific components and is fully accountable for their delivery.</a:t>
            </a:r>
            <a:endParaRPr lang="en-US" sz="12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01471211"/>
              </p:ext>
            </p:extLst>
          </p:nvPr>
        </p:nvGraphicFramePr>
        <p:xfrm>
          <a:off x="457200" y="1143000"/>
          <a:ext cx="8321040" cy="3798558"/>
        </p:xfrm>
        <a:graphic>
          <a:graphicData uri="http://schemas.openxmlformats.org/drawingml/2006/table">
            <a:tbl>
              <a:tblPr/>
              <a:tblGrid>
                <a:gridCol w="22693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252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2645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3671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Member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0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0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Owns / Delivers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08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236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Rashid Md Harun Or (LS2525219)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Literature &amp; Baseline Lead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sz="11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Literature review, baseline models (threshold, RF, LSTM, RAIM), related work analysis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236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 err="1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Ingeriyinkindi</a:t>
                      </a:r>
                      <a:r>
                        <a:rPr lang="en-US" sz="11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Claudine (LS2525236)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Collection &amp; Evaluation Lead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sz="11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Cart GNSS collection (Scenarios A–E), evaluation metrics, results tables, public dataset processing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236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Ogunlade Joshua (LS2525237)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&amp; Processing Lead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sz="11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ROSBAG extraction, RTKLIB pipeline, feature extraction code, dataset labelling &amp; QC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236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Mustapha Ibrahim (LS2525238)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 &amp; EKF Lead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sz="11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Real-time dashboard (all 5 panels), dynamic EKF implementation, live system testing &amp; video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5236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Ojerinde Joel Segun (LS2525253)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&amp; Integration Lead (Lead Author)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sz="11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Transformer-LSTM architecture, training pipeline, ablation studies, generalization testing, integration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D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ECF31C20-C150-C484-A11B-6156D586DBCC}"/>
              </a:ext>
            </a:extLst>
          </p:cNvPr>
          <p:cNvSpPr/>
          <p:nvPr/>
        </p:nvSpPr>
        <p:spPr>
          <a:xfrm>
            <a:off x="8614160" y="4836920"/>
            <a:ext cx="529839" cy="30658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100" b="1" dirty="0">
                <a:solidFill>
                  <a:schemeClr val="tx1"/>
                </a:solidFill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0206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8113" y="822960"/>
            <a:ext cx="64008" cy="4187356"/>
          </a:xfrm>
          <a:prstGeom prst="rect">
            <a:avLst/>
          </a:prstGeom>
          <a:solidFill>
            <a:srgbClr val="AED6F1"/>
          </a:solidFill>
          <a:ln w="12700">
            <a:solidFill>
              <a:srgbClr val="AED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0174A"/>
          </a:solidFill>
          <a:ln w="12700">
            <a:solidFill>
              <a:srgbClr val="0017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0"/>
            <a:ext cx="8229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AED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 &amp; Future Work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85800" y="777240"/>
            <a:ext cx="2514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AED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Are Building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26774" y="1097280"/>
            <a:ext cx="2570922" cy="32689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200000"/>
              </a:lnSpc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Transformer-LSTM hybrid for multi-horizon GNSS degradation prediction</a:t>
            </a:r>
            <a:endParaRPr lang="en-US" sz="1150" dirty="0"/>
          </a:p>
          <a:p>
            <a:pPr marL="342900" indent="-342900">
              <a:lnSpc>
                <a:spcPct val="200000"/>
              </a:lnSpc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35-feature engineering pipeline from RTKLIB observables</a:t>
            </a:r>
            <a:endParaRPr lang="en-US" sz="1150" dirty="0"/>
          </a:p>
          <a:p>
            <a:pPr marL="342900" indent="-342900">
              <a:lnSpc>
                <a:spcPct val="200000"/>
              </a:lnSpc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EKF that adapts sensor fusion before degradation hits</a:t>
            </a:r>
            <a:endParaRPr lang="en-US" sz="1150" dirty="0"/>
          </a:p>
          <a:p>
            <a:pPr marL="342900" indent="-342900">
              <a:lnSpc>
                <a:spcPct val="200000"/>
              </a:lnSpc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5-panel monitoring dashboard at &lt;100 ms latency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3383280" y="777240"/>
            <a:ext cx="2514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AED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Results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124200" y="1087540"/>
            <a:ext cx="2727960" cy="2944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200000"/>
              </a:lnSpc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 F1 &gt; 0.85 on in-distribution test set</a:t>
            </a:r>
            <a:endParaRPr lang="en-US" sz="1150" dirty="0"/>
          </a:p>
          <a:p>
            <a:pPr marL="342900" indent="-342900">
              <a:lnSpc>
                <a:spcPct val="200000"/>
              </a:lnSpc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Cross-geography F1 within 10% of in-distribution performance</a:t>
            </a:r>
            <a:endParaRPr lang="en-US" sz="1150" dirty="0"/>
          </a:p>
          <a:p>
            <a:pPr marL="342900" indent="-342900">
              <a:lnSpc>
                <a:spcPct val="200000"/>
              </a:lnSpc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Prediction lead time of 15–30 s ahead of positioning failure</a:t>
            </a:r>
            <a:endParaRPr lang="en-US" sz="1150" dirty="0"/>
          </a:p>
          <a:p>
            <a:pPr marL="342900" indent="-342900">
              <a:lnSpc>
                <a:spcPct val="200000"/>
              </a:lnSpc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Navigation RMSE reduction vs. GNSS-only baseline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6080760" y="777240"/>
            <a:ext cx="2514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AED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035040" y="1170432"/>
            <a:ext cx="2651760" cy="2944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Camera-based environmental context as additional feature group</a:t>
            </a:r>
            <a:endParaRPr lang="en-US" sz="115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BeiDou-specific constellation analysis for Chinese urban environments</a:t>
            </a:r>
            <a:endParaRPr lang="en-US" sz="115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Larger-scale multi-city urban study for broader generalisation</a:t>
            </a:r>
            <a:endParaRPr lang="en-US" sz="115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2: full real-time system integration and field demonstration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85800" y="4507396"/>
            <a:ext cx="7772400" cy="502920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85800" y="4507396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  </a:t>
            </a:r>
            <a:endParaRPr lang="en-US" sz="2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sp>
        <p:nvSpPr>
          <p:cNvPr id="1" name="Rectangl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2103120"/>
            <a:ext cx="9144000" cy="36000"/>
          </a:xfrm>
          <a:prstGeom prst="rect">
            <a:avLst/>
          </a:prstGeom>
          <a:solidFill>
            <a:srgbClr val="00A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320040"/>
            <a:ext cx="1280160" cy="502920"/>
          </a:xfrm>
          <a:prstGeom prst="rect">
            <a:avLst/>
          </a:prstGeom>
          <a:solidFill>
            <a:srgbClr val="00A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347472"/>
            <a:ext cx="124358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VERSION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14400"/>
            <a:ext cx="8412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</a:rPr>
              <a:t>AI Model Development Update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828800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00A8FF"/>
                </a:solidFill>
              </a:rPr>
              <a:t>May 2026  ·  From data collection to trained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514600"/>
            <a:ext cx="8229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00C86E"/>
                </a:solidFill>
              </a:rPr>
              <a:t>✔  97,393 labelled epochs — 10 sources, 3 cities (Beijing · Hong Kong · Tokyo)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880360"/>
            <a:ext cx="8229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00C86E"/>
                </a:solidFill>
              </a:rPr>
              <a:t>✔  SENTINEL-GNSS Transformer-LSTM architecture finalised — 359 K parameters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246120"/>
            <a:ext cx="8229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00C86E"/>
                </a:solidFill>
              </a:rPr>
              <a:t>✔  Full pipeline: feature_prep → SMOTE → sliding windows → train → evaluate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611880"/>
            <a:ext cx="8229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00C86E"/>
                </a:solidFill>
              </a:rPr>
              <a:t>✔  Smoke test passed — val macro-F1 = 0.9375 at epoch 3 (5-epoch debug run)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977640"/>
            <a:ext cx="8229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A500"/>
                </a:solidFill>
              </a:rPr>
              <a:t>⬡  Full 150-epoch training on Colab T4 GPU — in progress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sp>
        <p:nvSpPr>
          <p:cNvPr id="1" name="Rectangl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7315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SENTINEL-GNSS — Transformer-LSTM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85800"/>
            <a:ext cx="9144000" cy="18000"/>
          </a:xfrm>
          <a:prstGeom prst="rect">
            <a:avLst/>
          </a:prstGeom>
          <a:solidFill>
            <a:srgbClr val="00A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749808"/>
            <a:ext cx="8595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556575"/>
                </a:solidFill>
              </a:rPr>
              <a:t>Hybrid model: spatial attention (Transformer) + temporal memory (LSTM) → 3 prediction horizons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" y="960120"/>
            <a:ext cx="2103120" cy="658368"/>
          </a:xfrm>
          <a:prstGeom prst="rect">
            <a:avLst/>
          </a:prstGeom>
          <a:solidFill>
            <a:srgbClr val="0D1B2A"/>
          </a:solidFill>
          <a:ln w="19050">
            <a:solidFill>
              <a:srgbClr val="00A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978408"/>
            <a:ext cx="1920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A8FF"/>
                </a:solidFill>
              </a:rPr>
              <a:t>Input Window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1216152"/>
            <a:ext cx="1920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(B,  T=30,  F=34)
30 time-steps × 34 features</a:t>
            </a:r>
          </a:p>
        </p:txBody>
      </p:sp>
      <p:sp>
        <p:nvSpPr>
          <p:cNvPr id="9" name="Rectangle 8"/>
          <p:cNvSpPr/>
          <p:nvPr/>
        </p:nvSpPr>
        <p:spPr>
          <a:xfrm>
            <a:off x="1170432" y="1618488"/>
            <a:ext cx="18000" cy="164592"/>
          </a:xfrm>
          <a:prstGeom prst="rect">
            <a:avLst/>
          </a:prstGeom>
          <a:solidFill>
            <a:srgbClr val="00A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28600" y="1783080"/>
            <a:ext cx="2103120" cy="502920"/>
          </a:xfrm>
          <a:prstGeom prst="rect">
            <a:avLst/>
          </a:prstGeom>
          <a:solidFill>
            <a:srgbClr val="E8F4FF"/>
          </a:solidFill>
          <a:ln w="12700">
            <a:solidFill>
              <a:srgbClr val="00A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1801368"/>
            <a:ext cx="1920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D1B2A"/>
                </a:solidFill>
              </a:rPr>
              <a:t>Linear Projection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" y="2011680"/>
            <a:ext cx="1920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56575"/>
                </a:solidFill>
              </a:rPr>
              <a:t>34 → d_model = 64  + Positional Encoding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70432" y="2286000"/>
            <a:ext cx="18000" cy="164592"/>
          </a:xfrm>
          <a:prstGeom prst="rect">
            <a:avLst/>
          </a:prstGeom>
          <a:solidFill>
            <a:srgbClr val="00A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28600" y="2450592"/>
            <a:ext cx="2103120" cy="960120"/>
          </a:xfrm>
          <a:prstGeom prst="rect">
            <a:avLst/>
          </a:prstGeom>
          <a:solidFill>
            <a:srgbClr val="0D2E4A"/>
          </a:solidFill>
          <a:ln w="19050">
            <a:solidFill>
              <a:srgbClr val="00A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0040" y="2468880"/>
            <a:ext cx="1920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0A8FF"/>
                </a:solidFill>
              </a:rPr>
              <a:t>Transformer Encoder  (×2 layers)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" y="2724912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</a:rPr>
              <a:t>• 4 attention heads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" y="2944368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</a:rPr>
              <a:t>• d_ff = 256  |  GELU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4048" y="3163824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</a:rPr>
              <a:t>• Pre-LN  |  dropout 0.1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70432" y="3410712"/>
            <a:ext cx="18000" cy="164592"/>
          </a:xfrm>
          <a:prstGeom prst="rect">
            <a:avLst/>
          </a:prstGeom>
          <a:solidFill>
            <a:srgbClr val="00A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28600" y="3575304"/>
            <a:ext cx="2103120" cy="658368"/>
          </a:xfrm>
          <a:prstGeom prst="rect">
            <a:avLst/>
          </a:prstGeom>
          <a:solidFill>
            <a:srgbClr val="7B2FBE"/>
          </a:solidFill>
          <a:ln w="12700">
            <a:solidFill>
              <a:srgbClr val="7B2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0040" y="3593592"/>
            <a:ext cx="1920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</a:rPr>
              <a:t>LSTM  (×2 layers)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" y="3831336"/>
            <a:ext cx="1920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E8F4FF"/>
                </a:solidFill>
              </a:rPr>
              <a:t>hidden = 128  |  dropout 0.1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70432" y="4233672"/>
            <a:ext cx="18000" cy="164592"/>
          </a:xfrm>
          <a:prstGeom prst="rect">
            <a:avLst/>
          </a:prstGeom>
          <a:solidFill>
            <a:srgbClr val="00A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514600" y="4389120"/>
            <a:ext cx="6400800" cy="9000"/>
          </a:xfrm>
          <a:prstGeom prst="rect">
            <a:avLst/>
          </a:prstGeom>
          <a:solidFill>
            <a:srgbClr val="00A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606040" y="4398264"/>
            <a:ext cx="1737360" cy="594360"/>
          </a:xfrm>
          <a:prstGeom prst="rect">
            <a:avLst/>
          </a:prstGeom>
          <a:solidFill>
            <a:srgbClr val="00C8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679192" y="4416552"/>
            <a:ext cx="15910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D1B2A"/>
                </a:solidFill>
              </a:rPr>
              <a:t>Head: 5 s ahead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79192" y="4663440"/>
            <a:ext cx="15910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D1B2A"/>
                </a:solidFill>
              </a:rPr>
              <a:t>128→64→3  (CLEAN/WARN/DEGR)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617720" y="4398264"/>
            <a:ext cx="1737360" cy="594360"/>
          </a:xfrm>
          <a:prstGeom prst="rect">
            <a:avLst/>
          </a:prstGeom>
          <a:solidFill>
            <a:srgbClr val="FF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90872" y="4416552"/>
            <a:ext cx="15910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D1B2A"/>
                </a:solidFill>
              </a:rPr>
              <a:t>Head: 15 s ahead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90872" y="4663440"/>
            <a:ext cx="15910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D1B2A"/>
                </a:solidFill>
              </a:rPr>
              <a:t>128→64→3  (CLEAN/WARN/DEGR)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629400" y="4398264"/>
            <a:ext cx="1737360" cy="594360"/>
          </a:xfrm>
          <a:prstGeom prst="rect">
            <a:avLst/>
          </a:prstGeom>
          <a:solidFill>
            <a:srgbClr val="D55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702552" y="4416552"/>
            <a:ext cx="15910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D1B2A"/>
                </a:solidFill>
              </a:rPr>
              <a:t>Head: 30 s ahead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02552" y="4663440"/>
            <a:ext cx="15910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D1B2A"/>
                </a:solidFill>
              </a:rPr>
              <a:t>128→64→3  (CLEAN/WARN/DEGR)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60320" y="960120"/>
            <a:ext cx="6355080" cy="1188720"/>
          </a:xfrm>
          <a:prstGeom prst="rect">
            <a:avLst/>
          </a:prstGeom>
          <a:solidFill>
            <a:srgbClr val="E8F4FF"/>
          </a:solidFill>
          <a:ln w="12700">
            <a:solidFill>
              <a:srgbClr val="00A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651760" y="978408"/>
            <a:ext cx="6126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1B2A"/>
                </a:solidFill>
              </a:rPr>
              <a:t>Model Summary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651760" y="1261872"/>
            <a:ext cx="1554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1B2A"/>
                </a:solidFill>
              </a:rPr>
              <a:t>Parameters: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06240" y="1261872"/>
            <a:ext cx="4572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56575"/>
                </a:solidFill>
              </a:rPr>
              <a:t>~359,241  (all trainable)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651760" y="1412748"/>
            <a:ext cx="1554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1B2A"/>
                </a:solidFill>
              </a:rPr>
              <a:t>Input shape: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06240" y="1412748"/>
            <a:ext cx="4572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56575"/>
                </a:solidFill>
              </a:rPr>
              <a:t>(B, 30, 34)  — 30×1 Hz windows, 34 features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651760" y="1563624"/>
            <a:ext cx="1554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1B2A"/>
                </a:solidFill>
              </a:rPr>
              <a:t>Loss function: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06240" y="1563624"/>
            <a:ext cx="4572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56575"/>
                </a:solidFill>
              </a:rPr>
              <a:t>Focal Loss  γ=2.0  |  class weights [1, 3, 5]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651760" y="1714500"/>
            <a:ext cx="1554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1B2A"/>
                </a:solidFill>
              </a:rPr>
              <a:t>Optimiser: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06240" y="1714500"/>
            <a:ext cx="4572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56575"/>
                </a:solidFill>
              </a:rPr>
              <a:t>AdamW  lr=1e-3  |  weight_decay=1e-4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651760" y="1865376"/>
            <a:ext cx="1554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1B2A"/>
                </a:solidFill>
              </a:rPr>
              <a:t>LR schedule: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06240" y="1865376"/>
            <a:ext cx="4572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56575"/>
                </a:solidFill>
              </a:rPr>
              <a:t>5-epoch linear warmup + cosine decay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651760" y="2016252"/>
            <a:ext cx="1554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1B2A"/>
                </a:solidFill>
              </a:rPr>
              <a:t>Mixed precision: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06240" y="2016252"/>
            <a:ext cx="4572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56575"/>
                </a:solidFill>
              </a:rPr>
              <a:t>AMP enabled (GPU)  |  batch_size=256 on T4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560320" y="2240280"/>
            <a:ext cx="6355080" cy="1325880"/>
          </a:xfrm>
          <a:prstGeom prst="rect">
            <a:avLst/>
          </a:prstGeom>
          <a:solidFill>
            <a:srgbClr val="F5F5F5"/>
          </a:solidFill>
          <a:ln w="6350">
            <a:solidFill>
              <a:srgbClr val="5565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651760" y="2258568"/>
            <a:ext cx="6126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1B2A"/>
                </a:solidFill>
              </a:rPr>
              <a:t>Training Configuration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651760" y="2560320"/>
            <a:ext cx="1554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1B2A"/>
                </a:solidFill>
              </a:rPr>
              <a:t>Max epochs: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06240" y="2560320"/>
            <a:ext cx="4572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56575"/>
                </a:solidFill>
              </a:rPr>
              <a:t>150  (early stop patience = 20)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651760" y="2761488"/>
            <a:ext cx="1554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1B2A"/>
                </a:solidFill>
              </a:rPr>
              <a:t>Train/Val/Test: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206240" y="2761488"/>
            <a:ext cx="4572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56575"/>
                </a:solidFill>
              </a:rPr>
              <a:t>Session-based split  70 / 15 / 15 %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651760" y="2962656"/>
            <a:ext cx="1554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1B2A"/>
                </a:solidFill>
              </a:rPr>
              <a:t>Class imbalance: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06240" y="2962656"/>
            <a:ext cx="4572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56575"/>
                </a:solidFill>
              </a:rPr>
              <a:t>SMOTE oversampling on training windows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651760" y="3163824"/>
            <a:ext cx="1554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1B2A"/>
                </a:solidFill>
              </a:rPr>
              <a:t>Checkpointing: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06240" y="3163824"/>
            <a:ext cx="4572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56575"/>
                </a:solidFill>
              </a:rPr>
              <a:t>Save every 10 epochs + best val macro-F1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651760" y="3364992"/>
            <a:ext cx="1554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1B2A"/>
                </a:solidFill>
              </a:rPr>
              <a:t>Target metric: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06240" y="3364992"/>
            <a:ext cx="4572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56575"/>
                </a:solidFill>
              </a:rPr>
              <a:t>Macro-F1  (equal weight across 3 classes)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sp>
        <p:nvSpPr>
          <p:cNvPr id="1" name="Rectangl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7315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Dataset Expansion — 97,393 Labelled Epochs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85800"/>
            <a:ext cx="9144000" cy="18000"/>
          </a:xfrm>
          <a:prstGeom prst="rect">
            <a:avLst/>
          </a:prstGeom>
          <a:solidFill>
            <a:srgbClr val="00A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749808"/>
            <a:ext cx="8595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556575"/>
                </a:solidFill>
              </a:rPr>
              <a:t>3 quality classes: CLEAN / WARNING / DEGRADED  ·  10 sources  ·  3 cities  ·  4 GNSS constellations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" y="914400"/>
            <a:ext cx="3749039" cy="1371600"/>
          </a:xfrm>
          <a:prstGeom prst="rect">
            <a:avLst/>
          </a:prstGeom>
          <a:solidFill>
            <a:srgbClr val="E8F4FF"/>
          </a:solidFill>
          <a:ln w="12700">
            <a:solidFill>
              <a:srgbClr val="00A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932688"/>
            <a:ext cx="3566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1B2A"/>
                </a:solidFill>
              </a:rPr>
              <a:t>Label Distribution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234440"/>
            <a:ext cx="2137867" cy="237744"/>
          </a:xfrm>
          <a:prstGeom prst="rect">
            <a:avLst/>
          </a:prstGeom>
          <a:solidFill>
            <a:srgbClr val="00C8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7472" y="1264440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D1B2A"/>
                </a:solidFill>
              </a:rPr>
              <a:t>CLEAN  66.8%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1554480"/>
            <a:ext cx="649681" cy="237744"/>
          </a:xfrm>
          <a:prstGeom prst="rect">
            <a:avLst/>
          </a:prstGeom>
          <a:solidFill>
            <a:srgbClr val="FF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7472" y="1584480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D1B2A"/>
                </a:solidFill>
              </a:rPr>
              <a:t>WARNING  20.3%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1874520"/>
            <a:ext cx="412851" cy="237744"/>
          </a:xfrm>
          <a:prstGeom prst="rect">
            <a:avLst/>
          </a:prstGeom>
          <a:solidFill>
            <a:srgbClr val="D55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" y="1904520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D1B2A"/>
                </a:solidFill>
              </a:rPr>
              <a:t>DEGRADED  12.9%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8600" y="2423160"/>
            <a:ext cx="8686800" cy="32004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4320" y="24414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</a:rPr>
              <a:t>Source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86000" y="2441448"/>
            <a:ext cx="2331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</a:rPr>
              <a:t>City / Region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7720" y="2441448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</a:rPr>
              <a:t>Receiver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72200" y="244144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</a:rPr>
              <a:t>Rows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78040" y="2441448"/>
            <a:ext cx="1783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</a:rPr>
              <a:t>Scenarios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8600" y="2743200"/>
            <a:ext cx="8686800" cy="228600"/>
          </a:xfrm>
          <a:prstGeom prst="rect">
            <a:avLst/>
          </a:prstGeom>
          <a:solidFill>
            <a:srgbClr val="E8F4FF"/>
          </a:solidFill>
          <a:ln w="381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74320" y="2751200"/>
            <a:ext cx="2011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D1B2A"/>
                </a:solidFill>
              </a:rPr>
              <a:t>Septentrio scenarios (A–E)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86000" y="2751200"/>
            <a:ext cx="2331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D1B2A"/>
                </a:solidFill>
              </a:rPr>
              <a:t>Beijing, China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17720" y="2751200"/>
            <a:ext cx="1554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D1B2A"/>
                </a:solidFill>
              </a:rPr>
              <a:t>MOSAIC-X5C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72200" y="275120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D1B2A"/>
                </a:solidFill>
              </a:rPr>
              <a:t>~6 000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78040" y="2751200"/>
            <a:ext cx="1783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D1B2A"/>
                </a:solidFill>
              </a:rPr>
              <a:t>A B C D 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28600" y="2980944"/>
            <a:ext cx="8686800" cy="228600"/>
          </a:xfrm>
          <a:prstGeom prst="rect">
            <a:avLst/>
          </a:prstGeom>
          <a:solidFill>
            <a:srgbClr val="FFFFFF"/>
          </a:solidFill>
          <a:ln w="381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74320" y="2988944"/>
            <a:ext cx="2011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D1B2A"/>
                </a:solidFill>
              </a:rPr>
              <a:t>Supervisor Vehicle (×4)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86000" y="2988944"/>
            <a:ext cx="2331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D1B2A"/>
                </a:solidFill>
              </a:rPr>
              <a:t>Beijing, China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17720" y="2988944"/>
            <a:ext cx="1554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D1B2A"/>
                </a:solidFill>
              </a:rPr>
              <a:t>u-blox F9P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72200" y="298894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D1B2A"/>
                </a:solidFill>
              </a:rPr>
              <a:t>~5 000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78040" y="2988944"/>
            <a:ext cx="1783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D1B2A"/>
                </a:solidFill>
              </a:rPr>
              <a:t>B C D 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28600" y="3218688"/>
            <a:ext cx="8686800" cy="228600"/>
          </a:xfrm>
          <a:prstGeom prst="rect">
            <a:avLst/>
          </a:prstGeom>
          <a:solidFill>
            <a:srgbClr val="E8F4FF"/>
          </a:solidFill>
          <a:ln w="381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74320" y="3226688"/>
            <a:ext cx="2011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D1B2A"/>
                </a:solidFill>
              </a:rPr>
              <a:t>Supervisor Drone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286000" y="3226688"/>
            <a:ext cx="2331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D1B2A"/>
                </a:solidFill>
              </a:rPr>
              <a:t>Beijing, China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17720" y="3226688"/>
            <a:ext cx="1554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D1B2A"/>
                </a:solidFill>
              </a:rPr>
              <a:t>u-blox F9P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72200" y="322668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D1B2A"/>
                </a:solidFill>
              </a:rPr>
              <a:t>~2 000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178040" y="3226688"/>
            <a:ext cx="1783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D1B2A"/>
                </a:solidFill>
              </a:rPr>
              <a:t>D 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28600" y="3456432"/>
            <a:ext cx="8686800" cy="228600"/>
          </a:xfrm>
          <a:prstGeom prst="rect">
            <a:avLst/>
          </a:prstGeom>
          <a:solidFill>
            <a:srgbClr val="FFFFFF"/>
          </a:solidFill>
          <a:ln w="381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74320" y="3464432"/>
            <a:ext cx="2011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D1B2A"/>
                </a:solidFill>
              </a:rPr>
              <a:t>NCLT (2 dates)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286000" y="3464432"/>
            <a:ext cx="2331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D1B2A"/>
                </a:solidFill>
              </a:rPr>
              <a:t>Ann Arbor, USA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617720" y="3464432"/>
            <a:ext cx="1554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D1B2A"/>
                </a:solidFill>
              </a:rPr>
              <a:t>Velodyne+IMU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172200" y="34644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D1B2A"/>
                </a:solidFill>
              </a:rPr>
              <a:t>~14 400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178040" y="3464432"/>
            <a:ext cx="1783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D1B2A"/>
                </a:solidFill>
              </a:rPr>
              <a:t>B D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28600" y="3694176"/>
            <a:ext cx="8686800" cy="228600"/>
          </a:xfrm>
          <a:prstGeom prst="rect">
            <a:avLst/>
          </a:prstGeom>
          <a:solidFill>
            <a:srgbClr val="E8F4FF"/>
          </a:solidFill>
          <a:ln w="381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74320" y="3702176"/>
            <a:ext cx="2011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D1B2A"/>
                </a:solidFill>
              </a:rPr>
              <a:t>Oxford RobotCar (×4)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286000" y="3702176"/>
            <a:ext cx="2331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D1B2A"/>
                </a:solidFill>
              </a:rPr>
              <a:t>Oxford, UK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17720" y="3702176"/>
            <a:ext cx="1554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D1B2A"/>
                </a:solidFill>
              </a:rPr>
              <a:t>NovAtel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172200" y="370217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D1B2A"/>
                </a:solidFill>
              </a:rPr>
              <a:t>~10 800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178040" y="3702176"/>
            <a:ext cx="1783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D1B2A"/>
                </a:solidFill>
              </a:rPr>
              <a:t>B C D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28600" y="3931920"/>
            <a:ext cx="8686800" cy="228600"/>
          </a:xfrm>
          <a:prstGeom prst="rect">
            <a:avLst/>
          </a:prstGeom>
          <a:solidFill>
            <a:srgbClr val="FFFFFF"/>
          </a:solidFill>
          <a:ln w="381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74320" y="3939920"/>
            <a:ext cx="2011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D1B2A"/>
                </a:solidFill>
              </a:rPr>
              <a:t>UrbanNav HK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286000" y="3939920"/>
            <a:ext cx="2331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D1B2A"/>
                </a:solidFill>
              </a:rPr>
              <a:t>Hong Kong, China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617720" y="3939920"/>
            <a:ext cx="1554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D1B2A"/>
                </a:solidFill>
              </a:rPr>
              <a:t>u-blox ZED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172200" y="393992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D1B2A"/>
                </a:solidFill>
              </a:rPr>
              <a:t>~8 200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178040" y="3939920"/>
            <a:ext cx="1783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D1B2A"/>
                </a:solidFill>
              </a:rPr>
              <a:t>A B C D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28600" y="4169664"/>
            <a:ext cx="8686800" cy="228600"/>
          </a:xfrm>
          <a:prstGeom prst="rect">
            <a:avLst/>
          </a:prstGeom>
          <a:solidFill>
            <a:srgbClr val="E8F4FF"/>
          </a:solidFill>
          <a:ln w="381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74320" y="4177664"/>
            <a:ext cx="2011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D1B2A"/>
                </a:solidFill>
              </a:rPr>
              <a:t>UrbanNav Tokyo Odaiba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286000" y="4177664"/>
            <a:ext cx="2331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D1B2A"/>
                </a:solidFill>
              </a:rPr>
              <a:t>Tokyo, Japan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617720" y="4177664"/>
            <a:ext cx="1554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D1B2A"/>
                </a:solidFill>
              </a:rPr>
              <a:t>Trimble/u-blox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172200" y="4177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D1B2A"/>
                </a:solidFill>
              </a:rPr>
              <a:t>~5 500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178040" y="4177664"/>
            <a:ext cx="1783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D1B2A"/>
                </a:solidFill>
              </a:rPr>
              <a:t>C D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28600" y="4407408"/>
            <a:ext cx="8686800" cy="228600"/>
          </a:xfrm>
          <a:prstGeom prst="rect">
            <a:avLst/>
          </a:prstGeom>
          <a:solidFill>
            <a:srgbClr val="FFFFFF"/>
          </a:solidFill>
          <a:ln w="381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274320" y="4415408"/>
            <a:ext cx="2011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D1B2A"/>
                </a:solidFill>
              </a:rPr>
              <a:t>UrbanNav Tokyo Shinjuku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286000" y="4415408"/>
            <a:ext cx="2331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D1B2A"/>
                </a:solidFill>
              </a:rPr>
              <a:t>Tokyo, Japan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617720" y="4415408"/>
            <a:ext cx="1554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D1B2A"/>
                </a:solidFill>
              </a:rPr>
              <a:t>Trimble/u-blox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172200" y="441540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D1B2A"/>
                </a:solidFill>
              </a:rPr>
              <a:t>~5 500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178040" y="4415408"/>
            <a:ext cx="1783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D1B2A"/>
                </a:solidFill>
              </a:rPr>
              <a:t>B C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28600" y="4645152"/>
            <a:ext cx="8686800" cy="228600"/>
          </a:xfrm>
          <a:prstGeom prst="rect">
            <a:avLst/>
          </a:prstGeom>
          <a:solidFill>
            <a:srgbClr val="E8F4FF"/>
          </a:solidFill>
          <a:ln w="381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74320" y="4653152"/>
            <a:ext cx="2011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D1B2A"/>
                </a:solidFill>
              </a:rPr>
              <a:t>Phone A (GNSS Logger)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286000" y="4653152"/>
            <a:ext cx="2331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D1B2A"/>
                </a:solidFill>
              </a:rPr>
              <a:t>Beijing, China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617720" y="4653152"/>
            <a:ext cx="1554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D1B2A"/>
                </a:solidFill>
              </a:rPr>
              <a:t>Smartphone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172200" y="465315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D1B2A"/>
                </a:solidFill>
              </a:rPr>
              <a:t>~4 000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178040" y="4653152"/>
            <a:ext cx="1783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D1B2A"/>
                </a:solidFill>
              </a:rPr>
              <a:t>A B C D E</a:t>
            </a:r>
          </a:p>
        </p:txBody>
      </p:sp>
      <p:sp>
        <p:nvSpPr>
          <p:cNvPr id="74" name="Rectangle 73"/>
          <p:cNvSpPr/>
          <p:nvPr/>
        </p:nvSpPr>
        <p:spPr>
          <a:xfrm>
            <a:off x="228600" y="4882896"/>
            <a:ext cx="8686800" cy="228600"/>
          </a:xfrm>
          <a:prstGeom prst="rect">
            <a:avLst/>
          </a:prstGeom>
          <a:solidFill>
            <a:srgbClr val="FFFFFF"/>
          </a:solidFill>
          <a:ln w="381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274320" y="4890896"/>
            <a:ext cx="2011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D1B2A"/>
                </a:solidFill>
              </a:rPr>
              <a:t>Phone B (GPX/GNSS Logger)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286000" y="4890896"/>
            <a:ext cx="2331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D1B2A"/>
                </a:solidFill>
              </a:rPr>
              <a:t>Beijing, China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617720" y="4890896"/>
            <a:ext cx="1554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D1B2A"/>
                </a:solidFill>
              </a:rPr>
              <a:t>Smartphone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172200" y="489089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D1B2A"/>
                </a:solidFill>
              </a:rPr>
              <a:t>~4 000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178040" y="4890896"/>
            <a:ext cx="1783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D1B2A"/>
                </a:solidFill>
              </a:rPr>
              <a:t>A B C D E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28600" y="4818888"/>
            <a:ext cx="8686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0A8FF"/>
                </a:solidFill>
              </a:rPr>
              <a:t>Total: 97,393 rows  ·  41 features  ·  Labelled CSV tracked in GitHub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sp>
        <p:nvSpPr>
          <p:cNvPr id="1" name="Rectangl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7315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SENTINEL-GNSS — Full Training 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85800"/>
            <a:ext cx="9144000" cy="18000"/>
          </a:xfrm>
          <a:prstGeom prst="rect">
            <a:avLst/>
          </a:prstGeom>
          <a:solidFill>
            <a:srgbClr val="00A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749808"/>
            <a:ext cx="8595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556575"/>
                </a:solidFill>
              </a:rPr>
              <a:t>3-command workflow: feature_prep → train → evaluate  ·  resumable, reproducible, debug-mode available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914400"/>
            <a:ext cx="2560320" cy="3383280"/>
          </a:xfrm>
          <a:prstGeom prst="rect">
            <a:avLst/>
          </a:prstGeom>
          <a:solidFill>
            <a:srgbClr val="0D1B2A"/>
          </a:solidFill>
          <a:ln w="25400">
            <a:solidFill>
              <a:srgbClr val="00A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93192" y="987552"/>
            <a:ext cx="329184" cy="329184"/>
          </a:xfrm>
          <a:prstGeom prst="rect">
            <a:avLst/>
          </a:prstGeom>
          <a:solidFill>
            <a:srgbClr val="00A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2336" y="996696"/>
            <a:ext cx="310896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D1B2A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" y="1389888"/>
            <a:ext cx="241401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00A8FF"/>
                </a:solidFill>
              </a:rPr>
              <a:t>python -m src.models.feature_prep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" y="987552"/>
            <a:ext cx="24140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</a:rPr>
              <a:t>feature_prep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" y="1691640"/>
            <a:ext cx="235915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8F4FF"/>
                </a:solidFill>
              </a:rPr>
              <a:t>• Loads labelled CSV (97 k rows)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" y="2121408"/>
            <a:ext cx="235915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8F4FF"/>
                </a:solidFill>
              </a:rPr>
              <a:t>• Imputes &amp; scales 34 features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" y="2551176"/>
            <a:ext cx="235915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8F4FF"/>
                </a:solidFill>
              </a:rPr>
              <a:t>• Sliding windows T=30 @ 1 Hz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" y="2980944"/>
            <a:ext cx="235915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8F4FF"/>
                </a:solidFill>
              </a:rPr>
              <a:t>• SMOTE on training split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" y="3410712"/>
            <a:ext cx="235915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8F4FF"/>
                </a:solidFill>
              </a:rPr>
              <a:t>• Saves train/val/test .npz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926080" y="2423160"/>
            <a:ext cx="320040" cy="109728"/>
          </a:xfrm>
          <a:prstGeom prst="rect">
            <a:avLst/>
          </a:prstGeom>
          <a:solidFill>
            <a:srgbClr val="00A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94660" y="233172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A8FF"/>
                </a:solidFill>
              </a:rPr>
              <a:t>▶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91840" y="914400"/>
            <a:ext cx="2560320" cy="3383280"/>
          </a:xfrm>
          <a:prstGeom prst="rect">
            <a:avLst/>
          </a:prstGeom>
          <a:solidFill>
            <a:srgbClr val="0D1B2A"/>
          </a:solidFill>
          <a:ln w="25400">
            <a:solidFill>
              <a:srgbClr val="00C8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364992" y="987552"/>
            <a:ext cx="329184" cy="329184"/>
          </a:xfrm>
          <a:prstGeom prst="rect">
            <a:avLst/>
          </a:prstGeom>
          <a:solidFill>
            <a:srgbClr val="00C8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74136" y="996696"/>
            <a:ext cx="310896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D1B2A"/>
                </a:solidFill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64992" y="1389888"/>
            <a:ext cx="241401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00C86E"/>
                </a:solidFill>
              </a:rPr>
              <a:t>python -m src.models.train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64992" y="987552"/>
            <a:ext cx="24140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</a:rPr>
              <a:t>train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19856" y="1691640"/>
            <a:ext cx="235915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8F4FF"/>
                </a:solidFill>
              </a:rPr>
              <a:t>• Builds SentinelGNSS model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19856" y="2121408"/>
            <a:ext cx="235915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8F4FF"/>
                </a:solidFill>
              </a:rPr>
              <a:t>• AdamW + cosine LR schedule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19856" y="2551176"/>
            <a:ext cx="235915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8F4FF"/>
                </a:solidFill>
              </a:rPr>
              <a:t>• Focal Loss (γ=2, cls wts)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19856" y="2980944"/>
            <a:ext cx="235915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8F4FF"/>
                </a:solidFill>
              </a:rPr>
              <a:t>• Saves checkpoint every 10 ep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19856" y="3410712"/>
            <a:ext cx="235915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8F4FF"/>
                </a:solidFill>
              </a:rPr>
              <a:t>• --resume from last checkpoint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897880" y="2423160"/>
            <a:ext cx="320040" cy="109728"/>
          </a:xfrm>
          <a:prstGeom prst="rect">
            <a:avLst/>
          </a:prstGeom>
          <a:solidFill>
            <a:srgbClr val="00A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66460" y="233172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A8FF"/>
                </a:solidFill>
              </a:rPr>
              <a:t>▶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63640" y="914400"/>
            <a:ext cx="2560320" cy="3383280"/>
          </a:xfrm>
          <a:prstGeom prst="rect">
            <a:avLst/>
          </a:prstGeom>
          <a:solidFill>
            <a:srgbClr val="0D1B2A"/>
          </a:solidFill>
          <a:ln w="25400">
            <a:solidFill>
              <a:srgbClr val="7B2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336792" y="987552"/>
            <a:ext cx="329184" cy="329184"/>
          </a:xfrm>
          <a:prstGeom prst="rect">
            <a:avLst/>
          </a:prstGeom>
          <a:solidFill>
            <a:srgbClr val="7B2F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45936" y="996696"/>
            <a:ext cx="310896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D1B2A"/>
                </a:solidFill>
              </a:rP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36792" y="1389888"/>
            <a:ext cx="241401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7B2FBE"/>
                </a:solidFill>
              </a:rPr>
              <a:t>python -m src.models.evaluate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36792" y="987552"/>
            <a:ext cx="24140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</a:rPr>
              <a:t>evaluate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91656" y="1691640"/>
            <a:ext cx="235915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8F4FF"/>
                </a:solidFill>
              </a:rPr>
              <a:t>• Loads best checkpoint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91656" y="2121408"/>
            <a:ext cx="235915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8F4FF"/>
                </a:solidFill>
              </a:rPr>
              <a:t>• 14 analysis figures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91656" y="2551176"/>
            <a:ext cx="235915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8F4FF"/>
                </a:solidFill>
              </a:rPr>
              <a:t>• Confusion matrix × 3 horizons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91656" y="2980944"/>
            <a:ext cx="235915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8F4FF"/>
                </a:solidFill>
              </a:rPr>
              <a:t>• Precision-recall &amp; ROC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91656" y="3410712"/>
            <a:ext cx="235915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8F4FF"/>
                </a:solidFill>
              </a:rPr>
              <a:t>• Per-source performance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28600" y="4434840"/>
            <a:ext cx="8686800" cy="566928"/>
          </a:xfrm>
          <a:prstGeom prst="rect">
            <a:avLst/>
          </a:prstGeom>
          <a:solidFill>
            <a:srgbClr val="E8F4FF"/>
          </a:solidFill>
          <a:ln w="12700">
            <a:solidFill>
              <a:srgbClr val="00A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20040" y="448056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D1B2A"/>
                </a:solidFill>
              </a:rPr>
              <a:t>Debug mode: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325880" y="4480560"/>
            <a:ext cx="74980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56575"/>
                </a:solidFill>
              </a:rPr>
              <a:t>python -m src.models.feature_prep --debug   python -m src.models.train --debug   python -m src.models.evaluate --debug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20040" y="4681728"/>
            <a:ext cx="8503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556575"/>
                </a:solidFill>
              </a:rPr>
              <a:t>500 rows/source  ·  5 epochs  ·  separate debug windows &amp; checkpoints  ·  never overwrites real data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sp>
        <p:nvSpPr>
          <p:cNvPr id="1" name="Rectangl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7315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Preliminary Results &amp; Colab Training Setup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85800"/>
            <a:ext cx="9144000" cy="18000"/>
          </a:xfrm>
          <a:prstGeom prst="rect">
            <a:avLst/>
          </a:prstGeom>
          <a:solidFill>
            <a:srgbClr val="00A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749808"/>
            <a:ext cx="8595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556575"/>
                </a:solidFill>
              </a:rPr>
              <a:t>Smoke test (5 epochs, debug dataset)  ·  Full 150-epoch run on Colab T4 — in progress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" y="914400"/>
            <a:ext cx="4160520" cy="4069080"/>
          </a:xfrm>
          <a:prstGeom prst="rect">
            <a:avLst/>
          </a:prstGeom>
          <a:solidFill>
            <a:srgbClr val="E8F4FF"/>
          </a:solidFill>
          <a:ln w="19050">
            <a:solidFill>
              <a:srgbClr val="00A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932688"/>
            <a:ext cx="39776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1B2A"/>
                </a:solidFill>
              </a:rPr>
              <a:t>Smoke Test Results  (debug mode)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1207008"/>
            <a:ext cx="397763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556575"/>
                </a:solidFill>
              </a:rPr>
              <a:t>5 epochs  ·  500 rows/source  ·  CPU (Quadro M1200)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481328"/>
            <a:ext cx="3977639" cy="685800"/>
          </a:xfrm>
          <a:prstGeom prst="rect">
            <a:avLst/>
          </a:prstGeom>
          <a:solidFill>
            <a:srgbClr val="00C8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508760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1B2A"/>
                </a:solidFill>
              </a:rPr>
              <a:t>Best val macro-F1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23160" y="1481328"/>
            <a:ext cx="173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0D1B2A"/>
                </a:solidFill>
              </a:rPr>
              <a:t>0.9375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173736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0D1B2A"/>
                </a:solidFill>
              </a:rPr>
              <a:t>at epoch 3  (early stop patience = 20)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2258568"/>
            <a:ext cx="3977639" cy="347472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3192" y="226656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D1B2A"/>
                </a:solidFill>
              </a:rPr>
              <a:t>Training time (5 ep)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21992" y="2266568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</a:rPr>
              <a:t>~45 s on CPU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2642616"/>
            <a:ext cx="3977639" cy="347472"/>
          </a:xfrm>
          <a:prstGeom prst="rect">
            <a:avLst/>
          </a:prstGeom>
          <a:solidFill>
            <a:srgbClr val="F0F8FF"/>
          </a:solidFill>
          <a:ln w="381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3192" y="2650616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D1B2A"/>
                </a:solidFill>
              </a:rPr>
              <a:t>Checkpoints saved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21992" y="2650616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</a:rPr>
              <a:t>epoch_3.pt  +  best.pt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3026664"/>
            <a:ext cx="3977639" cy="347472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3192" y="3034664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D1B2A"/>
                </a:solidFill>
              </a:rPr>
              <a:t>Figures generated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21992" y="303466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</a:rPr>
              <a:t>14 evaluation charts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3410712"/>
            <a:ext cx="3977639" cy="347472"/>
          </a:xfrm>
          <a:prstGeom prst="rect">
            <a:avLst/>
          </a:prstGeom>
          <a:solidFill>
            <a:srgbClr val="F0F8FF"/>
          </a:solidFill>
          <a:ln w="381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93192" y="341871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D1B2A"/>
                </a:solidFill>
              </a:rPr>
              <a:t>Classes resolved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21992" y="341871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</a:rPr>
              <a:t>CLEAN · WARNING · DEGRADED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40" y="3794760"/>
            <a:ext cx="3977639" cy="347472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93192" y="38027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D1B2A"/>
                </a:solidFill>
              </a:rPr>
              <a:t>Pipeline status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221992" y="380276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</a:rPr>
              <a:t>All 3 commands passed ✔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617720" y="914400"/>
            <a:ext cx="4297680" cy="4069080"/>
          </a:xfrm>
          <a:prstGeom prst="rect">
            <a:avLst/>
          </a:prstGeom>
          <a:solidFill>
            <a:srgbClr val="0D1B2A"/>
          </a:solidFill>
          <a:ln w="19050">
            <a:solidFill>
              <a:srgbClr val="00A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09160" y="932688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A8FF"/>
                </a:solidFill>
              </a:rPr>
              <a:t>Google Colab Training (Full Run)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09160" y="129844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A8FF"/>
                </a:solidFill>
              </a:rPr>
              <a:t>GPU: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97880" y="1298448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C86E"/>
                </a:solidFill>
              </a:rPr>
              <a:t>Tesla T4  —  15.6 GB VRAM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09160" y="16459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A8FF"/>
                </a:solidFill>
              </a:rPr>
              <a:t>Batch size: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897880" y="164592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256  (vs 64 on local CPU)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09160" y="199339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A8FF"/>
                </a:solidFill>
              </a:rPr>
              <a:t>Speed: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897880" y="199339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C86E"/>
                </a:solidFill>
              </a:rPr>
              <a:t>~20× faster than local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709160" y="234086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A8FF"/>
                </a:solidFill>
              </a:rPr>
              <a:t>Epochs: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897880" y="2340864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150  (early stop at plateau)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09160" y="268833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A8FF"/>
                </a:solidFill>
              </a:rPr>
              <a:t>Data: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97880" y="2688336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CSV cloned from GitHub — no Drive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709160" y="303580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A8FF"/>
                </a:solidFill>
              </a:rPr>
              <a:t>Checkpoints: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897880" y="3035808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A500"/>
                </a:solidFill>
              </a:rPr>
              <a:t>→ Google Drive (survives disconnect)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709160" y="338328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A8FF"/>
                </a:solidFill>
              </a:rPr>
              <a:t>Figures: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97880" y="338328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A500"/>
                </a:solidFill>
              </a:rPr>
              <a:t>→ Google Drive (14 PDF + PNG)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709160" y="373075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A8FF"/>
                </a:solidFill>
              </a:rPr>
              <a:t>Resume: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897880" y="373075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--resume flag for auto-recovery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709160" y="4114800"/>
            <a:ext cx="4114800" cy="347472"/>
          </a:xfrm>
          <a:prstGeom prst="rect">
            <a:avLst/>
          </a:prstGeom>
          <a:solidFill>
            <a:srgbClr val="1A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773168" y="4133087"/>
            <a:ext cx="398678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00C86E"/>
                </a:solidFill>
              </a:rPr>
              <a:t>!python -m src.models.train --resume --batch_size 256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28600" y="4818888"/>
            <a:ext cx="8686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556575"/>
                </a:solidFill>
              </a:rPr>
              <a:t>Full results (confusion matrices, per-source breakdown, 14 figures) available after Colab run completes.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44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77D3FDC4-74B1-449F-8EBE-106FA813859B}">
  <we:reference id="wa200010001" version="1.0.0.1" store="en-US" storeType="OMEX"/>
  <we:alternateReferences>
    <we:reference id="WA200010001" version="1.0.0.1" store="WA200010001" storeType="OMEX"/>
  </we:alternateReferences>
  <we:properties>
    <we:property name="claude.fileId" value="&quot;14508977-b426-4c04-a2e5-05362d283bf2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1113</TotalTime>
  <Words>1415</Words>
  <Application>Microsoft Macintosh PowerPoint</Application>
  <PresentationFormat>On-screen Show (16:9)</PresentationFormat>
  <Paragraphs>270</Paragraphs>
  <Slides>19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3" baseType="lpstr">
      <vt:lpstr>Arial</vt:lpstr>
      <vt:lpstr>Arial Black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AI-Based Prediction of GNSS Signal Degradation for Autonomous Driving</dc:title>
  <dc:subject>PptxGenJS Presentation</dc:subject>
  <dc:creator>Ojerinde Joel Segun &amp; Team — Beihang University 2025</dc:creator>
  <cp:lastModifiedBy>Ogunlade, Joshua (jogunla1)</cp:lastModifiedBy>
  <cp:revision>23</cp:revision>
  <dcterms:created xsi:type="dcterms:W3CDTF">2026-04-24T07:17:25Z</dcterms:created>
  <dcterms:modified xsi:type="dcterms:W3CDTF">2026-05-07T08:04:55Z</dcterms:modified>
</cp:coreProperties>
</file>