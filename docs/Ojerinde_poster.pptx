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3566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32918400" cy="914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828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4FC3F7"/>
                </a:solidFill>
              </a:rPr>
              <a:t>RCSSTEAP · Beihang University · Hangzhou, China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06719" y="182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300" b="0" i="0">
                <a:solidFill>
                  <a:srgbClr val="4FC3F7"/>
                </a:solidFill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94944"/>
            <a:ext cx="3200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AI-Based Proactive Prediction of GNSS Signal Degradation
for Autonomous Vehicle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200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FC3F7"/>
                </a:solidFill>
              </a:rPr>
              <a:t>Ojerinde Joel Segun   (LS2525253)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3200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8E8"/>
                </a:solidFill>
              </a:rPr>
              <a:t>Regional Centre for Space Science &amp; Technology Education in Asia and the Pacific  |  Beihang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13632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4498848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" y="3995928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 · Introduction &amp; Motivation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590288"/>
            <a:ext cx="15453359" cy="4023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4718303"/>
            <a:ext cx="1501444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03893"/>
                </a:solidFill>
              </a:rPr>
              <a:t>The Problem</a:t>
            </a:r>
          </a:p>
          <a:p>
            <a:pPr algn="l">
              <a:spcBef>
                <a:spcPts val="500"/>
              </a:spcBef>
            </a:pPr>
            <a:r>
              <a:rPr sz="2000" b="0">
                <a:solidFill>
                  <a:srgbClr val="0A1733"/>
                </a:solidFill>
              </a:rPr>
              <a:t>GNSS is the only drift-free absolute-position source for autonomous vehicles (AVs). Urban canyons, bridges, and tunnels create Non-Line-of-Sight (NLOS) multipath, causing silent position jumps of 10–50 m.</a:t>
            </a:r>
          </a:p>
          <a:p>
            <a:pPr algn="l"/>
            <a:r>
              <a:rPr sz="6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700"/>
              </a:spcBef>
            </a:pPr>
            <a:r>
              <a:rPr sz="2300" b="1">
                <a:solidFill>
                  <a:srgbClr val="003893"/>
                </a:solidFill>
              </a:rPr>
              <a:t>Why Proactive?</a:t>
            </a:r>
          </a:p>
          <a:p>
            <a:pPr algn="l">
              <a:spcBef>
                <a:spcPts val="500"/>
              </a:spcBef>
            </a:pPr>
            <a:r>
              <a:rPr sz="2000" b="0">
                <a:solidFill>
                  <a:srgbClr val="0A1733"/>
                </a:solidFill>
              </a:rPr>
              <a:t>At 60 km/h, a 5-second positioning gap displaces the vehicle 83 m. Reactive systems detect errors only after they occur. SENTINEL-GNSS predicts degradation 5–30 s ahead, giving the planner time to engage IMU dead-reckoning before GNSS fails.</a:t>
            </a:r>
          </a:p>
          <a:p>
            <a:pPr algn="l"/>
            <a:r>
              <a:rPr sz="6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700"/>
              </a:spcBef>
            </a:pPr>
            <a:r>
              <a:rPr sz="2300" b="1">
                <a:solidFill>
                  <a:srgbClr val="003893"/>
                </a:solidFill>
              </a:rPr>
              <a:t>Research Goal</a:t>
            </a:r>
          </a:p>
          <a:p>
            <a:pPr algn="l">
              <a:spcBef>
                <a:spcPts val="500"/>
              </a:spcBef>
            </a:pPr>
            <a:r>
              <a:rPr sz="2000" b="0">
                <a:solidFill>
                  <a:srgbClr val="0A1733"/>
                </a:solidFill>
              </a:rPr>
              <a:t>Multi-horizon proactive classification — CLEAN · WARNING · DEGRADED — at +5 s, +15 s, +30 s, fused into an adaptive Extended Kalman Filter for real-time AV navigation.</a:t>
            </a:r>
          </a:p>
        </p:txBody>
      </p:sp>
      <p:pic>
        <p:nvPicPr>
          <p:cNvPr id="15" name="Picture 14" descr="fig13_reactive_vs_pro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8705088"/>
            <a:ext cx="15014447" cy="3291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496" y="12015216"/>
            <a:ext cx="150144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Fig. 1: Reactive detection vs. proactive prediction — SENTINEL warns before position error appears.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637008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3222224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12719304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2 · Multi-City 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3313664"/>
            <a:ext cx="15453359" cy="23774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13441680"/>
            <a:ext cx="15014447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93"/>
                </a:solidFill>
              </a:rPr>
              <a:t>149,662 labelled epochs  ·  4 cities  ·  9+ receiver types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Training (Hangzhou + Hong Kong):  62,413 epochs  ·  no-SMOTE  ·  Focal Loss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Validation: 18,074   ·   Test: 1,686  (731 CLEAN / 746 WARN / 209 DEG)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Cross-city zero-shot (Tokyo): ~31,236 windows, never seen in training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37 features per epoch: C/N₀, DOP metrics, satellite geometry, 4 derived</a:t>
            </a:r>
          </a:p>
        </p:txBody>
      </p:sp>
      <p:pic>
        <p:nvPicPr>
          <p:cNvPr id="22" name="Picture 21" descr="fig11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5782544"/>
            <a:ext cx="15014447" cy="2926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9496" y="18726912"/>
            <a:ext cx="150144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Fig. 2: Class distribution across splits — DEGRADED is rare (~12% of test), motivating Focal Loss (γ=1.0) with class-weights [1, 2, 5].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9348704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19933920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19431000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 · SENTINEL-GNSS Architecture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0025360"/>
            <a:ext cx="15453359" cy="2606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" y="20153376"/>
            <a:ext cx="150144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93"/>
                </a:solidFill>
              </a:rPr>
              <a:t>Hybrid Transformer + LSTM  ·  1,456,652 parameters  ·  17.8 MB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Input:      30 × 37 sliding window  →  linear projection (37 → 128)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Encoder:  2-layer Transformer Encoder  ·  8 heads  ·  d_model=128  ·  d_ff=512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Decoder:  2-layer LSTM  ·  hidden=256  ·  unidirectional  ·  dropout=0.3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Output:   4 heads — +5 s, +15 s, +30 s (primary) + auxiliary t+0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Training: AdamW lr=1e-3  ·  batch=256  ·  patience=50  ·  Tesla T4 GPU</a:t>
            </a:r>
          </a:p>
        </p:txBody>
      </p:sp>
      <p:pic>
        <p:nvPicPr>
          <p:cNvPr id="29" name="Picture 28" descr="fig14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2722840"/>
            <a:ext cx="15014447" cy="4572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496" y="27313128"/>
            <a:ext cx="150144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Fig. 3: SENTINEL-GNSS hybrid architecture — one forward pass yields all four output heads simultaneously.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7934920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28520136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28017216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 · Ablation Study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8611576"/>
            <a:ext cx="15453359" cy="19202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28739592"/>
            <a:ext cx="15014447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93"/>
                </a:solidFill>
              </a:rPr>
              <a:t>Each architectural component contributes independently: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Transformer-only (427K):   Macro-F1=0.767  ·  DEGRADED F1=0.571  ·  MCC=0.725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LSTM-only (1,027K):        Macro-F1=0.767  ·  DEGRADED F1=0.645  ·  MCC=0.702</a:t>
            </a:r>
          </a:p>
          <a:p>
            <a:pPr algn="l">
              <a:spcBef>
                <a:spcPts val="300"/>
              </a:spcBef>
            </a:pPr>
            <a:r>
              <a:rPr sz="2000" b="1">
                <a:solidFill>
                  <a:srgbClr val="1B873A"/>
                </a:solidFill>
              </a:rPr>
              <a:t>Full SENTINEL (1,457K):    Macro-F1=0.821  ·  DEGRADED F1=0.718  ·  MCC=0.773</a:t>
            </a:r>
          </a:p>
          <a:p>
            <a:pPr algn="l"/>
            <a:r>
              <a:rPr sz="4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900" b="0">
                <a:solidFill>
                  <a:srgbClr val="0A1733"/>
                </a:solidFill>
              </a:rPr>
              <a:t>Transformer captures global PDOP trends; LSTM preserves epoch-level temporal state. Combined: +0.147 DEGRADED F1 over Transformer-only.</a:t>
            </a:r>
          </a:p>
        </p:txBody>
      </p:sp>
      <p:pic>
        <p:nvPicPr>
          <p:cNvPr id="36" name="Picture 35" descr="fig04_ab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0623256"/>
            <a:ext cx="15014447" cy="34747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9496" y="34116264"/>
            <a:ext cx="150144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Fig. 4: Ablation across architecture variants. Full model (navy) outperforms each component in isolation on all three metrics.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4738056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5323272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7" y="34820352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5 · Individual Contributions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5414712"/>
            <a:ext cx="15453359" cy="41605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" y="35542728"/>
            <a:ext cx="1501444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93"/>
                </a:solidFill>
              </a:rPr>
              <a:t>Repository &amp; Software Architecture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Designed the project repository structure, module layout, CI pipeline, and the 37-feature engineering specification.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003893"/>
                </a:solidFill>
              </a:rPr>
              <a:t>Model Design &amp; Training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Designed and trained the Transformer+LSTM hybrid (1,456,652 parameters) with Focal Loss, temperature calibration (T=0.4023), and threshold tuning; conducted all ablation experiments reported above.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003893"/>
                </a:solidFill>
              </a:rPr>
              <a:t>EKF Fusion Pipeline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Implemented the 9-state IMU-aided EKF with SENTINEL adaptive-R, Huber robust variant, and Student-t particle filter.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003893"/>
                </a:solidFill>
              </a:rPr>
              <a:t>Inference Packaging &amp; Documentation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Packaged the model for real-time deployment (0.0449 ms/sample on GPU) and authored all project documentation and paper manuscripts.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145000" y="3913632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145000" y="4498848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346168" y="3995928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· Classification Results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5000" y="4590288"/>
            <a:ext cx="15453359" cy="47548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364456" y="4663440"/>
            <a:ext cx="1501444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Table 1: Multi-horizon performance — held-out test set (n = 1,686)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7145000" y="5084064"/>
          <a:ext cx="1545335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582"/>
                <a:gridCol w="2915728"/>
                <a:gridCol w="4665165"/>
                <a:gridCol w="2332582"/>
                <a:gridCol w="3207301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Bootstrap 95% CI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DEGRADED 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A1733"/>
                          </a:solidFill>
                        </a:rPr>
                        <a:t>+5 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[0.798, 0.840]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0.773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0.718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A1733"/>
                          </a:solidFill>
                        </a:rPr>
                        <a:t>+15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[0.717, 0.764]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A1733"/>
                          </a:solidFill>
                        </a:rPr>
                        <a:t>+30 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0.783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[0.758, 0.804]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0.731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A1733"/>
                          </a:solidFill>
                        </a:rPr>
                        <a:t>0.629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pic>
        <p:nvPicPr>
          <p:cNvPr id="49" name="Picture 48" descr="confusion_matrices_t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64456" y="7004304"/>
            <a:ext cx="15014447" cy="5120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7364456" y="12143232"/>
            <a:ext cx="1501444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Fig. 4: Row-normalised confusion matrices at +5 s / +15 s / +30 s. CLEAN recall &gt; 0.97 at all horizons; DEGRADED recall falls from 0.847 → 0.734 as the prediction window extends.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145000" y="12856464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7145000" y="13441680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346168" y="12938760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7 · Cross-City Generalisation (Zero-Shot Tokyo)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5000" y="13533120"/>
            <a:ext cx="15453359" cy="2651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364456" y="13661136"/>
            <a:ext cx="15014447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93"/>
                </a:solidFill>
              </a:rPr>
              <a:t>Trained on HK + Hangzhou  ·  Tested zero-shot on Tokyo (31,236 windows)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Tokyo presents different skyline geometry, satellite visibility, and receiver hardware — a strict out-of-domain evaluation.</a:t>
            </a:r>
          </a:p>
          <a:p>
            <a:pPr algn="l"/>
            <a:r>
              <a:rPr sz="6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300" b="1">
                <a:solidFill>
                  <a:srgbClr val="1B873A"/>
                </a:solidFill>
              </a:rPr>
              <a:t>SENTINEL   DEGRADED F1 = 0.753    (maintains 79% of in-domain level)</a:t>
            </a:r>
          </a:p>
          <a:p>
            <a:pPr algn="l">
              <a:spcBef>
                <a:spcPts val="400"/>
              </a:spcBef>
            </a:pPr>
            <a:r>
              <a:rPr sz="2300" b="1">
                <a:solidFill>
                  <a:srgbClr val="C62828"/>
                </a:solidFill>
              </a:rPr>
              <a:t>RandomForest   DEGRADED F1 = 0.148    (collapses −81% out-of-domain)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SENTINEL learns degradation dynamics (C/N₀ decay, DOP drift) rather than site-specific noise. No per-city retraining is required.</a:t>
            </a:r>
          </a:p>
        </p:txBody>
      </p:sp>
      <p:pic>
        <p:nvPicPr>
          <p:cNvPr id="56" name="Picture 55" descr="fig05_crosscity_degra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64456" y="16276320"/>
            <a:ext cx="15014447" cy="40233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7364456" y="20317968"/>
            <a:ext cx="150144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Fig. 6: DEGRADED-class F1 at +5 s — HK in-domain vs. Tokyo zero-shot. SENTINEL holds at 0.753; Random Forest collapses to 0.148.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45000" y="20921472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7145000" y="21506688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346168" y="21003768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8 · Prediction-Informed EKF Fusion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145000" y="21598128"/>
            <a:ext cx="15453359" cy="2651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64456" y="21726144"/>
            <a:ext cx="15014447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93"/>
                </a:solidFill>
              </a:rPr>
              <a:t>Adaptive Measurement Noise Covariance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Standard KF weights every GNSS fix equally. SENTINEL's P(DEGRADED) inflates the GPS noise covariance R before bad fixes arrive:</a:t>
            </a:r>
          </a:p>
          <a:p>
            <a:pPr algn="l"/>
            <a:r>
              <a:rPr sz="4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57F17"/>
                </a:solidFill>
              </a:rPr>
              <a:t>    R = (100 m)² · I     when P(DEGRADED) &gt; 0.5</a:t>
            </a:r>
          </a:p>
          <a:p>
            <a:pPr algn="l">
              <a:spcBef>
                <a:spcPts val="300"/>
              </a:spcBef>
            </a:pPr>
            <a:r>
              <a:rPr sz="2200" b="1">
                <a:solidFill>
                  <a:srgbClr val="005BAC"/>
                </a:solidFill>
              </a:rPr>
              <a:t>    R = r_base² · I       otherwise</a:t>
            </a:r>
          </a:p>
          <a:p>
            <a:pPr algn="l"/>
            <a:r>
              <a:rPr sz="4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Joseph-form covariance update keeps P positive semi-definite even when R jumps by orders of magnitude between epochs. The EKF distrusts GNSS before position error appears, falling back on IMU dead-reckoning during blockage.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145000" y="24341328"/>
            <a:ext cx="15453359" cy="47548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364456" y="24414480"/>
            <a:ext cx="1501444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Table 2: Position RMSE — real-data Tokyo Shinjuku (n = 20,949 epochs @ 10 Hz)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17145000" y="24835104"/>
          <a:ext cx="1545335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0800"/>
                <a:gridCol w="3893759"/>
                <a:gridCol w="425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Degraded RMSE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Reduction vs. Raw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A1733"/>
                          </a:solidFill>
                        </a:rPr>
                        <a:t>GNSS raw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A1733"/>
                          </a:solidFill>
                        </a:rPr>
                        <a:t>47.40 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A17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A1733"/>
                          </a:solidFill>
                        </a:rPr>
                        <a:t>EKF fixed-R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A1733"/>
                          </a:solidFill>
                        </a:rPr>
                        <a:t>24.28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B873A"/>
                          </a:solidFill>
                        </a:rPr>
                        <a:t>−48.8%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A1733"/>
                          </a:solidFill>
                        </a:rPr>
                        <a:t>SENTINEL calibrated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A1733"/>
                          </a:solidFill>
                        </a:rPr>
                        <a:t>29.05 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B873A"/>
                          </a:solidFill>
                        </a:rPr>
                        <a:t>−38.7%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A1733"/>
                          </a:solidFill>
                        </a:rPr>
                        <a:t>SENTINEL calib + online 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A1733"/>
                          </a:solidFill>
                        </a:rPr>
                        <a:t>26.93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B873A"/>
                          </a:solidFill>
                        </a:rPr>
                        <a:t>−43.2%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6" name="Picture 65" descr="fig07_ekf_rm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64456" y="26846784"/>
            <a:ext cx="15014447" cy="329184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7364456" y="30156912"/>
            <a:ext cx="150144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Fig. 7: Degraded-segment RMSE across EKF configurations. SENTINEL calibrated reduces error by 38.7%; online σ reaches 43.2%.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145000" y="30760416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7145000" y="31345632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346168" y="30842712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9 · Deployment Efficiency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145000" y="31437072"/>
            <a:ext cx="15453359" cy="1737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364456" y="31565088"/>
            <a:ext cx="1501444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93"/>
                </a:solidFill>
              </a:rPr>
              <a:t>0.0449 ms / sample  ·  9.46× faster than RF + XGB + LR ensemble</a:t>
            </a:r>
          </a:p>
          <a:p>
            <a:pPr algn="l"/>
            <a:r>
              <a:rPr sz="500" b="0">
                <a:solidFill>
                  <a:srgbClr val="0A1733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0A1733"/>
                </a:solidFill>
              </a:rPr>
              <a:t>Single unified 17.8 MB model replaces three separate per-horizon classifiers.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1,456,652 parameters — fits within embedded AV compute budgets.</a:t>
            </a:r>
          </a:p>
          <a:p>
            <a:pPr algn="l">
              <a:spcBef>
                <a:spcPts val="300"/>
              </a:spcBef>
            </a:pPr>
            <a:r>
              <a:rPr sz="2000" b="0">
                <a:solidFill>
                  <a:srgbClr val="0A1733"/>
                </a:solidFill>
              </a:rPr>
              <a:t>Operates within a 10 Hz real-time AV navigation loop on Tesla T4 GPU.</a:t>
            </a:r>
          </a:p>
        </p:txBody>
      </p:sp>
      <p:pic>
        <p:nvPicPr>
          <p:cNvPr id="73" name="Picture 72" descr="fig12_latenc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64456" y="33265872"/>
            <a:ext cx="15014447" cy="32004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7364456" y="36484560"/>
            <a:ext cx="150144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Fig. 8: Inference latency — SENTINEL 0.0449 ms vs. RF 0.4248 ms. One forward pass serves all three horizons simultaneously.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40507920"/>
            <a:ext cx="32918400" cy="914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40599360"/>
            <a:ext cx="32918400" cy="3291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0709088"/>
            <a:ext cx="1280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FC3F7"/>
                </a:solidFill>
              </a:rPr>
              <a:t>Conclusions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41294304"/>
            <a:ext cx="20116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•  SENTINEL-GNSS achieves Macro-F1 = 0.821 (bootstrap CI [0.798, 0.840]) at the actionable +5 s horizon — the first multi-horizon proactive GNSS degradation classifier validated across three cities.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FFFFFF"/>
                </a:solidFill>
              </a:rPr>
              <a:t>•  Cross-city zero-shot (Tokyo): DEGRADED F1 = 0.753 vs. 0.148 for Random Forest — a 5× generalisation gap. No per-city retraining required before deployment.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FFFFFF"/>
                </a:solidFill>
              </a:rPr>
              <a:t>•  Prediction-informed EKF reduces degraded-segment position RMSE by up to 48.8% (47.40 m → 24.28 m) on real Tokyo Shinjuku data.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FFFFFF"/>
                </a:solidFill>
              </a:rPr>
              <a:t>•  Inference: 0.0449 ms/sample — 9.46× faster than the ensemble baseline; single 17.8 MB model fits embedded AV compute budgets.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0" y="4070908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FC3F7"/>
                </a:solidFill>
              </a:rPr>
              <a:t>References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0" y="41294304"/>
            <a:ext cx="11887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[1] L.-T. Hsu et al. UrbanNav: Open-Sourced Multisensory Dataset for Benchmarking Positioning Algorithms. ION GNSS+ 2021.</a:t>
            </a:r>
          </a:p>
          <a:p>
            <a:pPr algn="l">
              <a:spcBef>
                <a:spcPts val="500"/>
              </a:spcBef>
            </a:pPr>
            <a:r>
              <a:rPr sz="1600" b="0">
                <a:solidFill>
                  <a:srgbClr val="FFFFFF"/>
                </a:solidFill>
              </a:rPr>
              <a:t>[2] A. Vaswani et al. Attention Is All You Need. NeurIPS 2017.</a:t>
            </a:r>
          </a:p>
          <a:p>
            <a:pPr algn="l">
              <a:spcBef>
                <a:spcPts val="500"/>
              </a:spcBef>
            </a:pPr>
            <a:r>
              <a:rPr sz="1600" b="0">
                <a:solidFill>
                  <a:srgbClr val="FFFFFF"/>
                </a:solidFill>
              </a:rPr>
              <a:t>[3] P. D. Groves. Principles of GNSS, Inertial, and Multisensor Integrated Navigation Systems. Artech House, 2nd ed., 2013.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4FC3F7"/>
                </a:solidFill>
              </a:rPr>
              <a:t>Acknowledgement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FFFFFF"/>
                </a:solidFill>
              </a:rPr>
              <a:t>We thank Dr. Ahmed Wasiu and the RCSSTEAP program at Beihang University for guidance, equipment, and field-collection support.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B0C8E8"/>
                </a:solidFill>
              </a:rPr>
              <a:t>Contact:  joelojerinde@gmail.com  ·  H3I, Beihang University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