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82880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SENTINEL-GNSS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400" b="0">
                <a:solidFill>
                  <a:srgbClr val="E6F2FB"/>
                </a:solidFill>
                <a:latin typeface="Calibri"/>
              </a:rPr>
              <a:t>Proactive Multi-Horizon Prediction of GNSS Signal Degradation for Autonomous Vehicle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Team Pilot Project —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CFE3F5"/>
                </a:solidFill>
                <a:latin typeface="Calibri"/>
              </a:rPr>
              <a:t>Progress Presentation · Version 4 · Run 14 results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CFE3F5"/>
                </a:solidFill>
                <a:latin typeface="Calibri"/>
              </a:rPr>
              <a:t>Forecasting GNSS degradation 5, 15 and 30 seconds before it happens.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Why GNSS prediction matters for autonomous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GNSS is the primary absolute-positioning sensor for autonomous vehicles.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It fails abruptly: urban canyons, tunnels, foliage, multipath.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 car at 60 km/h travels 17 metres every second.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44336"/>
                </a:solidFill>
                <a:latin typeface="Calibri"/>
              </a:rPr>
              <a:t>•  Every existing monitor (RTKLIB codes, RAIM, ML classifiers) is REACTIVE — it reports degradation only after it happens.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Our question is harder: will the signal degrade in the next 5 / 15 / 30 seconds?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proactive warning buys the vehicle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60350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Distance @ 60 km/h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Action the planner can take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83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Tighten IMU fusion, slow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+15 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250 m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Pre-engage dead-reckoning, adjust speed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500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Re-route to avoid the degradation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Prediction converts a sudden failure into a planned hand-off to backup localisation.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 multi-city, multi-receiver dataset (149,662 labelled epochs)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011680"/>
                <a:gridCol w="25603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City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Receivers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Field Scenarios A–E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Beihang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Septentrio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train /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UrbanNav Medium/Tunnel/Deep/Harsh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Hong Kong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9+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train / val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Tokyo Shinjuku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Trimble + u-blox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HELD-OUT 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5 controlled degradation scenarios (A–E). 4 cities, 9+ receiver types, one 3-class schema.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From raw signals to model-ready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Raw RINEX + NMEA  →  37 engineered features in 7 groups, per 1-second epoch.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Groups: position, C/N0 signal strength, satellite count, DOP, receiver status, temporal patterns, atmospheric.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 30-second sliding window → tensor (30 × 37); labels at t+5 / t+15 / t+30 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4CAF50"/>
                </a:solidFill>
                <a:latin typeface="Calibri"/>
              </a:rPr>
              <a:t>•  CLEAN = healthy fix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F9800"/>
                </a:solidFill>
                <a:latin typeface="Calibri"/>
              </a:rPr>
              <a:t>•  WARNING = partial degradation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44336"/>
                </a:solidFill>
                <a:latin typeface="Calibri"/>
              </a:rPr>
              <a:t>•  DEGRADED = loss of fix / severe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The SENTINEL-GNSS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Transformer encoder (2 layers, 8 heads, d=128) — long-range dependencies in the window.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BiLSTM (2 layers, hidden=256) — directional trajectory toward degradation.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Three output heads (+5s, +15s, +30s) + auxiliary head — one model, one forward pass.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1.46 M parameters; focal loss (gamma=1.0) + class weights [1, 2, 5]; NO SMOTE for the network.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Honest validation: ablations + permutation test + temporal-feature ablation — we report negative results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Architecture</a:t>
            </a:r>
          </a:p>
        </p:txBody>
      </p:sp>
      <p:pic>
        <p:nvPicPr>
          <p:cNvPr id="4" name="Picture 3" descr="fig1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1255554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Block diagram: input 30×37 → projection → Transformer ×2 → BiLSTM ×2 → 3 heads.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4 · Results (Run 15)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Multi-horizon performance</a:t>
            </a:r>
          </a:p>
        </p:txBody>
      </p:sp>
      <p:pic>
        <p:nvPicPr>
          <p:cNvPr id="4" name="Picture 3" descr="fig01_multi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116398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Macro-F1 and MCC at +5/+15/+30 s with 95% bootstrap confidence intervals.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Per-class metrics at +5 s</a:t>
            </a:r>
          </a:p>
        </p:txBody>
      </p:sp>
      <p:pic>
        <p:nvPicPr>
          <p:cNvPr id="4" name="Picture 3" descr="fig02_per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49259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Per-class F1 across horizons; DEGRADED (safety-critical) shown with recall.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Headline: multi-horizon prediction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103120"/>
                <a:gridCol w="1828800"/>
                <a:gridCol w="31089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MCC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95% CI (Macro-F1)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[0.800, 0.843]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+15 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0.741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0.691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[0.717, 0.764]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[0.758, 0.804]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DEGRADED recall = 0.85 at +5 s. DEGRADED F1 improved 0.274 → 0.718 across runs (2.6×).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Per-class performance at +5 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011680"/>
                <a:gridCol w="201168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Support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WARNING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0.817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746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DEGRADED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High recall on the safety-critical DEGRADED class is the priority for an AV system.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Ablation — component contribution</a:t>
            </a:r>
          </a:p>
        </p:txBody>
      </p:sp>
      <p:pic>
        <p:nvPicPr>
          <p:cNvPr id="4" name="Picture 3" descr="fig04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55832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Full vs LSTM-only vs Transformer-only; full model wins on all metrics.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KEY RESULT — cross-city generalisation (Tokyo, never seen)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789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37744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Beihang/Beijing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DL + XGBoost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SENTINEL-GNSS (DL)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RandomForest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611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In-domain trees win. Cross-city, a DL+XGBoost ENSEMBLE beats every single model (DEGRADED 0.90); RandomForest collapses (0.15) but XGBoost transfers. Ensemble = the deployment choice feeding the EKF.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Efficiency, ensemble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Cross-city: DL+XGBoost ensemble is best (Macro-F1 0.892, DEGRADED 0.896).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Inference: 0.045 ms/sample on GPU — ~9.5x faster than three separate tree models.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One 17.8 MB checkpoint serves all three horizons; real-time at 10 Hz.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Calibration: temperature scaling cuts ECE 40% (0.114 -&gt; 0.069); not yet &lt;0.05 (future work).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Persistence baseline scores 0.91 at +5s -&gt; the model's value is transitions + longer horizons.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Ensemble wins cross-city</a:t>
            </a:r>
          </a:p>
        </p:txBody>
      </p:sp>
      <p:pic>
        <p:nvPicPr>
          <p:cNvPr id="4" name="Picture 3" descr="fig16_ensem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74278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In-domain vs cross-city (Tokyo): DL+XGBoost soft-vote beats every single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Cross-city generalization</a:t>
            </a:r>
          </a:p>
        </p:txBody>
      </p:sp>
      <p:pic>
        <p:nvPicPr>
          <p:cNvPr id="4" name="Picture 3" descr="fig05_crosscity_degr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86859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RandomForest collapses cross-city (DEGRADED 0.15); XGBoost transfers (0.78); DL (0.75).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Real-data EKF case study</a:t>
            </a:r>
          </a:p>
        </p:txBody>
      </p:sp>
      <p:pic>
        <p:nvPicPr>
          <p:cNvPr id="4" name="Picture 3" descr="fig18_ekf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952204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Raw GNSS trajectory vs adaptive EKF on real Beihang field NMEA; P(DEGRADED) predictions.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is genuinely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1. Reactive → proactive: first multi-horizon GNSS degradation PREDICTOR.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2. Cross-city: DL+XGBoost ensemble best (DEGRADED 0.90); RandomForest collapses (0.15), XGBoost transfers.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3. Unified multi-horizon model — one pass, three horizons, ~9.5x faster.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4. Multi-city, multi-receiver open benchmark (149,662 epochs, reproducible).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5. Hardware-aware design — explicit receiver-tier conditioning across 9+ receivers.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How we defend it to reviewers (honest narrative)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"Trees beat you in-domain" -&gt; true; cross-city a DL+XGBoost ensemble wins (0.892), one model option ~9.5x faster.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"Does the Transformer use time?" → order adds ~3% (permutation test); the win is representation transfer, not order modelling.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"Small DEGRADED test set" → bootstrap 95% CIs on every per-class metric.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"Data leakage?" → session-level split; scaler/SMOTE on train only; Tokyo fully held out.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We lead with generalisation + efficiency, not an in-domain leaderboard score.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5.5 · EKF: From Prediction to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How EKF Works: Predict-Update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Extended Kalman Filter fuses two sources of information: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1. GNSS position measurement (noisy, but absolute positioning)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2. Motion model (dead-reckoning via velocity, but drifts over time)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The EKF pre-emptively adapts its trust in GNSS based on predicted degradation: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 • When P(DEGRADED) is high → inflate measurement noise R → lean on motion model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 • When P(DEGRADED) is low → normal R → use GNSS to correct drift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Result: smoother trajectory during blockage, faster recovery when GNSS returns.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EKF Mechanism: Predict-Update Cycle</a:t>
            </a:r>
          </a:p>
        </p:txBody>
      </p:sp>
      <p:pic>
        <p:nvPicPr>
          <p:cNvPr id="4" name="Picture 3" descr="fig_ekf_mechanism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744964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EKF architecture: GNSS measurement + adaptive noise R + motion model prediction.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Synthetic Blockage Validation (Option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Controlled scenario: 300-epoch trajectory with simulated GNSS blockage (epochs 120–180).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Predictor (our model) warns from epoch 115, allowing EKF to adapt early (proactive).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Results on blockage segment (epochs 120–180):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Raw GNSS position RMSE: 54.4 m (noisy)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Fixed-R EKF: 45.6 m (standard filter, constant trust)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Adaptive EKF (ours): 36.0 m (-33.8% vs raw GNSS)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Key insight: Prediction-aware filter outperforms fixed filter by 21% on the same GNSS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Synthetic Blockage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828800"/>
            <a:ext cx="7589520" cy="3657600"/>
          </a:xfrm>
          <a:prstGeom prst="rect">
            <a:avLst/>
          </a:prstGeom>
          <a:solidFill>
            <a:srgbClr val="E3ECF5"/>
          </a:solidFill>
          <a:ln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005BAC"/>
                </a:solidFill>
                <a:latin typeface="Calibri"/>
              </a:rPr>
              <a:t>[ INSERT FIGURE ]
fig20_ekf_option_a_synthetic.png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Trajectory during blockage: raw GNSS (noisy) vs. fixed-R EKF vs. adaptive EKF (ours).  (drop in results/figures/fig20_ekf_option_a_synthetic.png)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6 · Roadmap &amp;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Publication plan — 2 papers + 1 conference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Paper A (GPS Solutions, Q1): method + multi-horizon + cross-receiver + cross-city + EKF.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Paper B (Scientific Data / Data in Brief): the benchmark / dataset descriptor.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Conference (ION GNSS+ 2026): cross-city result as a short paper, later extended.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Two substantial papers avoid salami-slicing and carry more impact than four thin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6 · Future Work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Real-data EKF: from simulation to deployed navigation (Option B, Phase 2a)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Why UrbanNav Tokyo for validation?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UrbanNav provides cm-level ground truth (SPAN-INS post-processed trajectory in reference.csv)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Real GNSS data with actual urban blockage events (not synthetic)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Real IMU data (accelerometer + gyro) for 9-state EKF integration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Unseen city (cross-city test) — same as our model validation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What we'll do: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1. Parse rover GNSS (RINEX) → single-point positions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2. Parse IMU (imu.csv) and reference trajectory (reference.csv)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3. Run 9-state EKF (IMU-driven prediction, GNSS update) with adaptive 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4. Compute real RMSE gain (expected: 15–30% during actual blockage)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Result: honest real-world validation (no synthetic assumptions).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Ensemble model deployment &amp; inference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Save trained XGBoost model (joblib) during training for reproducibility.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inference.py supports --ensemble flag: load DL + XGB, soft-vote probabilities.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End-to-end: NMEA stream → features → P(DEGRADED) +5/15/30s → EKF trajectory.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Real-time capable: 0.045 ms/sample on GPU; 10 Hz stream at &lt;1% CPU.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Phase 2b: raw per-satellite C/N₀ streams; +60s horizon retraining.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Web dashboard (Next.js + FastAPI)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Real-time monitor: C/N₀, DOP, sat count + live 3-horizon prediction bars.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Route map (Mapbox): colour-coded predicted signal quality along the planned path.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Prediction timeline with lead-time annotations; attention heatmap for interpretability.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DL-vs-baseline comparison; dataset explorer (149k epochs); metrics/performance board.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Phase 2: integrate actual vehicle IMU; Kalman-filter fusion visualization.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Publication &amp;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Paper A (GPS Solutions, Q1): method + multi-horizon + cross-receiver + cross-city.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Paper B (Journal of Navigation): model comparison → ensemble selection → EKF integration.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Conference (ION GNSS+ 2026): cross-city generalization result as a systems paper.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Data + code release: GitHub + Zenodo (reproducible; citable DOI).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All results / figures / models in results/ (zipped &amp; versioned).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—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