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4" r:id="rId3"/>
    <p:sldId id="257" r:id="rId4"/>
    <p:sldId id="258" r:id="rId5"/>
    <p:sldId id="276" r:id="rId6"/>
    <p:sldId id="259" r:id="rId7"/>
    <p:sldId id="285" r:id="rId8"/>
    <p:sldId id="292" r:id="rId9"/>
    <p:sldId id="261" r:id="rId10"/>
    <p:sldId id="288" r:id="rId11"/>
    <p:sldId id="289" r:id="rId12"/>
    <p:sldId id="277" r:id="rId13"/>
    <p:sldId id="281" r:id="rId14"/>
    <p:sldId id="286" r:id="rId15"/>
    <p:sldId id="287" r:id="rId16"/>
    <p:sldId id="290" r:id="rId17"/>
    <p:sldId id="274" r:id="rId18"/>
    <p:sldId id="273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08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54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DCF2-868A-563F-4963-2235003E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E8E8A-24AA-91B2-5AC6-4E69D12B0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E93A1-090C-ABBA-115E-0071A7149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E0718-60EE-9A04-9800-53CC11DE1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7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5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8940-D5BF-755A-489C-D4F11B57A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FA161-0187-EA6E-FD67-143020CBB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0023B-C9D6-D83A-BE7E-0A1A11313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8685F-D041-61D5-C148-039A7559C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32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5914-34FA-09E6-C316-01561080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C0FE3-96DB-DE33-2FD2-B190C390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AC537-3D7C-B62A-F6CF-AA9881F8E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BBB20-83D3-DBED-2493-E03449B60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12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5914-34FA-09E6-C316-01561080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C0FE3-96DB-DE33-2FD2-B190C390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AC537-3D7C-B62A-F6CF-AA9881F8E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BBB20-83D3-DBED-2493-E03449B60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03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5914-34FA-09E6-C316-01561080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C0FE3-96DB-DE33-2FD2-B190C390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AC537-3D7C-B62A-F6CF-AA9881F8E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BBB20-83D3-DBED-2493-E03449B60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66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1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822959"/>
            <a:ext cx="99391" cy="4051189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78137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Prediction of GNSS Signal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for Autonomous Driving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078337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Study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48232"/>
              </p:ext>
            </p:extLst>
          </p:nvPr>
        </p:nvGraphicFramePr>
        <p:xfrm>
          <a:off x="685800" y="2581257"/>
          <a:ext cx="7863840" cy="1828800"/>
        </p:xfrm>
        <a:graphic>
          <a:graphicData uri="http://schemas.openxmlformats.org/drawingml/2006/table">
            <a:tbl>
              <a:tblPr/>
              <a:tblGrid>
                <a:gridCol w="669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8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Ishola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Oluwaseun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 Claudine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77A5688-5D3D-76CB-DF27-D06D55042F3B}"/>
              </a:ext>
            </a:extLst>
          </p:cNvPr>
          <p:cNvSpPr/>
          <p:nvPr/>
        </p:nvSpPr>
        <p:spPr>
          <a:xfrm>
            <a:off x="2914116" y="4537816"/>
            <a:ext cx="3144852" cy="367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Supervisor: Dr. Ahmed Wasiu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2191554" y="250107"/>
            <a:ext cx="5078730" cy="51435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" y="1791414"/>
            <a:ext cx="1200150" cy="12382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28237" y="2136457"/>
            <a:ext cx="990124" cy="100107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32047" y="2138939"/>
            <a:ext cx="990124" cy="100107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128237" y="2264093"/>
            <a:ext cx="990124" cy="74485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478883" y="2182730"/>
            <a:ext cx="6544973" cy="95480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</a:rPr>
              <a:t>RECAP</a:t>
            </a:r>
            <a:endParaRPr lang="en-US" sz="4000" dirty="0"/>
          </a:p>
        </p:txBody>
      </p:sp>
      <p:sp>
        <p:nvSpPr>
          <p:cNvPr id="10" name="Shape 5"/>
          <p:cNvSpPr/>
          <p:nvPr/>
        </p:nvSpPr>
        <p:spPr>
          <a:xfrm rot="7680000">
            <a:off x="6853237" y="4416266"/>
            <a:ext cx="322898" cy="32289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 rot="4020000">
            <a:off x="7080409" y="664846"/>
            <a:ext cx="164306" cy="164306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7618883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4023360" cy="34747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 &amp; Motivation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Prediction, Not Detection?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Contributions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Sources &amp; Collection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 Design — Transformer-LSTM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Protocol &amp; Class Imbalance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Strategy &amp;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22960"/>
          <a:ext cx="4023360" cy="34747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Overview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Monitoring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Fusion Adaptation (Dynamic EKF)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Responsibilities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Timeline (Milestones)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Anticipated Challenges &amp; Mitigations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 &amp; Future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21166E3-4E33-D9E0-BFA1-24A9E483232F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is the primary positioning source for autonomous vehicles. Yet it fails—predictably and frequently.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Canyons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buildings block or reflect satellite signals, causing multipath errors and signal loss in densely built environments.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5176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Tunnels &amp; Underpasses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signal blockage causes instantaneous position loss. Reactive systems detect failure too late to plan a safe response.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517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Effects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Ionospheric and tropospheric disturbances degrade range accuracy across wide areas, particularly during daytime and equatorial conditions.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detect degradation after it occurs — autonomous vehicles need advance warning to respond safely.</a:t>
            </a:r>
            <a:endParaRPr lang="en-US" sz="13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CC156A-8A33-74F9-A29B-C451009586D5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DA33B-A089-EED4-2DFE-5AF93D5D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9BECB2-5CC8-7222-89E2-75E45AF2028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24C6EC-B47C-8F50-3551-AF2381CE0850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41CBB7-1709-E31D-23BD-2BC6728E6745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E006491-F032-E4A0-4109-2905383A3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94" y="712304"/>
            <a:ext cx="6718852" cy="43798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CBE733-B86B-B422-EC3B-A2260821AD08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2501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Prediction, Not Detection?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vs. Proactive Navigation Response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SYSTEM  (Current State of Practice)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9202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192024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192024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1691640"/>
            <a:ext cx="1920240" cy="822960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 Late)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210312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210312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0" y="210312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 (Proactive — This Work)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1920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3154680"/>
            <a:ext cx="1920240" cy="82296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Ahead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154680"/>
            <a:ext cx="19202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Weights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3154680"/>
            <a:ext cx="192024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356616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356616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0" y="356616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60 km/h, a 30-second prediction window provides 500 metres of advance notice — enough for safe, graduated navigation adjustment.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DF6BBB-0492-9AD1-0972-DD5F3B150987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2191554" y="121920"/>
            <a:ext cx="5078730" cy="51435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" y="1791414"/>
            <a:ext cx="1200150" cy="12382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28237" y="2136457"/>
            <a:ext cx="990124" cy="100107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32047" y="2138939"/>
            <a:ext cx="990124" cy="100107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128237" y="2264093"/>
            <a:ext cx="990124" cy="74485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478883" y="2148147"/>
            <a:ext cx="6544973" cy="86080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>
              <a:lnSpc>
                <a:spcPct val="150000"/>
              </a:lnSpc>
            </a:pPr>
            <a:r>
              <a:rPr lang="en-US" sz="3300" b="1" dirty="0">
                <a:solidFill>
                  <a:srgbClr val="000000"/>
                </a:solidFill>
                <a:latin typeface="Arial Black" pitchFamily="34" charset="0"/>
              </a:rPr>
              <a:t>PROJECT PROGRESS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 rot="7680000">
            <a:off x="6853237" y="4416266"/>
            <a:ext cx="322898" cy="32289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 rot="4020000">
            <a:off x="7080409" y="664846"/>
            <a:ext cx="164306" cy="164306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0012832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A96A-DC9D-BA03-D0E2-42AC02D1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953FDA-4F2B-A0E9-FE45-DED26DA4BCBD}"/>
              </a:ext>
            </a:extLst>
          </p:cNvPr>
          <p:cNvSpPr txBox="1"/>
          <p:nvPr/>
        </p:nvSpPr>
        <p:spPr>
          <a:xfrm>
            <a:off x="502920" y="107917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accent1">
                    <a:lumMod val="50000"/>
                  </a:schemeClr>
                </a:solidFill>
              </a:rPr>
              <a:t>✔</a:t>
            </a:r>
            <a:r>
              <a:rPr sz="1400" b="1" i="0" dirty="0"/>
              <a:t>  Field data collected — all 5 scenarios, Septentrio MOSAIC-X5C receiver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3DC02-4451-E9F3-258E-E9189BCA5C32}"/>
              </a:ext>
            </a:extLst>
          </p:cNvPr>
          <p:cNvSpPr txBox="1"/>
          <p:nvPr/>
        </p:nvSpPr>
        <p:spPr>
          <a:xfrm>
            <a:off x="502920" y="1573637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2060"/>
                </a:solidFill>
              </a:rPr>
              <a:t>✔</a:t>
            </a:r>
            <a:r>
              <a:rPr sz="1400" b="1" i="0" dirty="0"/>
              <a:t>  Public datasets downloaded — NCLT (2 dates), Oxford (4 traversals), </a:t>
            </a:r>
            <a:r>
              <a:rPr sz="1400" b="1" i="0" dirty="0" err="1"/>
              <a:t>UrbanNav</a:t>
            </a:r>
            <a:r>
              <a:rPr sz="1400" b="1" i="0" dirty="0"/>
              <a:t> HK</a:t>
            </a:r>
            <a:r>
              <a:rPr lang="en-US" sz="1400" b="1" i="0" dirty="0"/>
              <a:t> and </a:t>
            </a:r>
            <a:r>
              <a:rPr sz="1400" b="1" i="0" dirty="0"/>
              <a:t>Tokyo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29F75-2450-4F75-55C2-2E3EE1C44557}"/>
              </a:ext>
            </a:extLst>
          </p:cNvPr>
          <p:cNvSpPr txBox="1"/>
          <p:nvPr/>
        </p:nvSpPr>
        <p:spPr>
          <a:xfrm>
            <a:off x="457200" y="2060013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2060"/>
                </a:solidFill>
              </a:rPr>
              <a:t>✔</a:t>
            </a:r>
            <a:r>
              <a:rPr sz="1400" b="1" i="0" dirty="0"/>
              <a:t>  Full processing pipeline implemented and validated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F1D20-6D1F-A1D6-5F7F-2EE4A18C7226}"/>
              </a:ext>
            </a:extLst>
          </p:cNvPr>
          <p:cNvSpPr txBox="1"/>
          <p:nvPr/>
        </p:nvSpPr>
        <p:spPr>
          <a:xfrm>
            <a:off x="457200" y="257469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/>
              <a:t>✔  Signal quality analysis charts generated for every run</a:t>
            </a: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65D97442-EDE0-8DDA-AD8C-A069FE6616E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B8F2B29-FABC-A5DB-1418-23E677A9E40B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</a:t>
            </a:r>
            <a:endParaRPr lang="en-US" sz="2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F6FCE6-5A5D-DAA6-1C16-E555A4F9F7D2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01854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4965192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data platforms — supervisor-provided and self-collected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32461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Vehicle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0606" y="1747698"/>
            <a:ext cx="24886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/ Suburban  ·  0–80 km/h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003730"/>
            <a:ext cx="2432304" cy="147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format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from buildings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&amp; underpass blockage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AV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2432304" cy="256032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41148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Data acquired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188720"/>
            <a:ext cx="2651760" cy="32461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/ UAV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01568" y="174769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 ·  0–20 m/s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1977555"/>
            <a:ext cx="2432304" cy="144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/ RINEX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Open-sky clean baseline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signal reference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via RTKLIB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4114800"/>
            <a:ext cx="2432304" cy="256032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01568" y="41148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Data acquired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2436"/>
            <a:ext cx="2651760" cy="32461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Septentrio MOSAIC-X5C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17532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 ·  Campus routes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1977555"/>
            <a:ext cx="2432304" cy="1404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scenarios collected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degradation events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repeatable routes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RINEX output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6208" y="4114800"/>
            <a:ext cx="2432304" cy="2560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36208" y="41148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Collected (May 2026)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8912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Validation Datasets: UrbanNav (Hong Kong) ✔  ·  KAIST Urban (Korea) — awaiting delivery  ·  Oxford RobotCar ✔  ·  NCLT Michigan ✔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8C3520-599B-0264-9155-0996C585894C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88E6-EEB4-AEE3-6405-C342D467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4BDE42-35EC-AB19-86AE-0F1E646E56B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0F6773-9D8D-24A6-77AE-C59891D57618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Process (Software)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D22E51-0DD1-1BB7-B3B3-56F2DF7599D1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330CA-DD02-FBFD-1993-8C5CEDB98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58" y="798343"/>
            <a:ext cx="3084197" cy="3834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F0919C-DA7B-D3FC-16E6-18120C8CD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644" y="798344"/>
            <a:ext cx="2488295" cy="38346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47474A-1056-1208-1DC8-6E5D23419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" y="798343"/>
            <a:ext cx="3228168" cy="383461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6A3B2F-007A-54D6-29B4-6763613E6327}"/>
              </a:ext>
            </a:extLst>
          </p:cNvPr>
          <p:cNvSpPr/>
          <p:nvPr/>
        </p:nvSpPr>
        <p:spPr>
          <a:xfrm>
            <a:off x="676102" y="4698119"/>
            <a:ext cx="1609898" cy="309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RxControl</a:t>
            </a:r>
            <a:endParaRPr lang="en-US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77BE00-2591-97A6-239F-85A9B0C90F2A}"/>
              </a:ext>
            </a:extLst>
          </p:cNvPr>
          <p:cNvSpPr/>
          <p:nvPr/>
        </p:nvSpPr>
        <p:spPr>
          <a:xfrm>
            <a:off x="6523466" y="4678959"/>
            <a:ext cx="1897104" cy="309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SBF Converter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58D79A-521B-A4A6-6006-BE8E8F6A4165}"/>
              </a:ext>
            </a:extLst>
          </p:cNvPr>
          <p:cNvSpPr/>
          <p:nvPr/>
        </p:nvSpPr>
        <p:spPr>
          <a:xfrm>
            <a:off x="3971476" y="4698119"/>
            <a:ext cx="1667324" cy="309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RXLogger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CB0E4-2C6A-EAF7-BD00-C5C063F47FED}"/>
              </a:ext>
            </a:extLst>
          </p:cNvPr>
          <p:cNvSpPr/>
          <p:nvPr/>
        </p:nvSpPr>
        <p:spPr>
          <a:xfrm>
            <a:off x="8588522" y="4772936"/>
            <a:ext cx="555477" cy="370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4924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88E6-EEB4-AEE3-6405-C342D467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4BDE42-35EC-AB19-86AE-0F1E646E56B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0F6773-9D8D-24A6-77AE-C59891D57618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Process (Hardware)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D22E51-0DD1-1BB7-B3B3-56F2DF7599D1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34015-8E54-3EAE-E0EB-1D080D0C1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87448"/>
            <a:ext cx="3886359" cy="4168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82F83A-B9C5-6A83-F66A-5DB1CF70EE3F}"/>
              </a:ext>
            </a:extLst>
          </p:cNvPr>
          <p:cNvSpPr txBox="1"/>
          <p:nvPr/>
        </p:nvSpPr>
        <p:spPr>
          <a:xfrm>
            <a:off x="255851" y="895600"/>
            <a:ext cx="423164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Septentrio GNSS Receiver.</a:t>
            </a:r>
          </a:p>
          <a:p>
            <a:r>
              <a:rPr lang="en-US" sz="1100" dirty="0"/>
              <a:t>Receives and processes satellite signals from GNSS constellations.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653E67-3B9D-C592-F886-FE216E7AF453}"/>
              </a:ext>
            </a:extLst>
          </p:cNvPr>
          <p:cNvSpPr txBox="1"/>
          <p:nvPr/>
        </p:nvSpPr>
        <p:spPr>
          <a:xfrm>
            <a:off x="255851" y="1586609"/>
            <a:ext cx="423164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GNSS Module Evaluation Kit.</a:t>
            </a:r>
          </a:p>
          <a:p>
            <a:r>
              <a:rPr lang="en-US" sz="1100" dirty="0"/>
              <a:t>Serves as the interface between the GNSS hardware and the laptop.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1FBBAF-2521-8A83-AD5C-223B7C077437}"/>
              </a:ext>
            </a:extLst>
          </p:cNvPr>
          <p:cNvSpPr txBox="1"/>
          <p:nvPr/>
        </p:nvSpPr>
        <p:spPr>
          <a:xfrm>
            <a:off x="255851" y="2212286"/>
            <a:ext cx="41148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Laptop.</a:t>
            </a:r>
          </a:p>
          <a:p>
            <a:r>
              <a:rPr lang="en-US" sz="1100" dirty="0"/>
              <a:t>Used to configure the receiver, </a:t>
            </a:r>
          </a:p>
          <a:p>
            <a:r>
              <a:rPr lang="en-US" sz="1100" dirty="0"/>
              <a:t>monitor data collection, record GNSS observations, and store the collected data for later processing and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39396-05D8-7213-BD1A-D2E7EA8EF245}"/>
              </a:ext>
            </a:extLst>
          </p:cNvPr>
          <p:cNvSpPr txBox="1"/>
          <p:nvPr/>
        </p:nvSpPr>
        <p:spPr>
          <a:xfrm>
            <a:off x="239686" y="3163882"/>
            <a:ext cx="4231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Cart.</a:t>
            </a:r>
          </a:p>
          <a:p>
            <a:r>
              <a:rPr lang="en-US" sz="1100" dirty="0"/>
              <a:t>Provides a mobile platform for carrying the GNSS equipment during field data collection.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11BBB9-F4EA-C39D-8BA8-C03E6116BEC7}"/>
              </a:ext>
            </a:extLst>
          </p:cNvPr>
          <p:cNvSpPr txBox="1"/>
          <p:nvPr/>
        </p:nvSpPr>
        <p:spPr>
          <a:xfrm>
            <a:off x="255851" y="3946201"/>
            <a:ext cx="4231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5.USB 3.0 Cord.</a:t>
            </a:r>
          </a:p>
          <a:p>
            <a:r>
              <a:rPr lang="en-US" sz="1100" dirty="0"/>
              <a:t>Provides connection between the evaluation kit and laptop for data transfer.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82DCB-2533-2657-F53F-8E9444F1E3A7}"/>
              </a:ext>
            </a:extLst>
          </p:cNvPr>
          <p:cNvSpPr/>
          <p:nvPr/>
        </p:nvSpPr>
        <p:spPr>
          <a:xfrm>
            <a:off x="8458358" y="4785644"/>
            <a:ext cx="685641" cy="357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408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88E6-EEB4-AEE3-6405-C342D467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4BDE42-35EC-AB19-86AE-0F1E646E56B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0F6773-9D8D-24A6-77AE-C59891D57618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5 Controlled Scenarios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D22E51-0DD1-1BB7-B3B3-56F2DF7599D1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5DADA93-8C5C-C73D-A265-EB1C90BEB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58" y="788062"/>
            <a:ext cx="6629400" cy="41980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00420C-74C3-2592-97CF-FEE344E8BAE4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98261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0"/>
          <p:cNvSpPr/>
          <p:nvPr/>
        </p:nvSpPr>
        <p:spPr>
          <a:xfrm>
            <a:off x="0" y="2286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556575"/>
                </a:solidFill>
              </a:rPr>
              <a:t>Derived from RINEX 3 SNR indicators · all 4 constellations · 1 Hz · Septentrio MOSAIC-X5C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292608" cy="548640"/>
          </a:xfrm>
          <a:prstGeom prst="rect">
            <a:avLst/>
          </a:prstGeom>
          <a:solidFill>
            <a:srgbClr val="00C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33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D — Open Sky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41.2 dB-Hz mean  ·  0.5% epochs below 25 dB-Hz  ·  ~39 obs/epoch (most satellites of any scenario)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73936"/>
            <a:ext cx="292608" cy="548640"/>
          </a:xfrm>
          <a:prstGeom prst="rect">
            <a:avLst/>
          </a:prstGeom>
          <a:solidFill>
            <a:srgbClr val="008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C — Partial Blockage (Trees)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482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38.6 dB-Hz mean  ·  0.6% epochs degraded  ·  Gradual C/N₀ fluctuations consistent with foliage attenuation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42032"/>
            <a:ext cx="292608" cy="548640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569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B — Urban Canyon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37.2 dB-Hz mean  ·  3.0% epochs below threshold  ·  Periodic sharp dips from building reflections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310128"/>
            <a:ext cx="292608" cy="548640"/>
          </a:xfrm>
          <a:prstGeom prst="rect">
            <a:avLst/>
          </a:prstGeom>
          <a:solidFill>
            <a:srgbClr val="FF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E — Approaching Blockage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844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38.6 dB-Hz mean  ·  5.9% degraded  ·  Gradual deterioration pattern clearly identifiable for 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078224"/>
            <a:ext cx="292608" cy="548640"/>
          </a:xfrm>
          <a:prstGeom prst="rect">
            <a:avLst/>
          </a:prstGeom>
          <a:solidFill>
            <a:srgbClr val="E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1056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A — Instant Blockage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Sharp satellite dropout in first 15 s  ·  Count collapses 24 → 0–2 sats  ·  C/N₀ falls below 25 dB-Hz immediately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736592"/>
            <a:ext cx="8686800" cy="60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1B2A"/>
                </a:solidFill>
              </a:rPr>
              <a:t>Key insight: Scenario A shows clear distinct signature; D and A are near-perfectly separable. B/C/E have partial overlaps — exactly the challenge the Transformer-LSTM must solve.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F4650A-D740-8073-C045-651B37CCE8F2}"/>
              </a:ext>
            </a:extLst>
          </p:cNvPr>
          <p:cNvSpPr/>
          <p:nvPr/>
        </p:nvSpPr>
        <p:spPr>
          <a:xfrm>
            <a:off x="8374879" y="4992624"/>
            <a:ext cx="769121" cy="347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39C9D68A-6BA1-0DB6-3925-E056FDEB3370}"/>
              </a:ext>
            </a:extLst>
          </p:cNvPr>
          <p:cNvSpPr/>
          <p:nvPr/>
        </p:nvSpPr>
        <p:spPr>
          <a:xfrm>
            <a:off x="0" y="-808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Signal Quality Analysis — Key Findings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111EA080-5F89-B34B-5A52-DCF36586B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37" y="2597130"/>
            <a:ext cx="5230933" cy="224572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BC2D3D-E7DE-B46E-F5E7-30DE9808E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06" y="463557"/>
            <a:ext cx="4615063" cy="19718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306E547-A408-D7C6-71DD-FB5484EB0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109" y="396018"/>
            <a:ext cx="4591891" cy="20485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CD758C-DCA4-9159-4F01-EC3C8F1DD525}"/>
              </a:ext>
            </a:extLst>
          </p:cNvPr>
          <p:cNvSpPr/>
          <p:nvPr/>
        </p:nvSpPr>
        <p:spPr>
          <a:xfrm>
            <a:off x="1356260" y="2595124"/>
            <a:ext cx="3044823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30A7D-2E75-9A63-9108-DA65A4F879A3}"/>
              </a:ext>
            </a:extLst>
          </p:cNvPr>
          <p:cNvSpPr/>
          <p:nvPr/>
        </p:nvSpPr>
        <p:spPr>
          <a:xfrm>
            <a:off x="5324031" y="2620494"/>
            <a:ext cx="2921132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1DAD8-D10A-3D18-7E3E-9A05983954D3}"/>
              </a:ext>
            </a:extLst>
          </p:cNvPr>
          <p:cNvSpPr/>
          <p:nvPr/>
        </p:nvSpPr>
        <p:spPr>
          <a:xfrm>
            <a:off x="2004993" y="4833073"/>
            <a:ext cx="3805871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BDDC50-819A-726F-3522-18A5581AADD7}"/>
              </a:ext>
            </a:extLst>
          </p:cNvPr>
          <p:cNvCxnSpPr>
            <a:cxnSpLocks/>
          </p:cNvCxnSpPr>
          <p:nvPr/>
        </p:nvCxnSpPr>
        <p:spPr>
          <a:xfrm>
            <a:off x="4560812" y="695254"/>
            <a:ext cx="0" cy="22536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18D1E0-A6DD-7C0F-D2BD-73D40F88FEE7}"/>
              </a:ext>
            </a:extLst>
          </p:cNvPr>
          <p:cNvSpPr txBox="1"/>
          <p:nvPr/>
        </p:nvSpPr>
        <p:spPr>
          <a:xfrm>
            <a:off x="1402839" y="2554400"/>
            <a:ext cx="330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A – Instant Blockage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E99913-AD74-B369-BCB2-9E818686AF33}"/>
              </a:ext>
            </a:extLst>
          </p:cNvPr>
          <p:cNvSpPr txBox="1"/>
          <p:nvPr/>
        </p:nvSpPr>
        <p:spPr>
          <a:xfrm>
            <a:off x="2113217" y="4789412"/>
            <a:ext cx="380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C – Partial Blockage (Tree)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BF32EB-7E6D-E6FC-92CD-B3B138FC4796}"/>
              </a:ext>
            </a:extLst>
          </p:cNvPr>
          <p:cNvSpPr txBox="1"/>
          <p:nvPr/>
        </p:nvSpPr>
        <p:spPr>
          <a:xfrm>
            <a:off x="5385071" y="2597130"/>
            <a:ext cx="330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B – Urban Canyon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498B7C-AED0-DAA0-9298-7887FF46369C}"/>
              </a:ext>
            </a:extLst>
          </p:cNvPr>
          <p:cNvCxnSpPr>
            <a:cxnSpLocks/>
          </p:cNvCxnSpPr>
          <p:nvPr/>
        </p:nvCxnSpPr>
        <p:spPr>
          <a:xfrm>
            <a:off x="-45706" y="2919597"/>
            <a:ext cx="9189706" cy="4686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DBEB0DC-A96D-7912-0953-CBDCD1EF2FB6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7DD36704-48C1-25A7-879C-D9374092CB65}"/>
              </a:ext>
            </a:extLst>
          </p:cNvPr>
          <p:cNvSpPr/>
          <p:nvPr/>
        </p:nvSpPr>
        <p:spPr>
          <a:xfrm>
            <a:off x="-45706" y="-28538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74319" y="72194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Signal Quality Analysis — Key Findings</a:t>
            </a:r>
          </a:p>
        </p:txBody>
      </p:sp>
    </p:spTree>
    <p:extLst>
      <p:ext uri="{BB962C8B-B14F-4D97-AF65-F5344CB8AC3E}">
        <p14:creationId xmlns:p14="http://schemas.microsoft.com/office/powerpoint/2010/main" val="419735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0BFD6D-E6CF-A3DD-A4A9-86F5FDDA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010"/>
            <a:ext cx="5811140" cy="25419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42845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Signal Quality Analysis — Key Findings</a:t>
            </a:r>
            <a:r>
              <a:rPr lang="en-US" sz="2000" b="1" i="0" dirty="0">
                <a:solidFill>
                  <a:srgbClr val="FFFFFF"/>
                </a:solidFill>
              </a:rPr>
              <a:t> (</a:t>
            </a:r>
            <a:r>
              <a:rPr lang="en-US" sz="2000" b="1" i="0" dirty="0" err="1">
                <a:solidFill>
                  <a:srgbClr val="FFFFFF"/>
                </a:solidFill>
              </a:rPr>
              <a:t>Contd</a:t>
            </a:r>
            <a:r>
              <a:rPr lang="en-US" sz="2000" b="1" i="0" dirty="0">
                <a:solidFill>
                  <a:srgbClr val="FFFFFF"/>
                </a:solidFill>
              </a:rPr>
              <a:t>)</a:t>
            </a:r>
            <a:endParaRPr sz="2000" b="1" i="0"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1BED0-E88F-BC01-1572-80A7EED36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779052"/>
            <a:ext cx="4900815" cy="21437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F9FAC30-8449-559A-6E4F-D2EFDEC19C30}"/>
              </a:ext>
            </a:extLst>
          </p:cNvPr>
          <p:cNvSpPr/>
          <p:nvPr/>
        </p:nvSpPr>
        <p:spPr>
          <a:xfrm>
            <a:off x="4666006" y="4832855"/>
            <a:ext cx="3805871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BF34B-B8FC-0C49-9203-4A9A7DCE8FFE}"/>
              </a:ext>
            </a:extLst>
          </p:cNvPr>
          <p:cNvSpPr/>
          <p:nvPr/>
        </p:nvSpPr>
        <p:spPr>
          <a:xfrm>
            <a:off x="751863" y="2833286"/>
            <a:ext cx="3805871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30582E-5EA8-5F1B-6266-502420228209}"/>
              </a:ext>
            </a:extLst>
          </p:cNvPr>
          <p:cNvSpPr txBox="1"/>
          <p:nvPr/>
        </p:nvSpPr>
        <p:spPr>
          <a:xfrm>
            <a:off x="1377887" y="2790521"/>
            <a:ext cx="330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D – Open Sky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4F3A3-FD64-E501-C490-8E90EB7DBB93}"/>
              </a:ext>
            </a:extLst>
          </p:cNvPr>
          <p:cNvSpPr txBox="1"/>
          <p:nvPr/>
        </p:nvSpPr>
        <p:spPr>
          <a:xfrm>
            <a:off x="4759492" y="4784777"/>
            <a:ext cx="386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E – Approaching Blockage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086B82-ADAF-0250-8ACE-00154F9D905E}"/>
              </a:ext>
            </a:extLst>
          </p:cNvPr>
          <p:cNvSpPr/>
          <p:nvPr/>
        </p:nvSpPr>
        <p:spPr>
          <a:xfrm>
            <a:off x="5503492" y="2681587"/>
            <a:ext cx="1974078" cy="327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5F11DC-8A53-EBAE-B13B-BE9D4FBEB788}"/>
              </a:ext>
            </a:extLst>
          </p:cNvPr>
          <p:cNvSpPr/>
          <p:nvPr/>
        </p:nvSpPr>
        <p:spPr>
          <a:xfrm>
            <a:off x="8565363" y="4832854"/>
            <a:ext cx="578636" cy="31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F2D09CC-A2AD-C4B0-FCF8-87BB2ACA1368}"/>
              </a:ext>
            </a:extLst>
          </p:cNvPr>
          <p:cNvSpPr/>
          <p:nvPr/>
        </p:nvSpPr>
        <p:spPr>
          <a:xfrm>
            <a:off x="-14266" y="-32582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F4695-51CA-8E31-F2B8-0A88105F3394}"/>
              </a:ext>
            </a:extLst>
          </p:cNvPr>
          <p:cNvSpPr txBox="1"/>
          <p:nvPr/>
        </p:nvSpPr>
        <p:spPr>
          <a:xfrm>
            <a:off x="274319" y="72194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Signal Quality Analysis — Key Findings</a:t>
            </a:r>
          </a:p>
        </p:txBody>
      </p:sp>
    </p:spTree>
    <p:extLst>
      <p:ext uri="{BB962C8B-B14F-4D97-AF65-F5344CB8AC3E}">
        <p14:creationId xmlns:p14="http://schemas.microsoft.com/office/powerpoint/2010/main" val="4252566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2191554" y="121920"/>
            <a:ext cx="5078730" cy="51435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" y="1791414"/>
            <a:ext cx="1200150" cy="12382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28237" y="2136457"/>
            <a:ext cx="990124" cy="100107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32047" y="2138939"/>
            <a:ext cx="990124" cy="100107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128237" y="2264093"/>
            <a:ext cx="990124" cy="74485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650678" y="2231707"/>
            <a:ext cx="6373178" cy="68008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>
              <a:lnSpc>
                <a:spcPct val="150000"/>
              </a:lnSpc>
            </a:pPr>
            <a:r>
              <a:rPr lang="en-US" sz="3300" b="1" dirty="0">
                <a:solidFill>
                  <a:srgbClr val="000000"/>
                </a:solidFill>
                <a:latin typeface="Arial Black" pitchFamily="34" charset="0"/>
              </a:rPr>
              <a:t>NEXT STAGE 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 rot="7680000">
            <a:off x="6853237" y="4416266"/>
            <a:ext cx="322898" cy="32289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 rot="4020000">
            <a:off x="7080409" y="664846"/>
            <a:ext cx="164306" cy="164306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54F16-AFD4-F50D-BFC9-5D69273DB526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3490157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14960" y="0"/>
            <a:ext cx="846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4-Week Compressed Plan(Week 1 Goals Achieved)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915827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total  ·  2 concurrent coursework  ·  Critical path: data collection (Wk 1) → model training (Wk 3)  ·  Target: IEEE T-ITS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956816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Days 1–7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 Extraction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09477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software installed · Room 3058 visit · GitHub repo created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43389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ROSBAG extraction + RTKLIB running on supervisor vehicle &amp; drone datasets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" y="343609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✅ ALL scenarios A–E collected (May 5, 2026) · RTKLIB processed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Claudine, Joshua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1097280"/>
            <a:ext cx="1956816" cy="50292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6888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Days 8–14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Collection &amp; Features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05456" y="1551299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B, C, E collected · Feature CSVs generated · Labelling complete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Claudine, Joshua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51176" y="24373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baseline models trained &amp; results recorded (RF, LSTM, threshold, RAIM)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51176" y="3334247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drafted (30 papers) · UrbanNav &amp; RobotCar processed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6032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Harun, Claudine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1097280"/>
            <a:ext cx="1956816" cy="50292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8056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Days 15–21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System Build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8056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0" y="156362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Transformer-LSTM trained · First test-set results · Ablation studies done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2456655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tests on UrbanNav &amp; RobotCar · KAIST on arrival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Joel, Claudine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8056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67428" y="33375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EKF in simulation · Dashboard all 5 panels with data playback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Mustapha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92240" y="1097280"/>
            <a:ext cx="1956816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24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Days 22–28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Demo &amp; Paper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9224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28816" y="161848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campus test: cart + receiver + dashboard · Screen capture video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8368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9224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83680" y="253288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first draft written · Each member fills their sections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8368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leads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9224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28816" y="3402363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 review · Presentation rehearsed · Submission-ready draft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58368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384548"/>
            <a:ext cx="8229600" cy="389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Risk: Scenarios A &amp; D (Day 5–7) are the critical path — all model work depends on them. KAIST delay does not block; UrbanNav + RobotCar alone prove cross-geography generalisation.</a:t>
            </a:r>
            <a:endParaRPr lang="en-US" sz="105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8DE5DC-DC50-E176-BB12-4E05E830AB35}"/>
              </a:ext>
            </a:extLst>
          </p:cNvPr>
          <p:cNvSpPr/>
          <p:nvPr/>
        </p:nvSpPr>
        <p:spPr>
          <a:xfrm>
            <a:off x="8449056" y="4774094"/>
            <a:ext cx="694944" cy="369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 &amp; Presentation Division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06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specific components and is fully accountable for their delivery.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471211"/>
              </p:ext>
            </p:extLst>
          </p:nvPr>
        </p:nvGraphicFramePr>
        <p:xfrm>
          <a:off x="457200" y="1143000"/>
          <a:ext cx="8321040" cy="3798558"/>
        </p:xfrm>
        <a:graphic>
          <a:graphicData uri="http://schemas.openxmlformats.org/drawingml/2006/table">
            <a:tbl>
              <a:tblPr/>
              <a:tblGrid>
                <a:gridCol w="226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6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7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/ Delivers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 (LS2525219)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&amp; Baseline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review, baseline models (threshold, RF, LSTM, RAIM), related work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</a:t>
                      </a: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Claudine (LS2525236)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Evaluation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GNSS collection (Scenarios A–E), evaluation metrics, results tables, public dataset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(LS2525237)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Processing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ROSBAG extraction, RTKLIB pipeline, feature extraction code, dataset labelling &amp; QC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(LS2525238)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&amp; EKF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dashboard (all 5 panels), dynamic EKF implementation, live system testing &amp;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(LS2525253)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&amp; Integration Lead (Lead Author)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Transformer-LSTM architecture, training pipeline, ablation studies, generalization testing,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CF31C20-C150-C484-A11B-6156D586DBCC}"/>
              </a:ext>
            </a:extLst>
          </p:cNvPr>
          <p:cNvSpPr/>
          <p:nvPr/>
        </p:nvSpPr>
        <p:spPr>
          <a:xfrm>
            <a:off x="8614160" y="4836920"/>
            <a:ext cx="529839" cy="306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8113" y="822960"/>
            <a:ext cx="64008" cy="418735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174A"/>
          </a:solidFill>
          <a:ln w="12700">
            <a:solidFill>
              <a:srgbClr val="0017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6774" y="1097280"/>
            <a:ext cx="2570922" cy="3268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Transformer-LSTM hybrid for multi-horizon GNSS degradation prediction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35-feature engineering pipeline from RTKLIB observables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EKF that adapts sensor fusion before degradation hits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5-panel monitoring dashboard at &lt;100 ms latency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8328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24200" y="1087540"/>
            <a:ext cx="272796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&gt; 0.85 on in-distribution test set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Cross-geography F1 within 10% of in-distribution performance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lead time of 15–30 s ahead of positioning failure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RMSE reduction vs. GNSS-only baseline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8076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170432"/>
            <a:ext cx="265176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environmental context as additional feature group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BeiDou-specific constellation analysis for Chinese urban environments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Larger-scale multi-city urban study for broader generalisation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full real-time system integration and field demonstration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507396"/>
            <a:ext cx="777240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5073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4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7D3FDC4-74B1-449F-8EBE-106FA813859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4508977-b426-4c04-a2e5-05362d283bf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1415</Words>
  <Application>Microsoft Macintosh PowerPoint</Application>
  <PresentationFormat>On-screen Show (16:9)</PresentationFormat>
  <Paragraphs>270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Prediction of GNSS Signal Degradation for Autonomous Driving</dc:title>
  <dc:subject>PptxGenJS Presentation</dc:subject>
  <dc:creator>Ojerinde Joel Segun &amp; Team — Beihang University 2025</dc:creator>
  <cp:lastModifiedBy>Ogunlade, Joshua (jogunla1)</cp:lastModifiedBy>
  <cp:revision>23</cp:revision>
  <dcterms:created xsi:type="dcterms:W3CDTF">2026-04-24T07:17:25Z</dcterms:created>
  <dcterms:modified xsi:type="dcterms:W3CDTF">2026-05-07T08:04:55Z</dcterms:modified>
</cp:coreProperties>
</file>