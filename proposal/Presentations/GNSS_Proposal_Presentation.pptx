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76" r:id="rId5"/>
    <p:sldId id="259" r:id="rId6"/>
    <p:sldId id="260" r:id="rId7"/>
    <p:sldId id="261" r:id="rId8"/>
    <p:sldId id="262" r:id="rId9"/>
    <p:sldId id="277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8" r:id="rId19"/>
    <p:sldId id="271" r:id="rId20"/>
    <p:sldId id="272" r:id="rId21"/>
    <p:sldId id="273" r:id="rId22"/>
    <p:sldId id="274" r:id="rId23"/>
    <p:sldId id="275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8540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DCF2-868A-563F-4963-2235003E8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7E8E8A-24AA-91B2-5AC6-4E69D12B05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DE93A1-090C-ABBA-115E-0071A7149B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E0718-60EE-9A04-9800-53CC11DE1E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374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5914-34FA-09E6-C316-015610808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6C0FE3-96DB-DE33-2FD2-B190C3907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CAC537-3D7C-B62A-F6CF-AA9881F8E1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BBB20-83D3-DBED-2493-E03449B60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1667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4654F-C4B8-973C-4F3A-69EDD2860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1BAC86-B467-7F81-A1D4-FA68E2E3E1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A5620-5F8F-1825-C028-7E051149D1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6720D3-B57C-30A7-0C49-941F2E642A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350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0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0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199" y="822959"/>
            <a:ext cx="99391" cy="4051189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478137"/>
            <a:ext cx="8046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Prediction of GNSS Signal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for Autonomous Driving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078337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Study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48232"/>
              </p:ext>
            </p:extLst>
          </p:nvPr>
        </p:nvGraphicFramePr>
        <p:xfrm>
          <a:off x="685800" y="2581257"/>
          <a:ext cx="7863840" cy="1828800"/>
        </p:xfrm>
        <a:graphic>
          <a:graphicData uri="http://schemas.openxmlformats.org/drawingml/2006/table">
            <a:tbl>
              <a:tblPr/>
              <a:tblGrid>
                <a:gridCol w="669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08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Ojerinde Joel Segun 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Mustapha Ibrahim Ishola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Ogunlade Joshua Oluwaseun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Ingeriyinkindi Claudine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Rashid Md Harun 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E77A5688-5D3D-76CB-DF27-D06D55042F3B}"/>
              </a:ext>
            </a:extLst>
          </p:cNvPr>
          <p:cNvSpPr/>
          <p:nvPr/>
        </p:nvSpPr>
        <p:spPr>
          <a:xfrm>
            <a:off x="2914116" y="4537816"/>
            <a:ext cx="3144852" cy="3674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Supervisor: Dr. Ahmed Wasiu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4023360" cy="347472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 Statement &amp; Motivation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Prediction, Not Detection?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Contributions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Sources &amp; Collection Strategy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Processing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Engineering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Architecture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Model Design — Transformer-LSTM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Protocol &amp; Class Imbalance Handling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Strategy &amp; Datasets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822960"/>
          <a:ext cx="4023360" cy="347472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Results Overview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Monitoring Interface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Fusion Adaptation (Dynamic EKF)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Novelty Claims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Responsibilities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Timeline (Milestones)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Anticipated Challenges &amp; Mitigations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Real-World Impact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Conclusion &amp; Future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Q&amp;A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is the primary positioning source for autonomous vehicles. Yet it fails—predictably and frequently.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651760" cy="25603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51760" cy="4114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4173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Canyons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92024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200000"/>
              </a:lnSpc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 buildings block or reflect satellite signals, causing multipath errors and signal loss in densely built environments.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1417320"/>
            <a:ext cx="2651760" cy="25603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91840" y="1417320"/>
            <a:ext cx="2651760" cy="4114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91840" y="14173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Tunnels &amp; Underpasses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29000" y="192024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200000"/>
              </a:lnSpc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signal blockage causes instantaneous position loss. Reactive systems detect failure too late to plan a safe response.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1417320"/>
            <a:ext cx="2651760" cy="25603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126480" y="1417320"/>
            <a:ext cx="2651760" cy="4114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26480" y="14173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Atmospheric Effects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3640" y="192024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200000"/>
              </a:lnSpc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Ionospheric and tropospheric disturbances degrade range accuracy across wide areas, particularly during daytime and equatorial conditions.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systems detect degradation after it occurs — autonomous vehicles need advance warning to respond safely.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4DA33B-A089-EED4-2DFE-5AF93D5DD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59BECB2-5CC8-7222-89E2-75E45AF2028C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224C6EC-B47C-8F50-3551-AF2381CE0850}"/>
              </a:ext>
            </a:extLst>
          </p:cNvPr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141CBB7-1709-E31D-23BD-2BC6728E6745}"/>
              </a:ext>
            </a:extLst>
          </p:cNvPr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E006491-F032-E4A0-4109-2905383A3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94" y="712304"/>
            <a:ext cx="6718852" cy="437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019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Prediction, Not Detection?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vs. Proactive Navigation Response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SYSTEM  (Current State of Practice)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920240" cy="82296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1691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OK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51760" y="1691640"/>
            <a:ext cx="1920240" cy="82296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51760" y="1691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46320" y="1691640"/>
            <a:ext cx="1920240" cy="822960"/>
          </a:xfrm>
          <a:prstGeom prst="rect">
            <a:avLst/>
          </a:prstGeom>
          <a:solidFill>
            <a:srgbClr val="FFF3E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1691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40880" y="1691640"/>
            <a:ext cx="1920240" cy="822960"/>
          </a:xfrm>
          <a:prstGeom prst="rect">
            <a:avLst/>
          </a:prstGeom>
          <a:solidFill>
            <a:srgbClr val="F3E5F5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040880" y="1691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(Too Late)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377440" y="210312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0" y="210312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766560" y="210312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SYSTEM  (Proactive — This Work)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154680"/>
            <a:ext cx="1920240" cy="822960"/>
          </a:xfrm>
          <a:prstGeom prst="rect">
            <a:avLst/>
          </a:prstGeom>
          <a:solidFill>
            <a:srgbClr val="E3F2FD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315468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OK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651760" y="3154680"/>
            <a:ext cx="1920240" cy="82296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651760" y="315468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30s Ahead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46320" y="3154680"/>
            <a:ext cx="1920240" cy="82296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46320" y="315468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Weights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040880" y="3154680"/>
            <a:ext cx="1920240" cy="822960"/>
          </a:xfrm>
          <a:prstGeom prst="rect">
            <a:avLst/>
          </a:prstGeom>
          <a:solidFill>
            <a:srgbClr val="F1F8E9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040880" y="315468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377440" y="356616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572000" y="356616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766560" y="356616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60 km/h, a 30-second prediction window provides 500 metres of advance notice — enough for safe, graduated navigation adjustment.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502920" cy="6400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86868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Multi-Horizon Simultaneous Prediction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1161288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GNSS degradation at 5 s, 15 s, and 30 s simultaneously from a single forward pass — enabling graduated autonomous vehicle response.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828800"/>
            <a:ext cx="502920" cy="6400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8288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97280" y="18288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Cross-Satellite Attention Mechanism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2121408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Transformer encoder learns relationships between satellites in real time — the first application of cross-satellite attention to GNSS quality prediction.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502920" cy="6400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2788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97280" y="278892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Multi-Platform, Cross-Geography Generalisation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97280" y="3081528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vehicle, drone, and cart data; tested without retraining on public datasets from Hong Kong (UrbanNav) and Korea (KAIST).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02920" cy="6400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37490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97280" y="374904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Sensor Fusion Adaptation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97280" y="4041648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dynamic EKF adjusts GNSS observation noise covariance before degradation arrives, based on the model's prediction output.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4965192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complementary data platforms — supervisor-provided and self-collected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51760" cy="32461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2651760" cy="45720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188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Vehicle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10606" y="1747698"/>
            <a:ext cx="248862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/ Suburban  ·  0–80 km/h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2003730"/>
            <a:ext cx="2432304" cy="147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ROSBAG format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Multipath from buildings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 &amp; underpass blockage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AV context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114800"/>
            <a:ext cx="2432304" cy="256032"/>
          </a:xfrm>
          <a:prstGeom prst="rect">
            <a:avLst/>
          </a:prstGeom>
          <a:solidFill>
            <a:srgbClr val="D5F5E3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41148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Data acquired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1840" y="1188720"/>
            <a:ext cx="2651760" cy="32461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91840" y="1188720"/>
            <a:ext cx="2651760" cy="45720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91840" y="1188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/ UAV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01568" y="1747698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Aerial  ·  0–20 m/s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01568" y="1977555"/>
            <a:ext cx="2432304" cy="1447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ROSBAG / RINEX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Open-sky clean baseline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signal reference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 via RTKLIB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01568" y="4114800"/>
            <a:ext cx="2432304" cy="256032"/>
          </a:xfrm>
          <a:prstGeom prst="rect">
            <a:avLst/>
          </a:prstGeom>
          <a:solidFill>
            <a:srgbClr val="D5F5E3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401568" y="41148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Data acquired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26480" y="1202436"/>
            <a:ext cx="2651760" cy="32461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126480" y="1188720"/>
            <a:ext cx="2651760" cy="45720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126480" y="1188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Cart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36208" y="1753264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Pedestrian  ·  Campus routes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36208" y="1977555"/>
            <a:ext cx="2432304" cy="1404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Self-collected (5 scenarios)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degradation events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repeatable routes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RINEX output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36208" y="4114800"/>
            <a:ext cx="2432304" cy="2560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236208" y="41148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to be acquired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31" name="Text 29"/>
          <p:cNvSpPr/>
          <p:nvPr/>
        </p:nvSpPr>
        <p:spPr>
          <a:xfrm>
            <a:off x="438912" y="45537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Validation Datasets: UrbanNav (Hong Kong) ✔  ·  KAIST Urban (Korea) — awaiting delivery  ·  Oxford RobotCar ✔  ·  NCLT Michigan ✔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— 5 Controlled Scenarios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scenario isolates one degradation type, producing a scientifically labelled dataset.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61288"/>
            <a:ext cx="457200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16128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1161288"/>
            <a:ext cx="7589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Sky → Complete Blockage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1417320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Carpark → underground entrance. Captures rapid satellite count drop from 10+ to 0–4.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457200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187452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51560" y="1874520"/>
            <a:ext cx="7589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Canyon Multipath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51560" y="2130552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corridor between buildings. Captures carrier phase noise on low-elevation satellites without full signal loss.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457200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58775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51560" y="2587752"/>
            <a:ext cx="7589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Obstruction (Foliage)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2843784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canopy / covered walkway. Captures intermittent, stochastic signal degradation.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00984"/>
            <a:ext cx="457200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330098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51560" y="3300984"/>
            <a:ext cx="7589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Sky Baseline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51560" y="3557016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field with unobstructed 360° sky view. Provides the CLEAN class reference for the classifier.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014216"/>
            <a:ext cx="457200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4014216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51560" y="4014216"/>
            <a:ext cx="7589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Degradation Transition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51560" y="4270248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toward building face; captures satellite count dropping one at a time — directly trains the pre-degradation ramp-up period.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88E6-EEB4-AEE3-6405-C342D4679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4BDE42-35EC-AB19-86AE-0F1E646E56BE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0F6773-9D8D-24A6-77AE-C59891D57618}"/>
              </a:ext>
            </a:extLst>
          </p:cNvPr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— 5 Controlled Scenarios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8D22E51-0DD1-1BB7-B3B3-56F2DF7599D1}"/>
              </a:ext>
            </a:extLst>
          </p:cNvPr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B5DADA93-8C5C-C73D-A265-EB1C90BEB6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58" y="788062"/>
            <a:ext cx="6629400" cy="419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261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Processing Pipeline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platforms pass through the same six-step pipeline — ensuring model learns signal physics, not processing artefacts.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61288"/>
            <a:ext cx="8229600" cy="53035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161288"/>
            <a:ext cx="438912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161288"/>
            <a:ext cx="438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1197864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ROSBAG Extraction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17520" y="1216152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script extracts GNSS topics (/fix, /gnss) from .bag files → CSV with timestamps, position, SNR per satellite.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73936"/>
            <a:ext cx="8229600" cy="53035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1773936"/>
            <a:ext cx="438912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1773936"/>
            <a:ext cx="438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181051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RINEX Conversion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017520" y="18288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RTKCONV converts all sources to RINEX 3.x observation format — the universal standard.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86584"/>
            <a:ext cx="8229600" cy="53035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2386584"/>
            <a:ext cx="438912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2386584"/>
            <a:ext cx="438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05840" y="242316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RTKLIB Post-Processing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017520" y="2441448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RTKPOST applies IGS precise orbits, Saastamoinen troposphere, Klobuchar ionosphere models → high-accuracy reference positions.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999232"/>
            <a:ext cx="8229600" cy="53035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2999232"/>
            <a:ext cx="438912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2999232"/>
            <a:ext cx="438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05840" y="3035808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Ground-Truth Labelling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3054096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classes per epoch — CLEAN (error &lt;2m, C/N0 &gt;35 dB-Hz), WARNING, DEGRADED (error &gt;5m or C/N0 &lt;30 dB-Hz or SV count &lt;4).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611880"/>
            <a:ext cx="8229600" cy="53035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57200" y="3611880"/>
            <a:ext cx="438912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3611880"/>
            <a:ext cx="438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005840" y="3648456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017520" y="3666744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features per epoch. Z-score normalised on training data only. Sliding 30-second window → predict at 5s, 15s, 30s ahead.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57200" y="4224528"/>
            <a:ext cx="438912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57200" y="4224528"/>
            <a:ext cx="438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005840" y="4261104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Assembly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017520" y="4279392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train/val/test split (70/15/15). Public datasets reserved for cross-geography evaluation only.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— 35 Input Variables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 computed per epoch (1 Hz) from RTKLIB output — no additional hardware required.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822960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1258691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Quality (8 features)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29000" y="1156716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&amp; minimum C/N0 across satellites  ·  Std deviation &amp; rate of change of C/N0  ·  Mean carrier-phase lock time  ·  Cycle slip event count per epoch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20411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Geometry (8 features)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29000" y="1938528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satellite count, GDOP, PDOP, HDOP, VDOP  ·  Elevation angles (lowest &amp; mean)  ·  Sky coverage ratio across 8 azimuth sectors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642616"/>
            <a:ext cx="2743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Pseudorange &amp; Carrier Phase (6 features)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29000" y="2670048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Pseudorange residual mean &amp; std deviation  ·  Multipath indicator (code-carrier divergence)  ·  Cycle slip count, carrier phase residual RMS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4360" y="3374136"/>
            <a:ext cx="274320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Solution (4 features)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429000" y="3401568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&amp; vertical positioning error  ·  Solution type (no-fix / single / float / fixed)  ·  Epochs since last fixed RTK solution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94360" y="4105655"/>
            <a:ext cx="2743200" cy="525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&amp; Platform Context (9 features)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29000" y="4133088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speed (Doppler), heading (degrees)  ·  Time of day, day of year (ionosphere proxies)  ·  Estimated sky obstruction index from 3D map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— Five-Layer Pipeline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GNSS signals enter at Layer 1 — reliable autonomous navigation decisions emerge at Layer 5.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52144"/>
            <a:ext cx="8229600" cy="594360"/>
          </a:xfrm>
          <a:prstGeom prst="rect">
            <a:avLst/>
          </a:prstGeom>
          <a:solidFill>
            <a:srgbClr val="F0F7FF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152144"/>
            <a:ext cx="914400" cy="59436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152144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11978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Data Acquisition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508760" y="1453896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(ROSBAG)  ·  Drone (ROSBAG/RINEX)  ·  Cart (RINEX)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8229600" cy="594360"/>
          </a:xfrm>
          <a:prstGeom prst="rect">
            <a:avLst/>
          </a:prstGeom>
          <a:solidFill>
            <a:srgbClr val="F0F7FF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1874520"/>
            <a:ext cx="914400" cy="594360"/>
          </a:xfrm>
          <a:prstGeom prst="rect">
            <a:avLst/>
          </a:prstGeom>
          <a:solidFill>
            <a:srgbClr val="1F618D"/>
          </a:solidFill>
          <a:ln w="12700">
            <a:solidFill>
              <a:srgbClr val="1F61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187452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08760" y="192024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 Processing Pipeline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08760" y="2176272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ROSBAG extract → RINEX → RTKLIB post-processing → Feature CSV → Labelled windows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596896"/>
            <a:ext cx="8229600" cy="594360"/>
          </a:xfrm>
          <a:prstGeom prst="rect">
            <a:avLst/>
          </a:prstGeom>
          <a:solidFill>
            <a:srgbClr val="F0F7FF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2596896"/>
            <a:ext cx="914400" cy="594360"/>
          </a:xfrm>
          <a:prstGeom prst="rect">
            <a:avLst/>
          </a:prstGeom>
          <a:solidFill>
            <a:srgbClr val="2874A6"/>
          </a:solidFill>
          <a:ln w="12700">
            <a:solidFill>
              <a:srgbClr val="2874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2596896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08760" y="26426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Prediction Engine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508760" y="2898648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Transformer-LSTM: 30 s input window → 5 s / 15 s / 30 s degradation probability output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319272"/>
            <a:ext cx="8229600" cy="594360"/>
          </a:xfrm>
          <a:prstGeom prst="rect">
            <a:avLst/>
          </a:prstGeom>
          <a:solidFill>
            <a:srgbClr val="F0F7FF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3319272"/>
            <a:ext cx="914400" cy="59436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3319272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08760" y="336499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Fusion Adaptation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508760" y="3621024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EKF: GNSS noise covariance R scaled by model's 5 s degradation probability P_deg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041648"/>
            <a:ext cx="8229600" cy="594360"/>
          </a:xfrm>
          <a:prstGeom prst="rect">
            <a:avLst/>
          </a:prstGeom>
          <a:solidFill>
            <a:srgbClr val="F0F7FF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57200" y="4041648"/>
            <a:ext cx="914400" cy="594360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4041648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508760" y="40873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 Interface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508760" y="43434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Dash / React  ·  5 panels  ·  1 Hz update  ·  &lt; 100 ms end-to-end latency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 — Transformer-LSTM Hybrid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shape: (batch, 30 timesteps, 35 features)  →  Three simultaneous output heads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40296" y="1170432"/>
            <a:ext cx="1188720" cy="13716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40296" y="1170432"/>
            <a:ext cx="1188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 × 35)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29016" y="1856232"/>
            <a:ext cx="201168" cy="0"/>
          </a:xfrm>
          <a:prstGeom prst="line">
            <a:avLst/>
          </a:prstGeom>
          <a:noFill/>
          <a:ln w="254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430184" y="1170432"/>
            <a:ext cx="1737360" cy="1371600"/>
          </a:xfrm>
          <a:prstGeom prst="rect">
            <a:avLst/>
          </a:prstGeom>
          <a:solidFill>
            <a:srgbClr val="1F618D"/>
          </a:solidFill>
          <a:ln w="12700">
            <a:solidFill>
              <a:srgbClr val="1F61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430184" y="1170432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heads · d=64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layers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167544" y="1856232"/>
            <a:ext cx="201168" cy="0"/>
          </a:xfrm>
          <a:prstGeom prst="line">
            <a:avLst/>
          </a:prstGeom>
          <a:noFill/>
          <a:ln w="254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368712" y="1170432"/>
            <a:ext cx="1737360" cy="1371600"/>
          </a:xfrm>
          <a:prstGeom prst="rect">
            <a:avLst/>
          </a:prstGeom>
          <a:solidFill>
            <a:srgbClr val="2874A6"/>
          </a:solidFill>
          <a:ln w="12700">
            <a:solidFill>
              <a:srgbClr val="2874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68712" y="1170432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layers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hidden=128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06072" y="1856232"/>
            <a:ext cx="201168" cy="0"/>
          </a:xfrm>
          <a:prstGeom prst="line">
            <a:avLst/>
          </a:prstGeom>
          <a:noFill/>
          <a:ln w="254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307240" y="1170432"/>
            <a:ext cx="1920240" cy="13716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07240" y="1170432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Heads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 · 15s · 30s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3-class softmax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2788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Architectural Choices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136392"/>
            <a:ext cx="8229600" cy="475488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01384" y="319125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Transformer?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468880" y="3191256"/>
            <a:ext cx="6080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 attention learns cross-satellite relationships: blockage degrades satellites in a spatial sector simultaneously, distinguishable from single-satellite multipath.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8229600" cy="475488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739896"/>
            <a:ext cx="18288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LSTM Decoder?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468880" y="3758184"/>
            <a:ext cx="6080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context capture; translates Transformer output into per-horizon degradation probability vectors efficiently.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270248"/>
            <a:ext cx="8229600" cy="475488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94360" y="4306824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3 Horizons?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468880" y="4325112"/>
            <a:ext cx="6080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 → sensor weight adjustment  |  15 s → route planning update  |  5 s → emergency navigation response.  All from a single forward pass.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Protocol &amp; Class Imbalance Handling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5070348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design decisions that prevent naive high accuracy while achieving meaningful degradation detection.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Data Splits (never random shuffle — adjacent epochs are correlated)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1295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Proportion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Earliest data — all platforms, all scenarios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Middle time period — hyperparameter tuning &amp; early stopping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recent data — untouched until final evaluation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Cross-geo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UrbanNav + KAIST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used in training — proves geographic generalisation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29489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Handling (~80% CLEAN / 15% WARNING / 5% DEGRADED)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3287268"/>
            <a:ext cx="8229600" cy="5029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57200" y="3287268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960120" y="332384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 Loss</a:t>
            </a:r>
            <a:endParaRPr lang="en-US" sz="1200" dirty="0"/>
          </a:p>
        </p:txBody>
      </p:sp>
      <p:sp>
        <p:nvSpPr>
          <p:cNvPr id="8" name="Text 10"/>
          <p:cNvSpPr/>
          <p:nvPr/>
        </p:nvSpPr>
        <p:spPr>
          <a:xfrm>
            <a:off x="960120" y="3543300"/>
            <a:ext cx="7589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Mathematically down-weights easy (clean) examples and focuses training gradient on hard (degraded) examples.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881628"/>
            <a:ext cx="8229600" cy="50292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57200" y="3881628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960120" y="39182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60120" y="4137660"/>
            <a:ext cx="7589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synthetic degraded epochs by interpolating between existing degraded examples — applied to training set only.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4475988"/>
            <a:ext cx="8229600" cy="5029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57200" y="4475988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960120" y="451256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Class-Weighted Loss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960120" y="4732020"/>
            <a:ext cx="7589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Multiplies loss for degraded class by a weight inversely proportional to its frequency (×20 if 5% of data).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Strategy &amp; Metrics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67413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generalisation test types — in-distribution, cross-platform, cross-environment, cross-geography.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90380"/>
              </p:ext>
            </p:extLst>
          </p:nvPr>
        </p:nvGraphicFramePr>
        <p:xfrm>
          <a:off x="457200" y="1059180"/>
          <a:ext cx="8229600" cy="225552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Matters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 F1-Score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 measure — prevents gaming by focussing only on majority class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 (per class)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false alarms — alerting system when signal is actually fine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(per class)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missing a degradation event — safety-critical, must be high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Threshold-independent — shows full range of operating points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 Lead Time (seconds)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real-world value metric — more lead time = safer response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Navigation RMSE reduction (%)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Proves system improves actual navigation, not just classification accuracy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Models for Comparison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581401"/>
            <a:ext cx="8229600" cy="11794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Threshold-based SNR alarm  (simplest possible baseline — no temporal modelling)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on hand-crafted features  (classic ML, no temporal modelling)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LSTM without attention  (removes the Transformer; shows attention adds value)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RAIM  (industry standard for detecting existing signal faults; beating its lead time is a key result)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Studies — Every Component Earns Its Place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925834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specifically look for ablations as evidence of rigorous scientific methodology.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2532888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Removed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attention (LSTM only)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 encoder → simple LSTM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Cross-satellite attention adds predictive 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Single-horizon (5 s only)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s and 30 s output heads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Multi-horizon output improves overall performance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Geometry features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signal quality features (C/N0, SNR)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signal measurements are necessary, not just geometry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 data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Drone and cart data excluded from training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Multi-platform training improves generalisation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SMOTE / focal loss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cross-entropy, no oversampling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imbalance handling is essential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ablations evaluated on the held-out test set. Results reported with 95% confidence intervals from 5-fold cross-validation.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075309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Generalisation Test Protocol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4386205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vehicle + drone → Test on cart  |  Train on urban data → Test on suburban  |  Test on UrbanNav (HK) + KAIST (KR) without retraining  |  Train on Month 1 → Test on Month 2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 Interface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display panels  ·  Python Dash / React  ·  1 Hz update  ·  &lt; 100 ms end-to-end latency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170432"/>
            <a:ext cx="658368" cy="59436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170432"/>
            <a:ext cx="658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1207008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Navigation Map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34440" y="1398104"/>
            <a:ext cx="7315200" cy="339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Scrolling map centred on current position. GPS track colour-coded: green (clean), amber (warning), red (degraded). Position marker pulses on alert.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892808"/>
            <a:ext cx="822960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1892808"/>
            <a:ext cx="658368" cy="59436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1892808"/>
            <a:ext cx="658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1929384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Quality Monitor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21854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Scrolling time series of mean C/N0 (threshold 30 dB-Hz), satellite count (min 4), PDOP (max 6). Individual satellite C/N0 shown as background traces.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615184"/>
            <a:ext cx="822960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2615184"/>
            <a:ext cx="658368" cy="59436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2615184"/>
            <a:ext cx="658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34440" y="265176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Prediction Display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34440" y="29077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semicircular gauges (5 s, 15 s, 30 s) showing degradation probability 0–100%. Status banner: NOMINAL / CAUTION / ALERT.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337560"/>
            <a:ext cx="822960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3337560"/>
            <a:ext cx="658368" cy="59436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3337560"/>
            <a:ext cx="658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34440" y="337413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Sky Plot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34440" y="3578087"/>
            <a:ext cx="7315200" cy="3264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Azimuth/elevation plot. Satellite points colour-coded by C/N0 (green &gt;40 dB-Hz, amber 30–40, red &lt;30). Blockage visually obvious as satellites disappear from azimuth sectors.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059936"/>
            <a:ext cx="822960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57200" y="4059936"/>
            <a:ext cx="658368" cy="59436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4059936"/>
            <a:ext cx="658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234440" y="4096512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Fusion Status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234440" y="4310270"/>
            <a:ext cx="7315200" cy="3165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stacked bar: GNSS % | IMU %. GNSS bar shrinks in real time as degradation probability rises. Shows the system is acting on its prediction.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09A8E-214C-3CF2-14F4-86A35062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58F401-729A-83D3-E625-39CB67F73B74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556145-DA88-10A0-C96A-33BA98254438}"/>
              </a:ext>
            </a:extLst>
          </p:cNvPr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 Interface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112CA0F-254F-5997-5B5B-9FEC5B5670E4}"/>
              </a:ext>
            </a:extLst>
          </p:cNvPr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5500F85-65B4-0AAC-1A05-CB9EB0EE44CA}"/>
              </a:ext>
            </a:extLst>
          </p:cNvPr>
          <p:cNvSpPr/>
          <p:nvPr/>
        </p:nvSpPr>
        <p:spPr>
          <a:xfrm>
            <a:off x="483705" y="4951477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D1CA55FF-324D-F32C-73FD-20E42B8D5F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031" y="745990"/>
            <a:ext cx="6923108" cy="414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327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Fusion Adaptation — Dynamic EKF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199" y="5048018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199" y="719627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EKF uses fixed GNSS noise covariance. Our system adapts it proactively using the model's prediction output.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1078992"/>
            <a:ext cx="6400800" cy="1316372"/>
          </a:xfrm>
          <a:prstGeom prst="rect">
            <a:avLst/>
          </a:prstGeom>
          <a:solidFill>
            <a:srgbClr val="EBF5FB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/>
              <p:nvPr/>
            </p:nvSpPr>
            <p:spPr>
              <a:xfrm>
                <a:off x="1371599" y="1123421"/>
                <a:ext cx="6400801" cy="391999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1600" b="1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ar-AE" sz="1600" b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sz="1600" b="1" i="1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600" b="1" i="1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1" i="1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</a:rPr>
                            <m:t>base</m:t>
                          </m:r>
                        </m:sub>
                      </m:sSub>
                      <m:r>
                        <a:rPr lang="ar-AE" sz="1600" b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ar-AE" sz="1600" b="1" i="1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600" b="1" i="1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ar-AE" sz="1600" b="1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sz="1600" b="1" i="1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ar-AE" sz="1600" b="1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ar-AE" sz="1600" b="1" i="1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 b="1" i="1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𝑷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 b="1" i="1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</a:rPr>
                                <m:t>degraded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b="1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599" y="1123421"/>
                <a:ext cx="6400801" cy="391999"/>
              </a:xfrm>
              <a:prstGeom prst="rect">
                <a:avLst/>
              </a:prstGeom>
              <a:blipFill>
                <a:blip r:embed="rId3"/>
                <a:stretch>
                  <a:fillRect b="-1846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/>
              <p:nvPr/>
            </p:nvSpPr>
            <p:spPr>
              <a:xfrm>
                <a:off x="1371600" y="1507567"/>
                <a:ext cx="6400800" cy="851221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2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200" b="1" i="1"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200" b="1" i="1"/>
                          <m:t>base</m:t>
                        </m:r>
                      </m:sub>
                    </m:sSub>
                  </m:oMath>
                </a14:m>
                <a:r>
                  <a:rPr lang="ar-AE" sz="1200" dirty="0"/>
                  <a:t>:</a:t>
                </a:r>
                <a:r>
                  <a:rPr lang="ar-AE" sz="700" dirty="0"/>
                  <a:t> </a:t>
                </a:r>
                <a:r>
                  <a:rPr lang="en-US" sz="700" dirty="0"/>
                  <a:t> </a:t>
                </a:r>
                <a:r>
                  <a:rPr lang="en-US" sz="1100" dirty="0"/>
                  <a:t>Nominal GNSS noise covariance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200" b="1" i="1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200" b="1" i="1"/>
                          <m:t>degraded</m:t>
                        </m:r>
                      </m:sub>
                    </m:sSub>
                  </m:oMath>
                </a14:m>
                <a:r>
                  <a:rPr lang="ar-AE" sz="1200" dirty="0"/>
                  <a:t>:</a:t>
                </a:r>
                <a:r>
                  <a:rPr lang="ar-AE" sz="800" dirty="0"/>
                  <a:t> </a:t>
                </a:r>
                <a:r>
                  <a:rPr lang="en-US" sz="1050" dirty="0"/>
                  <a:t>Model’s 5-second horizon degradation probability </a:t>
                </a:r>
                <a:endParaRPr lang="en-US" sz="8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1200" b="1" i="1">
                        <a:latin typeface="Cambria Math" panose="02040503050406030204" pitchFamily="18" charset="0"/>
                      </a:rPr>
                      <m:t>𝜶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1200" dirty="0"/>
                  <a:t>:</a:t>
                </a:r>
                <a:r>
                  <a:rPr lang="en-US" sz="800" dirty="0"/>
                  <a:t> </a:t>
                </a:r>
                <a:r>
                  <a:rPr lang="en-US" sz="1100" dirty="0"/>
                  <a:t>Tunable scaling factor </a:t>
                </a:r>
                <a:endParaRPr lang="en-US" sz="800" dirty="0"/>
              </a:p>
            </p:txBody>
          </p:sp>
        </mc:Choice>
        <mc:Fallback xmlns=""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1507567"/>
                <a:ext cx="6400800" cy="851221"/>
              </a:xfrm>
              <a:prstGeom prst="rect">
                <a:avLst/>
              </a:prstGeom>
              <a:blipFill>
                <a:blip r:embed="rId4"/>
                <a:stretch>
                  <a:fillRect b="-1214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434008" y="2492270"/>
            <a:ext cx="8229600" cy="59436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/>
              <p:nvPr/>
            </p:nvSpPr>
            <p:spPr>
              <a:xfrm>
                <a:off x="571168" y="2528846"/>
                <a:ext cx="4114800" cy="25208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200" i="1"/>
                          <m:t>degraded</m:t>
                        </m:r>
                      </m:sub>
                    </m:sSub>
                    <m:r>
                      <a:rPr lang="en-US" sz="1200">
                        <a:latin typeface="Cambria Math" panose="02040503050406030204" pitchFamily="18" charset="0"/>
                      </a:rPr>
                      <m:t>=0.0</m:t>
                    </m:r>
                    <m:r>
                      <a:rPr lang="en-US" sz="12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b="1" dirty="0">
                    <a:solidFill>
                      <a:srgbClr val="27AE6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(clean signal)</a:t>
                </a:r>
                <a:endParaRPr lang="en-US" sz="1200" dirty="0"/>
              </a:p>
            </p:txBody>
          </p:sp>
        </mc:Choice>
        <mc:Fallback xmlns="">
          <p:sp>
            <p:nvSpPr>
              <p:cNvPr id="11" name="Tex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168" y="2528846"/>
                <a:ext cx="4114800" cy="252088"/>
              </a:xfrm>
              <a:prstGeom prst="rect">
                <a:avLst/>
              </a:prstGeom>
              <a:blipFill>
                <a:blip r:embed="rId5"/>
                <a:stretch>
                  <a:fillRect t="-9756" b="-2195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/>
              <p:nvPr/>
            </p:nvSpPr>
            <p:spPr>
              <a:xfrm>
                <a:off x="571168" y="2784878"/>
                <a:ext cx="7863840" cy="25603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200" i="1"/>
                          <m:t>base</m:t>
                        </m:r>
                      </m:sub>
                    </m:sSub>
                  </m:oMath>
                </a14:m>
                <a:r>
                  <a:rPr lang="en-US" sz="900" dirty="0"/>
                  <a:t> </a:t>
                </a:r>
                <a:r>
                  <a:rPr lang="en-US" sz="1100" dirty="0">
                    <a:solidFill>
                      <a:srgbClr val="1C28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— </a:t>
                </a:r>
                <a:r>
                  <a:rPr lang="en-US" sz="1200" dirty="0">
                    <a:solidFill>
                      <a:srgbClr val="1C28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filter behaves normally. GNSS fully trusted</a:t>
                </a:r>
                <a:r>
                  <a:rPr lang="en-US" sz="1100" dirty="0">
                    <a:solidFill>
                      <a:srgbClr val="1C28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n-US" sz="1100" dirty="0"/>
              </a:p>
            </p:txBody>
          </p:sp>
        </mc:Choice>
        <mc:Fallback xmlns="">
          <p:sp>
            <p:nvSpPr>
              <p:cNvPr id="12" name="Tex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168" y="2784878"/>
                <a:ext cx="7863840" cy="256032"/>
              </a:xfrm>
              <a:prstGeom prst="rect">
                <a:avLst/>
              </a:prstGeom>
              <a:blipFill>
                <a:blip r:embed="rId6"/>
                <a:stretch>
                  <a:fillRect t="-4762" b="-21429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1"/>
          <p:cNvSpPr/>
          <p:nvPr/>
        </p:nvSpPr>
        <p:spPr>
          <a:xfrm>
            <a:off x="434008" y="3242078"/>
            <a:ext cx="8229600" cy="619704"/>
          </a:xfrm>
          <a:prstGeom prst="rect">
            <a:avLst/>
          </a:prstGeom>
          <a:solidFill>
            <a:srgbClr val="FFF9E6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 12"/>
              <p:cNvSpPr/>
              <p:nvPr/>
            </p:nvSpPr>
            <p:spPr>
              <a:xfrm>
                <a:off x="571167" y="3242078"/>
                <a:ext cx="6280206" cy="5410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200" i="1"/>
                          <m:t>degraded</m:t>
                        </m:r>
                      </m:sub>
                    </m:sSub>
                    <m:r>
                      <a:rPr lang="en-US" sz="120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b="1" dirty="0">
                    <a:solidFill>
                      <a:srgbClr val="FFC000"/>
                    </a:solidFill>
                  </a:rPr>
                  <a:t> </a:t>
                </a:r>
                <a:r>
                  <a:rPr lang="en-US" sz="1200" b="1" dirty="0">
                    <a:solidFill>
                      <a:srgbClr val="FFC000"/>
                    </a:solidFill>
                  </a:rPr>
                  <a:t>(Warning State)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=6×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200" i="1"/>
                          <m:t>base</m:t>
                        </m:r>
                      </m:sub>
                    </m:sSub>
                  </m:oMath>
                </a14:m>
                <a:r>
                  <a:rPr lang="en-US" sz="1000" b="0" dirty="0"/>
                  <a:t> </a:t>
                </a:r>
                <a:r>
                  <a:rPr lang="en-US" sz="1000" dirty="0">
                    <a:solidFill>
                      <a:srgbClr val="1C28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— </a:t>
                </a:r>
                <a:r>
                  <a:rPr lang="en-US" sz="1200" dirty="0">
                    <a:solidFill>
                      <a:srgbClr val="1C28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filter reduces GNSS weight, begins relying on IMU dead-reckoning</a:t>
                </a:r>
                <a:r>
                  <a:rPr lang="en-US" sz="1000" dirty="0">
                    <a:solidFill>
                      <a:srgbClr val="1C28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n-US" sz="1000" b="0" dirty="0"/>
              </a:p>
            </p:txBody>
          </p:sp>
        </mc:Choice>
        <mc:Fallback xmlns="">
          <p:sp>
            <p:nvSpPr>
              <p:cNvPr id="14" name="Text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167" y="3242078"/>
                <a:ext cx="6280206" cy="541020"/>
              </a:xfrm>
              <a:prstGeom prst="rect">
                <a:avLst/>
              </a:prstGeom>
              <a:blipFill>
                <a:blip r:embed="rId7"/>
                <a:stretch>
                  <a:fillRect b="-21348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Shape 14"/>
          <p:cNvSpPr/>
          <p:nvPr/>
        </p:nvSpPr>
        <p:spPr>
          <a:xfrm>
            <a:off x="434008" y="3995264"/>
            <a:ext cx="8229600" cy="64935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34008" y="471830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the system complete: the AI prediction directly closes the loop into the navigation stack.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12">
                <a:extLst>
                  <a:ext uri="{FF2B5EF4-FFF2-40B4-BE49-F238E27FC236}">
                    <a16:creationId xmlns:a16="http://schemas.microsoft.com/office/drawing/2014/main" id="{8578BE49-A789-96A7-DD50-4D75B505CD2F}"/>
                  </a:ext>
                </a:extLst>
              </p:cNvPr>
              <p:cNvSpPr/>
              <p:nvPr/>
            </p:nvSpPr>
            <p:spPr>
              <a:xfrm>
                <a:off x="571167" y="3995263"/>
                <a:ext cx="8002989" cy="60284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200" i="1"/>
                          <m:t>degraded</m:t>
                        </m:r>
                      </m:sub>
                    </m:sSub>
                    <m:r>
                      <a:rPr lang="en-US" sz="1200"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r>
                  <a:rPr lang="en-US" sz="1000" b="1" dirty="0">
                    <a:solidFill>
                      <a:srgbClr val="FFC000"/>
                    </a:solidFill>
                  </a:rPr>
                  <a:t> </a:t>
                </a:r>
                <a:r>
                  <a:rPr lang="en-US" sz="1200" b="1" dirty="0">
                    <a:solidFill>
                      <a:srgbClr val="C039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(near-certain degradation)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200" i="1"/>
                          <m:t>base</m:t>
                        </m:r>
                      </m:sub>
                    </m:sSub>
                  </m:oMath>
                </a14:m>
                <a:r>
                  <a:rPr lang="en-US" sz="1000" b="0" dirty="0"/>
                  <a:t> </a:t>
                </a:r>
                <a:r>
                  <a:rPr lang="en-US" sz="1000" dirty="0">
                    <a:solidFill>
                      <a:srgbClr val="1C28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— </a:t>
                </a:r>
                <a:r>
                  <a:rPr lang="en-US" sz="1200" dirty="0">
                    <a:solidFill>
                      <a:srgbClr val="1C28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filter relies almost entirely on IMU. Transition completed before degradation reaches positioning</a:t>
                </a:r>
                <a:r>
                  <a:rPr lang="en-US" sz="1000" dirty="0">
                    <a:solidFill>
                      <a:srgbClr val="1C28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n-US" sz="1000" b="0" dirty="0"/>
              </a:p>
            </p:txBody>
          </p:sp>
        </mc:Choice>
        <mc:Fallback xmlns="">
          <p:sp>
            <p:nvSpPr>
              <p:cNvPr id="20" name="Text 12">
                <a:extLst>
                  <a:ext uri="{FF2B5EF4-FFF2-40B4-BE49-F238E27FC236}">
                    <a16:creationId xmlns:a16="http://schemas.microsoft.com/office/drawing/2014/main" id="{8578BE49-A789-96A7-DD50-4D75B505CD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167" y="3995263"/>
                <a:ext cx="8002989" cy="602844"/>
              </a:xfrm>
              <a:prstGeom prst="rect">
                <a:avLst/>
              </a:prstGeom>
              <a:blipFill>
                <a:blip r:embed="rId8"/>
                <a:stretch>
                  <a:fillRect b="-1515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Claims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962276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822960"/>
            <a:ext cx="8229600" cy="86868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822960"/>
            <a:ext cx="594360" cy="8686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822960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868680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Multi-Horizon Simultaneous Prediction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1170432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 predicts single-step ahead (typically 1 second). We simultaneously predict at 5 s, 15 s, and 30 s from a single forward pass — enabling graduated autonomous response.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8229600" cy="86868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594360" cy="8686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1874520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1920240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Cross-Satellite Attention Mechanism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2221992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published GNSS degradation prediction paper explicitly models relationships between satellites simultaneously. Our Transformer attention weights are interpretable evidence of model decisions.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8229600" cy="86868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57200" y="2926080"/>
            <a:ext cx="594360" cy="8686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2926080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88720" y="2971800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Training for Generalisation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3273552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published papers train and test on a single platform type. We train across three platforms and demonstrate cross-platform and cross-geography generalisation on public datasets.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977640"/>
            <a:ext cx="8229600" cy="86868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594360" cy="8686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3977640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88720" y="4023360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Sensor Fusion Adaptation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88720" y="4325112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sensor fusion detects GNSS degradation after it occurs, then reacts. Our EKF increases GNSS noise covariance before degradation affects positioning — the first demonstrated proactive adaptation.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Responsibilities &amp; Presentation Division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4066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owns specific components and is fully accountable for their delivery.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471211"/>
              </p:ext>
            </p:extLst>
          </p:nvPr>
        </p:nvGraphicFramePr>
        <p:xfrm>
          <a:off x="457200" y="1143000"/>
          <a:ext cx="8321040" cy="3798558"/>
        </p:xfrm>
        <a:graphic>
          <a:graphicData uri="http://schemas.openxmlformats.org/drawingml/2006/table">
            <a:tbl>
              <a:tblPr/>
              <a:tblGrid>
                <a:gridCol w="2269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5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6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671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Owns / Delivers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Rashid Md Harun Or (LS2525219)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&amp; Baseline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review, baseline models (threshold, RF, LSTM, RAIM), related work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Ingeriyinkindi</a:t>
                      </a: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Claudine (LS2525236)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Collection &amp; Evaluation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 GNSS collection (Scenarios A–E), evaluation metrics, results tables, public dataset 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Ogunlade Joshua (LS2525237)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&amp; Processing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ROSBAG extraction, RTKLIB pipeline, feature extraction code, dataset labelling &amp; QC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Mustapha Ibrahim (LS2525238)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&amp; EKF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dashboard (all 5 panels), dynamic EKF implementation, live system testing &amp; video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Ojerinde Joel Segun (LS2525253)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&amp; Integration Lead (Lead Author)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Transformer-LSTM architecture, training pipeline, ablation studies, generalization testing, integration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— 4-Week Compressed Plan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915827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58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1-month total  ·  2 concurrent coursework  ·  Critical path: data collection (Wk 1) → model training (Wk 3)  ·  Target: IEEE T-ITS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1956816" cy="5029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 ·  Days 1–7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353312"/>
            <a:ext cx="1956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Data Extraction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600200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1609477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software installed · Room 3058 visit · GitHub repo created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2240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496312"/>
            <a:ext cx="1956816" cy="85039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2433894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ROSBAG extraction + RTKLIB running on supervisor vehicle &amp; drone datasets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0" y="313639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392424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4068" y="343609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 A &amp; D collected (5 reps each) · RTKLIB processed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48640" y="40325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Claudine, Joshua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468880" y="1097280"/>
            <a:ext cx="1956816" cy="502920"/>
          </a:xfrm>
          <a:prstGeom prst="rect">
            <a:avLst/>
          </a:prstGeom>
          <a:solidFill>
            <a:srgbClr val="1F618D"/>
          </a:solidFill>
          <a:ln w="12700">
            <a:solidFill>
              <a:srgbClr val="1F61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468880" y="1097280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 ·  Days 8–14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468880" y="1353312"/>
            <a:ext cx="1956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Collection &amp; Features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468880" y="1600200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505456" y="1551299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 B, C, E collected · Feature CSVs generated · Labelling complete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60320" y="2240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Claudine, Joshua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468880" y="2496312"/>
            <a:ext cx="1956816" cy="85039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551176" y="243734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baseline models trained &amp; results recorded (RF, LSTM, threshold, RAIM)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60320" y="313639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Harun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3392424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551176" y="3334247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drafted (30 papers) · UrbanNav &amp; RobotCar processed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560320" y="40325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Harun, Claudine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480560" y="1097280"/>
            <a:ext cx="1956816" cy="502920"/>
          </a:xfrm>
          <a:prstGeom prst="rect">
            <a:avLst/>
          </a:prstGeom>
          <a:solidFill>
            <a:srgbClr val="2874A6"/>
          </a:solidFill>
          <a:ln w="12700">
            <a:solidFill>
              <a:srgbClr val="2874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480560" y="1097280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 ·  Days 15–21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1353312"/>
            <a:ext cx="1956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 &amp; System Build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480560" y="1600200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572000" y="1563624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Transformer-LSTM trained · First test-set results · Ablation studies done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72000" y="2240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480560" y="2496312"/>
            <a:ext cx="1956816" cy="85039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572000" y="2456655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Generalisation tests on UrbanNav &amp; RobotCar · KAIST on arrival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0" y="313639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Joel, Claudine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480560" y="3392424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567428" y="333756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EKF in simulation · Dashboard all 5 panels with data playback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72000" y="40325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Mustapha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92240" y="1097280"/>
            <a:ext cx="1956816" cy="5029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492240" y="1097280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 ·  Days 22–28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92240" y="1353312"/>
            <a:ext cx="1956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Integration, Demo &amp; Paper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492240" y="1600200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528816" y="1618488"/>
            <a:ext cx="18836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campus test: cart + receiver + dashboard · Screen capture video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583680" y="2240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492240" y="2496312"/>
            <a:ext cx="1956816" cy="85039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583680" y="2532888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1 first draft written · Each member fills their sections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583680" y="313639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 leads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492240" y="3392424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528816" y="3402363"/>
            <a:ext cx="188366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team review · Presentation rehearsed · Submission-ready draft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583680" y="40325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7200" y="4384548"/>
            <a:ext cx="8229600" cy="3895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50" i="1" dirty="0">
                <a:solidFill>
                  <a:srgbClr val="B777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Risk: Scenarios A &amp; D (Day 5–7) are the critical path — all model work depends on them. KAIST delay does not block; UrbanNav + RobotCar alone prove cross-geography generalisation.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8113" y="822960"/>
            <a:ext cx="64008" cy="4187356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0174A"/>
          </a:solidFill>
          <a:ln w="12700">
            <a:solidFill>
              <a:srgbClr val="0017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Building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26774" y="1097280"/>
            <a:ext cx="2570922" cy="32689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Transformer-LSTM hybrid for multi-horizon GNSS degradation prediction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35-feature engineering pipeline from RTKLIB observables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EKF that adapts sensor fusion before degradation hits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5-panel monitoring dashboard at &lt;100 ms latency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383280" y="77724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Results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24200" y="1087540"/>
            <a:ext cx="2727960" cy="2944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&gt; 0.85 on in-distribution test set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Cross-geography F1 within 10% of in-distribution performance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lead time of 15–30 s ahead of positioning failure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RMSE reduction vs. GNSS-only baseline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080760" y="77724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1170432"/>
            <a:ext cx="2651760" cy="2944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Camera-based environmental context as additional feature group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BeiDou-specific constellation analysis for Chinese urban environments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Larger-scale multi-city urban study for broader generalisation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2: full real-time system integration and field demonstration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4507396"/>
            <a:ext cx="7772400" cy="50292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5800" y="4507396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·  Questions?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2851</Words>
  <Application>Microsoft Macintosh PowerPoint</Application>
  <PresentationFormat>On-screen Show (16:9)</PresentationFormat>
  <Paragraphs>429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AI-Based Prediction of GNSS Signal Degradation for Autonomous Driving</dc:title>
  <dc:subject>PptxGenJS Presentation</dc:subject>
  <dc:creator>Ojerinde Joel Segun &amp; Team — Beihang University 2025</dc:creator>
  <cp:lastModifiedBy>Ogunlade, Joshua (jogunla1)</cp:lastModifiedBy>
  <cp:revision>15</cp:revision>
  <dcterms:created xsi:type="dcterms:W3CDTF">2026-04-24T07:17:25Z</dcterms:created>
  <dcterms:modified xsi:type="dcterms:W3CDTF">2026-04-27T02:52:01Z</dcterms:modified>
</cp:coreProperties>
</file>