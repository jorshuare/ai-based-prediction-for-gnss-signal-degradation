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25" d="100"/>
          <a:sy n="25" d="100"/>
        </p:scale>
        <p:origin x="808" y="1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43891200" cy="3017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145536"/>
            <a:ext cx="43891200" cy="731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eiha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75488"/>
            <a:ext cx="1920240" cy="1737360"/>
          </a:xfrm>
          <a:prstGeom prst="rect">
            <a:avLst/>
          </a:prstGeom>
        </p:spPr>
      </p:pic>
      <p:pic>
        <p:nvPicPr>
          <p:cNvPr id="6" name="Picture 5" descr="rcsste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2048" y="475488"/>
            <a:ext cx="1920240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0" y="365760"/>
            <a:ext cx="38404800" cy="10241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7000" b="1" i="0">
                <a:solidFill>
                  <a:srgbClr val="FFFFFF"/>
                </a:solidFill>
              </a:rPr>
              <a:t>SENTINEL-GNSS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353312"/>
            <a:ext cx="384048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A0E9"/>
                </a:solidFill>
              </a:rPr>
              <a:t>Proactive Multi-Horizon Prediction of GNSS Signal Degradation for Autonomous Vehicle Navigation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48256"/>
            <a:ext cx="38404800" cy="4937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Ojerinde Joel  ·  Ogunlade Joshua  ·  Mustapha Ibrahim  ·  Ingeriyinkindi Claudine  ·  Rashid Md Harun 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523744"/>
            <a:ext cx="38404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B4D2F0"/>
                </a:solidFill>
              </a:rPr>
              <a:t>H3I, Beihang University (RCSSTEAP)  ·  Hangzhou, China  ·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474720"/>
            <a:ext cx="14118335" cy="4754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" y="3538727"/>
            <a:ext cx="13862303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Background &amp; Motivation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3950208"/>
            <a:ext cx="14118335" cy="2834640"/>
          </a:xfrm>
          <a:prstGeom prst="rect">
            <a:avLst/>
          </a:prstGeom>
          <a:solidFill>
            <a:srgbClr val="EBF4FC"/>
          </a:solidFill>
          <a:ln w="1905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078224"/>
            <a:ext cx="13789151" cy="2578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03366"/>
                </a:solidFill>
              </a:rPr>
              <a:t>GNSS is the only drift-free absolute position source for autonomous vehicles.</a:t>
            </a:r>
          </a:p>
          <a:p>
            <a:pPr algn="l">
              <a:spcBef>
                <a:spcPts val="500"/>
              </a:spcBef>
            </a:pPr>
            <a:r>
              <a:rPr sz="2000" b="0">
                <a:solidFill>
                  <a:srgbClr val="373737"/>
                </a:solidFill>
              </a:rPr>
              <a:t>At 60 km/h a vehicle covers 17 m/s — a 5-second positioning gap can place it in the wrong lane or miss a junction entirely.</a:t>
            </a:r>
          </a:p>
          <a:p>
            <a:pPr algn="l"/>
            <a:endParaRPr sz="2000" b="0">
              <a:solidFill>
                <a:srgbClr val="373737"/>
              </a:solidFill>
            </a:endParaRPr>
          </a:p>
          <a:p>
            <a:pPr algn="l">
              <a:spcBef>
                <a:spcPts val="400"/>
              </a:spcBef>
            </a:pPr>
            <a:r>
              <a:rPr sz="2100" b="1">
                <a:solidFill>
                  <a:srgbClr val="003366"/>
                </a:solidFill>
              </a:rPr>
              <a:t>GNSS fails silently in urban environments: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  •  NLOS multipath from buildings injects 10–200 m position errors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  •  The receiver continues to output a 'valid' fix with no error flag</a:t>
            </a:r>
          </a:p>
          <a:p>
            <a:pPr algn="l"/>
            <a:endParaRPr sz="2000" b="0">
              <a:solidFill>
                <a:srgbClr val="373737"/>
              </a:solidFill>
            </a:endParaRPr>
          </a:p>
          <a:p>
            <a:pPr algn="l">
              <a:spcBef>
                <a:spcPts val="200"/>
              </a:spcBef>
            </a:pPr>
            <a:r>
              <a:rPr sz="2100" b="1">
                <a:solidFill>
                  <a:srgbClr val="C81E1E"/>
                </a:solidFill>
              </a:rPr>
              <a:t>Existing monitors (RAIM, RTKLIB Q-codes, ML classifiers) are REACTIVE:</a:t>
            </a:r>
          </a:p>
          <a:p>
            <a:pPr algn="l"/>
            <a:r>
              <a:rPr sz="2000" b="0">
                <a:solidFill>
                  <a:srgbClr val="C81E1E"/>
                </a:solidFill>
              </a:rPr>
              <a:t>  they report degradation only after it begins — zero preparation time.</a:t>
            </a:r>
          </a:p>
          <a:p>
            <a:pPr algn="l"/>
            <a:endParaRPr sz="2000" b="0">
              <a:solidFill>
                <a:srgbClr val="C81E1E"/>
              </a:solidFill>
            </a:endParaRPr>
          </a:p>
          <a:p>
            <a:pPr algn="l"/>
            <a:r>
              <a:rPr sz="2100" b="1">
                <a:solidFill>
                  <a:srgbClr val="148C1E"/>
                </a:solidFill>
              </a:rPr>
              <a:t>SENTINEL-GNSS predicts degradation 5–30 s in advance,</a:t>
            </a:r>
          </a:p>
          <a:p>
            <a:pPr algn="l"/>
            <a:r>
              <a:rPr sz="2100" b="1">
                <a:solidFill>
                  <a:srgbClr val="148C1E"/>
                </a:solidFill>
              </a:rPr>
              <a:t>giving the vehicle controller time to pre-activate dead reckoning.</a:t>
            </a:r>
          </a:p>
        </p:txBody>
      </p:sp>
      <p:pic>
        <p:nvPicPr>
          <p:cNvPr id="15" name="Picture 14" descr="fig13_reactive_vs_proac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739128"/>
            <a:ext cx="14118335" cy="3840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5488" y="10771632"/>
            <a:ext cx="13935455" cy="4206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5BAC"/>
                </a:solidFill>
              </a:rPr>
              <a:t>Fig. 1: Reactive monitoring gives 0 s warning. SENTINEL provides CLEAN → WARNING → DEGRADED labels 30/15/5 s before blockage, enabling pre-emptive fusion decisions.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11329416"/>
            <a:ext cx="14118335" cy="4754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064" y="11393424"/>
            <a:ext cx="13862303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Dataset &amp; Feature Engineering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11804904"/>
            <a:ext cx="14118335" cy="2487168"/>
          </a:xfrm>
          <a:prstGeom prst="rect">
            <a:avLst/>
          </a:prstGeom>
          <a:solidFill>
            <a:srgbClr val="EBF4FC"/>
          </a:solidFill>
          <a:ln w="1905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11932920"/>
            <a:ext cx="13789151" cy="22311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03366"/>
                </a:solidFill>
              </a:rPr>
              <a:t>149,662 labelled epochs across 4 cities and 9+ receiver types:</a:t>
            </a:r>
          </a:p>
          <a:p>
            <a:pPr algn="l">
              <a:spcBef>
                <a:spcPts val="500"/>
              </a:spcBef>
            </a:pPr>
            <a:r>
              <a:rPr sz="2000" b="0">
                <a:solidFill>
                  <a:srgbClr val="373737"/>
                </a:solidFill>
              </a:rPr>
              <a:t>  •  Hangzhou (Beihang campus): Scenarios A–E, Septentrio Mosaic-X5C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  •  Hong Kong (UrbanNav): Medium / Deep / Harsh / Tunnel environments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  •  Tokyo (held-out): Shinjuku Trimble, Shinjuku u-blox F9P, Odaiba</a:t>
            </a:r>
          </a:p>
          <a:p>
            <a:pPr algn="l"/>
            <a:endParaRPr sz="2000" b="0">
              <a:solidFill>
                <a:srgbClr val="373737"/>
              </a:solidFill>
            </a:endParaRPr>
          </a:p>
          <a:p>
            <a:pPr algn="l"/>
            <a:r>
              <a:rPr sz="2000" b="0">
                <a:solidFill>
                  <a:srgbClr val="373737"/>
                </a:solidFill>
              </a:rPr>
              <a:t>37 features in 7 groups: position quality, signal strength, satellite geometry,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pseudorange residuals, temporal patterns, atmospheric delays, receiver status.</a:t>
            </a:r>
          </a:p>
          <a:p>
            <a:pPr algn="l"/>
            <a:endParaRPr sz="2000" b="0">
              <a:solidFill>
                <a:srgbClr val="373737"/>
              </a:solidFill>
            </a:endParaRPr>
          </a:p>
          <a:p>
            <a:pPr algn="l"/>
            <a:r>
              <a:rPr sz="2000" b="1">
                <a:solidFill>
                  <a:srgbClr val="005BAC"/>
                </a:solidFill>
              </a:rPr>
              <a:t>Key: receiver_tier encodes hardware class — one model handles</a:t>
            </a:r>
          </a:p>
          <a:p>
            <a:pPr algn="l"/>
            <a:r>
              <a:rPr sz="2000" b="1">
                <a:solidFill>
                  <a:srgbClr val="005BAC"/>
                </a:solidFill>
              </a:rPr>
              <a:t>Septentrio (48 dB-Hz baseline) and u-blox (38 dB-Hz) identically.</a:t>
            </a:r>
          </a:p>
        </p:txBody>
      </p:sp>
      <p:pic>
        <p:nvPicPr>
          <p:cNvPr id="21" name="Picture 20" descr="fig10_dataset_composi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4410944"/>
            <a:ext cx="14118335" cy="3200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75488" y="17638776"/>
            <a:ext cx="13935455" cy="4206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5BAC"/>
                </a:solidFill>
              </a:rPr>
              <a:t>Fig. 2: Dataset composition. Tokyo (49,868 epochs) is strictly held-out — never seen during training or validation.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18196560"/>
            <a:ext cx="14118335" cy="4754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4" y="18260568"/>
            <a:ext cx="13862303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Classification Performance — All Horizons</a:t>
            </a:r>
          </a:p>
        </p:txBody>
      </p:sp>
      <p:pic>
        <p:nvPicPr>
          <p:cNvPr id="25" name="Picture 24" descr="fig13b_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19272350"/>
            <a:ext cx="10347282" cy="97173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75488" y="31958280"/>
            <a:ext cx="13935455" cy="4206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5BAC"/>
                </a:solidFill>
              </a:rPr>
              <a:t>Fig. 3: Row-normalised confusion matrices (+5 s / +15 s / +30 s). CLEAN recall ≥ 0.97 at all horizons; DEGRADED recall 0.85 → 0.73 as horizon extends.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886431" y="3474720"/>
            <a:ext cx="14118335" cy="4754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014447" y="3538727"/>
            <a:ext cx="13862303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SENTINEL-GNSS Architecture &amp; Pipeline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886431" y="3950208"/>
            <a:ext cx="14118335" cy="2487168"/>
          </a:xfrm>
          <a:prstGeom prst="rect">
            <a:avLst/>
          </a:prstGeom>
          <a:solidFill>
            <a:srgbClr val="EBF4FC"/>
          </a:solidFill>
          <a:ln w="1905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051023" y="4078224"/>
            <a:ext cx="13789151" cy="22311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03366"/>
                </a:solidFill>
              </a:rPr>
              <a:t>Hybrid Transformer–LSTM exploiting two temporal scales:</a:t>
            </a:r>
          </a:p>
          <a:p>
            <a:pPr algn="l"/>
            <a:endParaRPr sz="2100" b="1">
              <a:solidFill>
                <a:srgbClr val="003366"/>
              </a:solidFill>
            </a:endParaRPr>
          </a:p>
          <a:p>
            <a:pPr algn="l">
              <a:spcBef>
                <a:spcPts val="300"/>
              </a:spcBef>
            </a:pPr>
            <a:r>
              <a:rPr sz="2100" b="1">
                <a:solidFill>
                  <a:srgbClr val="005BAC"/>
                </a:solidFill>
              </a:rPr>
              <a:t>Transformer encoder (global patterns):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  2 layers · 8 heads · d_model=128 · d_ff=512 · dropout=0.3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  Captures satellite rise/set and PDOP trends across the 30-s window.</a:t>
            </a:r>
          </a:p>
          <a:p>
            <a:pPr algn="l"/>
            <a:endParaRPr sz="2000" b="0">
              <a:solidFill>
                <a:srgbClr val="373737"/>
              </a:solidFill>
            </a:endParaRPr>
          </a:p>
          <a:p>
            <a:pPr algn="l">
              <a:spcBef>
                <a:spcPts val="300"/>
              </a:spcBef>
            </a:pPr>
            <a:r>
              <a:rPr sz="2100" b="1">
                <a:solidFill>
                  <a:srgbClr val="005BAC"/>
                </a:solidFill>
              </a:rPr>
              <a:t>LSTM (sequential dynamics):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  2 stacked layers · hidden=256 · detects directional approach to blockage: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  C/N₀ declining, pseudorange residuals growing, PDOP rising.</a:t>
            </a:r>
          </a:p>
          <a:p>
            <a:pPr algn="l"/>
            <a:endParaRPr sz="2000" b="0">
              <a:solidFill>
                <a:srgbClr val="373737"/>
              </a:solidFill>
            </a:endParaRPr>
          </a:p>
          <a:p>
            <a:pPr algn="l"/>
            <a:r>
              <a:rPr sz="2100" b="1">
                <a:solidFill>
                  <a:srgbClr val="148C1E"/>
                </a:solidFill>
              </a:rPr>
              <a:t>Three output heads: +5 s · +15 s · +30 s  |  1.46 M params  |  0.039 ms/sample</a:t>
            </a:r>
          </a:p>
        </p:txBody>
      </p:sp>
      <p:pic>
        <p:nvPicPr>
          <p:cNvPr id="31" name="Picture 30" descr="fig14_architect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86431" y="6556248"/>
            <a:ext cx="14118335" cy="2560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977872" y="9144000"/>
            <a:ext cx="13935455" cy="4206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5BAC"/>
                </a:solidFill>
              </a:rPr>
              <a:t>Fig. 4: End-to-end SENTINEL-GNSS pipeline — raw GNSS signals to multi-horizon AV planner inputs via Transformer-LSTM.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886431" y="9701784"/>
            <a:ext cx="14118335" cy="4754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5014447" y="9765792"/>
            <a:ext cx="13862303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Multi-Horizon Classification Results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886431" y="10177272"/>
            <a:ext cx="14118335" cy="1975104"/>
          </a:xfrm>
          <a:prstGeom prst="rect">
            <a:avLst/>
          </a:prstGeom>
          <a:solidFill>
            <a:srgbClr val="EBF4FC"/>
          </a:solidFill>
          <a:ln w="1905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051023" y="10305288"/>
            <a:ext cx="13789151" cy="17190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73737"/>
                </a:solidFill>
              </a:rPr>
              <a:t>Held-out test set (n=1,686 windows). 95% CI via 1,000 bootstrap iterations.</a:t>
            </a:r>
          </a:p>
          <a:p>
            <a:pPr algn="l"/>
            <a:endParaRPr sz="2000" b="0">
              <a:solidFill>
                <a:srgbClr val="373737"/>
              </a:solidFill>
            </a:endParaRPr>
          </a:p>
          <a:p>
            <a:pPr algn="l">
              <a:spcBef>
                <a:spcPts val="300"/>
              </a:spcBef>
            </a:pPr>
            <a:r>
              <a:rPr sz="2200" b="1">
                <a:solidFill>
                  <a:srgbClr val="148C1E"/>
                </a:solidFill>
              </a:rPr>
              <a:t>  +5 s:   Macro-F1 = 0.821  |  DEGRADED F1 = 0.718  |  Recall = 0.847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  +15 s:  Macro-F1 = 0.741  |  DEGRADED F1 = 0.583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  +30 s:  Macro-F1 = 0.783  |  DEGRADED F1 = 0.629</a:t>
            </a:r>
          </a:p>
          <a:p>
            <a:pPr algn="l"/>
            <a:endParaRPr sz="2000" b="0">
              <a:solidFill>
                <a:srgbClr val="373737"/>
              </a:solidFill>
            </a:endParaRPr>
          </a:p>
          <a:p>
            <a:pPr algn="l"/>
            <a:r>
              <a:rPr sz="2000" b="0">
                <a:solidFill>
                  <a:srgbClr val="373737"/>
                </a:solidFill>
              </a:rPr>
              <a:t>84.7% of approaching degradation events flagged at +5 s — before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biased measurements arrive. MCC = 0.773 (strong class balance).</a:t>
            </a:r>
          </a:p>
        </p:txBody>
      </p:sp>
      <p:pic>
        <p:nvPicPr>
          <p:cNvPr id="37" name="Picture 36" descr="fig01_multihoriz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86431" y="12271248"/>
            <a:ext cx="14118335" cy="36576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4977872" y="15956280"/>
            <a:ext cx="13935455" cy="4206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5BAC"/>
                </a:solidFill>
              </a:rPr>
              <a:t>Fig. 5: Macro-F1 and MCC across prediction horizons with bootstrap 95% CI. Performance degrades gracefully as horizon extends.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886431" y="16514064"/>
            <a:ext cx="14118335" cy="4754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5014447" y="16578072"/>
            <a:ext cx="13862303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Ablation Study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886431" y="16989552"/>
            <a:ext cx="14118335" cy="1828800"/>
          </a:xfrm>
          <a:prstGeom prst="rect">
            <a:avLst/>
          </a:prstGeom>
          <a:solidFill>
            <a:srgbClr val="EBF4FC"/>
          </a:solidFill>
          <a:ln w="1905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5051023" y="17117568"/>
            <a:ext cx="13789151" cy="15727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03366"/>
                </a:solidFill>
              </a:rPr>
              <a:t>Both Transformer and LSTM are necessary:</a:t>
            </a:r>
          </a:p>
          <a:p>
            <a:pPr algn="l"/>
            <a:r>
              <a:rPr sz="2000" b="0">
                <a:solidFill>
                  <a:srgbClr val="C81E1E"/>
                </a:solidFill>
              </a:rPr>
              <a:t>  Transformer-only: Macro-F1=0.767, DEG-F1=0.571  (over-flags, precision=0.42)</a:t>
            </a:r>
          </a:p>
          <a:p>
            <a:pPr algn="l"/>
            <a:r>
              <a:rPr sz="2000" b="0">
                <a:solidFill>
                  <a:srgbClr val="C86400"/>
                </a:solidFill>
              </a:rPr>
              <a:t>  LSTM-only:        Macro-F1=0.767, DEG-F1=0.645  (under-detects, recall=0.51)</a:t>
            </a:r>
          </a:p>
          <a:p>
            <a:pPr algn="l"/>
            <a:r>
              <a:rPr sz="2000" b="1">
                <a:solidFill>
                  <a:srgbClr val="148C1E"/>
                </a:solidFill>
              </a:rPr>
              <a:t>  Full SENTINEL:    Macro-F1=0.821, DEG-F1=0.718  ✔ precision=0.62, recall=0.85</a:t>
            </a:r>
          </a:p>
          <a:p>
            <a:pPr algn="l"/>
            <a:endParaRPr sz="2000" b="1">
              <a:solidFill>
                <a:srgbClr val="148C1E"/>
              </a:solidFill>
            </a:endParaRPr>
          </a:p>
          <a:p>
            <a:pPr algn="l"/>
            <a:r>
              <a:rPr sz="1900" b="0">
                <a:solidFill>
                  <a:srgbClr val="373737"/>
                </a:solidFill>
              </a:rPr>
              <a:t>Removing receiver_tier: DEG-F1 drops 0.718 → 0.656 (largest single feature).</a:t>
            </a:r>
          </a:p>
          <a:p>
            <a:pPr algn="l"/>
            <a:r>
              <a:rPr sz="1900" b="0">
                <a:solidFill>
                  <a:srgbClr val="373737"/>
                </a:solidFill>
              </a:rPr>
              <a:t>Focal loss (γ=1) beats cross-entropy + SMOTE: DEG-F1 0.718 vs 0.672.</a:t>
            </a:r>
          </a:p>
        </p:txBody>
      </p:sp>
      <p:pic>
        <p:nvPicPr>
          <p:cNvPr id="43" name="Picture 42" descr="fig04_ablat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86431" y="18937224"/>
            <a:ext cx="14118335" cy="1299362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4977872" y="31958280"/>
            <a:ext cx="13935455" cy="4206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5BAC"/>
                </a:solidFill>
              </a:rPr>
              <a:t>Fig. 6: Ablation across architecture variants. Macro-F1, MCC, and DEGRADED-F1 — each component independently contributes to performance.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388815" y="3474720"/>
            <a:ext cx="14118335" cy="4754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9516831" y="3538727"/>
            <a:ext cx="13862303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★  Cross-City Generalisation  —  Key Result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388815" y="3950208"/>
            <a:ext cx="14118335" cy="2706624"/>
          </a:xfrm>
          <a:prstGeom prst="rect">
            <a:avLst/>
          </a:prstGeom>
          <a:solidFill>
            <a:srgbClr val="EBF4FC"/>
          </a:solidFill>
          <a:ln w="1905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9553407" y="4078224"/>
            <a:ext cx="13789151" cy="245059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73737"/>
                </a:solidFill>
              </a:rPr>
              <a:t>Training: Hangzhou + Hong Kong   |   Test: Tokyo (never seen during training)</a:t>
            </a:r>
          </a:p>
          <a:p>
            <a:pPr algn="l"/>
            <a:endParaRPr sz="2000" b="0">
              <a:solidFill>
                <a:srgbClr val="373737"/>
              </a:solidFill>
            </a:endParaRPr>
          </a:p>
          <a:p>
            <a:pPr algn="l">
              <a:spcBef>
                <a:spcPts val="400"/>
              </a:spcBef>
            </a:pPr>
            <a:r>
              <a:rPr sz="2200" b="1">
                <a:solidFill>
                  <a:srgbClr val="003366"/>
                </a:solidFill>
              </a:rPr>
              <a:t>Tokyo DEGRADED-class F1 at +5 s:</a:t>
            </a:r>
          </a:p>
          <a:p>
            <a:pPr algn="l"/>
            <a:r>
              <a:rPr sz="2300" b="1">
                <a:solidFill>
                  <a:srgbClr val="148C1E"/>
                </a:solidFill>
              </a:rPr>
              <a:t>  SENTINEL (DL):    0.75   ✔  Learns transferable temporal patterns</a:t>
            </a:r>
          </a:p>
          <a:p>
            <a:pPr algn="l"/>
            <a:r>
              <a:rPr sz="2300" b="1">
                <a:solidFill>
                  <a:srgbClr val="C81E1E"/>
                </a:solidFill>
              </a:rPr>
              <a:t>  Random Forest:    0.15   ✘  Memorises city-specific feature thresholds</a:t>
            </a:r>
          </a:p>
          <a:p>
            <a:pPr algn="l"/>
            <a:endParaRPr sz="2300" b="1">
              <a:solidFill>
                <a:srgbClr val="C81E1E"/>
              </a:solidFill>
            </a:endParaRPr>
          </a:p>
          <a:p>
            <a:pPr algn="l"/>
            <a:r>
              <a:rPr sz="2000" b="0">
                <a:solidFill>
                  <a:srgbClr val="373737"/>
                </a:solidFill>
              </a:rPr>
              <a:t>Why RF fails: RF learned PDOP &gt; 3.1 → DEGRADED from Beihang data.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In Tokyo the PDOP baseline is 2.8 (taller buildings, different geometry).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SENTINEL detects the temporal signature (C/N₀ declining, residuals growing),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which is physically consistent across cities — independent of geometry.</a:t>
            </a:r>
          </a:p>
        </p:txBody>
      </p:sp>
      <p:pic>
        <p:nvPicPr>
          <p:cNvPr id="49" name="Picture 48" descr="fig05_crosscity_degra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88815" y="6775704"/>
            <a:ext cx="14118335" cy="356616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9480255" y="10369296"/>
            <a:ext cx="13935455" cy="4206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5BAC"/>
                </a:solidFill>
              </a:rPr>
              <a:t>Fig. 7: Cross-city DEGRADED-class F1 at +5 s. SENTINEL 0.75 vs RF 0.15 — a 5× generalisation gap that only grows at +15 s and +30 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388815" y="10927080"/>
            <a:ext cx="14118335" cy="4754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9516831" y="10991088"/>
            <a:ext cx="13862303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Prediction-Informed EKF Navigation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388815" y="11402568"/>
            <a:ext cx="14118335" cy="2377440"/>
          </a:xfrm>
          <a:prstGeom prst="rect">
            <a:avLst/>
          </a:prstGeom>
          <a:solidFill>
            <a:srgbClr val="EBF4FC"/>
          </a:solidFill>
          <a:ln w="1905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9553407" y="11530584"/>
            <a:ext cx="13789151" cy="21214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73737"/>
                </a:solidFill>
              </a:rPr>
              <a:t>SENTINEL +5 s probability inflates GPS measurement noise R before bad epochs arrive:</a:t>
            </a:r>
          </a:p>
          <a:p>
            <a:pPr algn="l"/>
            <a:r>
              <a:rPr sz="2100" b="1">
                <a:solidFill>
                  <a:srgbClr val="003366"/>
                </a:solidFill>
              </a:rPr>
              <a:t>  R = (40 m)² I₂  when P(DEGRADED) &gt; 0.45;  else R = r_base² I₂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Pre-emptive gain reduction means the filter is protected when biased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fixes arrive — reactive detectors act only after the damage.</a:t>
            </a:r>
          </a:p>
          <a:p>
            <a:pPr algn="l"/>
            <a:endParaRPr sz="2000" b="0">
              <a:solidFill>
                <a:srgbClr val="373737"/>
              </a:solidFill>
            </a:endParaRPr>
          </a:p>
          <a:p>
            <a:pPr algn="l">
              <a:spcBef>
                <a:spcPts val="400"/>
              </a:spcBef>
            </a:pPr>
            <a:r>
              <a:rPr sz="2200" b="1">
                <a:solidFill>
                  <a:srgbClr val="003366"/>
                </a:solidFill>
              </a:rPr>
              <a:t>Degraded-segment RMSE reduction vs raw GNSS:</a:t>
            </a:r>
          </a:p>
          <a:p>
            <a:pPr algn="l"/>
            <a:r>
              <a:rPr sz="2100" b="1">
                <a:solidFill>
                  <a:srgbClr val="148C1E"/>
                </a:solidFill>
              </a:rPr>
              <a:t>  EKF Fixed-R + SENTINEL:  48.8%  ★ Trimble Shinjuku</a:t>
            </a:r>
          </a:p>
          <a:p>
            <a:pPr algn="l"/>
            <a:r>
              <a:rPr sz="2000" b="0">
                <a:solidFill>
                  <a:srgbClr val="1450A0"/>
                </a:solidFill>
              </a:rPr>
              <a:t>  Huber EKF (standalone):  25.2%  ★ u-blox Shinjuku (handles 1,472 m spike)</a:t>
            </a:r>
          </a:p>
          <a:p>
            <a:pPr algn="l"/>
            <a:r>
              <a:rPr sz="2000" b="0">
                <a:solidFill>
                  <a:srgbClr val="1450A0"/>
                </a:solidFill>
              </a:rPr>
              <a:t>  Student-t PF:            40.1%  ★ Odaiba harbour (non-persistent NLOS)</a:t>
            </a:r>
          </a:p>
        </p:txBody>
      </p:sp>
      <p:pic>
        <p:nvPicPr>
          <p:cNvPr id="55" name="Picture 54" descr="fig08_ekf_trajector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388815" y="13898880"/>
            <a:ext cx="6967727" cy="4023360"/>
          </a:xfrm>
          <a:prstGeom prst="rect">
            <a:avLst/>
          </a:prstGeom>
        </p:spPr>
      </p:pic>
      <p:pic>
        <p:nvPicPr>
          <p:cNvPr id="56" name="Picture 55" descr="fig07_ekf_rms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39423" y="13898880"/>
            <a:ext cx="6967727" cy="402336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9480255" y="17949672"/>
            <a:ext cx="13935455" cy="4206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5BAC"/>
                </a:solidFill>
              </a:rPr>
              <a:t>Fig. 8 (left): SENTINEL trajectory (blue) hugs ground truth through blockage; Fixed-R EKF and raw GNSS diverge.  Fig. 9 (right): Degraded-window RMSE across all fusion methods — SENTINEL gives largest reduction.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388815" y="18507456"/>
            <a:ext cx="14118335" cy="4754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9516831" y="18571464"/>
            <a:ext cx="13862303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Conclusions &amp; Future Work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388815" y="18982944"/>
            <a:ext cx="14118335" cy="13368528"/>
          </a:xfrm>
          <a:prstGeom prst="rect">
            <a:avLst/>
          </a:prstGeom>
          <a:solidFill>
            <a:srgbClr val="EBF4FC"/>
          </a:solidFill>
          <a:ln w="1905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9553407" y="19110960"/>
            <a:ext cx="13789151" cy="131124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366"/>
                </a:solidFill>
              </a:rPr>
              <a:t>Key Results:</a:t>
            </a:r>
          </a:p>
          <a:p>
            <a:pPr algn="l">
              <a:spcBef>
                <a:spcPts val="500"/>
              </a:spcBef>
            </a:pPr>
            <a:r>
              <a:rPr sz="2100" b="1">
                <a:solidFill>
                  <a:srgbClr val="005BAC"/>
                </a:solidFill>
              </a:rPr>
              <a:t>  ✔  First system to predict GNSS degradation 5–30 s in advance</a:t>
            </a:r>
          </a:p>
          <a:p>
            <a:pPr algn="l"/>
            <a:r>
              <a:rPr sz="2100" b="1">
                <a:solidFill>
                  <a:srgbClr val="005BAC"/>
                </a:solidFill>
              </a:rPr>
              <a:t>  ✔  Macro-F1 = 0.821 at +5 s  |  DEGRADED recall = 0.847</a:t>
            </a:r>
          </a:p>
          <a:p>
            <a:pPr algn="l"/>
            <a:r>
              <a:rPr sz="2100" b="1">
                <a:solidFill>
                  <a:srgbClr val="148C1E"/>
                </a:solidFill>
              </a:rPr>
              <a:t>  ✔  Cross-city DEGRADED F1: 0.75 vs 0.15 (RF)  —  5× gain in Tokyo</a:t>
            </a:r>
          </a:p>
          <a:p>
            <a:pPr algn="l"/>
            <a:r>
              <a:rPr sz="2100" b="1">
                <a:solidFill>
                  <a:srgbClr val="005BAC"/>
                </a:solidFill>
              </a:rPr>
              <a:t>  ✔  48.8% degraded-RMSE reduction via prediction-informed EKF</a:t>
            </a:r>
          </a:p>
          <a:p>
            <a:pPr algn="l"/>
            <a:r>
              <a:rPr sz="2100" b="1">
                <a:solidFill>
                  <a:srgbClr val="005BAC"/>
                </a:solidFill>
              </a:rPr>
              <a:t>  ✔  0.039 ms inference  |  all three horizons in one forward pass</a:t>
            </a:r>
          </a:p>
          <a:p>
            <a:pPr algn="l"/>
            <a:endParaRPr sz="2100" b="1">
              <a:solidFill>
                <a:srgbClr val="005BAC"/>
              </a:solidFill>
            </a:endParaRPr>
          </a:p>
          <a:p>
            <a:pPr algn="l">
              <a:spcBef>
                <a:spcPts val="400"/>
              </a:spcBef>
            </a:pPr>
            <a:r>
              <a:rPr sz="2200" b="1">
                <a:solidFill>
                  <a:srgbClr val="003366"/>
                </a:solidFill>
              </a:rPr>
              <a:t>Honest Disclosure: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  RF/XGBoost outperform SENTINEL in-domain (F1 0.926 vs 0.821).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  Cross-city generalisation is the deployment-relevant metric: a model that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  memorises Beihang C/N₀ thresholds is useless in a new city.</a:t>
            </a:r>
          </a:p>
          <a:p>
            <a:pPr algn="l"/>
            <a:endParaRPr sz="2000" b="0">
              <a:solidFill>
                <a:srgbClr val="373737"/>
              </a:solidFill>
            </a:endParaRPr>
          </a:p>
          <a:p>
            <a:pPr algn="l">
              <a:spcBef>
                <a:spcPts val="400"/>
              </a:spcBef>
            </a:pPr>
            <a:r>
              <a:rPr sz="2200" b="1">
                <a:solidFill>
                  <a:srgbClr val="003366"/>
                </a:solidFill>
              </a:rPr>
              <a:t>Key Scientific Finding: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  No single fusion method dominates all environments — environment-aware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  method selection is a productive future direction.</a:t>
            </a:r>
          </a:p>
          <a:p>
            <a:pPr algn="l"/>
            <a:endParaRPr sz="2000" b="0">
              <a:solidFill>
                <a:srgbClr val="373737"/>
              </a:solidFill>
            </a:endParaRPr>
          </a:p>
          <a:p>
            <a:pPr algn="l">
              <a:spcBef>
                <a:spcPts val="400"/>
              </a:spcBef>
            </a:pPr>
            <a:r>
              <a:rPr sz="2200" b="1">
                <a:solidFill>
                  <a:srgbClr val="003366"/>
                </a:solidFill>
              </a:rPr>
              <a:t>Future Work: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  •  Multi-hypothesis PF to break GPS attractor collapse at N=500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  •  Per-satellite C/N₀ arrays as CNN front-end (capture satellite geometry)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  •  Environment-aware dynamic EKF/Huber/PF selection classifier</a:t>
            </a:r>
          </a:p>
          <a:p>
            <a:pPr algn="l"/>
            <a:r>
              <a:rPr sz="2000" b="0">
                <a:solidFill>
                  <a:srgbClr val="373737"/>
                </a:solidFill>
              </a:rPr>
              <a:t>  •  Real-time 5–10 Hz deployment with tight GNSS/IMU coupling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32388048"/>
            <a:ext cx="43891200" cy="530351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11480" y="32433768"/>
            <a:ext cx="43068240" cy="4846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4D2F0"/>
                </a:solidFill>
              </a:rPr>
              <a:t>H3I, Beihang University (RCSSTEAP) · Hangzhou, China · 2026  │  Key references: Brown 1997 (RAIM) · Hsu 2021 (UrbanNav) · Liu 2023 (GBT GNSS) · Chen 2019 (LSTM GPS) · Vaswani 2017 (Transformer) · Hochreiter 1997 (LSTM) · Mehra 1970 (Adaptive Kalman) · Kalman 1960 (EKF)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1273</Words>
  <Application>Microsoft Office PowerPoint</Application>
  <PresentationFormat>Custom</PresentationFormat>
  <Paragraphs>110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Joel Ojerinde</cp:lastModifiedBy>
  <cp:revision>2</cp:revision>
  <dcterms:created xsi:type="dcterms:W3CDTF">2013-01-27T09:14:16Z</dcterms:created>
  <dcterms:modified xsi:type="dcterms:W3CDTF">2026-06-30T10:47:03Z</dcterms:modified>
  <cp:category/>
</cp:coreProperties>
</file>