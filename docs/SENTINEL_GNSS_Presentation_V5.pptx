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313" r:id="rId2"/>
    <p:sldId id="257" r:id="rId3"/>
    <p:sldId id="327" r:id="rId4"/>
    <p:sldId id="315" r:id="rId5"/>
    <p:sldId id="260" r:id="rId6"/>
    <p:sldId id="316" r:id="rId7"/>
    <p:sldId id="263" r:id="rId8"/>
    <p:sldId id="317" r:id="rId9"/>
    <p:sldId id="318" r:id="rId10"/>
    <p:sldId id="319" r:id="rId11"/>
    <p:sldId id="266" r:id="rId12"/>
    <p:sldId id="321" r:id="rId13"/>
    <p:sldId id="322" r:id="rId14"/>
    <p:sldId id="324" r:id="rId15"/>
    <p:sldId id="325" r:id="rId16"/>
    <p:sldId id="332" r:id="rId17"/>
    <p:sldId id="333" r:id="rId18"/>
    <p:sldId id="292" r:id="rId19"/>
    <p:sldId id="293" r:id="rId20"/>
    <p:sldId id="294" r:id="rId21"/>
    <p:sldId id="297" r:id="rId22"/>
    <p:sldId id="273" r:id="rId23"/>
    <p:sldId id="328" r:id="rId24"/>
    <p:sldId id="330" r:id="rId25"/>
    <p:sldId id="334" r:id="rId26"/>
    <p:sldId id="335" r:id="rId27"/>
    <p:sldId id="336" r:id="rId28"/>
    <p:sldId id="337" r:id="rId29"/>
    <p:sldId id="298" r:id="rId30"/>
    <p:sldId id="331" r:id="rId31"/>
    <p:sldId id="304" r:id="rId32"/>
    <p:sldId id="305" r:id="rId33"/>
    <p:sldId id="276" r:id="rId34"/>
    <p:sldId id="303" r:id="rId35"/>
    <p:sldId id="274" r:id="rId36"/>
    <p:sldId id="280"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36"/>
    <p:restoredTop sz="94751"/>
  </p:normalViewPr>
  <p:slideViewPr>
    <p:cSldViewPr snapToGrid="0" snapToObjects="1">
      <p:cViewPr varScale="1">
        <p:scale>
          <a:sx n="107" d="100"/>
          <a:sy n="107" d="100"/>
        </p:scale>
        <p:origin x="-396"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9C0949-C823-9546-B609-6FA0E32F4A5E}" type="datetimeFigureOut">
              <a:rPr lang="en-US" smtClean="0"/>
              <a:t>6/10/2026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9B195B-D80B-F543-88FA-918A8B18C3FD}" type="slidenum">
              <a:rPr lang="en-US" smtClean="0"/>
              <a:t>‹#›</a:t>
            </a:fld>
            <a:endParaRPr lang="en-US"/>
          </a:p>
        </p:txBody>
      </p:sp>
    </p:spTree>
    <p:extLst>
      <p:ext uri="{BB962C8B-B14F-4D97-AF65-F5344CB8AC3E}">
        <p14:creationId xmlns:p14="http://schemas.microsoft.com/office/powerpoint/2010/main" val="3716015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data, because that's where most of the work went. The key idea is on the right of this diagram: three quite different sources all funnel into one unified labelling schema. Beijing is our own field collection on a Septentrio, with the five controlled scenarios A through E. Hong Kong is the public UrbanNav data — that's where the receiver diversity comes from, nine-plus types. And Tokyo we deliberately hold out, so it's a genuine cross-city test. Altogether: just under a hundred and fifty thousand labelled epochs, four cities, nine-plus receivers from survey-grade down to a phone chip, all sampled once a second.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actual problem in one picture. The vertical line is 'now'. To its left is the thirty seconds of signal we observe; to the right is what we predict. The model isn't classifying the present — it's forecasting. As the signal quality drops, it passes from CLEAN into WARNING and eventually DEGRADED, and we read off the predicted class at plus five, plus fifteen, and plus thirty seconds. So in this example it's already flagging a warning at five seconds and a full degradation by thirty — that early amber dot is the whole value proposition.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model, the feature pipeline. Raw RINEX and NMEA come in once a second and become thirty-seven engineered features in seven groups — position, signal strength, satellite count, DOP, receiver status, temporal patterns, and atmospheric. We stack thirty seconds of those into a thirty-by-thirty-seven tensor with a sliding window, and that tensor is what the model consumes — producing predictions at plus five, fifteen, and thirty seconds. Nothing exotic here on purpose: the features are all standard receiver outputs, which keeps the whole thing reproducible on any of our nine-plus receiver types.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model itself. The thirty-by-thirty-seven window is linearly projected and positionally encoded, then runs through two Transformer encoder layers — eight heads, dimension one-twenty-eight — to capture structure across the window, then two BiLSTM layers to model the directional trajectory toward failure, then four output heads: one per horizon plus an auxiliary head. The whole thing is just one-point-four-six million parameters in a single forward pass. Class imbalance is handled in the loss — focal loss with class weights one, two, five — not with resampling.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66033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2123865-24A8-E242-54E0-DCB57FD1BC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F554F111-E5FE-9D98-DA8C-150AA0E64F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494E9862-C321-6FFC-6A8C-7C48B14306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4B15047E-9370-1E43-177B-D6C245331AE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628133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189" indent="-457189">
              <a:buSzPct val="100000"/>
              <a:buChar char="•"/>
            </a:pPr>
            <a:r>
              <a:rPr lang="en-US" sz="1200" dirty="0">
                <a:solidFill>
                  <a:srgbClr val="0A1F44"/>
                </a:solidFill>
                <a:latin typeface="Calibri" pitchFamily="34" charset="0"/>
                <a:ea typeface="Calibri" pitchFamily="34" charset="-122"/>
                <a:cs typeface="Calibri" pitchFamily="34" charset="-120"/>
              </a:rPr>
              <a:t>Model attends strongly to the most recent timesteps before failure</a:t>
            </a:r>
            <a:endParaRPr lang="en-US" sz="1200" dirty="0"/>
          </a:p>
          <a:p>
            <a:pPr marL="457189" indent="-457189">
              <a:buSzPct val="100000"/>
              <a:buChar char="•"/>
            </a:pPr>
            <a:r>
              <a:rPr lang="en-US" sz="1200" dirty="0">
                <a:solidFill>
                  <a:srgbClr val="0A1F44"/>
                </a:solidFill>
                <a:latin typeface="Calibri" pitchFamily="34" charset="0"/>
                <a:ea typeface="Calibri" pitchFamily="34" charset="-122"/>
                <a:cs typeface="Calibri" pitchFamily="34" charset="-120"/>
              </a:rPr>
              <a:t>Top saliency features: C/N₀, PDOP, </a:t>
            </a:r>
            <a:r>
              <a:rPr lang="en-US" sz="1200" dirty="0" err="1">
                <a:solidFill>
                  <a:srgbClr val="0A1F44"/>
                </a:solidFill>
                <a:latin typeface="Calibri" pitchFamily="34" charset="0"/>
                <a:ea typeface="Calibri" pitchFamily="34" charset="-122"/>
                <a:cs typeface="Calibri" pitchFamily="34" charset="-120"/>
              </a:rPr>
              <a:t>num_satellites</a:t>
            </a:r>
            <a:r>
              <a:rPr lang="en-US" sz="1200" dirty="0">
                <a:solidFill>
                  <a:srgbClr val="0A1F44"/>
                </a:solidFill>
                <a:latin typeface="Calibri" pitchFamily="34" charset="0"/>
                <a:ea typeface="Calibri" pitchFamily="34" charset="-122"/>
                <a:cs typeface="Calibri" pitchFamily="34" charset="-120"/>
              </a:rPr>
              <a:t>, fix quality</a:t>
            </a:r>
            <a:endParaRPr lang="en-US" sz="1200" dirty="0"/>
          </a:p>
          <a:p>
            <a:pPr marL="457189" indent="-457189">
              <a:buSzPct val="100000"/>
              <a:buChar char="•"/>
            </a:pPr>
            <a:r>
              <a:rPr lang="en-US" sz="1200" dirty="0">
                <a:solidFill>
                  <a:srgbClr val="0A1F44"/>
                </a:solidFill>
                <a:latin typeface="Calibri" pitchFamily="34" charset="0"/>
                <a:ea typeface="Calibri" pitchFamily="34" charset="-122"/>
                <a:cs typeface="Calibri" pitchFamily="34" charset="-120"/>
              </a:rPr>
              <a:t>Tree models cannot provide this mechanistic transparency</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5981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4.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emf"/><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1.emf"/><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7.emf"/><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0" descr="preencoded.png">
            <a:extLst>
              <a:ext uri="{FF2B5EF4-FFF2-40B4-BE49-F238E27FC236}">
                <a16:creationId xmlns:a16="http://schemas.microsoft.com/office/drawing/2014/main" xmlns="" id="{78EE36E0-7FAA-382F-D779-23FFCCE1F5FB}"/>
              </a:ext>
            </a:extLst>
          </p:cNvPr>
          <p:cNvPicPr>
            <a:picLocks noChangeAspect="1"/>
          </p:cNvPicPr>
          <p:nvPr/>
        </p:nvPicPr>
        <p:blipFill>
          <a:blip r:embed="rId3"/>
          <a:srcRect/>
          <a:stretch/>
        </p:blipFill>
        <p:spPr>
          <a:xfrm>
            <a:off x="0" y="-21834"/>
            <a:ext cx="12191928" cy="6857928"/>
          </a:xfrm>
          <a:prstGeom prst="rect">
            <a:avLst/>
          </a:prstGeom>
        </p:spPr>
      </p:pic>
      <p:sp>
        <p:nvSpPr>
          <p:cNvPr id="30" name="TopLabel"/>
          <p:cNvSpPr>
            <a:spLocks noGrp="1"/>
          </p:cNvSpPr>
          <p:nvPr/>
        </p:nvSpPr>
        <p:spPr>
          <a:xfrm>
            <a:off x="1266667" y="66667"/>
            <a:ext cx="9333333" cy="600000"/>
          </a:xfrm>
          <a:prstGeom prst="rect">
            <a:avLst/>
          </a:prstGeom>
          <a:noFill/>
          <a:ln>
            <a:noFill/>
          </a:ln>
        </p:spPr>
        <p:txBody>
          <a:bodyPr wrap="square" lIns="0" tIns="0" rIns="0" bIns="0" rtlCol="0" anchor="ctr">
            <a:normAutofit/>
          </a:bodyPr>
          <a:lstStyle/>
          <a:p>
            <a:endParaRPr lang="en-US" sz="1867" b="1" dirty="0">
              <a:solidFill>
                <a:srgbClr val="FFFFFF"/>
              </a:solidFill>
              <a:latin typeface="Calibri"/>
              <a:ea typeface="Calibri"/>
              <a:cs typeface="Calibri"/>
            </a:endParaRPr>
          </a:p>
        </p:txBody>
      </p:sp>
      <p:sp>
        <p:nvSpPr>
          <p:cNvPr id="31" name="MainTitle"/>
          <p:cNvSpPr>
            <a:spLocks noGrp="1"/>
          </p:cNvSpPr>
          <p:nvPr/>
        </p:nvSpPr>
        <p:spPr>
          <a:xfrm>
            <a:off x="515799" y="427045"/>
            <a:ext cx="7442868" cy="1839622"/>
          </a:xfrm>
          <a:prstGeom prst="rect">
            <a:avLst/>
          </a:prstGeom>
          <a:noFill/>
          <a:ln>
            <a:noFill/>
          </a:ln>
        </p:spPr>
        <p:txBody>
          <a:bodyPr wrap="square" lIns="0" tIns="0" rIns="240000" bIns="160000" rtlCol="0" anchor="t">
            <a:normAutofit fontScale="85000" lnSpcReduction="20000"/>
          </a:bodyPr>
          <a:lstStyle/>
          <a:p>
            <a:pPr>
              <a:lnSpc>
                <a:spcPct val="110000"/>
              </a:lnSpc>
            </a:pPr>
            <a:r>
              <a:rPr lang="en-US" sz="5200" b="1" dirty="0">
                <a:solidFill>
                  <a:srgbClr val="003893"/>
                </a:solidFill>
                <a:latin typeface="Calibri"/>
                <a:ea typeface="Calibri"/>
                <a:cs typeface="Calibri"/>
              </a:rPr>
              <a:t>AI-Based Proactive Prediction </a:t>
            </a:r>
          </a:p>
          <a:p>
            <a:pPr>
              <a:lnSpc>
                <a:spcPct val="110000"/>
              </a:lnSpc>
            </a:pPr>
            <a:r>
              <a:rPr lang="en-US" sz="5200" b="1" dirty="0">
                <a:solidFill>
                  <a:srgbClr val="003893"/>
                </a:solidFill>
                <a:latin typeface="Calibri"/>
                <a:ea typeface="Calibri"/>
                <a:cs typeface="Calibri"/>
              </a:rPr>
              <a:t>Of GNSS Signal Degradation</a:t>
            </a:r>
          </a:p>
          <a:p>
            <a:pPr>
              <a:lnSpc>
                <a:spcPct val="110000"/>
              </a:lnSpc>
            </a:pPr>
            <a:r>
              <a:rPr lang="en-US" sz="3300" i="1" dirty="0">
                <a:solidFill>
                  <a:srgbClr val="555555"/>
                </a:solidFill>
                <a:latin typeface="Calibri"/>
                <a:ea typeface="Calibri"/>
                <a:cs typeface="Calibri"/>
              </a:rPr>
              <a:t>for Autonomous Vehicle Navigation</a:t>
            </a:r>
          </a:p>
        </p:txBody>
      </p:sp>
      <p:sp>
        <p:nvSpPr>
          <p:cNvPr id="32" name="AccentLine"/>
          <p:cNvSpPr/>
          <p:nvPr/>
        </p:nvSpPr>
        <p:spPr>
          <a:xfrm>
            <a:off x="609600" y="5199342"/>
            <a:ext cx="2400000" cy="60960"/>
          </a:xfrm>
          <a:prstGeom prst="rect">
            <a:avLst/>
          </a:prstGeom>
          <a:solidFill>
            <a:srgbClr val="4FC3F7"/>
          </a:solidFill>
          <a:ln w="12700">
            <a:solidFill>
              <a:srgbClr val="4FC3F7"/>
            </a:solidFill>
          </a:ln>
        </p:spPr>
      </p:sp>
      <p:sp>
        <p:nvSpPr>
          <p:cNvPr id="33" name="TeamInfo"/>
          <p:cNvSpPr>
            <a:spLocks noGrp="1"/>
          </p:cNvSpPr>
          <p:nvPr/>
        </p:nvSpPr>
        <p:spPr>
          <a:xfrm>
            <a:off x="609600" y="5332675"/>
            <a:ext cx="5173133" cy="506667"/>
          </a:xfrm>
          <a:prstGeom prst="rect">
            <a:avLst/>
          </a:prstGeom>
          <a:noFill/>
          <a:ln>
            <a:noFill/>
          </a:ln>
        </p:spPr>
        <p:txBody>
          <a:bodyPr wrap="square" lIns="0" tIns="0" rIns="240000" bIns="160000" rtlCol="0" anchor="t">
            <a:normAutofit/>
          </a:bodyPr>
          <a:lstStyle/>
          <a:p>
            <a:r>
              <a:rPr lang="en-US" sz="1867" b="1" dirty="0">
                <a:solidFill>
                  <a:srgbClr val="003893"/>
                </a:solidFill>
                <a:latin typeface="Calibri"/>
                <a:ea typeface="Calibri"/>
                <a:cs typeface="Calibri"/>
              </a:rPr>
              <a:t>Team Pilot Project</a:t>
            </a:r>
            <a:r>
              <a:rPr lang="en-US" sz="1867" dirty="0">
                <a:solidFill>
                  <a:srgbClr val="999999"/>
                </a:solidFill>
                <a:latin typeface="Calibri"/>
                <a:ea typeface="Calibri"/>
                <a:cs typeface="Calibri"/>
              </a:rPr>
              <a:t>   |   </a:t>
            </a:r>
            <a:r>
              <a:rPr lang="en-US" sz="1867" dirty="0">
                <a:solidFill>
                  <a:srgbClr val="333333"/>
                </a:solidFill>
                <a:latin typeface="Calibri"/>
                <a:ea typeface="Calibri"/>
                <a:cs typeface="Calibri"/>
              </a:rPr>
              <a:t>Beihang University (BUAA)</a:t>
            </a:r>
          </a:p>
        </p:txBody>
      </p:sp>
      <p:sp>
        <p:nvSpPr>
          <p:cNvPr id="34" name="Supervisor"/>
          <p:cNvSpPr>
            <a:spLocks noGrp="1"/>
          </p:cNvSpPr>
          <p:nvPr/>
        </p:nvSpPr>
        <p:spPr>
          <a:xfrm>
            <a:off x="609601" y="5866009"/>
            <a:ext cx="4470400" cy="506667"/>
          </a:xfrm>
          <a:prstGeom prst="rect">
            <a:avLst/>
          </a:prstGeom>
          <a:noFill/>
          <a:ln>
            <a:noFill/>
          </a:ln>
        </p:spPr>
        <p:txBody>
          <a:bodyPr wrap="square" lIns="0" tIns="0" rIns="240000" bIns="160000" rtlCol="0" anchor="t">
            <a:normAutofit/>
          </a:bodyPr>
          <a:lstStyle/>
          <a:p>
            <a:r>
              <a:rPr lang="en-US" sz="1667" b="1" dirty="0">
                <a:solidFill>
                  <a:srgbClr val="555555"/>
                </a:solidFill>
                <a:latin typeface="Calibri"/>
                <a:ea typeface="Calibri"/>
                <a:cs typeface="Calibri"/>
              </a:rPr>
              <a:t>Supervisor:</a:t>
            </a:r>
            <a:r>
              <a:rPr lang="en-US" sz="1667" dirty="0">
                <a:solidFill>
                  <a:srgbClr val="333333"/>
                </a:solidFill>
                <a:latin typeface="Calibri"/>
                <a:ea typeface="Calibri"/>
                <a:cs typeface="Calibri"/>
              </a:rPr>
              <a:t> Dr. Ahmed Wasiu</a:t>
            </a:r>
            <a:r>
              <a:rPr lang="en-US" sz="1667" dirty="0">
                <a:solidFill>
                  <a:srgbClr val="999999"/>
                </a:solidFill>
                <a:latin typeface="Calibri"/>
                <a:ea typeface="Calibri"/>
                <a:cs typeface="Calibri"/>
              </a:rPr>
              <a:t>   |   </a:t>
            </a:r>
            <a:r>
              <a:rPr lang="en-US" sz="1667" dirty="0">
                <a:solidFill>
                  <a:srgbClr val="555555"/>
                </a:solidFill>
                <a:latin typeface="Calibri"/>
                <a:ea typeface="Calibri"/>
                <a:cs typeface="Calibri"/>
              </a:rPr>
              <a:t>June 2026</a:t>
            </a:r>
          </a:p>
        </p:txBody>
      </p:sp>
      <p:sp>
        <p:nvSpPr>
          <p:cNvPr id="35" name="Tagline"/>
          <p:cNvSpPr>
            <a:spLocks noGrp="1"/>
          </p:cNvSpPr>
          <p:nvPr/>
        </p:nvSpPr>
        <p:spPr>
          <a:xfrm>
            <a:off x="564381" y="6344520"/>
            <a:ext cx="6666667" cy="480000"/>
          </a:xfrm>
          <a:prstGeom prst="rect">
            <a:avLst/>
          </a:prstGeom>
          <a:noFill/>
          <a:ln>
            <a:noFill/>
          </a:ln>
        </p:spPr>
        <p:txBody>
          <a:bodyPr wrap="square" lIns="0" tIns="0" rIns="240000" bIns="160000" rtlCol="0" anchor="t">
            <a:normAutofit/>
          </a:bodyPr>
          <a:lstStyle/>
          <a:p>
            <a:r>
              <a:rPr lang="en-US" sz="1467" i="1" dirty="0">
                <a:solidFill>
                  <a:srgbClr val="888888"/>
                </a:solidFill>
                <a:latin typeface="Calibri"/>
                <a:ea typeface="Calibri"/>
                <a:cs typeface="Calibri"/>
              </a:rPr>
              <a:t>Predicting GNSS degradation before it impacts safety</a:t>
            </a:r>
          </a:p>
        </p:txBody>
      </p:sp>
      <p:sp>
        <p:nvSpPr>
          <p:cNvPr id="40" name="HeroPanel"/>
          <p:cNvSpPr/>
          <p:nvPr/>
        </p:nvSpPr>
        <p:spPr>
          <a:xfrm>
            <a:off x="7794735" y="1153403"/>
            <a:ext cx="4000000" cy="4533333"/>
          </a:xfrm>
          <a:prstGeom prst="rect">
            <a:avLst/>
          </a:prstGeom>
          <a:solidFill>
            <a:srgbClr val="003893"/>
          </a:solidFill>
          <a:ln>
            <a:noFill/>
          </a:ln>
        </p:spPr>
      </p:sp>
      <p:sp>
        <p:nvSpPr>
          <p:cNvPr id="41" name="HeroStrip"/>
          <p:cNvSpPr/>
          <p:nvPr/>
        </p:nvSpPr>
        <p:spPr>
          <a:xfrm>
            <a:off x="7794735" y="1153403"/>
            <a:ext cx="4000000" cy="133333"/>
          </a:xfrm>
          <a:prstGeom prst="rect">
            <a:avLst/>
          </a:prstGeom>
          <a:solidFill>
            <a:srgbClr val="4FC3F7"/>
          </a:solidFill>
          <a:ln>
            <a:noFill/>
          </a:ln>
        </p:spPr>
      </p:sp>
      <p:sp>
        <p:nvSpPr>
          <p:cNvPr id="42" name="HeroLabel"/>
          <p:cNvSpPr>
            <a:spLocks noGrp="1"/>
          </p:cNvSpPr>
          <p:nvPr/>
        </p:nvSpPr>
        <p:spPr>
          <a:xfrm>
            <a:off x="7794735" y="1486736"/>
            <a:ext cx="4000000" cy="373333"/>
          </a:xfrm>
          <a:prstGeom prst="rect">
            <a:avLst/>
          </a:prstGeom>
          <a:noFill/>
          <a:ln>
            <a:noFill/>
          </a:ln>
        </p:spPr>
        <p:txBody>
          <a:bodyPr wrap="square" lIns="0" tIns="0" rIns="0" bIns="0" rtlCol="0" anchor="ctr">
            <a:normAutofit/>
          </a:bodyPr>
          <a:lstStyle/>
          <a:p>
            <a:pPr algn="ctr"/>
            <a:r>
              <a:rPr lang="en-US" sz="1467" b="1" dirty="0">
                <a:solidFill>
                  <a:srgbClr val="4FC3F7"/>
                </a:solidFill>
                <a:latin typeface="Calibri"/>
                <a:ea typeface="Calibri"/>
                <a:cs typeface="Calibri"/>
              </a:rPr>
              <a:t>THE PROMISE</a:t>
            </a:r>
          </a:p>
        </p:txBody>
      </p:sp>
      <p:sp>
        <p:nvSpPr>
          <p:cNvPr id="43" name="HeroStat"/>
          <p:cNvSpPr>
            <a:spLocks noGrp="1"/>
          </p:cNvSpPr>
          <p:nvPr/>
        </p:nvSpPr>
        <p:spPr>
          <a:xfrm>
            <a:off x="7794735" y="1953403"/>
            <a:ext cx="4000000" cy="1200000"/>
          </a:xfrm>
          <a:prstGeom prst="rect">
            <a:avLst/>
          </a:prstGeom>
          <a:noFill/>
          <a:ln>
            <a:noFill/>
          </a:ln>
        </p:spPr>
        <p:txBody>
          <a:bodyPr wrap="square" lIns="0" tIns="0" rIns="0" bIns="0" rtlCol="0" anchor="ctr">
            <a:normAutofit lnSpcReduction="10000"/>
          </a:bodyPr>
          <a:lstStyle/>
          <a:p>
            <a:pPr algn="ctr"/>
            <a:r>
              <a:rPr lang="en-US" sz="8666" b="1" dirty="0">
                <a:solidFill>
                  <a:srgbClr val="FFFFFF"/>
                </a:solidFill>
                <a:latin typeface="Calibri"/>
                <a:ea typeface="Calibri"/>
                <a:cs typeface="Calibri"/>
              </a:rPr>
              <a:t>5–30</a:t>
            </a:r>
          </a:p>
        </p:txBody>
      </p:sp>
      <p:sp>
        <p:nvSpPr>
          <p:cNvPr id="44" name="HeroUnit"/>
          <p:cNvSpPr>
            <a:spLocks noGrp="1"/>
          </p:cNvSpPr>
          <p:nvPr/>
        </p:nvSpPr>
        <p:spPr>
          <a:xfrm>
            <a:off x="7794735" y="3126736"/>
            <a:ext cx="4000000" cy="426667"/>
          </a:xfrm>
          <a:prstGeom prst="rect">
            <a:avLst/>
          </a:prstGeom>
          <a:noFill/>
          <a:ln>
            <a:noFill/>
          </a:ln>
        </p:spPr>
        <p:txBody>
          <a:bodyPr wrap="square" lIns="0" tIns="0" rIns="0" bIns="0" rtlCol="0" anchor="ctr">
            <a:normAutofit/>
          </a:bodyPr>
          <a:lstStyle/>
          <a:p>
            <a:pPr algn="ctr"/>
            <a:r>
              <a:rPr lang="en-US" sz="1733" i="1" dirty="0">
                <a:solidFill>
                  <a:srgbClr val="4FC3F7"/>
                </a:solidFill>
                <a:latin typeface="Calibri"/>
                <a:ea typeface="Calibri"/>
                <a:cs typeface="Calibri"/>
              </a:rPr>
              <a:t>seconds advance warning</a:t>
            </a:r>
          </a:p>
        </p:txBody>
      </p:sp>
      <p:sp>
        <p:nvSpPr>
          <p:cNvPr id="45" name="HeroDiv"/>
          <p:cNvSpPr/>
          <p:nvPr/>
        </p:nvSpPr>
        <p:spPr>
          <a:xfrm>
            <a:off x="9128069" y="3660069"/>
            <a:ext cx="1333333" cy="24000"/>
          </a:xfrm>
          <a:prstGeom prst="rect">
            <a:avLst/>
          </a:prstGeom>
          <a:solidFill>
            <a:srgbClr val="4FC3F7"/>
          </a:solidFill>
          <a:ln>
            <a:noFill/>
          </a:ln>
        </p:spPr>
      </p:sp>
      <p:sp>
        <p:nvSpPr>
          <p:cNvPr id="46" name="HeroBullets"/>
          <p:cNvSpPr>
            <a:spLocks noGrp="1"/>
          </p:cNvSpPr>
          <p:nvPr/>
        </p:nvSpPr>
        <p:spPr>
          <a:xfrm>
            <a:off x="8061402" y="3820069"/>
            <a:ext cx="3466667" cy="1600000"/>
          </a:xfrm>
          <a:prstGeom prst="rect">
            <a:avLst/>
          </a:prstGeom>
          <a:noFill/>
          <a:ln>
            <a:noFill/>
          </a:ln>
        </p:spPr>
        <p:txBody>
          <a:bodyPr wrap="square" lIns="0" tIns="0" rIns="240000" bIns="160000" rtlCol="0" anchor="t">
            <a:normAutofit/>
          </a:bodyPr>
          <a:lstStyle/>
          <a:p>
            <a:pPr>
              <a:lnSpc>
                <a:spcPct val="130000"/>
              </a:lnSpc>
            </a:pPr>
            <a:r>
              <a:rPr lang="en-US" sz="1600" b="1" dirty="0">
                <a:solidFill>
                  <a:srgbClr val="4FC3F7"/>
                </a:solidFill>
                <a:latin typeface="Calibri"/>
                <a:ea typeface="Calibri"/>
                <a:cs typeface="Calibri"/>
              </a:rPr>
              <a:t>●  </a:t>
            </a:r>
            <a:r>
              <a:rPr lang="en-US" sz="1467" dirty="0">
                <a:solidFill>
                  <a:srgbClr val="FFFFFF"/>
                </a:solidFill>
                <a:latin typeface="Calibri"/>
                <a:ea typeface="Calibri"/>
                <a:cs typeface="Calibri"/>
              </a:rPr>
              <a:t>Predict, not detect</a:t>
            </a:r>
          </a:p>
          <a:p>
            <a:pPr>
              <a:lnSpc>
                <a:spcPct val="130000"/>
              </a:lnSpc>
            </a:pPr>
            <a:r>
              <a:rPr lang="en-US" sz="1600" b="1" dirty="0">
                <a:solidFill>
                  <a:srgbClr val="4FC3F7"/>
                </a:solidFill>
                <a:latin typeface="Calibri"/>
                <a:ea typeface="Calibri"/>
                <a:cs typeface="Calibri"/>
              </a:rPr>
              <a:t>●  </a:t>
            </a:r>
            <a:r>
              <a:rPr lang="en-US" sz="1467" dirty="0">
                <a:solidFill>
                  <a:srgbClr val="FFFFFF"/>
                </a:solidFill>
                <a:latin typeface="Calibri"/>
                <a:ea typeface="Calibri"/>
                <a:cs typeface="Calibri"/>
              </a:rPr>
              <a:t>Multi-horizon: 5 / 15 / 30 s</a:t>
            </a:r>
          </a:p>
          <a:p>
            <a:pPr>
              <a:lnSpc>
                <a:spcPct val="130000"/>
              </a:lnSpc>
            </a:pPr>
            <a:r>
              <a:rPr lang="en-US" sz="1600" b="1" dirty="0">
                <a:solidFill>
                  <a:srgbClr val="4FC3F7"/>
                </a:solidFill>
                <a:latin typeface="Calibri"/>
                <a:ea typeface="Calibri"/>
                <a:cs typeface="Calibri"/>
              </a:rPr>
              <a:t>●  </a:t>
            </a:r>
            <a:r>
              <a:rPr lang="en-US" sz="1467" dirty="0">
                <a:solidFill>
                  <a:srgbClr val="FFFFFF"/>
                </a:solidFill>
                <a:latin typeface="Calibri"/>
                <a:ea typeface="Calibri"/>
                <a:cs typeface="Calibri"/>
              </a:rPr>
              <a:t>Cross-city generalisation</a:t>
            </a:r>
          </a:p>
        </p:txBody>
      </p:sp>
      <p:sp>
        <p:nvSpPr>
          <p:cNvPr id="47" name="HeroBottomStrip"/>
          <p:cNvSpPr/>
          <p:nvPr/>
        </p:nvSpPr>
        <p:spPr>
          <a:xfrm>
            <a:off x="7794735" y="5606736"/>
            <a:ext cx="4000000" cy="80000"/>
          </a:xfrm>
          <a:prstGeom prst="rect">
            <a:avLst/>
          </a:prstGeom>
          <a:solidFill>
            <a:srgbClr val="4FC3F7"/>
          </a:solidFill>
          <a:ln>
            <a:noFill/>
          </a:ln>
        </p:spPr>
      </p:sp>
      <p:graphicFrame>
        <p:nvGraphicFramePr>
          <p:cNvPr id="7" name="Table 0">
            <a:extLst>
              <a:ext uri="{FF2B5EF4-FFF2-40B4-BE49-F238E27FC236}">
                <a16:creationId xmlns:a16="http://schemas.microsoft.com/office/drawing/2014/main" xmlns="" id="{EC4B48A4-51DA-9894-4C29-2AB32072C139}"/>
              </a:ext>
            </a:extLst>
          </p:cNvPr>
          <p:cNvGraphicFramePr>
            <a:graphicFrameLocks noGrp="1"/>
          </p:cNvGraphicFramePr>
          <p:nvPr>
            <p:extLst>
              <p:ext uri="{D42A27DB-BD31-4B8C-83A1-F6EECF244321}">
                <p14:modId xmlns:p14="http://schemas.microsoft.com/office/powerpoint/2010/main" val="922112488"/>
              </p:ext>
            </p:extLst>
          </p:nvPr>
        </p:nvGraphicFramePr>
        <p:xfrm>
          <a:off x="459234" y="2323670"/>
          <a:ext cx="6917933" cy="2341594"/>
        </p:xfrm>
        <a:graphic>
          <a:graphicData uri="http://schemas.openxmlformats.org/drawingml/2006/table">
            <a:tbl>
              <a:tblPr/>
              <a:tblGrid>
                <a:gridCol w="728120">
                  <a:extLst>
                    <a:ext uri="{9D8B030D-6E8A-4147-A177-3AD203B41FA5}">
                      <a16:colId xmlns:a16="http://schemas.microsoft.com/office/drawing/2014/main" xmlns="" val="20000"/>
                    </a:ext>
                  </a:extLst>
                </a:gridCol>
                <a:gridCol w="3288151">
                  <a:extLst>
                    <a:ext uri="{9D8B030D-6E8A-4147-A177-3AD203B41FA5}">
                      <a16:colId xmlns:a16="http://schemas.microsoft.com/office/drawing/2014/main" xmlns="" val="20001"/>
                    </a:ext>
                  </a:extLst>
                </a:gridCol>
                <a:gridCol w="2901662">
                  <a:extLst>
                    <a:ext uri="{9D8B030D-6E8A-4147-A177-3AD203B41FA5}">
                      <a16:colId xmlns:a16="http://schemas.microsoft.com/office/drawing/2014/main" xmlns="" val="20002"/>
                    </a:ext>
                  </a:extLst>
                </a:gridCol>
              </a:tblGrid>
              <a:tr h="390454">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S/N</a:t>
                      </a:r>
                      <a:endParaRPr lang="en-US" sz="1400"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4FC3F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4FC3F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Student ID</a:t>
                      </a:r>
                      <a:endParaRPr lang="en-US" sz="1400"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4FC3F7"/>
                    </a:solidFill>
                  </a:tcPr>
                </a:tc>
                <a:extLst>
                  <a:ext uri="{0D108BD9-81ED-4DB2-BD59-A6C34878D82A}">
                    <a16:rowId xmlns:a16="http://schemas.microsoft.com/office/drawing/2014/main" xmlns="" val="10000"/>
                  </a:ext>
                </a:extLst>
              </a:tr>
              <a:tr h="3902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1</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Ojerinde Joel Segun </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LS2525253</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extLst>
                  <a:ext uri="{0D108BD9-81ED-4DB2-BD59-A6C34878D82A}">
                    <a16:rowId xmlns:a16="http://schemas.microsoft.com/office/drawing/2014/main" xmlns="" val="10001"/>
                  </a:ext>
                </a:extLst>
              </a:tr>
              <a:tr h="3902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2</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Mustapha Ibrahim Ishola</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LS2525238</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extLst>
                  <a:ext uri="{0D108BD9-81ED-4DB2-BD59-A6C34878D82A}">
                    <a16:rowId xmlns:a16="http://schemas.microsoft.com/office/drawing/2014/main" xmlns="" val="10002"/>
                  </a:ext>
                </a:extLst>
              </a:tr>
              <a:tr h="3902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3</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rgbClr val="FFFFFF"/>
                          </a:solidFill>
                          <a:latin typeface="Calibri" pitchFamily="34" charset="0"/>
                          <a:ea typeface="Calibri" pitchFamily="34" charset="-122"/>
                          <a:cs typeface="Calibri" pitchFamily="34" charset="-120"/>
                        </a:rPr>
                        <a:t>Ogunlade Joshua Oluwaseun</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LS2525237</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extLst>
                  <a:ext uri="{0D108BD9-81ED-4DB2-BD59-A6C34878D82A}">
                    <a16:rowId xmlns:a16="http://schemas.microsoft.com/office/drawing/2014/main" xmlns="" val="10003"/>
                  </a:ext>
                </a:extLst>
              </a:tr>
              <a:tr h="3902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4</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Ingeriyinkindi Claudine</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LS2525236</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extLst>
                  <a:ext uri="{0D108BD9-81ED-4DB2-BD59-A6C34878D82A}">
                    <a16:rowId xmlns:a16="http://schemas.microsoft.com/office/drawing/2014/main" xmlns="" val="10004"/>
                  </a:ext>
                </a:extLst>
              </a:tr>
              <a:tr h="3902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5</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Rashid Md Harun Or</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LS2525219</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extLst>
                  <a:ext uri="{0D108BD9-81ED-4DB2-BD59-A6C34878D82A}">
                    <a16:rowId xmlns:a16="http://schemas.microsoft.com/office/drawing/2014/main" xmlns="" val="1000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3716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1 · The Problem</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47C0F06-5715-8690-7533-802B7029CEFA}"/>
            </a:ext>
          </a:extLst>
        </p:cNvPr>
        <p:cNvGrpSpPr/>
        <p:nvPr/>
      </p:nvGrpSpPr>
      <p:grpSpPr>
        <a:xfrm>
          <a:off x="0" y="0"/>
          <a:ext cx="0" cy="0"/>
          <a:chOff x="0" y="0"/>
          <a:chExt cx="0" cy="0"/>
        </a:xfrm>
      </p:grpSpPr>
      <p:pic>
        <p:nvPicPr>
          <p:cNvPr id="25" name="Image 0" descr="preencoded.png">
            <a:extLst>
              <a:ext uri="{FF2B5EF4-FFF2-40B4-BE49-F238E27FC236}">
                <a16:creationId xmlns:a16="http://schemas.microsoft.com/office/drawing/2014/main" xmlns="" id="{A0CA6B56-D9E5-98C4-92D0-A42D289857FD}"/>
              </a:ext>
            </a:extLst>
          </p:cNvPr>
          <p:cNvPicPr>
            <a:picLocks noChangeAspect="1"/>
          </p:cNvPicPr>
          <p:nvPr/>
        </p:nvPicPr>
        <p:blipFill>
          <a:blip r:embed="rId2"/>
          <a:srcRect/>
          <a:stretch/>
        </p:blipFill>
        <p:spPr>
          <a:xfrm>
            <a:off x="72" y="12073"/>
            <a:ext cx="12191928" cy="6857928"/>
          </a:xfrm>
          <a:prstGeom prst="rect">
            <a:avLst/>
          </a:prstGeom>
        </p:spPr>
      </p:pic>
      <p:sp>
        <p:nvSpPr>
          <p:cNvPr id="2" name="TopBar">
            <a:extLst>
              <a:ext uri="{FF2B5EF4-FFF2-40B4-BE49-F238E27FC236}">
                <a16:creationId xmlns:a16="http://schemas.microsoft.com/office/drawing/2014/main" xmlns="" id="{7D3A872F-6DCF-FF75-EB98-4F4737D9E524}"/>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3" name="TopAccent">
            <a:extLst>
              <a:ext uri="{FF2B5EF4-FFF2-40B4-BE49-F238E27FC236}">
                <a16:creationId xmlns:a16="http://schemas.microsoft.com/office/drawing/2014/main" xmlns="" id="{6B5EA038-394A-E637-0F3D-0F2517CCFDA2}"/>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4" name="BottomBar">
            <a:extLst>
              <a:ext uri="{FF2B5EF4-FFF2-40B4-BE49-F238E27FC236}">
                <a16:creationId xmlns:a16="http://schemas.microsoft.com/office/drawing/2014/main" xmlns="" id="{95E545B2-5088-1756-47CA-76F4E43DAAE9}"/>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5" name="BottomAccent">
            <a:extLst>
              <a:ext uri="{FF2B5EF4-FFF2-40B4-BE49-F238E27FC236}">
                <a16:creationId xmlns:a16="http://schemas.microsoft.com/office/drawing/2014/main" xmlns="" id="{73CD07C8-B66F-4DD7-A0E9-96DB9A61EBD4}"/>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6" name="LogoTab">
            <a:extLst>
              <a:ext uri="{FF2B5EF4-FFF2-40B4-BE49-F238E27FC236}">
                <a16:creationId xmlns:a16="http://schemas.microsoft.com/office/drawing/2014/main" xmlns="" id="{6183C85B-8E83-D361-41F9-8A8CCD51FCCF}"/>
              </a:ext>
            </a:extLst>
          </p:cNvPr>
          <p:cNvSpPr/>
          <p:nvPr/>
        </p:nvSpPr>
        <p:spPr>
          <a:xfrm>
            <a:off x="0" y="-24618"/>
            <a:ext cx="1128763" cy="767311"/>
          </a:xfrm>
          <a:prstGeom prst="homePlate">
            <a:avLst/>
          </a:prstGeom>
          <a:solidFill>
            <a:srgbClr val="FFFFFF"/>
          </a:solidFill>
          <a:ln w="6350">
            <a:solidFill>
              <a:srgbClr val="CCCCCC"/>
            </a:solidFill>
            <a:prstDash val="solid"/>
          </a:ln>
        </p:spPr>
      </p:sp>
      <p:pic>
        <p:nvPicPr>
          <p:cNvPr id="21" name="Logo">
            <a:extLst>
              <a:ext uri="{FF2B5EF4-FFF2-40B4-BE49-F238E27FC236}">
                <a16:creationId xmlns:a16="http://schemas.microsoft.com/office/drawing/2014/main" xmlns="" id="{68F8DE80-08E1-801F-C04A-113E0D039F78}"/>
              </a:ext>
            </a:extLst>
          </p:cNvPr>
          <p:cNvPicPr>
            <a:picLocks noChangeAspect="1"/>
          </p:cNvPicPr>
          <p:nvPr/>
        </p:nvPicPr>
        <p:blipFill>
          <a:blip r:embed="rId3"/>
          <a:stretch>
            <a:fillRect/>
          </a:stretch>
        </p:blipFill>
        <p:spPr>
          <a:xfrm>
            <a:off x="-453212" y="-263954"/>
            <a:ext cx="1776568" cy="1245981"/>
          </a:xfrm>
          <a:prstGeom prst="rect">
            <a:avLst/>
          </a:prstGeom>
        </p:spPr>
      </p:pic>
      <p:sp>
        <p:nvSpPr>
          <p:cNvPr id="30" name="TopLabel">
            <a:extLst>
              <a:ext uri="{FF2B5EF4-FFF2-40B4-BE49-F238E27FC236}">
                <a16:creationId xmlns:a16="http://schemas.microsoft.com/office/drawing/2014/main" xmlns="" id="{0BB26A96-3F12-4A3C-5185-90F9E70FB6D8}"/>
              </a:ext>
            </a:extLst>
          </p:cNvPr>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rgbClr val="FFFFFF"/>
                </a:solidFill>
                <a:latin typeface="Calibri"/>
                <a:ea typeface="Calibri"/>
                <a:cs typeface="Calibri"/>
              </a:rPr>
              <a:t>PROBLEM STATEMENT</a:t>
            </a:r>
          </a:p>
        </p:txBody>
      </p:sp>
      <p:sp>
        <p:nvSpPr>
          <p:cNvPr id="33" name="Intro">
            <a:extLst>
              <a:ext uri="{FF2B5EF4-FFF2-40B4-BE49-F238E27FC236}">
                <a16:creationId xmlns:a16="http://schemas.microsoft.com/office/drawing/2014/main" xmlns="" id="{FA29D90A-06CE-5433-31C5-1F50203DDD83}"/>
              </a:ext>
            </a:extLst>
          </p:cNvPr>
          <p:cNvSpPr>
            <a:spLocks noGrp="1"/>
          </p:cNvSpPr>
          <p:nvPr/>
        </p:nvSpPr>
        <p:spPr>
          <a:xfrm>
            <a:off x="609600" y="1013334"/>
            <a:ext cx="10972800" cy="640000"/>
          </a:xfrm>
          <a:prstGeom prst="rect">
            <a:avLst/>
          </a:prstGeom>
          <a:noFill/>
          <a:ln>
            <a:noFill/>
          </a:ln>
        </p:spPr>
        <p:txBody>
          <a:bodyPr wrap="square" lIns="0" tIns="0" rIns="240000" bIns="160000" rtlCol="0" anchor="t">
            <a:noAutofit/>
          </a:bodyPr>
          <a:lstStyle/>
          <a:p>
            <a:pPr>
              <a:lnSpc>
                <a:spcPct val="120000"/>
              </a:lnSpc>
            </a:pPr>
            <a:r>
              <a:rPr lang="en-US" sz="2000" dirty="0">
                <a:solidFill>
                  <a:srgbClr val="333333"/>
                </a:solidFill>
                <a:latin typeface="Calibri"/>
                <a:ea typeface="Calibri"/>
                <a:cs typeface="Calibri"/>
              </a:rPr>
              <a:t>GNSS is the </a:t>
            </a:r>
            <a:r>
              <a:rPr lang="en-US" sz="2000" b="1" dirty="0">
                <a:solidFill>
                  <a:srgbClr val="003893"/>
                </a:solidFill>
                <a:latin typeface="Calibri"/>
                <a:ea typeface="Calibri"/>
                <a:cs typeface="Calibri"/>
              </a:rPr>
              <a:t>primary absolute-positioning sensor</a:t>
            </a:r>
            <a:r>
              <a:rPr lang="en-US" sz="2000" dirty="0">
                <a:solidFill>
                  <a:srgbClr val="333333"/>
                </a:solidFill>
                <a:latin typeface="Calibri"/>
                <a:ea typeface="Calibri"/>
                <a:cs typeface="Calibri"/>
              </a:rPr>
              <a:t> for autonomous </a:t>
            </a:r>
            <a:r>
              <a:rPr lang="en-US" sz="2000" dirty="0" smtClean="0">
                <a:solidFill>
                  <a:srgbClr val="333333"/>
                </a:solidFill>
                <a:latin typeface="Calibri"/>
                <a:ea typeface="Calibri"/>
                <a:cs typeface="Calibri"/>
              </a:rPr>
              <a:t>vehicles, </a:t>
            </a:r>
            <a:r>
              <a:rPr lang="en-US" sz="2000" dirty="0">
                <a:solidFill>
                  <a:srgbClr val="333333"/>
                </a:solidFill>
                <a:latin typeface="Calibri"/>
                <a:ea typeface="Calibri"/>
                <a:cs typeface="Calibri"/>
              </a:rPr>
              <a:t>yet it fails </a:t>
            </a:r>
            <a:r>
              <a:rPr lang="en-US" sz="2000" b="1" dirty="0">
                <a:solidFill>
                  <a:srgbClr val="003893"/>
                </a:solidFill>
                <a:latin typeface="Calibri"/>
                <a:ea typeface="Calibri"/>
                <a:cs typeface="Calibri"/>
              </a:rPr>
              <a:t>predictably and frequently</a:t>
            </a:r>
            <a:r>
              <a:rPr lang="en-US" sz="2000" dirty="0">
                <a:solidFill>
                  <a:srgbClr val="333333"/>
                </a:solidFill>
                <a:latin typeface="Calibri"/>
                <a:ea typeface="Calibri"/>
                <a:cs typeface="Calibri"/>
              </a:rPr>
              <a:t> in the environments AVs operate in.</a:t>
            </a:r>
          </a:p>
        </p:txBody>
      </p:sp>
      <p:sp>
        <p:nvSpPr>
          <p:cNvPr id="40" name="Card0Bg">
            <a:extLst>
              <a:ext uri="{FF2B5EF4-FFF2-40B4-BE49-F238E27FC236}">
                <a16:creationId xmlns:a16="http://schemas.microsoft.com/office/drawing/2014/main" xmlns="" id="{C6FCEFEB-EE8A-295C-1C56-2A6713D1E670}"/>
              </a:ext>
            </a:extLst>
          </p:cNvPr>
          <p:cNvSpPr/>
          <p:nvPr/>
        </p:nvSpPr>
        <p:spPr>
          <a:xfrm>
            <a:off x="609600" y="1872133"/>
            <a:ext cx="3493333" cy="3893333"/>
          </a:xfrm>
          <a:prstGeom prst="rect">
            <a:avLst/>
          </a:prstGeom>
          <a:solidFill>
            <a:srgbClr val="FFFFFF"/>
          </a:solidFill>
          <a:ln w="9525">
            <a:solidFill>
              <a:srgbClr val="DDDDDD"/>
            </a:solidFill>
          </a:ln>
        </p:spPr>
      </p:sp>
      <p:sp>
        <p:nvSpPr>
          <p:cNvPr id="41" name="Card0Strip">
            <a:extLst>
              <a:ext uri="{FF2B5EF4-FFF2-40B4-BE49-F238E27FC236}">
                <a16:creationId xmlns:a16="http://schemas.microsoft.com/office/drawing/2014/main" xmlns="" id="{91082F18-454B-0092-EFF2-AFEACD89A78E}"/>
              </a:ext>
            </a:extLst>
          </p:cNvPr>
          <p:cNvSpPr/>
          <p:nvPr/>
        </p:nvSpPr>
        <p:spPr>
          <a:xfrm>
            <a:off x="609600" y="1872133"/>
            <a:ext cx="3493333" cy="120000"/>
          </a:xfrm>
          <a:prstGeom prst="rect">
            <a:avLst/>
          </a:prstGeom>
          <a:solidFill>
            <a:srgbClr val="C62828"/>
          </a:solidFill>
          <a:ln>
            <a:noFill/>
          </a:ln>
        </p:spPr>
      </p:sp>
      <p:sp>
        <p:nvSpPr>
          <p:cNvPr id="42" name="Card0IconBg">
            <a:extLst>
              <a:ext uri="{FF2B5EF4-FFF2-40B4-BE49-F238E27FC236}">
                <a16:creationId xmlns:a16="http://schemas.microsoft.com/office/drawing/2014/main" xmlns="" id="{F6FB9A0B-31A7-22D1-7556-B34768E251BB}"/>
              </a:ext>
            </a:extLst>
          </p:cNvPr>
          <p:cNvSpPr/>
          <p:nvPr/>
        </p:nvSpPr>
        <p:spPr>
          <a:xfrm>
            <a:off x="849600" y="2165466"/>
            <a:ext cx="666667" cy="666667"/>
          </a:xfrm>
          <a:prstGeom prst="ellipse">
            <a:avLst/>
          </a:prstGeom>
          <a:solidFill>
            <a:srgbClr val="FDECEA"/>
          </a:solidFill>
          <a:ln w="19050">
            <a:solidFill>
              <a:srgbClr val="C62828"/>
            </a:solidFill>
          </a:ln>
        </p:spPr>
        <p:txBody>
          <a:bodyPr lIns="0" tIns="0" rIns="0" bIns="0" anchor="ctr"/>
          <a:lstStyle/>
          <a:p>
            <a:pPr algn="ctr"/>
            <a:r>
              <a:rPr lang="en-US" sz="2133" b="1" dirty="0">
                <a:solidFill>
                  <a:srgbClr val="C62828"/>
                </a:solidFill>
              </a:rPr>
              <a:t>1</a:t>
            </a:r>
          </a:p>
        </p:txBody>
      </p:sp>
      <p:sp>
        <p:nvSpPr>
          <p:cNvPr id="43" name="Card0Title">
            <a:extLst>
              <a:ext uri="{FF2B5EF4-FFF2-40B4-BE49-F238E27FC236}">
                <a16:creationId xmlns:a16="http://schemas.microsoft.com/office/drawing/2014/main" xmlns="" id="{BA1D4CA3-6D7A-C42B-7945-A4CB330E80E1}"/>
              </a:ext>
            </a:extLst>
          </p:cNvPr>
          <p:cNvSpPr>
            <a:spLocks noGrp="1"/>
          </p:cNvSpPr>
          <p:nvPr/>
        </p:nvSpPr>
        <p:spPr>
          <a:xfrm>
            <a:off x="1582933" y="2178800"/>
            <a:ext cx="2360000" cy="640000"/>
          </a:xfrm>
          <a:prstGeom prst="rect">
            <a:avLst/>
          </a:prstGeom>
          <a:noFill/>
          <a:ln>
            <a:noFill/>
          </a:ln>
        </p:spPr>
        <p:txBody>
          <a:bodyPr wrap="square" lIns="0" tIns="0" rIns="240000" bIns="160000" rtlCol="0" anchor="ctr">
            <a:normAutofit/>
          </a:bodyPr>
          <a:lstStyle/>
          <a:p>
            <a:r>
              <a:rPr lang="en-US" sz="2000" b="1" dirty="0">
                <a:solidFill>
                  <a:srgbClr val="003893"/>
                </a:solidFill>
                <a:latin typeface="Calibri"/>
                <a:ea typeface="Calibri"/>
                <a:cs typeface="Calibri"/>
              </a:rPr>
              <a:t>Urban Canyons</a:t>
            </a:r>
          </a:p>
        </p:txBody>
      </p:sp>
      <p:sp>
        <p:nvSpPr>
          <p:cNvPr id="44" name="Card0Body">
            <a:extLst>
              <a:ext uri="{FF2B5EF4-FFF2-40B4-BE49-F238E27FC236}">
                <a16:creationId xmlns:a16="http://schemas.microsoft.com/office/drawing/2014/main" xmlns="" id="{B6DF3BBB-9EC3-E6BD-5E45-BA201BE0848D}"/>
              </a:ext>
            </a:extLst>
          </p:cNvPr>
          <p:cNvSpPr>
            <a:spLocks noGrp="1"/>
          </p:cNvSpPr>
          <p:nvPr/>
        </p:nvSpPr>
        <p:spPr>
          <a:xfrm>
            <a:off x="849600" y="3005466"/>
            <a:ext cx="3013333" cy="1266667"/>
          </a:xfrm>
          <a:prstGeom prst="rect">
            <a:avLst/>
          </a:prstGeom>
          <a:noFill/>
          <a:ln>
            <a:noFill/>
          </a:ln>
        </p:spPr>
        <p:txBody>
          <a:bodyPr wrap="square" lIns="0" tIns="0" rIns="240000" bIns="160000" rtlCol="0" anchor="t">
            <a:normAutofit/>
          </a:bodyPr>
          <a:lstStyle/>
          <a:p>
            <a:pPr algn="just">
              <a:lnSpc>
                <a:spcPct val="150000"/>
              </a:lnSpc>
            </a:pPr>
            <a:r>
              <a:rPr lang="en-US" sz="1400" dirty="0">
                <a:solidFill>
                  <a:srgbClr val="333333"/>
                </a:solidFill>
                <a:latin typeface="Calibri"/>
                <a:ea typeface="Calibri"/>
                <a:cs typeface="Calibri"/>
              </a:rPr>
              <a:t>Tall buildings block and reflect satellite signals. Multipath errors corrupt range measurements.</a:t>
            </a:r>
          </a:p>
        </p:txBody>
      </p:sp>
      <p:sp>
        <p:nvSpPr>
          <p:cNvPr id="45" name="Card0Detail">
            <a:extLst>
              <a:ext uri="{FF2B5EF4-FFF2-40B4-BE49-F238E27FC236}">
                <a16:creationId xmlns:a16="http://schemas.microsoft.com/office/drawing/2014/main" xmlns="" id="{FE6BA089-A40A-C3D0-EDB4-B70F35CA7893}"/>
              </a:ext>
            </a:extLst>
          </p:cNvPr>
          <p:cNvSpPr>
            <a:spLocks noGrp="1"/>
          </p:cNvSpPr>
          <p:nvPr/>
        </p:nvSpPr>
        <p:spPr>
          <a:xfrm>
            <a:off x="849599" y="4181400"/>
            <a:ext cx="3013333" cy="1333333"/>
          </a:xfrm>
          <a:prstGeom prst="rect">
            <a:avLst/>
          </a:prstGeom>
          <a:noFill/>
          <a:ln>
            <a:noFill/>
          </a:ln>
        </p:spPr>
        <p:txBody>
          <a:bodyPr wrap="square" lIns="0" tIns="0" rIns="240000" bIns="160000" rtlCol="0" anchor="t">
            <a:noAutofit/>
          </a:bodyPr>
          <a:lstStyle/>
          <a:p>
            <a:pPr algn="just">
              <a:lnSpc>
                <a:spcPct val="150000"/>
              </a:lnSpc>
            </a:pPr>
            <a:r>
              <a:rPr lang="en-US" sz="1400" dirty="0">
                <a:solidFill>
                  <a:srgbClr val="555555"/>
                </a:solidFill>
                <a:latin typeface="Calibri"/>
                <a:ea typeface="Calibri"/>
                <a:cs typeface="Calibri"/>
              </a:rPr>
              <a:t>Position jumps of 10–50 m occur </a:t>
            </a:r>
            <a:r>
              <a:rPr lang="en-US" sz="1400" dirty="0" smtClean="0">
                <a:solidFill>
                  <a:srgbClr val="555555"/>
                </a:solidFill>
                <a:latin typeface="Calibri"/>
                <a:ea typeface="Calibri"/>
                <a:cs typeface="Calibri"/>
              </a:rPr>
              <a:t>silently, the </a:t>
            </a:r>
            <a:r>
              <a:rPr lang="en-US" sz="1400" dirty="0">
                <a:solidFill>
                  <a:srgbClr val="555555"/>
                </a:solidFill>
                <a:latin typeface="Calibri"/>
                <a:ea typeface="Calibri"/>
                <a:cs typeface="Calibri"/>
              </a:rPr>
              <a:t>receiver continues reporting a “fix” even as accuracy collapses.</a:t>
            </a:r>
          </a:p>
        </p:txBody>
      </p:sp>
      <p:sp>
        <p:nvSpPr>
          <p:cNvPr id="46" name="Card1Bg">
            <a:extLst>
              <a:ext uri="{FF2B5EF4-FFF2-40B4-BE49-F238E27FC236}">
                <a16:creationId xmlns:a16="http://schemas.microsoft.com/office/drawing/2014/main" xmlns="" id="{7A73F685-5147-2CAD-259C-B26125B1B729}"/>
              </a:ext>
            </a:extLst>
          </p:cNvPr>
          <p:cNvSpPr/>
          <p:nvPr/>
        </p:nvSpPr>
        <p:spPr>
          <a:xfrm>
            <a:off x="4276267" y="1872133"/>
            <a:ext cx="3493333" cy="3893333"/>
          </a:xfrm>
          <a:prstGeom prst="rect">
            <a:avLst/>
          </a:prstGeom>
          <a:solidFill>
            <a:srgbClr val="FFFFFF"/>
          </a:solidFill>
          <a:ln w="9525">
            <a:solidFill>
              <a:srgbClr val="DDDDDD"/>
            </a:solidFill>
          </a:ln>
        </p:spPr>
      </p:sp>
      <p:sp>
        <p:nvSpPr>
          <p:cNvPr id="47" name="Card1Strip">
            <a:extLst>
              <a:ext uri="{FF2B5EF4-FFF2-40B4-BE49-F238E27FC236}">
                <a16:creationId xmlns:a16="http://schemas.microsoft.com/office/drawing/2014/main" xmlns="" id="{F3F8F523-99C7-DFCC-D633-37563F7C1446}"/>
              </a:ext>
            </a:extLst>
          </p:cNvPr>
          <p:cNvSpPr/>
          <p:nvPr/>
        </p:nvSpPr>
        <p:spPr>
          <a:xfrm>
            <a:off x="4276267" y="1872133"/>
            <a:ext cx="3493333" cy="120000"/>
          </a:xfrm>
          <a:prstGeom prst="rect">
            <a:avLst/>
          </a:prstGeom>
          <a:solidFill>
            <a:srgbClr val="F57F17"/>
          </a:solidFill>
          <a:ln>
            <a:noFill/>
          </a:ln>
        </p:spPr>
      </p:sp>
      <p:sp>
        <p:nvSpPr>
          <p:cNvPr id="48" name="Card1IconBg">
            <a:extLst>
              <a:ext uri="{FF2B5EF4-FFF2-40B4-BE49-F238E27FC236}">
                <a16:creationId xmlns:a16="http://schemas.microsoft.com/office/drawing/2014/main" xmlns="" id="{9D53E266-4A27-1CB5-45DF-86AE8A71F29E}"/>
              </a:ext>
            </a:extLst>
          </p:cNvPr>
          <p:cNvSpPr/>
          <p:nvPr/>
        </p:nvSpPr>
        <p:spPr>
          <a:xfrm>
            <a:off x="4516267" y="2165466"/>
            <a:ext cx="666667" cy="666667"/>
          </a:xfrm>
          <a:prstGeom prst="ellipse">
            <a:avLst/>
          </a:prstGeom>
          <a:solidFill>
            <a:srgbClr val="FFF8E1"/>
          </a:solidFill>
          <a:ln w="19050">
            <a:solidFill>
              <a:srgbClr val="F57F17"/>
            </a:solidFill>
          </a:ln>
        </p:spPr>
        <p:txBody>
          <a:bodyPr lIns="0" tIns="0" rIns="0" bIns="0" anchor="ctr"/>
          <a:lstStyle/>
          <a:p>
            <a:pPr algn="ctr"/>
            <a:r>
              <a:rPr lang="en-US" sz="2133" b="1" dirty="0">
                <a:solidFill>
                  <a:srgbClr val="F57F17"/>
                </a:solidFill>
              </a:rPr>
              <a:t>2</a:t>
            </a:r>
          </a:p>
        </p:txBody>
      </p:sp>
      <p:sp>
        <p:nvSpPr>
          <p:cNvPr id="49" name="Card1Title">
            <a:extLst>
              <a:ext uri="{FF2B5EF4-FFF2-40B4-BE49-F238E27FC236}">
                <a16:creationId xmlns:a16="http://schemas.microsoft.com/office/drawing/2014/main" xmlns="" id="{1D52987F-7C33-65E5-CF46-89904C276C3E}"/>
              </a:ext>
            </a:extLst>
          </p:cNvPr>
          <p:cNvSpPr>
            <a:spLocks noGrp="1"/>
          </p:cNvSpPr>
          <p:nvPr/>
        </p:nvSpPr>
        <p:spPr>
          <a:xfrm>
            <a:off x="5249599" y="2178800"/>
            <a:ext cx="2816715" cy="640000"/>
          </a:xfrm>
          <a:prstGeom prst="rect">
            <a:avLst/>
          </a:prstGeom>
          <a:noFill/>
          <a:ln>
            <a:noFill/>
          </a:ln>
        </p:spPr>
        <p:txBody>
          <a:bodyPr wrap="square" lIns="0" tIns="0" rIns="240000" bIns="160000" rtlCol="0" anchor="ctr">
            <a:normAutofit/>
          </a:bodyPr>
          <a:lstStyle/>
          <a:p>
            <a:r>
              <a:rPr lang="en-US" sz="2000" b="1" dirty="0" smtClean="0">
                <a:solidFill>
                  <a:srgbClr val="003893"/>
                </a:solidFill>
                <a:latin typeface="Calibri"/>
                <a:ea typeface="Calibri"/>
                <a:cs typeface="Calibri"/>
              </a:rPr>
              <a:t>Tunnels &amp; Underpasses</a:t>
            </a:r>
            <a:endParaRPr lang="en-US" sz="2000" b="1" dirty="0">
              <a:solidFill>
                <a:srgbClr val="003893"/>
              </a:solidFill>
              <a:latin typeface="Calibri"/>
              <a:ea typeface="Calibri"/>
              <a:cs typeface="Calibri"/>
            </a:endParaRPr>
          </a:p>
        </p:txBody>
      </p:sp>
      <p:sp>
        <p:nvSpPr>
          <p:cNvPr id="50" name="Card1Body">
            <a:extLst>
              <a:ext uri="{FF2B5EF4-FFF2-40B4-BE49-F238E27FC236}">
                <a16:creationId xmlns:a16="http://schemas.microsoft.com/office/drawing/2014/main" xmlns="" id="{0ED4BF6E-1C00-8C71-581A-B8B925428D65}"/>
              </a:ext>
            </a:extLst>
          </p:cNvPr>
          <p:cNvSpPr>
            <a:spLocks noGrp="1"/>
          </p:cNvSpPr>
          <p:nvPr/>
        </p:nvSpPr>
        <p:spPr>
          <a:xfrm>
            <a:off x="4516267" y="3005467"/>
            <a:ext cx="3013333" cy="813332"/>
          </a:xfrm>
          <a:prstGeom prst="rect">
            <a:avLst/>
          </a:prstGeom>
          <a:noFill/>
          <a:ln>
            <a:noFill/>
          </a:ln>
        </p:spPr>
        <p:txBody>
          <a:bodyPr wrap="square" lIns="0" tIns="0" rIns="240000" bIns="160000" rtlCol="0" anchor="t">
            <a:normAutofit/>
          </a:bodyPr>
          <a:lstStyle/>
          <a:p>
            <a:pPr algn="just">
              <a:lnSpc>
                <a:spcPct val="150000"/>
              </a:lnSpc>
            </a:pPr>
            <a:r>
              <a:rPr lang="en-US" sz="1400" dirty="0">
                <a:solidFill>
                  <a:srgbClr val="333333"/>
                </a:solidFill>
                <a:latin typeface="Calibri"/>
                <a:ea typeface="Calibri"/>
                <a:cs typeface="Calibri"/>
              </a:rPr>
              <a:t>Complete signal blockage causes instantaneous position loss.</a:t>
            </a:r>
          </a:p>
        </p:txBody>
      </p:sp>
      <p:sp>
        <p:nvSpPr>
          <p:cNvPr id="51" name="Card1Detail">
            <a:extLst>
              <a:ext uri="{FF2B5EF4-FFF2-40B4-BE49-F238E27FC236}">
                <a16:creationId xmlns:a16="http://schemas.microsoft.com/office/drawing/2014/main" xmlns="" id="{95BAEA96-D700-B5D2-6F71-4444800C4D9C}"/>
              </a:ext>
            </a:extLst>
          </p:cNvPr>
          <p:cNvSpPr>
            <a:spLocks noGrp="1"/>
          </p:cNvSpPr>
          <p:nvPr/>
        </p:nvSpPr>
        <p:spPr>
          <a:xfrm>
            <a:off x="4462828" y="4013792"/>
            <a:ext cx="3013333" cy="1668551"/>
          </a:xfrm>
          <a:prstGeom prst="rect">
            <a:avLst/>
          </a:prstGeom>
          <a:noFill/>
          <a:ln>
            <a:noFill/>
          </a:ln>
        </p:spPr>
        <p:txBody>
          <a:bodyPr wrap="square" lIns="0" tIns="0" rIns="240000" bIns="160000" rtlCol="0" anchor="t">
            <a:noAutofit/>
          </a:bodyPr>
          <a:lstStyle/>
          <a:p>
            <a:pPr algn="just">
              <a:lnSpc>
                <a:spcPct val="150000"/>
              </a:lnSpc>
            </a:pPr>
            <a:r>
              <a:rPr lang="en-US" sz="1400" dirty="0">
                <a:solidFill>
                  <a:srgbClr val="555555"/>
                </a:solidFill>
                <a:latin typeface="Calibri"/>
                <a:ea typeface="Calibri"/>
                <a:cs typeface="Calibri"/>
              </a:rPr>
              <a:t>A reactive system detects failure only after the vehicle has entered </a:t>
            </a:r>
            <a:r>
              <a:rPr lang="en-US" sz="1400" dirty="0" smtClean="0">
                <a:solidFill>
                  <a:srgbClr val="555555"/>
                </a:solidFill>
                <a:latin typeface="Calibri"/>
                <a:ea typeface="Calibri"/>
                <a:cs typeface="Calibri"/>
              </a:rPr>
              <a:t>the tunnel, too </a:t>
            </a:r>
            <a:r>
              <a:rPr lang="en-US" sz="1400" dirty="0">
                <a:solidFill>
                  <a:srgbClr val="555555"/>
                </a:solidFill>
                <a:latin typeface="Calibri"/>
                <a:ea typeface="Calibri"/>
                <a:cs typeface="Calibri"/>
              </a:rPr>
              <a:t>late to plan a safe response </a:t>
            </a:r>
            <a:r>
              <a:rPr lang="en-US" sz="1400" dirty="0" smtClean="0">
                <a:solidFill>
                  <a:srgbClr val="555555"/>
                </a:solidFill>
                <a:latin typeface="Calibri"/>
                <a:ea typeface="Calibri"/>
                <a:cs typeface="Calibri"/>
              </a:rPr>
              <a:t>or engage </a:t>
            </a:r>
            <a:r>
              <a:rPr lang="en-US" sz="1400" dirty="0">
                <a:solidFill>
                  <a:srgbClr val="555555"/>
                </a:solidFill>
                <a:latin typeface="Calibri"/>
                <a:ea typeface="Calibri"/>
                <a:cs typeface="Calibri"/>
              </a:rPr>
              <a:t>backup </a:t>
            </a:r>
            <a:r>
              <a:rPr lang="en-US" sz="1400" dirty="0" err="1" smtClean="0">
                <a:solidFill>
                  <a:srgbClr val="555555"/>
                </a:solidFill>
                <a:latin typeface="Calibri"/>
                <a:ea typeface="Calibri"/>
                <a:cs typeface="Calibri"/>
              </a:rPr>
              <a:t>localisation</a:t>
            </a:r>
            <a:r>
              <a:rPr lang="en-US" sz="1400" dirty="0">
                <a:solidFill>
                  <a:srgbClr val="555555"/>
                </a:solidFill>
                <a:latin typeface="Calibri"/>
                <a:ea typeface="Calibri"/>
                <a:cs typeface="Calibri"/>
              </a:rPr>
              <a:t>.</a:t>
            </a:r>
          </a:p>
        </p:txBody>
      </p:sp>
      <p:sp>
        <p:nvSpPr>
          <p:cNvPr id="52" name="Card2Bg">
            <a:extLst>
              <a:ext uri="{FF2B5EF4-FFF2-40B4-BE49-F238E27FC236}">
                <a16:creationId xmlns:a16="http://schemas.microsoft.com/office/drawing/2014/main" xmlns="" id="{E97E349B-C539-6DBC-C43E-B0407E717BBB}"/>
              </a:ext>
            </a:extLst>
          </p:cNvPr>
          <p:cNvSpPr/>
          <p:nvPr/>
        </p:nvSpPr>
        <p:spPr>
          <a:xfrm>
            <a:off x="7945202" y="1872133"/>
            <a:ext cx="3493333" cy="3893333"/>
          </a:xfrm>
          <a:prstGeom prst="rect">
            <a:avLst/>
          </a:prstGeom>
          <a:solidFill>
            <a:srgbClr val="FFFFFF"/>
          </a:solidFill>
          <a:ln w="9525">
            <a:solidFill>
              <a:srgbClr val="DDDDDD"/>
            </a:solidFill>
          </a:ln>
        </p:spPr>
      </p:sp>
      <p:sp>
        <p:nvSpPr>
          <p:cNvPr id="53" name="Card2Strip">
            <a:extLst>
              <a:ext uri="{FF2B5EF4-FFF2-40B4-BE49-F238E27FC236}">
                <a16:creationId xmlns:a16="http://schemas.microsoft.com/office/drawing/2014/main" xmlns="" id="{3470156D-48A4-CB36-4766-4886C3306133}"/>
              </a:ext>
            </a:extLst>
          </p:cNvPr>
          <p:cNvSpPr/>
          <p:nvPr/>
        </p:nvSpPr>
        <p:spPr>
          <a:xfrm>
            <a:off x="7942934" y="1872133"/>
            <a:ext cx="3493333" cy="120000"/>
          </a:xfrm>
          <a:prstGeom prst="rect">
            <a:avLst/>
          </a:prstGeom>
          <a:solidFill>
            <a:srgbClr val="003893"/>
          </a:solidFill>
          <a:ln>
            <a:noFill/>
          </a:ln>
        </p:spPr>
      </p:sp>
      <p:sp>
        <p:nvSpPr>
          <p:cNvPr id="54" name="Card2IconBg">
            <a:extLst>
              <a:ext uri="{FF2B5EF4-FFF2-40B4-BE49-F238E27FC236}">
                <a16:creationId xmlns:a16="http://schemas.microsoft.com/office/drawing/2014/main" xmlns="" id="{961120CA-D38F-7AE4-9F13-E29FF7A9211A}"/>
              </a:ext>
            </a:extLst>
          </p:cNvPr>
          <p:cNvSpPr/>
          <p:nvPr/>
        </p:nvSpPr>
        <p:spPr>
          <a:xfrm>
            <a:off x="8182933" y="2165466"/>
            <a:ext cx="666667" cy="666667"/>
          </a:xfrm>
          <a:prstGeom prst="ellipse">
            <a:avLst/>
          </a:prstGeom>
          <a:solidFill>
            <a:srgbClr val="E8F0FB"/>
          </a:solidFill>
          <a:ln w="19050">
            <a:solidFill>
              <a:srgbClr val="003893"/>
            </a:solidFill>
          </a:ln>
        </p:spPr>
        <p:txBody>
          <a:bodyPr lIns="0" tIns="0" rIns="0" bIns="0" anchor="ctr"/>
          <a:lstStyle/>
          <a:p>
            <a:pPr algn="ctr"/>
            <a:r>
              <a:rPr lang="en-US" sz="2133" b="1" dirty="0">
                <a:solidFill>
                  <a:srgbClr val="003893"/>
                </a:solidFill>
              </a:rPr>
              <a:t>3</a:t>
            </a:r>
          </a:p>
        </p:txBody>
      </p:sp>
      <p:sp>
        <p:nvSpPr>
          <p:cNvPr id="55" name="Card2Title">
            <a:extLst>
              <a:ext uri="{FF2B5EF4-FFF2-40B4-BE49-F238E27FC236}">
                <a16:creationId xmlns:a16="http://schemas.microsoft.com/office/drawing/2014/main" xmlns="" id="{AFB6B867-8D10-5489-94F6-01CFC60B4B1A}"/>
              </a:ext>
            </a:extLst>
          </p:cNvPr>
          <p:cNvSpPr>
            <a:spLocks noGrp="1"/>
          </p:cNvSpPr>
          <p:nvPr/>
        </p:nvSpPr>
        <p:spPr>
          <a:xfrm>
            <a:off x="8916267" y="2178800"/>
            <a:ext cx="2360000" cy="640000"/>
          </a:xfrm>
          <a:prstGeom prst="rect">
            <a:avLst/>
          </a:prstGeom>
          <a:noFill/>
          <a:ln>
            <a:noFill/>
          </a:ln>
        </p:spPr>
        <p:txBody>
          <a:bodyPr wrap="square" lIns="0" tIns="0" rIns="240000" bIns="160000" rtlCol="0" anchor="ctr">
            <a:normAutofit/>
          </a:bodyPr>
          <a:lstStyle/>
          <a:p>
            <a:r>
              <a:rPr lang="en-US" sz="2000" b="1" dirty="0">
                <a:solidFill>
                  <a:srgbClr val="003893"/>
                </a:solidFill>
                <a:latin typeface="Calibri"/>
                <a:ea typeface="Calibri"/>
                <a:cs typeface="Calibri"/>
              </a:rPr>
              <a:t>Atmospheric Effects</a:t>
            </a:r>
          </a:p>
        </p:txBody>
      </p:sp>
      <p:sp>
        <p:nvSpPr>
          <p:cNvPr id="56" name="Card2Body">
            <a:extLst>
              <a:ext uri="{FF2B5EF4-FFF2-40B4-BE49-F238E27FC236}">
                <a16:creationId xmlns:a16="http://schemas.microsoft.com/office/drawing/2014/main" xmlns="" id="{5EA8C9A0-E9A7-643D-6A24-B0538BF64882}"/>
              </a:ext>
            </a:extLst>
          </p:cNvPr>
          <p:cNvSpPr>
            <a:spLocks noGrp="1"/>
          </p:cNvSpPr>
          <p:nvPr/>
        </p:nvSpPr>
        <p:spPr>
          <a:xfrm>
            <a:off x="8182934" y="3005466"/>
            <a:ext cx="3013333" cy="1266667"/>
          </a:xfrm>
          <a:prstGeom prst="rect">
            <a:avLst/>
          </a:prstGeom>
          <a:noFill/>
          <a:ln>
            <a:noFill/>
          </a:ln>
        </p:spPr>
        <p:txBody>
          <a:bodyPr wrap="square" lIns="0" tIns="0" rIns="240000" bIns="160000" rtlCol="0" anchor="t">
            <a:normAutofit/>
          </a:bodyPr>
          <a:lstStyle/>
          <a:p>
            <a:pPr algn="just">
              <a:lnSpc>
                <a:spcPct val="150000"/>
              </a:lnSpc>
            </a:pPr>
            <a:r>
              <a:rPr lang="en-US" sz="1400" dirty="0">
                <a:solidFill>
                  <a:srgbClr val="333333"/>
                </a:solidFill>
                <a:latin typeface="Calibri"/>
                <a:ea typeface="Calibri"/>
                <a:cs typeface="Calibri"/>
              </a:rPr>
              <a:t>Ionospheric and tropospheric disturbances degrade range accuracy across wide areas.</a:t>
            </a:r>
          </a:p>
        </p:txBody>
      </p:sp>
      <p:sp>
        <p:nvSpPr>
          <p:cNvPr id="57" name="Card2Detail">
            <a:extLst>
              <a:ext uri="{FF2B5EF4-FFF2-40B4-BE49-F238E27FC236}">
                <a16:creationId xmlns:a16="http://schemas.microsoft.com/office/drawing/2014/main" xmlns="" id="{2E49CC50-AEC5-31AC-025F-367FF16CF0DD}"/>
              </a:ext>
            </a:extLst>
          </p:cNvPr>
          <p:cNvSpPr>
            <a:spLocks noGrp="1"/>
          </p:cNvSpPr>
          <p:nvPr/>
        </p:nvSpPr>
        <p:spPr>
          <a:xfrm>
            <a:off x="8180141" y="4172722"/>
            <a:ext cx="3013333" cy="1333333"/>
          </a:xfrm>
          <a:prstGeom prst="rect">
            <a:avLst/>
          </a:prstGeom>
          <a:noFill/>
          <a:ln>
            <a:noFill/>
          </a:ln>
        </p:spPr>
        <p:txBody>
          <a:bodyPr wrap="square" lIns="0" tIns="0" rIns="240000" bIns="160000" rtlCol="0" anchor="t">
            <a:normAutofit/>
          </a:bodyPr>
          <a:lstStyle/>
          <a:p>
            <a:pPr algn="just">
              <a:lnSpc>
                <a:spcPct val="120000"/>
              </a:lnSpc>
            </a:pPr>
            <a:r>
              <a:rPr lang="en-US" sz="1400" dirty="0">
                <a:solidFill>
                  <a:srgbClr val="555555"/>
                </a:solidFill>
                <a:latin typeface="Calibri"/>
                <a:ea typeface="Calibri"/>
                <a:cs typeface="Calibri"/>
              </a:rPr>
              <a:t>Effects are gradual and harder to </a:t>
            </a:r>
            <a:r>
              <a:rPr lang="en-US" sz="1400" dirty="0" smtClean="0">
                <a:solidFill>
                  <a:srgbClr val="555555"/>
                </a:solidFill>
                <a:latin typeface="Calibri"/>
                <a:ea typeface="Calibri"/>
                <a:cs typeface="Calibri"/>
              </a:rPr>
              <a:t>detect, </a:t>
            </a:r>
            <a:r>
              <a:rPr lang="en-US" sz="1400" dirty="0">
                <a:solidFill>
                  <a:srgbClr val="555555"/>
                </a:solidFill>
                <a:latin typeface="Calibri"/>
                <a:ea typeface="Calibri"/>
                <a:cs typeface="Calibri"/>
              </a:rPr>
              <a:t>DOP and C/N₀ drift slowly before the solution quality degrades.</a:t>
            </a:r>
          </a:p>
        </p:txBody>
      </p:sp>
      <p:sp>
        <p:nvSpPr>
          <p:cNvPr id="80" name="CoreBg">
            <a:extLst>
              <a:ext uri="{FF2B5EF4-FFF2-40B4-BE49-F238E27FC236}">
                <a16:creationId xmlns:a16="http://schemas.microsoft.com/office/drawing/2014/main" xmlns="" id="{B48C156B-641F-30A4-A0E6-DDE8789BB52C}"/>
              </a:ext>
            </a:extLst>
          </p:cNvPr>
          <p:cNvSpPr/>
          <p:nvPr/>
        </p:nvSpPr>
        <p:spPr>
          <a:xfrm>
            <a:off x="609600" y="6160000"/>
            <a:ext cx="10972800" cy="426667"/>
          </a:xfrm>
          <a:prstGeom prst="rect">
            <a:avLst/>
          </a:prstGeom>
          <a:solidFill>
            <a:srgbClr val="003893"/>
          </a:solidFill>
          <a:ln>
            <a:noFill/>
          </a:ln>
        </p:spPr>
      </p:sp>
      <p:sp>
        <p:nvSpPr>
          <p:cNvPr id="81" name="CoreText">
            <a:extLst>
              <a:ext uri="{FF2B5EF4-FFF2-40B4-BE49-F238E27FC236}">
                <a16:creationId xmlns:a16="http://schemas.microsoft.com/office/drawing/2014/main" xmlns="" id="{6E0CC040-41AD-8640-E590-3A23D39EC651}"/>
              </a:ext>
            </a:extLst>
          </p:cNvPr>
          <p:cNvSpPr>
            <a:spLocks noGrp="1"/>
          </p:cNvSpPr>
          <p:nvPr/>
        </p:nvSpPr>
        <p:spPr>
          <a:xfrm>
            <a:off x="609600" y="6160000"/>
            <a:ext cx="10972800" cy="426667"/>
          </a:xfrm>
          <a:prstGeom prst="rect">
            <a:avLst/>
          </a:prstGeom>
          <a:noFill/>
          <a:ln>
            <a:noFill/>
          </a:ln>
        </p:spPr>
        <p:txBody>
          <a:bodyPr wrap="square" lIns="266667" tIns="0" rIns="266667" bIns="0" rtlCol="0" anchor="ctr">
            <a:normAutofit fontScale="85000" lnSpcReduction="10000"/>
          </a:bodyPr>
          <a:lstStyle/>
          <a:p>
            <a:pPr algn="ctr">
              <a:lnSpc>
                <a:spcPct val="160000"/>
              </a:lnSpc>
            </a:pPr>
            <a:r>
              <a:rPr lang="en-US" sz="1467" b="1" dirty="0">
                <a:solidFill>
                  <a:srgbClr val="4FC3F7"/>
                </a:solidFill>
                <a:latin typeface="Calibri"/>
                <a:ea typeface="Calibri"/>
                <a:cs typeface="Calibri"/>
              </a:rPr>
              <a:t>Core Problem:</a:t>
            </a:r>
            <a:r>
              <a:rPr lang="en-US" sz="1400" dirty="0">
                <a:solidFill>
                  <a:srgbClr val="FFFFFF"/>
                </a:solidFill>
                <a:latin typeface="Calibri"/>
                <a:ea typeface="Calibri"/>
                <a:cs typeface="Calibri"/>
              </a:rPr>
              <a:t>  All existing monitors (RTKLIB Q-codes, RAIM, ML classifiers) are </a:t>
            </a:r>
            <a:r>
              <a:rPr lang="en-US" sz="1400" b="1" dirty="0">
                <a:solidFill>
                  <a:srgbClr val="FFFFFF"/>
                </a:solidFill>
                <a:latin typeface="Calibri"/>
                <a:ea typeface="Calibri"/>
                <a:cs typeface="Calibri"/>
              </a:rPr>
              <a:t>REACTIVE</a:t>
            </a:r>
            <a:r>
              <a:rPr lang="en-US" sz="1400" dirty="0">
                <a:solidFill>
                  <a:srgbClr val="FFFFFF"/>
                </a:solidFill>
                <a:latin typeface="Calibri"/>
                <a:ea typeface="Calibri"/>
                <a:cs typeface="Calibri"/>
              </a:rPr>
              <a:t> — autonomous vehicles need </a:t>
            </a:r>
            <a:r>
              <a:rPr lang="en-US" sz="1400" b="1" dirty="0">
                <a:solidFill>
                  <a:srgbClr val="FFFFFF"/>
                </a:solidFill>
                <a:latin typeface="Calibri"/>
                <a:ea typeface="Calibri"/>
                <a:cs typeface="Calibri"/>
              </a:rPr>
              <a:t>advance warning</a:t>
            </a:r>
            <a:r>
              <a:rPr lang="en-US" sz="1400" dirty="0">
                <a:solidFill>
                  <a:srgbClr val="FFFFFF"/>
                </a:solidFill>
                <a:latin typeface="Calibri"/>
                <a:ea typeface="Calibri"/>
                <a:cs typeface="Calibri"/>
              </a:rPr>
              <a:t> to respond safely.</a:t>
            </a:r>
          </a:p>
        </p:txBody>
      </p:sp>
      <p:grpSp>
        <p:nvGrpSpPr>
          <p:cNvPr id="7" name="Group 6">
            <a:extLst>
              <a:ext uri="{FF2B5EF4-FFF2-40B4-BE49-F238E27FC236}">
                <a16:creationId xmlns:a16="http://schemas.microsoft.com/office/drawing/2014/main" xmlns="" id="{725F7016-4AF0-63EF-3859-7B606FEA03E1}"/>
              </a:ext>
            </a:extLst>
          </p:cNvPr>
          <p:cNvGrpSpPr/>
          <p:nvPr/>
        </p:nvGrpSpPr>
        <p:grpSpPr>
          <a:xfrm>
            <a:off x="-95624" y="-24618"/>
            <a:ext cx="12287624" cy="767311"/>
            <a:chOff x="-71718" y="-18464"/>
            <a:chExt cx="9215718" cy="575483"/>
          </a:xfrm>
        </p:grpSpPr>
        <p:sp>
          <p:nvSpPr>
            <p:cNvPr id="9" name="Shape 1">
              <a:extLst>
                <a:ext uri="{FF2B5EF4-FFF2-40B4-BE49-F238E27FC236}">
                  <a16:creationId xmlns:a16="http://schemas.microsoft.com/office/drawing/2014/main" xmlns="" id="{9B34594A-88CA-A221-5B65-5854DC54E69B}"/>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10" name="Shape 4">
              <a:extLst>
                <a:ext uri="{FF2B5EF4-FFF2-40B4-BE49-F238E27FC236}">
                  <a16:creationId xmlns:a16="http://schemas.microsoft.com/office/drawing/2014/main" xmlns="" id="{09233E48-A9A8-0C14-3244-ADCB22987695}"/>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11" name="Shape 5">
              <a:extLst>
                <a:ext uri="{FF2B5EF4-FFF2-40B4-BE49-F238E27FC236}">
                  <a16:creationId xmlns:a16="http://schemas.microsoft.com/office/drawing/2014/main" xmlns="" id="{CBF101A3-3272-8422-73BC-68EF8F42A6F7}"/>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12" name="Shape 6">
              <a:extLst>
                <a:ext uri="{FF2B5EF4-FFF2-40B4-BE49-F238E27FC236}">
                  <a16:creationId xmlns:a16="http://schemas.microsoft.com/office/drawing/2014/main" xmlns="" id="{81BBA983-6BA7-ACA3-116A-F73F2285FE6A}"/>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13" name="Shape 7">
              <a:extLst>
                <a:ext uri="{FF2B5EF4-FFF2-40B4-BE49-F238E27FC236}">
                  <a16:creationId xmlns:a16="http://schemas.microsoft.com/office/drawing/2014/main" xmlns="" id="{757D680B-35C4-2C17-7910-15851BF64C3E}"/>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14" name="Shape 8">
              <a:extLst>
                <a:ext uri="{FF2B5EF4-FFF2-40B4-BE49-F238E27FC236}">
                  <a16:creationId xmlns:a16="http://schemas.microsoft.com/office/drawing/2014/main" xmlns="" id="{C7AE08F5-C177-C809-057F-62E319EC4D22}"/>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15" name="Shape 9">
              <a:extLst>
                <a:ext uri="{FF2B5EF4-FFF2-40B4-BE49-F238E27FC236}">
                  <a16:creationId xmlns:a16="http://schemas.microsoft.com/office/drawing/2014/main" xmlns="" id="{C9D57033-090C-A435-E219-2B6EC4588BFB}"/>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16" name="Shape 10">
              <a:extLst>
                <a:ext uri="{FF2B5EF4-FFF2-40B4-BE49-F238E27FC236}">
                  <a16:creationId xmlns:a16="http://schemas.microsoft.com/office/drawing/2014/main" xmlns="" id="{3BC5B016-B3F3-E27B-639F-CD5536FCF7DB}"/>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17" name="Shape 11">
              <a:extLst>
                <a:ext uri="{FF2B5EF4-FFF2-40B4-BE49-F238E27FC236}">
                  <a16:creationId xmlns:a16="http://schemas.microsoft.com/office/drawing/2014/main" xmlns="" id="{536AA1E6-DCE1-903B-457A-3F5A1BFB3745}"/>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18" name="Shape 12">
              <a:extLst>
                <a:ext uri="{FF2B5EF4-FFF2-40B4-BE49-F238E27FC236}">
                  <a16:creationId xmlns:a16="http://schemas.microsoft.com/office/drawing/2014/main" xmlns="" id="{29FC4A87-9B4C-186B-BB18-D416D483D1A0}"/>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19" name="Shape 13">
              <a:extLst>
                <a:ext uri="{FF2B5EF4-FFF2-40B4-BE49-F238E27FC236}">
                  <a16:creationId xmlns:a16="http://schemas.microsoft.com/office/drawing/2014/main" xmlns="" id="{60E85A59-F2FF-4B81-63FF-B145847B0439}"/>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20" name="Shape 14">
              <a:extLst>
                <a:ext uri="{FF2B5EF4-FFF2-40B4-BE49-F238E27FC236}">
                  <a16:creationId xmlns:a16="http://schemas.microsoft.com/office/drawing/2014/main" xmlns="" id="{17D24CDC-6D40-C94A-079D-6214C7FC44F2}"/>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22" name="Shape 15">
              <a:extLst>
                <a:ext uri="{FF2B5EF4-FFF2-40B4-BE49-F238E27FC236}">
                  <a16:creationId xmlns:a16="http://schemas.microsoft.com/office/drawing/2014/main" xmlns="" id="{DD523AAC-12EC-E31E-2892-FA4D394AE233}"/>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23" name="Shape 16">
              <a:extLst>
                <a:ext uri="{FF2B5EF4-FFF2-40B4-BE49-F238E27FC236}">
                  <a16:creationId xmlns:a16="http://schemas.microsoft.com/office/drawing/2014/main" xmlns="" id="{6F5FC13E-E3C4-191B-C06C-57CCDD4033DD}"/>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24" name="Picture 23">
              <a:extLst>
                <a:ext uri="{FF2B5EF4-FFF2-40B4-BE49-F238E27FC236}">
                  <a16:creationId xmlns:a16="http://schemas.microsoft.com/office/drawing/2014/main" xmlns="" id="{357C549D-AB0A-42DE-77C4-BD0ED565B42B}"/>
                </a:ext>
              </a:extLst>
            </p:cNvPr>
            <p:cNvPicPr>
              <a:picLocks noChangeAspect="1"/>
            </p:cNvPicPr>
            <p:nvPr/>
          </p:nvPicPr>
          <p:blipFill>
            <a:blip r:embed="rId3"/>
            <a:srcRect l="20128" t="19209" r="10255" b="19209"/>
            <a:stretch/>
          </p:blipFill>
          <p:spPr>
            <a:xfrm>
              <a:off x="-71718" y="-18464"/>
              <a:ext cx="927596" cy="575483"/>
            </a:xfrm>
            <a:prstGeom prst="rect">
              <a:avLst/>
            </a:prstGeom>
          </p:spPr>
        </p:pic>
      </p:grpSp>
    </p:spTree>
    <p:extLst>
      <p:ext uri="{BB962C8B-B14F-4D97-AF65-F5344CB8AC3E}">
        <p14:creationId xmlns:p14="http://schemas.microsoft.com/office/powerpoint/2010/main" val="38191779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0" descr="preencoded.png">
            <a:extLst>
              <a:ext uri="{FF2B5EF4-FFF2-40B4-BE49-F238E27FC236}">
                <a16:creationId xmlns:a16="http://schemas.microsoft.com/office/drawing/2014/main" xmlns="" id="{11EB2792-E0EE-D051-CB00-59BD56AF9141}"/>
              </a:ext>
            </a:extLst>
          </p:cNvPr>
          <p:cNvPicPr>
            <a:picLocks noChangeAspect="1"/>
          </p:cNvPicPr>
          <p:nvPr/>
        </p:nvPicPr>
        <p:blipFill>
          <a:blip r:embed="rId2"/>
          <a:srcRect/>
          <a:stretch/>
        </p:blipFill>
        <p:spPr>
          <a:xfrm>
            <a:off x="72" y="7330"/>
            <a:ext cx="12191928" cy="6857928"/>
          </a:xfrm>
          <a:prstGeom prst="rect">
            <a:avLst/>
          </a:prstGeom>
        </p:spPr>
      </p:pic>
      <p:sp>
        <p:nvSpPr>
          <p:cNvPr id="2" name="TopBar"/>
          <p:cNvSpPr/>
          <p:nvPr/>
        </p:nvSpPr>
        <p:spPr>
          <a:xfrm>
            <a:off x="0" y="-23466"/>
            <a:ext cx="12192000" cy="740408"/>
          </a:xfrm>
          <a:prstGeom prst="rect">
            <a:avLst/>
          </a:prstGeom>
          <a:solidFill>
            <a:srgbClr val="003893"/>
          </a:solidFill>
          <a:ln w="12700">
            <a:solidFill>
              <a:srgbClr val="003893"/>
            </a:solidFill>
            <a:prstDash val="solid"/>
          </a:ln>
        </p:spPr>
      </p:sp>
      <p:sp>
        <p:nvSpPr>
          <p:cNvPr id="3" name="TopAccent"/>
          <p:cNvSpPr/>
          <p:nvPr/>
        </p:nvSpPr>
        <p:spPr>
          <a:xfrm>
            <a:off x="0" y="702347"/>
            <a:ext cx="12192000" cy="36576"/>
          </a:xfrm>
          <a:prstGeom prst="rect">
            <a:avLst/>
          </a:prstGeom>
          <a:solidFill>
            <a:srgbClr val="4FC3F7"/>
          </a:solidFill>
          <a:ln w="12700">
            <a:solidFill>
              <a:srgbClr val="4FC3F7"/>
            </a:solidFill>
            <a:prstDash val="solid"/>
          </a:ln>
        </p:spPr>
      </p:sp>
      <p:sp>
        <p:nvSpPr>
          <p:cNvPr id="4" name="BottomBar"/>
          <p:cNvSpPr/>
          <p:nvPr/>
        </p:nvSpPr>
        <p:spPr>
          <a:xfrm>
            <a:off x="0" y="6646862"/>
            <a:ext cx="12192000" cy="211137"/>
          </a:xfrm>
          <a:prstGeom prst="rect">
            <a:avLst/>
          </a:prstGeom>
          <a:solidFill>
            <a:srgbClr val="003893"/>
          </a:solidFill>
          <a:ln w="12700">
            <a:solidFill>
              <a:srgbClr val="003893"/>
            </a:solidFill>
            <a:prstDash val="solid"/>
          </a:ln>
        </p:spPr>
      </p:sp>
      <p:sp>
        <p:nvSpPr>
          <p:cNvPr id="5" name="BottomAccent"/>
          <p:cNvSpPr/>
          <p:nvPr/>
        </p:nvSpPr>
        <p:spPr>
          <a:xfrm>
            <a:off x="0" y="6623677"/>
            <a:ext cx="12192000" cy="30480"/>
          </a:xfrm>
          <a:prstGeom prst="rect">
            <a:avLst/>
          </a:prstGeom>
          <a:solidFill>
            <a:srgbClr val="4FC3F7"/>
          </a:solidFill>
          <a:ln w="12700">
            <a:solidFill>
              <a:srgbClr val="4FC3F7"/>
            </a:solidFill>
            <a:prstDash val="solid"/>
          </a:ln>
        </p:spPr>
      </p:sp>
      <p:sp>
        <p:nvSpPr>
          <p:cNvPr id="6" name="LogoTab"/>
          <p:cNvSpPr/>
          <p:nvPr/>
        </p:nvSpPr>
        <p:spPr>
          <a:xfrm>
            <a:off x="0" y="-24618"/>
            <a:ext cx="1128763" cy="767311"/>
          </a:xfrm>
          <a:prstGeom prst="homePlate">
            <a:avLst/>
          </a:prstGeom>
          <a:solidFill>
            <a:srgbClr val="FFFFFF"/>
          </a:solidFill>
          <a:ln w="6350">
            <a:solidFill>
              <a:srgbClr val="CCCCCC"/>
            </a:solidFill>
            <a:prstDash val="solid"/>
          </a:ln>
        </p:spPr>
      </p:sp>
      <p:pic>
        <p:nvPicPr>
          <p:cNvPr id="21" name="Logo"/>
          <p:cNvPicPr>
            <a:picLocks noChangeAspect="1"/>
          </p:cNvPicPr>
          <p:nvPr/>
        </p:nvPicPr>
        <p:blipFill>
          <a:blip r:embed="rId3"/>
          <a:stretch>
            <a:fillRect/>
          </a:stretch>
        </p:blipFill>
        <p:spPr>
          <a:xfrm>
            <a:off x="-453212" y="-263954"/>
            <a:ext cx="1776568" cy="1245981"/>
          </a:xfrm>
          <a:prstGeom prst="rect">
            <a:avLst/>
          </a:prstGeom>
        </p:spPr>
      </p:pic>
      <p:sp>
        <p:nvSpPr>
          <p:cNvPr id="30" name="TopLabel"/>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rgbClr val="FFFFFF"/>
                </a:solidFill>
                <a:latin typeface="Calibri"/>
                <a:ea typeface="Calibri"/>
                <a:cs typeface="Calibri"/>
              </a:rPr>
              <a:t>PROBLEM STATEMENT</a:t>
            </a:r>
          </a:p>
        </p:txBody>
      </p:sp>
      <p:sp>
        <p:nvSpPr>
          <p:cNvPr id="110" name="TblTitleBg"/>
          <p:cNvSpPr/>
          <p:nvPr/>
        </p:nvSpPr>
        <p:spPr>
          <a:xfrm>
            <a:off x="691794" y="4900618"/>
            <a:ext cx="10972800" cy="373333"/>
          </a:xfrm>
          <a:prstGeom prst="rect">
            <a:avLst/>
          </a:prstGeom>
          <a:solidFill>
            <a:srgbClr val="003893"/>
          </a:solidFill>
          <a:ln>
            <a:noFill/>
          </a:ln>
        </p:spPr>
      </p:sp>
      <p:sp>
        <p:nvSpPr>
          <p:cNvPr id="111" name="TblTitle"/>
          <p:cNvSpPr>
            <a:spLocks noGrp="1"/>
          </p:cNvSpPr>
          <p:nvPr/>
        </p:nvSpPr>
        <p:spPr>
          <a:xfrm>
            <a:off x="691794" y="4900618"/>
            <a:ext cx="10972800" cy="373333"/>
          </a:xfrm>
          <a:prstGeom prst="rect">
            <a:avLst/>
          </a:prstGeom>
          <a:noFill/>
          <a:ln>
            <a:noFill/>
          </a:ln>
        </p:spPr>
        <p:txBody>
          <a:bodyPr wrap="square" lIns="266667" tIns="0" rIns="266667" bIns="0" rtlCol="0" anchor="ctr">
            <a:normAutofit/>
          </a:bodyPr>
          <a:lstStyle/>
          <a:p>
            <a:r>
              <a:rPr lang="en-US" sz="1600" b="1" dirty="0">
                <a:solidFill>
                  <a:srgbClr val="FFFFFF"/>
                </a:solidFill>
                <a:latin typeface="Calibri"/>
                <a:ea typeface="Calibri"/>
                <a:cs typeface="Calibri"/>
              </a:rPr>
              <a:t>What Early Warning Enables</a:t>
            </a:r>
          </a:p>
        </p:txBody>
      </p:sp>
      <p:sp>
        <p:nvSpPr>
          <p:cNvPr id="112" name="ColHdrBg"/>
          <p:cNvSpPr/>
          <p:nvPr/>
        </p:nvSpPr>
        <p:spPr>
          <a:xfrm>
            <a:off x="691794" y="5273951"/>
            <a:ext cx="10972800" cy="320000"/>
          </a:xfrm>
          <a:prstGeom prst="rect">
            <a:avLst/>
          </a:prstGeom>
          <a:solidFill>
            <a:srgbClr val="4FC3F7"/>
          </a:solidFill>
          <a:ln>
            <a:noFill/>
          </a:ln>
        </p:spPr>
      </p:sp>
      <p:sp>
        <p:nvSpPr>
          <p:cNvPr id="113" name="Col1Hdr"/>
          <p:cNvSpPr>
            <a:spLocks noGrp="1"/>
          </p:cNvSpPr>
          <p:nvPr/>
        </p:nvSpPr>
        <p:spPr>
          <a:xfrm>
            <a:off x="691794" y="5273951"/>
            <a:ext cx="1466667" cy="320000"/>
          </a:xfrm>
          <a:prstGeom prst="rect">
            <a:avLst/>
          </a:prstGeom>
          <a:noFill/>
          <a:ln>
            <a:noFill/>
          </a:ln>
        </p:spPr>
        <p:txBody>
          <a:bodyPr wrap="square" lIns="0" tIns="0" rIns="0" bIns="0" rtlCol="0" anchor="ctr">
            <a:normAutofit/>
          </a:bodyPr>
          <a:lstStyle/>
          <a:p>
            <a:pPr algn="ctr"/>
            <a:r>
              <a:rPr lang="en-US" sz="1400" b="1" dirty="0">
                <a:solidFill>
                  <a:srgbClr val="003893"/>
                </a:solidFill>
                <a:latin typeface="Calibri"/>
                <a:ea typeface="Calibri"/>
                <a:cs typeface="Calibri"/>
              </a:rPr>
              <a:t>Horizon</a:t>
            </a:r>
          </a:p>
        </p:txBody>
      </p:sp>
      <p:sp>
        <p:nvSpPr>
          <p:cNvPr id="114" name="Col2Hdr"/>
          <p:cNvSpPr>
            <a:spLocks noGrp="1"/>
          </p:cNvSpPr>
          <p:nvPr/>
        </p:nvSpPr>
        <p:spPr>
          <a:xfrm>
            <a:off x="2158461" y="5273951"/>
            <a:ext cx="2000000" cy="320000"/>
          </a:xfrm>
          <a:prstGeom prst="rect">
            <a:avLst/>
          </a:prstGeom>
          <a:noFill/>
          <a:ln>
            <a:noFill/>
          </a:ln>
        </p:spPr>
        <p:txBody>
          <a:bodyPr wrap="square" lIns="0" tIns="0" rIns="0" bIns="0" rtlCol="0" anchor="ctr">
            <a:normAutofit/>
          </a:bodyPr>
          <a:lstStyle/>
          <a:p>
            <a:pPr algn="ctr"/>
            <a:r>
              <a:rPr lang="en-US" sz="1400" b="1" dirty="0">
                <a:solidFill>
                  <a:srgbClr val="003893"/>
                </a:solidFill>
                <a:latin typeface="Calibri"/>
                <a:ea typeface="Calibri"/>
                <a:cs typeface="Calibri"/>
              </a:rPr>
              <a:t>Distance @ 60 km/h</a:t>
            </a:r>
          </a:p>
        </p:txBody>
      </p:sp>
      <p:sp>
        <p:nvSpPr>
          <p:cNvPr id="115" name="Col3Hdr"/>
          <p:cNvSpPr>
            <a:spLocks noGrp="1"/>
          </p:cNvSpPr>
          <p:nvPr/>
        </p:nvSpPr>
        <p:spPr>
          <a:xfrm>
            <a:off x="4158461" y="5273951"/>
            <a:ext cx="7506133" cy="320000"/>
          </a:xfrm>
          <a:prstGeom prst="rect">
            <a:avLst/>
          </a:prstGeom>
          <a:noFill/>
          <a:ln>
            <a:noFill/>
          </a:ln>
        </p:spPr>
        <p:txBody>
          <a:bodyPr wrap="square" lIns="266667" tIns="0" rIns="0" bIns="0" rtlCol="0" anchor="ctr">
            <a:normAutofit/>
          </a:bodyPr>
          <a:lstStyle/>
          <a:p>
            <a:r>
              <a:rPr lang="en-US" sz="1400" b="1" dirty="0">
                <a:solidFill>
                  <a:srgbClr val="003893"/>
                </a:solidFill>
                <a:latin typeface="Calibri"/>
                <a:ea typeface="Calibri"/>
                <a:cs typeface="Calibri"/>
              </a:rPr>
              <a:t>AV Action</a:t>
            </a:r>
          </a:p>
        </p:txBody>
      </p:sp>
      <p:sp>
        <p:nvSpPr>
          <p:cNvPr id="120" name="RowBg0"/>
          <p:cNvSpPr/>
          <p:nvPr/>
        </p:nvSpPr>
        <p:spPr>
          <a:xfrm>
            <a:off x="691794" y="5593951"/>
            <a:ext cx="10972800" cy="306667"/>
          </a:xfrm>
          <a:prstGeom prst="rect">
            <a:avLst/>
          </a:prstGeom>
          <a:solidFill>
            <a:srgbClr val="F5F8FF"/>
          </a:solidFill>
          <a:ln w="6350">
            <a:solidFill>
              <a:srgbClr val="EEEEEE"/>
            </a:solidFill>
          </a:ln>
        </p:spPr>
      </p:sp>
      <p:sp>
        <p:nvSpPr>
          <p:cNvPr id="121" name="R0C1"/>
          <p:cNvSpPr>
            <a:spLocks noGrp="1"/>
          </p:cNvSpPr>
          <p:nvPr/>
        </p:nvSpPr>
        <p:spPr>
          <a:xfrm>
            <a:off x="691794" y="5593951"/>
            <a:ext cx="1466667" cy="306667"/>
          </a:xfrm>
          <a:prstGeom prst="rect">
            <a:avLst/>
          </a:prstGeom>
          <a:noFill/>
          <a:ln>
            <a:noFill/>
          </a:ln>
        </p:spPr>
        <p:txBody>
          <a:bodyPr wrap="square" lIns="0" tIns="0" rIns="0" bIns="0" rtlCol="0" anchor="ctr">
            <a:normAutofit/>
          </a:bodyPr>
          <a:lstStyle/>
          <a:p>
            <a:pPr algn="ctr"/>
            <a:r>
              <a:rPr lang="en-US" sz="1467" b="1" dirty="0">
                <a:solidFill>
                  <a:srgbClr val="003893"/>
                </a:solidFill>
                <a:latin typeface="Calibri"/>
                <a:ea typeface="Calibri"/>
                <a:cs typeface="Calibri"/>
              </a:rPr>
              <a:t>+5 s</a:t>
            </a:r>
          </a:p>
        </p:txBody>
      </p:sp>
      <p:sp>
        <p:nvSpPr>
          <p:cNvPr id="122" name="R0C2"/>
          <p:cNvSpPr>
            <a:spLocks noGrp="1"/>
          </p:cNvSpPr>
          <p:nvPr/>
        </p:nvSpPr>
        <p:spPr>
          <a:xfrm>
            <a:off x="2158461" y="5593951"/>
            <a:ext cx="2000000" cy="306667"/>
          </a:xfrm>
          <a:prstGeom prst="rect">
            <a:avLst/>
          </a:prstGeom>
          <a:noFill/>
          <a:ln>
            <a:noFill/>
          </a:ln>
        </p:spPr>
        <p:txBody>
          <a:bodyPr wrap="square" lIns="0" tIns="0" rIns="0" bIns="0" rtlCol="0" anchor="ctr">
            <a:normAutofit/>
          </a:bodyPr>
          <a:lstStyle/>
          <a:p>
            <a:pPr algn="ctr"/>
            <a:r>
              <a:rPr lang="en-US" sz="1467" b="1" dirty="0">
                <a:solidFill>
                  <a:srgbClr val="C62828"/>
                </a:solidFill>
                <a:latin typeface="Calibri"/>
                <a:ea typeface="Calibri"/>
                <a:cs typeface="Calibri"/>
              </a:rPr>
              <a:t>83 m</a:t>
            </a:r>
          </a:p>
        </p:txBody>
      </p:sp>
      <p:sp>
        <p:nvSpPr>
          <p:cNvPr id="123" name="R0C3"/>
          <p:cNvSpPr>
            <a:spLocks noGrp="1"/>
          </p:cNvSpPr>
          <p:nvPr/>
        </p:nvSpPr>
        <p:spPr>
          <a:xfrm>
            <a:off x="4158461" y="5593951"/>
            <a:ext cx="7506133" cy="306667"/>
          </a:xfrm>
          <a:prstGeom prst="rect">
            <a:avLst/>
          </a:prstGeom>
          <a:noFill/>
          <a:ln>
            <a:noFill/>
          </a:ln>
        </p:spPr>
        <p:txBody>
          <a:bodyPr wrap="square" lIns="266667" tIns="0" rIns="0" bIns="0" rtlCol="0" anchor="ctr">
            <a:normAutofit/>
          </a:bodyPr>
          <a:lstStyle/>
          <a:p>
            <a:r>
              <a:rPr lang="en-US" sz="1400" dirty="0">
                <a:solidFill>
                  <a:srgbClr val="333333"/>
                </a:solidFill>
                <a:latin typeface="Calibri"/>
                <a:ea typeface="Calibri"/>
                <a:cs typeface="Calibri"/>
              </a:rPr>
              <a:t>Tighten IMU fusion · slow down</a:t>
            </a:r>
          </a:p>
        </p:txBody>
      </p:sp>
      <p:sp>
        <p:nvSpPr>
          <p:cNvPr id="124" name="RowBg1"/>
          <p:cNvSpPr/>
          <p:nvPr/>
        </p:nvSpPr>
        <p:spPr>
          <a:xfrm>
            <a:off x="691794" y="5900618"/>
            <a:ext cx="10972800" cy="306667"/>
          </a:xfrm>
          <a:prstGeom prst="rect">
            <a:avLst/>
          </a:prstGeom>
          <a:solidFill>
            <a:srgbClr val="FFFFFF"/>
          </a:solidFill>
          <a:ln w="6350">
            <a:solidFill>
              <a:srgbClr val="EEEEEE"/>
            </a:solidFill>
          </a:ln>
        </p:spPr>
      </p:sp>
      <p:sp>
        <p:nvSpPr>
          <p:cNvPr id="125" name="R1C1"/>
          <p:cNvSpPr>
            <a:spLocks noGrp="1"/>
          </p:cNvSpPr>
          <p:nvPr/>
        </p:nvSpPr>
        <p:spPr>
          <a:xfrm>
            <a:off x="691794" y="5900618"/>
            <a:ext cx="1466667" cy="306667"/>
          </a:xfrm>
          <a:prstGeom prst="rect">
            <a:avLst/>
          </a:prstGeom>
          <a:noFill/>
          <a:ln>
            <a:noFill/>
          </a:ln>
        </p:spPr>
        <p:txBody>
          <a:bodyPr wrap="square" lIns="0" tIns="0" rIns="0" bIns="0" rtlCol="0" anchor="ctr">
            <a:normAutofit/>
          </a:bodyPr>
          <a:lstStyle/>
          <a:p>
            <a:pPr algn="ctr"/>
            <a:r>
              <a:rPr lang="en-US" sz="1467" b="1" dirty="0">
                <a:solidFill>
                  <a:srgbClr val="003893"/>
                </a:solidFill>
                <a:latin typeface="Calibri"/>
                <a:ea typeface="Calibri"/>
                <a:cs typeface="Calibri"/>
              </a:rPr>
              <a:t>+15 s</a:t>
            </a:r>
          </a:p>
        </p:txBody>
      </p:sp>
      <p:sp>
        <p:nvSpPr>
          <p:cNvPr id="126" name="R1C2"/>
          <p:cNvSpPr>
            <a:spLocks noGrp="1"/>
          </p:cNvSpPr>
          <p:nvPr/>
        </p:nvSpPr>
        <p:spPr>
          <a:xfrm>
            <a:off x="2158461" y="5900618"/>
            <a:ext cx="2000000" cy="306667"/>
          </a:xfrm>
          <a:prstGeom prst="rect">
            <a:avLst/>
          </a:prstGeom>
          <a:noFill/>
          <a:ln>
            <a:noFill/>
          </a:ln>
        </p:spPr>
        <p:txBody>
          <a:bodyPr wrap="square" lIns="0" tIns="0" rIns="0" bIns="0" rtlCol="0" anchor="ctr">
            <a:normAutofit/>
          </a:bodyPr>
          <a:lstStyle/>
          <a:p>
            <a:pPr algn="ctr"/>
            <a:r>
              <a:rPr lang="en-US" sz="1467" b="1" dirty="0">
                <a:solidFill>
                  <a:srgbClr val="C62828"/>
                </a:solidFill>
                <a:latin typeface="Calibri"/>
                <a:ea typeface="Calibri"/>
                <a:cs typeface="Calibri"/>
              </a:rPr>
              <a:t>250 m</a:t>
            </a:r>
          </a:p>
        </p:txBody>
      </p:sp>
      <p:sp>
        <p:nvSpPr>
          <p:cNvPr id="127" name="R1C3"/>
          <p:cNvSpPr>
            <a:spLocks noGrp="1"/>
          </p:cNvSpPr>
          <p:nvPr/>
        </p:nvSpPr>
        <p:spPr>
          <a:xfrm>
            <a:off x="4158461" y="5900618"/>
            <a:ext cx="7506133" cy="306667"/>
          </a:xfrm>
          <a:prstGeom prst="rect">
            <a:avLst/>
          </a:prstGeom>
          <a:noFill/>
          <a:ln>
            <a:noFill/>
          </a:ln>
        </p:spPr>
        <p:txBody>
          <a:bodyPr wrap="square" lIns="266667" tIns="0" rIns="0" bIns="0" rtlCol="0" anchor="ctr">
            <a:normAutofit/>
          </a:bodyPr>
          <a:lstStyle/>
          <a:p>
            <a:r>
              <a:rPr lang="en-US" sz="1400" dirty="0">
                <a:solidFill>
                  <a:srgbClr val="333333"/>
                </a:solidFill>
                <a:latin typeface="Calibri"/>
                <a:ea typeface="Calibri"/>
                <a:cs typeface="Calibri"/>
              </a:rPr>
              <a:t>Pre-engage dead-reckoning · adjust speed</a:t>
            </a:r>
          </a:p>
        </p:txBody>
      </p:sp>
      <p:sp>
        <p:nvSpPr>
          <p:cNvPr id="128" name="RowBg2"/>
          <p:cNvSpPr/>
          <p:nvPr/>
        </p:nvSpPr>
        <p:spPr>
          <a:xfrm>
            <a:off x="691794" y="6207285"/>
            <a:ext cx="10972800" cy="306667"/>
          </a:xfrm>
          <a:prstGeom prst="rect">
            <a:avLst/>
          </a:prstGeom>
          <a:solidFill>
            <a:srgbClr val="F5F8FF"/>
          </a:solidFill>
          <a:ln w="6350">
            <a:solidFill>
              <a:srgbClr val="EEEEEE"/>
            </a:solidFill>
          </a:ln>
        </p:spPr>
      </p:sp>
      <p:sp>
        <p:nvSpPr>
          <p:cNvPr id="129" name="R2C1"/>
          <p:cNvSpPr>
            <a:spLocks noGrp="1"/>
          </p:cNvSpPr>
          <p:nvPr/>
        </p:nvSpPr>
        <p:spPr>
          <a:xfrm>
            <a:off x="691794" y="6207285"/>
            <a:ext cx="1466667" cy="306667"/>
          </a:xfrm>
          <a:prstGeom prst="rect">
            <a:avLst/>
          </a:prstGeom>
          <a:noFill/>
          <a:ln>
            <a:noFill/>
          </a:ln>
        </p:spPr>
        <p:txBody>
          <a:bodyPr wrap="square" lIns="0" tIns="0" rIns="0" bIns="0" rtlCol="0" anchor="ctr">
            <a:normAutofit/>
          </a:bodyPr>
          <a:lstStyle/>
          <a:p>
            <a:pPr algn="ctr"/>
            <a:r>
              <a:rPr lang="en-US" sz="1467" b="1" dirty="0">
                <a:solidFill>
                  <a:srgbClr val="003893"/>
                </a:solidFill>
                <a:latin typeface="Calibri"/>
                <a:ea typeface="Calibri"/>
                <a:cs typeface="Calibri"/>
              </a:rPr>
              <a:t>+30 s</a:t>
            </a:r>
          </a:p>
        </p:txBody>
      </p:sp>
      <p:sp>
        <p:nvSpPr>
          <p:cNvPr id="130" name="R2C2"/>
          <p:cNvSpPr>
            <a:spLocks noGrp="1"/>
          </p:cNvSpPr>
          <p:nvPr/>
        </p:nvSpPr>
        <p:spPr>
          <a:xfrm>
            <a:off x="2158461" y="6207285"/>
            <a:ext cx="2000000" cy="306667"/>
          </a:xfrm>
          <a:prstGeom prst="rect">
            <a:avLst/>
          </a:prstGeom>
          <a:noFill/>
          <a:ln>
            <a:noFill/>
          </a:ln>
        </p:spPr>
        <p:txBody>
          <a:bodyPr wrap="square" lIns="0" tIns="0" rIns="0" bIns="0" rtlCol="0" anchor="ctr">
            <a:normAutofit/>
          </a:bodyPr>
          <a:lstStyle/>
          <a:p>
            <a:pPr algn="ctr"/>
            <a:r>
              <a:rPr lang="en-US" sz="1467" b="1" dirty="0">
                <a:solidFill>
                  <a:srgbClr val="C62828"/>
                </a:solidFill>
                <a:latin typeface="Calibri"/>
                <a:ea typeface="Calibri"/>
                <a:cs typeface="Calibri"/>
              </a:rPr>
              <a:t>500 m</a:t>
            </a:r>
          </a:p>
        </p:txBody>
      </p:sp>
      <p:sp>
        <p:nvSpPr>
          <p:cNvPr id="131" name="R2C3"/>
          <p:cNvSpPr>
            <a:spLocks noGrp="1"/>
          </p:cNvSpPr>
          <p:nvPr/>
        </p:nvSpPr>
        <p:spPr>
          <a:xfrm>
            <a:off x="4158461" y="6207285"/>
            <a:ext cx="7506133" cy="306667"/>
          </a:xfrm>
          <a:prstGeom prst="rect">
            <a:avLst/>
          </a:prstGeom>
          <a:noFill/>
          <a:ln>
            <a:noFill/>
          </a:ln>
        </p:spPr>
        <p:txBody>
          <a:bodyPr wrap="square" lIns="266667" tIns="0" rIns="0" bIns="0" rtlCol="0" anchor="ctr">
            <a:normAutofit/>
          </a:bodyPr>
          <a:lstStyle/>
          <a:p>
            <a:r>
              <a:rPr lang="en-US" sz="1400" dirty="0">
                <a:solidFill>
                  <a:srgbClr val="333333"/>
                </a:solidFill>
                <a:latin typeface="Calibri"/>
                <a:ea typeface="Calibri"/>
                <a:cs typeface="Calibri"/>
              </a:rPr>
              <a:t>Re-route away from degradation zone</a:t>
            </a:r>
          </a:p>
        </p:txBody>
      </p:sp>
      <p:grpSp>
        <p:nvGrpSpPr>
          <p:cNvPr id="7" name="Group 6">
            <a:extLst>
              <a:ext uri="{FF2B5EF4-FFF2-40B4-BE49-F238E27FC236}">
                <a16:creationId xmlns:a16="http://schemas.microsoft.com/office/drawing/2014/main" xmlns="" id="{B60007CD-EDFA-F4C1-AE6F-744A862E5A4A}"/>
              </a:ext>
            </a:extLst>
          </p:cNvPr>
          <p:cNvGrpSpPr/>
          <p:nvPr/>
        </p:nvGrpSpPr>
        <p:grpSpPr>
          <a:xfrm>
            <a:off x="-95624" y="-24618"/>
            <a:ext cx="12287624" cy="767311"/>
            <a:chOff x="-71718" y="-18464"/>
            <a:chExt cx="9215718" cy="575483"/>
          </a:xfrm>
        </p:grpSpPr>
        <p:sp>
          <p:nvSpPr>
            <p:cNvPr id="9" name="Shape 1">
              <a:extLst>
                <a:ext uri="{FF2B5EF4-FFF2-40B4-BE49-F238E27FC236}">
                  <a16:creationId xmlns:a16="http://schemas.microsoft.com/office/drawing/2014/main" xmlns="" id="{3407758C-2DAB-BF49-E11D-B3D1F82E1DC8}"/>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10" name="Shape 4">
              <a:extLst>
                <a:ext uri="{FF2B5EF4-FFF2-40B4-BE49-F238E27FC236}">
                  <a16:creationId xmlns:a16="http://schemas.microsoft.com/office/drawing/2014/main" xmlns="" id="{4F87558A-751E-8471-93D8-B0402FD66BC9}"/>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11" name="Shape 5">
              <a:extLst>
                <a:ext uri="{FF2B5EF4-FFF2-40B4-BE49-F238E27FC236}">
                  <a16:creationId xmlns:a16="http://schemas.microsoft.com/office/drawing/2014/main" xmlns="" id="{FDF6E289-E263-8344-0113-57C26545F6E6}"/>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12" name="Shape 6">
              <a:extLst>
                <a:ext uri="{FF2B5EF4-FFF2-40B4-BE49-F238E27FC236}">
                  <a16:creationId xmlns:a16="http://schemas.microsoft.com/office/drawing/2014/main" xmlns="" id="{697E0A82-E7EC-E55B-F226-DB53E1316FD7}"/>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13" name="Shape 7">
              <a:extLst>
                <a:ext uri="{FF2B5EF4-FFF2-40B4-BE49-F238E27FC236}">
                  <a16:creationId xmlns:a16="http://schemas.microsoft.com/office/drawing/2014/main" xmlns="" id="{AD066CF0-7FFA-1ED6-60ED-51AC443AE339}"/>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14" name="Shape 8">
              <a:extLst>
                <a:ext uri="{FF2B5EF4-FFF2-40B4-BE49-F238E27FC236}">
                  <a16:creationId xmlns:a16="http://schemas.microsoft.com/office/drawing/2014/main" xmlns="" id="{0C434B2D-F4FB-DDA3-B093-CB01B49D6FB0}"/>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15" name="Shape 9">
              <a:extLst>
                <a:ext uri="{FF2B5EF4-FFF2-40B4-BE49-F238E27FC236}">
                  <a16:creationId xmlns:a16="http://schemas.microsoft.com/office/drawing/2014/main" xmlns="" id="{AE18E06B-2B4A-2DC9-9F7A-49941E7BAB27}"/>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16" name="Shape 10">
              <a:extLst>
                <a:ext uri="{FF2B5EF4-FFF2-40B4-BE49-F238E27FC236}">
                  <a16:creationId xmlns:a16="http://schemas.microsoft.com/office/drawing/2014/main" xmlns="" id="{01594319-4198-2DBD-F688-57E54D886C49}"/>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17" name="Shape 11">
              <a:extLst>
                <a:ext uri="{FF2B5EF4-FFF2-40B4-BE49-F238E27FC236}">
                  <a16:creationId xmlns:a16="http://schemas.microsoft.com/office/drawing/2014/main" xmlns="" id="{537CD7D3-A50D-A2EB-265F-911F9224A9E5}"/>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18" name="Shape 12">
              <a:extLst>
                <a:ext uri="{FF2B5EF4-FFF2-40B4-BE49-F238E27FC236}">
                  <a16:creationId xmlns:a16="http://schemas.microsoft.com/office/drawing/2014/main" xmlns="" id="{A43F0261-3E6E-0036-647A-6BFEAE3BF18E}"/>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19" name="Shape 13">
              <a:extLst>
                <a:ext uri="{FF2B5EF4-FFF2-40B4-BE49-F238E27FC236}">
                  <a16:creationId xmlns:a16="http://schemas.microsoft.com/office/drawing/2014/main" xmlns="" id="{B9942C48-995C-2906-B1CF-D9E953934F04}"/>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20" name="Shape 14">
              <a:extLst>
                <a:ext uri="{FF2B5EF4-FFF2-40B4-BE49-F238E27FC236}">
                  <a16:creationId xmlns:a16="http://schemas.microsoft.com/office/drawing/2014/main" xmlns="" id="{D0B32104-BFC2-20F9-B103-8602FE2B93B4}"/>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22" name="Shape 15">
              <a:extLst>
                <a:ext uri="{FF2B5EF4-FFF2-40B4-BE49-F238E27FC236}">
                  <a16:creationId xmlns:a16="http://schemas.microsoft.com/office/drawing/2014/main" xmlns="" id="{ED38DEBB-8F4E-276D-46FD-A189B54485B7}"/>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23" name="Shape 16">
              <a:extLst>
                <a:ext uri="{FF2B5EF4-FFF2-40B4-BE49-F238E27FC236}">
                  <a16:creationId xmlns:a16="http://schemas.microsoft.com/office/drawing/2014/main" xmlns="" id="{7FAFAD18-1042-0D68-1AD3-09DABD4CE6C5}"/>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24" name="Picture 23">
              <a:extLst>
                <a:ext uri="{FF2B5EF4-FFF2-40B4-BE49-F238E27FC236}">
                  <a16:creationId xmlns:a16="http://schemas.microsoft.com/office/drawing/2014/main" xmlns="" id="{D90F76EC-1277-44AB-2FEE-E1BB2E5A0EB4}"/>
                </a:ext>
              </a:extLst>
            </p:cNvPr>
            <p:cNvPicPr>
              <a:picLocks noChangeAspect="1"/>
            </p:cNvPicPr>
            <p:nvPr/>
          </p:nvPicPr>
          <p:blipFill>
            <a:blip r:embed="rId3"/>
            <a:srcRect l="20128" t="19209" r="10255" b="19209"/>
            <a:stretch/>
          </p:blipFill>
          <p:spPr>
            <a:xfrm>
              <a:off x="-71718" y="-18464"/>
              <a:ext cx="927596" cy="575483"/>
            </a:xfrm>
            <a:prstGeom prst="rect">
              <a:avLst/>
            </a:prstGeom>
          </p:spPr>
        </p:pic>
      </p:grpSp>
      <p:pic>
        <p:nvPicPr>
          <p:cNvPr id="29" name="Picture 28">
            <a:extLst>
              <a:ext uri="{FF2B5EF4-FFF2-40B4-BE49-F238E27FC236}">
                <a16:creationId xmlns:a16="http://schemas.microsoft.com/office/drawing/2014/main" xmlns="" id="{742DB0B4-3699-A86B-F3A0-942C5E757821}"/>
              </a:ext>
            </a:extLst>
          </p:cNvPr>
          <p:cNvPicPr>
            <a:picLocks noChangeAspect="1"/>
          </p:cNvPicPr>
          <p:nvPr/>
        </p:nvPicPr>
        <p:blipFill>
          <a:blip r:embed="rId4"/>
          <a:stretch>
            <a:fillRect/>
          </a:stretch>
        </p:blipFill>
        <p:spPr>
          <a:xfrm>
            <a:off x="2634594" y="783537"/>
            <a:ext cx="7087199" cy="398725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3716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2 · Data</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72"/>
            <a:ext cx="12191928" cy="6857928"/>
          </a:xfrm>
          <a:prstGeom prst="rect">
            <a:avLst/>
          </a:prstGeom>
        </p:spPr>
      </p:pic>
      <p:sp>
        <p:nvSpPr>
          <p:cNvPr id="11" name="Text 7"/>
          <p:cNvSpPr/>
          <p:nvPr/>
        </p:nvSpPr>
        <p:spPr>
          <a:xfrm>
            <a:off x="761927" y="1393179"/>
            <a:ext cx="10988117" cy="465859"/>
          </a:xfrm>
          <a:prstGeom prst="rect">
            <a:avLst/>
          </a:prstGeom>
          <a:noFill/>
          <a:ln/>
        </p:spPr>
        <p:txBody>
          <a:bodyPr wrap="square" lIns="16933" tIns="16933" rIns="16933" bIns="16933" rtlCol="0" anchor="t">
            <a:normAutofit fontScale="92500" lnSpcReduction="20000"/>
          </a:bodyPr>
          <a:lstStyle/>
          <a:p>
            <a:pPr>
              <a:lnSpc>
                <a:spcPct val="104000"/>
              </a:lnSpc>
            </a:pPr>
            <a:r>
              <a:rPr lang="en-US" sz="3336" b="1" kern="0" spc="-33" dirty="0">
                <a:solidFill>
                  <a:srgbClr val="0A1733"/>
                </a:solidFill>
                <a:latin typeface="IBM Plex Sans" pitchFamily="34" charset="0"/>
                <a:ea typeface="IBM Plex Sans" pitchFamily="34" charset="-122"/>
                <a:cs typeface="IBM Plex Sans" pitchFamily="34" charset="-120"/>
              </a:rPr>
              <a:t>Three sources, one unified schema</a:t>
            </a:r>
            <a:endParaRPr lang="en-US" sz="3336" dirty="0"/>
          </a:p>
        </p:txBody>
      </p:sp>
      <p:sp>
        <p:nvSpPr>
          <p:cNvPr id="12" name="Shape 8"/>
          <p:cNvSpPr/>
          <p:nvPr/>
        </p:nvSpPr>
        <p:spPr>
          <a:xfrm>
            <a:off x="761928" y="2182407"/>
            <a:ext cx="6195073" cy="3555928"/>
          </a:xfrm>
          <a:prstGeom prst="roundRect">
            <a:avLst>
              <a:gd name="adj" fmla="val 2500"/>
            </a:avLst>
          </a:prstGeom>
          <a:ln/>
          <a:effectLst>
            <a:outerShdw blurRad="381000" dist="133350" dir="5400000" algn="bl" rotWithShape="0">
              <a:srgbClr val="002A6E">
                <a:alpha val="55000"/>
              </a:srgbClr>
            </a:outerShdw>
          </a:effectLst>
        </p:spPr>
      </p:sp>
      <p:sp>
        <p:nvSpPr>
          <p:cNvPr id="14" name="Text 9"/>
          <p:cNvSpPr/>
          <p:nvPr/>
        </p:nvSpPr>
        <p:spPr>
          <a:xfrm>
            <a:off x="761927" y="5839906"/>
            <a:ext cx="6380925" cy="199437"/>
          </a:xfrm>
          <a:prstGeom prst="rect">
            <a:avLst/>
          </a:prstGeom>
          <a:noFill/>
          <a:ln/>
        </p:spPr>
        <p:txBody>
          <a:bodyPr wrap="square" lIns="16933" tIns="16933" rIns="16933" bIns="16933" rtlCol="0" anchor="t">
            <a:noAutofit/>
          </a:bodyPr>
          <a:lstStyle/>
          <a:p>
            <a:r>
              <a:rPr lang="en-US" sz="1467" b="1" kern="0" spc="32" dirty="0">
                <a:solidFill>
                  <a:srgbClr val="003893"/>
                </a:solidFill>
                <a:latin typeface="IBM Plex Mono" pitchFamily="34" charset="0"/>
                <a:ea typeface="IBM Plex Mono" pitchFamily="34" charset="-122"/>
                <a:cs typeface="IBM Plex Mono" pitchFamily="34" charset="-120"/>
              </a:rPr>
              <a:t>149,662 </a:t>
            </a:r>
            <a:r>
              <a:rPr lang="en-US" sz="1467" kern="0" spc="32" dirty="0">
                <a:solidFill>
                  <a:srgbClr val="003893"/>
                </a:solidFill>
                <a:latin typeface="IBM Plex Mono" pitchFamily="34" charset="0"/>
                <a:ea typeface="IBM Plex Mono" pitchFamily="34" charset="-122"/>
                <a:cs typeface="IBM Plex Mono" pitchFamily="34" charset="-120"/>
              </a:rPr>
              <a:t>labelled epochs · one unified 3-class schema</a:t>
            </a:r>
            <a:endParaRPr lang="en-US" sz="1467" dirty="0"/>
          </a:p>
        </p:txBody>
      </p:sp>
      <p:sp>
        <p:nvSpPr>
          <p:cNvPr id="15" name="Text 10"/>
          <p:cNvSpPr/>
          <p:nvPr/>
        </p:nvSpPr>
        <p:spPr>
          <a:xfrm>
            <a:off x="7299856" y="2509525"/>
            <a:ext cx="1511227" cy="374441"/>
          </a:xfrm>
          <a:prstGeom prst="rect">
            <a:avLst/>
          </a:prstGeom>
          <a:noFill/>
          <a:ln/>
        </p:spPr>
        <p:txBody>
          <a:bodyPr wrap="square" lIns="16933" tIns="16933" rIns="16933" bIns="16933" rtlCol="0" anchor="t">
            <a:normAutofit fontScale="92500" lnSpcReduction="20000"/>
          </a:bodyPr>
          <a:lstStyle/>
          <a:p>
            <a:pPr>
              <a:lnSpc>
                <a:spcPct val="90000"/>
              </a:lnSpc>
            </a:pPr>
            <a:r>
              <a:rPr lang="en-US" sz="3100" b="1" kern="0" spc="-63" dirty="0">
                <a:solidFill>
                  <a:srgbClr val="003893"/>
                </a:solidFill>
                <a:latin typeface="IBM Plex Mono" pitchFamily="34" charset="0"/>
              </a:rPr>
              <a:t>3</a:t>
            </a:r>
            <a:endParaRPr lang="en-US" sz="3100" dirty="0"/>
          </a:p>
        </p:txBody>
      </p:sp>
      <p:sp>
        <p:nvSpPr>
          <p:cNvPr id="16" name="Text 11"/>
          <p:cNvSpPr/>
          <p:nvPr/>
        </p:nvSpPr>
        <p:spPr>
          <a:xfrm>
            <a:off x="8887208" y="2610346"/>
            <a:ext cx="1546432" cy="286188"/>
          </a:xfrm>
          <a:prstGeom prst="rect">
            <a:avLst/>
          </a:prstGeom>
          <a:noFill/>
          <a:ln/>
        </p:spPr>
        <p:txBody>
          <a:bodyPr wrap="square" lIns="0" tIns="0" rIns="0" bIns="0" rtlCol="0" anchor="t">
            <a:noAutofit/>
          </a:bodyPr>
          <a:lstStyle/>
          <a:p>
            <a:pPr>
              <a:lnSpc>
                <a:spcPct val="125000"/>
              </a:lnSpc>
            </a:pPr>
            <a:r>
              <a:rPr lang="en-US" sz="1400" dirty="0">
                <a:solidFill>
                  <a:srgbClr val="0A1733"/>
                </a:solidFill>
                <a:latin typeface="IBM Plex Sans" pitchFamily="34" charset="0"/>
                <a:ea typeface="IBM Plex Sans" pitchFamily="34" charset="-122"/>
                <a:cs typeface="IBM Plex Sans" pitchFamily="34" charset="-120"/>
              </a:rPr>
              <a:t>Cities collected</a:t>
            </a:r>
            <a:endParaRPr lang="en-US" sz="1400" dirty="0"/>
          </a:p>
        </p:txBody>
      </p:sp>
      <p:sp>
        <p:nvSpPr>
          <p:cNvPr id="17" name="Text 12"/>
          <p:cNvSpPr/>
          <p:nvPr/>
        </p:nvSpPr>
        <p:spPr>
          <a:xfrm>
            <a:off x="8887209" y="2968815"/>
            <a:ext cx="2862835" cy="91980"/>
          </a:xfrm>
          <a:prstGeom prst="rect">
            <a:avLst/>
          </a:prstGeom>
          <a:noFill/>
          <a:ln/>
        </p:spPr>
        <p:txBody>
          <a:bodyPr wrap="square" lIns="16933" tIns="16933" rIns="16933" bIns="16933" rtlCol="0" anchor="t">
            <a:noAutofit/>
          </a:bodyPr>
          <a:lstStyle/>
          <a:p>
            <a:pPr>
              <a:lnSpc>
                <a:spcPct val="125000"/>
              </a:lnSpc>
            </a:pPr>
            <a:r>
              <a:rPr lang="en-US" sz="1200" kern="0" spc="25" dirty="0">
                <a:solidFill>
                  <a:srgbClr val="5A6A86"/>
                </a:solidFill>
                <a:latin typeface="IBM Plex Mono" pitchFamily="34" charset="0"/>
                <a:ea typeface="IBM Plex Mono" pitchFamily="34" charset="-122"/>
                <a:cs typeface="IBM Plex Mono" pitchFamily="34" charset="-120"/>
              </a:rPr>
              <a:t>Beijing · Hong Kong · Tokyo </a:t>
            </a:r>
            <a:endParaRPr lang="en-US" sz="1200" dirty="0"/>
          </a:p>
        </p:txBody>
      </p:sp>
      <p:sp>
        <p:nvSpPr>
          <p:cNvPr id="18" name="Shape 13"/>
          <p:cNvSpPr/>
          <p:nvPr/>
        </p:nvSpPr>
        <p:spPr>
          <a:xfrm>
            <a:off x="7299857" y="3187751"/>
            <a:ext cx="4130073" cy="6351"/>
          </a:xfrm>
          <a:prstGeom prst="rect">
            <a:avLst/>
          </a:prstGeom>
          <a:solidFill>
            <a:srgbClr val="CDD9EA"/>
          </a:solidFill>
          <a:ln/>
        </p:spPr>
      </p:sp>
      <p:sp>
        <p:nvSpPr>
          <p:cNvPr id="19" name="Text 14"/>
          <p:cNvSpPr/>
          <p:nvPr/>
        </p:nvSpPr>
        <p:spPr>
          <a:xfrm>
            <a:off x="7299856" y="3344812"/>
            <a:ext cx="1511227" cy="379721"/>
          </a:xfrm>
          <a:prstGeom prst="rect">
            <a:avLst/>
          </a:prstGeom>
          <a:noFill/>
          <a:ln/>
        </p:spPr>
        <p:txBody>
          <a:bodyPr wrap="square" lIns="16933" tIns="16933" rIns="16933" bIns="16933" rtlCol="0" anchor="t">
            <a:normAutofit fontScale="92500" lnSpcReduction="20000"/>
          </a:bodyPr>
          <a:lstStyle/>
          <a:p>
            <a:pPr>
              <a:lnSpc>
                <a:spcPct val="90000"/>
              </a:lnSpc>
            </a:pPr>
            <a:r>
              <a:rPr lang="en-US" sz="3100" b="1" kern="0" spc="-63" dirty="0">
                <a:solidFill>
                  <a:srgbClr val="003893"/>
                </a:solidFill>
                <a:latin typeface="IBM Plex Mono" pitchFamily="34" charset="0"/>
                <a:ea typeface="IBM Plex Mono" pitchFamily="34" charset="-122"/>
                <a:cs typeface="IBM Plex Mono" pitchFamily="34" charset="-120"/>
              </a:rPr>
              <a:t>9</a:t>
            </a:r>
            <a:r>
              <a:rPr lang="en-US" sz="1700" b="1" kern="0" spc="-63" dirty="0">
                <a:solidFill>
                  <a:srgbClr val="003893"/>
                </a:solidFill>
                <a:latin typeface="IBM Plex Mono" pitchFamily="34" charset="0"/>
                <a:ea typeface="IBM Plex Mono" pitchFamily="34" charset="-122"/>
                <a:cs typeface="IBM Plex Mono" pitchFamily="34" charset="-120"/>
              </a:rPr>
              <a:t>+</a:t>
            </a:r>
            <a:endParaRPr lang="en-US" sz="3100" dirty="0"/>
          </a:p>
        </p:txBody>
      </p:sp>
      <p:sp>
        <p:nvSpPr>
          <p:cNvPr id="20" name="Text 15"/>
          <p:cNvSpPr/>
          <p:nvPr/>
        </p:nvSpPr>
        <p:spPr>
          <a:xfrm>
            <a:off x="8887209" y="3471813"/>
            <a:ext cx="1462444" cy="265288"/>
          </a:xfrm>
          <a:prstGeom prst="rect">
            <a:avLst/>
          </a:prstGeom>
          <a:noFill/>
          <a:ln/>
        </p:spPr>
        <p:txBody>
          <a:bodyPr wrap="square" lIns="0" tIns="0" rIns="0" bIns="0" rtlCol="0" anchor="t">
            <a:noAutofit/>
          </a:bodyPr>
          <a:lstStyle/>
          <a:p>
            <a:pPr>
              <a:lnSpc>
                <a:spcPct val="125000"/>
              </a:lnSpc>
            </a:pPr>
            <a:r>
              <a:rPr lang="en-US" sz="1400" dirty="0">
                <a:solidFill>
                  <a:srgbClr val="0A1733"/>
                </a:solidFill>
                <a:latin typeface="IBM Plex Sans" pitchFamily="34" charset="0"/>
                <a:ea typeface="IBM Plex Sans" pitchFamily="34" charset="-122"/>
                <a:cs typeface="IBM Plex Sans" pitchFamily="34" charset="-120"/>
              </a:rPr>
              <a:t>Receiver types</a:t>
            </a:r>
            <a:endParaRPr lang="en-US" sz="1400" dirty="0"/>
          </a:p>
        </p:txBody>
      </p:sp>
      <p:sp>
        <p:nvSpPr>
          <p:cNvPr id="21" name="Text 16"/>
          <p:cNvSpPr/>
          <p:nvPr/>
        </p:nvSpPr>
        <p:spPr>
          <a:xfrm>
            <a:off x="8887210" y="3711314"/>
            <a:ext cx="2952577" cy="237463"/>
          </a:xfrm>
          <a:prstGeom prst="rect">
            <a:avLst/>
          </a:prstGeom>
          <a:noFill/>
          <a:ln/>
        </p:spPr>
        <p:txBody>
          <a:bodyPr wrap="square" lIns="16933" tIns="16933" rIns="16933" bIns="16933" rtlCol="0" anchor="t">
            <a:noAutofit/>
          </a:bodyPr>
          <a:lstStyle/>
          <a:p>
            <a:pPr>
              <a:lnSpc>
                <a:spcPct val="125000"/>
              </a:lnSpc>
            </a:pPr>
            <a:r>
              <a:rPr lang="en-US" sz="1200" kern="0" spc="25" dirty="0">
                <a:solidFill>
                  <a:srgbClr val="5A6A86"/>
                </a:solidFill>
                <a:latin typeface="IBM Plex Mono" pitchFamily="34" charset="0"/>
                <a:ea typeface="IBM Plex Mono" pitchFamily="34" charset="-122"/>
                <a:cs typeface="IBM Plex Mono" pitchFamily="34" charset="-120"/>
              </a:rPr>
              <a:t>survey-grade → consumer phone</a:t>
            </a:r>
            <a:endParaRPr lang="en-US" sz="1200" dirty="0"/>
          </a:p>
        </p:txBody>
      </p:sp>
      <p:sp>
        <p:nvSpPr>
          <p:cNvPr id="22" name="Shape 17"/>
          <p:cNvSpPr/>
          <p:nvPr/>
        </p:nvSpPr>
        <p:spPr>
          <a:xfrm>
            <a:off x="7299857" y="4028318"/>
            <a:ext cx="4130073" cy="6351"/>
          </a:xfrm>
          <a:prstGeom prst="rect">
            <a:avLst/>
          </a:prstGeom>
          <a:solidFill>
            <a:srgbClr val="CDD9EA"/>
          </a:solidFill>
          <a:ln/>
        </p:spPr>
      </p:sp>
      <p:sp>
        <p:nvSpPr>
          <p:cNvPr id="23" name="Text 18"/>
          <p:cNvSpPr/>
          <p:nvPr/>
        </p:nvSpPr>
        <p:spPr>
          <a:xfrm>
            <a:off x="7299856" y="4185377"/>
            <a:ext cx="1511227" cy="379721"/>
          </a:xfrm>
          <a:prstGeom prst="rect">
            <a:avLst/>
          </a:prstGeom>
          <a:noFill/>
          <a:ln/>
        </p:spPr>
        <p:txBody>
          <a:bodyPr wrap="square" lIns="16933" tIns="16933" rIns="16933" bIns="16933" rtlCol="0" anchor="t">
            <a:normAutofit fontScale="92500" lnSpcReduction="20000"/>
          </a:bodyPr>
          <a:lstStyle/>
          <a:p>
            <a:pPr>
              <a:lnSpc>
                <a:spcPct val="90000"/>
              </a:lnSpc>
            </a:pPr>
            <a:r>
              <a:rPr lang="en-US" sz="3100" b="1" kern="0" spc="-63" dirty="0">
                <a:solidFill>
                  <a:srgbClr val="003893"/>
                </a:solidFill>
                <a:latin typeface="IBM Plex Mono" pitchFamily="34" charset="0"/>
                <a:ea typeface="IBM Plex Mono" pitchFamily="34" charset="-122"/>
                <a:cs typeface="IBM Plex Mono" pitchFamily="34" charset="-120"/>
              </a:rPr>
              <a:t>5</a:t>
            </a:r>
            <a:endParaRPr lang="en-US" sz="3100" dirty="0"/>
          </a:p>
        </p:txBody>
      </p:sp>
      <p:sp>
        <p:nvSpPr>
          <p:cNvPr id="24" name="Text 19"/>
          <p:cNvSpPr/>
          <p:nvPr/>
        </p:nvSpPr>
        <p:spPr>
          <a:xfrm>
            <a:off x="8887209" y="4282391"/>
            <a:ext cx="2410711" cy="295276"/>
          </a:xfrm>
          <a:prstGeom prst="rect">
            <a:avLst/>
          </a:prstGeom>
          <a:noFill/>
          <a:ln/>
        </p:spPr>
        <p:txBody>
          <a:bodyPr wrap="square" lIns="0" tIns="0" rIns="0" bIns="0" rtlCol="0" anchor="t">
            <a:noAutofit/>
          </a:bodyPr>
          <a:lstStyle/>
          <a:p>
            <a:pPr>
              <a:lnSpc>
                <a:spcPct val="125000"/>
              </a:lnSpc>
            </a:pPr>
            <a:r>
              <a:rPr lang="en-US" sz="1400" dirty="0">
                <a:solidFill>
                  <a:srgbClr val="0A1733"/>
                </a:solidFill>
                <a:latin typeface="IBM Plex Sans" pitchFamily="34" charset="0"/>
                <a:ea typeface="IBM Plex Sans" pitchFamily="34" charset="-122"/>
                <a:cs typeface="IBM Plex Sans" pitchFamily="34" charset="-120"/>
              </a:rPr>
              <a:t>Degradation scenarios A–E</a:t>
            </a:r>
            <a:endParaRPr lang="en-US" sz="1400" dirty="0"/>
          </a:p>
        </p:txBody>
      </p:sp>
      <p:sp>
        <p:nvSpPr>
          <p:cNvPr id="25" name="Text 20"/>
          <p:cNvSpPr/>
          <p:nvPr/>
        </p:nvSpPr>
        <p:spPr>
          <a:xfrm>
            <a:off x="8887210" y="4558005"/>
            <a:ext cx="2749377" cy="482023"/>
          </a:xfrm>
          <a:prstGeom prst="rect">
            <a:avLst/>
          </a:prstGeom>
          <a:noFill/>
          <a:ln/>
        </p:spPr>
        <p:txBody>
          <a:bodyPr wrap="square" lIns="16933" tIns="16933" rIns="16933" bIns="16933" rtlCol="0" anchor="t">
            <a:noAutofit/>
          </a:bodyPr>
          <a:lstStyle/>
          <a:p>
            <a:pPr>
              <a:lnSpc>
                <a:spcPct val="125000"/>
              </a:lnSpc>
            </a:pPr>
            <a:r>
              <a:rPr lang="en-US" sz="1200" kern="0" spc="25" dirty="0">
                <a:solidFill>
                  <a:srgbClr val="5A6A86"/>
                </a:solidFill>
                <a:latin typeface="IBM Plex Mono" pitchFamily="34" charset="0"/>
                <a:ea typeface="IBM Plex Mono" pitchFamily="34" charset="-122"/>
                <a:cs typeface="IBM Plex Mono" pitchFamily="34" charset="-120"/>
              </a:rPr>
              <a:t>blockage · canyon · partial · open · approaching</a:t>
            </a:r>
            <a:endParaRPr lang="en-US" sz="1200" dirty="0"/>
          </a:p>
        </p:txBody>
      </p:sp>
      <p:sp>
        <p:nvSpPr>
          <p:cNvPr id="26" name="Shape 21"/>
          <p:cNvSpPr/>
          <p:nvPr/>
        </p:nvSpPr>
        <p:spPr>
          <a:xfrm>
            <a:off x="7299857" y="5003822"/>
            <a:ext cx="4130073" cy="6351"/>
          </a:xfrm>
          <a:prstGeom prst="rect">
            <a:avLst/>
          </a:prstGeom>
          <a:solidFill>
            <a:srgbClr val="CDD9EA"/>
          </a:solidFill>
          <a:ln/>
        </p:spPr>
      </p:sp>
      <p:sp>
        <p:nvSpPr>
          <p:cNvPr id="27" name="Text 22"/>
          <p:cNvSpPr/>
          <p:nvPr/>
        </p:nvSpPr>
        <p:spPr>
          <a:xfrm>
            <a:off x="7299856" y="5160882"/>
            <a:ext cx="1511227" cy="379721"/>
          </a:xfrm>
          <a:prstGeom prst="rect">
            <a:avLst/>
          </a:prstGeom>
          <a:noFill/>
          <a:ln/>
        </p:spPr>
        <p:txBody>
          <a:bodyPr wrap="square" lIns="16933" tIns="16933" rIns="16933" bIns="16933" rtlCol="0" anchor="t">
            <a:normAutofit fontScale="92500" lnSpcReduction="20000"/>
          </a:bodyPr>
          <a:lstStyle/>
          <a:p>
            <a:pPr>
              <a:lnSpc>
                <a:spcPct val="90000"/>
              </a:lnSpc>
            </a:pPr>
            <a:r>
              <a:rPr lang="en-US" sz="3100" b="1" kern="0" spc="-63" dirty="0">
                <a:solidFill>
                  <a:srgbClr val="003893"/>
                </a:solidFill>
                <a:latin typeface="IBM Plex Mono" pitchFamily="34" charset="0"/>
                <a:ea typeface="IBM Plex Mono" pitchFamily="34" charset="-122"/>
                <a:cs typeface="IBM Plex Mono" pitchFamily="34" charset="-120"/>
              </a:rPr>
              <a:t>1</a:t>
            </a:r>
            <a:r>
              <a:rPr lang="en-US" sz="1700" b="1" kern="0" spc="-63" dirty="0">
                <a:solidFill>
                  <a:srgbClr val="003893"/>
                </a:solidFill>
                <a:latin typeface="IBM Plex Mono" pitchFamily="34" charset="0"/>
                <a:ea typeface="IBM Plex Mono" pitchFamily="34" charset="-122"/>
                <a:cs typeface="IBM Plex Mono" pitchFamily="34" charset="-120"/>
              </a:rPr>
              <a:t>s</a:t>
            </a:r>
            <a:endParaRPr lang="en-US" sz="3100" dirty="0"/>
          </a:p>
        </p:txBody>
      </p:sp>
      <p:sp>
        <p:nvSpPr>
          <p:cNvPr id="28" name="Text 23"/>
          <p:cNvSpPr/>
          <p:nvPr/>
        </p:nvSpPr>
        <p:spPr>
          <a:xfrm>
            <a:off x="8887210" y="5216573"/>
            <a:ext cx="2112413" cy="336599"/>
          </a:xfrm>
          <a:prstGeom prst="rect">
            <a:avLst/>
          </a:prstGeom>
          <a:noFill/>
          <a:ln/>
        </p:spPr>
        <p:txBody>
          <a:bodyPr wrap="square" lIns="0" tIns="0" rIns="0" bIns="0" rtlCol="0" anchor="t">
            <a:noAutofit/>
          </a:bodyPr>
          <a:lstStyle/>
          <a:p>
            <a:pPr>
              <a:lnSpc>
                <a:spcPct val="125000"/>
              </a:lnSpc>
            </a:pPr>
            <a:r>
              <a:rPr lang="en-US" sz="1400" dirty="0">
                <a:solidFill>
                  <a:srgbClr val="0A1733"/>
                </a:solidFill>
                <a:latin typeface="IBM Plex Sans" pitchFamily="34" charset="0"/>
                <a:ea typeface="IBM Plex Sans" pitchFamily="34" charset="-122"/>
                <a:cs typeface="IBM Plex Sans" pitchFamily="34" charset="-120"/>
              </a:rPr>
              <a:t>Sampling cadence</a:t>
            </a:r>
            <a:endParaRPr lang="en-US" sz="1400" dirty="0"/>
          </a:p>
        </p:txBody>
      </p:sp>
      <p:sp>
        <p:nvSpPr>
          <p:cNvPr id="29" name="Text 24"/>
          <p:cNvSpPr/>
          <p:nvPr/>
        </p:nvSpPr>
        <p:spPr>
          <a:xfrm>
            <a:off x="8887210" y="5490327"/>
            <a:ext cx="2221057" cy="310725"/>
          </a:xfrm>
          <a:prstGeom prst="rect">
            <a:avLst/>
          </a:prstGeom>
          <a:noFill/>
          <a:ln/>
        </p:spPr>
        <p:txBody>
          <a:bodyPr wrap="square" lIns="16933" tIns="16933" rIns="16933" bIns="16933" rtlCol="0" anchor="t">
            <a:noAutofit/>
          </a:bodyPr>
          <a:lstStyle/>
          <a:p>
            <a:pPr>
              <a:lnSpc>
                <a:spcPct val="125000"/>
              </a:lnSpc>
            </a:pPr>
            <a:r>
              <a:rPr lang="en-US" sz="1200" kern="0" spc="25" dirty="0">
                <a:solidFill>
                  <a:srgbClr val="5A6A86"/>
                </a:solidFill>
                <a:latin typeface="IBM Plex Mono" pitchFamily="34" charset="0"/>
                <a:ea typeface="IBM Plex Mono" pitchFamily="34" charset="-122"/>
                <a:cs typeface="IBM Plex Mono" pitchFamily="34" charset="-120"/>
              </a:rPr>
              <a:t>RINEX + NMEA per epoch</a:t>
            </a:r>
            <a:endParaRPr lang="en-US" sz="1200" dirty="0"/>
          </a:p>
        </p:txBody>
      </p:sp>
      <p:sp>
        <p:nvSpPr>
          <p:cNvPr id="30" name="Shape 25"/>
          <p:cNvSpPr/>
          <p:nvPr/>
        </p:nvSpPr>
        <p:spPr>
          <a:xfrm>
            <a:off x="0" y="6489643"/>
            <a:ext cx="12191928" cy="368285"/>
          </a:xfrm>
          <a:prstGeom prst="rect">
            <a:avLst/>
          </a:prstGeom>
          <a:solidFill>
            <a:srgbClr val="003893"/>
          </a:solidFill>
          <a:ln/>
        </p:spPr>
      </p:sp>
      <p:sp>
        <p:nvSpPr>
          <p:cNvPr id="31" name="Text 26"/>
          <p:cNvSpPr/>
          <p:nvPr/>
        </p:nvSpPr>
        <p:spPr>
          <a:xfrm>
            <a:off x="761927" y="6607896"/>
            <a:ext cx="1403629" cy="157104"/>
          </a:xfrm>
          <a:prstGeom prst="rect">
            <a:avLst/>
          </a:prstGeom>
          <a:noFill/>
          <a:ln/>
        </p:spPr>
        <p:txBody>
          <a:bodyPr wrap="square" lIns="16933" tIns="16933" rIns="16933" bIns="16933" rtlCol="0" anchor="t">
            <a:normAutofit/>
          </a:bodyPr>
          <a:lstStyle/>
          <a:p>
            <a:r>
              <a:rPr lang="en-US" sz="800" kern="0" spc="112" dirty="0">
                <a:solidFill>
                  <a:srgbClr val="BFE6FB"/>
                </a:solidFill>
                <a:latin typeface="IBM Plex Mono" pitchFamily="34" charset="0"/>
                <a:ea typeface="IBM Plex Mono" pitchFamily="34" charset="-122"/>
                <a:cs typeface="IBM Plex Mono" pitchFamily="34" charset="-120"/>
              </a:rPr>
              <a:t>BEIHANG UNIVERSITY</a:t>
            </a:r>
            <a:endParaRPr lang="en-US" sz="800" dirty="0"/>
          </a:p>
        </p:txBody>
      </p:sp>
      <p:sp>
        <p:nvSpPr>
          <p:cNvPr id="32" name="Text 27"/>
          <p:cNvSpPr/>
          <p:nvPr/>
        </p:nvSpPr>
        <p:spPr>
          <a:xfrm>
            <a:off x="9851689" y="6607896"/>
            <a:ext cx="1629113" cy="157104"/>
          </a:xfrm>
          <a:prstGeom prst="rect">
            <a:avLst/>
          </a:prstGeom>
          <a:noFill/>
          <a:ln/>
        </p:spPr>
        <p:txBody>
          <a:bodyPr wrap="square" lIns="16933" tIns="16933" rIns="16933" bIns="16933" rtlCol="0" anchor="t">
            <a:normAutofit/>
          </a:bodyPr>
          <a:lstStyle/>
          <a:p>
            <a:r>
              <a:rPr lang="en-US" sz="800" kern="0" spc="112" dirty="0">
                <a:solidFill>
                  <a:srgbClr val="FFFFFF"/>
                </a:solidFill>
                <a:latin typeface="IBM Plex Mono" pitchFamily="34" charset="0"/>
                <a:ea typeface="IBM Plex Mono" pitchFamily="34" charset="-122"/>
                <a:cs typeface="IBM Plex Mono" pitchFamily="34" charset="-120"/>
              </a:rPr>
              <a:t>SENTINEL-GNSS · PILOT</a:t>
            </a:r>
            <a:endParaRPr lang="en-US" sz="800" dirty="0"/>
          </a:p>
        </p:txBody>
      </p:sp>
      <p:grpSp>
        <p:nvGrpSpPr>
          <p:cNvPr id="34" name="Group 33">
            <a:extLst>
              <a:ext uri="{FF2B5EF4-FFF2-40B4-BE49-F238E27FC236}">
                <a16:creationId xmlns:a16="http://schemas.microsoft.com/office/drawing/2014/main" xmlns="" id="{A571C799-BD83-0553-C789-2F6AD278BC9F}"/>
              </a:ext>
            </a:extLst>
          </p:cNvPr>
          <p:cNvGrpSpPr/>
          <p:nvPr/>
        </p:nvGrpSpPr>
        <p:grpSpPr>
          <a:xfrm>
            <a:off x="-95624" y="-24618"/>
            <a:ext cx="12287624" cy="767311"/>
            <a:chOff x="-71718" y="-18464"/>
            <a:chExt cx="9215718" cy="575483"/>
          </a:xfrm>
        </p:grpSpPr>
        <p:sp>
          <p:nvSpPr>
            <p:cNvPr id="35" name="Shape 0">
              <a:extLst>
                <a:ext uri="{FF2B5EF4-FFF2-40B4-BE49-F238E27FC236}">
                  <a16:creationId xmlns:a16="http://schemas.microsoft.com/office/drawing/2014/main" xmlns="" id="{6CE38917-AB98-BDC4-77F8-DD2A9D564AEA}"/>
                </a:ext>
              </a:extLst>
            </p:cNvPr>
            <p:cNvSpPr/>
            <p:nvPr/>
          </p:nvSpPr>
          <p:spPr>
            <a:xfrm>
              <a:off x="0" y="1451"/>
              <a:ext cx="9144000" cy="555306"/>
            </a:xfrm>
            <a:prstGeom prst="rect">
              <a:avLst/>
            </a:prstGeom>
            <a:solidFill>
              <a:srgbClr val="003893"/>
            </a:solidFill>
            <a:ln w="12700">
              <a:solidFill>
                <a:srgbClr val="003893"/>
              </a:solidFill>
              <a:prstDash val="solid"/>
            </a:ln>
          </p:spPr>
        </p:sp>
        <p:sp>
          <p:nvSpPr>
            <p:cNvPr id="36" name="Shape 1">
              <a:extLst>
                <a:ext uri="{FF2B5EF4-FFF2-40B4-BE49-F238E27FC236}">
                  <a16:creationId xmlns:a16="http://schemas.microsoft.com/office/drawing/2014/main" xmlns="" id="{B94ABE1A-90E2-690E-3C7C-DE5083632610}"/>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37" name="Shape 4">
              <a:extLst>
                <a:ext uri="{FF2B5EF4-FFF2-40B4-BE49-F238E27FC236}">
                  <a16:creationId xmlns:a16="http://schemas.microsoft.com/office/drawing/2014/main" xmlns="" id="{8C25F906-D66A-A74B-2C37-382EAA0980B6}"/>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38" name="Shape 5">
              <a:extLst>
                <a:ext uri="{FF2B5EF4-FFF2-40B4-BE49-F238E27FC236}">
                  <a16:creationId xmlns:a16="http://schemas.microsoft.com/office/drawing/2014/main" xmlns="" id="{E9AEE26E-87E7-AC1B-D772-AA4B9D3A604B}"/>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39" name="Shape 6">
              <a:extLst>
                <a:ext uri="{FF2B5EF4-FFF2-40B4-BE49-F238E27FC236}">
                  <a16:creationId xmlns:a16="http://schemas.microsoft.com/office/drawing/2014/main" xmlns="" id="{9F6B7D67-D278-A536-A364-DC4CA17A5A46}"/>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40" name="Shape 7">
              <a:extLst>
                <a:ext uri="{FF2B5EF4-FFF2-40B4-BE49-F238E27FC236}">
                  <a16:creationId xmlns:a16="http://schemas.microsoft.com/office/drawing/2014/main" xmlns="" id="{E1EF7C92-825B-36C6-FE31-9E2CEF3ABF4C}"/>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41" name="Shape 8">
              <a:extLst>
                <a:ext uri="{FF2B5EF4-FFF2-40B4-BE49-F238E27FC236}">
                  <a16:creationId xmlns:a16="http://schemas.microsoft.com/office/drawing/2014/main" xmlns="" id="{6090DF5B-325C-DFDF-215F-4F10AFDDE090}"/>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42" name="Shape 9">
              <a:extLst>
                <a:ext uri="{FF2B5EF4-FFF2-40B4-BE49-F238E27FC236}">
                  <a16:creationId xmlns:a16="http://schemas.microsoft.com/office/drawing/2014/main" xmlns="" id="{28707B0A-F92B-9522-9FD5-3A3FD8ABA37E}"/>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43" name="Shape 10">
              <a:extLst>
                <a:ext uri="{FF2B5EF4-FFF2-40B4-BE49-F238E27FC236}">
                  <a16:creationId xmlns:a16="http://schemas.microsoft.com/office/drawing/2014/main" xmlns="" id="{08CD6C0F-BCEC-61BC-02BA-8D78C6A3DF29}"/>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44" name="Shape 11">
              <a:extLst>
                <a:ext uri="{FF2B5EF4-FFF2-40B4-BE49-F238E27FC236}">
                  <a16:creationId xmlns:a16="http://schemas.microsoft.com/office/drawing/2014/main" xmlns="" id="{CB4692AB-7E21-55E3-C959-B99FBF5A2BA2}"/>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45" name="Shape 12">
              <a:extLst>
                <a:ext uri="{FF2B5EF4-FFF2-40B4-BE49-F238E27FC236}">
                  <a16:creationId xmlns:a16="http://schemas.microsoft.com/office/drawing/2014/main" xmlns="" id="{104690DC-2AA0-AD78-A48E-80EE7631EE6E}"/>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46" name="Shape 13">
              <a:extLst>
                <a:ext uri="{FF2B5EF4-FFF2-40B4-BE49-F238E27FC236}">
                  <a16:creationId xmlns:a16="http://schemas.microsoft.com/office/drawing/2014/main" xmlns="" id="{A312E4E3-1090-CF90-DD85-8CFEC78FB3EB}"/>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47" name="Shape 14">
              <a:extLst>
                <a:ext uri="{FF2B5EF4-FFF2-40B4-BE49-F238E27FC236}">
                  <a16:creationId xmlns:a16="http://schemas.microsoft.com/office/drawing/2014/main" xmlns="" id="{5A4773D0-ADF6-8B8C-4174-A5E64C07F16A}"/>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48" name="Shape 15">
              <a:extLst>
                <a:ext uri="{FF2B5EF4-FFF2-40B4-BE49-F238E27FC236}">
                  <a16:creationId xmlns:a16="http://schemas.microsoft.com/office/drawing/2014/main" xmlns="" id="{4222439E-60A8-3572-6BCD-B9A09E0F3360}"/>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49" name="Shape 16">
              <a:extLst>
                <a:ext uri="{FF2B5EF4-FFF2-40B4-BE49-F238E27FC236}">
                  <a16:creationId xmlns:a16="http://schemas.microsoft.com/office/drawing/2014/main" xmlns="" id="{46FAE77C-6ABE-4A29-559D-7AEE501589AF}"/>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50" name="Picture 49">
              <a:extLst>
                <a:ext uri="{FF2B5EF4-FFF2-40B4-BE49-F238E27FC236}">
                  <a16:creationId xmlns:a16="http://schemas.microsoft.com/office/drawing/2014/main" xmlns="" id="{9718EB6C-8904-5EED-AC95-F9C1535FFD07}"/>
                </a:ext>
              </a:extLst>
            </p:cNvPr>
            <p:cNvPicPr>
              <a:picLocks noChangeAspect="1"/>
            </p:cNvPicPr>
            <p:nvPr/>
          </p:nvPicPr>
          <p:blipFill>
            <a:blip r:embed="rId4"/>
            <a:srcRect l="20128" t="19209" r="10255" b="19209"/>
            <a:stretch/>
          </p:blipFill>
          <p:spPr>
            <a:xfrm>
              <a:off x="-71718" y="-18464"/>
              <a:ext cx="927596" cy="575483"/>
            </a:xfrm>
            <a:prstGeom prst="rect">
              <a:avLst/>
            </a:prstGeom>
          </p:spPr>
        </p:pic>
      </p:grpSp>
      <p:sp>
        <p:nvSpPr>
          <p:cNvPr id="5" name="TopLabel">
            <a:extLst>
              <a:ext uri="{FF2B5EF4-FFF2-40B4-BE49-F238E27FC236}">
                <a16:creationId xmlns:a16="http://schemas.microsoft.com/office/drawing/2014/main" xmlns="" id="{3EF71C49-036E-8725-EE0C-BC63418483EC}"/>
              </a:ext>
            </a:extLst>
          </p:cNvPr>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rgbClr val="FFFFFF"/>
                </a:solidFill>
                <a:latin typeface="Calibri"/>
                <a:ea typeface="Calibri"/>
                <a:cs typeface="Calibri"/>
              </a:rPr>
              <a:t>DATASET</a:t>
            </a:r>
          </a:p>
        </p:txBody>
      </p:sp>
      <p:pic>
        <p:nvPicPr>
          <p:cNvPr id="7" name="Picture 6">
            <a:extLst>
              <a:ext uri="{FF2B5EF4-FFF2-40B4-BE49-F238E27FC236}">
                <a16:creationId xmlns:a16="http://schemas.microsoft.com/office/drawing/2014/main" xmlns="" id="{B3F52795-39A9-BC37-E7CB-CD69825326F6}"/>
              </a:ext>
            </a:extLst>
          </p:cNvPr>
          <p:cNvPicPr>
            <a:picLocks noChangeAspect="1"/>
          </p:cNvPicPr>
          <p:nvPr/>
        </p:nvPicPr>
        <p:blipFill>
          <a:blip r:embed="rId5"/>
          <a:stretch>
            <a:fillRect/>
          </a:stretch>
        </p:blipFill>
        <p:spPr>
          <a:xfrm>
            <a:off x="711577" y="2309338"/>
            <a:ext cx="6011856" cy="3355454"/>
          </a:xfrm>
          <a:prstGeom prst="rect">
            <a:avLst/>
          </a:prstGeom>
        </p:spPr>
      </p:pic>
      <p:sp>
        <p:nvSpPr>
          <p:cNvPr id="51" name="Rectangle 50"/>
          <p:cNvSpPr/>
          <p:nvPr/>
        </p:nvSpPr>
        <p:spPr>
          <a:xfrm>
            <a:off x="612648" y="5852160"/>
            <a:ext cx="10972800" cy="438912"/>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04088" y="5852160"/>
            <a:ext cx="10789920" cy="438912"/>
          </a:xfrm>
          <a:prstGeom prst="rect">
            <a:avLst/>
          </a:prstGeom>
          <a:noFill/>
        </p:spPr>
        <p:txBody>
          <a:bodyPr wrap="square">
            <a:spAutoFit/>
          </a:bodyPr>
          <a:lstStyle/>
          <a:p>
            <a:pPr algn="l"/>
            <a:r>
              <a:rPr sz="1100" b="1" i="0">
                <a:solidFill>
                  <a:srgbClr val="7B5200"/>
                </a:solidFill>
              </a:rPr>
              <a:t>Training: Beihang (Beijing) field Scenarios A–E  +  UrbanNav Hong Kong (Medium / Deep / Harsh / Tunnel)  —  62,413 windows  |  Zero-shot test: UrbanNav Tokyo Shinjuku (NEVER in training)</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3716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3 · Method</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181588"/>
            <a:ext cx="12191928" cy="6857928"/>
          </a:xfrm>
          <a:prstGeom prst="rect">
            <a:avLst/>
          </a:prstGeom>
        </p:spPr>
      </p:pic>
      <p:sp>
        <p:nvSpPr>
          <p:cNvPr id="11" name="Text 7"/>
          <p:cNvSpPr/>
          <p:nvPr/>
        </p:nvSpPr>
        <p:spPr>
          <a:xfrm>
            <a:off x="734833" y="899811"/>
            <a:ext cx="10988117" cy="465859"/>
          </a:xfrm>
          <a:prstGeom prst="rect">
            <a:avLst/>
          </a:prstGeom>
          <a:noFill/>
          <a:ln/>
        </p:spPr>
        <p:txBody>
          <a:bodyPr wrap="square" lIns="16933" tIns="16933" rIns="16933" bIns="16933" rtlCol="0" anchor="t">
            <a:normAutofit fontScale="92500" lnSpcReduction="20000"/>
          </a:bodyPr>
          <a:lstStyle/>
          <a:p>
            <a:pPr>
              <a:lnSpc>
                <a:spcPct val="104000"/>
              </a:lnSpc>
            </a:pPr>
            <a:r>
              <a:rPr lang="en-US" sz="3336" b="1" kern="0" spc="-33" dirty="0">
                <a:solidFill>
                  <a:srgbClr val="0A1733"/>
                </a:solidFill>
                <a:latin typeface="IBM Plex Sans" pitchFamily="34" charset="0"/>
                <a:ea typeface="IBM Plex Sans" pitchFamily="34" charset="-122"/>
                <a:cs typeface="IBM Plex Sans" pitchFamily="34" charset="-120"/>
              </a:rPr>
              <a:t>Three classes, predicted three steps ahead</a:t>
            </a:r>
            <a:endParaRPr lang="en-US" sz="3336" dirty="0"/>
          </a:p>
        </p:txBody>
      </p:sp>
      <p:pic>
        <p:nvPicPr>
          <p:cNvPr id="12" name="Image 2" descr="preencoded.png"/>
          <p:cNvPicPr>
            <a:picLocks noChangeAspect="1"/>
          </p:cNvPicPr>
          <p:nvPr/>
        </p:nvPicPr>
        <p:blipFill>
          <a:blip r:embed="rId4"/>
          <a:stretch>
            <a:fillRect/>
          </a:stretch>
        </p:blipFill>
        <p:spPr>
          <a:xfrm>
            <a:off x="218804" y="1497744"/>
            <a:ext cx="11261998" cy="4208711"/>
          </a:xfrm>
          <a:prstGeom prst="rect">
            <a:avLst/>
          </a:prstGeom>
        </p:spPr>
      </p:pic>
      <p:sp>
        <p:nvSpPr>
          <p:cNvPr id="13" name="Shape 8"/>
          <p:cNvSpPr/>
          <p:nvPr/>
        </p:nvSpPr>
        <p:spPr>
          <a:xfrm>
            <a:off x="734833" y="6028419"/>
            <a:ext cx="180959" cy="139260"/>
          </a:xfrm>
          <a:prstGeom prst="roundRect">
            <a:avLst>
              <a:gd name="adj" fmla="val 22225"/>
            </a:avLst>
          </a:prstGeom>
          <a:solidFill>
            <a:srgbClr val="2E9E5B"/>
          </a:solidFill>
          <a:ln/>
        </p:spPr>
      </p:sp>
      <p:sp>
        <p:nvSpPr>
          <p:cNvPr id="14" name="Text 9"/>
          <p:cNvSpPr/>
          <p:nvPr/>
        </p:nvSpPr>
        <p:spPr>
          <a:xfrm>
            <a:off x="946034" y="5979973"/>
            <a:ext cx="745389" cy="243020"/>
          </a:xfrm>
          <a:prstGeom prst="rect">
            <a:avLst/>
          </a:prstGeom>
          <a:noFill/>
          <a:ln/>
        </p:spPr>
        <p:txBody>
          <a:bodyPr wrap="square" lIns="16933" tIns="16933" rIns="16933" bIns="16933" rtlCol="0" anchor="t">
            <a:noAutofit/>
          </a:bodyPr>
          <a:lstStyle/>
          <a:p>
            <a:r>
              <a:rPr lang="en-US" sz="1333" b="1" kern="0" spc="32" dirty="0">
                <a:solidFill>
                  <a:srgbClr val="2E9E5B"/>
                </a:solidFill>
                <a:latin typeface="IBM Plex Mono" pitchFamily="34" charset="0"/>
                <a:ea typeface="IBM Plex Mono" pitchFamily="34" charset="-122"/>
                <a:cs typeface="IBM Plex Mono" pitchFamily="34" charset="-120"/>
              </a:rPr>
              <a:t>CLEAN</a:t>
            </a:r>
            <a:endParaRPr lang="en-US" sz="1333" dirty="0"/>
          </a:p>
        </p:txBody>
      </p:sp>
      <p:sp>
        <p:nvSpPr>
          <p:cNvPr id="15" name="Shape 10"/>
          <p:cNvSpPr/>
          <p:nvPr/>
        </p:nvSpPr>
        <p:spPr>
          <a:xfrm>
            <a:off x="1597051" y="6028419"/>
            <a:ext cx="180959" cy="139260"/>
          </a:xfrm>
          <a:prstGeom prst="roundRect">
            <a:avLst>
              <a:gd name="adj" fmla="val 22225"/>
            </a:avLst>
          </a:prstGeom>
          <a:solidFill>
            <a:srgbClr val="E0A012"/>
          </a:solidFill>
          <a:ln/>
        </p:spPr>
      </p:sp>
      <p:sp>
        <p:nvSpPr>
          <p:cNvPr id="16" name="Text 11"/>
          <p:cNvSpPr/>
          <p:nvPr/>
        </p:nvSpPr>
        <p:spPr>
          <a:xfrm>
            <a:off x="1835345" y="5979973"/>
            <a:ext cx="826576" cy="243020"/>
          </a:xfrm>
          <a:prstGeom prst="rect">
            <a:avLst/>
          </a:prstGeom>
          <a:noFill/>
          <a:ln/>
        </p:spPr>
        <p:txBody>
          <a:bodyPr wrap="square" lIns="16933" tIns="16933" rIns="16933" bIns="16933" rtlCol="0" anchor="t">
            <a:noAutofit/>
          </a:bodyPr>
          <a:lstStyle/>
          <a:p>
            <a:r>
              <a:rPr lang="en-US" sz="1333" b="1" kern="0" spc="32" dirty="0">
                <a:solidFill>
                  <a:srgbClr val="B9820A"/>
                </a:solidFill>
                <a:latin typeface="IBM Plex Mono" pitchFamily="34" charset="0"/>
                <a:ea typeface="IBM Plex Mono" pitchFamily="34" charset="-122"/>
                <a:cs typeface="IBM Plex Mono" pitchFamily="34" charset="-120"/>
              </a:rPr>
              <a:t>WARNING</a:t>
            </a:r>
            <a:endParaRPr lang="en-US" sz="1333" dirty="0"/>
          </a:p>
        </p:txBody>
      </p:sp>
      <p:sp>
        <p:nvSpPr>
          <p:cNvPr id="17" name="Shape 12"/>
          <p:cNvSpPr/>
          <p:nvPr/>
        </p:nvSpPr>
        <p:spPr>
          <a:xfrm>
            <a:off x="2796539" y="6028419"/>
            <a:ext cx="180959" cy="139260"/>
          </a:xfrm>
          <a:prstGeom prst="roundRect">
            <a:avLst>
              <a:gd name="adj" fmla="val 22225"/>
            </a:avLst>
          </a:prstGeom>
          <a:solidFill>
            <a:srgbClr val="D6453D"/>
          </a:solidFill>
          <a:ln/>
        </p:spPr>
      </p:sp>
      <p:sp>
        <p:nvSpPr>
          <p:cNvPr id="18" name="Text 13"/>
          <p:cNvSpPr/>
          <p:nvPr/>
        </p:nvSpPr>
        <p:spPr>
          <a:xfrm>
            <a:off x="3014514" y="5979973"/>
            <a:ext cx="1144313" cy="243020"/>
          </a:xfrm>
          <a:prstGeom prst="rect">
            <a:avLst/>
          </a:prstGeom>
          <a:noFill/>
          <a:ln/>
        </p:spPr>
        <p:txBody>
          <a:bodyPr wrap="square" lIns="16933" tIns="16933" rIns="16933" bIns="16933" rtlCol="0" anchor="t">
            <a:noAutofit/>
          </a:bodyPr>
          <a:lstStyle/>
          <a:p>
            <a:r>
              <a:rPr lang="en-US" sz="1333" b="1" kern="0" spc="32" dirty="0">
                <a:solidFill>
                  <a:srgbClr val="D6453D"/>
                </a:solidFill>
                <a:latin typeface="IBM Plex Mono" pitchFamily="34" charset="0"/>
                <a:ea typeface="IBM Plex Mono" pitchFamily="34" charset="-122"/>
                <a:cs typeface="IBM Plex Mono" pitchFamily="34" charset="-120"/>
              </a:rPr>
              <a:t>DEGRADED</a:t>
            </a:r>
            <a:endParaRPr lang="en-US" sz="1333" dirty="0"/>
          </a:p>
        </p:txBody>
      </p:sp>
      <p:sp>
        <p:nvSpPr>
          <p:cNvPr id="19" name="Text 14"/>
          <p:cNvSpPr/>
          <p:nvPr/>
        </p:nvSpPr>
        <p:spPr>
          <a:xfrm>
            <a:off x="4910973" y="5979973"/>
            <a:ext cx="7181967" cy="375412"/>
          </a:xfrm>
          <a:prstGeom prst="rect">
            <a:avLst/>
          </a:prstGeom>
          <a:noFill/>
          <a:ln/>
        </p:spPr>
        <p:txBody>
          <a:bodyPr wrap="square" lIns="16933" tIns="16933" rIns="16933" bIns="16933" rtlCol="0" anchor="t">
            <a:noAutofit/>
          </a:bodyPr>
          <a:lstStyle/>
          <a:p>
            <a:r>
              <a:rPr lang="en-US" sz="1400" kern="0" spc="40" dirty="0">
                <a:solidFill>
                  <a:srgbClr val="5A6A86"/>
                </a:solidFill>
                <a:latin typeface="IBM Plex Mono" pitchFamily="34" charset="0"/>
                <a:ea typeface="IBM Plex Mono" pitchFamily="34" charset="-122"/>
                <a:cs typeface="IBM Plex Mono" pitchFamily="34" charset="-120"/>
              </a:rPr>
              <a:t>30 s of signal in → degradation class out at +5 / +15 / +30 s</a:t>
            </a:r>
            <a:endParaRPr lang="en-US" sz="1400" dirty="0"/>
          </a:p>
        </p:txBody>
      </p:sp>
      <p:sp>
        <p:nvSpPr>
          <p:cNvPr id="20" name="Shape 15"/>
          <p:cNvSpPr/>
          <p:nvPr/>
        </p:nvSpPr>
        <p:spPr>
          <a:xfrm>
            <a:off x="0" y="6489643"/>
            <a:ext cx="12191928" cy="368285"/>
          </a:xfrm>
          <a:prstGeom prst="rect">
            <a:avLst/>
          </a:prstGeom>
          <a:solidFill>
            <a:srgbClr val="003893"/>
          </a:solidFill>
          <a:ln/>
        </p:spPr>
      </p:sp>
      <p:sp>
        <p:nvSpPr>
          <p:cNvPr id="21" name="Text 16"/>
          <p:cNvSpPr/>
          <p:nvPr/>
        </p:nvSpPr>
        <p:spPr>
          <a:xfrm>
            <a:off x="761927" y="6607896"/>
            <a:ext cx="1403629" cy="157104"/>
          </a:xfrm>
          <a:prstGeom prst="rect">
            <a:avLst/>
          </a:prstGeom>
          <a:noFill/>
          <a:ln/>
        </p:spPr>
        <p:txBody>
          <a:bodyPr wrap="square" lIns="16933" tIns="16933" rIns="16933" bIns="16933" rtlCol="0" anchor="t">
            <a:normAutofit/>
          </a:bodyPr>
          <a:lstStyle/>
          <a:p>
            <a:r>
              <a:rPr lang="en-US" sz="800" kern="0" spc="112" dirty="0">
                <a:solidFill>
                  <a:srgbClr val="BFE6FB"/>
                </a:solidFill>
                <a:latin typeface="IBM Plex Mono" pitchFamily="34" charset="0"/>
                <a:ea typeface="IBM Plex Mono" pitchFamily="34" charset="-122"/>
                <a:cs typeface="IBM Plex Mono" pitchFamily="34" charset="-120"/>
              </a:rPr>
              <a:t>BEIHANG UNIVERSITY</a:t>
            </a:r>
            <a:endParaRPr lang="en-US" sz="800" dirty="0"/>
          </a:p>
        </p:txBody>
      </p:sp>
      <p:sp>
        <p:nvSpPr>
          <p:cNvPr id="22" name="Text 17"/>
          <p:cNvSpPr/>
          <p:nvPr/>
        </p:nvSpPr>
        <p:spPr>
          <a:xfrm>
            <a:off x="9851689" y="6607896"/>
            <a:ext cx="1629113" cy="157104"/>
          </a:xfrm>
          <a:prstGeom prst="rect">
            <a:avLst/>
          </a:prstGeom>
          <a:noFill/>
          <a:ln/>
        </p:spPr>
        <p:txBody>
          <a:bodyPr wrap="square" lIns="16933" tIns="16933" rIns="16933" bIns="16933" rtlCol="0" anchor="t">
            <a:normAutofit/>
          </a:bodyPr>
          <a:lstStyle/>
          <a:p>
            <a:r>
              <a:rPr lang="en-US" sz="800" kern="0" spc="112" dirty="0">
                <a:solidFill>
                  <a:srgbClr val="FFFFFF"/>
                </a:solidFill>
                <a:latin typeface="IBM Plex Mono" pitchFamily="34" charset="0"/>
                <a:ea typeface="IBM Plex Mono" pitchFamily="34" charset="-122"/>
                <a:cs typeface="IBM Plex Mono" pitchFamily="34" charset="-120"/>
              </a:rPr>
              <a:t>SENTINEL-GNSS · PILOT</a:t>
            </a:r>
            <a:endParaRPr lang="en-US" sz="800" dirty="0"/>
          </a:p>
        </p:txBody>
      </p:sp>
      <p:grpSp>
        <p:nvGrpSpPr>
          <p:cNvPr id="23" name="Group 22">
            <a:extLst>
              <a:ext uri="{FF2B5EF4-FFF2-40B4-BE49-F238E27FC236}">
                <a16:creationId xmlns:a16="http://schemas.microsoft.com/office/drawing/2014/main" xmlns="" id="{0635D027-65E9-FFAD-0501-5AA931157D96}"/>
              </a:ext>
            </a:extLst>
          </p:cNvPr>
          <p:cNvGrpSpPr/>
          <p:nvPr/>
        </p:nvGrpSpPr>
        <p:grpSpPr>
          <a:xfrm>
            <a:off x="-95624" y="-24618"/>
            <a:ext cx="12287624" cy="767311"/>
            <a:chOff x="-71718" y="-18464"/>
            <a:chExt cx="9215718" cy="575483"/>
          </a:xfrm>
        </p:grpSpPr>
        <p:sp>
          <p:nvSpPr>
            <p:cNvPr id="24" name="Shape 0">
              <a:extLst>
                <a:ext uri="{FF2B5EF4-FFF2-40B4-BE49-F238E27FC236}">
                  <a16:creationId xmlns:a16="http://schemas.microsoft.com/office/drawing/2014/main" xmlns="" id="{745CBA48-ADE7-E439-C5F9-88B6D826CEF5}"/>
                </a:ext>
              </a:extLst>
            </p:cNvPr>
            <p:cNvSpPr/>
            <p:nvPr/>
          </p:nvSpPr>
          <p:spPr>
            <a:xfrm>
              <a:off x="0" y="1451"/>
              <a:ext cx="9144000" cy="555306"/>
            </a:xfrm>
            <a:prstGeom prst="rect">
              <a:avLst/>
            </a:prstGeom>
            <a:solidFill>
              <a:srgbClr val="003893"/>
            </a:solidFill>
            <a:ln w="12700">
              <a:solidFill>
                <a:srgbClr val="003893"/>
              </a:solidFill>
              <a:prstDash val="solid"/>
            </a:ln>
          </p:spPr>
        </p:sp>
        <p:sp>
          <p:nvSpPr>
            <p:cNvPr id="25" name="Shape 1">
              <a:extLst>
                <a:ext uri="{FF2B5EF4-FFF2-40B4-BE49-F238E27FC236}">
                  <a16:creationId xmlns:a16="http://schemas.microsoft.com/office/drawing/2014/main" xmlns="" id="{9AFA4D1D-905F-90DB-70E7-83562014A2B8}"/>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26" name="Shape 4">
              <a:extLst>
                <a:ext uri="{FF2B5EF4-FFF2-40B4-BE49-F238E27FC236}">
                  <a16:creationId xmlns:a16="http://schemas.microsoft.com/office/drawing/2014/main" xmlns="" id="{C8ECE362-EA46-E257-5946-741385C18B33}"/>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27" name="Shape 5">
              <a:extLst>
                <a:ext uri="{FF2B5EF4-FFF2-40B4-BE49-F238E27FC236}">
                  <a16:creationId xmlns:a16="http://schemas.microsoft.com/office/drawing/2014/main" xmlns="" id="{42CF7C76-59C4-A2DD-D6BC-7A010782D0BA}"/>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28" name="Shape 6">
              <a:extLst>
                <a:ext uri="{FF2B5EF4-FFF2-40B4-BE49-F238E27FC236}">
                  <a16:creationId xmlns:a16="http://schemas.microsoft.com/office/drawing/2014/main" xmlns="" id="{AAB3DDAE-A664-BB31-0819-E426E955EC6F}"/>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29" name="Shape 7">
              <a:extLst>
                <a:ext uri="{FF2B5EF4-FFF2-40B4-BE49-F238E27FC236}">
                  <a16:creationId xmlns:a16="http://schemas.microsoft.com/office/drawing/2014/main" xmlns="" id="{A9D5A26F-A210-6B89-60B1-EE0A204621CD}"/>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30" name="Shape 8">
              <a:extLst>
                <a:ext uri="{FF2B5EF4-FFF2-40B4-BE49-F238E27FC236}">
                  <a16:creationId xmlns:a16="http://schemas.microsoft.com/office/drawing/2014/main" xmlns="" id="{CE790845-BCD7-139D-25C5-F7E89E6B53CE}"/>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31" name="Shape 9">
              <a:extLst>
                <a:ext uri="{FF2B5EF4-FFF2-40B4-BE49-F238E27FC236}">
                  <a16:creationId xmlns:a16="http://schemas.microsoft.com/office/drawing/2014/main" xmlns="" id="{CCFACD4A-8090-3777-11A2-4C3353CF12F3}"/>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32" name="Shape 10">
              <a:extLst>
                <a:ext uri="{FF2B5EF4-FFF2-40B4-BE49-F238E27FC236}">
                  <a16:creationId xmlns:a16="http://schemas.microsoft.com/office/drawing/2014/main" xmlns="" id="{ACB99CCE-835B-CA5D-9DB0-AD88370FC222}"/>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33" name="Shape 11">
              <a:extLst>
                <a:ext uri="{FF2B5EF4-FFF2-40B4-BE49-F238E27FC236}">
                  <a16:creationId xmlns:a16="http://schemas.microsoft.com/office/drawing/2014/main" xmlns="" id="{9BD5C7BB-A7CC-B83C-290A-95364549F8A7}"/>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34" name="Shape 12">
              <a:extLst>
                <a:ext uri="{FF2B5EF4-FFF2-40B4-BE49-F238E27FC236}">
                  <a16:creationId xmlns:a16="http://schemas.microsoft.com/office/drawing/2014/main" xmlns="" id="{6E28E5B2-FC44-408A-1776-4C4DE7F2F993}"/>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35" name="Shape 13">
              <a:extLst>
                <a:ext uri="{FF2B5EF4-FFF2-40B4-BE49-F238E27FC236}">
                  <a16:creationId xmlns:a16="http://schemas.microsoft.com/office/drawing/2014/main" xmlns="" id="{10E84644-CC2A-F723-D75B-EA9F05115486}"/>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36" name="Shape 14">
              <a:extLst>
                <a:ext uri="{FF2B5EF4-FFF2-40B4-BE49-F238E27FC236}">
                  <a16:creationId xmlns:a16="http://schemas.microsoft.com/office/drawing/2014/main" xmlns="" id="{D6A86F6B-18FF-7785-F5F4-13DC80D8BAD2}"/>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37" name="Shape 15">
              <a:extLst>
                <a:ext uri="{FF2B5EF4-FFF2-40B4-BE49-F238E27FC236}">
                  <a16:creationId xmlns:a16="http://schemas.microsoft.com/office/drawing/2014/main" xmlns="" id="{238F248F-DABF-8EAB-DF36-94C9CDC74C58}"/>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38" name="Shape 16">
              <a:extLst>
                <a:ext uri="{FF2B5EF4-FFF2-40B4-BE49-F238E27FC236}">
                  <a16:creationId xmlns:a16="http://schemas.microsoft.com/office/drawing/2014/main" xmlns="" id="{DC81E306-0012-4F2E-98F4-37216D9AC261}"/>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39" name="Picture 38">
              <a:extLst>
                <a:ext uri="{FF2B5EF4-FFF2-40B4-BE49-F238E27FC236}">
                  <a16:creationId xmlns:a16="http://schemas.microsoft.com/office/drawing/2014/main" xmlns="" id="{B8216D8D-5226-DB04-835E-92EA01732924}"/>
                </a:ext>
              </a:extLst>
            </p:cNvPr>
            <p:cNvPicPr>
              <a:picLocks noChangeAspect="1"/>
            </p:cNvPicPr>
            <p:nvPr/>
          </p:nvPicPr>
          <p:blipFill>
            <a:blip r:embed="rId5"/>
            <a:srcRect l="20128" t="19209" r="10255" b="19209"/>
            <a:stretch/>
          </p:blipFill>
          <p:spPr>
            <a:xfrm>
              <a:off x="-71718" y="-18464"/>
              <a:ext cx="927596" cy="575483"/>
            </a:xfrm>
            <a:prstGeom prst="rect">
              <a:avLst/>
            </a:prstGeom>
          </p:spPr>
        </p:pic>
      </p:grpSp>
      <p:sp>
        <p:nvSpPr>
          <p:cNvPr id="3" name="TopLabel">
            <a:extLst>
              <a:ext uri="{FF2B5EF4-FFF2-40B4-BE49-F238E27FC236}">
                <a16:creationId xmlns:a16="http://schemas.microsoft.com/office/drawing/2014/main" xmlns="" id="{7F7D13F6-4D45-BFFD-0F86-8AF1D5E3090A}"/>
              </a:ext>
            </a:extLst>
          </p:cNvPr>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chemeClr val="bg1"/>
                </a:solidFill>
              </a:rPr>
              <a:t>METHODOLOGY</a:t>
            </a:r>
            <a:endParaRPr lang="en-US" sz="3200" b="1" dirty="0">
              <a:solidFill>
                <a:srgbClr val="FFFFFF"/>
              </a:solidFill>
              <a:latin typeface="Calibri"/>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7868" y="8176"/>
            <a:ext cx="12191928" cy="6857928"/>
          </a:xfrm>
          <a:prstGeom prst="rect">
            <a:avLst/>
          </a:prstGeom>
        </p:spPr>
      </p:pic>
      <p:sp>
        <p:nvSpPr>
          <p:cNvPr id="11" name="Text 7"/>
          <p:cNvSpPr/>
          <p:nvPr/>
        </p:nvSpPr>
        <p:spPr>
          <a:xfrm>
            <a:off x="733495" y="970442"/>
            <a:ext cx="10988117" cy="465859"/>
          </a:xfrm>
          <a:prstGeom prst="rect">
            <a:avLst/>
          </a:prstGeom>
          <a:noFill/>
          <a:ln/>
        </p:spPr>
        <p:txBody>
          <a:bodyPr wrap="square" lIns="16933" tIns="16933" rIns="16933" bIns="16933" rtlCol="0" anchor="t">
            <a:normAutofit fontScale="92500" lnSpcReduction="20000"/>
          </a:bodyPr>
          <a:lstStyle/>
          <a:p>
            <a:pPr>
              <a:lnSpc>
                <a:spcPct val="104000"/>
              </a:lnSpc>
            </a:pPr>
            <a:r>
              <a:rPr lang="en-US" sz="3336" b="1" kern="0" spc="-33" dirty="0">
                <a:solidFill>
                  <a:srgbClr val="0A1733"/>
                </a:solidFill>
                <a:latin typeface="IBM Plex Sans" pitchFamily="34" charset="0"/>
                <a:ea typeface="IBM Plex Sans" pitchFamily="34" charset="-122"/>
                <a:cs typeface="IBM Plex Sans" pitchFamily="34" charset="-120"/>
              </a:rPr>
              <a:t>From raw signals to model-ready features</a:t>
            </a:r>
            <a:endParaRPr lang="en-US" sz="3336" dirty="0"/>
          </a:p>
        </p:txBody>
      </p:sp>
      <p:sp>
        <p:nvSpPr>
          <p:cNvPr id="12" name="Shape 8"/>
          <p:cNvSpPr/>
          <p:nvPr/>
        </p:nvSpPr>
        <p:spPr>
          <a:xfrm>
            <a:off x="1344647" y="1646767"/>
            <a:ext cx="8839819" cy="2359589"/>
          </a:xfrm>
          <a:prstGeom prst="roundRect">
            <a:avLst>
              <a:gd name="adj" fmla="val 4000"/>
            </a:avLst>
          </a:prstGeom>
          <a:solidFill>
            <a:srgbClr val="FFFFFF"/>
          </a:solidFill>
          <a:ln w="7056">
            <a:solidFill>
              <a:srgbClr val="CDD9EA"/>
            </a:solidFill>
            <a:prstDash val="solid"/>
          </a:ln>
          <a:effectLst>
            <a:outerShdw blurRad="285750" dist="95250" dir="5400000" algn="bl" rotWithShape="0">
              <a:srgbClr val="002A6E">
                <a:alpha val="45000"/>
              </a:srgbClr>
            </a:outerShdw>
          </a:effectLst>
        </p:spPr>
      </p:sp>
      <p:sp>
        <p:nvSpPr>
          <p:cNvPr id="14" name="Text 9"/>
          <p:cNvSpPr/>
          <p:nvPr/>
        </p:nvSpPr>
        <p:spPr>
          <a:xfrm>
            <a:off x="671240" y="4554074"/>
            <a:ext cx="2117173" cy="220721"/>
          </a:xfrm>
          <a:prstGeom prst="rect">
            <a:avLst/>
          </a:prstGeom>
          <a:noFill/>
          <a:ln/>
        </p:spPr>
        <p:txBody>
          <a:bodyPr wrap="square" lIns="16933" tIns="16933" rIns="16933" bIns="16933" rtlCol="0" anchor="t">
            <a:normAutofit/>
          </a:bodyPr>
          <a:lstStyle/>
          <a:p>
            <a:r>
              <a:rPr lang="en-US" sz="951" b="1" kern="0" spc="76" dirty="0">
                <a:solidFill>
                  <a:srgbClr val="003893"/>
                </a:solidFill>
                <a:latin typeface="IBM Plex Mono" pitchFamily="34" charset="0"/>
                <a:ea typeface="IBM Plex Mono" pitchFamily="34" charset="-122"/>
                <a:cs typeface="IBM Plex Mono" pitchFamily="34" charset="-120"/>
              </a:rPr>
              <a:t>37 FEATURES · 7 GROUPS</a:t>
            </a:r>
            <a:endParaRPr lang="en-US" sz="951" dirty="0"/>
          </a:p>
        </p:txBody>
      </p:sp>
      <p:sp>
        <p:nvSpPr>
          <p:cNvPr id="15" name="Shape 10"/>
          <p:cNvSpPr/>
          <p:nvPr/>
        </p:nvSpPr>
        <p:spPr>
          <a:xfrm>
            <a:off x="2766766" y="4460879"/>
            <a:ext cx="824897" cy="343667"/>
          </a:xfrm>
          <a:prstGeom prst="roundRect">
            <a:avLst>
              <a:gd name="adj" fmla="val 50000"/>
            </a:avLst>
          </a:prstGeom>
          <a:solidFill>
            <a:srgbClr val="FFFFFF">
              <a:alpha val="72000"/>
            </a:srgbClr>
          </a:solidFill>
          <a:ln w="7056">
            <a:solidFill>
              <a:srgbClr val="CDD9EA"/>
            </a:solidFill>
            <a:prstDash val="solid"/>
          </a:ln>
        </p:spPr>
      </p:sp>
      <p:sp>
        <p:nvSpPr>
          <p:cNvPr id="16" name="Text 11"/>
          <p:cNvSpPr/>
          <p:nvPr/>
        </p:nvSpPr>
        <p:spPr>
          <a:xfrm>
            <a:off x="2898470" y="4541021"/>
            <a:ext cx="589425" cy="220721"/>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Position</a:t>
            </a:r>
            <a:endParaRPr lang="en-US" sz="1051" dirty="0"/>
          </a:p>
        </p:txBody>
      </p:sp>
      <p:sp>
        <p:nvSpPr>
          <p:cNvPr id="17" name="Shape 12"/>
          <p:cNvSpPr/>
          <p:nvPr/>
        </p:nvSpPr>
        <p:spPr>
          <a:xfrm>
            <a:off x="3736723" y="4460879"/>
            <a:ext cx="1699284" cy="343667"/>
          </a:xfrm>
          <a:prstGeom prst="roundRect">
            <a:avLst>
              <a:gd name="adj" fmla="val 50000"/>
            </a:avLst>
          </a:prstGeom>
          <a:solidFill>
            <a:srgbClr val="FFFFFF">
              <a:alpha val="72000"/>
            </a:srgbClr>
          </a:solidFill>
          <a:ln w="7056">
            <a:solidFill>
              <a:srgbClr val="CDD9EA"/>
            </a:solidFill>
            <a:prstDash val="solid"/>
          </a:ln>
        </p:spPr>
      </p:sp>
      <p:sp>
        <p:nvSpPr>
          <p:cNvPr id="18" name="Text 13"/>
          <p:cNvSpPr/>
          <p:nvPr/>
        </p:nvSpPr>
        <p:spPr>
          <a:xfrm>
            <a:off x="3868426" y="4541019"/>
            <a:ext cx="1463815" cy="220723"/>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Signal strength · C/N₀</a:t>
            </a:r>
            <a:endParaRPr lang="en-US" sz="1051" dirty="0"/>
          </a:p>
        </p:txBody>
      </p:sp>
      <p:sp>
        <p:nvSpPr>
          <p:cNvPr id="19" name="Shape 14"/>
          <p:cNvSpPr/>
          <p:nvPr/>
        </p:nvSpPr>
        <p:spPr>
          <a:xfrm>
            <a:off x="5347153" y="4460879"/>
            <a:ext cx="1247683" cy="343667"/>
          </a:xfrm>
          <a:prstGeom prst="roundRect">
            <a:avLst>
              <a:gd name="adj" fmla="val 50000"/>
            </a:avLst>
          </a:prstGeom>
          <a:solidFill>
            <a:srgbClr val="FFFFFF">
              <a:alpha val="72000"/>
            </a:srgbClr>
          </a:solidFill>
          <a:ln w="7056">
            <a:solidFill>
              <a:srgbClr val="CDD9EA"/>
            </a:solidFill>
            <a:prstDash val="solid"/>
          </a:ln>
        </p:spPr>
      </p:sp>
      <p:sp>
        <p:nvSpPr>
          <p:cNvPr id="20" name="Text 15"/>
          <p:cNvSpPr/>
          <p:nvPr/>
        </p:nvSpPr>
        <p:spPr>
          <a:xfrm>
            <a:off x="5478858" y="4541019"/>
            <a:ext cx="1012213" cy="220723"/>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Satellite count</a:t>
            </a:r>
            <a:endParaRPr lang="en-US" sz="1051" dirty="0"/>
          </a:p>
        </p:txBody>
      </p:sp>
      <p:sp>
        <p:nvSpPr>
          <p:cNvPr id="21" name="Shape 16"/>
          <p:cNvSpPr/>
          <p:nvPr/>
        </p:nvSpPr>
        <p:spPr>
          <a:xfrm>
            <a:off x="6549832" y="4460879"/>
            <a:ext cx="584689" cy="343667"/>
          </a:xfrm>
          <a:prstGeom prst="roundRect">
            <a:avLst>
              <a:gd name="adj" fmla="val 50000"/>
            </a:avLst>
          </a:prstGeom>
          <a:solidFill>
            <a:srgbClr val="FFFFFF">
              <a:alpha val="72000"/>
            </a:srgbClr>
          </a:solidFill>
          <a:ln w="7056">
            <a:solidFill>
              <a:srgbClr val="CDD9EA"/>
            </a:solidFill>
            <a:prstDash val="solid"/>
          </a:ln>
        </p:spPr>
      </p:sp>
      <p:sp>
        <p:nvSpPr>
          <p:cNvPr id="22" name="Text 17"/>
          <p:cNvSpPr/>
          <p:nvPr/>
        </p:nvSpPr>
        <p:spPr>
          <a:xfrm>
            <a:off x="6681536" y="4541019"/>
            <a:ext cx="349219" cy="220723"/>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DOP</a:t>
            </a:r>
            <a:endParaRPr lang="en-US" sz="1051" dirty="0"/>
          </a:p>
        </p:txBody>
      </p:sp>
      <p:sp>
        <p:nvSpPr>
          <p:cNvPr id="23" name="Shape 18"/>
          <p:cNvSpPr/>
          <p:nvPr/>
        </p:nvSpPr>
        <p:spPr>
          <a:xfrm>
            <a:off x="7153890" y="4460879"/>
            <a:ext cx="1306943" cy="343667"/>
          </a:xfrm>
          <a:prstGeom prst="roundRect">
            <a:avLst>
              <a:gd name="adj" fmla="val 50000"/>
            </a:avLst>
          </a:prstGeom>
          <a:solidFill>
            <a:srgbClr val="FFFFFF">
              <a:alpha val="72000"/>
            </a:srgbClr>
          </a:solidFill>
          <a:ln w="7056">
            <a:solidFill>
              <a:srgbClr val="CDD9EA"/>
            </a:solidFill>
            <a:prstDash val="solid"/>
          </a:ln>
        </p:spPr>
      </p:sp>
      <p:sp>
        <p:nvSpPr>
          <p:cNvPr id="24" name="Text 19"/>
          <p:cNvSpPr/>
          <p:nvPr/>
        </p:nvSpPr>
        <p:spPr>
          <a:xfrm>
            <a:off x="7285594" y="4541021"/>
            <a:ext cx="1071471" cy="220721"/>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Receiver status</a:t>
            </a:r>
            <a:endParaRPr lang="en-US" sz="1051" dirty="0"/>
          </a:p>
        </p:txBody>
      </p:sp>
      <p:sp>
        <p:nvSpPr>
          <p:cNvPr id="25" name="Shape 20"/>
          <p:cNvSpPr/>
          <p:nvPr/>
        </p:nvSpPr>
        <p:spPr>
          <a:xfrm>
            <a:off x="8410074" y="4460879"/>
            <a:ext cx="917285" cy="343667"/>
          </a:xfrm>
          <a:prstGeom prst="roundRect">
            <a:avLst>
              <a:gd name="adj" fmla="val 50000"/>
            </a:avLst>
          </a:prstGeom>
          <a:solidFill>
            <a:srgbClr val="FFFFFF">
              <a:alpha val="72000"/>
            </a:srgbClr>
          </a:solidFill>
          <a:ln w="7056">
            <a:solidFill>
              <a:srgbClr val="CDD9EA"/>
            </a:solidFill>
            <a:prstDash val="solid"/>
          </a:ln>
        </p:spPr>
      </p:sp>
      <p:sp>
        <p:nvSpPr>
          <p:cNvPr id="26" name="Text 21"/>
          <p:cNvSpPr/>
          <p:nvPr/>
        </p:nvSpPr>
        <p:spPr>
          <a:xfrm>
            <a:off x="8541778" y="4541021"/>
            <a:ext cx="681813" cy="220721"/>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Temporal</a:t>
            </a:r>
            <a:endParaRPr lang="en-US" sz="1051" dirty="0"/>
          </a:p>
        </p:txBody>
      </p:sp>
      <p:sp>
        <p:nvSpPr>
          <p:cNvPr id="27" name="Shape 22"/>
          <p:cNvSpPr/>
          <p:nvPr/>
        </p:nvSpPr>
        <p:spPr>
          <a:xfrm>
            <a:off x="9314435" y="4460879"/>
            <a:ext cx="1136819" cy="343667"/>
          </a:xfrm>
          <a:prstGeom prst="roundRect">
            <a:avLst>
              <a:gd name="adj" fmla="val 50000"/>
            </a:avLst>
          </a:prstGeom>
          <a:solidFill>
            <a:srgbClr val="FFFFFF">
              <a:alpha val="72000"/>
            </a:srgbClr>
          </a:solidFill>
          <a:ln w="7056">
            <a:solidFill>
              <a:srgbClr val="CDD9EA"/>
            </a:solidFill>
            <a:prstDash val="solid"/>
          </a:ln>
        </p:spPr>
      </p:sp>
      <p:sp>
        <p:nvSpPr>
          <p:cNvPr id="28" name="Text 23"/>
          <p:cNvSpPr/>
          <p:nvPr/>
        </p:nvSpPr>
        <p:spPr>
          <a:xfrm>
            <a:off x="9446137" y="4541021"/>
            <a:ext cx="901347" cy="220721"/>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Atmospheric</a:t>
            </a:r>
            <a:endParaRPr lang="en-US" sz="1051" dirty="0"/>
          </a:p>
        </p:txBody>
      </p:sp>
      <p:sp>
        <p:nvSpPr>
          <p:cNvPr id="29" name="Text 24"/>
          <p:cNvSpPr/>
          <p:nvPr/>
        </p:nvSpPr>
        <p:spPr>
          <a:xfrm>
            <a:off x="1486674" y="5703649"/>
            <a:ext cx="335301" cy="311151"/>
          </a:xfrm>
          <a:prstGeom prst="rect">
            <a:avLst/>
          </a:prstGeom>
          <a:noFill/>
          <a:ln/>
        </p:spPr>
        <p:txBody>
          <a:bodyPr wrap="square" lIns="16933" tIns="16933" rIns="16933" bIns="16933" rtlCol="0" anchor="t">
            <a:normAutofit fontScale="92500" lnSpcReduction="20000"/>
          </a:bodyPr>
          <a:lstStyle/>
          <a:p>
            <a:pPr>
              <a:lnSpc>
                <a:spcPct val="90000"/>
              </a:lnSpc>
            </a:pPr>
            <a:r>
              <a:rPr lang="en-US" sz="2500" b="1" kern="0" spc="-51" dirty="0">
                <a:solidFill>
                  <a:srgbClr val="003893"/>
                </a:solidFill>
                <a:latin typeface="IBM Plex Mono" pitchFamily="34" charset="0"/>
                <a:ea typeface="IBM Plex Mono" pitchFamily="34" charset="-122"/>
                <a:cs typeface="IBM Plex Mono" pitchFamily="34" charset="-120"/>
              </a:rPr>
              <a:t>1</a:t>
            </a:r>
            <a:r>
              <a:rPr lang="en-US" sz="1400" b="1" kern="0" spc="-51" dirty="0">
                <a:solidFill>
                  <a:srgbClr val="003893"/>
                </a:solidFill>
                <a:latin typeface="IBM Plex Mono" pitchFamily="34" charset="0"/>
                <a:ea typeface="IBM Plex Mono" pitchFamily="34" charset="-122"/>
                <a:cs typeface="IBM Plex Mono" pitchFamily="34" charset="-120"/>
              </a:rPr>
              <a:t>s</a:t>
            </a:r>
            <a:endParaRPr lang="en-US" sz="2500" dirty="0"/>
          </a:p>
        </p:txBody>
      </p:sp>
      <p:sp>
        <p:nvSpPr>
          <p:cNvPr id="30" name="Text 25"/>
          <p:cNvSpPr/>
          <p:nvPr/>
        </p:nvSpPr>
        <p:spPr>
          <a:xfrm>
            <a:off x="1885460" y="5598138"/>
            <a:ext cx="1851263" cy="388255"/>
          </a:xfrm>
          <a:prstGeom prst="rect">
            <a:avLst/>
          </a:prstGeom>
          <a:noFill/>
          <a:ln/>
        </p:spPr>
        <p:txBody>
          <a:bodyPr wrap="square" lIns="16933" tIns="16933" rIns="16933" bIns="16933" rtlCol="0" anchor="t">
            <a:noAutofit/>
          </a:bodyPr>
          <a:lstStyle/>
          <a:p>
            <a:pPr>
              <a:lnSpc>
                <a:spcPct val="130000"/>
              </a:lnSpc>
            </a:pPr>
            <a:r>
              <a:rPr lang="en-US" sz="1333" dirty="0">
                <a:solidFill>
                  <a:srgbClr val="5A6A86"/>
                </a:solidFill>
                <a:latin typeface="IBM Plex Sans" pitchFamily="34" charset="0"/>
                <a:ea typeface="IBM Plex Sans" pitchFamily="34" charset="-122"/>
                <a:cs typeface="IBM Plex Sans" pitchFamily="34" charset="-120"/>
              </a:rPr>
              <a:t>RIEX + NMEA per epoch</a:t>
            </a:r>
            <a:endParaRPr lang="en-US" sz="1333" dirty="0"/>
          </a:p>
        </p:txBody>
      </p:sp>
      <p:sp>
        <p:nvSpPr>
          <p:cNvPr id="31" name="Text 26"/>
          <p:cNvSpPr/>
          <p:nvPr/>
        </p:nvSpPr>
        <p:spPr>
          <a:xfrm>
            <a:off x="4154536" y="5696875"/>
            <a:ext cx="1339689" cy="311151"/>
          </a:xfrm>
          <a:prstGeom prst="rect">
            <a:avLst/>
          </a:prstGeom>
          <a:noFill/>
          <a:ln/>
        </p:spPr>
        <p:txBody>
          <a:bodyPr wrap="square" lIns="16933" tIns="16933" rIns="16933" bIns="16933" rtlCol="0" anchor="t">
            <a:normAutofit fontScale="92500" lnSpcReduction="20000"/>
          </a:bodyPr>
          <a:lstStyle/>
          <a:p>
            <a:pPr>
              <a:lnSpc>
                <a:spcPct val="90000"/>
              </a:lnSpc>
            </a:pPr>
            <a:r>
              <a:rPr lang="en-US" sz="2500" b="1" kern="0" spc="-51" dirty="0">
                <a:solidFill>
                  <a:srgbClr val="003893"/>
                </a:solidFill>
                <a:latin typeface="IBM Plex Mono" pitchFamily="34" charset="0"/>
                <a:ea typeface="IBM Plex Mono" pitchFamily="34" charset="-122"/>
                <a:cs typeface="IBM Plex Mono" pitchFamily="34" charset="-120"/>
              </a:rPr>
              <a:t>30 × 37</a:t>
            </a:r>
            <a:endParaRPr lang="en-US" sz="2500" dirty="0"/>
          </a:p>
        </p:txBody>
      </p:sp>
      <p:sp>
        <p:nvSpPr>
          <p:cNvPr id="32" name="Text 27"/>
          <p:cNvSpPr/>
          <p:nvPr/>
        </p:nvSpPr>
        <p:spPr>
          <a:xfrm>
            <a:off x="5539215" y="5598138"/>
            <a:ext cx="1339689" cy="607804"/>
          </a:xfrm>
          <a:prstGeom prst="rect">
            <a:avLst/>
          </a:prstGeom>
          <a:noFill/>
          <a:ln/>
        </p:spPr>
        <p:txBody>
          <a:bodyPr wrap="square" lIns="16933" tIns="16933" rIns="16933" bIns="16933" rtlCol="0" anchor="t">
            <a:noAutofit/>
          </a:bodyPr>
          <a:lstStyle/>
          <a:p>
            <a:pPr>
              <a:lnSpc>
                <a:spcPct val="130000"/>
              </a:lnSpc>
            </a:pPr>
            <a:r>
              <a:rPr lang="en-US" sz="1333" dirty="0">
                <a:solidFill>
                  <a:srgbClr val="5A6A86"/>
                </a:solidFill>
                <a:latin typeface="IBM Plex Sans" pitchFamily="34" charset="0"/>
                <a:ea typeface="IBM Plex Sans" pitchFamily="34" charset="-122"/>
                <a:cs typeface="IBM Plex Sans" pitchFamily="34" charset="-120"/>
              </a:rPr>
              <a:t>sliding-window tensor</a:t>
            </a:r>
            <a:endParaRPr lang="en-US" sz="1333" dirty="0"/>
          </a:p>
        </p:txBody>
      </p:sp>
      <p:sp>
        <p:nvSpPr>
          <p:cNvPr id="33" name="Text 28"/>
          <p:cNvSpPr/>
          <p:nvPr/>
        </p:nvSpPr>
        <p:spPr>
          <a:xfrm>
            <a:off x="7354037" y="5723969"/>
            <a:ext cx="2379108" cy="311151"/>
          </a:xfrm>
          <a:prstGeom prst="rect">
            <a:avLst/>
          </a:prstGeom>
          <a:noFill/>
          <a:ln/>
        </p:spPr>
        <p:txBody>
          <a:bodyPr wrap="square" lIns="16933" tIns="16933" rIns="16933" bIns="16933" rtlCol="0" anchor="t">
            <a:normAutofit fontScale="92500" lnSpcReduction="20000"/>
          </a:bodyPr>
          <a:lstStyle/>
          <a:p>
            <a:pPr>
              <a:lnSpc>
                <a:spcPct val="90000"/>
              </a:lnSpc>
            </a:pPr>
            <a:r>
              <a:rPr lang="en-US" sz="2500" b="1" kern="0" spc="-51" dirty="0">
                <a:solidFill>
                  <a:srgbClr val="003893"/>
                </a:solidFill>
                <a:latin typeface="IBM Plex Mono" pitchFamily="34" charset="0"/>
                <a:ea typeface="IBM Plex Mono" pitchFamily="34" charset="-122"/>
                <a:cs typeface="IBM Plex Mono" pitchFamily="34" charset="-120"/>
              </a:rPr>
              <a:t>+5 / 15 / 30</a:t>
            </a:r>
            <a:r>
              <a:rPr lang="en-US" sz="1400" b="1" kern="0" spc="-51" dirty="0">
                <a:solidFill>
                  <a:srgbClr val="003893"/>
                </a:solidFill>
                <a:latin typeface="IBM Plex Mono" pitchFamily="34" charset="0"/>
                <a:ea typeface="IBM Plex Mono" pitchFamily="34" charset="-122"/>
                <a:cs typeface="IBM Plex Mono" pitchFamily="34" charset="-120"/>
              </a:rPr>
              <a:t>s</a:t>
            </a:r>
            <a:endParaRPr lang="en-US" sz="2500" dirty="0"/>
          </a:p>
        </p:txBody>
      </p:sp>
      <p:sp>
        <p:nvSpPr>
          <p:cNvPr id="34" name="Text 29"/>
          <p:cNvSpPr/>
          <p:nvPr/>
        </p:nvSpPr>
        <p:spPr>
          <a:xfrm>
            <a:off x="9779074" y="5654578"/>
            <a:ext cx="1136819" cy="607803"/>
          </a:xfrm>
          <a:prstGeom prst="rect">
            <a:avLst/>
          </a:prstGeom>
          <a:noFill/>
          <a:ln/>
        </p:spPr>
        <p:txBody>
          <a:bodyPr wrap="square" lIns="16933" tIns="16933" rIns="16933" bIns="16933" rtlCol="0" anchor="t">
            <a:noAutofit/>
          </a:bodyPr>
          <a:lstStyle/>
          <a:p>
            <a:pPr>
              <a:lnSpc>
                <a:spcPct val="130000"/>
              </a:lnSpc>
            </a:pPr>
            <a:r>
              <a:rPr lang="en-US" sz="1333" dirty="0">
                <a:solidFill>
                  <a:srgbClr val="5A6A86"/>
                </a:solidFill>
                <a:latin typeface="IBM Plex Sans" pitchFamily="34" charset="0"/>
                <a:ea typeface="IBM Plex Sans" pitchFamily="34" charset="-122"/>
                <a:cs typeface="IBM Plex Sans" pitchFamily="34" charset="-120"/>
              </a:rPr>
              <a:t>prediction horizons</a:t>
            </a:r>
            <a:endParaRPr lang="en-US" sz="1333" dirty="0"/>
          </a:p>
        </p:txBody>
      </p:sp>
      <p:sp>
        <p:nvSpPr>
          <p:cNvPr id="35" name="Shape 30"/>
          <p:cNvSpPr/>
          <p:nvPr/>
        </p:nvSpPr>
        <p:spPr>
          <a:xfrm>
            <a:off x="0" y="6489643"/>
            <a:ext cx="12191928" cy="368285"/>
          </a:xfrm>
          <a:prstGeom prst="rect">
            <a:avLst/>
          </a:prstGeom>
          <a:solidFill>
            <a:srgbClr val="003893"/>
          </a:solidFill>
          <a:ln/>
        </p:spPr>
      </p:sp>
      <p:sp>
        <p:nvSpPr>
          <p:cNvPr id="36" name="Text 31"/>
          <p:cNvSpPr/>
          <p:nvPr/>
        </p:nvSpPr>
        <p:spPr>
          <a:xfrm>
            <a:off x="761927" y="6607896"/>
            <a:ext cx="1403629" cy="157104"/>
          </a:xfrm>
          <a:prstGeom prst="rect">
            <a:avLst/>
          </a:prstGeom>
          <a:noFill/>
          <a:ln/>
        </p:spPr>
        <p:txBody>
          <a:bodyPr wrap="square" lIns="16933" tIns="16933" rIns="16933" bIns="16933" rtlCol="0" anchor="t">
            <a:normAutofit/>
          </a:bodyPr>
          <a:lstStyle/>
          <a:p>
            <a:r>
              <a:rPr lang="en-US" sz="800" kern="0" spc="112" dirty="0">
                <a:solidFill>
                  <a:srgbClr val="BFE6FB"/>
                </a:solidFill>
                <a:latin typeface="IBM Plex Mono" pitchFamily="34" charset="0"/>
                <a:ea typeface="IBM Plex Mono" pitchFamily="34" charset="-122"/>
                <a:cs typeface="IBM Plex Mono" pitchFamily="34" charset="-120"/>
              </a:rPr>
              <a:t>BEIHANG UNIVERSITY</a:t>
            </a:r>
            <a:endParaRPr lang="en-US" sz="800" dirty="0"/>
          </a:p>
        </p:txBody>
      </p:sp>
      <p:sp>
        <p:nvSpPr>
          <p:cNvPr id="37" name="Text 32"/>
          <p:cNvSpPr/>
          <p:nvPr/>
        </p:nvSpPr>
        <p:spPr>
          <a:xfrm>
            <a:off x="9851689" y="6607896"/>
            <a:ext cx="1629113" cy="157104"/>
          </a:xfrm>
          <a:prstGeom prst="rect">
            <a:avLst/>
          </a:prstGeom>
          <a:noFill/>
          <a:ln/>
        </p:spPr>
        <p:txBody>
          <a:bodyPr wrap="square" lIns="16933" tIns="16933" rIns="16933" bIns="16933" rtlCol="0" anchor="t">
            <a:normAutofit/>
          </a:bodyPr>
          <a:lstStyle/>
          <a:p>
            <a:r>
              <a:rPr lang="en-US" sz="800" kern="0" spc="112" dirty="0">
                <a:solidFill>
                  <a:srgbClr val="FFFFFF"/>
                </a:solidFill>
                <a:latin typeface="IBM Plex Mono" pitchFamily="34" charset="0"/>
                <a:ea typeface="IBM Plex Mono" pitchFamily="34" charset="-122"/>
                <a:cs typeface="IBM Plex Mono" pitchFamily="34" charset="-120"/>
              </a:rPr>
              <a:t>SENTINEL-GNSS · PILOT</a:t>
            </a:r>
            <a:endParaRPr lang="en-US" sz="800" dirty="0"/>
          </a:p>
        </p:txBody>
      </p:sp>
      <p:grpSp>
        <p:nvGrpSpPr>
          <p:cNvPr id="38" name="Group 37">
            <a:extLst>
              <a:ext uri="{FF2B5EF4-FFF2-40B4-BE49-F238E27FC236}">
                <a16:creationId xmlns:a16="http://schemas.microsoft.com/office/drawing/2014/main" xmlns="" id="{8D09AB04-1C4B-BFA6-6708-05B2EFB9AA7D}"/>
              </a:ext>
            </a:extLst>
          </p:cNvPr>
          <p:cNvGrpSpPr/>
          <p:nvPr/>
        </p:nvGrpSpPr>
        <p:grpSpPr>
          <a:xfrm>
            <a:off x="-95624" y="-24618"/>
            <a:ext cx="12287624" cy="767311"/>
            <a:chOff x="-71718" y="-18464"/>
            <a:chExt cx="9215718" cy="575483"/>
          </a:xfrm>
        </p:grpSpPr>
        <p:sp>
          <p:nvSpPr>
            <p:cNvPr id="39" name="Shape 0">
              <a:extLst>
                <a:ext uri="{FF2B5EF4-FFF2-40B4-BE49-F238E27FC236}">
                  <a16:creationId xmlns:a16="http://schemas.microsoft.com/office/drawing/2014/main" xmlns="" id="{8C34A9CD-459D-9997-0964-E79377D1C26C}"/>
                </a:ext>
              </a:extLst>
            </p:cNvPr>
            <p:cNvSpPr/>
            <p:nvPr/>
          </p:nvSpPr>
          <p:spPr>
            <a:xfrm>
              <a:off x="0" y="1451"/>
              <a:ext cx="9144000" cy="555306"/>
            </a:xfrm>
            <a:prstGeom prst="rect">
              <a:avLst/>
            </a:prstGeom>
            <a:solidFill>
              <a:srgbClr val="003893"/>
            </a:solidFill>
            <a:ln w="12700">
              <a:solidFill>
                <a:srgbClr val="003893"/>
              </a:solidFill>
              <a:prstDash val="solid"/>
            </a:ln>
          </p:spPr>
        </p:sp>
        <p:sp>
          <p:nvSpPr>
            <p:cNvPr id="40" name="Shape 1">
              <a:extLst>
                <a:ext uri="{FF2B5EF4-FFF2-40B4-BE49-F238E27FC236}">
                  <a16:creationId xmlns:a16="http://schemas.microsoft.com/office/drawing/2014/main" xmlns="" id="{F2681B20-F38A-74FC-EEC6-3623C8787F95}"/>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41" name="Shape 4">
              <a:extLst>
                <a:ext uri="{FF2B5EF4-FFF2-40B4-BE49-F238E27FC236}">
                  <a16:creationId xmlns:a16="http://schemas.microsoft.com/office/drawing/2014/main" xmlns="" id="{9992D5A3-07A2-586C-471B-1AEA6BDDFDDB}"/>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42" name="Shape 5">
              <a:extLst>
                <a:ext uri="{FF2B5EF4-FFF2-40B4-BE49-F238E27FC236}">
                  <a16:creationId xmlns:a16="http://schemas.microsoft.com/office/drawing/2014/main" xmlns="" id="{D5DD6FBB-3426-FD62-A948-3012850FAEED}"/>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43" name="Shape 6">
              <a:extLst>
                <a:ext uri="{FF2B5EF4-FFF2-40B4-BE49-F238E27FC236}">
                  <a16:creationId xmlns:a16="http://schemas.microsoft.com/office/drawing/2014/main" xmlns="" id="{EF101E4A-F7A1-75FB-3079-CA5ED737E907}"/>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44" name="Shape 7">
              <a:extLst>
                <a:ext uri="{FF2B5EF4-FFF2-40B4-BE49-F238E27FC236}">
                  <a16:creationId xmlns:a16="http://schemas.microsoft.com/office/drawing/2014/main" xmlns="" id="{AA5AF7EA-CA33-87A6-387A-527BEFDB7DC7}"/>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45" name="Shape 8">
              <a:extLst>
                <a:ext uri="{FF2B5EF4-FFF2-40B4-BE49-F238E27FC236}">
                  <a16:creationId xmlns:a16="http://schemas.microsoft.com/office/drawing/2014/main" xmlns="" id="{7B03D3A6-3454-3BFB-F14D-D351E7E3AC14}"/>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46" name="Shape 9">
              <a:extLst>
                <a:ext uri="{FF2B5EF4-FFF2-40B4-BE49-F238E27FC236}">
                  <a16:creationId xmlns:a16="http://schemas.microsoft.com/office/drawing/2014/main" xmlns="" id="{F40B6E5D-BC49-93EC-4D59-5C2EA65D8C47}"/>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47" name="Shape 10">
              <a:extLst>
                <a:ext uri="{FF2B5EF4-FFF2-40B4-BE49-F238E27FC236}">
                  <a16:creationId xmlns:a16="http://schemas.microsoft.com/office/drawing/2014/main" xmlns="" id="{AC3A7623-D09D-8C95-5284-F4F2247018B1}"/>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48" name="Shape 11">
              <a:extLst>
                <a:ext uri="{FF2B5EF4-FFF2-40B4-BE49-F238E27FC236}">
                  <a16:creationId xmlns:a16="http://schemas.microsoft.com/office/drawing/2014/main" xmlns="" id="{F1B54E4E-DA17-4D2B-4DDD-8B6474ADCB12}"/>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49" name="Shape 12">
              <a:extLst>
                <a:ext uri="{FF2B5EF4-FFF2-40B4-BE49-F238E27FC236}">
                  <a16:creationId xmlns:a16="http://schemas.microsoft.com/office/drawing/2014/main" xmlns="" id="{68E2CA5C-9F11-3D5F-296F-352BFE2CC9D0}"/>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50" name="Shape 13">
              <a:extLst>
                <a:ext uri="{FF2B5EF4-FFF2-40B4-BE49-F238E27FC236}">
                  <a16:creationId xmlns:a16="http://schemas.microsoft.com/office/drawing/2014/main" xmlns="" id="{C6C257A0-92CA-2D25-5C3D-7E9214CBDAA4}"/>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51" name="Shape 14">
              <a:extLst>
                <a:ext uri="{FF2B5EF4-FFF2-40B4-BE49-F238E27FC236}">
                  <a16:creationId xmlns:a16="http://schemas.microsoft.com/office/drawing/2014/main" xmlns="" id="{84CFACC2-8699-BC6F-39D8-9191648284BA}"/>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52" name="Shape 15">
              <a:extLst>
                <a:ext uri="{FF2B5EF4-FFF2-40B4-BE49-F238E27FC236}">
                  <a16:creationId xmlns:a16="http://schemas.microsoft.com/office/drawing/2014/main" xmlns="" id="{82C56113-CCC6-3469-DD3B-A6171C8F8212}"/>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53" name="Shape 16">
              <a:extLst>
                <a:ext uri="{FF2B5EF4-FFF2-40B4-BE49-F238E27FC236}">
                  <a16:creationId xmlns:a16="http://schemas.microsoft.com/office/drawing/2014/main" xmlns="" id="{64E4E338-6B91-96E0-2F10-3BB273E2AEBE}"/>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54" name="Picture 53">
              <a:extLst>
                <a:ext uri="{FF2B5EF4-FFF2-40B4-BE49-F238E27FC236}">
                  <a16:creationId xmlns:a16="http://schemas.microsoft.com/office/drawing/2014/main" xmlns="" id="{6B8F513D-7679-1FA4-1905-FE4B552FE9AC}"/>
                </a:ext>
              </a:extLst>
            </p:cNvPr>
            <p:cNvPicPr>
              <a:picLocks noChangeAspect="1"/>
            </p:cNvPicPr>
            <p:nvPr/>
          </p:nvPicPr>
          <p:blipFill>
            <a:blip r:embed="rId4"/>
            <a:srcRect l="20128" t="19209" r="10255" b="19209"/>
            <a:stretch/>
          </p:blipFill>
          <p:spPr>
            <a:xfrm>
              <a:off x="-71718" y="-18464"/>
              <a:ext cx="927596" cy="575483"/>
            </a:xfrm>
            <a:prstGeom prst="rect">
              <a:avLst/>
            </a:prstGeom>
          </p:spPr>
        </p:pic>
      </p:grpSp>
      <p:sp>
        <p:nvSpPr>
          <p:cNvPr id="3" name="TopLabel">
            <a:extLst>
              <a:ext uri="{FF2B5EF4-FFF2-40B4-BE49-F238E27FC236}">
                <a16:creationId xmlns:a16="http://schemas.microsoft.com/office/drawing/2014/main" xmlns="" id="{E1449DB4-E893-DAB9-BB3D-932189A2B1A3}"/>
              </a:ext>
            </a:extLst>
          </p:cNvPr>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chemeClr val="bg1"/>
                </a:solidFill>
              </a:rPr>
              <a:t>METHODOLOGY</a:t>
            </a:r>
            <a:endParaRPr lang="en-US" sz="3200" b="1" dirty="0">
              <a:solidFill>
                <a:srgbClr val="FFFFFF"/>
              </a:solidFill>
              <a:latin typeface="Calibri"/>
              <a:ea typeface="Calibri"/>
              <a:cs typeface="Calibri"/>
            </a:endParaRPr>
          </a:p>
        </p:txBody>
      </p:sp>
      <p:pic>
        <p:nvPicPr>
          <p:cNvPr id="5" name="Picture 4">
            <a:extLst>
              <a:ext uri="{FF2B5EF4-FFF2-40B4-BE49-F238E27FC236}">
                <a16:creationId xmlns:a16="http://schemas.microsoft.com/office/drawing/2014/main" xmlns="" id="{30017ED5-B2F7-CFDA-DA24-D075DD7D7C08}"/>
              </a:ext>
            </a:extLst>
          </p:cNvPr>
          <p:cNvPicPr>
            <a:picLocks noChangeAspect="1"/>
          </p:cNvPicPr>
          <p:nvPr/>
        </p:nvPicPr>
        <p:blipFill>
          <a:blip r:embed="rId5"/>
          <a:stretch>
            <a:fillRect/>
          </a:stretch>
        </p:blipFill>
        <p:spPr>
          <a:xfrm>
            <a:off x="1344647" y="1654664"/>
            <a:ext cx="8839819" cy="230837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72" y="0"/>
            <a:ext cx="12191928" cy="6857928"/>
          </a:xfrm>
          <a:prstGeom prst="rect">
            <a:avLst/>
          </a:prstGeom>
        </p:spPr>
      </p:pic>
      <p:sp>
        <p:nvSpPr>
          <p:cNvPr id="11" name="Text 7"/>
          <p:cNvSpPr/>
          <p:nvPr/>
        </p:nvSpPr>
        <p:spPr>
          <a:xfrm>
            <a:off x="761927" y="1284805"/>
            <a:ext cx="10988117" cy="465859"/>
          </a:xfrm>
          <a:prstGeom prst="rect">
            <a:avLst/>
          </a:prstGeom>
          <a:noFill/>
          <a:ln/>
        </p:spPr>
        <p:txBody>
          <a:bodyPr wrap="square" lIns="16933" tIns="16933" rIns="16933" bIns="16933" rtlCol="0" anchor="t">
            <a:normAutofit fontScale="92500" lnSpcReduction="20000"/>
          </a:bodyPr>
          <a:lstStyle/>
          <a:p>
            <a:pPr>
              <a:lnSpc>
                <a:spcPct val="104000"/>
              </a:lnSpc>
            </a:pPr>
            <a:r>
              <a:rPr lang="en-US" sz="3336" b="1" kern="0" spc="-33" dirty="0">
                <a:solidFill>
                  <a:srgbClr val="0A1733"/>
                </a:solidFill>
                <a:latin typeface="IBM Plex Sans" pitchFamily="34" charset="0"/>
                <a:ea typeface="IBM Plex Sans" pitchFamily="34" charset="-122"/>
                <a:cs typeface="IBM Plex Sans" pitchFamily="34" charset="-120"/>
              </a:rPr>
              <a:t>Inside SENTINEL-GNSS</a:t>
            </a:r>
            <a:endParaRPr lang="en-US" sz="3336" dirty="0"/>
          </a:p>
        </p:txBody>
      </p:sp>
      <p:sp>
        <p:nvSpPr>
          <p:cNvPr id="12" name="Shape 8"/>
          <p:cNvSpPr/>
          <p:nvPr/>
        </p:nvSpPr>
        <p:spPr>
          <a:xfrm>
            <a:off x="1756174" y="1926844"/>
            <a:ext cx="9125863" cy="3301928"/>
          </a:xfrm>
          <a:prstGeom prst="roundRect">
            <a:avLst>
              <a:gd name="adj" fmla="val 2308"/>
            </a:avLst>
          </a:prstGeom>
          <a:solidFill>
            <a:srgbClr val="FFFFFF"/>
          </a:solidFill>
          <a:ln w="7056">
            <a:solidFill>
              <a:srgbClr val="CDD9EA"/>
            </a:solidFill>
            <a:prstDash val="solid"/>
          </a:ln>
          <a:effectLst>
            <a:outerShdw blurRad="285750" dist="95250" dir="5400000" algn="bl" rotWithShape="0">
              <a:srgbClr val="002A6E">
                <a:alpha val="45000"/>
              </a:srgbClr>
            </a:outerShdw>
          </a:effectLst>
        </p:spPr>
      </p:sp>
      <p:pic>
        <p:nvPicPr>
          <p:cNvPr id="13" name="Image 2" descr="preencoded.png"/>
          <p:cNvPicPr>
            <a:picLocks noChangeAspect="1"/>
          </p:cNvPicPr>
          <p:nvPr/>
        </p:nvPicPr>
        <p:blipFill>
          <a:blip r:embed="rId4"/>
          <a:srcRect/>
          <a:stretch/>
        </p:blipFill>
        <p:spPr>
          <a:xfrm>
            <a:off x="1756175" y="1906203"/>
            <a:ext cx="9125861" cy="3301928"/>
          </a:xfrm>
          <a:prstGeom prst="rect">
            <a:avLst/>
          </a:prstGeom>
        </p:spPr>
      </p:pic>
      <p:sp>
        <p:nvSpPr>
          <p:cNvPr id="14" name="Text 9"/>
          <p:cNvSpPr/>
          <p:nvPr/>
        </p:nvSpPr>
        <p:spPr>
          <a:xfrm>
            <a:off x="328434" y="5384313"/>
            <a:ext cx="873655" cy="472252"/>
          </a:xfrm>
          <a:prstGeom prst="rect">
            <a:avLst/>
          </a:prstGeom>
          <a:noFill/>
          <a:ln/>
        </p:spPr>
        <p:txBody>
          <a:bodyPr wrap="square" lIns="0" tIns="0" rIns="0" bIns="0" rtlCol="0" anchor="t">
            <a:normAutofit/>
          </a:bodyPr>
          <a:lstStyle/>
          <a:p>
            <a:r>
              <a:rPr lang="en-US" sz="2700" b="1" dirty="0">
                <a:solidFill>
                  <a:srgbClr val="003893"/>
                </a:solidFill>
                <a:latin typeface="IBM Plex Mono" pitchFamily="34" charset="0"/>
                <a:ea typeface="IBM Plex Mono" pitchFamily="34" charset="-122"/>
                <a:cs typeface="IBM Plex Mono" pitchFamily="34" charset="-120"/>
              </a:rPr>
              <a:t>1.46</a:t>
            </a:r>
            <a:endParaRPr lang="en-US" sz="2700" dirty="0"/>
          </a:p>
        </p:txBody>
      </p:sp>
      <p:sp>
        <p:nvSpPr>
          <p:cNvPr id="15" name="Text 10"/>
          <p:cNvSpPr/>
          <p:nvPr/>
        </p:nvSpPr>
        <p:spPr>
          <a:xfrm>
            <a:off x="1151288" y="5553646"/>
            <a:ext cx="264157" cy="255881"/>
          </a:xfrm>
          <a:prstGeom prst="rect">
            <a:avLst/>
          </a:prstGeom>
          <a:noFill/>
          <a:ln/>
        </p:spPr>
        <p:txBody>
          <a:bodyPr wrap="square" lIns="16933" tIns="16933" rIns="16933" bIns="16933" rtlCol="0" anchor="t">
            <a:normAutofit/>
          </a:bodyPr>
          <a:lstStyle/>
          <a:p>
            <a:r>
              <a:rPr lang="en-US" sz="1400" b="1" dirty="0">
                <a:solidFill>
                  <a:srgbClr val="003893"/>
                </a:solidFill>
                <a:latin typeface="IBM Plex Mono" pitchFamily="34" charset="0"/>
                <a:ea typeface="IBM Plex Mono" pitchFamily="34" charset="-122"/>
                <a:cs typeface="IBM Plex Mono" pitchFamily="34" charset="-120"/>
              </a:rPr>
              <a:t>M</a:t>
            </a:r>
            <a:endParaRPr lang="en-US" sz="1400" dirty="0"/>
          </a:p>
        </p:txBody>
      </p:sp>
      <p:sp>
        <p:nvSpPr>
          <p:cNvPr id="16" name="Text 11"/>
          <p:cNvSpPr/>
          <p:nvPr/>
        </p:nvSpPr>
        <p:spPr>
          <a:xfrm>
            <a:off x="328435" y="5821756"/>
            <a:ext cx="1427739" cy="465859"/>
          </a:xfrm>
          <a:prstGeom prst="rect">
            <a:avLst/>
          </a:prstGeom>
          <a:noFill/>
          <a:ln/>
        </p:spPr>
        <p:txBody>
          <a:bodyPr wrap="square" lIns="16933" tIns="16933" rIns="16933" bIns="16933" rtlCol="0" anchor="t">
            <a:noAutofit/>
          </a:bodyPr>
          <a:lstStyle/>
          <a:p>
            <a:r>
              <a:rPr lang="en-US" sz="1067" dirty="0">
                <a:solidFill>
                  <a:srgbClr val="5A6A86"/>
                </a:solidFill>
                <a:latin typeface="IBM Plex Sans" pitchFamily="34" charset="0"/>
                <a:ea typeface="IBM Plex Sans" pitchFamily="34" charset="-122"/>
                <a:cs typeface="IBM Plex Sans" pitchFamily="34" charset="-120"/>
              </a:rPr>
              <a:t>· trainable parameters · one forward pass</a:t>
            </a:r>
            <a:endParaRPr lang="en-US" sz="1067" dirty="0"/>
          </a:p>
        </p:txBody>
      </p:sp>
      <p:sp>
        <p:nvSpPr>
          <p:cNvPr id="17" name="Shape 12"/>
          <p:cNvSpPr/>
          <p:nvPr/>
        </p:nvSpPr>
        <p:spPr>
          <a:xfrm>
            <a:off x="2481647" y="5513390"/>
            <a:ext cx="2227935" cy="379493"/>
          </a:xfrm>
          <a:prstGeom prst="roundRect">
            <a:avLst>
              <a:gd name="adj" fmla="val 8348"/>
            </a:avLst>
          </a:prstGeom>
          <a:solidFill>
            <a:srgbClr val="FFFFFF">
              <a:alpha val="72000"/>
            </a:srgbClr>
          </a:solidFill>
          <a:ln w="7056">
            <a:solidFill>
              <a:srgbClr val="CDD9EA"/>
            </a:solidFill>
            <a:prstDash val="solid"/>
          </a:ln>
        </p:spPr>
      </p:sp>
      <p:sp>
        <p:nvSpPr>
          <p:cNvPr id="18" name="Text 13"/>
          <p:cNvSpPr/>
          <p:nvPr/>
        </p:nvSpPr>
        <p:spPr>
          <a:xfrm>
            <a:off x="2594301" y="5583608"/>
            <a:ext cx="1950607" cy="267752"/>
          </a:xfrm>
          <a:prstGeom prst="rect">
            <a:avLst/>
          </a:prstGeom>
          <a:noFill/>
          <a:ln/>
        </p:spPr>
        <p:txBody>
          <a:bodyPr wrap="square" lIns="16933" tIns="16933" rIns="16933" bIns="16933" rtlCol="0" anchor="t">
            <a:noAutofit/>
          </a:bodyPr>
          <a:lstStyle/>
          <a:p>
            <a:r>
              <a:rPr lang="en-US" sz="1200" dirty="0">
                <a:solidFill>
                  <a:srgbClr val="0A1733"/>
                </a:solidFill>
                <a:latin typeface="IBM Plex Mono" pitchFamily="34" charset="0"/>
                <a:ea typeface="IBM Plex Mono" pitchFamily="34" charset="-122"/>
                <a:cs typeface="IBM Plex Mono" pitchFamily="34" charset="-120"/>
              </a:rPr>
              <a:t>focal loss · γ = 1.0</a:t>
            </a:r>
            <a:endParaRPr lang="en-US" sz="1200" dirty="0"/>
          </a:p>
        </p:txBody>
      </p:sp>
      <p:sp>
        <p:nvSpPr>
          <p:cNvPr id="23" name="Shape 18"/>
          <p:cNvSpPr/>
          <p:nvPr/>
        </p:nvSpPr>
        <p:spPr>
          <a:xfrm>
            <a:off x="0" y="6489643"/>
            <a:ext cx="12191928" cy="368285"/>
          </a:xfrm>
          <a:prstGeom prst="rect">
            <a:avLst/>
          </a:prstGeom>
          <a:solidFill>
            <a:srgbClr val="003893"/>
          </a:solidFill>
          <a:ln/>
        </p:spPr>
      </p:sp>
      <p:sp>
        <p:nvSpPr>
          <p:cNvPr id="24" name="Text 19"/>
          <p:cNvSpPr/>
          <p:nvPr/>
        </p:nvSpPr>
        <p:spPr>
          <a:xfrm>
            <a:off x="761927" y="6607896"/>
            <a:ext cx="1403629" cy="157104"/>
          </a:xfrm>
          <a:prstGeom prst="rect">
            <a:avLst/>
          </a:prstGeom>
          <a:noFill/>
          <a:ln/>
        </p:spPr>
        <p:txBody>
          <a:bodyPr wrap="square" lIns="16933" tIns="16933" rIns="16933" bIns="16933" rtlCol="0" anchor="t">
            <a:normAutofit/>
          </a:bodyPr>
          <a:lstStyle/>
          <a:p>
            <a:r>
              <a:rPr lang="en-US" sz="800" kern="0" spc="112" dirty="0">
                <a:solidFill>
                  <a:srgbClr val="BFE6FB"/>
                </a:solidFill>
                <a:latin typeface="IBM Plex Mono" pitchFamily="34" charset="0"/>
                <a:ea typeface="IBM Plex Mono" pitchFamily="34" charset="-122"/>
                <a:cs typeface="IBM Plex Mono" pitchFamily="34" charset="-120"/>
              </a:rPr>
              <a:t>BEIHANG UNIVERSITY</a:t>
            </a:r>
            <a:endParaRPr lang="en-US" sz="800" dirty="0"/>
          </a:p>
        </p:txBody>
      </p:sp>
      <p:sp>
        <p:nvSpPr>
          <p:cNvPr id="25" name="Text 20"/>
          <p:cNvSpPr/>
          <p:nvPr/>
        </p:nvSpPr>
        <p:spPr>
          <a:xfrm>
            <a:off x="9851689" y="6607896"/>
            <a:ext cx="1629113" cy="157104"/>
          </a:xfrm>
          <a:prstGeom prst="rect">
            <a:avLst/>
          </a:prstGeom>
          <a:noFill/>
          <a:ln/>
        </p:spPr>
        <p:txBody>
          <a:bodyPr wrap="square" lIns="16933" tIns="16933" rIns="16933" bIns="16933" rtlCol="0" anchor="t">
            <a:normAutofit/>
          </a:bodyPr>
          <a:lstStyle/>
          <a:p>
            <a:r>
              <a:rPr lang="en-US" sz="800" kern="0" spc="112" dirty="0">
                <a:solidFill>
                  <a:srgbClr val="FFFFFF"/>
                </a:solidFill>
                <a:latin typeface="IBM Plex Mono" pitchFamily="34" charset="0"/>
                <a:ea typeface="IBM Plex Mono" pitchFamily="34" charset="-122"/>
                <a:cs typeface="IBM Plex Mono" pitchFamily="34" charset="-120"/>
              </a:rPr>
              <a:t>SENTINEL-GNSS · PILOT</a:t>
            </a:r>
            <a:endParaRPr lang="en-US" sz="800" dirty="0"/>
          </a:p>
        </p:txBody>
      </p:sp>
      <p:grpSp>
        <p:nvGrpSpPr>
          <p:cNvPr id="26" name="Group 25">
            <a:extLst>
              <a:ext uri="{FF2B5EF4-FFF2-40B4-BE49-F238E27FC236}">
                <a16:creationId xmlns:a16="http://schemas.microsoft.com/office/drawing/2014/main" xmlns="" id="{96924E11-E98D-D243-957E-EA2ACE05C569}"/>
              </a:ext>
            </a:extLst>
          </p:cNvPr>
          <p:cNvGrpSpPr/>
          <p:nvPr/>
        </p:nvGrpSpPr>
        <p:grpSpPr>
          <a:xfrm>
            <a:off x="-95624" y="-24618"/>
            <a:ext cx="12287624" cy="767311"/>
            <a:chOff x="-71718" y="-18464"/>
            <a:chExt cx="9215718" cy="575483"/>
          </a:xfrm>
        </p:grpSpPr>
        <p:sp>
          <p:nvSpPr>
            <p:cNvPr id="27" name="Shape 0">
              <a:extLst>
                <a:ext uri="{FF2B5EF4-FFF2-40B4-BE49-F238E27FC236}">
                  <a16:creationId xmlns:a16="http://schemas.microsoft.com/office/drawing/2014/main" xmlns="" id="{9122362D-F64B-24F0-067B-9100D7DB0AC9}"/>
                </a:ext>
              </a:extLst>
            </p:cNvPr>
            <p:cNvSpPr/>
            <p:nvPr/>
          </p:nvSpPr>
          <p:spPr>
            <a:xfrm>
              <a:off x="0" y="1451"/>
              <a:ext cx="9144000" cy="555306"/>
            </a:xfrm>
            <a:prstGeom prst="rect">
              <a:avLst/>
            </a:prstGeom>
            <a:solidFill>
              <a:srgbClr val="003893"/>
            </a:solidFill>
            <a:ln w="12700">
              <a:solidFill>
                <a:srgbClr val="003893"/>
              </a:solidFill>
              <a:prstDash val="solid"/>
            </a:ln>
          </p:spPr>
        </p:sp>
        <p:sp>
          <p:nvSpPr>
            <p:cNvPr id="28" name="Shape 1">
              <a:extLst>
                <a:ext uri="{FF2B5EF4-FFF2-40B4-BE49-F238E27FC236}">
                  <a16:creationId xmlns:a16="http://schemas.microsoft.com/office/drawing/2014/main" xmlns="" id="{58427887-7980-4D37-DB5F-41296FDFBF42}"/>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29" name="Shape 4">
              <a:extLst>
                <a:ext uri="{FF2B5EF4-FFF2-40B4-BE49-F238E27FC236}">
                  <a16:creationId xmlns:a16="http://schemas.microsoft.com/office/drawing/2014/main" xmlns="" id="{6A9D3119-1BD6-2777-36C3-7D69350A7815}"/>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30" name="Shape 5">
              <a:extLst>
                <a:ext uri="{FF2B5EF4-FFF2-40B4-BE49-F238E27FC236}">
                  <a16:creationId xmlns:a16="http://schemas.microsoft.com/office/drawing/2014/main" xmlns="" id="{57CC8F4E-331B-AD91-A827-F5E5298F1512}"/>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31" name="Shape 6">
              <a:extLst>
                <a:ext uri="{FF2B5EF4-FFF2-40B4-BE49-F238E27FC236}">
                  <a16:creationId xmlns:a16="http://schemas.microsoft.com/office/drawing/2014/main" xmlns="" id="{8680FC17-9C4D-5F25-0DB0-7C6E521A1101}"/>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32" name="Shape 7">
              <a:extLst>
                <a:ext uri="{FF2B5EF4-FFF2-40B4-BE49-F238E27FC236}">
                  <a16:creationId xmlns:a16="http://schemas.microsoft.com/office/drawing/2014/main" xmlns="" id="{C0489106-098F-9CC6-71E5-18375CBCF1DF}"/>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33" name="Shape 8">
              <a:extLst>
                <a:ext uri="{FF2B5EF4-FFF2-40B4-BE49-F238E27FC236}">
                  <a16:creationId xmlns:a16="http://schemas.microsoft.com/office/drawing/2014/main" xmlns="" id="{19D98C45-D9CC-CE2B-74F3-57BC17B5B69E}"/>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34" name="Shape 9">
              <a:extLst>
                <a:ext uri="{FF2B5EF4-FFF2-40B4-BE49-F238E27FC236}">
                  <a16:creationId xmlns:a16="http://schemas.microsoft.com/office/drawing/2014/main" xmlns="" id="{2DBCEF41-DC97-BB00-869C-3DF77E44FBF9}"/>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35" name="Shape 10">
              <a:extLst>
                <a:ext uri="{FF2B5EF4-FFF2-40B4-BE49-F238E27FC236}">
                  <a16:creationId xmlns:a16="http://schemas.microsoft.com/office/drawing/2014/main" xmlns="" id="{BA83516F-3A9F-98F8-4009-F619C2AF3577}"/>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36" name="Shape 11">
              <a:extLst>
                <a:ext uri="{FF2B5EF4-FFF2-40B4-BE49-F238E27FC236}">
                  <a16:creationId xmlns:a16="http://schemas.microsoft.com/office/drawing/2014/main" xmlns="" id="{38960180-8A8D-6DFC-3A0E-0398E1C665B3}"/>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37" name="Shape 12">
              <a:extLst>
                <a:ext uri="{FF2B5EF4-FFF2-40B4-BE49-F238E27FC236}">
                  <a16:creationId xmlns:a16="http://schemas.microsoft.com/office/drawing/2014/main" xmlns="" id="{A72A36A9-9807-F829-55BB-18F60DA2A9CD}"/>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38" name="Shape 13">
              <a:extLst>
                <a:ext uri="{FF2B5EF4-FFF2-40B4-BE49-F238E27FC236}">
                  <a16:creationId xmlns:a16="http://schemas.microsoft.com/office/drawing/2014/main" xmlns="" id="{AD782100-A76A-6E56-01D4-64219AA44436}"/>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39" name="Shape 14">
              <a:extLst>
                <a:ext uri="{FF2B5EF4-FFF2-40B4-BE49-F238E27FC236}">
                  <a16:creationId xmlns:a16="http://schemas.microsoft.com/office/drawing/2014/main" xmlns="" id="{350EBA46-9079-6CB5-6AC0-E62E30B627ED}"/>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40" name="Shape 15">
              <a:extLst>
                <a:ext uri="{FF2B5EF4-FFF2-40B4-BE49-F238E27FC236}">
                  <a16:creationId xmlns:a16="http://schemas.microsoft.com/office/drawing/2014/main" xmlns="" id="{72DA8FD2-22F2-2D7C-ABB8-60A7B8E7784A}"/>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41" name="Shape 16">
              <a:extLst>
                <a:ext uri="{FF2B5EF4-FFF2-40B4-BE49-F238E27FC236}">
                  <a16:creationId xmlns:a16="http://schemas.microsoft.com/office/drawing/2014/main" xmlns="" id="{90750C28-99EE-E507-F163-EE5FFB70EB3B}"/>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42" name="Picture 41">
              <a:extLst>
                <a:ext uri="{FF2B5EF4-FFF2-40B4-BE49-F238E27FC236}">
                  <a16:creationId xmlns:a16="http://schemas.microsoft.com/office/drawing/2014/main" xmlns="" id="{697A2DFA-17FE-4730-E1E9-E6134E5D40ED}"/>
                </a:ext>
              </a:extLst>
            </p:cNvPr>
            <p:cNvPicPr>
              <a:picLocks noChangeAspect="1"/>
            </p:cNvPicPr>
            <p:nvPr/>
          </p:nvPicPr>
          <p:blipFill>
            <a:blip r:embed="rId5"/>
            <a:srcRect l="20128" t="19209" r="10255" b="19209"/>
            <a:stretch/>
          </p:blipFill>
          <p:spPr>
            <a:xfrm>
              <a:off x="-71718" y="-18464"/>
              <a:ext cx="927596" cy="575483"/>
            </a:xfrm>
            <a:prstGeom prst="rect">
              <a:avLst/>
            </a:prstGeom>
          </p:spPr>
        </p:pic>
      </p:grpSp>
      <p:sp>
        <p:nvSpPr>
          <p:cNvPr id="44" name="Shape 12">
            <a:extLst>
              <a:ext uri="{FF2B5EF4-FFF2-40B4-BE49-F238E27FC236}">
                <a16:creationId xmlns:a16="http://schemas.microsoft.com/office/drawing/2014/main" xmlns="" id="{602020F9-8F8E-078B-7ECF-EBD20A2EBEDF}"/>
              </a:ext>
            </a:extLst>
          </p:cNvPr>
          <p:cNvSpPr/>
          <p:nvPr/>
        </p:nvSpPr>
        <p:spPr>
          <a:xfrm>
            <a:off x="4870028" y="5513390"/>
            <a:ext cx="2629320" cy="379492"/>
          </a:xfrm>
          <a:prstGeom prst="roundRect">
            <a:avLst>
              <a:gd name="adj" fmla="val 8348"/>
            </a:avLst>
          </a:prstGeom>
          <a:solidFill>
            <a:srgbClr val="FFFFFF">
              <a:alpha val="72000"/>
            </a:srgbClr>
          </a:solidFill>
          <a:ln w="7056">
            <a:solidFill>
              <a:srgbClr val="CDD9EA"/>
            </a:solidFill>
            <a:prstDash val="solid"/>
          </a:ln>
        </p:spPr>
        <p:txBody>
          <a:bodyPr/>
          <a:lstStyle/>
          <a:p>
            <a:pPr algn="ctr"/>
            <a:r>
              <a:rPr lang="en-US" sz="1200" dirty="0">
                <a:solidFill>
                  <a:srgbClr val="0A1733"/>
                </a:solidFill>
                <a:latin typeface="IBM Plex Mono" pitchFamily="34" charset="0"/>
                <a:ea typeface="IBM Plex Mono" pitchFamily="34" charset="-122"/>
                <a:cs typeface="IBM Plex Mono" pitchFamily="34" charset="-120"/>
              </a:rPr>
              <a:t>class weights [1 · 2 · 5]</a:t>
            </a:r>
            <a:endParaRPr lang="en-US" sz="1200" dirty="0"/>
          </a:p>
          <a:p>
            <a:endParaRPr lang="en-US" sz="2400" dirty="0"/>
          </a:p>
        </p:txBody>
      </p:sp>
      <p:sp>
        <p:nvSpPr>
          <p:cNvPr id="45" name="Shape 12">
            <a:extLst>
              <a:ext uri="{FF2B5EF4-FFF2-40B4-BE49-F238E27FC236}">
                <a16:creationId xmlns:a16="http://schemas.microsoft.com/office/drawing/2014/main" xmlns="" id="{6A21AF6B-9D89-008E-CD13-467C370F3625}"/>
              </a:ext>
            </a:extLst>
          </p:cNvPr>
          <p:cNvSpPr/>
          <p:nvPr/>
        </p:nvSpPr>
        <p:spPr>
          <a:xfrm>
            <a:off x="7684710" y="5514491"/>
            <a:ext cx="3064569" cy="379492"/>
          </a:xfrm>
          <a:prstGeom prst="roundRect">
            <a:avLst>
              <a:gd name="adj" fmla="val 8348"/>
            </a:avLst>
          </a:prstGeom>
          <a:solidFill>
            <a:srgbClr val="FFFFFF">
              <a:alpha val="72000"/>
            </a:srgbClr>
          </a:solidFill>
          <a:ln w="7056">
            <a:solidFill>
              <a:srgbClr val="CDD9EA"/>
            </a:solidFill>
            <a:prstDash val="solid"/>
          </a:ln>
        </p:spPr>
        <p:txBody>
          <a:bodyPr/>
          <a:lstStyle/>
          <a:p>
            <a:r>
              <a:rPr lang="en-US" sz="1067" dirty="0">
                <a:solidFill>
                  <a:srgbClr val="0A1733"/>
                </a:solidFill>
                <a:latin typeface="IBM Plex Mono" pitchFamily="34" charset="0"/>
                <a:ea typeface="IBM Plex Mono" pitchFamily="34" charset="-122"/>
                <a:cs typeface="IBM Plex Mono" pitchFamily="34" charset="-120"/>
              </a:rPr>
              <a:t>no SMOTE — imbalance at loss level</a:t>
            </a:r>
            <a:endParaRPr lang="en-US" sz="1067" dirty="0"/>
          </a:p>
          <a:p>
            <a:endParaRPr lang="en-US" sz="2400" dirty="0"/>
          </a:p>
        </p:txBody>
      </p:sp>
      <p:sp>
        <p:nvSpPr>
          <p:cNvPr id="3" name="TopLabel">
            <a:extLst>
              <a:ext uri="{FF2B5EF4-FFF2-40B4-BE49-F238E27FC236}">
                <a16:creationId xmlns:a16="http://schemas.microsoft.com/office/drawing/2014/main" xmlns="" id="{5915431F-4D49-014E-4C44-9F15A0C1ECD9}"/>
              </a:ext>
            </a:extLst>
          </p:cNvPr>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chemeClr val="bg1"/>
                </a:solidFill>
              </a:rPr>
              <a:t>METHODOLOGY</a:t>
            </a:r>
            <a:endParaRPr lang="en-US" sz="3200" b="1" dirty="0">
              <a:solidFill>
                <a:srgbClr val="FFFFFF"/>
              </a:solidFill>
              <a:latin typeface="Calibri"/>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044453"/>
          </a:xfrm>
          <a:prstGeom prst="rect">
            <a:avLst/>
          </a:prstGeom>
          <a:noFill/>
        </p:spPr>
        <p:txBody>
          <a:bodyPr wrap="square">
            <a:spAutoFit/>
          </a:bodyPr>
          <a:lstStyle/>
          <a:p>
            <a:pPr algn="l">
              <a:lnSpc>
                <a:spcPct val="150000"/>
              </a:lnSpc>
              <a:spcAft>
                <a:spcPts val="600"/>
              </a:spcAft>
            </a:pPr>
            <a:r>
              <a:rPr sz="4600" b="1" dirty="0">
                <a:solidFill>
                  <a:srgbClr val="FFFFFF"/>
                </a:solidFill>
                <a:latin typeface="Calibri"/>
              </a:rPr>
              <a:t>4 · Results </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xmlns="" id="{294A06CA-A6B0-B444-889C-B28506C606FE}"/>
              </a:ext>
            </a:extLst>
          </p:cNvPr>
          <p:cNvPicPr>
            <a:picLocks noChangeAspect="1"/>
          </p:cNvPicPr>
          <p:nvPr/>
        </p:nvPicPr>
        <p:blipFill>
          <a:blip r:embed="rId3"/>
          <a:srcRect/>
          <a:stretch/>
        </p:blipFill>
        <p:spPr>
          <a:xfrm>
            <a:off x="7868" y="-291"/>
            <a:ext cx="12191928" cy="6857928"/>
          </a:xfrm>
          <a:prstGeom prst="rect">
            <a:avLst/>
          </a:prstGeom>
        </p:spPr>
      </p:pic>
      <p:sp>
        <p:nvSpPr>
          <p:cNvPr id="4" name="Shape 2"/>
          <p:cNvSpPr/>
          <p:nvPr/>
        </p:nvSpPr>
        <p:spPr>
          <a:xfrm>
            <a:off x="2027464" y="851528"/>
            <a:ext cx="2621280" cy="16459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 name="Text 3"/>
          <p:cNvSpPr/>
          <p:nvPr/>
        </p:nvSpPr>
        <p:spPr>
          <a:xfrm>
            <a:off x="2149384" y="997832"/>
            <a:ext cx="2377440" cy="731520"/>
          </a:xfrm>
          <a:prstGeom prst="rect">
            <a:avLst/>
          </a:prstGeom>
          <a:noFill/>
          <a:ln/>
        </p:spPr>
        <p:txBody>
          <a:bodyPr wrap="square" rtlCol="0" anchor="ctr"/>
          <a:lstStyle/>
          <a:p>
            <a:pPr algn="ctr"/>
            <a:r>
              <a:rPr lang="en-US" sz="4533" b="1" dirty="0">
                <a:solidFill>
                  <a:srgbClr val="1DA462"/>
                </a:solidFill>
                <a:latin typeface="Calibri" pitchFamily="34" charset="0"/>
                <a:ea typeface="Calibri" pitchFamily="34" charset="-122"/>
                <a:cs typeface="Calibri" pitchFamily="34" charset="-120"/>
              </a:rPr>
              <a:t>0.821</a:t>
            </a:r>
            <a:endParaRPr lang="en-US" sz="4533" dirty="0"/>
          </a:p>
        </p:txBody>
      </p:sp>
      <p:sp>
        <p:nvSpPr>
          <p:cNvPr id="6" name="Text 4"/>
          <p:cNvSpPr/>
          <p:nvPr/>
        </p:nvSpPr>
        <p:spPr>
          <a:xfrm>
            <a:off x="2149384" y="1704968"/>
            <a:ext cx="2377440" cy="365760"/>
          </a:xfrm>
          <a:prstGeom prst="rect">
            <a:avLst/>
          </a:prstGeom>
          <a:noFill/>
          <a:ln/>
        </p:spPr>
        <p:txBody>
          <a:bodyPr wrap="square" rtlCol="0" anchor="ctr"/>
          <a:lstStyle/>
          <a:p>
            <a:pPr algn="ctr"/>
            <a:r>
              <a:rPr lang="en-US" sz="1467" b="1" dirty="0">
                <a:solidFill>
                  <a:srgbClr val="0A1F44"/>
                </a:solidFill>
                <a:latin typeface="Calibri" pitchFamily="34" charset="0"/>
                <a:ea typeface="Calibri" pitchFamily="34" charset="-122"/>
                <a:cs typeface="Calibri" pitchFamily="34" charset="-120"/>
              </a:rPr>
              <a:t>Macro-F1  +5 s</a:t>
            </a:r>
            <a:endParaRPr lang="en-US" sz="1467" dirty="0"/>
          </a:p>
        </p:txBody>
      </p:sp>
      <p:sp>
        <p:nvSpPr>
          <p:cNvPr id="7" name="Text 5"/>
          <p:cNvSpPr/>
          <p:nvPr/>
        </p:nvSpPr>
        <p:spPr>
          <a:xfrm>
            <a:off x="2149384" y="2058536"/>
            <a:ext cx="2377440" cy="304800"/>
          </a:xfrm>
          <a:prstGeom prst="rect">
            <a:avLst/>
          </a:prstGeom>
          <a:noFill/>
          <a:ln/>
        </p:spPr>
        <p:txBody>
          <a:bodyPr wrap="square" rtlCol="0" anchor="ctr"/>
          <a:lstStyle/>
          <a:p>
            <a:pPr algn="ctr"/>
            <a:r>
              <a:rPr lang="en-US" sz="1200" dirty="0">
                <a:solidFill>
                  <a:srgbClr val="8493A8"/>
                </a:solidFill>
                <a:latin typeface="Calibri" pitchFamily="34" charset="0"/>
                <a:ea typeface="Calibri" pitchFamily="34" charset="-122"/>
                <a:cs typeface="Calibri" pitchFamily="34" charset="-120"/>
              </a:rPr>
              <a:t>MCC = 0.773  |  CI [0.798–0.840]</a:t>
            </a:r>
            <a:endParaRPr lang="en-US" sz="1200" dirty="0"/>
          </a:p>
        </p:txBody>
      </p:sp>
      <p:sp>
        <p:nvSpPr>
          <p:cNvPr id="8" name="Shape 6"/>
          <p:cNvSpPr/>
          <p:nvPr/>
        </p:nvSpPr>
        <p:spPr>
          <a:xfrm>
            <a:off x="4831624" y="851528"/>
            <a:ext cx="2621280" cy="16459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9" name="Text 7"/>
          <p:cNvSpPr/>
          <p:nvPr/>
        </p:nvSpPr>
        <p:spPr>
          <a:xfrm>
            <a:off x="4953544" y="997832"/>
            <a:ext cx="2377440" cy="731520"/>
          </a:xfrm>
          <a:prstGeom prst="rect">
            <a:avLst/>
          </a:prstGeom>
          <a:noFill/>
          <a:ln/>
        </p:spPr>
        <p:txBody>
          <a:bodyPr wrap="square" rtlCol="0" anchor="ctr"/>
          <a:lstStyle/>
          <a:p>
            <a:pPr algn="ctr"/>
            <a:r>
              <a:rPr lang="en-US" sz="4533" b="1" dirty="0">
                <a:solidFill>
                  <a:srgbClr val="D97706"/>
                </a:solidFill>
                <a:latin typeface="Calibri" pitchFamily="34" charset="0"/>
                <a:ea typeface="Calibri" pitchFamily="34" charset="-122"/>
                <a:cs typeface="Calibri" pitchFamily="34" charset="-120"/>
              </a:rPr>
              <a:t>0.741</a:t>
            </a:r>
            <a:endParaRPr lang="en-US" sz="4533" dirty="0"/>
          </a:p>
        </p:txBody>
      </p:sp>
      <p:sp>
        <p:nvSpPr>
          <p:cNvPr id="10" name="Text 8"/>
          <p:cNvSpPr/>
          <p:nvPr/>
        </p:nvSpPr>
        <p:spPr>
          <a:xfrm>
            <a:off x="4953544" y="1704968"/>
            <a:ext cx="2377440" cy="365760"/>
          </a:xfrm>
          <a:prstGeom prst="rect">
            <a:avLst/>
          </a:prstGeom>
          <a:noFill/>
          <a:ln/>
        </p:spPr>
        <p:txBody>
          <a:bodyPr wrap="square" rtlCol="0" anchor="ctr"/>
          <a:lstStyle/>
          <a:p>
            <a:pPr algn="ctr"/>
            <a:r>
              <a:rPr lang="en-US" sz="1467" b="1" dirty="0">
                <a:solidFill>
                  <a:srgbClr val="0A1F44"/>
                </a:solidFill>
                <a:latin typeface="Calibri" pitchFamily="34" charset="0"/>
                <a:ea typeface="Calibri" pitchFamily="34" charset="-122"/>
                <a:cs typeface="Calibri" pitchFamily="34" charset="-120"/>
              </a:rPr>
              <a:t>Macro-F1  +15 s</a:t>
            </a:r>
            <a:endParaRPr lang="en-US" sz="1467" dirty="0"/>
          </a:p>
        </p:txBody>
      </p:sp>
      <p:sp>
        <p:nvSpPr>
          <p:cNvPr id="11" name="Text 9"/>
          <p:cNvSpPr/>
          <p:nvPr/>
        </p:nvSpPr>
        <p:spPr>
          <a:xfrm>
            <a:off x="4953544" y="2058536"/>
            <a:ext cx="2377440" cy="304800"/>
          </a:xfrm>
          <a:prstGeom prst="rect">
            <a:avLst/>
          </a:prstGeom>
          <a:noFill/>
          <a:ln/>
        </p:spPr>
        <p:txBody>
          <a:bodyPr wrap="square" rtlCol="0" anchor="ctr"/>
          <a:lstStyle/>
          <a:p>
            <a:pPr algn="ctr"/>
            <a:r>
              <a:rPr lang="en-US" sz="1200" dirty="0">
                <a:solidFill>
                  <a:srgbClr val="8493A8"/>
                </a:solidFill>
                <a:latin typeface="Calibri" pitchFamily="34" charset="0"/>
                <a:ea typeface="Calibri" pitchFamily="34" charset="-122"/>
                <a:cs typeface="Calibri" pitchFamily="34" charset="-120"/>
              </a:rPr>
              <a:t>MCC = 0.691  |  CI [0.717–0.764]</a:t>
            </a:r>
            <a:endParaRPr lang="en-US" sz="1200" dirty="0"/>
          </a:p>
        </p:txBody>
      </p:sp>
      <p:sp>
        <p:nvSpPr>
          <p:cNvPr id="12" name="Shape 10"/>
          <p:cNvSpPr/>
          <p:nvPr/>
        </p:nvSpPr>
        <p:spPr>
          <a:xfrm>
            <a:off x="7635784" y="851528"/>
            <a:ext cx="2621280" cy="16459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3" name="Text 11"/>
          <p:cNvSpPr/>
          <p:nvPr/>
        </p:nvSpPr>
        <p:spPr>
          <a:xfrm>
            <a:off x="7757704" y="997832"/>
            <a:ext cx="2377440" cy="731520"/>
          </a:xfrm>
          <a:prstGeom prst="rect">
            <a:avLst/>
          </a:prstGeom>
          <a:noFill/>
          <a:ln/>
        </p:spPr>
        <p:txBody>
          <a:bodyPr wrap="square" rtlCol="0" anchor="ctr"/>
          <a:lstStyle/>
          <a:p>
            <a:pPr algn="ctr"/>
            <a:r>
              <a:rPr lang="en-US" sz="4533" b="1" dirty="0">
                <a:solidFill>
                  <a:srgbClr val="C8102E"/>
                </a:solidFill>
                <a:latin typeface="Calibri" pitchFamily="34" charset="0"/>
                <a:ea typeface="Calibri" pitchFamily="34" charset="-122"/>
                <a:cs typeface="Calibri" pitchFamily="34" charset="-120"/>
              </a:rPr>
              <a:t>0.783</a:t>
            </a:r>
            <a:endParaRPr lang="en-US" sz="4533" dirty="0"/>
          </a:p>
        </p:txBody>
      </p:sp>
      <p:sp>
        <p:nvSpPr>
          <p:cNvPr id="14" name="Text 12"/>
          <p:cNvSpPr/>
          <p:nvPr/>
        </p:nvSpPr>
        <p:spPr>
          <a:xfrm>
            <a:off x="7757704" y="1704968"/>
            <a:ext cx="2377440" cy="365760"/>
          </a:xfrm>
          <a:prstGeom prst="rect">
            <a:avLst/>
          </a:prstGeom>
          <a:noFill/>
          <a:ln/>
        </p:spPr>
        <p:txBody>
          <a:bodyPr wrap="square" rtlCol="0" anchor="ctr"/>
          <a:lstStyle/>
          <a:p>
            <a:pPr algn="ctr"/>
            <a:r>
              <a:rPr lang="en-US" sz="1467" b="1" dirty="0">
                <a:solidFill>
                  <a:srgbClr val="0A1F44"/>
                </a:solidFill>
                <a:latin typeface="Calibri" pitchFamily="34" charset="0"/>
                <a:ea typeface="Calibri" pitchFamily="34" charset="-122"/>
                <a:cs typeface="Calibri" pitchFamily="34" charset="-120"/>
              </a:rPr>
              <a:t>Macro-F1  +30 s</a:t>
            </a:r>
            <a:endParaRPr lang="en-US" sz="1467" dirty="0"/>
          </a:p>
        </p:txBody>
      </p:sp>
      <p:sp>
        <p:nvSpPr>
          <p:cNvPr id="15" name="Text 13"/>
          <p:cNvSpPr/>
          <p:nvPr/>
        </p:nvSpPr>
        <p:spPr>
          <a:xfrm>
            <a:off x="7757704" y="2058536"/>
            <a:ext cx="2377440" cy="304800"/>
          </a:xfrm>
          <a:prstGeom prst="rect">
            <a:avLst/>
          </a:prstGeom>
          <a:noFill/>
          <a:ln/>
        </p:spPr>
        <p:txBody>
          <a:bodyPr wrap="square" rtlCol="0" anchor="ctr"/>
          <a:lstStyle/>
          <a:p>
            <a:pPr algn="ctr"/>
            <a:r>
              <a:rPr lang="en-US" sz="1200" dirty="0">
                <a:solidFill>
                  <a:srgbClr val="8493A8"/>
                </a:solidFill>
                <a:latin typeface="Calibri" pitchFamily="34" charset="0"/>
                <a:ea typeface="Calibri" pitchFamily="34" charset="-122"/>
                <a:cs typeface="Calibri" pitchFamily="34" charset="-120"/>
              </a:rPr>
              <a:t>MCC = 0.731  |  CI [0.758–0.804]</a:t>
            </a:r>
            <a:endParaRPr lang="en-US" sz="1200" dirty="0"/>
          </a:p>
        </p:txBody>
      </p:sp>
      <p:sp>
        <p:nvSpPr>
          <p:cNvPr id="16" name="Shape 14"/>
          <p:cNvSpPr/>
          <p:nvPr/>
        </p:nvSpPr>
        <p:spPr>
          <a:xfrm>
            <a:off x="19994" y="2802248"/>
            <a:ext cx="6643565" cy="633984"/>
          </a:xfrm>
          <a:prstGeom prst="rect">
            <a:avLst/>
          </a:prstGeom>
          <a:solidFill>
            <a:srgbClr val="0A1F44">
              <a:alpha val="94000"/>
            </a:srgbClr>
          </a:solidFill>
          <a:ln w="12700">
            <a:solidFill>
              <a:srgbClr val="0A1F44"/>
            </a:solidFill>
            <a:prstDash val="solid"/>
          </a:ln>
        </p:spPr>
      </p:sp>
      <p:sp>
        <p:nvSpPr>
          <p:cNvPr id="17" name="Text 15"/>
          <p:cNvSpPr/>
          <p:nvPr/>
        </p:nvSpPr>
        <p:spPr>
          <a:xfrm>
            <a:off x="141914" y="2838824"/>
            <a:ext cx="7498080" cy="536448"/>
          </a:xfrm>
          <a:prstGeom prst="rect">
            <a:avLst/>
          </a:prstGeom>
          <a:noFill/>
          <a:ln/>
        </p:spPr>
        <p:txBody>
          <a:bodyPr wrap="square" rtlCol="0" anchor="ctr"/>
          <a:lstStyle/>
          <a:p>
            <a:r>
              <a:rPr lang="en-US" sz="1400" i="1" dirty="0">
                <a:solidFill>
                  <a:srgbClr val="FFFFFF"/>
                </a:solidFill>
                <a:latin typeface="Calibri" pitchFamily="34" charset="0"/>
                <a:ea typeface="Calibri" pitchFamily="34" charset="-122"/>
                <a:cs typeface="Calibri" pitchFamily="34" charset="-120"/>
              </a:rPr>
              <a:t>30-second warning with Macro-F1 = 0.783 — nearly as strong as 5-second prediction</a:t>
            </a:r>
            <a:endParaRPr lang="en-US" sz="1400" dirty="0"/>
          </a:p>
        </p:txBody>
      </p:sp>
      <p:graphicFrame>
        <p:nvGraphicFramePr>
          <p:cNvPr id="20" name="Table 0"/>
          <p:cNvGraphicFramePr>
            <a:graphicFrameLocks noGrp="1"/>
          </p:cNvGraphicFramePr>
          <p:nvPr/>
        </p:nvGraphicFramePr>
        <p:xfrm>
          <a:off x="19994" y="3551548"/>
          <a:ext cx="6616744" cy="1859787"/>
        </p:xfrm>
        <a:graphic>
          <a:graphicData uri="http://schemas.openxmlformats.org/drawingml/2006/table">
            <a:tbl>
              <a:tblPr/>
              <a:tblGrid>
                <a:gridCol w="1265812">
                  <a:extLst>
                    <a:ext uri="{9D8B030D-6E8A-4147-A177-3AD203B41FA5}">
                      <a16:colId xmlns:a16="http://schemas.microsoft.com/office/drawing/2014/main" xmlns="" val="20000"/>
                    </a:ext>
                  </a:extLst>
                </a:gridCol>
                <a:gridCol w="1265812">
                  <a:extLst>
                    <a:ext uri="{9D8B030D-6E8A-4147-A177-3AD203B41FA5}">
                      <a16:colId xmlns:a16="http://schemas.microsoft.com/office/drawing/2014/main" xmlns="" val="20001"/>
                    </a:ext>
                  </a:extLst>
                </a:gridCol>
                <a:gridCol w="1553496">
                  <a:extLst>
                    <a:ext uri="{9D8B030D-6E8A-4147-A177-3AD203B41FA5}">
                      <a16:colId xmlns:a16="http://schemas.microsoft.com/office/drawing/2014/main" xmlns="" val="20002"/>
                    </a:ext>
                  </a:extLst>
                </a:gridCol>
                <a:gridCol w="1265812">
                  <a:extLst>
                    <a:ext uri="{9D8B030D-6E8A-4147-A177-3AD203B41FA5}">
                      <a16:colId xmlns:a16="http://schemas.microsoft.com/office/drawing/2014/main" xmlns="" val="20003"/>
                    </a:ext>
                  </a:extLst>
                </a:gridCol>
                <a:gridCol w="1265812">
                  <a:extLst>
                    <a:ext uri="{9D8B030D-6E8A-4147-A177-3AD203B41FA5}">
                      <a16:colId xmlns:a16="http://schemas.microsoft.com/office/drawing/2014/main" xmlns="" val="20004"/>
                    </a:ext>
                  </a:extLst>
                </a:gridCol>
              </a:tblGrid>
              <a:tr h="426201">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Horizon</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Acc</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Macro-F1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κ</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MCC</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xmlns="" val="10000"/>
                  </a:ext>
                </a:extLst>
              </a:tr>
              <a:tr h="477862">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+5 s</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0.854</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0.821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0.762</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0.773</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477862">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+15 s</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0.789</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0.741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0.667</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0.691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xmlns="" val="10002"/>
                  </a:ext>
                </a:extLst>
              </a:tr>
              <a:tr h="477862">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+30 s</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0.830</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0.783</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0.723</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0.731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bl>
          </a:graphicData>
        </a:graphic>
      </p:graphicFrame>
      <p:sp>
        <p:nvSpPr>
          <p:cNvPr id="21" name="Shape 0">
            <a:extLst>
              <a:ext uri="{FF2B5EF4-FFF2-40B4-BE49-F238E27FC236}">
                <a16:creationId xmlns:a16="http://schemas.microsoft.com/office/drawing/2014/main" xmlns="" id="{87CCF24D-1AF1-74F9-4D19-8346C5980538}"/>
              </a:ext>
            </a:extLst>
          </p:cNvPr>
          <p:cNvSpPr/>
          <p:nvPr/>
        </p:nvSpPr>
        <p:spPr>
          <a:xfrm>
            <a:off x="0" y="-14999"/>
            <a:ext cx="12192000" cy="740408"/>
          </a:xfrm>
          <a:prstGeom prst="rect">
            <a:avLst/>
          </a:prstGeom>
          <a:solidFill>
            <a:srgbClr val="003893"/>
          </a:solidFill>
          <a:ln w="12700">
            <a:solidFill>
              <a:srgbClr val="003893"/>
            </a:solidFill>
            <a:prstDash val="solid"/>
          </a:ln>
        </p:spPr>
      </p:sp>
      <p:sp>
        <p:nvSpPr>
          <p:cNvPr id="22" name="Shape 1">
            <a:extLst>
              <a:ext uri="{FF2B5EF4-FFF2-40B4-BE49-F238E27FC236}">
                <a16:creationId xmlns:a16="http://schemas.microsoft.com/office/drawing/2014/main" xmlns="" id="{663E9366-47C3-8641-F5B7-123771E660C8}"/>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23" name="Shape 2">
            <a:extLst>
              <a:ext uri="{FF2B5EF4-FFF2-40B4-BE49-F238E27FC236}">
                <a16:creationId xmlns:a16="http://schemas.microsoft.com/office/drawing/2014/main" xmlns="" id="{0D9DC2BD-BC63-EBDB-0052-59AE0B3C4F45}"/>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4" name="Shape 3">
            <a:extLst>
              <a:ext uri="{FF2B5EF4-FFF2-40B4-BE49-F238E27FC236}">
                <a16:creationId xmlns:a16="http://schemas.microsoft.com/office/drawing/2014/main" xmlns="" id="{C922562E-0B77-6BAC-5F8F-4566B6333A1C}"/>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25" name="Shape 4">
            <a:extLst>
              <a:ext uri="{FF2B5EF4-FFF2-40B4-BE49-F238E27FC236}">
                <a16:creationId xmlns:a16="http://schemas.microsoft.com/office/drawing/2014/main" xmlns="" id="{2B92A2B3-9D01-B300-94E2-D21B241542C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26" name="Shape 5">
            <a:extLst>
              <a:ext uri="{FF2B5EF4-FFF2-40B4-BE49-F238E27FC236}">
                <a16:creationId xmlns:a16="http://schemas.microsoft.com/office/drawing/2014/main" xmlns="" id="{352A548A-6F0E-C929-38E1-82A226D518D6}"/>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7" name="Shape 6">
            <a:extLst>
              <a:ext uri="{FF2B5EF4-FFF2-40B4-BE49-F238E27FC236}">
                <a16:creationId xmlns:a16="http://schemas.microsoft.com/office/drawing/2014/main" xmlns="" id="{66B99675-A0B4-9F6F-DF59-2B8FFC884DC4}"/>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8" name="Shape 7">
            <a:extLst>
              <a:ext uri="{FF2B5EF4-FFF2-40B4-BE49-F238E27FC236}">
                <a16:creationId xmlns:a16="http://schemas.microsoft.com/office/drawing/2014/main" xmlns="" id="{5D4B0EAF-18B6-F4A9-D163-238D1E892E53}"/>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9" name="Shape 8">
            <a:extLst>
              <a:ext uri="{FF2B5EF4-FFF2-40B4-BE49-F238E27FC236}">
                <a16:creationId xmlns:a16="http://schemas.microsoft.com/office/drawing/2014/main" xmlns="" id="{FDB21CF5-E1A0-61B9-6470-3D9D980BA57D}"/>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30" name="Shape 9">
            <a:extLst>
              <a:ext uri="{FF2B5EF4-FFF2-40B4-BE49-F238E27FC236}">
                <a16:creationId xmlns:a16="http://schemas.microsoft.com/office/drawing/2014/main" xmlns="" id="{44750F87-FBBE-A3BD-4EF4-FBAB65F35E86}"/>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31" name="Shape 10">
            <a:extLst>
              <a:ext uri="{FF2B5EF4-FFF2-40B4-BE49-F238E27FC236}">
                <a16:creationId xmlns:a16="http://schemas.microsoft.com/office/drawing/2014/main" xmlns="" id="{B995F669-75CB-AE61-9296-7F3725091ED0}"/>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32" name="Shape 11">
            <a:extLst>
              <a:ext uri="{FF2B5EF4-FFF2-40B4-BE49-F238E27FC236}">
                <a16:creationId xmlns:a16="http://schemas.microsoft.com/office/drawing/2014/main" xmlns="" id="{A80B4136-791B-8E12-B7F0-75F94EE1B07A}"/>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33" name="Shape 12">
            <a:extLst>
              <a:ext uri="{FF2B5EF4-FFF2-40B4-BE49-F238E27FC236}">
                <a16:creationId xmlns:a16="http://schemas.microsoft.com/office/drawing/2014/main" xmlns="" id="{C8025F57-DAAB-FC28-FE33-560C29845DC0}"/>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4" name="Shape 13">
            <a:extLst>
              <a:ext uri="{FF2B5EF4-FFF2-40B4-BE49-F238E27FC236}">
                <a16:creationId xmlns:a16="http://schemas.microsoft.com/office/drawing/2014/main" xmlns="" id="{D5285F09-3CFF-D55E-CD36-88CCB91C96EC}"/>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35" name="Shape 14">
            <a:extLst>
              <a:ext uri="{FF2B5EF4-FFF2-40B4-BE49-F238E27FC236}">
                <a16:creationId xmlns:a16="http://schemas.microsoft.com/office/drawing/2014/main" xmlns="" id="{1DDE3261-B8D6-21E5-A8B5-740211AA11B0}"/>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36" name="Shape 15">
            <a:extLst>
              <a:ext uri="{FF2B5EF4-FFF2-40B4-BE49-F238E27FC236}">
                <a16:creationId xmlns:a16="http://schemas.microsoft.com/office/drawing/2014/main" xmlns="" id="{8A995811-FF1E-EF32-E8C7-5C6089A4C869}"/>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7" name="Shape 16">
            <a:extLst>
              <a:ext uri="{FF2B5EF4-FFF2-40B4-BE49-F238E27FC236}">
                <a16:creationId xmlns:a16="http://schemas.microsoft.com/office/drawing/2014/main" xmlns="" id="{1028A888-F4A9-CD42-FDB6-DA80835069F8}"/>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8" name="Picture 37">
            <a:extLst>
              <a:ext uri="{FF2B5EF4-FFF2-40B4-BE49-F238E27FC236}">
                <a16:creationId xmlns:a16="http://schemas.microsoft.com/office/drawing/2014/main" xmlns="" id="{16626372-6B6A-6683-4783-9E74580BB0BA}"/>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192377" y="22673"/>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MULTI-HORIZON PREDICTION</a:t>
            </a:r>
            <a:endParaRPr lang="en-US" sz="3200" dirty="0">
              <a:solidFill>
                <a:schemeClr val="bg1"/>
              </a:solidFill>
            </a:endParaRPr>
          </a:p>
        </p:txBody>
      </p:sp>
      <p:pic>
        <p:nvPicPr>
          <p:cNvPr id="41" name="Picture 40">
            <a:extLst>
              <a:ext uri="{FF2B5EF4-FFF2-40B4-BE49-F238E27FC236}">
                <a16:creationId xmlns:a16="http://schemas.microsoft.com/office/drawing/2014/main" xmlns="" id="{C2921957-1BC1-9292-A76D-B567F729A803}"/>
              </a:ext>
            </a:extLst>
          </p:cNvPr>
          <p:cNvPicPr>
            <a:picLocks noChangeAspect="1"/>
          </p:cNvPicPr>
          <p:nvPr/>
        </p:nvPicPr>
        <p:blipFill>
          <a:blip r:embed="rId5"/>
          <a:stretch>
            <a:fillRect/>
          </a:stretch>
        </p:blipFill>
        <p:spPr>
          <a:xfrm>
            <a:off x="6668266" y="2548152"/>
            <a:ext cx="5528441" cy="39497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xmlns="" id="{189D4A98-EFEC-0F49-1B35-30DFDDDBAF20}"/>
              </a:ext>
            </a:extLst>
          </p:cNvPr>
          <p:cNvPicPr>
            <a:picLocks noChangeAspect="1"/>
          </p:cNvPicPr>
          <p:nvPr/>
        </p:nvPicPr>
        <p:blipFill>
          <a:blip r:embed="rId3"/>
          <a:srcRect/>
          <a:stretch/>
        </p:blipFill>
        <p:spPr>
          <a:xfrm>
            <a:off x="7868" y="8176"/>
            <a:ext cx="12191928" cy="6857928"/>
          </a:xfrm>
          <a:prstGeom prst="rect">
            <a:avLst/>
          </a:prstGeom>
        </p:spPr>
      </p:pic>
      <p:graphicFrame>
        <p:nvGraphicFramePr>
          <p:cNvPr id="4" name="Table 0"/>
          <p:cNvGraphicFramePr>
            <a:graphicFrameLocks noGrp="1"/>
          </p:cNvGraphicFramePr>
          <p:nvPr/>
        </p:nvGraphicFramePr>
        <p:xfrm>
          <a:off x="206845" y="1100874"/>
          <a:ext cx="6356657" cy="2131437"/>
        </p:xfrm>
        <a:graphic>
          <a:graphicData uri="http://schemas.openxmlformats.org/drawingml/2006/table">
            <a:tbl>
              <a:tblPr/>
              <a:tblGrid>
                <a:gridCol w="1616099">
                  <a:extLst>
                    <a:ext uri="{9D8B030D-6E8A-4147-A177-3AD203B41FA5}">
                      <a16:colId xmlns:a16="http://schemas.microsoft.com/office/drawing/2014/main" xmlns="" val="20000"/>
                    </a:ext>
                  </a:extLst>
                </a:gridCol>
                <a:gridCol w="1292879">
                  <a:extLst>
                    <a:ext uri="{9D8B030D-6E8A-4147-A177-3AD203B41FA5}">
                      <a16:colId xmlns:a16="http://schemas.microsoft.com/office/drawing/2014/main" xmlns="" val="20001"/>
                    </a:ext>
                  </a:extLst>
                </a:gridCol>
                <a:gridCol w="1292879">
                  <a:extLst>
                    <a:ext uri="{9D8B030D-6E8A-4147-A177-3AD203B41FA5}">
                      <a16:colId xmlns:a16="http://schemas.microsoft.com/office/drawing/2014/main" xmlns="" val="20002"/>
                    </a:ext>
                  </a:extLst>
                </a:gridCol>
                <a:gridCol w="1077400">
                  <a:extLst>
                    <a:ext uri="{9D8B030D-6E8A-4147-A177-3AD203B41FA5}">
                      <a16:colId xmlns:a16="http://schemas.microsoft.com/office/drawing/2014/main" xmlns="" val="20003"/>
                    </a:ext>
                  </a:extLst>
                </a:gridCol>
                <a:gridCol w="1077400">
                  <a:extLst>
                    <a:ext uri="{9D8B030D-6E8A-4147-A177-3AD203B41FA5}">
                      <a16:colId xmlns:a16="http://schemas.microsoft.com/office/drawing/2014/main" xmlns="" val="20004"/>
                    </a:ext>
                  </a:extLst>
                </a:gridCol>
              </a:tblGrid>
              <a:tr h="476439">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Class</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Precision</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Recall</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F1</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Support</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xmlns="" val="10000"/>
                  </a:ext>
                </a:extLst>
              </a:tr>
              <a:tr h="551666">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CLEAN</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EAF6EF"/>
                    </a:solidFill>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0.868</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0.993</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1DA462"/>
                          </a:solidFill>
                          <a:latin typeface="Calibri" pitchFamily="34" charset="0"/>
                          <a:ea typeface="Calibri" pitchFamily="34" charset="-122"/>
                          <a:cs typeface="Calibri" pitchFamily="34" charset="-120"/>
                        </a:rPr>
                        <a:t>0.927</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731</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1"/>
                  </a:ext>
                </a:extLst>
              </a:tr>
              <a:tr h="551666">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WARNING</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EF3E2"/>
                    </a:solidFill>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0.947</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0.718</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D97706"/>
                          </a:solidFill>
                          <a:latin typeface="Calibri" pitchFamily="34" charset="0"/>
                          <a:ea typeface="Calibri" pitchFamily="34" charset="-122"/>
                          <a:cs typeface="Calibri" pitchFamily="34" charset="-120"/>
                        </a:rPr>
                        <a:t>0.817</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746</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2"/>
                  </a:ext>
                </a:extLst>
              </a:tr>
              <a:tr h="551666">
                <a:tc>
                  <a:txBody>
                    <a:bodyPr/>
                    <a:lstStyle/>
                    <a:p>
                      <a:pPr marL="0" indent="0" algn="ctr">
                        <a:buNone/>
                      </a:pPr>
                      <a:r>
                        <a:rPr lang="en-US" sz="1700" b="1" dirty="0">
                          <a:solidFill>
                            <a:srgbClr val="000000"/>
                          </a:solidFill>
                          <a:latin typeface="Calibri" pitchFamily="34" charset="0"/>
                          <a:ea typeface="Calibri" pitchFamily="34" charset="-122"/>
                          <a:cs typeface="Calibri" pitchFamily="34" charset="-120"/>
                        </a:rPr>
                        <a:t>DEGRADED</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DECEA"/>
                    </a:solidFill>
                  </a:tcPr>
                </a:tc>
                <a:tc>
                  <a:txBody>
                    <a:bodyPr/>
                    <a:lstStyle/>
                    <a:p>
                      <a:pPr marL="0" indent="0" algn="ctr">
                        <a:buNone/>
                      </a:pPr>
                      <a:r>
                        <a:rPr lang="en-US" sz="1700" dirty="0">
                          <a:solidFill>
                            <a:srgbClr val="8493A8"/>
                          </a:solidFill>
                          <a:latin typeface="Calibri" pitchFamily="34" charset="0"/>
                          <a:ea typeface="Calibri" pitchFamily="34" charset="-122"/>
                          <a:cs typeface="Calibri" pitchFamily="34" charset="-120"/>
                        </a:rPr>
                        <a:t>0.623</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C8102E"/>
                          </a:solidFill>
                          <a:latin typeface="Calibri" pitchFamily="34" charset="0"/>
                          <a:ea typeface="Calibri" pitchFamily="34" charset="-122"/>
                          <a:cs typeface="Calibri" pitchFamily="34" charset="-120"/>
                        </a:rPr>
                        <a:t>0.847</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C8102E"/>
                          </a:solidFill>
                          <a:latin typeface="Calibri" pitchFamily="34" charset="0"/>
                          <a:ea typeface="Calibri" pitchFamily="34" charset="-122"/>
                          <a:cs typeface="Calibri" pitchFamily="34" charset="-120"/>
                        </a:rPr>
                        <a:t>0.718</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000000"/>
                          </a:solidFill>
                          <a:latin typeface="Calibri" pitchFamily="34" charset="0"/>
                          <a:ea typeface="Calibri" pitchFamily="34" charset="-122"/>
                          <a:cs typeface="Calibri" pitchFamily="34" charset="-120"/>
                        </a:rPr>
                        <a:t>209</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5" name="Shape 2"/>
          <p:cNvSpPr/>
          <p:nvPr/>
        </p:nvSpPr>
        <p:spPr>
          <a:xfrm>
            <a:off x="170269" y="4084320"/>
            <a:ext cx="4590917" cy="7315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6" name="Shape 3"/>
          <p:cNvSpPr/>
          <p:nvPr/>
        </p:nvSpPr>
        <p:spPr>
          <a:xfrm>
            <a:off x="170269" y="4084320"/>
            <a:ext cx="73152" cy="731520"/>
          </a:xfrm>
          <a:prstGeom prst="rect">
            <a:avLst/>
          </a:prstGeom>
          <a:solidFill>
            <a:srgbClr val="C8102E"/>
          </a:solidFill>
          <a:ln w="12700">
            <a:solidFill>
              <a:srgbClr val="C8102E"/>
            </a:solidFill>
            <a:prstDash val="solid"/>
          </a:ln>
        </p:spPr>
      </p:sp>
      <p:sp>
        <p:nvSpPr>
          <p:cNvPr id="7" name="Text 4"/>
          <p:cNvSpPr/>
          <p:nvPr/>
        </p:nvSpPr>
        <p:spPr>
          <a:xfrm>
            <a:off x="377533" y="4120896"/>
            <a:ext cx="3657600" cy="316992"/>
          </a:xfrm>
          <a:prstGeom prst="rect">
            <a:avLst/>
          </a:prstGeom>
          <a:noFill/>
          <a:ln/>
        </p:spPr>
        <p:txBody>
          <a:bodyPr wrap="square" lIns="0" tIns="0" rIns="0" bIns="0" rtlCol="0" anchor="ctr"/>
          <a:lstStyle/>
          <a:p>
            <a:r>
              <a:rPr lang="en-US" sz="1600" b="1" dirty="0">
                <a:solidFill>
                  <a:srgbClr val="C8102E"/>
                </a:solidFill>
                <a:latin typeface="Calibri" pitchFamily="34" charset="0"/>
                <a:ea typeface="Calibri" pitchFamily="34" charset="-122"/>
                <a:cs typeface="Calibri" pitchFamily="34" charset="-120"/>
              </a:rPr>
              <a:t>DEGRADED Recall = 0.847</a:t>
            </a:r>
            <a:endParaRPr lang="en-US" sz="1600" dirty="0"/>
          </a:p>
        </p:txBody>
      </p:sp>
      <p:sp>
        <p:nvSpPr>
          <p:cNvPr id="8" name="Text 5"/>
          <p:cNvSpPr/>
          <p:nvPr/>
        </p:nvSpPr>
        <p:spPr>
          <a:xfrm>
            <a:off x="377533" y="4437888"/>
            <a:ext cx="6827520" cy="268224"/>
          </a:xfrm>
          <a:prstGeom prst="rect">
            <a:avLst/>
          </a:prstGeom>
          <a:noFill/>
          <a:ln/>
        </p:spPr>
        <p:txBody>
          <a:bodyPr wrap="square" lIns="0" tIns="0" rIns="0" bIns="0" rtlCol="0" anchor="ctr"/>
          <a:lstStyle/>
          <a:p>
            <a:r>
              <a:rPr lang="en-US" sz="1333" dirty="0">
                <a:solidFill>
                  <a:srgbClr val="8493A8"/>
                </a:solidFill>
                <a:latin typeface="Calibri" pitchFamily="34" charset="0"/>
                <a:ea typeface="Calibri" pitchFamily="34" charset="-122"/>
                <a:cs typeface="Calibri" pitchFamily="34" charset="-120"/>
              </a:rPr>
              <a:t>Catches 85% of impending signal failures — 5 s ahead</a:t>
            </a:r>
            <a:endParaRPr lang="en-US" sz="1333" dirty="0"/>
          </a:p>
        </p:txBody>
      </p:sp>
      <p:sp>
        <p:nvSpPr>
          <p:cNvPr id="9" name="Shape 6"/>
          <p:cNvSpPr/>
          <p:nvPr/>
        </p:nvSpPr>
        <p:spPr>
          <a:xfrm>
            <a:off x="170269" y="4913376"/>
            <a:ext cx="4590917" cy="7315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0" name="Shape 7"/>
          <p:cNvSpPr/>
          <p:nvPr/>
        </p:nvSpPr>
        <p:spPr>
          <a:xfrm>
            <a:off x="170269" y="4913376"/>
            <a:ext cx="73152" cy="731520"/>
          </a:xfrm>
          <a:prstGeom prst="rect">
            <a:avLst/>
          </a:prstGeom>
          <a:solidFill>
            <a:srgbClr val="D97706"/>
          </a:solidFill>
          <a:ln w="12700">
            <a:solidFill>
              <a:srgbClr val="D97706"/>
            </a:solidFill>
            <a:prstDash val="solid"/>
          </a:ln>
        </p:spPr>
      </p:sp>
      <p:sp>
        <p:nvSpPr>
          <p:cNvPr id="11" name="Text 8"/>
          <p:cNvSpPr/>
          <p:nvPr/>
        </p:nvSpPr>
        <p:spPr>
          <a:xfrm>
            <a:off x="377533" y="4949952"/>
            <a:ext cx="3657600" cy="316992"/>
          </a:xfrm>
          <a:prstGeom prst="rect">
            <a:avLst/>
          </a:prstGeom>
          <a:noFill/>
          <a:ln/>
        </p:spPr>
        <p:txBody>
          <a:bodyPr wrap="square" lIns="0" tIns="0" rIns="0" bIns="0" rtlCol="0" anchor="ctr"/>
          <a:lstStyle/>
          <a:p>
            <a:r>
              <a:rPr lang="en-US" sz="1600" b="1" dirty="0">
                <a:solidFill>
                  <a:srgbClr val="D97706"/>
                </a:solidFill>
                <a:latin typeface="Calibri" pitchFamily="34" charset="0"/>
                <a:ea typeface="Calibri" pitchFamily="34" charset="-122"/>
                <a:cs typeface="Calibri" pitchFamily="34" charset="-120"/>
              </a:rPr>
              <a:t>WARNING Precision = 0.947</a:t>
            </a:r>
            <a:endParaRPr lang="en-US" sz="1600" dirty="0"/>
          </a:p>
        </p:txBody>
      </p:sp>
      <p:sp>
        <p:nvSpPr>
          <p:cNvPr id="12" name="Text 9"/>
          <p:cNvSpPr/>
          <p:nvPr/>
        </p:nvSpPr>
        <p:spPr>
          <a:xfrm>
            <a:off x="377533" y="5266944"/>
            <a:ext cx="6827520" cy="268224"/>
          </a:xfrm>
          <a:prstGeom prst="rect">
            <a:avLst/>
          </a:prstGeom>
          <a:noFill/>
          <a:ln/>
        </p:spPr>
        <p:txBody>
          <a:bodyPr wrap="square" lIns="0" tIns="0" rIns="0" bIns="0" rtlCol="0" anchor="ctr"/>
          <a:lstStyle/>
          <a:p>
            <a:r>
              <a:rPr lang="en-US" sz="1333" dirty="0">
                <a:solidFill>
                  <a:srgbClr val="8493A8"/>
                </a:solidFill>
                <a:latin typeface="Calibri" pitchFamily="34" charset="0"/>
                <a:ea typeface="Calibri" pitchFamily="34" charset="-122"/>
                <a:cs typeface="Calibri" pitchFamily="34" charset="-120"/>
              </a:rPr>
              <a:t>When the model says WARNING, it is right 95% of the time</a:t>
            </a:r>
            <a:endParaRPr lang="en-US" sz="1333" dirty="0"/>
          </a:p>
        </p:txBody>
      </p:sp>
      <p:sp>
        <p:nvSpPr>
          <p:cNvPr id="13" name="Shape 10"/>
          <p:cNvSpPr/>
          <p:nvPr/>
        </p:nvSpPr>
        <p:spPr>
          <a:xfrm>
            <a:off x="170269" y="5742432"/>
            <a:ext cx="4590917" cy="7315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4" name="Shape 11"/>
          <p:cNvSpPr/>
          <p:nvPr/>
        </p:nvSpPr>
        <p:spPr>
          <a:xfrm>
            <a:off x="170269" y="5742432"/>
            <a:ext cx="73152" cy="731520"/>
          </a:xfrm>
          <a:prstGeom prst="rect">
            <a:avLst/>
          </a:prstGeom>
          <a:solidFill>
            <a:srgbClr val="1DA462"/>
          </a:solidFill>
          <a:ln w="12700">
            <a:solidFill>
              <a:srgbClr val="1DA462"/>
            </a:solidFill>
            <a:prstDash val="solid"/>
          </a:ln>
        </p:spPr>
      </p:sp>
      <p:sp>
        <p:nvSpPr>
          <p:cNvPr id="15" name="Text 12"/>
          <p:cNvSpPr/>
          <p:nvPr/>
        </p:nvSpPr>
        <p:spPr>
          <a:xfrm>
            <a:off x="377533" y="5779008"/>
            <a:ext cx="3657600" cy="316992"/>
          </a:xfrm>
          <a:prstGeom prst="rect">
            <a:avLst/>
          </a:prstGeom>
          <a:noFill/>
          <a:ln/>
        </p:spPr>
        <p:txBody>
          <a:bodyPr wrap="square" lIns="0" tIns="0" rIns="0" bIns="0" rtlCol="0" anchor="ctr"/>
          <a:lstStyle/>
          <a:p>
            <a:r>
              <a:rPr lang="en-US" sz="1600" b="1" dirty="0">
                <a:solidFill>
                  <a:srgbClr val="1DA462"/>
                </a:solidFill>
                <a:latin typeface="Calibri" pitchFamily="34" charset="0"/>
                <a:ea typeface="Calibri" pitchFamily="34" charset="-122"/>
                <a:cs typeface="Calibri" pitchFamily="34" charset="-120"/>
              </a:rPr>
              <a:t>CLEAN F1 = 0.927</a:t>
            </a:r>
            <a:endParaRPr lang="en-US" sz="1600" dirty="0"/>
          </a:p>
        </p:txBody>
      </p:sp>
      <p:sp>
        <p:nvSpPr>
          <p:cNvPr id="16" name="Text 13"/>
          <p:cNvSpPr/>
          <p:nvPr/>
        </p:nvSpPr>
        <p:spPr>
          <a:xfrm>
            <a:off x="377533" y="6096000"/>
            <a:ext cx="6827520" cy="268224"/>
          </a:xfrm>
          <a:prstGeom prst="rect">
            <a:avLst/>
          </a:prstGeom>
          <a:noFill/>
          <a:ln/>
        </p:spPr>
        <p:txBody>
          <a:bodyPr wrap="square" lIns="0" tIns="0" rIns="0" bIns="0" rtlCol="0" anchor="ctr"/>
          <a:lstStyle/>
          <a:p>
            <a:r>
              <a:rPr lang="en-US" sz="1333" dirty="0">
                <a:solidFill>
                  <a:srgbClr val="8493A8"/>
                </a:solidFill>
                <a:latin typeface="Calibri" pitchFamily="34" charset="0"/>
                <a:ea typeface="Calibri" pitchFamily="34" charset="-122"/>
                <a:cs typeface="Calibri" pitchFamily="34" charset="-120"/>
              </a:rPr>
              <a:t>Rarely triggers false alarms on healthy signal</a:t>
            </a:r>
            <a:endParaRPr lang="en-US" sz="1333" dirty="0"/>
          </a:p>
        </p:txBody>
      </p:sp>
      <p:sp>
        <p:nvSpPr>
          <p:cNvPr id="21" name="Shape 0">
            <a:extLst>
              <a:ext uri="{FF2B5EF4-FFF2-40B4-BE49-F238E27FC236}">
                <a16:creationId xmlns:a16="http://schemas.microsoft.com/office/drawing/2014/main" xmlns="" id="{A14D145E-0E6A-5973-0C2D-7764A01920D5}"/>
              </a:ext>
            </a:extLst>
          </p:cNvPr>
          <p:cNvSpPr/>
          <p:nvPr/>
        </p:nvSpPr>
        <p:spPr>
          <a:xfrm>
            <a:off x="0" y="1935"/>
            <a:ext cx="12192000" cy="740408"/>
          </a:xfrm>
          <a:prstGeom prst="rect">
            <a:avLst/>
          </a:prstGeom>
          <a:solidFill>
            <a:srgbClr val="003893"/>
          </a:solidFill>
          <a:ln w="12700">
            <a:solidFill>
              <a:srgbClr val="003893"/>
            </a:solidFill>
            <a:prstDash val="solid"/>
          </a:ln>
        </p:spPr>
      </p:sp>
      <p:sp>
        <p:nvSpPr>
          <p:cNvPr id="22" name="Shape 1">
            <a:extLst>
              <a:ext uri="{FF2B5EF4-FFF2-40B4-BE49-F238E27FC236}">
                <a16:creationId xmlns:a16="http://schemas.microsoft.com/office/drawing/2014/main" xmlns="" id="{7B8AFFDE-7208-0B66-48FE-30057776A33B}"/>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23" name="Shape 2">
            <a:extLst>
              <a:ext uri="{FF2B5EF4-FFF2-40B4-BE49-F238E27FC236}">
                <a16:creationId xmlns:a16="http://schemas.microsoft.com/office/drawing/2014/main" xmlns="" id="{74C0587E-D210-81DD-A9EA-3E65BEB90083}"/>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4" name="Shape 3">
            <a:extLst>
              <a:ext uri="{FF2B5EF4-FFF2-40B4-BE49-F238E27FC236}">
                <a16:creationId xmlns:a16="http://schemas.microsoft.com/office/drawing/2014/main" xmlns="" id="{D608C570-17AD-ACC5-3A85-AF39FBC2B947}"/>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25" name="Shape 4">
            <a:extLst>
              <a:ext uri="{FF2B5EF4-FFF2-40B4-BE49-F238E27FC236}">
                <a16:creationId xmlns:a16="http://schemas.microsoft.com/office/drawing/2014/main" xmlns="" id="{E3F61359-9AAC-C734-216A-3C542EB9D68A}"/>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26" name="Shape 5">
            <a:extLst>
              <a:ext uri="{FF2B5EF4-FFF2-40B4-BE49-F238E27FC236}">
                <a16:creationId xmlns:a16="http://schemas.microsoft.com/office/drawing/2014/main" xmlns="" id="{6E77782E-AE5D-88CE-EF76-54DAAC31264F}"/>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7" name="Shape 6">
            <a:extLst>
              <a:ext uri="{FF2B5EF4-FFF2-40B4-BE49-F238E27FC236}">
                <a16:creationId xmlns:a16="http://schemas.microsoft.com/office/drawing/2014/main" xmlns="" id="{230C0635-461E-5303-F4C8-84EE9050F1E0}"/>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8" name="Shape 7">
            <a:extLst>
              <a:ext uri="{FF2B5EF4-FFF2-40B4-BE49-F238E27FC236}">
                <a16:creationId xmlns:a16="http://schemas.microsoft.com/office/drawing/2014/main" xmlns="" id="{2965746F-EEF4-3DC0-712B-CAEA42E9AC00}"/>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9" name="Shape 8">
            <a:extLst>
              <a:ext uri="{FF2B5EF4-FFF2-40B4-BE49-F238E27FC236}">
                <a16:creationId xmlns:a16="http://schemas.microsoft.com/office/drawing/2014/main" xmlns="" id="{63649464-B911-C181-1DD7-FF7B061E705A}"/>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30" name="Shape 9">
            <a:extLst>
              <a:ext uri="{FF2B5EF4-FFF2-40B4-BE49-F238E27FC236}">
                <a16:creationId xmlns:a16="http://schemas.microsoft.com/office/drawing/2014/main" xmlns="" id="{D97AC1ED-48BC-6C7D-0BB9-25E475C8136F}"/>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31" name="Shape 10">
            <a:extLst>
              <a:ext uri="{FF2B5EF4-FFF2-40B4-BE49-F238E27FC236}">
                <a16:creationId xmlns:a16="http://schemas.microsoft.com/office/drawing/2014/main" xmlns="" id="{60B597F6-7C19-97FD-F8DA-7F54E9716E46}"/>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32" name="Shape 11">
            <a:extLst>
              <a:ext uri="{FF2B5EF4-FFF2-40B4-BE49-F238E27FC236}">
                <a16:creationId xmlns:a16="http://schemas.microsoft.com/office/drawing/2014/main" xmlns="" id="{8781245C-4E47-52EC-1547-25F7200ED994}"/>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33" name="Shape 12">
            <a:extLst>
              <a:ext uri="{FF2B5EF4-FFF2-40B4-BE49-F238E27FC236}">
                <a16:creationId xmlns:a16="http://schemas.microsoft.com/office/drawing/2014/main" xmlns="" id="{1078C86E-097B-B07E-E970-04FDE6723027}"/>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4" name="Shape 13">
            <a:extLst>
              <a:ext uri="{FF2B5EF4-FFF2-40B4-BE49-F238E27FC236}">
                <a16:creationId xmlns:a16="http://schemas.microsoft.com/office/drawing/2014/main" xmlns="" id="{A15582DA-07DA-9A5B-65E7-64C83370FCCE}"/>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35" name="Shape 14">
            <a:extLst>
              <a:ext uri="{FF2B5EF4-FFF2-40B4-BE49-F238E27FC236}">
                <a16:creationId xmlns:a16="http://schemas.microsoft.com/office/drawing/2014/main" xmlns="" id="{A88A0669-05E1-0BF2-C3BB-D54F27D8727A}"/>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36" name="Shape 15">
            <a:extLst>
              <a:ext uri="{FF2B5EF4-FFF2-40B4-BE49-F238E27FC236}">
                <a16:creationId xmlns:a16="http://schemas.microsoft.com/office/drawing/2014/main" xmlns="" id="{CE4AF859-2630-8FB1-D936-BD2C16336EC8}"/>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7" name="Shape 16">
            <a:extLst>
              <a:ext uri="{FF2B5EF4-FFF2-40B4-BE49-F238E27FC236}">
                <a16:creationId xmlns:a16="http://schemas.microsoft.com/office/drawing/2014/main" xmlns="" id="{1AFA0504-FCB5-AD1C-42D5-5646A656EDD8}"/>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8" name="Picture 37">
            <a:extLst>
              <a:ext uri="{FF2B5EF4-FFF2-40B4-BE49-F238E27FC236}">
                <a16:creationId xmlns:a16="http://schemas.microsoft.com/office/drawing/2014/main" xmlns="" id="{738C8458-92C2-B7D4-07AC-FFFA7A6AE520}"/>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219200" y="-6724"/>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PER-CLASS PERFORMANCE @ +5 S</a:t>
            </a:r>
            <a:endParaRPr lang="en-US" sz="3200" dirty="0">
              <a:solidFill>
                <a:schemeClr val="bg1"/>
              </a:solidFill>
            </a:endParaRPr>
          </a:p>
        </p:txBody>
      </p:sp>
      <p:pic>
        <p:nvPicPr>
          <p:cNvPr id="40" name="Picture 39">
            <a:extLst>
              <a:ext uri="{FF2B5EF4-FFF2-40B4-BE49-F238E27FC236}">
                <a16:creationId xmlns:a16="http://schemas.microsoft.com/office/drawing/2014/main" xmlns="" id="{4CC67EC6-2461-26E5-0A92-0BDABE251C8F}"/>
              </a:ext>
            </a:extLst>
          </p:cNvPr>
          <p:cNvPicPr>
            <a:picLocks noChangeAspect="1"/>
          </p:cNvPicPr>
          <p:nvPr/>
        </p:nvPicPr>
        <p:blipFill>
          <a:blip r:embed="rId5"/>
          <a:stretch>
            <a:fillRect/>
          </a:stretch>
        </p:blipFill>
        <p:spPr>
          <a:xfrm>
            <a:off x="6790885" y="686874"/>
            <a:ext cx="4750930" cy="3078207"/>
          </a:xfrm>
          <a:prstGeom prst="rect">
            <a:avLst/>
          </a:prstGeom>
        </p:spPr>
      </p:pic>
      <p:pic>
        <p:nvPicPr>
          <p:cNvPr id="42" name="Picture 41">
            <a:extLst>
              <a:ext uri="{FF2B5EF4-FFF2-40B4-BE49-F238E27FC236}">
                <a16:creationId xmlns:a16="http://schemas.microsoft.com/office/drawing/2014/main" xmlns="" id="{FD356BCF-73A7-E1F3-C1FD-7411C1EA14BE}"/>
              </a:ext>
            </a:extLst>
          </p:cNvPr>
          <p:cNvPicPr>
            <a:picLocks noChangeAspect="1"/>
          </p:cNvPicPr>
          <p:nvPr/>
        </p:nvPicPr>
        <p:blipFill>
          <a:blip r:embed="rId6"/>
          <a:stretch>
            <a:fillRect/>
          </a:stretch>
        </p:blipFill>
        <p:spPr>
          <a:xfrm>
            <a:off x="5326965" y="3740813"/>
            <a:ext cx="5377109" cy="287127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65760"/>
            <a:ext cx="85344" cy="670560"/>
          </a:xfrm>
          <a:prstGeom prst="rect">
            <a:avLst/>
          </a:prstGeom>
          <a:solidFill>
            <a:srgbClr val="C8102E"/>
          </a:solidFill>
          <a:ln w="12700">
            <a:solidFill>
              <a:srgbClr val="C8102E"/>
            </a:solidFill>
            <a:prstDash val="solid"/>
          </a:ln>
        </p:spPr>
      </p:sp>
      <p:graphicFrame>
        <p:nvGraphicFramePr>
          <p:cNvPr id="6" name="Table 0"/>
          <p:cNvGraphicFramePr>
            <a:graphicFrameLocks noGrp="1"/>
          </p:cNvGraphicFramePr>
          <p:nvPr/>
        </p:nvGraphicFramePr>
        <p:xfrm>
          <a:off x="548640" y="1219200"/>
          <a:ext cx="7315200" cy="5303520"/>
        </p:xfrm>
        <a:graphic>
          <a:graphicData uri="http://schemas.openxmlformats.org/drawingml/2006/table">
            <a:tbl>
              <a:tblPr/>
              <a:tblGrid>
                <a:gridCol w="3169920">
                  <a:extLst>
                    <a:ext uri="{9D8B030D-6E8A-4147-A177-3AD203B41FA5}">
                      <a16:colId xmlns:a16="http://schemas.microsoft.com/office/drawing/2014/main" xmlns="" val="20000"/>
                    </a:ext>
                  </a:extLst>
                </a:gridCol>
                <a:gridCol w="1036320">
                  <a:extLst>
                    <a:ext uri="{9D8B030D-6E8A-4147-A177-3AD203B41FA5}">
                      <a16:colId xmlns:a16="http://schemas.microsoft.com/office/drawing/2014/main" xmlns="" val="20001"/>
                    </a:ext>
                  </a:extLst>
                </a:gridCol>
                <a:gridCol w="1036320">
                  <a:extLst>
                    <a:ext uri="{9D8B030D-6E8A-4147-A177-3AD203B41FA5}">
                      <a16:colId xmlns:a16="http://schemas.microsoft.com/office/drawing/2014/main" xmlns="" val="20002"/>
                    </a:ext>
                  </a:extLst>
                </a:gridCol>
                <a:gridCol w="1036320">
                  <a:extLst>
                    <a:ext uri="{9D8B030D-6E8A-4147-A177-3AD203B41FA5}">
                      <a16:colId xmlns:a16="http://schemas.microsoft.com/office/drawing/2014/main" xmlns="" val="20003"/>
                    </a:ext>
                  </a:extLst>
                </a:gridCol>
                <a:gridCol w="1036320">
                  <a:extLst>
                    <a:ext uri="{9D8B030D-6E8A-4147-A177-3AD203B41FA5}">
                      <a16:colId xmlns:a16="http://schemas.microsoft.com/office/drawing/2014/main" xmlns="" val="20004"/>
                    </a:ext>
                  </a:extLst>
                </a:gridCol>
              </a:tblGrid>
              <a:tr h="530352">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+5s F1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+15s F1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+30s F1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MCC</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xmlns="" val="10000"/>
                  </a:ext>
                </a:extLst>
              </a:tr>
              <a:tr h="530352">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MajorityClass</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0.202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0.072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0.072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0.000</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1"/>
                  </a:ext>
                </a:extLst>
              </a:tr>
              <a:tr h="530352">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CNR Threshold</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0.074</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0.072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0.072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0.000</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2"/>
                  </a:ext>
                </a:extLst>
              </a:tr>
              <a:tr h="530352">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RandomForest (SMOTE)</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0.909</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0.887</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0.877</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0.915</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3"/>
                  </a:ext>
                </a:extLst>
              </a:tr>
              <a:tr h="530352">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XGBoost (SMOTE)</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0.910</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0.898</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0.879</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0.915</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4"/>
                  </a:ext>
                </a:extLst>
              </a:tr>
              <a:tr h="530352">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RandomForest (no-SMOTE)</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0.910</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0.891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0.896</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0.916</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5"/>
                  </a:ext>
                </a:extLst>
              </a:tr>
              <a:tr h="530352">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XGBoost (no-SMOTE)</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0.919</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0.896</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0.879</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0.926</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6"/>
                  </a:ext>
                </a:extLst>
              </a:tr>
              <a:tr h="530352">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Transformer-only</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0.767</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0.763</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0.701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0.725</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7"/>
                  </a:ext>
                </a:extLst>
              </a:tr>
              <a:tr h="530352">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LSTM-only</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0.767</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0.751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0.781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0.702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8"/>
                  </a:ext>
                </a:extLst>
              </a:tr>
              <a:tr h="530352">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SENTINEL-GNSS (ours)</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0.821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0.741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0.783</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0.773</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xmlns="" val="10009"/>
                  </a:ext>
                </a:extLst>
              </a:tr>
            </a:tbl>
          </a:graphicData>
        </a:graphic>
      </p:graphicFrame>
      <p:sp>
        <p:nvSpPr>
          <p:cNvPr id="5" name="Shape 2"/>
          <p:cNvSpPr/>
          <p:nvPr/>
        </p:nvSpPr>
        <p:spPr>
          <a:xfrm>
            <a:off x="8107680" y="1280160"/>
            <a:ext cx="3779520" cy="1560576"/>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4" name="Text 3"/>
          <p:cNvSpPr/>
          <p:nvPr/>
        </p:nvSpPr>
        <p:spPr>
          <a:xfrm>
            <a:off x="8229600" y="1341120"/>
            <a:ext cx="609600" cy="609600"/>
          </a:xfrm>
          <a:prstGeom prst="rect">
            <a:avLst/>
          </a:prstGeom>
          <a:noFill/>
          <a:ln/>
        </p:spPr>
        <p:txBody>
          <a:bodyPr wrap="square" rtlCol="0" anchor="ctr"/>
          <a:lstStyle/>
          <a:p>
            <a:pPr algn="ctr"/>
            <a:r>
              <a:rPr lang="en-US" sz="2933" dirty="0">
                <a:solidFill>
                  <a:srgbClr val="000000"/>
                </a:solidFill>
                <a:latin typeface="Calibri" pitchFamily="34" charset="0"/>
                <a:ea typeface="Calibri" pitchFamily="34" charset="-122"/>
                <a:cs typeface="Calibri" pitchFamily="34" charset="-120"/>
              </a:rPr>
              <a:t>⚠️</a:t>
            </a:r>
            <a:endParaRPr lang="en-US" sz="2933" dirty="0"/>
          </a:p>
        </p:txBody>
      </p:sp>
      <p:sp>
        <p:nvSpPr>
          <p:cNvPr id="7" name="Text 4"/>
          <p:cNvSpPr/>
          <p:nvPr/>
        </p:nvSpPr>
        <p:spPr>
          <a:xfrm>
            <a:off x="8778240" y="1341120"/>
            <a:ext cx="2926080" cy="1219200"/>
          </a:xfrm>
          <a:prstGeom prst="rect">
            <a:avLst/>
          </a:prstGeom>
          <a:noFill/>
          <a:ln/>
        </p:spPr>
        <p:txBody>
          <a:bodyPr wrap="square" rtlCol="0" anchor="ctr"/>
          <a:lstStyle/>
          <a:p>
            <a:r>
              <a:rPr lang="en-US" sz="1467" dirty="0">
                <a:solidFill>
                  <a:srgbClr val="D97706"/>
                </a:solidFill>
                <a:latin typeface="Calibri" pitchFamily="34" charset="0"/>
                <a:ea typeface="Calibri" pitchFamily="34" charset="-122"/>
                <a:cs typeface="Calibri" pitchFamily="34" charset="-120"/>
              </a:rPr>
              <a:t>In-domain: XGBoost 0.919 outperforms DL 0.821</a:t>
            </a:r>
            <a:endParaRPr lang="en-US" sz="1467" dirty="0"/>
          </a:p>
        </p:txBody>
      </p:sp>
      <p:sp>
        <p:nvSpPr>
          <p:cNvPr id="8" name="Shape 5"/>
          <p:cNvSpPr/>
          <p:nvPr/>
        </p:nvSpPr>
        <p:spPr>
          <a:xfrm>
            <a:off x="8107680" y="3048000"/>
            <a:ext cx="3779520" cy="1560576"/>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9" name="Text 6"/>
          <p:cNvSpPr/>
          <p:nvPr/>
        </p:nvSpPr>
        <p:spPr>
          <a:xfrm>
            <a:off x="8229600" y="3108960"/>
            <a:ext cx="609600" cy="609600"/>
          </a:xfrm>
          <a:prstGeom prst="rect">
            <a:avLst/>
          </a:prstGeom>
          <a:noFill/>
          <a:ln/>
        </p:spPr>
        <p:txBody>
          <a:bodyPr wrap="square" rtlCol="0" anchor="ctr"/>
          <a:lstStyle/>
          <a:p>
            <a:pPr algn="ctr"/>
            <a:r>
              <a:rPr lang="en-US" sz="2933" dirty="0">
                <a:solidFill>
                  <a:srgbClr val="000000"/>
                </a:solidFill>
                <a:latin typeface="Calibri" pitchFamily="34" charset="0"/>
                <a:ea typeface="Calibri" pitchFamily="34" charset="-122"/>
                <a:cs typeface="Calibri" pitchFamily="34" charset="-120"/>
              </a:rPr>
              <a:t>✅</a:t>
            </a:r>
            <a:endParaRPr lang="en-US" sz="2933" dirty="0"/>
          </a:p>
        </p:txBody>
      </p:sp>
      <p:sp>
        <p:nvSpPr>
          <p:cNvPr id="10" name="Text 7"/>
          <p:cNvSpPr/>
          <p:nvPr/>
        </p:nvSpPr>
        <p:spPr>
          <a:xfrm>
            <a:off x="8778240" y="3108960"/>
            <a:ext cx="2926080" cy="1219200"/>
          </a:xfrm>
          <a:prstGeom prst="rect">
            <a:avLst/>
          </a:prstGeom>
          <a:noFill/>
          <a:ln/>
        </p:spPr>
        <p:txBody>
          <a:bodyPr wrap="square" rtlCol="0" anchor="ctr"/>
          <a:lstStyle/>
          <a:p>
            <a:r>
              <a:rPr lang="en-US" sz="1467" dirty="0">
                <a:solidFill>
                  <a:srgbClr val="1DA462"/>
                </a:solidFill>
                <a:latin typeface="Calibri" pitchFamily="34" charset="0"/>
                <a:ea typeface="Calibri" pitchFamily="34" charset="-122"/>
                <a:cs typeface="Calibri" pitchFamily="34" charset="-120"/>
              </a:rPr>
              <a:t>Cross-city: DL retains DEGRADED F1 — trees collapse (see Novelty)</a:t>
            </a:r>
            <a:endParaRPr lang="en-US" sz="1467" dirty="0"/>
          </a:p>
        </p:txBody>
      </p:sp>
      <p:sp>
        <p:nvSpPr>
          <p:cNvPr id="11" name="Shape 8"/>
          <p:cNvSpPr/>
          <p:nvPr/>
        </p:nvSpPr>
        <p:spPr>
          <a:xfrm>
            <a:off x="8107680" y="4815840"/>
            <a:ext cx="3779520" cy="1560576"/>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2" name="Text 9"/>
          <p:cNvSpPr/>
          <p:nvPr/>
        </p:nvSpPr>
        <p:spPr>
          <a:xfrm>
            <a:off x="8229600" y="4876800"/>
            <a:ext cx="609600" cy="609600"/>
          </a:xfrm>
          <a:prstGeom prst="rect">
            <a:avLst/>
          </a:prstGeom>
          <a:noFill/>
          <a:ln/>
        </p:spPr>
        <p:txBody>
          <a:bodyPr wrap="square" rtlCol="0" anchor="ctr"/>
          <a:lstStyle/>
          <a:p>
            <a:pPr algn="ctr"/>
            <a:r>
              <a:rPr lang="en-US" sz="2933" dirty="0">
                <a:solidFill>
                  <a:srgbClr val="000000"/>
                </a:solidFill>
                <a:latin typeface="Calibri" pitchFamily="34" charset="0"/>
                <a:ea typeface="Calibri" pitchFamily="34" charset="-122"/>
                <a:cs typeface="Calibri" pitchFamily="34" charset="-120"/>
              </a:rPr>
              <a:t>🚀</a:t>
            </a:r>
            <a:endParaRPr lang="en-US" sz="2933" dirty="0"/>
          </a:p>
        </p:txBody>
      </p:sp>
      <p:sp>
        <p:nvSpPr>
          <p:cNvPr id="13" name="Text 10"/>
          <p:cNvSpPr/>
          <p:nvPr/>
        </p:nvSpPr>
        <p:spPr>
          <a:xfrm>
            <a:off x="8778240" y="4876800"/>
            <a:ext cx="2926080" cy="1219200"/>
          </a:xfrm>
          <a:prstGeom prst="rect">
            <a:avLst/>
          </a:prstGeom>
          <a:noFill/>
          <a:ln/>
        </p:spPr>
        <p:txBody>
          <a:bodyPr wrap="square" rtlCol="0" anchor="ctr"/>
          <a:lstStyle/>
          <a:p>
            <a:r>
              <a:rPr lang="en-US" sz="1467" dirty="0">
                <a:solidFill>
                  <a:srgbClr val="0A1F44"/>
                </a:solidFill>
                <a:latin typeface="Calibri" pitchFamily="34" charset="0"/>
                <a:ea typeface="Calibri" pitchFamily="34" charset="-122"/>
                <a:cs typeface="Calibri" pitchFamily="34" charset="-120"/>
              </a:rPr>
              <a:t>One model, one pass — 10.5× faster than 3 tree models</a:t>
            </a:r>
            <a:endParaRPr lang="en-US" sz="1467" dirty="0"/>
          </a:p>
        </p:txBody>
      </p:sp>
      <p:sp>
        <p:nvSpPr>
          <p:cNvPr id="14" name="Shape 0">
            <a:extLst>
              <a:ext uri="{FF2B5EF4-FFF2-40B4-BE49-F238E27FC236}">
                <a16:creationId xmlns:a16="http://schemas.microsoft.com/office/drawing/2014/main" xmlns="" id="{B570CCFD-A047-15D1-BF8D-23418727A91D}"/>
              </a:ext>
            </a:extLst>
          </p:cNvPr>
          <p:cNvSpPr/>
          <p:nvPr/>
        </p:nvSpPr>
        <p:spPr>
          <a:xfrm>
            <a:off x="0" y="1935"/>
            <a:ext cx="12192000" cy="740408"/>
          </a:xfrm>
          <a:prstGeom prst="rect">
            <a:avLst/>
          </a:prstGeom>
          <a:solidFill>
            <a:srgbClr val="003893"/>
          </a:solidFill>
          <a:ln w="12700">
            <a:solidFill>
              <a:srgbClr val="003893"/>
            </a:solidFill>
            <a:prstDash val="solid"/>
          </a:ln>
        </p:spPr>
      </p:sp>
      <p:sp>
        <p:nvSpPr>
          <p:cNvPr id="15" name="Shape 1">
            <a:extLst>
              <a:ext uri="{FF2B5EF4-FFF2-40B4-BE49-F238E27FC236}">
                <a16:creationId xmlns:a16="http://schemas.microsoft.com/office/drawing/2014/main" xmlns="" id="{C2C4C3B7-014C-6DC4-1581-E89B3D17E3C1}"/>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6" name="Shape 2">
            <a:extLst>
              <a:ext uri="{FF2B5EF4-FFF2-40B4-BE49-F238E27FC236}">
                <a16:creationId xmlns:a16="http://schemas.microsoft.com/office/drawing/2014/main" xmlns="" id="{22A156EB-254A-2DDC-AA80-45FB291DA5DA}"/>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7" name="Shape 3">
            <a:extLst>
              <a:ext uri="{FF2B5EF4-FFF2-40B4-BE49-F238E27FC236}">
                <a16:creationId xmlns:a16="http://schemas.microsoft.com/office/drawing/2014/main" xmlns="" id="{6865D83D-AD8E-B397-808A-8F92ED3EB453}"/>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8" name="Shape 4">
            <a:extLst>
              <a:ext uri="{FF2B5EF4-FFF2-40B4-BE49-F238E27FC236}">
                <a16:creationId xmlns:a16="http://schemas.microsoft.com/office/drawing/2014/main" xmlns="" id="{ACD99FE7-4B79-207F-F9DE-AF03324E759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9" name="Shape 5">
            <a:extLst>
              <a:ext uri="{FF2B5EF4-FFF2-40B4-BE49-F238E27FC236}">
                <a16:creationId xmlns:a16="http://schemas.microsoft.com/office/drawing/2014/main" xmlns="" id="{4801523F-29D2-7B9D-9AC5-BEB38D7BF447}"/>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0" name="Shape 6">
            <a:extLst>
              <a:ext uri="{FF2B5EF4-FFF2-40B4-BE49-F238E27FC236}">
                <a16:creationId xmlns:a16="http://schemas.microsoft.com/office/drawing/2014/main" xmlns="" id="{45A17A2E-D4DA-C315-C171-AC7E78132AEB}"/>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1" name="Shape 7">
            <a:extLst>
              <a:ext uri="{FF2B5EF4-FFF2-40B4-BE49-F238E27FC236}">
                <a16:creationId xmlns:a16="http://schemas.microsoft.com/office/drawing/2014/main" xmlns="" id="{70C00E26-EF90-9110-7E33-FC2C22C0E5F2}"/>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2" name="Shape 8">
            <a:extLst>
              <a:ext uri="{FF2B5EF4-FFF2-40B4-BE49-F238E27FC236}">
                <a16:creationId xmlns:a16="http://schemas.microsoft.com/office/drawing/2014/main" xmlns="" id="{A093B432-C31C-9796-A3B7-34AEDCC7D3DC}"/>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3" name="Shape 9">
            <a:extLst>
              <a:ext uri="{FF2B5EF4-FFF2-40B4-BE49-F238E27FC236}">
                <a16:creationId xmlns:a16="http://schemas.microsoft.com/office/drawing/2014/main" xmlns="" id="{C83956FF-F365-7318-D3D6-862BF6EDC9A0}"/>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4" name="Shape 10">
            <a:extLst>
              <a:ext uri="{FF2B5EF4-FFF2-40B4-BE49-F238E27FC236}">
                <a16:creationId xmlns:a16="http://schemas.microsoft.com/office/drawing/2014/main" xmlns="" id="{AB5D4F69-28E0-FB4A-3B59-34AE5E6C5E8C}"/>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5" name="Shape 11">
            <a:extLst>
              <a:ext uri="{FF2B5EF4-FFF2-40B4-BE49-F238E27FC236}">
                <a16:creationId xmlns:a16="http://schemas.microsoft.com/office/drawing/2014/main" xmlns="" id="{A08A8AE0-1DB2-962B-E28B-2C2BF05C76EC}"/>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6" name="Shape 12">
            <a:extLst>
              <a:ext uri="{FF2B5EF4-FFF2-40B4-BE49-F238E27FC236}">
                <a16:creationId xmlns:a16="http://schemas.microsoft.com/office/drawing/2014/main" xmlns="" id="{BB006D42-6E44-D7C8-E538-BC1723FC39D3}"/>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27" name="Shape 13">
            <a:extLst>
              <a:ext uri="{FF2B5EF4-FFF2-40B4-BE49-F238E27FC236}">
                <a16:creationId xmlns:a16="http://schemas.microsoft.com/office/drawing/2014/main" xmlns="" id="{094E3A13-2DB9-F465-2443-8D327604B0A9}"/>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28" name="Shape 14">
            <a:extLst>
              <a:ext uri="{FF2B5EF4-FFF2-40B4-BE49-F238E27FC236}">
                <a16:creationId xmlns:a16="http://schemas.microsoft.com/office/drawing/2014/main" xmlns="" id="{B7B7E4B0-D803-7938-DE55-F8504DBA8C64}"/>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29" name="Shape 15">
            <a:extLst>
              <a:ext uri="{FF2B5EF4-FFF2-40B4-BE49-F238E27FC236}">
                <a16:creationId xmlns:a16="http://schemas.microsoft.com/office/drawing/2014/main" xmlns="" id="{5C823072-BD26-63CD-EBFB-99D27BEE42EC}"/>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0" name="Shape 16">
            <a:extLst>
              <a:ext uri="{FF2B5EF4-FFF2-40B4-BE49-F238E27FC236}">
                <a16:creationId xmlns:a16="http://schemas.microsoft.com/office/drawing/2014/main" xmlns="" id="{55F16D79-1036-0ED0-DADB-D7989C3B9817}"/>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1" name="Picture 30">
            <a:extLst>
              <a:ext uri="{FF2B5EF4-FFF2-40B4-BE49-F238E27FC236}">
                <a16:creationId xmlns:a16="http://schemas.microsoft.com/office/drawing/2014/main" xmlns="" id="{21AC392E-B0D1-61CE-9F5C-3099FA8C1DEF}"/>
              </a:ext>
            </a:extLst>
          </p:cNvPr>
          <p:cNvPicPr>
            <a:picLocks noChangeAspect="1"/>
          </p:cNvPicPr>
          <p:nvPr/>
        </p:nvPicPr>
        <p:blipFill>
          <a:blip r:embed="rId3"/>
          <a:stretch>
            <a:fillRect/>
          </a:stretch>
        </p:blipFill>
        <p:spPr>
          <a:xfrm>
            <a:off x="-453212" y="-263954"/>
            <a:ext cx="1776568" cy="1245981"/>
          </a:xfrm>
          <a:prstGeom prst="rect">
            <a:avLst/>
          </a:prstGeom>
        </p:spPr>
      </p:pic>
      <p:sp>
        <p:nvSpPr>
          <p:cNvPr id="3" name="Text 1"/>
          <p:cNvSpPr/>
          <p:nvPr/>
        </p:nvSpPr>
        <p:spPr>
          <a:xfrm>
            <a:off x="1192376" y="-13619"/>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COMPARISON TO ALL BASELINES</a:t>
            </a:r>
            <a:endParaRPr lang="en-US" sz="320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0" descr="preencoded.png">
            <a:extLst>
              <a:ext uri="{FF2B5EF4-FFF2-40B4-BE49-F238E27FC236}">
                <a16:creationId xmlns:a16="http://schemas.microsoft.com/office/drawing/2014/main" xmlns="" id="{71980932-8472-BF1C-F416-04008536DCED}"/>
              </a:ext>
            </a:extLst>
          </p:cNvPr>
          <p:cNvPicPr>
            <a:picLocks noChangeAspect="1"/>
          </p:cNvPicPr>
          <p:nvPr/>
        </p:nvPicPr>
        <p:blipFill>
          <a:blip r:embed="rId3"/>
          <a:srcRect/>
          <a:stretch/>
        </p:blipFill>
        <p:spPr>
          <a:xfrm>
            <a:off x="7868" y="8176"/>
            <a:ext cx="12191928" cy="6857928"/>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3229585956"/>
              </p:ext>
            </p:extLst>
          </p:nvPr>
        </p:nvGraphicFramePr>
        <p:xfrm>
          <a:off x="7529815" y="1219200"/>
          <a:ext cx="4296424" cy="2286000"/>
        </p:xfrm>
        <a:graphic>
          <a:graphicData uri="http://schemas.openxmlformats.org/drawingml/2006/table">
            <a:tbl>
              <a:tblPr/>
              <a:tblGrid>
                <a:gridCol w="1851252">
                  <a:extLst>
                    <a:ext uri="{9D8B030D-6E8A-4147-A177-3AD203B41FA5}">
                      <a16:colId xmlns:a16="http://schemas.microsoft.com/office/drawing/2014/main" xmlns="" val="20000"/>
                    </a:ext>
                  </a:extLst>
                </a:gridCol>
                <a:gridCol w="872066">
                  <a:extLst>
                    <a:ext uri="{9D8B030D-6E8A-4147-A177-3AD203B41FA5}">
                      <a16:colId xmlns:a16="http://schemas.microsoft.com/office/drawing/2014/main" xmlns="" val="20001"/>
                    </a:ext>
                  </a:extLst>
                </a:gridCol>
                <a:gridCol w="846019">
                  <a:extLst>
                    <a:ext uri="{9D8B030D-6E8A-4147-A177-3AD203B41FA5}">
                      <a16:colId xmlns:a16="http://schemas.microsoft.com/office/drawing/2014/main" xmlns="" val="20002"/>
                    </a:ext>
                  </a:extLst>
                </a:gridCol>
                <a:gridCol w="727087">
                  <a:extLst>
                    <a:ext uri="{9D8B030D-6E8A-4147-A177-3AD203B41FA5}">
                      <a16:colId xmlns:a16="http://schemas.microsoft.com/office/drawing/2014/main" xmlns="" val="20003"/>
                    </a:ext>
                  </a:extLst>
                </a:gridCol>
              </a:tblGrid>
              <a:tr h="568960">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+5s F1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+15s F1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+30s F1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xmlns="" val="10000"/>
                  </a:ext>
                </a:extLst>
              </a:tr>
              <a:tr h="568960">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Transformer-only</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0.767</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0.763</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0.701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1"/>
                  </a:ext>
                </a:extLst>
              </a:tr>
              <a:tr h="568960">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LSTM-only</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0.767</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0.751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0.781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2"/>
                  </a:ext>
                </a:extLst>
              </a:tr>
              <a:tr h="568960">
                <a:tc>
                  <a:txBody>
                    <a:bodyPr/>
                    <a:lstStyle/>
                    <a:p>
                      <a:pPr marL="0" indent="0" algn="ctr">
                        <a:buNone/>
                      </a:pPr>
                      <a:r>
                        <a:rPr lang="en-US" sz="1500" b="1" dirty="0">
                          <a:solidFill>
                            <a:srgbClr val="C8102E"/>
                          </a:solidFill>
                          <a:latin typeface="Calibri" pitchFamily="34" charset="0"/>
                          <a:ea typeface="Calibri" pitchFamily="34" charset="-122"/>
                          <a:cs typeface="Calibri" pitchFamily="34" charset="-120"/>
                        </a:rPr>
                        <a:t>SENTINEL-GNSS</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b="1" dirty="0">
                          <a:solidFill>
                            <a:srgbClr val="1DA462"/>
                          </a:solidFill>
                          <a:latin typeface="Calibri" pitchFamily="34" charset="0"/>
                          <a:ea typeface="Calibri" pitchFamily="34" charset="-122"/>
                          <a:cs typeface="Calibri" pitchFamily="34" charset="-120"/>
                        </a:rPr>
                        <a:t>0.821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0.741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b="1" dirty="0">
                          <a:solidFill>
                            <a:srgbClr val="1DA462"/>
                          </a:solidFill>
                          <a:latin typeface="Calibri" pitchFamily="34" charset="0"/>
                          <a:ea typeface="Calibri" pitchFamily="34" charset="-122"/>
                          <a:cs typeface="Calibri" pitchFamily="34" charset="-120"/>
                        </a:rPr>
                        <a:t>0.783</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6" name="Shape 2"/>
          <p:cNvSpPr/>
          <p:nvPr/>
        </p:nvSpPr>
        <p:spPr>
          <a:xfrm>
            <a:off x="7529815" y="3596640"/>
            <a:ext cx="4296425" cy="755904"/>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 name="Shape 3"/>
          <p:cNvSpPr/>
          <p:nvPr/>
        </p:nvSpPr>
        <p:spPr>
          <a:xfrm>
            <a:off x="7533635" y="3596640"/>
            <a:ext cx="73152" cy="755904"/>
          </a:xfrm>
          <a:prstGeom prst="rect">
            <a:avLst/>
          </a:prstGeom>
          <a:solidFill>
            <a:srgbClr val="C8102E"/>
          </a:solidFill>
          <a:ln w="12700">
            <a:solidFill>
              <a:srgbClr val="C8102E"/>
            </a:solidFill>
            <a:prstDash val="solid"/>
          </a:ln>
        </p:spPr>
      </p:sp>
      <p:sp>
        <p:nvSpPr>
          <p:cNvPr id="8" name="Text 4"/>
          <p:cNvSpPr/>
          <p:nvPr/>
        </p:nvSpPr>
        <p:spPr>
          <a:xfrm>
            <a:off x="8071104" y="3621024"/>
            <a:ext cx="3657600" cy="682752"/>
          </a:xfrm>
          <a:prstGeom prst="rect">
            <a:avLst/>
          </a:prstGeom>
          <a:noFill/>
          <a:ln/>
        </p:spPr>
        <p:txBody>
          <a:bodyPr wrap="square" rtlCol="0" anchor="ctr"/>
          <a:lstStyle/>
          <a:p>
            <a:r>
              <a:rPr lang="en-US" sz="1400" dirty="0">
                <a:solidFill>
                  <a:srgbClr val="0A1F44"/>
                </a:solidFill>
                <a:latin typeface="Calibri" pitchFamily="34" charset="0"/>
                <a:ea typeface="Calibri" pitchFamily="34" charset="-122"/>
                <a:cs typeface="Calibri" pitchFamily="34" charset="-120"/>
              </a:rPr>
              <a:t>Full model beats both ablations at +5s and +30s</a:t>
            </a:r>
            <a:endParaRPr lang="en-US" sz="1400" dirty="0"/>
          </a:p>
        </p:txBody>
      </p:sp>
      <p:sp>
        <p:nvSpPr>
          <p:cNvPr id="9" name="Shape 5"/>
          <p:cNvSpPr/>
          <p:nvPr/>
        </p:nvSpPr>
        <p:spPr>
          <a:xfrm>
            <a:off x="7529815" y="4474464"/>
            <a:ext cx="4296425" cy="755904"/>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0" name="Shape 6"/>
          <p:cNvSpPr/>
          <p:nvPr/>
        </p:nvSpPr>
        <p:spPr>
          <a:xfrm>
            <a:off x="7533635" y="4474464"/>
            <a:ext cx="73152" cy="755904"/>
          </a:xfrm>
          <a:prstGeom prst="rect">
            <a:avLst/>
          </a:prstGeom>
          <a:solidFill>
            <a:srgbClr val="C8102E"/>
          </a:solidFill>
          <a:ln w="12700">
            <a:solidFill>
              <a:srgbClr val="C8102E"/>
            </a:solidFill>
            <a:prstDash val="solid"/>
          </a:ln>
        </p:spPr>
      </p:sp>
      <p:sp>
        <p:nvSpPr>
          <p:cNvPr id="11" name="Text 7"/>
          <p:cNvSpPr/>
          <p:nvPr/>
        </p:nvSpPr>
        <p:spPr>
          <a:xfrm>
            <a:off x="8071104" y="4498848"/>
            <a:ext cx="3657600" cy="682752"/>
          </a:xfrm>
          <a:prstGeom prst="rect">
            <a:avLst/>
          </a:prstGeom>
          <a:noFill/>
          <a:ln/>
        </p:spPr>
        <p:txBody>
          <a:bodyPr wrap="square" rtlCol="0" anchor="ctr"/>
          <a:lstStyle/>
          <a:p>
            <a:r>
              <a:rPr lang="en-US" sz="1400" dirty="0">
                <a:solidFill>
                  <a:srgbClr val="0A1F44"/>
                </a:solidFill>
                <a:latin typeface="Calibri" pitchFamily="34" charset="0"/>
                <a:ea typeface="Calibri" pitchFamily="34" charset="-122"/>
                <a:cs typeface="Calibri" pitchFamily="34" charset="-120"/>
              </a:rPr>
              <a:t>BiLSTM alone is strong for longer horizons (+30s)</a:t>
            </a:r>
            <a:endParaRPr lang="en-US" sz="1400" dirty="0"/>
          </a:p>
        </p:txBody>
      </p:sp>
      <p:sp>
        <p:nvSpPr>
          <p:cNvPr id="12" name="Shape 8"/>
          <p:cNvSpPr/>
          <p:nvPr/>
        </p:nvSpPr>
        <p:spPr>
          <a:xfrm>
            <a:off x="7529815" y="5352288"/>
            <a:ext cx="4296425" cy="755904"/>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3" name="Shape 9"/>
          <p:cNvSpPr/>
          <p:nvPr/>
        </p:nvSpPr>
        <p:spPr>
          <a:xfrm>
            <a:off x="7533638" y="5352288"/>
            <a:ext cx="73152" cy="755904"/>
          </a:xfrm>
          <a:prstGeom prst="rect">
            <a:avLst/>
          </a:prstGeom>
          <a:solidFill>
            <a:srgbClr val="C8102E"/>
          </a:solidFill>
          <a:ln w="12700">
            <a:solidFill>
              <a:srgbClr val="C8102E"/>
            </a:solidFill>
            <a:prstDash val="solid"/>
          </a:ln>
        </p:spPr>
      </p:sp>
      <p:sp>
        <p:nvSpPr>
          <p:cNvPr id="14" name="Text 10"/>
          <p:cNvSpPr/>
          <p:nvPr/>
        </p:nvSpPr>
        <p:spPr>
          <a:xfrm>
            <a:off x="8071104" y="5376672"/>
            <a:ext cx="3657600" cy="682752"/>
          </a:xfrm>
          <a:prstGeom prst="rect">
            <a:avLst/>
          </a:prstGeom>
          <a:noFill/>
          <a:ln/>
        </p:spPr>
        <p:txBody>
          <a:bodyPr wrap="square" rtlCol="0" anchor="ctr"/>
          <a:lstStyle/>
          <a:p>
            <a:r>
              <a:rPr lang="en-US" sz="1400" dirty="0">
                <a:solidFill>
                  <a:srgbClr val="0A1F44"/>
                </a:solidFill>
                <a:latin typeface="Calibri" pitchFamily="34" charset="0"/>
                <a:ea typeface="Calibri" pitchFamily="34" charset="-122"/>
                <a:cs typeface="Calibri" pitchFamily="34" charset="-120"/>
              </a:rPr>
              <a:t>Transformer-only struggles at +30s — sequence matters there</a:t>
            </a:r>
            <a:endParaRPr lang="en-US" sz="1400" dirty="0"/>
          </a:p>
        </p:txBody>
      </p:sp>
      <p:sp>
        <p:nvSpPr>
          <p:cNvPr id="17" name="Shape 0">
            <a:extLst>
              <a:ext uri="{FF2B5EF4-FFF2-40B4-BE49-F238E27FC236}">
                <a16:creationId xmlns:a16="http://schemas.microsoft.com/office/drawing/2014/main" xmlns="" id="{AC1A5C5D-C4D2-32FD-5A21-FDA4C9997980}"/>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18" name="Shape 1">
            <a:extLst>
              <a:ext uri="{FF2B5EF4-FFF2-40B4-BE49-F238E27FC236}">
                <a16:creationId xmlns:a16="http://schemas.microsoft.com/office/drawing/2014/main" xmlns="" id="{898C5B56-03C4-5EDD-06AC-3D5FCA09E204}"/>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9" name="Shape 2">
            <a:extLst>
              <a:ext uri="{FF2B5EF4-FFF2-40B4-BE49-F238E27FC236}">
                <a16:creationId xmlns:a16="http://schemas.microsoft.com/office/drawing/2014/main" xmlns="" id="{3EE4D281-E67B-2B86-2DE0-278B43A52026}"/>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0" name="Shape 3">
            <a:extLst>
              <a:ext uri="{FF2B5EF4-FFF2-40B4-BE49-F238E27FC236}">
                <a16:creationId xmlns:a16="http://schemas.microsoft.com/office/drawing/2014/main" xmlns="" id="{2FA483A2-3DF3-68E2-F406-0707EB929F23}"/>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21" name="Shape 4">
            <a:extLst>
              <a:ext uri="{FF2B5EF4-FFF2-40B4-BE49-F238E27FC236}">
                <a16:creationId xmlns:a16="http://schemas.microsoft.com/office/drawing/2014/main" xmlns="" id="{34D5E15C-6FF5-9C58-FBD2-00A73594567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22" name="Shape 5">
            <a:extLst>
              <a:ext uri="{FF2B5EF4-FFF2-40B4-BE49-F238E27FC236}">
                <a16:creationId xmlns:a16="http://schemas.microsoft.com/office/drawing/2014/main" xmlns="" id="{665B2162-0218-8747-3DCE-DF0C50089CA9}"/>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3" name="Shape 6">
            <a:extLst>
              <a:ext uri="{FF2B5EF4-FFF2-40B4-BE49-F238E27FC236}">
                <a16:creationId xmlns:a16="http://schemas.microsoft.com/office/drawing/2014/main" xmlns="" id="{13D8CC4F-6EB8-9727-BCA7-6AF5F7233D1A}"/>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4" name="Shape 7">
            <a:extLst>
              <a:ext uri="{FF2B5EF4-FFF2-40B4-BE49-F238E27FC236}">
                <a16:creationId xmlns:a16="http://schemas.microsoft.com/office/drawing/2014/main" xmlns="" id="{9B9012DF-6326-950E-3A70-4C3F77E2F042}"/>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5" name="Shape 8">
            <a:extLst>
              <a:ext uri="{FF2B5EF4-FFF2-40B4-BE49-F238E27FC236}">
                <a16:creationId xmlns:a16="http://schemas.microsoft.com/office/drawing/2014/main" xmlns="" id="{2430C0FB-CB35-34FA-962F-38B4D30F2A26}"/>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6" name="Shape 9">
            <a:extLst>
              <a:ext uri="{FF2B5EF4-FFF2-40B4-BE49-F238E27FC236}">
                <a16:creationId xmlns:a16="http://schemas.microsoft.com/office/drawing/2014/main" xmlns="" id="{8264C17E-BA07-0DDB-1052-09597875DBCC}"/>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7" name="Shape 10">
            <a:extLst>
              <a:ext uri="{FF2B5EF4-FFF2-40B4-BE49-F238E27FC236}">
                <a16:creationId xmlns:a16="http://schemas.microsoft.com/office/drawing/2014/main" xmlns="" id="{89ACB0C6-8B97-A678-0F96-BE6BC3E2F77B}"/>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8" name="Shape 11">
            <a:extLst>
              <a:ext uri="{FF2B5EF4-FFF2-40B4-BE49-F238E27FC236}">
                <a16:creationId xmlns:a16="http://schemas.microsoft.com/office/drawing/2014/main" xmlns="" id="{DF9A11AE-2B54-9802-7A75-DB71683F69A5}"/>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9" name="Shape 12">
            <a:extLst>
              <a:ext uri="{FF2B5EF4-FFF2-40B4-BE49-F238E27FC236}">
                <a16:creationId xmlns:a16="http://schemas.microsoft.com/office/drawing/2014/main" xmlns="" id="{B7BCC867-2BA2-8A44-FF50-9296202F6636}"/>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0" name="Shape 13">
            <a:extLst>
              <a:ext uri="{FF2B5EF4-FFF2-40B4-BE49-F238E27FC236}">
                <a16:creationId xmlns:a16="http://schemas.microsoft.com/office/drawing/2014/main" xmlns="" id="{ABB75E9A-B639-CBE4-3734-CFB7308BB902}"/>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31" name="Shape 14">
            <a:extLst>
              <a:ext uri="{FF2B5EF4-FFF2-40B4-BE49-F238E27FC236}">
                <a16:creationId xmlns:a16="http://schemas.microsoft.com/office/drawing/2014/main" xmlns="" id="{573C36D8-1F7A-1379-CA9D-AFCE6D5DCCB6}"/>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32" name="Shape 15">
            <a:extLst>
              <a:ext uri="{FF2B5EF4-FFF2-40B4-BE49-F238E27FC236}">
                <a16:creationId xmlns:a16="http://schemas.microsoft.com/office/drawing/2014/main" xmlns="" id="{08784C98-365D-F7DF-BBAA-1EB31B5D09FB}"/>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3" name="Shape 16">
            <a:extLst>
              <a:ext uri="{FF2B5EF4-FFF2-40B4-BE49-F238E27FC236}">
                <a16:creationId xmlns:a16="http://schemas.microsoft.com/office/drawing/2014/main" xmlns="" id="{50A54B14-3F28-D694-3511-941E1B195DA0}"/>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4" name="Picture 33">
            <a:extLst>
              <a:ext uri="{FF2B5EF4-FFF2-40B4-BE49-F238E27FC236}">
                <a16:creationId xmlns:a16="http://schemas.microsoft.com/office/drawing/2014/main" xmlns="" id="{11A711E8-471E-4FE9-38F6-096172ED0A8E}"/>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192376" y="-13619"/>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ABLATION STUDY — WHAT EACH COMPONENT ADDS</a:t>
            </a:r>
            <a:endParaRPr lang="en-US" sz="3200" dirty="0">
              <a:solidFill>
                <a:schemeClr val="bg1"/>
              </a:solidFill>
            </a:endParaRPr>
          </a:p>
        </p:txBody>
      </p:sp>
      <p:pic>
        <p:nvPicPr>
          <p:cNvPr id="36" name="Picture 35">
            <a:extLst>
              <a:ext uri="{FF2B5EF4-FFF2-40B4-BE49-F238E27FC236}">
                <a16:creationId xmlns:a16="http://schemas.microsoft.com/office/drawing/2014/main" xmlns="" id="{12DDD521-4E7D-9A72-1FDD-9E7428DC457F}"/>
              </a:ext>
            </a:extLst>
          </p:cNvPr>
          <p:cNvPicPr>
            <a:picLocks noChangeAspect="1"/>
          </p:cNvPicPr>
          <p:nvPr/>
        </p:nvPicPr>
        <p:blipFill>
          <a:blip r:embed="rId5"/>
          <a:stretch>
            <a:fillRect/>
          </a:stretch>
        </p:blipFill>
        <p:spPr>
          <a:xfrm>
            <a:off x="188537" y="1229718"/>
            <a:ext cx="6904060" cy="465895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0" descr="preencoded.png">
            <a:extLst>
              <a:ext uri="{FF2B5EF4-FFF2-40B4-BE49-F238E27FC236}">
                <a16:creationId xmlns:a16="http://schemas.microsoft.com/office/drawing/2014/main" xmlns="" id="{71980932-8472-BF1C-F416-04008536DCED}"/>
              </a:ext>
            </a:extLst>
          </p:cNvPr>
          <p:cNvPicPr>
            <a:picLocks noChangeAspect="1"/>
          </p:cNvPicPr>
          <p:nvPr/>
        </p:nvPicPr>
        <p:blipFill>
          <a:blip r:embed="rId3"/>
          <a:srcRect/>
          <a:stretch/>
        </p:blipFill>
        <p:spPr>
          <a:xfrm>
            <a:off x="7868" y="8176"/>
            <a:ext cx="12191928" cy="6857928"/>
          </a:xfrm>
          <a:prstGeom prst="rect">
            <a:avLst/>
          </a:prstGeom>
        </p:spPr>
      </p:pic>
      <p:sp>
        <p:nvSpPr>
          <p:cNvPr id="17" name="Shape 0">
            <a:extLst>
              <a:ext uri="{FF2B5EF4-FFF2-40B4-BE49-F238E27FC236}">
                <a16:creationId xmlns:a16="http://schemas.microsoft.com/office/drawing/2014/main" xmlns="" id="{AC1A5C5D-C4D2-32FD-5A21-FDA4C9997980}"/>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18" name="Shape 1">
            <a:extLst>
              <a:ext uri="{FF2B5EF4-FFF2-40B4-BE49-F238E27FC236}">
                <a16:creationId xmlns:a16="http://schemas.microsoft.com/office/drawing/2014/main" xmlns="" id="{898C5B56-03C4-5EDD-06AC-3D5FCA09E204}"/>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9" name="Shape 2">
            <a:extLst>
              <a:ext uri="{FF2B5EF4-FFF2-40B4-BE49-F238E27FC236}">
                <a16:creationId xmlns:a16="http://schemas.microsoft.com/office/drawing/2014/main" xmlns="" id="{3EE4D281-E67B-2B86-2DE0-278B43A52026}"/>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1" name="Shape 4">
            <a:extLst>
              <a:ext uri="{FF2B5EF4-FFF2-40B4-BE49-F238E27FC236}">
                <a16:creationId xmlns:a16="http://schemas.microsoft.com/office/drawing/2014/main" xmlns="" id="{34D5E15C-6FF5-9C58-FBD2-00A73594567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22" name="Shape 5">
            <a:extLst>
              <a:ext uri="{FF2B5EF4-FFF2-40B4-BE49-F238E27FC236}">
                <a16:creationId xmlns:a16="http://schemas.microsoft.com/office/drawing/2014/main" xmlns="" id="{665B2162-0218-8747-3DCE-DF0C50089CA9}"/>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3" name="Shape 6">
            <a:extLst>
              <a:ext uri="{FF2B5EF4-FFF2-40B4-BE49-F238E27FC236}">
                <a16:creationId xmlns:a16="http://schemas.microsoft.com/office/drawing/2014/main" xmlns="" id="{13D8CC4F-6EB8-9727-BCA7-6AF5F7233D1A}"/>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4" name="Shape 7">
            <a:extLst>
              <a:ext uri="{FF2B5EF4-FFF2-40B4-BE49-F238E27FC236}">
                <a16:creationId xmlns:a16="http://schemas.microsoft.com/office/drawing/2014/main" xmlns="" id="{9B9012DF-6326-950E-3A70-4C3F77E2F042}"/>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5" name="Shape 8">
            <a:extLst>
              <a:ext uri="{FF2B5EF4-FFF2-40B4-BE49-F238E27FC236}">
                <a16:creationId xmlns:a16="http://schemas.microsoft.com/office/drawing/2014/main" xmlns="" id="{2430C0FB-CB35-34FA-962F-38B4D30F2A26}"/>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6" name="Shape 9">
            <a:extLst>
              <a:ext uri="{FF2B5EF4-FFF2-40B4-BE49-F238E27FC236}">
                <a16:creationId xmlns:a16="http://schemas.microsoft.com/office/drawing/2014/main" xmlns="" id="{8264C17E-BA07-0DDB-1052-09597875DBCC}"/>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7" name="Shape 10">
            <a:extLst>
              <a:ext uri="{FF2B5EF4-FFF2-40B4-BE49-F238E27FC236}">
                <a16:creationId xmlns:a16="http://schemas.microsoft.com/office/drawing/2014/main" xmlns="" id="{89ACB0C6-8B97-A678-0F96-BE6BC3E2F77B}"/>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8" name="Shape 11">
            <a:extLst>
              <a:ext uri="{FF2B5EF4-FFF2-40B4-BE49-F238E27FC236}">
                <a16:creationId xmlns:a16="http://schemas.microsoft.com/office/drawing/2014/main" xmlns="" id="{DF9A11AE-2B54-9802-7A75-DB71683F69A5}"/>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9" name="Shape 12">
            <a:extLst>
              <a:ext uri="{FF2B5EF4-FFF2-40B4-BE49-F238E27FC236}">
                <a16:creationId xmlns:a16="http://schemas.microsoft.com/office/drawing/2014/main" xmlns="" id="{B7BCC867-2BA2-8A44-FF50-9296202F6636}"/>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0" name="Shape 13">
            <a:extLst>
              <a:ext uri="{FF2B5EF4-FFF2-40B4-BE49-F238E27FC236}">
                <a16:creationId xmlns:a16="http://schemas.microsoft.com/office/drawing/2014/main" xmlns="" id="{ABB75E9A-B639-CBE4-3734-CFB7308BB902}"/>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31" name="Shape 14">
            <a:extLst>
              <a:ext uri="{FF2B5EF4-FFF2-40B4-BE49-F238E27FC236}">
                <a16:creationId xmlns:a16="http://schemas.microsoft.com/office/drawing/2014/main" xmlns="" id="{573C36D8-1F7A-1379-CA9D-AFCE6D5DCCB6}"/>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32" name="Shape 15">
            <a:extLst>
              <a:ext uri="{FF2B5EF4-FFF2-40B4-BE49-F238E27FC236}">
                <a16:creationId xmlns:a16="http://schemas.microsoft.com/office/drawing/2014/main" xmlns="" id="{08784C98-365D-F7DF-BBAA-1EB31B5D09FB}"/>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3" name="Shape 16">
            <a:extLst>
              <a:ext uri="{FF2B5EF4-FFF2-40B4-BE49-F238E27FC236}">
                <a16:creationId xmlns:a16="http://schemas.microsoft.com/office/drawing/2014/main" xmlns="" id="{50A54B14-3F28-D694-3511-941E1B195DA0}"/>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sp>
        <p:nvSpPr>
          <p:cNvPr id="38" name="Rectangle 37"/>
          <p:cNvSpPr/>
          <p:nvPr/>
        </p:nvSpPr>
        <p:spPr>
          <a:xfrm>
            <a:off x="0" y="-27432"/>
            <a:ext cx="12188952" cy="76809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0" y="704088"/>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0" y="6647688"/>
            <a:ext cx="12188952" cy="21031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0" y="6620256"/>
            <a:ext cx="12188952"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271016" y="64008"/>
            <a:ext cx="10515600" cy="603504"/>
          </a:xfrm>
          <a:prstGeom prst="rect">
            <a:avLst/>
          </a:prstGeom>
          <a:noFill/>
        </p:spPr>
        <p:txBody>
          <a:bodyPr wrap="square">
            <a:spAutoFit/>
          </a:bodyPr>
          <a:lstStyle/>
          <a:p>
            <a:pPr algn="l"/>
            <a:r>
              <a:rPr sz="1800" b="1" i="0">
                <a:solidFill>
                  <a:srgbClr val="FFFFFF"/>
                </a:solidFill>
              </a:rPr>
              <a:t>CROSS-CITY GENERALISATION — THE CHALLENGE</a:t>
            </a:r>
          </a:p>
        </p:txBody>
      </p:sp>
      <p:sp>
        <p:nvSpPr>
          <p:cNvPr id="43" name="TextBox 42"/>
          <p:cNvSpPr txBox="1"/>
          <p:nvPr/>
        </p:nvSpPr>
        <p:spPr>
          <a:xfrm>
            <a:off x="612648" y="6675120"/>
            <a:ext cx="3657600" cy="155448"/>
          </a:xfrm>
          <a:prstGeom prst="rect">
            <a:avLst/>
          </a:prstGeom>
          <a:noFill/>
        </p:spPr>
        <p:txBody>
          <a:bodyPr wrap="square">
            <a:spAutoFit/>
          </a:bodyPr>
          <a:lstStyle/>
          <a:p>
            <a:pPr algn="l"/>
            <a:r>
              <a:rPr sz="800" b="0" i="0">
                <a:solidFill>
                  <a:srgbClr val="BFE6FB"/>
                </a:solidFill>
              </a:rPr>
              <a:t>BEIHANG UNIVERSITY</a:t>
            </a:r>
          </a:p>
        </p:txBody>
      </p:sp>
      <p:sp>
        <p:nvSpPr>
          <p:cNvPr id="44" name="TextBox 43"/>
          <p:cNvSpPr txBox="1"/>
          <p:nvPr/>
        </p:nvSpPr>
        <p:spPr>
          <a:xfrm>
            <a:off x="8686800" y="6675120"/>
            <a:ext cx="2926080" cy="155448"/>
          </a:xfrm>
          <a:prstGeom prst="rect">
            <a:avLst/>
          </a:prstGeom>
          <a:noFill/>
        </p:spPr>
        <p:txBody>
          <a:bodyPr wrap="square">
            <a:spAutoFit/>
          </a:bodyPr>
          <a:lstStyle/>
          <a:p>
            <a:pPr algn="r"/>
            <a:r>
              <a:rPr sz="800" b="0" i="0">
                <a:solidFill>
                  <a:srgbClr val="FFFFFF"/>
                </a:solidFill>
              </a:rPr>
              <a:t>SENTINEL-GNSS · PILOT</a:t>
            </a:r>
          </a:p>
        </p:txBody>
      </p:sp>
      <p:sp>
        <p:nvSpPr>
          <p:cNvPr id="45" name="TextBox 44"/>
          <p:cNvSpPr txBox="1"/>
          <p:nvPr/>
        </p:nvSpPr>
        <p:spPr>
          <a:xfrm>
            <a:off x="612648" y="1005840"/>
            <a:ext cx="10972800" cy="457200"/>
          </a:xfrm>
          <a:prstGeom prst="rect">
            <a:avLst/>
          </a:prstGeom>
          <a:noFill/>
        </p:spPr>
        <p:txBody>
          <a:bodyPr wrap="square">
            <a:spAutoFit/>
          </a:bodyPr>
          <a:lstStyle/>
          <a:p>
            <a:pPr algn="ctr"/>
            <a:r>
              <a:rPr sz="1600" b="0" i="0">
                <a:solidFill>
                  <a:srgbClr val="0A1733"/>
                </a:solidFill>
              </a:rPr>
              <a:t>Can a model trained in Beijing and Hong Kong predict GNSS quality in Tokyo — a city it has never seen?</a:t>
            </a:r>
          </a:p>
        </p:txBody>
      </p:sp>
      <p:sp>
        <p:nvSpPr>
          <p:cNvPr id="46" name="Rectangle 45"/>
          <p:cNvSpPr/>
          <p:nvPr/>
        </p:nvSpPr>
        <p:spPr>
          <a:xfrm>
            <a:off x="612648" y="1645920"/>
            <a:ext cx="73152" cy="731520"/>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95528" y="1645920"/>
            <a:ext cx="10789920" cy="292608"/>
          </a:xfrm>
          <a:prstGeom prst="rect">
            <a:avLst/>
          </a:prstGeom>
          <a:noFill/>
        </p:spPr>
        <p:txBody>
          <a:bodyPr wrap="square">
            <a:spAutoFit/>
          </a:bodyPr>
          <a:lstStyle/>
          <a:p>
            <a:pPr algn="l"/>
            <a:r>
              <a:rPr sz="1300" b="1" i="0">
                <a:solidFill>
                  <a:srgbClr val="003893"/>
                </a:solidFill>
              </a:rPr>
              <a:t>Different skyline geometry</a:t>
            </a:r>
          </a:p>
        </p:txBody>
      </p:sp>
      <p:sp>
        <p:nvSpPr>
          <p:cNvPr id="48" name="TextBox 47"/>
          <p:cNvSpPr txBox="1"/>
          <p:nvPr/>
        </p:nvSpPr>
        <p:spPr>
          <a:xfrm>
            <a:off x="795528" y="1947672"/>
            <a:ext cx="10789920" cy="347472"/>
          </a:xfrm>
          <a:prstGeom prst="rect">
            <a:avLst/>
          </a:prstGeom>
          <a:noFill/>
        </p:spPr>
        <p:txBody>
          <a:bodyPr wrap="square">
            <a:spAutoFit/>
          </a:bodyPr>
          <a:lstStyle/>
          <a:p>
            <a:pPr algn="l"/>
            <a:r>
              <a:rPr sz="1100" b="0" i="0">
                <a:solidFill>
                  <a:srgbClr val="333333"/>
                </a:solidFill>
              </a:rPr>
              <a:t>Tokyo Shinjuku has a distinct building density and canyon profile vs Beijing ring-roads.</a:t>
            </a:r>
          </a:p>
        </p:txBody>
      </p:sp>
      <p:sp>
        <p:nvSpPr>
          <p:cNvPr id="49" name="Rectangle 48"/>
          <p:cNvSpPr/>
          <p:nvPr/>
        </p:nvSpPr>
        <p:spPr>
          <a:xfrm>
            <a:off x="612648" y="2606040"/>
            <a:ext cx="73152" cy="731520"/>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95528" y="2606040"/>
            <a:ext cx="10789920" cy="292608"/>
          </a:xfrm>
          <a:prstGeom prst="rect">
            <a:avLst/>
          </a:prstGeom>
          <a:noFill/>
        </p:spPr>
        <p:txBody>
          <a:bodyPr wrap="square">
            <a:spAutoFit/>
          </a:bodyPr>
          <a:lstStyle/>
          <a:p>
            <a:pPr algn="l"/>
            <a:r>
              <a:rPr sz="1300" b="1" i="0">
                <a:solidFill>
                  <a:srgbClr val="003893"/>
                </a:solidFill>
              </a:rPr>
              <a:t>Different satellite visibility</a:t>
            </a:r>
          </a:p>
        </p:txBody>
      </p:sp>
      <p:sp>
        <p:nvSpPr>
          <p:cNvPr id="51" name="TextBox 50"/>
          <p:cNvSpPr txBox="1"/>
          <p:nvPr/>
        </p:nvSpPr>
        <p:spPr>
          <a:xfrm>
            <a:off x="795528" y="2907792"/>
            <a:ext cx="10789920" cy="347472"/>
          </a:xfrm>
          <a:prstGeom prst="rect">
            <a:avLst/>
          </a:prstGeom>
          <a:noFill/>
        </p:spPr>
        <p:txBody>
          <a:bodyPr wrap="square">
            <a:spAutoFit/>
          </a:bodyPr>
          <a:lstStyle/>
          <a:p>
            <a:pPr algn="l"/>
            <a:r>
              <a:rPr sz="1100" b="0" i="0">
                <a:solidFill>
                  <a:srgbClr val="333333"/>
                </a:solidFill>
              </a:rPr>
              <a:t>Latitude difference changes GNSS constellation elevation angles and multipath patterns.</a:t>
            </a:r>
          </a:p>
        </p:txBody>
      </p:sp>
      <p:sp>
        <p:nvSpPr>
          <p:cNvPr id="52" name="Rectangle 51"/>
          <p:cNvSpPr/>
          <p:nvPr/>
        </p:nvSpPr>
        <p:spPr>
          <a:xfrm>
            <a:off x="612648" y="3566160"/>
            <a:ext cx="73152" cy="731520"/>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95528" y="3566160"/>
            <a:ext cx="10789920" cy="292608"/>
          </a:xfrm>
          <a:prstGeom prst="rect">
            <a:avLst/>
          </a:prstGeom>
          <a:noFill/>
        </p:spPr>
        <p:txBody>
          <a:bodyPr wrap="square">
            <a:spAutoFit/>
          </a:bodyPr>
          <a:lstStyle/>
          <a:p>
            <a:pPr algn="l"/>
            <a:r>
              <a:rPr sz="1300" b="1" i="0">
                <a:solidFill>
                  <a:srgbClr val="003893"/>
                </a:solidFill>
              </a:rPr>
              <a:t>Different receiver hardware</a:t>
            </a:r>
          </a:p>
        </p:txBody>
      </p:sp>
      <p:sp>
        <p:nvSpPr>
          <p:cNvPr id="54" name="TextBox 53"/>
          <p:cNvSpPr txBox="1"/>
          <p:nvPr/>
        </p:nvSpPr>
        <p:spPr>
          <a:xfrm>
            <a:off x="795528" y="3867912"/>
            <a:ext cx="10789920" cy="347472"/>
          </a:xfrm>
          <a:prstGeom prst="rect">
            <a:avLst/>
          </a:prstGeom>
          <a:noFill/>
        </p:spPr>
        <p:txBody>
          <a:bodyPr wrap="square">
            <a:spAutoFit/>
          </a:bodyPr>
          <a:lstStyle/>
          <a:p>
            <a:pPr algn="l"/>
            <a:r>
              <a:rPr sz="1100" b="0" i="0">
                <a:solidFill>
                  <a:srgbClr val="333333"/>
                </a:solidFill>
              </a:rPr>
              <a:t>Trimble + u-blox F9P in Tokyo vs Septentrio survey-grade in Beihang — different noise floors.</a:t>
            </a:r>
          </a:p>
        </p:txBody>
      </p:sp>
      <p:sp>
        <p:nvSpPr>
          <p:cNvPr id="55" name="Rectangle 54"/>
          <p:cNvSpPr/>
          <p:nvPr/>
        </p:nvSpPr>
        <p:spPr>
          <a:xfrm>
            <a:off x="612648" y="4526280"/>
            <a:ext cx="73152" cy="731520"/>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95528" y="4526280"/>
            <a:ext cx="10789920" cy="292608"/>
          </a:xfrm>
          <a:prstGeom prst="rect">
            <a:avLst/>
          </a:prstGeom>
          <a:noFill/>
        </p:spPr>
        <p:txBody>
          <a:bodyPr wrap="square">
            <a:spAutoFit/>
          </a:bodyPr>
          <a:lstStyle/>
          <a:p>
            <a:pPr algn="l"/>
            <a:r>
              <a:rPr sz="1300" b="1" i="0">
                <a:solidFill>
                  <a:srgbClr val="003893"/>
                </a:solidFill>
              </a:rPr>
              <a:t>Zero training data from Tokyo</a:t>
            </a:r>
          </a:p>
        </p:txBody>
      </p:sp>
      <p:sp>
        <p:nvSpPr>
          <p:cNvPr id="57" name="TextBox 56"/>
          <p:cNvSpPr txBox="1"/>
          <p:nvPr/>
        </p:nvSpPr>
        <p:spPr>
          <a:xfrm>
            <a:off x="795528" y="4828032"/>
            <a:ext cx="10789920" cy="347472"/>
          </a:xfrm>
          <a:prstGeom prst="rect">
            <a:avLst/>
          </a:prstGeom>
          <a:noFill/>
        </p:spPr>
        <p:txBody>
          <a:bodyPr wrap="square">
            <a:spAutoFit/>
          </a:bodyPr>
          <a:lstStyle/>
          <a:p>
            <a:pPr algn="l"/>
            <a:r>
              <a:rPr sz="1100" b="0" i="0">
                <a:solidFill>
                  <a:srgbClr val="333333"/>
                </a:solidFill>
              </a:rPr>
              <a:t>Tokyo is completely excluded from training. Not a single Tokyo window was used. This is a true zero-shot evaluation.</a:t>
            </a:r>
          </a:p>
        </p:txBody>
      </p:sp>
      <p:sp>
        <p:nvSpPr>
          <p:cNvPr id="58" name="Rectangle 57"/>
          <p:cNvSpPr/>
          <p:nvPr/>
        </p:nvSpPr>
        <p:spPr>
          <a:xfrm>
            <a:off x="612648" y="5852160"/>
            <a:ext cx="10972800"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04088" y="5852160"/>
            <a:ext cx="10789920" cy="457200"/>
          </a:xfrm>
          <a:prstGeom prst="rect">
            <a:avLst/>
          </a:prstGeom>
          <a:noFill/>
        </p:spPr>
        <p:txBody>
          <a:bodyPr wrap="square">
            <a:spAutoFit/>
          </a:bodyPr>
          <a:lstStyle/>
          <a:p>
            <a:pPr algn="ctr"/>
            <a:r>
              <a:rPr sz="1400" b="1" i="0">
                <a:solidFill>
                  <a:srgbClr val="4FC3F7"/>
                </a:solidFill>
              </a:rPr>
              <a:t>Next slide: the actual numbers →  Does SENTINEL hold up?</a:t>
            </a:r>
          </a:p>
        </p:txBody>
      </p:sp>
    </p:spTree>
    <p:extLst>
      <p:ext uri="{BB962C8B-B14F-4D97-AF65-F5344CB8AC3E}">
        <p14:creationId xmlns:p14="http://schemas.microsoft.com/office/powerpoint/2010/main" val="44542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3D21236-7B22-0211-0D49-36E7A4E9D538}"/>
            </a:ext>
          </a:extLst>
        </p:cNvPr>
        <p:cNvGrpSpPr/>
        <p:nvPr/>
      </p:nvGrpSpPr>
      <p:grpSpPr>
        <a:xfrm>
          <a:off x="0" y="0"/>
          <a:ext cx="0" cy="0"/>
          <a:chOff x="0" y="0"/>
          <a:chExt cx="0" cy="0"/>
        </a:xfrm>
      </p:grpSpPr>
      <p:pic>
        <p:nvPicPr>
          <p:cNvPr id="37" name="Image 0" descr="preencoded.png">
            <a:extLst>
              <a:ext uri="{FF2B5EF4-FFF2-40B4-BE49-F238E27FC236}">
                <a16:creationId xmlns:a16="http://schemas.microsoft.com/office/drawing/2014/main" xmlns="" id="{590B1BC8-929B-1933-D1A6-BFA3E84FE9EC}"/>
              </a:ext>
            </a:extLst>
          </p:cNvPr>
          <p:cNvPicPr>
            <a:picLocks noChangeAspect="1"/>
          </p:cNvPicPr>
          <p:nvPr/>
        </p:nvPicPr>
        <p:blipFill>
          <a:blip r:embed="rId3"/>
          <a:stretch>
            <a:fillRect/>
          </a:stretch>
        </p:blipFill>
        <p:spPr>
          <a:xfrm>
            <a:off x="0" y="16375"/>
            <a:ext cx="12192000" cy="6858000"/>
          </a:xfrm>
          <a:prstGeom prst="rect">
            <a:avLst/>
          </a:prstGeom>
        </p:spPr>
      </p:pic>
      <p:sp>
        <p:nvSpPr>
          <p:cNvPr id="2" name="Shape 0">
            <a:extLst>
              <a:ext uri="{FF2B5EF4-FFF2-40B4-BE49-F238E27FC236}">
                <a16:creationId xmlns:a16="http://schemas.microsoft.com/office/drawing/2014/main" xmlns="" id="{70EF1E95-7BA4-B101-D072-ECEE62FA2322}"/>
              </a:ext>
            </a:extLst>
          </p:cNvPr>
          <p:cNvSpPr/>
          <p:nvPr/>
        </p:nvSpPr>
        <p:spPr>
          <a:xfrm>
            <a:off x="10363200" y="182880"/>
            <a:ext cx="1524000" cy="390144"/>
          </a:xfrm>
          <a:prstGeom prst="rect">
            <a:avLst/>
          </a:prstGeom>
          <a:solidFill>
            <a:srgbClr val="C8102E"/>
          </a:solidFill>
          <a:ln w="12700">
            <a:solidFill>
              <a:srgbClr val="C8102E"/>
            </a:solidFill>
            <a:prstDash val="solid"/>
          </a:ln>
        </p:spPr>
      </p:sp>
      <p:sp>
        <p:nvSpPr>
          <p:cNvPr id="3" name="Text 1">
            <a:extLst>
              <a:ext uri="{FF2B5EF4-FFF2-40B4-BE49-F238E27FC236}">
                <a16:creationId xmlns:a16="http://schemas.microsoft.com/office/drawing/2014/main" xmlns="" id="{19844E13-DA2D-AF88-8063-45F5D9C2F225}"/>
              </a:ext>
            </a:extLst>
          </p:cNvPr>
          <p:cNvSpPr/>
          <p:nvPr/>
        </p:nvSpPr>
        <p:spPr>
          <a:xfrm>
            <a:off x="10363200" y="182880"/>
            <a:ext cx="1524000" cy="390144"/>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KEY RESULT</a:t>
            </a:r>
            <a:endParaRPr lang="en-US" sz="1133" dirty="0"/>
          </a:p>
        </p:txBody>
      </p:sp>
      <p:sp>
        <p:nvSpPr>
          <p:cNvPr id="6" name="Shape 4">
            <a:extLst>
              <a:ext uri="{FF2B5EF4-FFF2-40B4-BE49-F238E27FC236}">
                <a16:creationId xmlns:a16="http://schemas.microsoft.com/office/drawing/2014/main" xmlns="" id="{CAF4F981-4D91-F961-B380-E21874F23C2E}"/>
              </a:ext>
            </a:extLst>
          </p:cNvPr>
          <p:cNvSpPr/>
          <p:nvPr/>
        </p:nvSpPr>
        <p:spPr>
          <a:xfrm>
            <a:off x="476368" y="1245981"/>
            <a:ext cx="2816729" cy="1998917"/>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7" name="Text 5">
            <a:extLst>
              <a:ext uri="{FF2B5EF4-FFF2-40B4-BE49-F238E27FC236}">
                <a16:creationId xmlns:a16="http://schemas.microsoft.com/office/drawing/2014/main" xmlns="" id="{35414A5E-E45B-2A10-5585-4A6F57A5CFBA}"/>
              </a:ext>
            </a:extLst>
          </p:cNvPr>
          <p:cNvSpPr/>
          <p:nvPr/>
        </p:nvSpPr>
        <p:spPr>
          <a:xfrm>
            <a:off x="213360" y="1338027"/>
            <a:ext cx="3413760" cy="390144"/>
          </a:xfrm>
          <a:prstGeom prst="rect">
            <a:avLst/>
          </a:prstGeom>
          <a:noFill/>
          <a:ln/>
        </p:spPr>
        <p:txBody>
          <a:bodyPr wrap="square" rtlCol="0" anchor="ctr"/>
          <a:lstStyle/>
          <a:p>
            <a:pPr algn="ctr"/>
            <a:r>
              <a:rPr lang="en-US" sz="1600" b="1" dirty="0">
                <a:solidFill>
                  <a:srgbClr val="8493A8"/>
                </a:solidFill>
                <a:latin typeface="Calibri" pitchFamily="34" charset="0"/>
                <a:ea typeface="Calibri" pitchFamily="34" charset="-122"/>
                <a:cs typeface="Calibri" pitchFamily="34" charset="-120"/>
              </a:rPr>
              <a:t>XGBoost</a:t>
            </a:r>
            <a:endParaRPr lang="en-US" sz="1600" dirty="0"/>
          </a:p>
        </p:txBody>
      </p:sp>
      <p:sp>
        <p:nvSpPr>
          <p:cNvPr id="8" name="Text 6">
            <a:extLst>
              <a:ext uri="{FF2B5EF4-FFF2-40B4-BE49-F238E27FC236}">
                <a16:creationId xmlns:a16="http://schemas.microsoft.com/office/drawing/2014/main" xmlns="" id="{EEB175F3-7B6A-F8DE-D26E-17C38E800846}"/>
              </a:ext>
            </a:extLst>
          </p:cNvPr>
          <p:cNvSpPr/>
          <p:nvPr/>
        </p:nvSpPr>
        <p:spPr>
          <a:xfrm>
            <a:off x="213360" y="1725998"/>
            <a:ext cx="3413760" cy="609600"/>
          </a:xfrm>
          <a:prstGeom prst="rect">
            <a:avLst/>
          </a:prstGeom>
          <a:noFill/>
          <a:ln/>
        </p:spPr>
        <p:txBody>
          <a:bodyPr wrap="square" rtlCol="0" anchor="ctr"/>
          <a:lstStyle/>
          <a:p>
            <a:pPr algn="ctr"/>
            <a:r>
              <a:rPr lang="en-US" sz="2933" b="1" dirty="0">
                <a:solidFill>
                  <a:srgbClr val="C8102E"/>
                </a:solidFill>
                <a:latin typeface="Calibri" pitchFamily="34" charset="0"/>
                <a:ea typeface="Calibri" pitchFamily="34" charset="-122"/>
                <a:cs typeface="Calibri" pitchFamily="34" charset="-120"/>
              </a:rPr>
              <a:t>0.822 → 0.148</a:t>
            </a:r>
            <a:endParaRPr lang="en-US" sz="2933" dirty="0"/>
          </a:p>
        </p:txBody>
      </p:sp>
      <p:sp>
        <p:nvSpPr>
          <p:cNvPr id="9" name="Text 7">
            <a:extLst>
              <a:ext uri="{FF2B5EF4-FFF2-40B4-BE49-F238E27FC236}">
                <a16:creationId xmlns:a16="http://schemas.microsoft.com/office/drawing/2014/main" xmlns="" id="{5FAF9DDC-C7D8-AF9E-8640-ABE94CF753C5}"/>
              </a:ext>
            </a:extLst>
          </p:cNvPr>
          <p:cNvSpPr/>
          <p:nvPr/>
        </p:nvSpPr>
        <p:spPr>
          <a:xfrm>
            <a:off x="315518" y="2393180"/>
            <a:ext cx="3413760" cy="731520"/>
          </a:xfrm>
          <a:prstGeom prst="rect">
            <a:avLst/>
          </a:prstGeom>
          <a:noFill/>
          <a:ln/>
        </p:spPr>
        <p:txBody>
          <a:bodyPr wrap="square" rtlCol="0" anchor="ctr"/>
          <a:lstStyle/>
          <a:p>
            <a:pPr algn="ctr"/>
            <a:r>
              <a:rPr lang="en-US" sz="1333" dirty="0">
                <a:solidFill>
                  <a:srgbClr val="8493A8"/>
                </a:solidFill>
                <a:latin typeface="Calibri" pitchFamily="34" charset="0"/>
                <a:ea typeface="Calibri" pitchFamily="34" charset="-122"/>
                <a:cs typeface="Calibri" pitchFamily="34" charset="-120"/>
              </a:rPr>
              <a:t>DEGRADED F1 in-domain → Tokyo</a:t>
            </a:r>
            <a:endParaRPr lang="en-US" sz="1333" dirty="0"/>
          </a:p>
          <a:p>
            <a:pPr algn="ctr"/>
            <a:r>
              <a:rPr lang="en-US" sz="1333" dirty="0">
                <a:solidFill>
                  <a:srgbClr val="8493A8"/>
                </a:solidFill>
                <a:latin typeface="Calibri" pitchFamily="34" charset="0"/>
                <a:ea typeface="Calibri" pitchFamily="34" charset="-122"/>
                <a:cs typeface="Calibri" pitchFamily="34" charset="-120"/>
              </a:rPr>
              <a:t>−82% collapse</a:t>
            </a:r>
            <a:endParaRPr lang="en-US" sz="1333" dirty="0"/>
          </a:p>
        </p:txBody>
      </p:sp>
      <p:sp>
        <p:nvSpPr>
          <p:cNvPr id="19" name="Shape 0">
            <a:extLst>
              <a:ext uri="{FF2B5EF4-FFF2-40B4-BE49-F238E27FC236}">
                <a16:creationId xmlns:a16="http://schemas.microsoft.com/office/drawing/2014/main" xmlns="" id="{B4268C45-E74B-E81A-3971-879281491439}"/>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20" name="Shape 1">
            <a:extLst>
              <a:ext uri="{FF2B5EF4-FFF2-40B4-BE49-F238E27FC236}">
                <a16:creationId xmlns:a16="http://schemas.microsoft.com/office/drawing/2014/main" xmlns="" id="{69E4828C-969E-C0FB-C0F0-DF962A59B99F}"/>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21" name="Shape 2">
            <a:extLst>
              <a:ext uri="{FF2B5EF4-FFF2-40B4-BE49-F238E27FC236}">
                <a16:creationId xmlns:a16="http://schemas.microsoft.com/office/drawing/2014/main" xmlns="" id="{D7C653CC-62E6-6C4C-4D33-E147AB9B582E}"/>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2" name="Shape 3">
            <a:extLst>
              <a:ext uri="{FF2B5EF4-FFF2-40B4-BE49-F238E27FC236}">
                <a16:creationId xmlns:a16="http://schemas.microsoft.com/office/drawing/2014/main" xmlns="" id="{E13C3694-30CC-C348-F99D-594A4F913375}"/>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23" name="Shape 4">
            <a:extLst>
              <a:ext uri="{FF2B5EF4-FFF2-40B4-BE49-F238E27FC236}">
                <a16:creationId xmlns:a16="http://schemas.microsoft.com/office/drawing/2014/main" xmlns="" id="{D2E27570-1828-CB3B-B392-6B3D92CAB73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24" name="Shape 5">
            <a:extLst>
              <a:ext uri="{FF2B5EF4-FFF2-40B4-BE49-F238E27FC236}">
                <a16:creationId xmlns:a16="http://schemas.microsoft.com/office/drawing/2014/main" xmlns="" id="{26320C1F-993B-3DD7-F8FE-653FE7123CAE}"/>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5" name="Shape 6">
            <a:extLst>
              <a:ext uri="{FF2B5EF4-FFF2-40B4-BE49-F238E27FC236}">
                <a16:creationId xmlns:a16="http://schemas.microsoft.com/office/drawing/2014/main" xmlns="" id="{47487BB2-3148-BD9B-A029-D9311F88F592}"/>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6" name="Shape 7">
            <a:extLst>
              <a:ext uri="{FF2B5EF4-FFF2-40B4-BE49-F238E27FC236}">
                <a16:creationId xmlns:a16="http://schemas.microsoft.com/office/drawing/2014/main" xmlns="" id="{5D435034-5F45-BB15-B59B-491B7518042B}"/>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7" name="Shape 8">
            <a:extLst>
              <a:ext uri="{FF2B5EF4-FFF2-40B4-BE49-F238E27FC236}">
                <a16:creationId xmlns:a16="http://schemas.microsoft.com/office/drawing/2014/main" xmlns="" id="{FD42E6FF-9D1E-2937-BD4E-C285D00DB64F}"/>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8" name="Shape 9">
            <a:extLst>
              <a:ext uri="{FF2B5EF4-FFF2-40B4-BE49-F238E27FC236}">
                <a16:creationId xmlns:a16="http://schemas.microsoft.com/office/drawing/2014/main" xmlns="" id="{D33C15C5-19B2-4695-8ED7-C9BBC7A07BBE}"/>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9" name="Shape 10">
            <a:extLst>
              <a:ext uri="{FF2B5EF4-FFF2-40B4-BE49-F238E27FC236}">
                <a16:creationId xmlns:a16="http://schemas.microsoft.com/office/drawing/2014/main" xmlns="" id="{D2733582-E837-5CE3-CF69-DE72563476BB}"/>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30" name="Shape 11">
            <a:extLst>
              <a:ext uri="{FF2B5EF4-FFF2-40B4-BE49-F238E27FC236}">
                <a16:creationId xmlns:a16="http://schemas.microsoft.com/office/drawing/2014/main" xmlns="" id="{5C87E9D6-6AE6-E710-FD4A-C32E9AEB14C4}"/>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31" name="Shape 12">
            <a:extLst>
              <a:ext uri="{FF2B5EF4-FFF2-40B4-BE49-F238E27FC236}">
                <a16:creationId xmlns:a16="http://schemas.microsoft.com/office/drawing/2014/main" xmlns="" id="{D2DF1222-2CB1-B5FE-21FE-0290A36AA6EB}"/>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2" name="Shape 13">
            <a:extLst>
              <a:ext uri="{FF2B5EF4-FFF2-40B4-BE49-F238E27FC236}">
                <a16:creationId xmlns:a16="http://schemas.microsoft.com/office/drawing/2014/main" xmlns="" id="{4015D7CD-FF44-85CE-CEF9-C608B57DAA96}"/>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33" name="Shape 14">
            <a:extLst>
              <a:ext uri="{FF2B5EF4-FFF2-40B4-BE49-F238E27FC236}">
                <a16:creationId xmlns:a16="http://schemas.microsoft.com/office/drawing/2014/main" xmlns="" id="{9CAD32DF-A476-6AE8-F798-4B35B4267FE3}"/>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34" name="Shape 15">
            <a:extLst>
              <a:ext uri="{FF2B5EF4-FFF2-40B4-BE49-F238E27FC236}">
                <a16:creationId xmlns:a16="http://schemas.microsoft.com/office/drawing/2014/main" xmlns="" id="{35572C2E-3553-7942-B269-31E5DB5FA2CA}"/>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5" name="Shape 16">
            <a:extLst>
              <a:ext uri="{FF2B5EF4-FFF2-40B4-BE49-F238E27FC236}">
                <a16:creationId xmlns:a16="http://schemas.microsoft.com/office/drawing/2014/main" xmlns="" id="{46ED58E7-58F0-9FD9-7025-1EC1D0CABDDC}"/>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6" name="Picture 35">
            <a:extLst>
              <a:ext uri="{FF2B5EF4-FFF2-40B4-BE49-F238E27FC236}">
                <a16:creationId xmlns:a16="http://schemas.microsoft.com/office/drawing/2014/main" xmlns="" id="{9D719333-F02C-801C-D970-367D9582B663}"/>
              </a:ext>
            </a:extLst>
          </p:cNvPr>
          <p:cNvPicPr>
            <a:picLocks noChangeAspect="1"/>
          </p:cNvPicPr>
          <p:nvPr/>
        </p:nvPicPr>
        <p:blipFill>
          <a:blip r:embed="rId4"/>
          <a:stretch>
            <a:fillRect/>
          </a:stretch>
        </p:blipFill>
        <p:spPr>
          <a:xfrm>
            <a:off x="-453212" y="-263954"/>
            <a:ext cx="1776568" cy="1245981"/>
          </a:xfrm>
          <a:prstGeom prst="rect">
            <a:avLst/>
          </a:prstGeom>
        </p:spPr>
      </p:pic>
      <p:sp>
        <p:nvSpPr>
          <p:cNvPr id="5" name="Text 3">
            <a:extLst>
              <a:ext uri="{FF2B5EF4-FFF2-40B4-BE49-F238E27FC236}">
                <a16:creationId xmlns:a16="http://schemas.microsoft.com/office/drawing/2014/main" xmlns="" id="{F4560CBD-63BD-150C-AF29-98AD013A1CDF}"/>
              </a:ext>
            </a:extLst>
          </p:cNvPr>
          <p:cNvSpPr/>
          <p:nvPr/>
        </p:nvSpPr>
        <p:spPr>
          <a:xfrm>
            <a:off x="1219200" y="-13902"/>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CROSS-CITY GENERALISATION — TOKYO SHINJUKU</a:t>
            </a:r>
            <a:endParaRPr lang="en-US" sz="3200" dirty="0">
              <a:solidFill>
                <a:schemeClr val="bg1"/>
              </a:solidFill>
            </a:endParaRPr>
          </a:p>
        </p:txBody>
      </p:sp>
      <p:sp>
        <p:nvSpPr>
          <p:cNvPr id="40" name="Shape 4">
            <a:extLst>
              <a:ext uri="{FF2B5EF4-FFF2-40B4-BE49-F238E27FC236}">
                <a16:creationId xmlns:a16="http://schemas.microsoft.com/office/drawing/2014/main" xmlns="" id="{1EEC1081-0D5B-F61C-D497-73ED52DA7008}"/>
              </a:ext>
            </a:extLst>
          </p:cNvPr>
          <p:cNvSpPr/>
          <p:nvPr/>
        </p:nvSpPr>
        <p:spPr>
          <a:xfrm>
            <a:off x="3543999" y="1223193"/>
            <a:ext cx="2816729" cy="1998917"/>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2" name="Text 10">
            <a:extLst>
              <a:ext uri="{FF2B5EF4-FFF2-40B4-BE49-F238E27FC236}">
                <a16:creationId xmlns:a16="http://schemas.microsoft.com/office/drawing/2014/main" xmlns="" id="{6AF6F75C-8182-F086-AA2E-A5B3A8A9F4B1}"/>
              </a:ext>
            </a:extLst>
          </p:cNvPr>
          <p:cNvSpPr/>
          <p:nvPr/>
        </p:nvSpPr>
        <p:spPr>
          <a:xfrm>
            <a:off x="3361119" y="1783579"/>
            <a:ext cx="3413760" cy="609600"/>
          </a:xfrm>
          <a:prstGeom prst="rect">
            <a:avLst/>
          </a:prstGeom>
          <a:noFill/>
          <a:ln/>
        </p:spPr>
        <p:txBody>
          <a:bodyPr wrap="square" rtlCol="0" anchor="ctr"/>
          <a:lstStyle/>
          <a:p>
            <a:pPr algn="ctr"/>
            <a:r>
              <a:rPr lang="en-US" sz="2933" b="1" dirty="0">
                <a:solidFill>
                  <a:srgbClr val="1DA462"/>
                </a:solidFill>
                <a:latin typeface="Calibri" pitchFamily="34" charset="0"/>
                <a:ea typeface="Calibri" pitchFamily="34" charset="-122"/>
                <a:cs typeface="Calibri" pitchFamily="34" charset="-120"/>
              </a:rPr>
              <a:t>0.718 → 0.753</a:t>
            </a:r>
            <a:endParaRPr lang="en-US" sz="2933" dirty="0"/>
          </a:p>
        </p:txBody>
      </p:sp>
      <p:sp>
        <p:nvSpPr>
          <p:cNvPr id="11" name="Text 9">
            <a:extLst>
              <a:ext uri="{FF2B5EF4-FFF2-40B4-BE49-F238E27FC236}">
                <a16:creationId xmlns:a16="http://schemas.microsoft.com/office/drawing/2014/main" xmlns="" id="{DAB1D6F9-067D-AE52-BB00-9460FA3B8C98}"/>
              </a:ext>
            </a:extLst>
          </p:cNvPr>
          <p:cNvSpPr/>
          <p:nvPr/>
        </p:nvSpPr>
        <p:spPr>
          <a:xfrm>
            <a:off x="3245483" y="1393434"/>
            <a:ext cx="3413760" cy="390144"/>
          </a:xfrm>
          <a:prstGeom prst="rect">
            <a:avLst/>
          </a:prstGeom>
          <a:noFill/>
          <a:ln/>
        </p:spPr>
        <p:txBody>
          <a:bodyPr wrap="square" rtlCol="0" anchor="ctr"/>
          <a:lstStyle/>
          <a:p>
            <a:pPr algn="ctr"/>
            <a:r>
              <a:rPr lang="en-US" sz="1600" b="1" dirty="0">
                <a:solidFill>
                  <a:srgbClr val="8493A8"/>
                </a:solidFill>
                <a:latin typeface="Calibri" pitchFamily="34" charset="0"/>
                <a:ea typeface="Calibri" pitchFamily="34" charset="-122"/>
                <a:cs typeface="Calibri" pitchFamily="34" charset="-120"/>
              </a:rPr>
              <a:t>SENTINEL-GNSS</a:t>
            </a:r>
            <a:endParaRPr lang="en-US" sz="1600" dirty="0"/>
          </a:p>
        </p:txBody>
      </p:sp>
      <p:sp>
        <p:nvSpPr>
          <p:cNvPr id="13" name="Text 11">
            <a:extLst>
              <a:ext uri="{FF2B5EF4-FFF2-40B4-BE49-F238E27FC236}">
                <a16:creationId xmlns:a16="http://schemas.microsoft.com/office/drawing/2014/main" xmlns="" id="{2B4C0C22-C91D-A0E9-91D9-0CEB3E4372A0}"/>
              </a:ext>
            </a:extLst>
          </p:cNvPr>
          <p:cNvSpPr/>
          <p:nvPr/>
        </p:nvSpPr>
        <p:spPr>
          <a:xfrm>
            <a:off x="3361119" y="2374101"/>
            <a:ext cx="3413760" cy="731520"/>
          </a:xfrm>
          <a:prstGeom prst="rect">
            <a:avLst/>
          </a:prstGeom>
          <a:noFill/>
          <a:ln/>
        </p:spPr>
        <p:txBody>
          <a:bodyPr wrap="square" rtlCol="0" anchor="ctr"/>
          <a:lstStyle/>
          <a:p>
            <a:pPr algn="ctr"/>
            <a:r>
              <a:rPr lang="en-US" sz="1333" dirty="0">
                <a:solidFill>
                  <a:srgbClr val="8493A8"/>
                </a:solidFill>
                <a:latin typeface="Calibri" pitchFamily="34" charset="0"/>
                <a:ea typeface="Calibri" pitchFamily="34" charset="-122"/>
                <a:cs typeface="Calibri" pitchFamily="34" charset="-120"/>
              </a:rPr>
              <a:t>DEGRADED F1 in-domain → Tokyo</a:t>
            </a:r>
            <a:endParaRPr lang="en-US" sz="1333" dirty="0"/>
          </a:p>
          <a:p>
            <a:pPr algn="ctr"/>
            <a:r>
              <a:rPr lang="en-US" sz="1333" dirty="0">
                <a:solidFill>
                  <a:srgbClr val="8493A8"/>
                </a:solidFill>
                <a:latin typeface="Calibri" pitchFamily="34" charset="0"/>
                <a:ea typeface="Calibri" pitchFamily="34" charset="-122"/>
                <a:cs typeface="Calibri" pitchFamily="34" charset="-120"/>
              </a:rPr>
              <a:t>+5% improvement</a:t>
            </a:r>
            <a:endParaRPr lang="en-US" sz="1333" dirty="0"/>
          </a:p>
        </p:txBody>
      </p:sp>
      <p:pic>
        <p:nvPicPr>
          <p:cNvPr id="4" name="Picture 3" descr="fig16_ensemble.png">
            <a:extLst>
              <a:ext uri="{FF2B5EF4-FFF2-40B4-BE49-F238E27FC236}">
                <a16:creationId xmlns:a16="http://schemas.microsoft.com/office/drawing/2014/main" xmlns="" id="{DA5EF677-B061-A973-4B61-9B5797C60973}"/>
              </a:ext>
            </a:extLst>
          </p:cNvPr>
          <p:cNvPicPr>
            <a:picLocks noChangeAspect="1"/>
          </p:cNvPicPr>
          <p:nvPr/>
        </p:nvPicPr>
        <p:blipFill>
          <a:blip r:embed="rId5"/>
          <a:stretch>
            <a:fillRect/>
          </a:stretch>
        </p:blipFill>
        <p:spPr>
          <a:xfrm>
            <a:off x="6478688" y="868246"/>
            <a:ext cx="5657528" cy="3203755"/>
          </a:xfrm>
          <a:prstGeom prst="rect">
            <a:avLst/>
          </a:prstGeom>
        </p:spPr>
      </p:pic>
      <p:graphicFrame>
        <p:nvGraphicFramePr>
          <p:cNvPr id="10" name="Table 9">
            <a:extLst>
              <a:ext uri="{FF2B5EF4-FFF2-40B4-BE49-F238E27FC236}">
                <a16:creationId xmlns:a16="http://schemas.microsoft.com/office/drawing/2014/main" xmlns="" id="{04F35E8F-1E62-6B03-ED81-69DE8AC3B8F9}"/>
              </a:ext>
            </a:extLst>
          </p:cNvPr>
          <p:cNvGraphicFramePr>
            <a:graphicFrameLocks noGrp="1"/>
          </p:cNvGraphicFramePr>
          <p:nvPr>
            <p:extLst>
              <p:ext uri="{D42A27DB-BD31-4B8C-83A1-F6EECF244321}">
                <p14:modId xmlns:p14="http://schemas.microsoft.com/office/powerpoint/2010/main" val="1768291042"/>
              </p:ext>
            </p:extLst>
          </p:nvPr>
        </p:nvGraphicFramePr>
        <p:xfrm>
          <a:off x="315517" y="4316610"/>
          <a:ext cx="11071812" cy="2086505"/>
        </p:xfrm>
        <a:graphic>
          <a:graphicData uri="http://schemas.openxmlformats.org/drawingml/2006/table">
            <a:tbl>
              <a:tblPr firstRow="1" bandRow="1">
                <a:tableStyleId>{5C22544A-7EE6-4342-B048-85BDC9FD1C3A}</a:tableStyleId>
              </a:tblPr>
              <a:tblGrid>
                <a:gridCol w="4316130">
                  <a:extLst>
                    <a:ext uri="{9D8B030D-6E8A-4147-A177-3AD203B41FA5}">
                      <a16:colId xmlns:a16="http://schemas.microsoft.com/office/drawing/2014/main" xmlns="" val="20000"/>
                    </a:ext>
                  </a:extLst>
                </a:gridCol>
                <a:gridCol w="2439552">
                  <a:extLst>
                    <a:ext uri="{9D8B030D-6E8A-4147-A177-3AD203B41FA5}">
                      <a16:colId xmlns:a16="http://schemas.microsoft.com/office/drawing/2014/main" xmlns="" val="20001"/>
                    </a:ext>
                  </a:extLst>
                </a:gridCol>
                <a:gridCol w="1876578">
                  <a:extLst>
                    <a:ext uri="{9D8B030D-6E8A-4147-A177-3AD203B41FA5}">
                      <a16:colId xmlns:a16="http://schemas.microsoft.com/office/drawing/2014/main" xmlns="" val="20002"/>
                    </a:ext>
                  </a:extLst>
                </a:gridCol>
                <a:gridCol w="2439552">
                  <a:extLst>
                    <a:ext uri="{9D8B030D-6E8A-4147-A177-3AD203B41FA5}">
                      <a16:colId xmlns:a16="http://schemas.microsoft.com/office/drawing/2014/main" xmlns="" val="20003"/>
                    </a:ext>
                  </a:extLst>
                </a:gridCol>
              </a:tblGrid>
              <a:tr h="417301">
                <a:tc>
                  <a:txBody>
                    <a:bodyPr/>
                    <a:lstStyle/>
                    <a:p>
                      <a:pPr algn="ctr"/>
                      <a:r>
                        <a:rPr sz="1500" b="1">
                          <a:solidFill>
                            <a:srgbClr val="FFFFFF"/>
                          </a:solidFill>
                        </a:rPr>
                        <a:t>Model</a:t>
                      </a:r>
                    </a:p>
                  </a:txBody>
                  <a:tcPr>
                    <a:solidFill>
                      <a:srgbClr val="005BAC"/>
                    </a:solidFill>
                  </a:tcPr>
                </a:tc>
                <a:tc>
                  <a:txBody>
                    <a:bodyPr/>
                    <a:lstStyle/>
                    <a:p>
                      <a:pPr algn="ctr"/>
                      <a:r>
                        <a:rPr sz="1500" b="1" dirty="0" err="1">
                          <a:solidFill>
                            <a:srgbClr val="FFFFFF"/>
                          </a:solidFill>
                        </a:rPr>
                        <a:t>Beihang</a:t>
                      </a:r>
                      <a:r>
                        <a:rPr sz="1500" b="1" dirty="0">
                          <a:solidFill>
                            <a:srgbClr val="FFFFFF"/>
                          </a:solidFill>
                        </a:rPr>
                        <a:t>/Beijing</a:t>
                      </a:r>
                    </a:p>
                  </a:txBody>
                  <a:tcPr>
                    <a:solidFill>
                      <a:srgbClr val="005BAC"/>
                    </a:solidFill>
                  </a:tcPr>
                </a:tc>
                <a:tc>
                  <a:txBody>
                    <a:bodyPr/>
                    <a:lstStyle/>
                    <a:p>
                      <a:pPr algn="ctr"/>
                      <a:r>
                        <a:rPr sz="1500" b="1">
                          <a:solidFill>
                            <a:srgbClr val="FFFFFF"/>
                          </a:solidFill>
                        </a:rPr>
                        <a:t>Tokyo</a:t>
                      </a:r>
                    </a:p>
                  </a:txBody>
                  <a:tcPr>
                    <a:solidFill>
                      <a:srgbClr val="005BAC"/>
                    </a:solidFill>
                  </a:tcPr>
                </a:tc>
                <a:tc>
                  <a:txBody>
                    <a:bodyPr/>
                    <a:lstStyle/>
                    <a:p>
                      <a:pPr algn="ctr"/>
                      <a:r>
                        <a:rPr sz="1500" b="1">
                          <a:solidFill>
                            <a:srgbClr val="FFFFFF"/>
                          </a:solidFill>
                        </a:rPr>
                        <a:t>Tokyo DEGRADED F1</a:t>
                      </a:r>
                    </a:p>
                  </a:txBody>
                  <a:tcPr>
                    <a:solidFill>
                      <a:srgbClr val="005BAC"/>
                    </a:solidFill>
                  </a:tcPr>
                </a:tc>
                <a:extLst>
                  <a:ext uri="{0D108BD9-81ED-4DB2-BD59-A6C34878D82A}">
                    <a16:rowId xmlns:a16="http://schemas.microsoft.com/office/drawing/2014/main" xmlns="" val="10000"/>
                  </a:ext>
                </a:extLst>
              </a:tr>
              <a:tr h="417301">
                <a:tc>
                  <a:txBody>
                    <a:bodyPr/>
                    <a:lstStyle/>
                    <a:p>
                      <a:pPr algn="l"/>
                      <a:r>
                        <a:rPr sz="1500" dirty="0">
                          <a:solidFill>
                            <a:srgbClr val="1A1A1A"/>
                          </a:solidFill>
                        </a:rPr>
                        <a:t>DL + </a:t>
                      </a:r>
                      <a:r>
                        <a:rPr sz="1500" dirty="0" err="1">
                          <a:solidFill>
                            <a:srgbClr val="1A1A1A"/>
                          </a:solidFill>
                        </a:rPr>
                        <a:t>XGBoost</a:t>
                      </a:r>
                      <a:r>
                        <a:rPr sz="1500" dirty="0">
                          <a:solidFill>
                            <a:srgbClr val="1A1A1A"/>
                          </a:solidFill>
                        </a:rPr>
                        <a:t> ENSEMBLE</a:t>
                      </a:r>
                    </a:p>
                  </a:txBody>
                  <a:tcPr>
                    <a:solidFill>
                      <a:srgbClr val="FFFFFF"/>
                    </a:solidFill>
                  </a:tcPr>
                </a:tc>
                <a:tc>
                  <a:txBody>
                    <a:bodyPr/>
                    <a:lstStyle/>
                    <a:p>
                      <a:pPr algn="ctr"/>
                      <a:r>
                        <a:rPr sz="1500">
                          <a:solidFill>
                            <a:srgbClr val="1A1A1A"/>
                          </a:solidFill>
                        </a:rPr>
                        <a:t>0.911</a:t>
                      </a:r>
                    </a:p>
                  </a:txBody>
                  <a:tcPr>
                    <a:solidFill>
                      <a:srgbClr val="FFFFFF"/>
                    </a:solidFill>
                  </a:tcPr>
                </a:tc>
                <a:tc>
                  <a:txBody>
                    <a:bodyPr/>
                    <a:lstStyle/>
                    <a:p>
                      <a:pPr algn="ctr"/>
                      <a:r>
                        <a:rPr sz="1500">
                          <a:solidFill>
                            <a:srgbClr val="1A1A1A"/>
                          </a:solidFill>
                        </a:rPr>
                        <a:t>0.892</a:t>
                      </a:r>
                    </a:p>
                  </a:txBody>
                  <a:tcPr>
                    <a:solidFill>
                      <a:srgbClr val="FFFFFF"/>
                    </a:solidFill>
                  </a:tcPr>
                </a:tc>
                <a:tc>
                  <a:txBody>
                    <a:bodyPr/>
                    <a:lstStyle/>
                    <a:p>
                      <a:pPr algn="ctr"/>
                      <a:r>
                        <a:rPr sz="1500">
                          <a:solidFill>
                            <a:srgbClr val="1A1A1A"/>
                          </a:solidFill>
                        </a:rPr>
                        <a:t>0.896</a:t>
                      </a:r>
                    </a:p>
                  </a:txBody>
                  <a:tcPr>
                    <a:solidFill>
                      <a:srgbClr val="FFFFFF"/>
                    </a:solidFill>
                  </a:tcPr>
                </a:tc>
                <a:extLst>
                  <a:ext uri="{0D108BD9-81ED-4DB2-BD59-A6C34878D82A}">
                    <a16:rowId xmlns:a16="http://schemas.microsoft.com/office/drawing/2014/main" xmlns="" val="10001"/>
                  </a:ext>
                </a:extLst>
              </a:tr>
              <a:tr h="417301">
                <a:tc>
                  <a:txBody>
                    <a:bodyPr/>
                    <a:lstStyle/>
                    <a:p>
                      <a:pPr algn="l"/>
                      <a:r>
                        <a:rPr sz="1500">
                          <a:solidFill>
                            <a:srgbClr val="1A1A1A"/>
                          </a:solidFill>
                        </a:rPr>
                        <a:t>SENTINEL-GNSS (DL)</a:t>
                      </a:r>
                    </a:p>
                  </a:txBody>
                  <a:tcPr>
                    <a:solidFill>
                      <a:srgbClr val="ECF3FA"/>
                    </a:solidFill>
                  </a:tcPr>
                </a:tc>
                <a:tc>
                  <a:txBody>
                    <a:bodyPr/>
                    <a:lstStyle/>
                    <a:p>
                      <a:pPr algn="ctr"/>
                      <a:r>
                        <a:rPr sz="1500">
                          <a:solidFill>
                            <a:srgbClr val="1A1A1A"/>
                          </a:solidFill>
                        </a:rPr>
                        <a:t>0.822</a:t>
                      </a:r>
                    </a:p>
                  </a:txBody>
                  <a:tcPr>
                    <a:solidFill>
                      <a:srgbClr val="ECF3FA"/>
                    </a:solidFill>
                  </a:tcPr>
                </a:tc>
                <a:tc>
                  <a:txBody>
                    <a:bodyPr/>
                    <a:lstStyle/>
                    <a:p>
                      <a:pPr algn="ctr"/>
                      <a:r>
                        <a:rPr sz="1500" dirty="0">
                          <a:solidFill>
                            <a:srgbClr val="1A1A1A"/>
                          </a:solidFill>
                        </a:rPr>
                        <a:t>0.649</a:t>
                      </a:r>
                    </a:p>
                  </a:txBody>
                  <a:tcPr>
                    <a:solidFill>
                      <a:srgbClr val="ECF3FA"/>
                    </a:solidFill>
                  </a:tcPr>
                </a:tc>
                <a:tc>
                  <a:txBody>
                    <a:bodyPr/>
                    <a:lstStyle/>
                    <a:p>
                      <a:pPr algn="ctr"/>
                      <a:r>
                        <a:rPr sz="1500">
                          <a:solidFill>
                            <a:srgbClr val="1A1A1A"/>
                          </a:solidFill>
                        </a:rPr>
                        <a:t>0.753</a:t>
                      </a:r>
                    </a:p>
                  </a:txBody>
                  <a:tcPr>
                    <a:solidFill>
                      <a:srgbClr val="ECF3FA"/>
                    </a:solidFill>
                  </a:tcPr>
                </a:tc>
                <a:extLst>
                  <a:ext uri="{0D108BD9-81ED-4DB2-BD59-A6C34878D82A}">
                    <a16:rowId xmlns:a16="http://schemas.microsoft.com/office/drawing/2014/main" xmlns="" val="10002"/>
                  </a:ext>
                </a:extLst>
              </a:tr>
              <a:tr h="417301">
                <a:tc>
                  <a:txBody>
                    <a:bodyPr/>
                    <a:lstStyle/>
                    <a:p>
                      <a:pPr algn="l"/>
                      <a:r>
                        <a:rPr sz="1500">
                          <a:solidFill>
                            <a:srgbClr val="1A1A1A"/>
                          </a:solidFill>
                        </a:rPr>
                        <a:t>XGBoost</a:t>
                      </a:r>
                    </a:p>
                  </a:txBody>
                  <a:tcPr>
                    <a:solidFill>
                      <a:srgbClr val="FFFFFF"/>
                    </a:solidFill>
                  </a:tcPr>
                </a:tc>
                <a:tc>
                  <a:txBody>
                    <a:bodyPr/>
                    <a:lstStyle/>
                    <a:p>
                      <a:pPr algn="ctr"/>
                      <a:r>
                        <a:rPr sz="1500">
                          <a:solidFill>
                            <a:srgbClr val="1A1A1A"/>
                          </a:solidFill>
                        </a:rPr>
                        <a:t>0.919</a:t>
                      </a:r>
                    </a:p>
                  </a:txBody>
                  <a:tcPr>
                    <a:solidFill>
                      <a:srgbClr val="FFFFFF"/>
                    </a:solidFill>
                  </a:tcPr>
                </a:tc>
                <a:tc>
                  <a:txBody>
                    <a:bodyPr/>
                    <a:lstStyle/>
                    <a:p>
                      <a:pPr algn="ctr"/>
                      <a:r>
                        <a:rPr sz="1500">
                          <a:solidFill>
                            <a:srgbClr val="1A1A1A"/>
                          </a:solidFill>
                        </a:rPr>
                        <a:t>0.821</a:t>
                      </a:r>
                    </a:p>
                  </a:txBody>
                  <a:tcPr>
                    <a:solidFill>
                      <a:srgbClr val="FFFFFF"/>
                    </a:solidFill>
                  </a:tcPr>
                </a:tc>
                <a:tc>
                  <a:txBody>
                    <a:bodyPr/>
                    <a:lstStyle/>
                    <a:p>
                      <a:pPr algn="ctr"/>
                      <a:r>
                        <a:rPr sz="1500">
                          <a:solidFill>
                            <a:srgbClr val="1A1A1A"/>
                          </a:solidFill>
                        </a:rPr>
                        <a:t>0.784</a:t>
                      </a:r>
                    </a:p>
                  </a:txBody>
                  <a:tcPr>
                    <a:solidFill>
                      <a:srgbClr val="FFFFFF"/>
                    </a:solidFill>
                  </a:tcPr>
                </a:tc>
                <a:extLst>
                  <a:ext uri="{0D108BD9-81ED-4DB2-BD59-A6C34878D82A}">
                    <a16:rowId xmlns:a16="http://schemas.microsoft.com/office/drawing/2014/main" xmlns="" val="10003"/>
                  </a:ext>
                </a:extLst>
              </a:tr>
              <a:tr h="417301">
                <a:tc>
                  <a:txBody>
                    <a:bodyPr/>
                    <a:lstStyle/>
                    <a:p>
                      <a:pPr algn="l"/>
                      <a:r>
                        <a:rPr sz="1500" dirty="0" err="1">
                          <a:solidFill>
                            <a:srgbClr val="1A1A1A"/>
                          </a:solidFill>
                        </a:rPr>
                        <a:t>RandomForest</a:t>
                      </a:r>
                      <a:endParaRPr sz="1500" dirty="0">
                        <a:solidFill>
                          <a:srgbClr val="1A1A1A"/>
                        </a:solidFill>
                      </a:endParaRPr>
                    </a:p>
                  </a:txBody>
                  <a:tcPr>
                    <a:solidFill>
                      <a:srgbClr val="ECF3FA"/>
                    </a:solidFill>
                  </a:tcPr>
                </a:tc>
                <a:tc>
                  <a:txBody>
                    <a:bodyPr/>
                    <a:lstStyle/>
                    <a:p>
                      <a:pPr algn="ctr"/>
                      <a:r>
                        <a:rPr sz="1500">
                          <a:solidFill>
                            <a:srgbClr val="1A1A1A"/>
                          </a:solidFill>
                        </a:rPr>
                        <a:t>0.926</a:t>
                      </a:r>
                    </a:p>
                  </a:txBody>
                  <a:tcPr>
                    <a:solidFill>
                      <a:srgbClr val="ECF3FA"/>
                    </a:solidFill>
                  </a:tcPr>
                </a:tc>
                <a:tc>
                  <a:txBody>
                    <a:bodyPr/>
                    <a:lstStyle/>
                    <a:p>
                      <a:pPr algn="ctr"/>
                      <a:r>
                        <a:rPr sz="1500">
                          <a:solidFill>
                            <a:srgbClr val="1A1A1A"/>
                          </a:solidFill>
                        </a:rPr>
                        <a:t>0.618</a:t>
                      </a:r>
                    </a:p>
                  </a:txBody>
                  <a:tcPr>
                    <a:solidFill>
                      <a:srgbClr val="ECF3FA"/>
                    </a:solidFill>
                  </a:tcPr>
                </a:tc>
                <a:tc>
                  <a:txBody>
                    <a:bodyPr/>
                    <a:lstStyle/>
                    <a:p>
                      <a:pPr algn="ctr"/>
                      <a:r>
                        <a:rPr sz="1500" dirty="0">
                          <a:solidFill>
                            <a:srgbClr val="1A1A1A"/>
                          </a:solidFill>
                        </a:rPr>
                        <a:t>0.148</a:t>
                      </a:r>
                    </a:p>
                  </a:txBody>
                  <a:tcPr>
                    <a:solidFill>
                      <a:srgbClr val="ECF3FA"/>
                    </a:solid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3810281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Image 0" descr="preencoded.png">
            <a:extLst>
              <a:ext uri="{FF2B5EF4-FFF2-40B4-BE49-F238E27FC236}">
                <a16:creationId xmlns:a16="http://schemas.microsoft.com/office/drawing/2014/main" xmlns="" id="{56A7F3C4-1F9B-0DD8-64E2-70BF2821381F}"/>
              </a:ext>
            </a:extLst>
          </p:cNvPr>
          <p:cNvPicPr>
            <a:picLocks noChangeAspect="1"/>
          </p:cNvPicPr>
          <p:nvPr/>
        </p:nvPicPr>
        <p:blipFill>
          <a:blip r:embed="rId3"/>
          <a:stretch>
            <a:fillRect/>
          </a:stretch>
        </p:blipFill>
        <p:spPr>
          <a:xfrm>
            <a:off x="0" y="0"/>
            <a:ext cx="12192000" cy="6858000"/>
          </a:xfrm>
          <a:prstGeom prst="rect">
            <a:avLst/>
          </a:prstGeom>
        </p:spPr>
      </p:pic>
      <p:sp>
        <p:nvSpPr>
          <p:cNvPr id="4" name="Shape 2"/>
          <p:cNvSpPr/>
          <p:nvPr/>
        </p:nvSpPr>
        <p:spPr>
          <a:xfrm>
            <a:off x="678730" y="1321468"/>
            <a:ext cx="3527510" cy="2153252"/>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 name="Text 3"/>
          <p:cNvSpPr/>
          <p:nvPr/>
        </p:nvSpPr>
        <p:spPr>
          <a:xfrm>
            <a:off x="548640" y="1341120"/>
            <a:ext cx="3657600" cy="975360"/>
          </a:xfrm>
          <a:prstGeom prst="rect">
            <a:avLst/>
          </a:prstGeom>
          <a:noFill/>
          <a:ln/>
        </p:spPr>
        <p:txBody>
          <a:bodyPr wrap="square" rtlCol="0" anchor="ctr"/>
          <a:lstStyle/>
          <a:p>
            <a:pPr algn="ctr"/>
            <a:r>
              <a:rPr lang="en-US" sz="6400" b="1" dirty="0">
                <a:solidFill>
                  <a:srgbClr val="C8102E"/>
                </a:solidFill>
                <a:latin typeface="Calibri" pitchFamily="34" charset="0"/>
                <a:ea typeface="Calibri" pitchFamily="34" charset="-122"/>
                <a:cs typeface="Calibri" pitchFamily="34" charset="-120"/>
              </a:rPr>
              <a:t>10.52×</a:t>
            </a:r>
            <a:endParaRPr lang="en-US" sz="6400" dirty="0"/>
          </a:p>
        </p:txBody>
      </p:sp>
      <p:sp>
        <p:nvSpPr>
          <p:cNvPr id="6" name="Text 4"/>
          <p:cNvSpPr/>
          <p:nvPr/>
        </p:nvSpPr>
        <p:spPr>
          <a:xfrm>
            <a:off x="548640" y="2316480"/>
            <a:ext cx="3657600" cy="365760"/>
          </a:xfrm>
          <a:prstGeom prst="rect">
            <a:avLst/>
          </a:prstGeom>
          <a:noFill/>
          <a:ln/>
        </p:spPr>
        <p:txBody>
          <a:bodyPr wrap="square" rtlCol="0" anchor="ctr"/>
          <a:lstStyle/>
          <a:p>
            <a:pPr algn="ctr"/>
            <a:r>
              <a:rPr lang="en-US" sz="1467" dirty="0">
                <a:solidFill>
                  <a:srgbClr val="8493A8"/>
                </a:solidFill>
                <a:latin typeface="Calibri" pitchFamily="34" charset="0"/>
                <a:ea typeface="Calibri" pitchFamily="34" charset="-122"/>
                <a:cs typeface="Calibri" pitchFamily="34" charset="-120"/>
              </a:rPr>
              <a:t>faster than 3 separate tree models</a:t>
            </a:r>
            <a:endParaRPr lang="en-US" sz="1467" dirty="0"/>
          </a:p>
        </p:txBody>
      </p:sp>
      <p:sp>
        <p:nvSpPr>
          <p:cNvPr id="7" name="Text 5"/>
          <p:cNvSpPr/>
          <p:nvPr/>
        </p:nvSpPr>
        <p:spPr>
          <a:xfrm>
            <a:off x="548640" y="2743200"/>
            <a:ext cx="3657600" cy="365760"/>
          </a:xfrm>
          <a:prstGeom prst="rect">
            <a:avLst/>
          </a:prstGeom>
          <a:noFill/>
          <a:ln/>
        </p:spPr>
        <p:txBody>
          <a:bodyPr wrap="square" rtlCol="0" anchor="ctr"/>
          <a:lstStyle/>
          <a:p>
            <a:pPr algn="ctr"/>
            <a:r>
              <a:rPr lang="en-US" sz="1333" i="1" dirty="0">
                <a:solidFill>
                  <a:srgbClr val="8493A8"/>
                </a:solidFill>
                <a:latin typeface="Calibri" pitchFamily="34" charset="0"/>
                <a:ea typeface="Calibri" pitchFamily="34" charset="-122"/>
                <a:cs typeface="Calibri" pitchFamily="34" charset="-120"/>
              </a:rPr>
              <a:t>0.039 ms / sample  vs  0.409 ms / sample</a:t>
            </a:r>
            <a:endParaRPr lang="en-US" sz="1333" dirty="0"/>
          </a:p>
        </p:txBody>
      </p:sp>
      <p:sp>
        <p:nvSpPr>
          <p:cNvPr id="8" name="Shape 6"/>
          <p:cNvSpPr/>
          <p:nvPr/>
        </p:nvSpPr>
        <p:spPr>
          <a:xfrm>
            <a:off x="548640" y="3814035"/>
            <a:ext cx="2826156" cy="109728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9" name="Text 7"/>
          <p:cNvSpPr/>
          <p:nvPr/>
        </p:nvSpPr>
        <p:spPr>
          <a:xfrm>
            <a:off x="670560" y="3874995"/>
            <a:ext cx="3413760" cy="341376"/>
          </a:xfrm>
          <a:prstGeom prst="rect">
            <a:avLst/>
          </a:prstGeom>
          <a:noFill/>
          <a:ln/>
        </p:spPr>
        <p:txBody>
          <a:bodyPr wrap="square" rtlCol="0" anchor="ctr"/>
          <a:lstStyle/>
          <a:p>
            <a:r>
              <a:rPr lang="en-US" sz="1467" b="1" dirty="0">
                <a:solidFill>
                  <a:srgbClr val="1DA462"/>
                </a:solidFill>
                <a:latin typeface="Calibri" pitchFamily="34" charset="0"/>
                <a:ea typeface="Calibri" pitchFamily="34" charset="-122"/>
                <a:cs typeface="Calibri" pitchFamily="34" charset="-120"/>
              </a:rPr>
              <a:t>SENTINEL-GNSS</a:t>
            </a:r>
            <a:endParaRPr lang="en-US" sz="1467" dirty="0"/>
          </a:p>
        </p:txBody>
      </p:sp>
      <p:sp>
        <p:nvSpPr>
          <p:cNvPr id="10" name="Text 8"/>
          <p:cNvSpPr/>
          <p:nvPr/>
        </p:nvSpPr>
        <p:spPr>
          <a:xfrm>
            <a:off x="670560" y="4216371"/>
            <a:ext cx="3413760" cy="341376"/>
          </a:xfrm>
          <a:prstGeom prst="rect">
            <a:avLst/>
          </a:prstGeom>
          <a:noFill/>
          <a:ln/>
        </p:spPr>
        <p:txBody>
          <a:bodyPr wrap="square" rtlCol="0" anchor="ctr"/>
          <a:lstStyle/>
          <a:p>
            <a:r>
              <a:rPr lang="en-US" sz="2133" b="1" dirty="0">
                <a:solidFill>
                  <a:srgbClr val="0A1F44"/>
                </a:solidFill>
                <a:latin typeface="Calibri" pitchFamily="34" charset="0"/>
                <a:ea typeface="Calibri" pitchFamily="34" charset="-122"/>
                <a:cs typeface="Calibri" pitchFamily="34" charset="-120"/>
              </a:rPr>
              <a:t>0.039 ms</a:t>
            </a:r>
            <a:endParaRPr lang="en-US" sz="2133" dirty="0"/>
          </a:p>
        </p:txBody>
      </p:sp>
      <p:sp>
        <p:nvSpPr>
          <p:cNvPr id="11" name="Text 9"/>
          <p:cNvSpPr/>
          <p:nvPr/>
        </p:nvSpPr>
        <p:spPr>
          <a:xfrm>
            <a:off x="670560" y="4557747"/>
            <a:ext cx="3413760" cy="268224"/>
          </a:xfrm>
          <a:prstGeom prst="rect">
            <a:avLst/>
          </a:prstGeom>
          <a:noFill/>
          <a:ln/>
        </p:spPr>
        <p:txBody>
          <a:bodyPr wrap="square" rtlCol="0" anchor="ctr"/>
          <a:lstStyle/>
          <a:p>
            <a:r>
              <a:rPr lang="en-US" sz="1267" dirty="0">
                <a:solidFill>
                  <a:srgbClr val="8493A8"/>
                </a:solidFill>
                <a:latin typeface="Calibri" pitchFamily="34" charset="0"/>
                <a:ea typeface="Calibri" pitchFamily="34" charset="-122"/>
                <a:cs typeface="Calibri" pitchFamily="34" charset="-120"/>
              </a:rPr>
              <a:t>All 3 horizons in one forward pass</a:t>
            </a:r>
            <a:endParaRPr lang="en-US" sz="1267" dirty="0"/>
          </a:p>
        </p:txBody>
      </p:sp>
      <p:sp>
        <p:nvSpPr>
          <p:cNvPr id="12" name="Shape 10"/>
          <p:cNvSpPr/>
          <p:nvPr/>
        </p:nvSpPr>
        <p:spPr>
          <a:xfrm>
            <a:off x="529784" y="5094195"/>
            <a:ext cx="2845012" cy="109728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3" name="Text 11"/>
          <p:cNvSpPr/>
          <p:nvPr/>
        </p:nvSpPr>
        <p:spPr>
          <a:xfrm>
            <a:off x="670560" y="5155155"/>
            <a:ext cx="3413760" cy="341376"/>
          </a:xfrm>
          <a:prstGeom prst="rect">
            <a:avLst/>
          </a:prstGeom>
          <a:noFill/>
          <a:ln/>
        </p:spPr>
        <p:txBody>
          <a:bodyPr wrap="square" rtlCol="0" anchor="ctr"/>
          <a:lstStyle/>
          <a:p>
            <a:r>
              <a:rPr lang="en-US" sz="1467" b="1" dirty="0">
                <a:solidFill>
                  <a:srgbClr val="D97706"/>
                </a:solidFill>
                <a:latin typeface="Calibri" pitchFamily="34" charset="0"/>
                <a:ea typeface="Calibri" pitchFamily="34" charset="-122"/>
                <a:cs typeface="Calibri" pitchFamily="34" charset="-120"/>
              </a:rPr>
              <a:t>3 × Tree models</a:t>
            </a:r>
            <a:endParaRPr lang="en-US" sz="1467" dirty="0"/>
          </a:p>
        </p:txBody>
      </p:sp>
      <p:sp>
        <p:nvSpPr>
          <p:cNvPr id="14" name="Text 12"/>
          <p:cNvSpPr/>
          <p:nvPr/>
        </p:nvSpPr>
        <p:spPr>
          <a:xfrm>
            <a:off x="670560" y="5496531"/>
            <a:ext cx="3413760" cy="341376"/>
          </a:xfrm>
          <a:prstGeom prst="rect">
            <a:avLst/>
          </a:prstGeom>
          <a:noFill/>
          <a:ln/>
        </p:spPr>
        <p:txBody>
          <a:bodyPr wrap="square" rtlCol="0" anchor="ctr"/>
          <a:lstStyle/>
          <a:p>
            <a:r>
              <a:rPr lang="en-US" sz="2133" b="1" dirty="0">
                <a:solidFill>
                  <a:srgbClr val="0A1F44"/>
                </a:solidFill>
                <a:latin typeface="Calibri" pitchFamily="34" charset="0"/>
                <a:ea typeface="Calibri" pitchFamily="34" charset="-122"/>
                <a:cs typeface="Calibri" pitchFamily="34" charset="-120"/>
              </a:rPr>
              <a:t>0.409 ms</a:t>
            </a:r>
            <a:endParaRPr lang="en-US" sz="2133" dirty="0"/>
          </a:p>
        </p:txBody>
      </p:sp>
      <p:sp>
        <p:nvSpPr>
          <p:cNvPr id="15" name="Text 13"/>
          <p:cNvSpPr/>
          <p:nvPr/>
        </p:nvSpPr>
        <p:spPr>
          <a:xfrm>
            <a:off x="670560" y="5837907"/>
            <a:ext cx="3413760" cy="268224"/>
          </a:xfrm>
          <a:prstGeom prst="rect">
            <a:avLst/>
          </a:prstGeom>
          <a:noFill/>
          <a:ln/>
        </p:spPr>
        <p:txBody>
          <a:bodyPr wrap="square" rtlCol="0" anchor="ctr"/>
          <a:lstStyle/>
          <a:p>
            <a:r>
              <a:rPr lang="en-US" sz="1267" dirty="0">
                <a:solidFill>
                  <a:srgbClr val="8493A8"/>
                </a:solidFill>
                <a:latin typeface="Calibri" pitchFamily="34" charset="0"/>
                <a:ea typeface="Calibri" pitchFamily="34" charset="-122"/>
                <a:cs typeface="Calibri" pitchFamily="34" charset="-120"/>
              </a:rPr>
              <a:t>One model per horizon</a:t>
            </a:r>
            <a:endParaRPr lang="en-US" sz="1267" dirty="0"/>
          </a:p>
        </p:txBody>
      </p:sp>
      <p:sp>
        <p:nvSpPr>
          <p:cNvPr id="16" name="Shape 14"/>
          <p:cNvSpPr/>
          <p:nvPr/>
        </p:nvSpPr>
        <p:spPr>
          <a:xfrm>
            <a:off x="3521851" y="3814035"/>
            <a:ext cx="2546158" cy="109728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7" name="Text 15"/>
          <p:cNvSpPr/>
          <p:nvPr/>
        </p:nvSpPr>
        <p:spPr>
          <a:xfrm>
            <a:off x="3643771" y="3874995"/>
            <a:ext cx="3413760" cy="341376"/>
          </a:xfrm>
          <a:prstGeom prst="rect">
            <a:avLst/>
          </a:prstGeom>
          <a:noFill/>
          <a:ln/>
        </p:spPr>
        <p:txBody>
          <a:bodyPr wrap="square" rtlCol="0" anchor="ctr"/>
          <a:lstStyle/>
          <a:p>
            <a:r>
              <a:rPr lang="en-US" sz="1467" b="1" dirty="0">
                <a:solidFill>
                  <a:srgbClr val="0A1F44"/>
                </a:solidFill>
                <a:latin typeface="Calibri" pitchFamily="34" charset="0"/>
                <a:ea typeface="Calibri" pitchFamily="34" charset="-122"/>
                <a:cs typeface="Calibri" pitchFamily="34" charset="-120"/>
              </a:rPr>
              <a:t>17.8 MB</a:t>
            </a:r>
            <a:endParaRPr lang="en-US" sz="1467" dirty="0"/>
          </a:p>
        </p:txBody>
      </p:sp>
      <p:sp>
        <p:nvSpPr>
          <p:cNvPr id="18" name="Text 16"/>
          <p:cNvSpPr/>
          <p:nvPr/>
        </p:nvSpPr>
        <p:spPr>
          <a:xfrm>
            <a:off x="3643771" y="4216371"/>
            <a:ext cx="3413760" cy="341376"/>
          </a:xfrm>
          <a:prstGeom prst="rect">
            <a:avLst/>
          </a:prstGeom>
          <a:noFill/>
          <a:ln/>
        </p:spPr>
        <p:txBody>
          <a:bodyPr wrap="square" rtlCol="0" anchor="ctr"/>
          <a:lstStyle/>
          <a:p>
            <a:r>
              <a:rPr lang="en-US" sz="2133" b="1" dirty="0">
                <a:solidFill>
                  <a:srgbClr val="0A1F44"/>
                </a:solidFill>
                <a:latin typeface="Calibri" pitchFamily="34" charset="0"/>
                <a:ea typeface="Calibri" pitchFamily="34" charset="-122"/>
                <a:cs typeface="Calibri" pitchFamily="34" charset="-120"/>
              </a:rPr>
              <a:t>Model size</a:t>
            </a:r>
            <a:endParaRPr lang="en-US" sz="2133" dirty="0"/>
          </a:p>
        </p:txBody>
      </p:sp>
      <p:sp>
        <p:nvSpPr>
          <p:cNvPr id="19" name="Text 17"/>
          <p:cNvSpPr/>
          <p:nvPr/>
        </p:nvSpPr>
        <p:spPr>
          <a:xfrm>
            <a:off x="3643771" y="4557747"/>
            <a:ext cx="3413760" cy="268224"/>
          </a:xfrm>
          <a:prstGeom prst="rect">
            <a:avLst/>
          </a:prstGeom>
          <a:noFill/>
          <a:ln/>
        </p:spPr>
        <p:txBody>
          <a:bodyPr wrap="square" rtlCol="0" anchor="ctr"/>
          <a:lstStyle/>
          <a:p>
            <a:r>
              <a:rPr lang="en-US" sz="1267" dirty="0">
                <a:solidFill>
                  <a:srgbClr val="8493A8"/>
                </a:solidFill>
                <a:latin typeface="Calibri" pitchFamily="34" charset="0"/>
                <a:ea typeface="Calibri" pitchFamily="34" charset="-122"/>
                <a:cs typeface="Calibri" pitchFamily="34" charset="-120"/>
              </a:rPr>
              <a:t>1,456,652 parameters</a:t>
            </a:r>
            <a:endParaRPr lang="en-US" sz="1267" dirty="0"/>
          </a:p>
        </p:txBody>
      </p:sp>
      <p:sp>
        <p:nvSpPr>
          <p:cNvPr id="20" name="Shape 18"/>
          <p:cNvSpPr/>
          <p:nvPr/>
        </p:nvSpPr>
        <p:spPr>
          <a:xfrm>
            <a:off x="3521851" y="5094195"/>
            <a:ext cx="2546158" cy="109728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21" name="Text 19"/>
          <p:cNvSpPr/>
          <p:nvPr/>
        </p:nvSpPr>
        <p:spPr>
          <a:xfrm>
            <a:off x="3643771" y="5155155"/>
            <a:ext cx="3413760" cy="341376"/>
          </a:xfrm>
          <a:prstGeom prst="rect">
            <a:avLst/>
          </a:prstGeom>
          <a:noFill/>
          <a:ln/>
        </p:spPr>
        <p:txBody>
          <a:bodyPr wrap="square" rtlCol="0" anchor="ctr"/>
          <a:lstStyle/>
          <a:p>
            <a:r>
              <a:rPr lang="en-US" sz="1467" b="1" dirty="0">
                <a:solidFill>
                  <a:srgbClr val="8493A8"/>
                </a:solidFill>
                <a:latin typeface="Calibri" pitchFamily="34" charset="0"/>
                <a:ea typeface="Calibri" pitchFamily="34" charset="-122"/>
                <a:cs typeface="Calibri" pitchFamily="34" charset="-120"/>
              </a:rPr>
              <a:t>&lt; 0.04%</a:t>
            </a:r>
            <a:endParaRPr lang="en-US" sz="1467" dirty="0"/>
          </a:p>
        </p:txBody>
      </p:sp>
      <p:sp>
        <p:nvSpPr>
          <p:cNvPr id="22" name="Text 20"/>
          <p:cNvSpPr/>
          <p:nvPr/>
        </p:nvSpPr>
        <p:spPr>
          <a:xfrm>
            <a:off x="3643771" y="5496531"/>
            <a:ext cx="3413760" cy="341376"/>
          </a:xfrm>
          <a:prstGeom prst="rect">
            <a:avLst/>
          </a:prstGeom>
          <a:noFill/>
          <a:ln/>
        </p:spPr>
        <p:txBody>
          <a:bodyPr wrap="square" rtlCol="0" anchor="ctr"/>
          <a:lstStyle/>
          <a:p>
            <a:r>
              <a:rPr lang="en-US" sz="2133" b="1" dirty="0">
                <a:solidFill>
                  <a:srgbClr val="0A1F44"/>
                </a:solidFill>
                <a:latin typeface="Calibri" pitchFamily="34" charset="0"/>
                <a:ea typeface="Calibri" pitchFamily="34" charset="-122"/>
                <a:cs typeface="Calibri" pitchFamily="34" charset="-120"/>
              </a:rPr>
              <a:t>CPU budget</a:t>
            </a:r>
            <a:endParaRPr lang="en-US" sz="2133" dirty="0"/>
          </a:p>
        </p:txBody>
      </p:sp>
      <p:sp>
        <p:nvSpPr>
          <p:cNvPr id="23" name="Text 21"/>
          <p:cNvSpPr/>
          <p:nvPr/>
        </p:nvSpPr>
        <p:spPr>
          <a:xfrm>
            <a:off x="3643771" y="5837907"/>
            <a:ext cx="3413760" cy="268224"/>
          </a:xfrm>
          <a:prstGeom prst="rect">
            <a:avLst/>
          </a:prstGeom>
          <a:noFill/>
          <a:ln/>
        </p:spPr>
        <p:txBody>
          <a:bodyPr wrap="square" rtlCol="0" anchor="ctr"/>
          <a:lstStyle/>
          <a:p>
            <a:r>
              <a:rPr lang="en-US" sz="1267" dirty="0">
                <a:solidFill>
                  <a:srgbClr val="8493A8"/>
                </a:solidFill>
                <a:latin typeface="Calibri" pitchFamily="34" charset="0"/>
                <a:ea typeface="Calibri" pitchFamily="34" charset="-122"/>
                <a:cs typeface="Calibri" pitchFamily="34" charset="-120"/>
              </a:rPr>
              <a:t>10 Hz vehicle compute</a:t>
            </a:r>
            <a:endParaRPr lang="en-US" sz="1267" dirty="0"/>
          </a:p>
        </p:txBody>
      </p:sp>
      <p:sp>
        <p:nvSpPr>
          <p:cNvPr id="26" name="Shape 0">
            <a:extLst>
              <a:ext uri="{FF2B5EF4-FFF2-40B4-BE49-F238E27FC236}">
                <a16:creationId xmlns:a16="http://schemas.microsoft.com/office/drawing/2014/main" xmlns="" id="{DF7F4A77-5B51-9D4F-18CC-4560E8985F85}"/>
              </a:ext>
            </a:extLst>
          </p:cNvPr>
          <p:cNvSpPr/>
          <p:nvPr/>
        </p:nvSpPr>
        <p:spPr>
          <a:xfrm>
            <a:off x="0" y="-6532"/>
            <a:ext cx="12192000" cy="740408"/>
          </a:xfrm>
          <a:prstGeom prst="rect">
            <a:avLst/>
          </a:prstGeom>
          <a:solidFill>
            <a:srgbClr val="003893"/>
          </a:solidFill>
          <a:ln w="12700">
            <a:solidFill>
              <a:srgbClr val="003893"/>
            </a:solidFill>
            <a:prstDash val="solid"/>
          </a:ln>
        </p:spPr>
      </p:sp>
      <p:sp>
        <p:nvSpPr>
          <p:cNvPr id="27" name="Shape 1">
            <a:extLst>
              <a:ext uri="{FF2B5EF4-FFF2-40B4-BE49-F238E27FC236}">
                <a16:creationId xmlns:a16="http://schemas.microsoft.com/office/drawing/2014/main" xmlns="" id="{AF50A34E-23FC-434C-7A90-6FEDAD362BFB}"/>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28" name="Shape 2">
            <a:extLst>
              <a:ext uri="{FF2B5EF4-FFF2-40B4-BE49-F238E27FC236}">
                <a16:creationId xmlns:a16="http://schemas.microsoft.com/office/drawing/2014/main" xmlns="" id="{F5CD1D30-E861-7184-2B38-181B6D78686E}"/>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9" name="Shape 3">
            <a:extLst>
              <a:ext uri="{FF2B5EF4-FFF2-40B4-BE49-F238E27FC236}">
                <a16:creationId xmlns:a16="http://schemas.microsoft.com/office/drawing/2014/main" xmlns="" id="{29F94866-2355-C124-1559-8340EC8A629D}"/>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30" name="Shape 4">
            <a:extLst>
              <a:ext uri="{FF2B5EF4-FFF2-40B4-BE49-F238E27FC236}">
                <a16:creationId xmlns:a16="http://schemas.microsoft.com/office/drawing/2014/main" xmlns="" id="{A44A01F6-B201-9558-22D7-ED258CA0FFB0}"/>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31" name="Shape 5">
            <a:extLst>
              <a:ext uri="{FF2B5EF4-FFF2-40B4-BE49-F238E27FC236}">
                <a16:creationId xmlns:a16="http://schemas.microsoft.com/office/drawing/2014/main" xmlns="" id="{9D08145D-4E20-4C23-5C9B-BA7280103EBD}"/>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32" name="Shape 6">
            <a:extLst>
              <a:ext uri="{FF2B5EF4-FFF2-40B4-BE49-F238E27FC236}">
                <a16:creationId xmlns:a16="http://schemas.microsoft.com/office/drawing/2014/main" xmlns="" id="{17C43C7B-0C9A-E6ED-183A-D1B42C581CE3}"/>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33" name="Shape 7">
            <a:extLst>
              <a:ext uri="{FF2B5EF4-FFF2-40B4-BE49-F238E27FC236}">
                <a16:creationId xmlns:a16="http://schemas.microsoft.com/office/drawing/2014/main" xmlns="" id="{2574541A-9A98-D1F0-45B1-3DEFBCC41EF6}"/>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34" name="Shape 8">
            <a:extLst>
              <a:ext uri="{FF2B5EF4-FFF2-40B4-BE49-F238E27FC236}">
                <a16:creationId xmlns:a16="http://schemas.microsoft.com/office/drawing/2014/main" xmlns="" id="{68A6695B-EE03-148B-3B4A-BC47BCA3E2FD}"/>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35" name="Shape 9">
            <a:extLst>
              <a:ext uri="{FF2B5EF4-FFF2-40B4-BE49-F238E27FC236}">
                <a16:creationId xmlns:a16="http://schemas.microsoft.com/office/drawing/2014/main" xmlns="" id="{97DC82AC-59D2-B198-36B9-306A4643DFB4}"/>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36" name="Shape 10">
            <a:extLst>
              <a:ext uri="{FF2B5EF4-FFF2-40B4-BE49-F238E27FC236}">
                <a16:creationId xmlns:a16="http://schemas.microsoft.com/office/drawing/2014/main" xmlns="" id="{2F54EBC7-8F7A-2F77-E643-4ED1655A65B6}"/>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37" name="Shape 11">
            <a:extLst>
              <a:ext uri="{FF2B5EF4-FFF2-40B4-BE49-F238E27FC236}">
                <a16:creationId xmlns:a16="http://schemas.microsoft.com/office/drawing/2014/main" xmlns="" id="{6D1192C0-A2D9-6EB0-9600-38AFC11BED40}"/>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38" name="Shape 12">
            <a:extLst>
              <a:ext uri="{FF2B5EF4-FFF2-40B4-BE49-F238E27FC236}">
                <a16:creationId xmlns:a16="http://schemas.microsoft.com/office/drawing/2014/main" xmlns="" id="{29D9D7D0-D49A-15F4-B29A-D064C19D3644}"/>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9" name="Shape 13">
            <a:extLst>
              <a:ext uri="{FF2B5EF4-FFF2-40B4-BE49-F238E27FC236}">
                <a16:creationId xmlns:a16="http://schemas.microsoft.com/office/drawing/2014/main" xmlns="" id="{61DE9218-E6DE-6FBF-2103-C7573DD1D526}"/>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40" name="Shape 14">
            <a:extLst>
              <a:ext uri="{FF2B5EF4-FFF2-40B4-BE49-F238E27FC236}">
                <a16:creationId xmlns:a16="http://schemas.microsoft.com/office/drawing/2014/main" xmlns="" id="{5B9BBF74-A7B7-3F99-D547-68537B761D87}"/>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41" name="Shape 15">
            <a:extLst>
              <a:ext uri="{FF2B5EF4-FFF2-40B4-BE49-F238E27FC236}">
                <a16:creationId xmlns:a16="http://schemas.microsoft.com/office/drawing/2014/main" xmlns="" id="{9DC84B28-4DC3-5915-F152-39F9C0807E7A}"/>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42" name="Shape 16">
            <a:extLst>
              <a:ext uri="{FF2B5EF4-FFF2-40B4-BE49-F238E27FC236}">
                <a16:creationId xmlns:a16="http://schemas.microsoft.com/office/drawing/2014/main" xmlns="" id="{421B3511-BD4D-1865-FAA4-FE2DB8631CA9}"/>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43" name="Picture 42">
            <a:extLst>
              <a:ext uri="{FF2B5EF4-FFF2-40B4-BE49-F238E27FC236}">
                <a16:creationId xmlns:a16="http://schemas.microsoft.com/office/drawing/2014/main" xmlns="" id="{89B6A5A1-526B-E825-CE0E-D5B423622938}"/>
              </a:ext>
            </a:extLst>
          </p:cNvPr>
          <p:cNvPicPr>
            <a:picLocks noChangeAspect="1"/>
          </p:cNvPicPr>
          <p:nvPr/>
        </p:nvPicPr>
        <p:blipFill>
          <a:blip r:embed="rId4"/>
          <a:stretch>
            <a:fillRect/>
          </a:stretch>
        </p:blipFill>
        <p:spPr>
          <a:xfrm>
            <a:off x="-453212" y="-263954"/>
            <a:ext cx="1776568" cy="1245981"/>
          </a:xfrm>
          <a:prstGeom prst="rect">
            <a:avLst/>
          </a:prstGeom>
        </p:spPr>
      </p:pic>
      <p:pic>
        <p:nvPicPr>
          <p:cNvPr id="45" name="Picture 44">
            <a:extLst>
              <a:ext uri="{FF2B5EF4-FFF2-40B4-BE49-F238E27FC236}">
                <a16:creationId xmlns:a16="http://schemas.microsoft.com/office/drawing/2014/main" xmlns="" id="{73EB849B-B690-55BA-1355-F0A5F96764F0}"/>
              </a:ext>
            </a:extLst>
          </p:cNvPr>
          <p:cNvPicPr>
            <a:picLocks noChangeAspect="1"/>
          </p:cNvPicPr>
          <p:nvPr/>
        </p:nvPicPr>
        <p:blipFill>
          <a:blip r:embed="rId5"/>
          <a:stretch>
            <a:fillRect/>
          </a:stretch>
        </p:blipFill>
        <p:spPr>
          <a:xfrm>
            <a:off x="6067430" y="1152950"/>
            <a:ext cx="6064669" cy="4327628"/>
          </a:xfrm>
          <a:prstGeom prst="rect">
            <a:avLst/>
          </a:prstGeom>
        </p:spPr>
      </p:pic>
      <p:sp>
        <p:nvSpPr>
          <p:cNvPr id="3" name="Text 1"/>
          <p:cNvSpPr/>
          <p:nvPr/>
        </p:nvSpPr>
        <p:spPr>
          <a:xfrm>
            <a:off x="1316497" y="-1206"/>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INFERENCE SPEED &amp; EFFICIENCY</a:t>
            </a:r>
            <a:endParaRPr lang="en-US" sz="3200"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Image 0" descr="preencoded.png">
            <a:extLst>
              <a:ext uri="{FF2B5EF4-FFF2-40B4-BE49-F238E27FC236}">
                <a16:creationId xmlns:a16="http://schemas.microsoft.com/office/drawing/2014/main" xmlns="" id="{7EB3CF48-79BB-8345-BB88-0B79C5E9D7E0}"/>
              </a:ext>
            </a:extLst>
          </p:cNvPr>
          <p:cNvPicPr>
            <a:picLocks noChangeAspect="1"/>
          </p:cNvPicPr>
          <p:nvPr/>
        </p:nvPicPr>
        <p:blipFill>
          <a:blip r:embed="rId3"/>
          <a:stretch>
            <a:fillRect/>
          </a:stretch>
        </p:blipFill>
        <p:spPr>
          <a:xfrm>
            <a:off x="0" y="0"/>
            <a:ext cx="12192000" cy="6858000"/>
          </a:xfrm>
          <a:prstGeom prst="rect">
            <a:avLst/>
          </a:prstGeom>
        </p:spPr>
      </p:pic>
      <p:sp>
        <p:nvSpPr>
          <p:cNvPr id="9" name="Text 7"/>
          <p:cNvSpPr/>
          <p:nvPr/>
        </p:nvSpPr>
        <p:spPr>
          <a:xfrm>
            <a:off x="-249025" y="5737228"/>
            <a:ext cx="5425440" cy="365760"/>
          </a:xfrm>
          <a:prstGeom prst="rect">
            <a:avLst/>
          </a:prstGeom>
          <a:noFill/>
          <a:ln/>
        </p:spPr>
        <p:txBody>
          <a:bodyPr wrap="square" rtlCol="0" anchor="ctr"/>
          <a:lstStyle/>
          <a:p>
            <a:pPr algn="ctr"/>
            <a:r>
              <a:rPr lang="en-US" sz="1400" b="1" i="1" dirty="0">
                <a:latin typeface="Calibri" pitchFamily="34" charset="0"/>
                <a:ea typeface="Calibri" pitchFamily="34" charset="-122"/>
                <a:cs typeface="Calibri" pitchFamily="34" charset="-120"/>
              </a:rPr>
              <a:t>Transformer Attention — DEGRADED sample</a:t>
            </a:r>
            <a:endParaRPr lang="en-US" sz="1400" b="1" i="1" dirty="0"/>
          </a:p>
        </p:txBody>
      </p:sp>
      <p:sp>
        <p:nvSpPr>
          <p:cNvPr id="10" name="Text 8"/>
          <p:cNvSpPr/>
          <p:nvPr/>
        </p:nvSpPr>
        <p:spPr>
          <a:xfrm>
            <a:off x="6035040" y="5761165"/>
            <a:ext cx="5608320" cy="365760"/>
          </a:xfrm>
          <a:prstGeom prst="rect">
            <a:avLst/>
          </a:prstGeom>
          <a:noFill/>
          <a:ln/>
        </p:spPr>
        <p:txBody>
          <a:bodyPr wrap="square" rtlCol="0" anchor="ctr"/>
          <a:lstStyle/>
          <a:p>
            <a:pPr algn="ctr"/>
            <a:r>
              <a:rPr lang="en-US" sz="1400" b="1" dirty="0">
                <a:latin typeface="Calibri" pitchFamily="34" charset="0"/>
                <a:ea typeface="Calibri" pitchFamily="34" charset="-122"/>
                <a:cs typeface="Calibri" pitchFamily="34" charset="-120"/>
              </a:rPr>
              <a:t>Feature Saliency (gradient) @ +5 s</a:t>
            </a:r>
            <a:endParaRPr lang="en-US" sz="1400" b="1" dirty="0"/>
          </a:p>
        </p:txBody>
      </p:sp>
      <p:sp>
        <p:nvSpPr>
          <p:cNvPr id="11" name="Text 9"/>
          <p:cNvSpPr/>
          <p:nvPr/>
        </p:nvSpPr>
        <p:spPr>
          <a:xfrm>
            <a:off x="160936" y="5447264"/>
            <a:ext cx="11277600" cy="1402080"/>
          </a:xfrm>
          <a:prstGeom prst="rect">
            <a:avLst/>
          </a:prstGeom>
          <a:noFill/>
          <a:ln/>
        </p:spPr>
        <p:txBody>
          <a:bodyPr wrap="square" rtlCol="0" anchor="ctr"/>
          <a:lstStyle/>
          <a:p>
            <a:pPr marL="457189" indent="-457189">
              <a:buSzPct val="100000"/>
              <a:buChar char="•"/>
            </a:pPr>
            <a:endParaRPr lang="en-US" sz="1600" dirty="0"/>
          </a:p>
        </p:txBody>
      </p:sp>
      <p:sp>
        <p:nvSpPr>
          <p:cNvPr id="12" name="Shape 0">
            <a:extLst>
              <a:ext uri="{FF2B5EF4-FFF2-40B4-BE49-F238E27FC236}">
                <a16:creationId xmlns:a16="http://schemas.microsoft.com/office/drawing/2014/main" xmlns="" id="{36D1FDFB-CB30-998E-D87E-D93A480810B0}"/>
              </a:ext>
            </a:extLst>
          </p:cNvPr>
          <p:cNvSpPr/>
          <p:nvPr/>
        </p:nvSpPr>
        <p:spPr>
          <a:xfrm>
            <a:off x="0" y="-7492"/>
            <a:ext cx="12192000" cy="740408"/>
          </a:xfrm>
          <a:prstGeom prst="rect">
            <a:avLst/>
          </a:prstGeom>
          <a:solidFill>
            <a:srgbClr val="003893"/>
          </a:solidFill>
          <a:ln w="12700">
            <a:solidFill>
              <a:srgbClr val="003893"/>
            </a:solidFill>
            <a:prstDash val="solid"/>
          </a:ln>
        </p:spPr>
      </p:sp>
      <p:sp>
        <p:nvSpPr>
          <p:cNvPr id="13" name="Shape 1">
            <a:extLst>
              <a:ext uri="{FF2B5EF4-FFF2-40B4-BE49-F238E27FC236}">
                <a16:creationId xmlns:a16="http://schemas.microsoft.com/office/drawing/2014/main" xmlns="" id="{6468133E-B173-DF0B-F8EC-DADE94686815}"/>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4" name="Shape 2">
            <a:extLst>
              <a:ext uri="{FF2B5EF4-FFF2-40B4-BE49-F238E27FC236}">
                <a16:creationId xmlns:a16="http://schemas.microsoft.com/office/drawing/2014/main" xmlns="" id="{D0BCA845-11E8-602B-5242-23AE72315EAF}"/>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5" name="Shape 3">
            <a:extLst>
              <a:ext uri="{FF2B5EF4-FFF2-40B4-BE49-F238E27FC236}">
                <a16:creationId xmlns:a16="http://schemas.microsoft.com/office/drawing/2014/main" xmlns="" id="{F7CB967F-9FE9-6FE6-2828-1B7F2E45EEF3}"/>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6" name="Shape 4">
            <a:extLst>
              <a:ext uri="{FF2B5EF4-FFF2-40B4-BE49-F238E27FC236}">
                <a16:creationId xmlns:a16="http://schemas.microsoft.com/office/drawing/2014/main" xmlns="" id="{EA4C0F7E-5538-AA6C-2CF8-C66AD8DAD8EF}"/>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7" name="Shape 5">
            <a:extLst>
              <a:ext uri="{FF2B5EF4-FFF2-40B4-BE49-F238E27FC236}">
                <a16:creationId xmlns:a16="http://schemas.microsoft.com/office/drawing/2014/main" xmlns="" id="{39F7D65A-D916-1817-1B43-F687C9212168}"/>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18" name="Shape 6">
            <a:extLst>
              <a:ext uri="{FF2B5EF4-FFF2-40B4-BE49-F238E27FC236}">
                <a16:creationId xmlns:a16="http://schemas.microsoft.com/office/drawing/2014/main" xmlns="" id="{819CB701-CD42-31A4-9C4F-00F7FE60582B}"/>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19" name="Shape 7">
            <a:extLst>
              <a:ext uri="{FF2B5EF4-FFF2-40B4-BE49-F238E27FC236}">
                <a16:creationId xmlns:a16="http://schemas.microsoft.com/office/drawing/2014/main" xmlns="" id="{12ED1A91-0455-BD41-DB2D-1CD10C605950}"/>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0" name="Shape 8">
            <a:extLst>
              <a:ext uri="{FF2B5EF4-FFF2-40B4-BE49-F238E27FC236}">
                <a16:creationId xmlns:a16="http://schemas.microsoft.com/office/drawing/2014/main" xmlns="" id="{96DDA856-4B09-B7C9-2550-9C428B3AB5AD}"/>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1" name="Shape 9">
            <a:extLst>
              <a:ext uri="{FF2B5EF4-FFF2-40B4-BE49-F238E27FC236}">
                <a16:creationId xmlns:a16="http://schemas.microsoft.com/office/drawing/2014/main" xmlns="" id="{DFD24C05-5E73-7274-77E3-619E5657EA09}"/>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2" name="Shape 10">
            <a:extLst>
              <a:ext uri="{FF2B5EF4-FFF2-40B4-BE49-F238E27FC236}">
                <a16:creationId xmlns:a16="http://schemas.microsoft.com/office/drawing/2014/main" xmlns="" id="{9F7A3AB4-CF9B-5D7B-1760-BBA256CAB610}"/>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3" name="Shape 11">
            <a:extLst>
              <a:ext uri="{FF2B5EF4-FFF2-40B4-BE49-F238E27FC236}">
                <a16:creationId xmlns:a16="http://schemas.microsoft.com/office/drawing/2014/main" xmlns="" id="{DBA1B95F-2A18-685D-5A70-19A930212204}"/>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4" name="Shape 12">
            <a:extLst>
              <a:ext uri="{FF2B5EF4-FFF2-40B4-BE49-F238E27FC236}">
                <a16:creationId xmlns:a16="http://schemas.microsoft.com/office/drawing/2014/main" xmlns="" id="{06C86765-A611-FC49-73EB-019E973F486E}"/>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25" name="Shape 13">
            <a:extLst>
              <a:ext uri="{FF2B5EF4-FFF2-40B4-BE49-F238E27FC236}">
                <a16:creationId xmlns:a16="http://schemas.microsoft.com/office/drawing/2014/main" xmlns="" id="{56D502E6-B0C0-D398-BC97-EF912469DC3D}"/>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26" name="Shape 14">
            <a:extLst>
              <a:ext uri="{FF2B5EF4-FFF2-40B4-BE49-F238E27FC236}">
                <a16:creationId xmlns:a16="http://schemas.microsoft.com/office/drawing/2014/main" xmlns="" id="{E00AFC2E-A2E8-D143-53E4-63D8A7044E2E}"/>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27" name="Shape 15">
            <a:extLst>
              <a:ext uri="{FF2B5EF4-FFF2-40B4-BE49-F238E27FC236}">
                <a16:creationId xmlns:a16="http://schemas.microsoft.com/office/drawing/2014/main" xmlns="" id="{62D47B8F-0B39-CD8C-18C9-A437E0FC84C0}"/>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28" name="Shape 16">
            <a:extLst>
              <a:ext uri="{FF2B5EF4-FFF2-40B4-BE49-F238E27FC236}">
                <a16:creationId xmlns:a16="http://schemas.microsoft.com/office/drawing/2014/main" xmlns="" id="{7C42246D-7BA7-2CF7-08C7-583EAFA4F33C}"/>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29" name="Picture 28">
            <a:extLst>
              <a:ext uri="{FF2B5EF4-FFF2-40B4-BE49-F238E27FC236}">
                <a16:creationId xmlns:a16="http://schemas.microsoft.com/office/drawing/2014/main" xmlns="" id="{A9B64476-ECE0-A35D-335C-5F5011D4186F}"/>
              </a:ext>
            </a:extLst>
          </p:cNvPr>
          <p:cNvPicPr>
            <a:picLocks noChangeAspect="1"/>
          </p:cNvPicPr>
          <p:nvPr/>
        </p:nvPicPr>
        <p:blipFill>
          <a:blip r:embed="rId4"/>
          <a:stretch>
            <a:fillRect/>
          </a:stretch>
        </p:blipFill>
        <p:spPr>
          <a:xfrm>
            <a:off x="-453212" y="-255007"/>
            <a:ext cx="1776568" cy="1245981"/>
          </a:xfrm>
          <a:prstGeom prst="rect">
            <a:avLst/>
          </a:prstGeom>
        </p:spPr>
      </p:pic>
      <p:sp>
        <p:nvSpPr>
          <p:cNvPr id="3" name="Text 1"/>
          <p:cNvSpPr/>
          <p:nvPr/>
        </p:nvSpPr>
        <p:spPr>
          <a:xfrm>
            <a:off x="1323356" y="-13619"/>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INTERPRETABILITY — ATTENTION &amp; FEATURE SALIENCY</a:t>
            </a:r>
            <a:endParaRPr lang="en-US" sz="3200" dirty="0">
              <a:solidFill>
                <a:schemeClr val="bg1"/>
              </a:solidFill>
            </a:endParaRPr>
          </a:p>
        </p:txBody>
      </p:sp>
      <p:pic>
        <p:nvPicPr>
          <p:cNvPr id="39" name="Picture 38">
            <a:extLst>
              <a:ext uri="{FF2B5EF4-FFF2-40B4-BE49-F238E27FC236}">
                <a16:creationId xmlns:a16="http://schemas.microsoft.com/office/drawing/2014/main" xmlns="" id="{A75F50F4-D96D-DC26-148D-6788EA456EBE}"/>
              </a:ext>
            </a:extLst>
          </p:cNvPr>
          <p:cNvPicPr>
            <a:picLocks noChangeAspect="1"/>
          </p:cNvPicPr>
          <p:nvPr/>
        </p:nvPicPr>
        <p:blipFill>
          <a:blip r:embed="rId5"/>
          <a:stretch>
            <a:fillRect/>
          </a:stretch>
        </p:blipFill>
        <p:spPr>
          <a:xfrm>
            <a:off x="426615" y="881836"/>
            <a:ext cx="4749800" cy="4724400"/>
          </a:xfrm>
          <a:prstGeom prst="rect">
            <a:avLst/>
          </a:prstGeom>
        </p:spPr>
      </p:pic>
      <p:pic>
        <p:nvPicPr>
          <p:cNvPr id="41" name="Picture 40">
            <a:extLst>
              <a:ext uri="{FF2B5EF4-FFF2-40B4-BE49-F238E27FC236}">
                <a16:creationId xmlns:a16="http://schemas.microsoft.com/office/drawing/2014/main" xmlns="" id="{61DA0CCE-2AA4-2001-633D-E6EC63170A9C}"/>
              </a:ext>
            </a:extLst>
          </p:cNvPr>
          <p:cNvPicPr>
            <a:picLocks noChangeAspect="1"/>
          </p:cNvPicPr>
          <p:nvPr/>
        </p:nvPicPr>
        <p:blipFill>
          <a:blip r:embed="rId6"/>
          <a:stretch>
            <a:fillRect/>
          </a:stretch>
        </p:blipFill>
        <p:spPr>
          <a:xfrm>
            <a:off x="5664200" y="862329"/>
            <a:ext cx="6101185" cy="479910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Image 0" descr="preencoded.png">
            <a:extLst>
              <a:ext uri="{FF2B5EF4-FFF2-40B4-BE49-F238E27FC236}">
                <a16:creationId xmlns:a16="http://schemas.microsoft.com/office/drawing/2014/main" xmlns="" id="{06102058-EFEC-9D22-1D47-D28CA515041F}"/>
              </a:ext>
            </a:extLst>
          </p:cNvPr>
          <p:cNvPicPr>
            <a:picLocks noChangeAspect="1"/>
          </p:cNvPicPr>
          <p:nvPr/>
        </p:nvPicPr>
        <p:blipFill>
          <a:blip r:embed="rId3"/>
          <a:stretch>
            <a:fillRect/>
          </a:stretch>
        </p:blipFill>
        <p:spPr>
          <a:xfrm>
            <a:off x="0" y="-8467"/>
            <a:ext cx="12192000" cy="685800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2943002684"/>
              </p:ext>
            </p:extLst>
          </p:nvPr>
        </p:nvGraphicFramePr>
        <p:xfrm>
          <a:off x="6035040" y="5029195"/>
          <a:ext cx="5486400" cy="1908550"/>
        </p:xfrm>
        <a:graphic>
          <a:graphicData uri="http://schemas.openxmlformats.org/drawingml/2006/table">
            <a:tbl>
              <a:tblPr/>
              <a:tblGrid>
                <a:gridCol w="3335203">
                  <a:extLst>
                    <a:ext uri="{9D8B030D-6E8A-4147-A177-3AD203B41FA5}">
                      <a16:colId xmlns:a16="http://schemas.microsoft.com/office/drawing/2014/main" xmlns="" val="20000"/>
                    </a:ext>
                  </a:extLst>
                </a:gridCol>
                <a:gridCol w="2151197">
                  <a:extLst>
                    <a:ext uri="{9D8B030D-6E8A-4147-A177-3AD203B41FA5}">
                      <a16:colId xmlns:a16="http://schemas.microsoft.com/office/drawing/2014/main" xmlns="" val="20001"/>
                    </a:ext>
                  </a:extLst>
                </a:gridCol>
              </a:tblGrid>
              <a:tr h="408934">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State</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ECE</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xmlns="" val="10000"/>
                  </a:ext>
                </a:extLst>
              </a:tr>
              <a:tr h="499872">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Raw  (T = 1.0)</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C8102E"/>
                          </a:solidFill>
                          <a:latin typeface="Calibri" pitchFamily="34" charset="0"/>
                          <a:ea typeface="Calibri" pitchFamily="34" charset="-122"/>
                          <a:cs typeface="Calibri" pitchFamily="34" charset="-120"/>
                        </a:rPr>
                        <a:t>0.114</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1"/>
                  </a:ext>
                </a:extLst>
              </a:tr>
              <a:tr h="499872">
                <a:tc>
                  <a:txBody>
                    <a:bodyPr/>
                    <a:lstStyle/>
                    <a:p>
                      <a:pPr marL="0" indent="0" algn="ctr">
                        <a:buNone/>
                      </a:pPr>
                      <a:r>
                        <a:rPr lang="en-US" sz="1700" b="1" dirty="0">
                          <a:solidFill>
                            <a:srgbClr val="000000"/>
                          </a:solidFill>
                          <a:latin typeface="Calibri" pitchFamily="34" charset="0"/>
                          <a:ea typeface="Calibri" pitchFamily="34" charset="-122"/>
                          <a:cs typeface="Calibri" pitchFamily="34" charset="-120"/>
                        </a:rPr>
                        <a:t>After scaling  (T = 0.4023)</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1DA462"/>
                          </a:solidFill>
                          <a:latin typeface="Calibri" pitchFamily="34" charset="0"/>
                          <a:ea typeface="Calibri" pitchFamily="34" charset="-122"/>
                          <a:cs typeface="Calibri" pitchFamily="34" charset="-120"/>
                        </a:rPr>
                        <a:t>0.068</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2"/>
                  </a:ext>
                </a:extLst>
              </a:tr>
              <a:tr h="499872">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Improvement</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1DA462"/>
                          </a:solidFill>
                          <a:latin typeface="Calibri" pitchFamily="34" charset="0"/>
                          <a:ea typeface="Calibri" pitchFamily="34" charset="-122"/>
                          <a:cs typeface="Calibri" pitchFamily="34" charset="-120"/>
                        </a:rPr>
                        <a:t>−40%</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5" name="Text 2"/>
          <p:cNvSpPr/>
          <p:nvPr/>
        </p:nvSpPr>
        <p:spPr>
          <a:xfrm>
            <a:off x="548640" y="5192424"/>
            <a:ext cx="5486400" cy="1097280"/>
          </a:xfrm>
          <a:prstGeom prst="rect">
            <a:avLst/>
          </a:prstGeom>
          <a:noFill/>
          <a:ln/>
        </p:spPr>
        <p:txBody>
          <a:bodyPr wrap="square" rtlCol="0" anchor="ctr"/>
          <a:lstStyle/>
          <a:p>
            <a:r>
              <a:rPr lang="en-US" sz="1600" dirty="0">
                <a:solidFill>
                  <a:srgbClr val="8493A8"/>
                </a:solidFill>
                <a:latin typeface="Calibri" pitchFamily="34" charset="0"/>
                <a:ea typeface="Calibri" pitchFamily="34" charset="-122"/>
                <a:cs typeface="Calibri" pitchFamily="34" charset="-120"/>
              </a:rPr>
              <a:t>Temperature scaling converts raw logits to more reliable probability estimates — enabling P(DEGRADED) to serve as a risk score for the adaptive EKF.</a:t>
            </a:r>
            <a:endParaRPr lang="en-US" sz="1600" dirty="0"/>
          </a:p>
        </p:txBody>
      </p:sp>
      <p:sp>
        <p:nvSpPr>
          <p:cNvPr id="4" name="Shape 0">
            <a:extLst>
              <a:ext uri="{FF2B5EF4-FFF2-40B4-BE49-F238E27FC236}">
                <a16:creationId xmlns:a16="http://schemas.microsoft.com/office/drawing/2014/main" xmlns="" id="{9F592E7D-C8B9-AC81-B758-B01BB525BEB2}"/>
              </a:ext>
            </a:extLst>
          </p:cNvPr>
          <p:cNvSpPr/>
          <p:nvPr/>
        </p:nvSpPr>
        <p:spPr>
          <a:xfrm>
            <a:off x="0" y="-7492"/>
            <a:ext cx="12192000" cy="740408"/>
          </a:xfrm>
          <a:prstGeom prst="rect">
            <a:avLst/>
          </a:prstGeom>
          <a:solidFill>
            <a:srgbClr val="003893"/>
          </a:solidFill>
          <a:ln w="12700">
            <a:solidFill>
              <a:srgbClr val="003893"/>
            </a:solidFill>
            <a:prstDash val="solid"/>
          </a:ln>
        </p:spPr>
      </p:sp>
      <p:sp>
        <p:nvSpPr>
          <p:cNvPr id="10" name="Shape 1">
            <a:extLst>
              <a:ext uri="{FF2B5EF4-FFF2-40B4-BE49-F238E27FC236}">
                <a16:creationId xmlns:a16="http://schemas.microsoft.com/office/drawing/2014/main" xmlns="" id="{86753494-C546-1F29-C099-44212A2F5C3E}"/>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2" name="Shape 2">
            <a:extLst>
              <a:ext uri="{FF2B5EF4-FFF2-40B4-BE49-F238E27FC236}">
                <a16:creationId xmlns:a16="http://schemas.microsoft.com/office/drawing/2014/main" xmlns="" id="{683C3B31-1619-1B89-8A10-A37CBCD8068B}"/>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3" name="Shape 3">
            <a:extLst>
              <a:ext uri="{FF2B5EF4-FFF2-40B4-BE49-F238E27FC236}">
                <a16:creationId xmlns:a16="http://schemas.microsoft.com/office/drawing/2014/main" xmlns="" id="{AA3C75DF-99BB-37D8-548E-79674AE882BC}"/>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4" name="Shape 4">
            <a:extLst>
              <a:ext uri="{FF2B5EF4-FFF2-40B4-BE49-F238E27FC236}">
                <a16:creationId xmlns:a16="http://schemas.microsoft.com/office/drawing/2014/main" xmlns="" id="{BE07CDFF-FB64-78C3-E3B5-2F19E2F54AB1}"/>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5" name="Shape 5">
            <a:extLst>
              <a:ext uri="{FF2B5EF4-FFF2-40B4-BE49-F238E27FC236}">
                <a16:creationId xmlns:a16="http://schemas.microsoft.com/office/drawing/2014/main" xmlns="" id="{7BB5EA54-01DE-44A2-9703-07C4F9AA3FB4}"/>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16" name="Shape 6">
            <a:extLst>
              <a:ext uri="{FF2B5EF4-FFF2-40B4-BE49-F238E27FC236}">
                <a16:creationId xmlns:a16="http://schemas.microsoft.com/office/drawing/2014/main" xmlns="" id="{C40DB522-EE4D-0E50-EF53-B252A5D1E23C}"/>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17" name="Shape 7">
            <a:extLst>
              <a:ext uri="{FF2B5EF4-FFF2-40B4-BE49-F238E27FC236}">
                <a16:creationId xmlns:a16="http://schemas.microsoft.com/office/drawing/2014/main" xmlns="" id="{F5F36AE8-4048-A5AC-9A1A-D214328A2A4E}"/>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18" name="Shape 8">
            <a:extLst>
              <a:ext uri="{FF2B5EF4-FFF2-40B4-BE49-F238E27FC236}">
                <a16:creationId xmlns:a16="http://schemas.microsoft.com/office/drawing/2014/main" xmlns="" id="{93B43423-D2CA-0EBF-BC3D-D4FC70FBD1BF}"/>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19" name="Shape 9">
            <a:extLst>
              <a:ext uri="{FF2B5EF4-FFF2-40B4-BE49-F238E27FC236}">
                <a16:creationId xmlns:a16="http://schemas.microsoft.com/office/drawing/2014/main" xmlns="" id="{982D9566-B873-9B43-7F9D-E25D89B2B5E7}"/>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0" name="Shape 10">
            <a:extLst>
              <a:ext uri="{FF2B5EF4-FFF2-40B4-BE49-F238E27FC236}">
                <a16:creationId xmlns:a16="http://schemas.microsoft.com/office/drawing/2014/main" xmlns="" id="{9319CE49-1047-FDF2-DD79-4943EA6208A4}"/>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1" name="Shape 11">
            <a:extLst>
              <a:ext uri="{FF2B5EF4-FFF2-40B4-BE49-F238E27FC236}">
                <a16:creationId xmlns:a16="http://schemas.microsoft.com/office/drawing/2014/main" xmlns="" id="{E8122BD2-24CC-2C73-5505-B4DACDCA3AEB}"/>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2" name="Shape 12">
            <a:extLst>
              <a:ext uri="{FF2B5EF4-FFF2-40B4-BE49-F238E27FC236}">
                <a16:creationId xmlns:a16="http://schemas.microsoft.com/office/drawing/2014/main" xmlns="" id="{5E8E5DA1-400F-E4BB-30C9-85B8BE710F3E}"/>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23" name="Shape 13">
            <a:extLst>
              <a:ext uri="{FF2B5EF4-FFF2-40B4-BE49-F238E27FC236}">
                <a16:creationId xmlns:a16="http://schemas.microsoft.com/office/drawing/2014/main" xmlns="" id="{11E4BDAE-D14C-5F52-5188-A19CDC710017}"/>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24" name="Shape 14">
            <a:extLst>
              <a:ext uri="{FF2B5EF4-FFF2-40B4-BE49-F238E27FC236}">
                <a16:creationId xmlns:a16="http://schemas.microsoft.com/office/drawing/2014/main" xmlns="" id="{3C87CE01-9D47-A9DC-E2EB-D5AD38227EA9}"/>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25" name="Shape 15">
            <a:extLst>
              <a:ext uri="{FF2B5EF4-FFF2-40B4-BE49-F238E27FC236}">
                <a16:creationId xmlns:a16="http://schemas.microsoft.com/office/drawing/2014/main" xmlns="" id="{51DE0CE4-9F22-5A57-2462-04FF62F5C778}"/>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26" name="Shape 16">
            <a:extLst>
              <a:ext uri="{FF2B5EF4-FFF2-40B4-BE49-F238E27FC236}">
                <a16:creationId xmlns:a16="http://schemas.microsoft.com/office/drawing/2014/main" xmlns="" id="{A209586C-FC4C-51FA-7E38-D23A2F0DD641}"/>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27" name="Picture 26">
            <a:extLst>
              <a:ext uri="{FF2B5EF4-FFF2-40B4-BE49-F238E27FC236}">
                <a16:creationId xmlns:a16="http://schemas.microsoft.com/office/drawing/2014/main" xmlns="" id="{30E51FAC-721D-FB4E-1659-E4EAB9AB991C}"/>
              </a:ext>
            </a:extLst>
          </p:cNvPr>
          <p:cNvPicPr>
            <a:picLocks noChangeAspect="1"/>
          </p:cNvPicPr>
          <p:nvPr/>
        </p:nvPicPr>
        <p:blipFill>
          <a:blip r:embed="rId4"/>
          <a:stretch>
            <a:fillRect/>
          </a:stretch>
        </p:blipFill>
        <p:spPr>
          <a:xfrm>
            <a:off x="-453212" y="-263954"/>
            <a:ext cx="1776568" cy="1245981"/>
          </a:xfrm>
          <a:prstGeom prst="rect">
            <a:avLst/>
          </a:prstGeom>
        </p:spPr>
      </p:pic>
      <p:pic>
        <p:nvPicPr>
          <p:cNvPr id="29" name="Picture 28">
            <a:extLst>
              <a:ext uri="{FF2B5EF4-FFF2-40B4-BE49-F238E27FC236}">
                <a16:creationId xmlns:a16="http://schemas.microsoft.com/office/drawing/2014/main" xmlns="" id="{206A19C3-FB18-26AF-8786-94A8872C7A6B}"/>
              </a:ext>
            </a:extLst>
          </p:cNvPr>
          <p:cNvPicPr>
            <a:picLocks noChangeAspect="1"/>
          </p:cNvPicPr>
          <p:nvPr/>
        </p:nvPicPr>
        <p:blipFill>
          <a:blip r:embed="rId5"/>
          <a:stretch>
            <a:fillRect/>
          </a:stretch>
        </p:blipFill>
        <p:spPr>
          <a:xfrm>
            <a:off x="793098" y="898412"/>
            <a:ext cx="9935863" cy="4276554"/>
          </a:xfrm>
          <a:prstGeom prst="rect">
            <a:avLst/>
          </a:prstGeom>
        </p:spPr>
      </p:pic>
      <p:sp>
        <p:nvSpPr>
          <p:cNvPr id="3" name="Text 1"/>
          <p:cNvSpPr/>
          <p:nvPr/>
        </p:nvSpPr>
        <p:spPr>
          <a:xfrm>
            <a:off x="1192376" y="-48531"/>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PROBABILITY CALIBRATION — TEMPERATURE SCALING</a:t>
            </a:r>
            <a:endParaRPr lang="en-US" sz="3200" dirty="0">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Image 0" descr="preencoded.png">
            <a:extLst>
              <a:ext uri="{FF2B5EF4-FFF2-40B4-BE49-F238E27FC236}">
                <a16:creationId xmlns:a16="http://schemas.microsoft.com/office/drawing/2014/main" xmlns="" id="{00A56DC4-B6CA-C9D9-D36D-6AC0D608C40F}"/>
              </a:ext>
            </a:extLst>
          </p:cNvPr>
          <p:cNvPicPr>
            <a:picLocks noChangeAspect="1"/>
          </p:cNvPicPr>
          <p:nvPr/>
        </p:nvPicPr>
        <p:blipFill>
          <a:blip r:embed="rId3"/>
          <a:stretch>
            <a:fillRect/>
          </a:stretch>
        </p:blipFill>
        <p:spPr>
          <a:xfrm>
            <a:off x="0" y="0"/>
            <a:ext cx="12192000" cy="6858000"/>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480664870"/>
              </p:ext>
            </p:extLst>
          </p:nvPr>
        </p:nvGraphicFramePr>
        <p:xfrm>
          <a:off x="548639" y="841061"/>
          <a:ext cx="5088589" cy="2819400"/>
        </p:xfrm>
        <a:graphic>
          <a:graphicData uri="http://schemas.openxmlformats.org/drawingml/2006/table">
            <a:tbl>
              <a:tblPr/>
              <a:tblGrid>
                <a:gridCol w="877343">
                  <a:extLst>
                    <a:ext uri="{9D8B030D-6E8A-4147-A177-3AD203B41FA5}">
                      <a16:colId xmlns:a16="http://schemas.microsoft.com/office/drawing/2014/main" xmlns="" val="20000"/>
                    </a:ext>
                  </a:extLst>
                </a:gridCol>
                <a:gridCol w="1754686">
                  <a:extLst>
                    <a:ext uri="{9D8B030D-6E8A-4147-A177-3AD203B41FA5}">
                      <a16:colId xmlns:a16="http://schemas.microsoft.com/office/drawing/2014/main" xmlns="" val="20001"/>
                    </a:ext>
                  </a:extLst>
                </a:gridCol>
                <a:gridCol w="2456560">
                  <a:extLst>
                    <a:ext uri="{9D8B030D-6E8A-4147-A177-3AD203B41FA5}">
                      <a16:colId xmlns:a16="http://schemas.microsoft.com/office/drawing/2014/main" xmlns="" val="20002"/>
                    </a:ext>
                  </a:extLst>
                </a:gridCol>
              </a:tblGrid>
              <a:tr h="593633">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Horizon</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Distance @ 60 km/h</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Action Window</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xmlns="" val="10000"/>
                  </a:ext>
                </a:extLst>
              </a:tr>
              <a:tr h="833913">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+5 s</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83 m</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Lane-change preparation, pre-buffer switch</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1"/>
                  </a:ext>
                </a:extLst>
              </a:tr>
              <a:tr h="603056">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+15 s</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250 m</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Alternative route segment selection</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2"/>
                  </a:ext>
                </a:extLst>
              </a:tr>
              <a:tr h="603056">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+30 s</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500 m</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INS / HD-Map localisation handover</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5" name="Shape 2"/>
          <p:cNvSpPr/>
          <p:nvPr/>
        </p:nvSpPr>
        <p:spPr>
          <a:xfrm>
            <a:off x="548640" y="3758828"/>
            <a:ext cx="5088589" cy="1239891"/>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6" name="Text 3"/>
          <p:cNvSpPr/>
          <p:nvPr/>
        </p:nvSpPr>
        <p:spPr>
          <a:xfrm>
            <a:off x="731520" y="3730752"/>
            <a:ext cx="6705600" cy="365760"/>
          </a:xfrm>
          <a:prstGeom prst="rect">
            <a:avLst/>
          </a:prstGeom>
          <a:noFill/>
          <a:ln/>
        </p:spPr>
        <p:txBody>
          <a:bodyPr wrap="square" lIns="0" tIns="0" rIns="0" bIns="0" rtlCol="0" anchor="ctr"/>
          <a:lstStyle/>
          <a:p>
            <a:r>
              <a:rPr lang="en-US" sz="1600" b="1" dirty="0">
                <a:solidFill>
                  <a:srgbClr val="C8102E"/>
                </a:solidFill>
                <a:latin typeface="Calibri" pitchFamily="34" charset="0"/>
                <a:ea typeface="Calibri" pitchFamily="34" charset="-122"/>
                <a:cs typeface="Calibri" pitchFamily="34" charset="-120"/>
              </a:rPr>
              <a:t>❌  Reactive (RTKLIB / RAIM / prior ML)</a:t>
            </a:r>
            <a:endParaRPr lang="en-US" sz="1600" dirty="0"/>
          </a:p>
        </p:txBody>
      </p:sp>
      <p:sp>
        <p:nvSpPr>
          <p:cNvPr id="7" name="Text 4"/>
          <p:cNvSpPr/>
          <p:nvPr/>
        </p:nvSpPr>
        <p:spPr>
          <a:xfrm>
            <a:off x="731520" y="4120896"/>
            <a:ext cx="6705600" cy="755904"/>
          </a:xfrm>
          <a:prstGeom prst="rect">
            <a:avLst/>
          </a:prstGeom>
          <a:noFill/>
          <a:ln/>
        </p:spPr>
        <p:txBody>
          <a:bodyPr wrap="square" rtlCol="0" anchor="ctr"/>
          <a:lstStyle/>
          <a:p>
            <a:r>
              <a:rPr lang="en-US" sz="1467" dirty="0">
                <a:solidFill>
                  <a:srgbClr val="8493A8"/>
                </a:solidFill>
                <a:latin typeface="Calibri" pitchFamily="34" charset="0"/>
                <a:ea typeface="Calibri" pitchFamily="34" charset="-122"/>
                <a:cs typeface="Calibri" pitchFamily="34" charset="-120"/>
              </a:rPr>
              <a:t>Reports: Signal failed</a:t>
            </a:r>
            <a:endParaRPr lang="en-US" sz="1467" dirty="0"/>
          </a:p>
          <a:p>
            <a:r>
              <a:rPr lang="en-US" sz="1467" dirty="0">
                <a:solidFill>
                  <a:srgbClr val="8493A8"/>
                </a:solidFill>
                <a:latin typeface="Calibri" pitchFamily="34" charset="0"/>
                <a:ea typeface="Calibri" pitchFamily="34" charset="-122"/>
                <a:cs typeface="Calibri" pitchFamily="34" charset="-120"/>
              </a:rPr>
              <a:t>Vehicle already in degraded zone — zero prep time</a:t>
            </a:r>
            <a:endParaRPr lang="en-US" sz="1467" dirty="0"/>
          </a:p>
        </p:txBody>
      </p:sp>
      <p:sp>
        <p:nvSpPr>
          <p:cNvPr id="8" name="Shape 5"/>
          <p:cNvSpPr/>
          <p:nvPr/>
        </p:nvSpPr>
        <p:spPr>
          <a:xfrm>
            <a:off x="548640" y="5181600"/>
            <a:ext cx="5088589" cy="13411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9" name="Text 6"/>
          <p:cNvSpPr/>
          <p:nvPr/>
        </p:nvSpPr>
        <p:spPr>
          <a:xfrm>
            <a:off x="731520" y="5254752"/>
            <a:ext cx="6705600" cy="365760"/>
          </a:xfrm>
          <a:prstGeom prst="rect">
            <a:avLst/>
          </a:prstGeom>
          <a:noFill/>
          <a:ln/>
        </p:spPr>
        <p:txBody>
          <a:bodyPr wrap="square" lIns="0" tIns="0" rIns="0" bIns="0" rtlCol="0" anchor="ctr"/>
          <a:lstStyle/>
          <a:p>
            <a:r>
              <a:rPr lang="en-US" sz="1600" b="1" dirty="0">
                <a:solidFill>
                  <a:srgbClr val="1DA462"/>
                </a:solidFill>
                <a:latin typeface="Calibri" pitchFamily="34" charset="0"/>
                <a:ea typeface="Calibri" pitchFamily="34" charset="-122"/>
                <a:cs typeface="Calibri" pitchFamily="34" charset="-120"/>
              </a:rPr>
              <a:t>✅  Proactive (SENTINEL-GNSS)</a:t>
            </a:r>
            <a:endParaRPr lang="en-US" sz="1600" dirty="0"/>
          </a:p>
        </p:txBody>
      </p:sp>
      <p:sp>
        <p:nvSpPr>
          <p:cNvPr id="10" name="Text 7"/>
          <p:cNvSpPr/>
          <p:nvPr/>
        </p:nvSpPr>
        <p:spPr>
          <a:xfrm>
            <a:off x="731520" y="5644896"/>
            <a:ext cx="6705600" cy="755904"/>
          </a:xfrm>
          <a:prstGeom prst="rect">
            <a:avLst/>
          </a:prstGeom>
          <a:noFill/>
          <a:ln/>
        </p:spPr>
        <p:txBody>
          <a:bodyPr wrap="square" rtlCol="0" anchor="ctr"/>
          <a:lstStyle/>
          <a:p>
            <a:r>
              <a:rPr lang="en-US" sz="1467" dirty="0">
                <a:solidFill>
                  <a:srgbClr val="8493A8"/>
                </a:solidFill>
                <a:latin typeface="Calibri" pitchFamily="34" charset="0"/>
                <a:ea typeface="Calibri" pitchFamily="34" charset="-122"/>
                <a:cs typeface="Calibri" pitchFamily="34" charset="-120"/>
              </a:rPr>
              <a:t>Reports: Signal will fail in T seconds</a:t>
            </a:r>
            <a:endParaRPr lang="en-US" sz="1467" dirty="0"/>
          </a:p>
          <a:p>
            <a:r>
              <a:rPr lang="en-US" sz="1467" dirty="0">
                <a:solidFill>
                  <a:srgbClr val="8493A8"/>
                </a:solidFill>
                <a:latin typeface="Calibri" pitchFamily="34" charset="0"/>
                <a:ea typeface="Calibri" pitchFamily="34" charset="-122"/>
                <a:cs typeface="Calibri" pitchFamily="34" charset="-120"/>
              </a:rPr>
              <a:t>Vehicle gets an actionable preparation window</a:t>
            </a:r>
            <a:endParaRPr lang="en-US" sz="1467" dirty="0"/>
          </a:p>
        </p:txBody>
      </p:sp>
      <p:sp>
        <p:nvSpPr>
          <p:cNvPr id="4" name="Shape 0">
            <a:extLst>
              <a:ext uri="{FF2B5EF4-FFF2-40B4-BE49-F238E27FC236}">
                <a16:creationId xmlns:a16="http://schemas.microsoft.com/office/drawing/2014/main" xmlns="" id="{185C9CA3-888D-3558-AC2B-0FE4C63B75B4}"/>
              </a:ext>
            </a:extLst>
          </p:cNvPr>
          <p:cNvSpPr/>
          <p:nvPr/>
        </p:nvSpPr>
        <p:spPr>
          <a:xfrm>
            <a:off x="0" y="1935"/>
            <a:ext cx="12192000" cy="740408"/>
          </a:xfrm>
          <a:prstGeom prst="rect">
            <a:avLst/>
          </a:prstGeom>
          <a:solidFill>
            <a:srgbClr val="003893"/>
          </a:solidFill>
          <a:ln w="12700">
            <a:solidFill>
              <a:srgbClr val="003893"/>
            </a:solidFill>
            <a:prstDash val="solid"/>
          </a:ln>
        </p:spPr>
      </p:sp>
      <p:sp>
        <p:nvSpPr>
          <p:cNvPr id="15" name="Shape 1">
            <a:extLst>
              <a:ext uri="{FF2B5EF4-FFF2-40B4-BE49-F238E27FC236}">
                <a16:creationId xmlns:a16="http://schemas.microsoft.com/office/drawing/2014/main" xmlns="" id="{BF79D38A-5A09-94A8-255D-EA393C94D003}"/>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6" name="Shape 2">
            <a:extLst>
              <a:ext uri="{FF2B5EF4-FFF2-40B4-BE49-F238E27FC236}">
                <a16:creationId xmlns:a16="http://schemas.microsoft.com/office/drawing/2014/main" xmlns="" id="{FD3E6B5B-D90F-122D-A14B-A378242E250D}"/>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7" name="Shape 3">
            <a:extLst>
              <a:ext uri="{FF2B5EF4-FFF2-40B4-BE49-F238E27FC236}">
                <a16:creationId xmlns:a16="http://schemas.microsoft.com/office/drawing/2014/main" xmlns="" id="{4205856B-F33C-55A0-F805-4E55F68F8BB6}"/>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8" name="Shape 4">
            <a:extLst>
              <a:ext uri="{FF2B5EF4-FFF2-40B4-BE49-F238E27FC236}">
                <a16:creationId xmlns:a16="http://schemas.microsoft.com/office/drawing/2014/main" xmlns="" id="{A3DE3738-D772-18B1-A73C-7E2457AB4A9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9" name="Shape 5">
            <a:extLst>
              <a:ext uri="{FF2B5EF4-FFF2-40B4-BE49-F238E27FC236}">
                <a16:creationId xmlns:a16="http://schemas.microsoft.com/office/drawing/2014/main" xmlns="" id="{F31918D5-3F96-E3AB-21DF-64272B4A8A2C}"/>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0" name="Shape 6">
            <a:extLst>
              <a:ext uri="{FF2B5EF4-FFF2-40B4-BE49-F238E27FC236}">
                <a16:creationId xmlns:a16="http://schemas.microsoft.com/office/drawing/2014/main" xmlns="" id="{6A355842-403D-78A3-106B-915E18EF61F5}"/>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1" name="Shape 7">
            <a:extLst>
              <a:ext uri="{FF2B5EF4-FFF2-40B4-BE49-F238E27FC236}">
                <a16:creationId xmlns:a16="http://schemas.microsoft.com/office/drawing/2014/main" xmlns="" id="{C5917BAA-7E13-3215-FD42-5DC825FD567E}"/>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2" name="Shape 8">
            <a:extLst>
              <a:ext uri="{FF2B5EF4-FFF2-40B4-BE49-F238E27FC236}">
                <a16:creationId xmlns:a16="http://schemas.microsoft.com/office/drawing/2014/main" xmlns="" id="{2FCDA35C-1DDA-2BF7-5784-3D09A4D3B746}"/>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3" name="Shape 9">
            <a:extLst>
              <a:ext uri="{FF2B5EF4-FFF2-40B4-BE49-F238E27FC236}">
                <a16:creationId xmlns:a16="http://schemas.microsoft.com/office/drawing/2014/main" xmlns="" id="{C49EFF66-77F6-41DC-71DC-DAF39114CC51}"/>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4" name="Shape 10">
            <a:extLst>
              <a:ext uri="{FF2B5EF4-FFF2-40B4-BE49-F238E27FC236}">
                <a16:creationId xmlns:a16="http://schemas.microsoft.com/office/drawing/2014/main" xmlns="" id="{605A0ACC-CB23-D91E-B395-EA225EB103AD}"/>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5" name="Shape 11">
            <a:extLst>
              <a:ext uri="{FF2B5EF4-FFF2-40B4-BE49-F238E27FC236}">
                <a16:creationId xmlns:a16="http://schemas.microsoft.com/office/drawing/2014/main" xmlns="" id="{C24ADFBA-6808-C139-D81B-4EC03722BAD8}"/>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6" name="Shape 12">
            <a:extLst>
              <a:ext uri="{FF2B5EF4-FFF2-40B4-BE49-F238E27FC236}">
                <a16:creationId xmlns:a16="http://schemas.microsoft.com/office/drawing/2014/main" xmlns="" id="{EE25714B-EDC4-5422-79A0-6B4173C4B3F4}"/>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27" name="Shape 13">
            <a:extLst>
              <a:ext uri="{FF2B5EF4-FFF2-40B4-BE49-F238E27FC236}">
                <a16:creationId xmlns:a16="http://schemas.microsoft.com/office/drawing/2014/main" xmlns="" id="{714F5AC5-5761-1E15-0D38-9CEA0EC29071}"/>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28" name="Shape 14">
            <a:extLst>
              <a:ext uri="{FF2B5EF4-FFF2-40B4-BE49-F238E27FC236}">
                <a16:creationId xmlns:a16="http://schemas.microsoft.com/office/drawing/2014/main" xmlns="" id="{7AD36160-14D4-F19F-FF77-699D63263CBC}"/>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29" name="Shape 15">
            <a:extLst>
              <a:ext uri="{FF2B5EF4-FFF2-40B4-BE49-F238E27FC236}">
                <a16:creationId xmlns:a16="http://schemas.microsoft.com/office/drawing/2014/main" xmlns="" id="{95A2B369-DD54-518E-6F94-8041E0FE0017}"/>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0" name="Shape 16">
            <a:extLst>
              <a:ext uri="{FF2B5EF4-FFF2-40B4-BE49-F238E27FC236}">
                <a16:creationId xmlns:a16="http://schemas.microsoft.com/office/drawing/2014/main" xmlns="" id="{6A10245B-4BA1-32D5-12C5-D61E9667AEDC}"/>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1" name="Picture 30">
            <a:extLst>
              <a:ext uri="{FF2B5EF4-FFF2-40B4-BE49-F238E27FC236}">
                <a16:creationId xmlns:a16="http://schemas.microsoft.com/office/drawing/2014/main" xmlns="" id="{9C1365D0-0511-4201-B8DD-D79CA9F44245}"/>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219200" y="-32593"/>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N1 — PROACTIVE PREDICTION</a:t>
            </a:r>
            <a:endParaRPr lang="en-US" sz="3200" dirty="0">
              <a:solidFill>
                <a:schemeClr val="bg1"/>
              </a:solidFill>
            </a:endParaRPr>
          </a:p>
        </p:txBody>
      </p:sp>
      <p:pic>
        <p:nvPicPr>
          <p:cNvPr id="33" name="Picture 32">
            <a:extLst>
              <a:ext uri="{FF2B5EF4-FFF2-40B4-BE49-F238E27FC236}">
                <a16:creationId xmlns:a16="http://schemas.microsoft.com/office/drawing/2014/main" xmlns="" id="{1570182A-855A-E5FA-238B-9E55775540A4}"/>
              </a:ext>
            </a:extLst>
          </p:cNvPr>
          <p:cNvPicPr>
            <a:picLocks noChangeAspect="1"/>
          </p:cNvPicPr>
          <p:nvPr/>
        </p:nvPicPr>
        <p:blipFill>
          <a:blip r:embed="rId5"/>
          <a:stretch>
            <a:fillRect/>
          </a:stretch>
        </p:blipFill>
        <p:spPr>
          <a:xfrm>
            <a:off x="5820109" y="2037802"/>
            <a:ext cx="6077403" cy="251559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044453"/>
          </a:xfrm>
          <a:prstGeom prst="rect">
            <a:avLst/>
          </a:prstGeom>
          <a:noFill/>
        </p:spPr>
        <p:txBody>
          <a:bodyPr wrap="square">
            <a:spAutoFit/>
          </a:bodyPr>
          <a:lstStyle/>
          <a:p>
            <a:pPr>
              <a:lnSpc>
                <a:spcPct val="150000"/>
              </a:lnSpc>
              <a:spcAft>
                <a:spcPts val="600"/>
              </a:spcAft>
            </a:pPr>
            <a:r>
              <a:rPr lang="en-GB" sz="4600" b="1" dirty="0">
                <a:solidFill>
                  <a:srgbClr val="FFFFFF"/>
                </a:solidFill>
              </a:rPr>
              <a:t>5 · EKF: From Prediction to Position</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0" descr="preencoded.png">
            <a:extLst>
              <a:ext uri="{FF2B5EF4-FFF2-40B4-BE49-F238E27FC236}">
                <a16:creationId xmlns:a16="http://schemas.microsoft.com/office/drawing/2014/main" xmlns="" id="{20F166AB-AD91-4B64-DD52-0AA449DE6DC6}"/>
              </a:ext>
            </a:extLst>
          </p:cNvPr>
          <p:cNvPicPr>
            <a:picLocks noChangeAspect="1"/>
          </p:cNvPicPr>
          <p:nvPr/>
        </p:nvPicPr>
        <p:blipFill>
          <a:blip r:embed="rId2"/>
          <a:stretch>
            <a:fillRect/>
          </a:stretch>
        </p:blipFill>
        <p:spPr>
          <a:xfrm>
            <a:off x="-24670" y="-16099"/>
            <a:ext cx="12192000" cy="6858000"/>
          </a:xfrm>
          <a:prstGeom prst="rect">
            <a:avLst/>
          </a:prstGeom>
        </p:spPr>
      </p:pic>
      <p:sp>
        <p:nvSpPr>
          <p:cNvPr id="7" name="Shape 0">
            <a:extLst>
              <a:ext uri="{FF2B5EF4-FFF2-40B4-BE49-F238E27FC236}">
                <a16:creationId xmlns:a16="http://schemas.microsoft.com/office/drawing/2014/main" xmlns="" id="{2A5CD850-1EE3-E023-1963-A9830CA6085F}"/>
              </a:ext>
            </a:extLst>
          </p:cNvPr>
          <p:cNvSpPr/>
          <p:nvPr/>
        </p:nvSpPr>
        <p:spPr>
          <a:xfrm>
            <a:off x="0" y="1935"/>
            <a:ext cx="12192000" cy="740408"/>
          </a:xfrm>
          <a:prstGeom prst="rect">
            <a:avLst/>
          </a:prstGeom>
          <a:solidFill>
            <a:srgbClr val="003893"/>
          </a:solidFill>
          <a:ln w="12700">
            <a:solidFill>
              <a:srgbClr val="003893"/>
            </a:solidFill>
            <a:prstDash val="solid"/>
          </a:ln>
        </p:spPr>
      </p:sp>
      <p:sp>
        <p:nvSpPr>
          <p:cNvPr id="8" name="Shape 1">
            <a:extLst>
              <a:ext uri="{FF2B5EF4-FFF2-40B4-BE49-F238E27FC236}">
                <a16:creationId xmlns:a16="http://schemas.microsoft.com/office/drawing/2014/main" xmlns="" id="{4B11008E-3F8F-2016-02E4-C16E994BFA62}"/>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9" name="Shape 2">
            <a:extLst>
              <a:ext uri="{FF2B5EF4-FFF2-40B4-BE49-F238E27FC236}">
                <a16:creationId xmlns:a16="http://schemas.microsoft.com/office/drawing/2014/main" xmlns="" id="{8FDA0D68-1543-D2AF-2FDD-A28825502698}"/>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0" name="Shape 3">
            <a:extLst>
              <a:ext uri="{FF2B5EF4-FFF2-40B4-BE49-F238E27FC236}">
                <a16:creationId xmlns:a16="http://schemas.microsoft.com/office/drawing/2014/main" xmlns="" id="{84A347C5-EA8E-E2A0-B1ED-619311389981}"/>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1" name="Shape 4">
            <a:extLst>
              <a:ext uri="{FF2B5EF4-FFF2-40B4-BE49-F238E27FC236}">
                <a16:creationId xmlns:a16="http://schemas.microsoft.com/office/drawing/2014/main" xmlns="" id="{0E5D4A4E-3D28-D26E-194B-354E80BBA8DF}"/>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2" name="Shape 5">
            <a:extLst>
              <a:ext uri="{FF2B5EF4-FFF2-40B4-BE49-F238E27FC236}">
                <a16:creationId xmlns:a16="http://schemas.microsoft.com/office/drawing/2014/main" xmlns="" id="{30D7D544-2629-1C9E-0AA8-5C2D0742251C}"/>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13" name="Shape 6">
            <a:extLst>
              <a:ext uri="{FF2B5EF4-FFF2-40B4-BE49-F238E27FC236}">
                <a16:creationId xmlns:a16="http://schemas.microsoft.com/office/drawing/2014/main" xmlns="" id="{F41290F9-B946-0B81-3AA6-689959E796AD}"/>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14" name="Shape 7">
            <a:extLst>
              <a:ext uri="{FF2B5EF4-FFF2-40B4-BE49-F238E27FC236}">
                <a16:creationId xmlns:a16="http://schemas.microsoft.com/office/drawing/2014/main" xmlns="" id="{49213CD4-20D1-2349-833A-8579C7A1F52C}"/>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15" name="Shape 8">
            <a:extLst>
              <a:ext uri="{FF2B5EF4-FFF2-40B4-BE49-F238E27FC236}">
                <a16:creationId xmlns:a16="http://schemas.microsoft.com/office/drawing/2014/main" xmlns="" id="{73A25FF2-D5A5-7D85-66E2-41652C7BA8FE}"/>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16" name="Shape 9">
            <a:extLst>
              <a:ext uri="{FF2B5EF4-FFF2-40B4-BE49-F238E27FC236}">
                <a16:creationId xmlns:a16="http://schemas.microsoft.com/office/drawing/2014/main" xmlns="" id="{53C000BD-A3A2-2298-CEF1-91064FEA507D}"/>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17" name="Shape 10">
            <a:extLst>
              <a:ext uri="{FF2B5EF4-FFF2-40B4-BE49-F238E27FC236}">
                <a16:creationId xmlns:a16="http://schemas.microsoft.com/office/drawing/2014/main" xmlns="" id="{4804119C-604B-18AB-B986-4E61858A97B9}"/>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18" name="Shape 11">
            <a:extLst>
              <a:ext uri="{FF2B5EF4-FFF2-40B4-BE49-F238E27FC236}">
                <a16:creationId xmlns:a16="http://schemas.microsoft.com/office/drawing/2014/main" xmlns="" id="{4704A2BA-D64B-C75E-5B57-960050596FA8}"/>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19" name="Shape 12">
            <a:extLst>
              <a:ext uri="{FF2B5EF4-FFF2-40B4-BE49-F238E27FC236}">
                <a16:creationId xmlns:a16="http://schemas.microsoft.com/office/drawing/2014/main" xmlns="" id="{F36DB7F0-0C58-C68B-D0DD-9CBB930368BB}"/>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20" name="Shape 13">
            <a:extLst>
              <a:ext uri="{FF2B5EF4-FFF2-40B4-BE49-F238E27FC236}">
                <a16:creationId xmlns:a16="http://schemas.microsoft.com/office/drawing/2014/main" xmlns="" id="{47B07F77-80C9-CFF0-AFAA-76FA0ABA01BB}"/>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21" name="Shape 14">
            <a:extLst>
              <a:ext uri="{FF2B5EF4-FFF2-40B4-BE49-F238E27FC236}">
                <a16:creationId xmlns:a16="http://schemas.microsoft.com/office/drawing/2014/main" xmlns="" id="{F47F3185-6D39-6EFF-FADF-5C90C1B64F04}"/>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22" name="Shape 15">
            <a:extLst>
              <a:ext uri="{FF2B5EF4-FFF2-40B4-BE49-F238E27FC236}">
                <a16:creationId xmlns:a16="http://schemas.microsoft.com/office/drawing/2014/main" xmlns="" id="{8A5361BD-34AA-8504-C463-91085F6E9A8A}"/>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23" name="Shape 16">
            <a:extLst>
              <a:ext uri="{FF2B5EF4-FFF2-40B4-BE49-F238E27FC236}">
                <a16:creationId xmlns:a16="http://schemas.microsoft.com/office/drawing/2014/main" xmlns="" id="{E808E64E-550C-2AD7-B939-56DF6F8B9210}"/>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sp>
        <p:nvSpPr>
          <p:cNvPr id="26" name="Rectangle 25"/>
          <p:cNvSpPr/>
          <p:nvPr/>
        </p:nvSpPr>
        <p:spPr>
          <a:xfrm>
            <a:off x="612648" y="1417320"/>
            <a:ext cx="5394960" cy="38404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2648" y="1417320"/>
            <a:ext cx="5394960" cy="384048"/>
          </a:xfrm>
          <a:prstGeom prst="rect">
            <a:avLst/>
          </a:prstGeom>
          <a:noFill/>
        </p:spPr>
        <p:txBody>
          <a:bodyPr wrap="square">
            <a:spAutoFit/>
          </a:bodyPr>
          <a:lstStyle/>
          <a:p>
            <a:pPr algn="ctr"/>
            <a:r>
              <a:rPr sz="1400" b="1" i="0">
                <a:solidFill>
                  <a:srgbClr val="FFFFFF"/>
                </a:solidFill>
              </a:rPr>
              <a:t>Standard Kalman Filter</a:t>
            </a:r>
          </a:p>
        </p:txBody>
      </p:sp>
      <p:sp>
        <p:nvSpPr>
          <p:cNvPr id="28" name="Rectangle 27"/>
          <p:cNvSpPr/>
          <p:nvPr/>
        </p:nvSpPr>
        <p:spPr>
          <a:xfrm>
            <a:off x="6190488" y="1417320"/>
            <a:ext cx="5394960" cy="384048"/>
          </a:xfrm>
          <a:prstGeom prst="rect">
            <a:avLst/>
          </a:prstGeom>
          <a:solidFill>
            <a:srgbClr val="1B8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90488" y="1417320"/>
            <a:ext cx="5394960" cy="384048"/>
          </a:xfrm>
          <a:prstGeom prst="rect">
            <a:avLst/>
          </a:prstGeom>
          <a:noFill/>
        </p:spPr>
        <p:txBody>
          <a:bodyPr wrap="square">
            <a:spAutoFit/>
          </a:bodyPr>
          <a:lstStyle/>
          <a:p>
            <a:pPr algn="ctr"/>
            <a:r>
              <a:rPr sz="1400" b="1" i="0">
                <a:solidFill>
                  <a:srgbClr val="FFFFFF"/>
                </a:solidFill>
              </a:rPr>
              <a:t>Our Adaptive EKF</a:t>
            </a:r>
          </a:p>
        </p:txBody>
      </p:sp>
      <p:sp>
        <p:nvSpPr>
          <p:cNvPr id="30" name="TextBox 29"/>
          <p:cNvSpPr txBox="1"/>
          <p:nvPr/>
        </p:nvSpPr>
        <p:spPr>
          <a:xfrm>
            <a:off x="704088" y="1920240"/>
            <a:ext cx="5120640" cy="365760"/>
          </a:xfrm>
          <a:prstGeom prst="rect">
            <a:avLst/>
          </a:prstGeom>
          <a:noFill/>
        </p:spPr>
        <p:txBody>
          <a:bodyPr wrap="square">
            <a:spAutoFit/>
          </a:bodyPr>
          <a:lstStyle/>
          <a:p>
            <a:pPr algn="l"/>
            <a:r>
              <a:rPr sz="1300" b="1" i="0">
                <a:solidFill>
                  <a:srgbClr val="C62828"/>
                </a:solidFill>
              </a:rPr>
              <a:t>●  R = fixed (e.g. 9 m²)</a:t>
            </a:r>
          </a:p>
        </p:txBody>
      </p:sp>
      <p:sp>
        <p:nvSpPr>
          <p:cNvPr id="31" name="TextBox 30"/>
          <p:cNvSpPr txBox="1"/>
          <p:nvPr/>
        </p:nvSpPr>
        <p:spPr>
          <a:xfrm>
            <a:off x="704088" y="2350008"/>
            <a:ext cx="5120640" cy="365760"/>
          </a:xfrm>
          <a:prstGeom prst="rect">
            <a:avLst/>
          </a:prstGeom>
          <a:noFill/>
        </p:spPr>
        <p:txBody>
          <a:bodyPr wrap="square">
            <a:spAutoFit/>
          </a:bodyPr>
          <a:lstStyle/>
          <a:p>
            <a:pPr algn="l"/>
            <a:r>
              <a:rPr sz="1300" b="0" i="0">
                <a:solidFill>
                  <a:srgbClr val="333333"/>
                </a:solidFill>
              </a:rPr>
              <a:t>●  Always trusts GNSS equally</a:t>
            </a:r>
          </a:p>
        </p:txBody>
      </p:sp>
      <p:sp>
        <p:nvSpPr>
          <p:cNvPr id="32" name="TextBox 31"/>
          <p:cNvSpPr txBox="1"/>
          <p:nvPr/>
        </p:nvSpPr>
        <p:spPr>
          <a:xfrm>
            <a:off x="704088" y="2779776"/>
            <a:ext cx="5120640" cy="365760"/>
          </a:xfrm>
          <a:prstGeom prst="rect">
            <a:avLst/>
          </a:prstGeom>
          <a:noFill/>
        </p:spPr>
        <p:txBody>
          <a:bodyPr wrap="square">
            <a:spAutoFit/>
          </a:bodyPr>
          <a:lstStyle/>
          <a:p>
            <a:pPr algn="l"/>
            <a:r>
              <a:rPr sz="1300" b="0" i="0">
                <a:solidFill>
                  <a:srgbClr val="333333"/>
                </a:solidFill>
              </a:rPr>
              <a:t>●  Reactive — waits until GNSS fails</a:t>
            </a:r>
          </a:p>
        </p:txBody>
      </p:sp>
      <p:sp>
        <p:nvSpPr>
          <p:cNvPr id="33" name="TextBox 32"/>
          <p:cNvSpPr txBox="1"/>
          <p:nvPr/>
        </p:nvSpPr>
        <p:spPr>
          <a:xfrm>
            <a:off x="704088" y="3209544"/>
            <a:ext cx="5120640" cy="365760"/>
          </a:xfrm>
          <a:prstGeom prst="rect">
            <a:avLst/>
          </a:prstGeom>
          <a:noFill/>
        </p:spPr>
        <p:txBody>
          <a:bodyPr wrap="square">
            <a:spAutoFit/>
          </a:bodyPr>
          <a:lstStyle/>
          <a:p>
            <a:pPr algn="l"/>
            <a:r>
              <a:rPr sz="1300" b="0" i="0">
                <a:solidFill>
                  <a:srgbClr val="333333"/>
                </a:solidFill>
              </a:rPr>
              <a:t>●  Position jumps during blockage</a:t>
            </a:r>
          </a:p>
        </p:txBody>
      </p:sp>
      <p:sp>
        <p:nvSpPr>
          <p:cNvPr id="34" name="TextBox 33"/>
          <p:cNvSpPr txBox="1"/>
          <p:nvPr/>
        </p:nvSpPr>
        <p:spPr>
          <a:xfrm>
            <a:off x="704088" y="3639311"/>
            <a:ext cx="5120640" cy="365760"/>
          </a:xfrm>
          <a:prstGeom prst="rect">
            <a:avLst/>
          </a:prstGeom>
          <a:noFill/>
        </p:spPr>
        <p:txBody>
          <a:bodyPr wrap="square">
            <a:spAutoFit/>
          </a:bodyPr>
          <a:lstStyle/>
          <a:p>
            <a:pPr algn="l"/>
            <a:r>
              <a:rPr sz="1300" b="0" i="0">
                <a:solidFill>
                  <a:srgbClr val="333333"/>
                </a:solidFill>
              </a:rPr>
              <a:t>●  No advance warning used</a:t>
            </a:r>
          </a:p>
        </p:txBody>
      </p:sp>
      <p:sp>
        <p:nvSpPr>
          <p:cNvPr id="35" name="TextBox 34"/>
          <p:cNvSpPr txBox="1"/>
          <p:nvPr/>
        </p:nvSpPr>
        <p:spPr>
          <a:xfrm>
            <a:off x="6281928" y="1920240"/>
            <a:ext cx="5212080" cy="365760"/>
          </a:xfrm>
          <a:prstGeom prst="rect">
            <a:avLst/>
          </a:prstGeom>
          <a:noFill/>
        </p:spPr>
        <p:txBody>
          <a:bodyPr wrap="square">
            <a:spAutoFit/>
          </a:bodyPr>
          <a:lstStyle/>
          <a:p>
            <a:pPr algn="l"/>
            <a:r>
              <a:rPr sz="1300" b="1" i="0">
                <a:solidFill>
                  <a:srgbClr val="1B873A"/>
                </a:solidFill>
              </a:rPr>
              <a:t>✔  R(t) grows with P̂(DEGRADED)</a:t>
            </a:r>
          </a:p>
        </p:txBody>
      </p:sp>
      <p:sp>
        <p:nvSpPr>
          <p:cNvPr id="36" name="TextBox 35"/>
          <p:cNvSpPr txBox="1"/>
          <p:nvPr/>
        </p:nvSpPr>
        <p:spPr>
          <a:xfrm>
            <a:off x="6281928" y="2350008"/>
            <a:ext cx="5212080" cy="365760"/>
          </a:xfrm>
          <a:prstGeom prst="rect">
            <a:avLst/>
          </a:prstGeom>
          <a:noFill/>
        </p:spPr>
        <p:txBody>
          <a:bodyPr wrap="square">
            <a:spAutoFit/>
          </a:bodyPr>
          <a:lstStyle/>
          <a:p>
            <a:pPr algn="l"/>
            <a:r>
              <a:rPr sz="1300" b="0" i="0">
                <a:solidFill>
                  <a:srgbClr val="0A1733"/>
                </a:solidFill>
              </a:rPr>
              <a:t>✔  Pre-emptively distrusts GNSS</a:t>
            </a:r>
          </a:p>
        </p:txBody>
      </p:sp>
      <p:sp>
        <p:nvSpPr>
          <p:cNvPr id="37" name="TextBox 36"/>
          <p:cNvSpPr txBox="1"/>
          <p:nvPr/>
        </p:nvSpPr>
        <p:spPr>
          <a:xfrm>
            <a:off x="6281928" y="2779776"/>
            <a:ext cx="5212080" cy="365760"/>
          </a:xfrm>
          <a:prstGeom prst="rect">
            <a:avLst/>
          </a:prstGeom>
          <a:noFill/>
        </p:spPr>
        <p:txBody>
          <a:bodyPr wrap="square">
            <a:spAutoFit/>
          </a:bodyPr>
          <a:lstStyle/>
          <a:p>
            <a:pPr algn="l"/>
            <a:r>
              <a:rPr sz="1300" b="0" i="0">
                <a:solidFill>
                  <a:srgbClr val="0A1733"/>
                </a:solidFill>
              </a:rPr>
              <a:t>✔  Shifts to dead-reckoning before failure</a:t>
            </a:r>
          </a:p>
        </p:txBody>
      </p:sp>
      <p:sp>
        <p:nvSpPr>
          <p:cNvPr id="38" name="TextBox 37"/>
          <p:cNvSpPr txBox="1"/>
          <p:nvPr/>
        </p:nvSpPr>
        <p:spPr>
          <a:xfrm>
            <a:off x="6281928" y="3209544"/>
            <a:ext cx="5212080" cy="365760"/>
          </a:xfrm>
          <a:prstGeom prst="rect">
            <a:avLst/>
          </a:prstGeom>
          <a:noFill/>
        </p:spPr>
        <p:txBody>
          <a:bodyPr wrap="square">
            <a:spAutoFit/>
          </a:bodyPr>
          <a:lstStyle/>
          <a:p>
            <a:pPr algn="l"/>
            <a:r>
              <a:rPr sz="1300" b="0" i="0">
                <a:solidFill>
                  <a:srgbClr val="0A1733"/>
                </a:solidFill>
              </a:rPr>
              <a:t>✔  Smooth handoff during blockage</a:t>
            </a:r>
          </a:p>
        </p:txBody>
      </p:sp>
      <p:sp>
        <p:nvSpPr>
          <p:cNvPr id="39" name="TextBox 38"/>
          <p:cNvSpPr txBox="1"/>
          <p:nvPr/>
        </p:nvSpPr>
        <p:spPr>
          <a:xfrm>
            <a:off x="6281928" y="3639311"/>
            <a:ext cx="5212080" cy="365760"/>
          </a:xfrm>
          <a:prstGeom prst="rect">
            <a:avLst/>
          </a:prstGeom>
          <a:noFill/>
        </p:spPr>
        <p:txBody>
          <a:bodyPr wrap="square">
            <a:spAutoFit/>
          </a:bodyPr>
          <a:lstStyle/>
          <a:p>
            <a:pPr algn="l"/>
            <a:r>
              <a:rPr sz="1300" b="0" i="0">
                <a:solidFill>
                  <a:srgbClr val="0A1733"/>
                </a:solidFill>
              </a:rPr>
              <a:t>✔  5 s early warning from SENTINEL</a:t>
            </a:r>
          </a:p>
        </p:txBody>
      </p:sp>
      <p:sp>
        <p:nvSpPr>
          <p:cNvPr id="40" name="Rectangle 39"/>
          <p:cNvSpPr/>
          <p:nvPr/>
        </p:nvSpPr>
        <p:spPr>
          <a:xfrm>
            <a:off x="6035040" y="1417320"/>
            <a:ext cx="45720" cy="2743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12648" y="5897880"/>
            <a:ext cx="10972800" cy="530352"/>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04088" y="5897880"/>
            <a:ext cx="10789920" cy="530352"/>
          </a:xfrm>
          <a:prstGeom prst="rect">
            <a:avLst/>
          </a:prstGeom>
          <a:noFill/>
        </p:spPr>
        <p:txBody>
          <a:bodyPr wrap="square">
            <a:spAutoFit/>
          </a:bodyPr>
          <a:lstStyle/>
          <a:p>
            <a:pPr algn="ctr"/>
            <a:r>
              <a:rPr sz="1400" b="1" i="0">
                <a:solidFill>
                  <a:srgbClr val="FFFFFF"/>
                </a:solidFill>
              </a:rPr>
              <a:t>“Prediction closes the loop: we don’t wait for GNSS to fail — we pre-empt it”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0" descr="preencoded.png">
            <a:extLst>
              <a:ext uri="{FF2B5EF4-FFF2-40B4-BE49-F238E27FC236}">
                <a16:creationId xmlns:a16="http://schemas.microsoft.com/office/drawing/2014/main" xmlns="" id="{AA02EC1D-6D6B-B58B-E0F0-F0DFA09B1E28}"/>
              </a:ext>
            </a:extLst>
          </p:cNvPr>
          <p:cNvPicPr>
            <a:picLocks noChangeAspect="1"/>
          </p:cNvPicPr>
          <p:nvPr/>
        </p:nvPicPr>
        <p:blipFill>
          <a:blip r:embed="rId2"/>
          <a:stretch>
            <a:fillRect/>
          </a:stretch>
        </p:blipFill>
        <p:spPr>
          <a:xfrm>
            <a:off x="-24670" y="-16099"/>
            <a:ext cx="12192000" cy="6858000"/>
          </a:xfrm>
          <a:prstGeom prst="rect">
            <a:avLst/>
          </a:prstGeom>
        </p:spPr>
      </p:pic>
      <p:sp>
        <p:nvSpPr>
          <p:cNvPr id="16" name="Shape 2">
            <a:extLst>
              <a:ext uri="{FF2B5EF4-FFF2-40B4-BE49-F238E27FC236}">
                <a16:creationId xmlns:a16="http://schemas.microsoft.com/office/drawing/2014/main" xmlns="" id="{2921CB2B-769F-3F74-935D-F9618768899A}"/>
              </a:ext>
            </a:extLst>
          </p:cNvPr>
          <p:cNvSpPr/>
          <p:nvPr/>
        </p:nvSpPr>
        <p:spPr>
          <a:xfrm>
            <a:off x="-10160" y="6699357"/>
            <a:ext cx="12192000" cy="211137"/>
          </a:xfrm>
          <a:prstGeom prst="rect">
            <a:avLst/>
          </a:prstGeom>
          <a:solidFill>
            <a:srgbClr val="003893"/>
          </a:solidFill>
          <a:ln w="12700">
            <a:solidFill>
              <a:srgbClr val="003893"/>
            </a:solidFill>
            <a:prstDash val="solid"/>
          </a:ln>
        </p:spPr>
      </p:sp>
      <p:sp>
        <p:nvSpPr>
          <p:cNvPr id="17" name="Shape 3">
            <a:extLst>
              <a:ext uri="{FF2B5EF4-FFF2-40B4-BE49-F238E27FC236}">
                <a16:creationId xmlns:a16="http://schemas.microsoft.com/office/drawing/2014/main" xmlns="" id="{20CAB1B0-6C3C-C4F0-9C89-03EDC6F49C8F}"/>
              </a:ext>
            </a:extLst>
          </p:cNvPr>
          <p:cNvSpPr/>
          <p:nvPr/>
        </p:nvSpPr>
        <p:spPr>
          <a:xfrm>
            <a:off x="-10160" y="6676172"/>
            <a:ext cx="12192000" cy="30480"/>
          </a:xfrm>
          <a:prstGeom prst="rect">
            <a:avLst/>
          </a:prstGeom>
          <a:solidFill>
            <a:srgbClr val="4FC3F7"/>
          </a:solidFill>
          <a:ln w="12700">
            <a:solidFill>
              <a:srgbClr val="4FC3F7"/>
            </a:solidFill>
            <a:prstDash val="solid"/>
          </a:ln>
        </p:spPr>
      </p:sp>
      <p:sp>
        <p:nvSpPr>
          <p:cNvPr id="19" name="Shape 5">
            <a:extLst>
              <a:ext uri="{FF2B5EF4-FFF2-40B4-BE49-F238E27FC236}">
                <a16:creationId xmlns:a16="http://schemas.microsoft.com/office/drawing/2014/main" xmlns="" id="{8872508D-6A3F-2D35-A7F6-C07ADDC68FE9}"/>
              </a:ext>
            </a:extLst>
          </p:cNvPr>
          <p:cNvSpPr/>
          <p:nvPr/>
        </p:nvSpPr>
        <p:spPr>
          <a:xfrm>
            <a:off x="11049001" y="335282"/>
            <a:ext cx="51207" cy="51207"/>
          </a:xfrm>
          <a:prstGeom prst="ellipse">
            <a:avLst/>
          </a:prstGeom>
          <a:solidFill>
            <a:srgbClr val="FFFFFF">
              <a:alpha val="35000"/>
            </a:srgbClr>
          </a:solidFill>
          <a:ln w="12700">
            <a:solidFill>
              <a:srgbClr val="FFFFFF"/>
            </a:solidFill>
            <a:prstDash val="solid"/>
          </a:ln>
        </p:spPr>
      </p:sp>
      <p:sp>
        <p:nvSpPr>
          <p:cNvPr id="20" name="Shape 6">
            <a:extLst>
              <a:ext uri="{FF2B5EF4-FFF2-40B4-BE49-F238E27FC236}">
                <a16:creationId xmlns:a16="http://schemas.microsoft.com/office/drawing/2014/main" xmlns="" id="{75A50ADA-8B46-180C-0D2C-4E0AD2D16051}"/>
              </a:ext>
            </a:extLst>
          </p:cNvPr>
          <p:cNvSpPr/>
          <p:nvPr/>
        </p:nvSpPr>
        <p:spPr>
          <a:xfrm>
            <a:off x="11268457" y="335282"/>
            <a:ext cx="51207" cy="51207"/>
          </a:xfrm>
          <a:prstGeom prst="ellipse">
            <a:avLst/>
          </a:prstGeom>
          <a:solidFill>
            <a:srgbClr val="FFFFFF">
              <a:alpha val="35000"/>
            </a:srgbClr>
          </a:solidFill>
          <a:ln w="12700">
            <a:solidFill>
              <a:srgbClr val="FFFFFF"/>
            </a:solidFill>
            <a:prstDash val="solid"/>
          </a:ln>
        </p:spPr>
      </p:sp>
      <p:sp>
        <p:nvSpPr>
          <p:cNvPr id="21" name="Shape 7">
            <a:extLst>
              <a:ext uri="{FF2B5EF4-FFF2-40B4-BE49-F238E27FC236}">
                <a16:creationId xmlns:a16="http://schemas.microsoft.com/office/drawing/2014/main" xmlns="" id="{AA1D791E-6EA7-523C-9308-59F4E8645EE5}"/>
              </a:ext>
            </a:extLst>
          </p:cNvPr>
          <p:cNvSpPr/>
          <p:nvPr/>
        </p:nvSpPr>
        <p:spPr>
          <a:xfrm>
            <a:off x="11487913" y="335282"/>
            <a:ext cx="51207" cy="51207"/>
          </a:xfrm>
          <a:prstGeom prst="ellipse">
            <a:avLst/>
          </a:prstGeom>
          <a:solidFill>
            <a:srgbClr val="FFFFFF">
              <a:alpha val="35000"/>
            </a:srgbClr>
          </a:solidFill>
          <a:ln w="12700">
            <a:solidFill>
              <a:srgbClr val="FFFFFF"/>
            </a:solidFill>
            <a:prstDash val="solid"/>
          </a:ln>
        </p:spPr>
      </p:sp>
      <p:sp>
        <p:nvSpPr>
          <p:cNvPr id="22" name="Shape 8">
            <a:extLst>
              <a:ext uri="{FF2B5EF4-FFF2-40B4-BE49-F238E27FC236}">
                <a16:creationId xmlns:a16="http://schemas.microsoft.com/office/drawing/2014/main" xmlns="" id="{5AFF812F-BFB4-15A7-DE8F-D84BC2E19CB6}"/>
              </a:ext>
            </a:extLst>
          </p:cNvPr>
          <p:cNvSpPr/>
          <p:nvPr/>
        </p:nvSpPr>
        <p:spPr>
          <a:xfrm>
            <a:off x="11707369" y="335282"/>
            <a:ext cx="51207" cy="51207"/>
          </a:xfrm>
          <a:prstGeom prst="ellipse">
            <a:avLst/>
          </a:prstGeom>
          <a:solidFill>
            <a:srgbClr val="FFFFFF">
              <a:alpha val="35000"/>
            </a:srgbClr>
          </a:solidFill>
          <a:ln w="12700">
            <a:solidFill>
              <a:srgbClr val="FFFFFF"/>
            </a:solidFill>
            <a:prstDash val="solid"/>
          </a:ln>
        </p:spPr>
      </p:sp>
      <p:sp>
        <p:nvSpPr>
          <p:cNvPr id="23" name="Shape 9">
            <a:extLst>
              <a:ext uri="{FF2B5EF4-FFF2-40B4-BE49-F238E27FC236}">
                <a16:creationId xmlns:a16="http://schemas.microsoft.com/office/drawing/2014/main" xmlns="" id="{FEC3A0EE-7C16-E653-628A-BE5C591ED646}"/>
              </a:ext>
            </a:extLst>
          </p:cNvPr>
          <p:cNvSpPr/>
          <p:nvPr/>
        </p:nvSpPr>
        <p:spPr>
          <a:xfrm>
            <a:off x="11049001" y="505970"/>
            <a:ext cx="51207" cy="51207"/>
          </a:xfrm>
          <a:prstGeom prst="ellipse">
            <a:avLst/>
          </a:prstGeom>
          <a:solidFill>
            <a:srgbClr val="FFFFFF">
              <a:alpha val="35000"/>
            </a:srgbClr>
          </a:solidFill>
          <a:ln w="12700">
            <a:solidFill>
              <a:srgbClr val="FFFFFF"/>
            </a:solidFill>
            <a:prstDash val="solid"/>
          </a:ln>
        </p:spPr>
      </p:sp>
      <p:sp>
        <p:nvSpPr>
          <p:cNvPr id="24" name="Shape 10">
            <a:extLst>
              <a:ext uri="{FF2B5EF4-FFF2-40B4-BE49-F238E27FC236}">
                <a16:creationId xmlns:a16="http://schemas.microsoft.com/office/drawing/2014/main" xmlns="" id="{F3D5177C-7A3A-3184-4D2C-86D8D6B0541F}"/>
              </a:ext>
            </a:extLst>
          </p:cNvPr>
          <p:cNvSpPr/>
          <p:nvPr/>
        </p:nvSpPr>
        <p:spPr>
          <a:xfrm>
            <a:off x="11268457" y="505970"/>
            <a:ext cx="51207" cy="51207"/>
          </a:xfrm>
          <a:prstGeom prst="ellipse">
            <a:avLst/>
          </a:prstGeom>
          <a:solidFill>
            <a:srgbClr val="FFFFFF">
              <a:alpha val="35000"/>
            </a:srgbClr>
          </a:solidFill>
          <a:ln w="12700">
            <a:solidFill>
              <a:srgbClr val="FFFFFF"/>
            </a:solidFill>
            <a:prstDash val="solid"/>
          </a:ln>
        </p:spPr>
      </p:sp>
      <p:sp>
        <p:nvSpPr>
          <p:cNvPr id="25" name="Shape 11">
            <a:extLst>
              <a:ext uri="{FF2B5EF4-FFF2-40B4-BE49-F238E27FC236}">
                <a16:creationId xmlns:a16="http://schemas.microsoft.com/office/drawing/2014/main" xmlns="" id="{2327092D-B802-8361-2993-C84DB5DC8BAB}"/>
              </a:ext>
            </a:extLst>
          </p:cNvPr>
          <p:cNvSpPr/>
          <p:nvPr/>
        </p:nvSpPr>
        <p:spPr>
          <a:xfrm>
            <a:off x="11487913" y="505970"/>
            <a:ext cx="51207" cy="51207"/>
          </a:xfrm>
          <a:prstGeom prst="ellipse">
            <a:avLst/>
          </a:prstGeom>
          <a:solidFill>
            <a:srgbClr val="FFFFFF">
              <a:alpha val="35000"/>
            </a:srgbClr>
          </a:solidFill>
          <a:ln w="12700">
            <a:solidFill>
              <a:srgbClr val="FFFFFF"/>
            </a:solidFill>
            <a:prstDash val="solid"/>
          </a:ln>
        </p:spPr>
      </p:sp>
      <p:sp>
        <p:nvSpPr>
          <p:cNvPr id="26" name="Shape 12">
            <a:extLst>
              <a:ext uri="{FF2B5EF4-FFF2-40B4-BE49-F238E27FC236}">
                <a16:creationId xmlns:a16="http://schemas.microsoft.com/office/drawing/2014/main" xmlns="" id="{3B110EB0-2F04-D604-DCBB-DD4B2EA50A16}"/>
              </a:ext>
            </a:extLst>
          </p:cNvPr>
          <p:cNvSpPr/>
          <p:nvPr/>
        </p:nvSpPr>
        <p:spPr>
          <a:xfrm>
            <a:off x="11707369" y="505970"/>
            <a:ext cx="51207" cy="51207"/>
          </a:xfrm>
          <a:prstGeom prst="ellipse">
            <a:avLst/>
          </a:prstGeom>
          <a:solidFill>
            <a:srgbClr val="FFFFFF">
              <a:alpha val="35000"/>
            </a:srgbClr>
          </a:solidFill>
          <a:ln w="12700">
            <a:solidFill>
              <a:srgbClr val="FFFFFF"/>
            </a:solidFill>
            <a:prstDash val="solid"/>
          </a:ln>
        </p:spPr>
      </p:sp>
      <p:sp>
        <p:nvSpPr>
          <p:cNvPr id="29" name="Shape 15">
            <a:extLst>
              <a:ext uri="{FF2B5EF4-FFF2-40B4-BE49-F238E27FC236}">
                <a16:creationId xmlns:a16="http://schemas.microsoft.com/office/drawing/2014/main" xmlns="" id="{EFD109DE-75FC-4B9E-FB66-813B40677D4B}"/>
              </a:ext>
            </a:extLst>
          </p:cNvPr>
          <p:cNvSpPr/>
          <p:nvPr/>
        </p:nvSpPr>
        <p:spPr>
          <a:xfrm>
            <a:off x="11487913" y="676658"/>
            <a:ext cx="51207" cy="51207"/>
          </a:xfrm>
          <a:prstGeom prst="ellipse">
            <a:avLst/>
          </a:prstGeom>
          <a:solidFill>
            <a:srgbClr val="FFFFFF">
              <a:alpha val="35000"/>
            </a:srgbClr>
          </a:solidFill>
          <a:ln w="12700">
            <a:solidFill>
              <a:srgbClr val="FFFFFF"/>
            </a:solidFill>
            <a:prstDash val="solid"/>
          </a:ln>
        </p:spPr>
      </p:sp>
      <p:sp>
        <p:nvSpPr>
          <p:cNvPr id="30" name="Shape 16">
            <a:extLst>
              <a:ext uri="{FF2B5EF4-FFF2-40B4-BE49-F238E27FC236}">
                <a16:creationId xmlns:a16="http://schemas.microsoft.com/office/drawing/2014/main" xmlns="" id="{0BFBBE2E-F646-1A9B-BB1A-47429AC24A32}"/>
              </a:ext>
            </a:extLst>
          </p:cNvPr>
          <p:cNvSpPr/>
          <p:nvPr/>
        </p:nvSpPr>
        <p:spPr>
          <a:xfrm>
            <a:off x="11707369" y="676658"/>
            <a:ext cx="51207" cy="51207"/>
          </a:xfrm>
          <a:prstGeom prst="ellipse">
            <a:avLst/>
          </a:prstGeom>
          <a:solidFill>
            <a:srgbClr val="FFFFFF">
              <a:alpha val="35000"/>
            </a:srgbClr>
          </a:solidFill>
          <a:ln w="12700">
            <a:solidFill>
              <a:srgbClr val="FFFFFF"/>
            </a:solidFill>
            <a:prstDash val="solid"/>
          </a:ln>
        </p:spPr>
      </p:sp>
      <p:sp>
        <p:nvSpPr>
          <p:cNvPr id="34" name="Shape 0">
            <a:extLst>
              <a:ext uri="{FF2B5EF4-FFF2-40B4-BE49-F238E27FC236}">
                <a16:creationId xmlns:a16="http://schemas.microsoft.com/office/drawing/2014/main" xmlns="" id="{6A085C19-ECB2-796C-4D82-84518630DA34}"/>
              </a:ext>
            </a:extLst>
          </p:cNvPr>
          <p:cNvSpPr/>
          <p:nvPr/>
        </p:nvSpPr>
        <p:spPr>
          <a:xfrm>
            <a:off x="-10160" y="-16099"/>
            <a:ext cx="12192000" cy="740408"/>
          </a:xfrm>
          <a:prstGeom prst="rect">
            <a:avLst/>
          </a:prstGeom>
          <a:solidFill>
            <a:srgbClr val="003893"/>
          </a:solidFill>
          <a:ln w="12700">
            <a:solidFill>
              <a:srgbClr val="003893"/>
            </a:solidFill>
            <a:prstDash val="solid"/>
          </a:ln>
        </p:spPr>
      </p:sp>
      <p:sp>
        <p:nvSpPr>
          <p:cNvPr id="35" name="Shape 1">
            <a:extLst>
              <a:ext uri="{FF2B5EF4-FFF2-40B4-BE49-F238E27FC236}">
                <a16:creationId xmlns:a16="http://schemas.microsoft.com/office/drawing/2014/main" xmlns="" id="{A420F378-6A25-0902-E37E-7FB2106FC1AE}"/>
              </a:ext>
            </a:extLst>
          </p:cNvPr>
          <p:cNvSpPr/>
          <p:nvPr/>
        </p:nvSpPr>
        <p:spPr>
          <a:xfrm>
            <a:off x="-10160" y="684313"/>
            <a:ext cx="12192000" cy="36576"/>
          </a:xfrm>
          <a:prstGeom prst="rect">
            <a:avLst/>
          </a:prstGeom>
          <a:solidFill>
            <a:srgbClr val="4FC3F7"/>
          </a:solidFill>
          <a:ln w="12700">
            <a:solidFill>
              <a:srgbClr val="4FC3F7"/>
            </a:solidFill>
            <a:prstDash val="solid"/>
          </a:ln>
        </p:spPr>
      </p:sp>
      <p:sp>
        <p:nvSpPr>
          <p:cNvPr id="36" name="Shape 2">
            <a:extLst>
              <a:ext uri="{FF2B5EF4-FFF2-40B4-BE49-F238E27FC236}">
                <a16:creationId xmlns:a16="http://schemas.microsoft.com/office/drawing/2014/main" xmlns="" id="{73DD1A46-428E-1E67-823A-792AA17C5B1C}"/>
              </a:ext>
            </a:extLst>
          </p:cNvPr>
          <p:cNvSpPr/>
          <p:nvPr/>
        </p:nvSpPr>
        <p:spPr>
          <a:xfrm>
            <a:off x="-416471" y="7859050"/>
            <a:ext cx="12192000" cy="211137"/>
          </a:xfrm>
          <a:prstGeom prst="rect">
            <a:avLst/>
          </a:prstGeom>
          <a:solidFill>
            <a:srgbClr val="003893"/>
          </a:solidFill>
          <a:ln w="12700">
            <a:solidFill>
              <a:srgbClr val="003893"/>
            </a:solidFill>
            <a:prstDash val="solid"/>
          </a:ln>
        </p:spPr>
      </p:sp>
      <p:sp>
        <p:nvSpPr>
          <p:cNvPr id="37" name="Shape 3">
            <a:extLst>
              <a:ext uri="{FF2B5EF4-FFF2-40B4-BE49-F238E27FC236}">
                <a16:creationId xmlns:a16="http://schemas.microsoft.com/office/drawing/2014/main" xmlns="" id="{38F4EE94-1775-C6AD-68DA-BC5466037C84}"/>
              </a:ext>
            </a:extLst>
          </p:cNvPr>
          <p:cNvSpPr/>
          <p:nvPr/>
        </p:nvSpPr>
        <p:spPr>
          <a:xfrm>
            <a:off x="-416471" y="7835865"/>
            <a:ext cx="12192000" cy="30480"/>
          </a:xfrm>
          <a:prstGeom prst="rect">
            <a:avLst/>
          </a:prstGeom>
          <a:solidFill>
            <a:srgbClr val="4FC3F7"/>
          </a:solidFill>
          <a:ln w="12700">
            <a:solidFill>
              <a:srgbClr val="4FC3F7"/>
            </a:solidFill>
            <a:prstDash val="solid"/>
          </a:ln>
        </p:spPr>
      </p:sp>
      <p:sp>
        <p:nvSpPr>
          <p:cNvPr id="38" name="Shape 4">
            <a:extLst>
              <a:ext uri="{FF2B5EF4-FFF2-40B4-BE49-F238E27FC236}">
                <a16:creationId xmlns:a16="http://schemas.microsoft.com/office/drawing/2014/main" xmlns="" id="{38543411-EE5A-26D8-F7BA-7563A90DA2A4}"/>
              </a:ext>
            </a:extLst>
          </p:cNvPr>
          <p:cNvSpPr/>
          <p:nvPr/>
        </p:nvSpPr>
        <p:spPr>
          <a:xfrm>
            <a:off x="-10160" y="-42652"/>
            <a:ext cx="1128763" cy="767311"/>
          </a:xfrm>
          <a:prstGeom prst="homePlate">
            <a:avLst/>
          </a:prstGeom>
          <a:solidFill>
            <a:srgbClr val="FFFFFF"/>
          </a:solidFill>
          <a:ln w="6350">
            <a:solidFill>
              <a:srgbClr val="CCCCCC"/>
            </a:solidFill>
            <a:prstDash val="solid"/>
          </a:ln>
        </p:spPr>
      </p:sp>
      <p:sp>
        <p:nvSpPr>
          <p:cNvPr id="39" name="Shape 5">
            <a:extLst>
              <a:ext uri="{FF2B5EF4-FFF2-40B4-BE49-F238E27FC236}">
                <a16:creationId xmlns:a16="http://schemas.microsoft.com/office/drawing/2014/main" xmlns="" id="{9614D7F0-7ED1-E89D-8CB7-193F22809D36}"/>
              </a:ext>
            </a:extLst>
          </p:cNvPr>
          <p:cNvSpPr/>
          <p:nvPr/>
        </p:nvSpPr>
        <p:spPr>
          <a:xfrm>
            <a:off x="10312490" y="148774"/>
            <a:ext cx="51207" cy="51207"/>
          </a:xfrm>
          <a:prstGeom prst="ellipse">
            <a:avLst/>
          </a:prstGeom>
          <a:solidFill>
            <a:srgbClr val="FFFFFF">
              <a:alpha val="35000"/>
            </a:srgbClr>
          </a:solidFill>
          <a:ln w="12700">
            <a:solidFill>
              <a:srgbClr val="FFFFFF"/>
            </a:solidFill>
            <a:prstDash val="solid"/>
          </a:ln>
        </p:spPr>
      </p:sp>
      <p:sp>
        <p:nvSpPr>
          <p:cNvPr id="40" name="Shape 6">
            <a:extLst>
              <a:ext uri="{FF2B5EF4-FFF2-40B4-BE49-F238E27FC236}">
                <a16:creationId xmlns:a16="http://schemas.microsoft.com/office/drawing/2014/main" xmlns="" id="{31C5FC57-2948-B0A0-BDD3-8C295E5B919A}"/>
              </a:ext>
            </a:extLst>
          </p:cNvPr>
          <p:cNvSpPr/>
          <p:nvPr/>
        </p:nvSpPr>
        <p:spPr>
          <a:xfrm>
            <a:off x="10531946" y="148774"/>
            <a:ext cx="51207" cy="51207"/>
          </a:xfrm>
          <a:prstGeom prst="ellipse">
            <a:avLst/>
          </a:prstGeom>
          <a:solidFill>
            <a:srgbClr val="FFFFFF">
              <a:alpha val="35000"/>
            </a:srgbClr>
          </a:solidFill>
          <a:ln w="12700">
            <a:solidFill>
              <a:srgbClr val="FFFFFF"/>
            </a:solidFill>
            <a:prstDash val="solid"/>
          </a:ln>
        </p:spPr>
      </p:sp>
      <p:sp>
        <p:nvSpPr>
          <p:cNvPr id="41" name="Shape 7">
            <a:extLst>
              <a:ext uri="{FF2B5EF4-FFF2-40B4-BE49-F238E27FC236}">
                <a16:creationId xmlns:a16="http://schemas.microsoft.com/office/drawing/2014/main" xmlns="" id="{9477E42D-4449-D8CF-FB58-82C0D674561A}"/>
              </a:ext>
            </a:extLst>
          </p:cNvPr>
          <p:cNvSpPr/>
          <p:nvPr/>
        </p:nvSpPr>
        <p:spPr>
          <a:xfrm>
            <a:off x="10751402" y="148774"/>
            <a:ext cx="51207" cy="51207"/>
          </a:xfrm>
          <a:prstGeom prst="ellipse">
            <a:avLst/>
          </a:prstGeom>
          <a:solidFill>
            <a:srgbClr val="FFFFFF">
              <a:alpha val="35000"/>
            </a:srgbClr>
          </a:solidFill>
          <a:ln w="12700">
            <a:solidFill>
              <a:srgbClr val="FFFFFF"/>
            </a:solidFill>
            <a:prstDash val="solid"/>
          </a:ln>
        </p:spPr>
      </p:sp>
      <p:sp>
        <p:nvSpPr>
          <p:cNvPr id="42" name="Shape 8">
            <a:extLst>
              <a:ext uri="{FF2B5EF4-FFF2-40B4-BE49-F238E27FC236}">
                <a16:creationId xmlns:a16="http://schemas.microsoft.com/office/drawing/2014/main" xmlns="" id="{B028FACA-81FF-C91C-083C-E2EE75EDF48F}"/>
              </a:ext>
            </a:extLst>
          </p:cNvPr>
          <p:cNvSpPr/>
          <p:nvPr/>
        </p:nvSpPr>
        <p:spPr>
          <a:xfrm>
            <a:off x="10970858" y="148774"/>
            <a:ext cx="51207" cy="51207"/>
          </a:xfrm>
          <a:prstGeom prst="ellipse">
            <a:avLst/>
          </a:prstGeom>
          <a:solidFill>
            <a:srgbClr val="FFFFFF">
              <a:alpha val="35000"/>
            </a:srgbClr>
          </a:solidFill>
          <a:ln w="12700">
            <a:solidFill>
              <a:srgbClr val="FFFFFF"/>
            </a:solidFill>
            <a:prstDash val="solid"/>
          </a:ln>
        </p:spPr>
      </p:sp>
      <p:sp>
        <p:nvSpPr>
          <p:cNvPr id="43" name="Shape 9">
            <a:extLst>
              <a:ext uri="{FF2B5EF4-FFF2-40B4-BE49-F238E27FC236}">
                <a16:creationId xmlns:a16="http://schemas.microsoft.com/office/drawing/2014/main" xmlns="" id="{33E7CDD6-B0D6-B830-355B-A6344B84EF1F}"/>
              </a:ext>
            </a:extLst>
          </p:cNvPr>
          <p:cNvSpPr/>
          <p:nvPr/>
        </p:nvSpPr>
        <p:spPr>
          <a:xfrm>
            <a:off x="10312490" y="319462"/>
            <a:ext cx="51207" cy="51207"/>
          </a:xfrm>
          <a:prstGeom prst="ellipse">
            <a:avLst/>
          </a:prstGeom>
          <a:solidFill>
            <a:srgbClr val="FFFFFF">
              <a:alpha val="35000"/>
            </a:srgbClr>
          </a:solidFill>
          <a:ln w="12700">
            <a:solidFill>
              <a:srgbClr val="FFFFFF"/>
            </a:solidFill>
            <a:prstDash val="solid"/>
          </a:ln>
        </p:spPr>
      </p:sp>
      <p:sp>
        <p:nvSpPr>
          <p:cNvPr id="44" name="Shape 10">
            <a:extLst>
              <a:ext uri="{FF2B5EF4-FFF2-40B4-BE49-F238E27FC236}">
                <a16:creationId xmlns:a16="http://schemas.microsoft.com/office/drawing/2014/main" xmlns="" id="{66AF2529-8FF3-A3CE-3B55-CE7132CB5020}"/>
              </a:ext>
            </a:extLst>
          </p:cNvPr>
          <p:cNvSpPr/>
          <p:nvPr/>
        </p:nvSpPr>
        <p:spPr>
          <a:xfrm>
            <a:off x="10531946" y="319462"/>
            <a:ext cx="51207" cy="51207"/>
          </a:xfrm>
          <a:prstGeom prst="ellipse">
            <a:avLst/>
          </a:prstGeom>
          <a:solidFill>
            <a:srgbClr val="FFFFFF">
              <a:alpha val="35000"/>
            </a:srgbClr>
          </a:solidFill>
          <a:ln w="12700">
            <a:solidFill>
              <a:srgbClr val="FFFFFF"/>
            </a:solidFill>
            <a:prstDash val="solid"/>
          </a:ln>
        </p:spPr>
      </p:sp>
      <p:sp>
        <p:nvSpPr>
          <p:cNvPr id="45" name="Shape 11">
            <a:extLst>
              <a:ext uri="{FF2B5EF4-FFF2-40B4-BE49-F238E27FC236}">
                <a16:creationId xmlns:a16="http://schemas.microsoft.com/office/drawing/2014/main" xmlns="" id="{7F8D144D-D2A0-E82A-F8F0-82FF6882325B}"/>
              </a:ext>
            </a:extLst>
          </p:cNvPr>
          <p:cNvSpPr/>
          <p:nvPr/>
        </p:nvSpPr>
        <p:spPr>
          <a:xfrm>
            <a:off x="10751402" y="319462"/>
            <a:ext cx="51207" cy="51207"/>
          </a:xfrm>
          <a:prstGeom prst="ellipse">
            <a:avLst/>
          </a:prstGeom>
          <a:solidFill>
            <a:srgbClr val="FFFFFF">
              <a:alpha val="35000"/>
            </a:srgbClr>
          </a:solidFill>
          <a:ln w="12700">
            <a:solidFill>
              <a:srgbClr val="FFFFFF"/>
            </a:solidFill>
            <a:prstDash val="solid"/>
          </a:ln>
        </p:spPr>
      </p:sp>
      <p:sp>
        <p:nvSpPr>
          <p:cNvPr id="46" name="Shape 12">
            <a:extLst>
              <a:ext uri="{FF2B5EF4-FFF2-40B4-BE49-F238E27FC236}">
                <a16:creationId xmlns:a16="http://schemas.microsoft.com/office/drawing/2014/main" xmlns="" id="{4D8FBE6C-6C61-C68B-FE0A-224D31A9FAC0}"/>
              </a:ext>
            </a:extLst>
          </p:cNvPr>
          <p:cNvSpPr/>
          <p:nvPr/>
        </p:nvSpPr>
        <p:spPr>
          <a:xfrm>
            <a:off x="10970858" y="319462"/>
            <a:ext cx="51207" cy="51207"/>
          </a:xfrm>
          <a:prstGeom prst="ellipse">
            <a:avLst/>
          </a:prstGeom>
          <a:solidFill>
            <a:srgbClr val="FFFFFF">
              <a:alpha val="35000"/>
            </a:srgbClr>
          </a:solidFill>
          <a:ln w="12700">
            <a:solidFill>
              <a:srgbClr val="FFFFFF"/>
            </a:solidFill>
            <a:prstDash val="solid"/>
          </a:ln>
        </p:spPr>
      </p:sp>
      <p:sp>
        <p:nvSpPr>
          <p:cNvPr id="47" name="Shape 13">
            <a:extLst>
              <a:ext uri="{FF2B5EF4-FFF2-40B4-BE49-F238E27FC236}">
                <a16:creationId xmlns:a16="http://schemas.microsoft.com/office/drawing/2014/main" xmlns="" id="{E9980BA6-E76C-FA86-56AA-FAD39352EB25}"/>
              </a:ext>
            </a:extLst>
          </p:cNvPr>
          <p:cNvSpPr/>
          <p:nvPr/>
        </p:nvSpPr>
        <p:spPr>
          <a:xfrm>
            <a:off x="10312490" y="490150"/>
            <a:ext cx="51207" cy="51207"/>
          </a:xfrm>
          <a:prstGeom prst="ellipse">
            <a:avLst/>
          </a:prstGeom>
          <a:solidFill>
            <a:srgbClr val="FFFFFF">
              <a:alpha val="35000"/>
            </a:srgbClr>
          </a:solidFill>
          <a:ln w="12700">
            <a:solidFill>
              <a:srgbClr val="FFFFFF"/>
            </a:solidFill>
            <a:prstDash val="solid"/>
          </a:ln>
        </p:spPr>
      </p:sp>
      <p:sp>
        <p:nvSpPr>
          <p:cNvPr id="48" name="Shape 14">
            <a:extLst>
              <a:ext uri="{FF2B5EF4-FFF2-40B4-BE49-F238E27FC236}">
                <a16:creationId xmlns:a16="http://schemas.microsoft.com/office/drawing/2014/main" xmlns="" id="{5BF94415-AA36-5B3A-060D-CB1BB57D8B0C}"/>
              </a:ext>
            </a:extLst>
          </p:cNvPr>
          <p:cNvSpPr/>
          <p:nvPr/>
        </p:nvSpPr>
        <p:spPr>
          <a:xfrm>
            <a:off x="10531946" y="490150"/>
            <a:ext cx="51207" cy="51207"/>
          </a:xfrm>
          <a:prstGeom prst="ellipse">
            <a:avLst/>
          </a:prstGeom>
          <a:solidFill>
            <a:srgbClr val="FFFFFF">
              <a:alpha val="35000"/>
            </a:srgbClr>
          </a:solidFill>
          <a:ln w="12700">
            <a:solidFill>
              <a:srgbClr val="FFFFFF"/>
            </a:solidFill>
            <a:prstDash val="solid"/>
          </a:ln>
        </p:spPr>
      </p:sp>
      <p:sp>
        <p:nvSpPr>
          <p:cNvPr id="49" name="Shape 15">
            <a:extLst>
              <a:ext uri="{FF2B5EF4-FFF2-40B4-BE49-F238E27FC236}">
                <a16:creationId xmlns:a16="http://schemas.microsoft.com/office/drawing/2014/main" xmlns="" id="{21F2FAC0-6909-F068-3638-C59BABBE4995}"/>
              </a:ext>
            </a:extLst>
          </p:cNvPr>
          <p:cNvSpPr/>
          <p:nvPr/>
        </p:nvSpPr>
        <p:spPr>
          <a:xfrm>
            <a:off x="10751402" y="490150"/>
            <a:ext cx="51207" cy="51207"/>
          </a:xfrm>
          <a:prstGeom prst="ellipse">
            <a:avLst/>
          </a:prstGeom>
          <a:solidFill>
            <a:srgbClr val="FFFFFF">
              <a:alpha val="35000"/>
            </a:srgbClr>
          </a:solidFill>
          <a:ln w="12700">
            <a:solidFill>
              <a:srgbClr val="FFFFFF"/>
            </a:solidFill>
            <a:prstDash val="solid"/>
          </a:ln>
        </p:spPr>
      </p:sp>
      <p:sp>
        <p:nvSpPr>
          <p:cNvPr id="50" name="Shape 16">
            <a:extLst>
              <a:ext uri="{FF2B5EF4-FFF2-40B4-BE49-F238E27FC236}">
                <a16:creationId xmlns:a16="http://schemas.microsoft.com/office/drawing/2014/main" xmlns="" id="{72D4CADE-CE6C-4FEE-B1E1-94A7D4E12C14}"/>
              </a:ext>
            </a:extLst>
          </p:cNvPr>
          <p:cNvSpPr/>
          <p:nvPr/>
        </p:nvSpPr>
        <p:spPr>
          <a:xfrm>
            <a:off x="10970858" y="490150"/>
            <a:ext cx="51207" cy="51207"/>
          </a:xfrm>
          <a:prstGeom prst="ellipse">
            <a:avLst/>
          </a:prstGeom>
          <a:solidFill>
            <a:srgbClr val="FFFFFF">
              <a:alpha val="35000"/>
            </a:srgbClr>
          </a:solidFill>
          <a:ln w="12700">
            <a:solidFill>
              <a:srgbClr val="FFFFFF"/>
            </a:solidFill>
            <a:prstDash val="solid"/>
          </a:ln>
        </p:spPr>
      </p:sp>
      <p:sp>
        <p:nvSpPr>
          <p:cNvPr id="51" name="Rectangle 50"/>
          <p:cNvSpPr/>
          <p:nvPr/>
        </p:nvSpPr>
        <p:spPr>
          <a:xfrm>
            <a:off x="0" y="-27432"/>
            <a:ext cx="12188952" cy="76809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0" y="704088"/>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0" y="6647688"/>
            <a:ext cx="12188952" cy="21031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0" y="6620256"/>
            <a:ext cx="12188952"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271016" y="64008"/>
            <a:ext cx="10515600" cy="603504"/>
          </a:xfrm>
          <a:prstGeom prst="rect">
            <a:avLst/>
          </a:prstGeom>
          <a:noFill/>
        </p:spPr>
        <p:txBody>
          <a:bodyPr wrap="square">
            <a:spAutoFit/>
          </a:bodyPr>
          <a:lstStyle/>
          <a:p>
            <a:pPr algn="l"/>
            <a:r>
              <a:rPr sz="1800" b="1" i="0">
                <a:solidFill>
                  <a:srgbClr val="FFFFFF"/>
                </a:solidFill>
              </a:rPr>
              <a:t>ADAPTIVE MEASUREMENT NOISE — THE MECHANISM</a:t>
            </a:r>
          </a:p>
        </p:txBody>
      </p:sp>
      <p:sp>
        <p:nvSpPr>
          <p:cNvPr id="56" name="TextBox 55"/>
          <p:cNvSpPr txBox="1"/>
          <p:nvPr/>
        </p:nvSpPr>
        <p:spPr>
          <a:xfrm>
            <a:off x="612648" y="6675120"/>
            <a:ext cx="3657600" cy="155448"/>
          </a:xfrm>
          <a:prstGeom prst="rect">
            <a:avLst/>
          </a:prstGeom>
          <a:noFill/>
        </p:spPr>
        <p:txBody>
          <a:bodyPr wrap="square">
            <a:spAutoFit/>
          </a:bodyPr>
          <a:lstStyle/>
          <a:p>
            <a:pPr algn="l"/>
            <a:r>
              <a:rPr sz="800" b="0" i="0">
                <a:solidFill>
                  <a:srgbClr val="BFE6FB"/>
                </a:solidFill>
              </a:rPr>
              <a:t>BEIHANG UNIVERSITY</a:t>
            </a:r>
          </a:p>
        </p:txBody>
      </p:sp>
      <p:sp>
        <p:nvSpPr>
          <p:cNvPr id="57" name="TextBox 56"/>
          <p:cNvSpPr txBox="1"/>
          <p:nvPr/>
        </p:nvSpPr>
        <p:spPr>
          <a:xfrm>
            <a:off x="8686800" y="6675120"/>
            <a:ext cx="2926080" cy="155448"/>
          </a:xfrm>
          <a:prstGeom prst="rect">
            <a:avLst/>
          </a:prstGeom>
          <a:noFill/>
        </p:spPr>
        <p:txBody>
          <a:bodyPr wrap="square">
            <a:spAutoFit/>
          </a:bodyPr>
          <a:lstStyle/>
          <a:p>
            <a:pPr algn="r"/>
            <a:r>
              <a:rPr sz="800" b="0" i="0">
                <a:solidFill>
                  <a:srgbClr val="FFFFFF"/>
                </a:solidFill>
              </a:rPr>
              <a:t>SENTINEL-GNSS · PILOT</a:t>
            </a:r>
          </a:p>
        </p:txBody>
      </p:sp>
      <p:sp>
        <p:nvSpPr>
          <p:cNvPr id="58" name="Rectangle 57"/>
          <p:cNvSpPr/>
          <p:nvPr/>
        </p:nvSpPr>
        <p:spPr>
          <a:xfrm>
            <a:off x="914400" y="960120"/>
            <a:ext cx="10360152" cy="7315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14400" y="960120"/>
            <a:ext cx="10360152" cy="731520"/>
          </a:xfrm>
          <a:prstGeom prst="rect">
            <a:avLst/>
          </a:prstGeom>
          <a:noFill/>
        </p:spPr>
        <p:txBody>
          <a:bodyPr wrap="square">
            <a:spAutoFit/>
          </a:bodyPr>
          <a:lstStyle/>
          <a:p>
            <a:pPr algn="ctr"/>
            <a:r>
              <a:rPr sz="2400" b="1" i="0">
                <a:solidFill>
                  <a:srgbClr val="003366"/>
                </a:solidFill>
              </a:rPr>
              <a:t>R(t)  =  σ²_base  +  (σ²_deg − σ²_base)  ×  P̂_calib(t)</a:t>
            </a:r>
          </a:p>
        </p:txBody>
      </p:sp>
      <p:sp>
        <p:nvSpPr>
          <p:cNvPr id="60" name="Rectangle 59"/>
          <p:cNvSpPr/>
          <p:nvPr/>
        </p:nvSpPr>
        <p:spPr>
          <a:xfrm>
            <a:off x="1828800" y="1783080"/>
            <a:ext cx="8531352" cy="50292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828800" y="1783080"/>
            <a:ext cx="8531352" cy="502920"/>
          </a:xfrm>
          <a:prstGeom prst="rect">
            <a:avLst/>
          </a:prstGeom>
          <a:noFill/>
        </p:spPr>
        <p:txBody>
          <a:bodyPr wrap="square">
            <a:spAutoFit/>
          </a:bodyPr>
          <a:lstStyle/>
          <a:p>
            <a:pPr algn="ctr"/>
            <a:r>
              <a:rPr sz="1700" b="0" i="0">
                <a:solidFill>
                  <a:srgbClr val="003893"/>
                </a:solidFill>
              </a:rPr>
              <a:t>P̂_calib(t)  =  clip ( ( P̂(t) − P₅ ) / ( 1 − P₅ ),   0,   1 )</a:t>
            </a:r>
          </a:p>
        </p:txBody>
      </p:sp>
      <p:sp>
        <p:nvSpPr>
          <p:cNvPr id="62" name="TextBox 61"/>
          <p:cNvSpPr txBox="1"/>
          <p:nvPr/>
        </p:nvSpPr>
        <p:spPr>
          <a:xfrm>
            <a:off x="914400" y="2395728"/>
            <a:ext cx="10360152" cy="411480"/>
          </a:xfrm>
          <a:prstGeom prst="rect">
            <a:avLst/>
          </a:prstGeom>
          <a:noFill/>
        </p:spPr>
        <p:txBody>
          <a:bodyPr wrap="square">
            <a:spAutoFit/>
          </a:bodyPr>
          <a:lstStyle/>
          <a:p>
            <a:pPr algn="ctr"/>
            <a:r>
              <a:rPr sz="1500" b="0" i="0">
                <a:solidFill>
                  <a:srgbClr val="333333"/>
                </a:solidFill>
              </a:rPr>
              <a:t>Kalman gain:   Kₜ  =  P⁻ₜ Hᵀ ( H P⁻ₜ Hᵀ + Rₜ )⁻¹</a:t>
            </a:r>
          </a:p>
        </p:txBody>
      </p:sp>
      <p:sp>
        <p:nvSpPr>
          <p:cNvPr id="63" name="TextBox 62"/>
          <p:cNvSpPr txBox="1"/>
          <p:nvPr/>
        </p:nvSpPr>
        <p:spPr>
          <a:xfrm>
            <a:off x="704088" y="2907792"/>
            <a:ext cx="2377440" cy="320040"/>
          </a:xfrm>
          <a:prstGeom prst="rect">
            <a:avLst/>
          </a:prstGeom>
          <a:noFill/>
        </p:spPr>
        <p:txBody>
          <a:bodyPr wrap="square">
            <a:spAutoFit/>
          </a:bodyPr>
          <a:lstStyle/>
          <a:p>
            <a:pPr algn="l"/>
            <a:r>
              <a:rPr sz="1100" b="1" i="0">
                <a:solidFill>
                  <a:srgbClr val="003893"/>
                </a:solidFill>
              </a:rPr>
              <a:t>σ²_base = 9 m²</a:t>
            </a:r>
          </a:p>
        </p:txBody>
      </p:sp>
      <p:sp>
        <p:nvSpPr>
          <p:cNvPr id="64" name="TextBox 63"/>
          <p:cNvSpPr txBox="1"/>
          <p:nvPr/>
        </p:nvSpPr>
        <p:spPr>
          <a:xfrm>
            <a:off x="3200400" y="2907792"/>
            <a:ext cx="8503920" cy="320040"/>
          </a:xfrm>
          <a:prstGeom prst="rect">
            <a:avLst/>
          </a:prstGeom>
          <a:noFill/>
        </p:spPr>
        <p:txBody>
          <a:bodyPr wrap="square">
            <a:spAutoFit/>
          </a:bodyPr>
          <a:lstStyle/>
          <a:p>
            <a:pPr algn="l"/>
            <a:r>
              <a:rPr sz="1100" b="0" i="0">
                <a:solidFill>
                  <a:srgbClr val="333333"/>
                </a:solidFill>
              </a:rPr>
              <a:t>Baseline GNSS noise (CLEAN signal) — filter trusts GNSS tightly</a:t>
            </a:r>
          </a:p>
        </p:txBody>
      </p:sp>
      <p:sp>
        <p:nvSpPr>
          <p:cNvPr id="65" name="TextBox 64"/>
          <p:cNvSpPr txBox="1"/>
          <p:nvPr/>
        </p:nvSpPr>
        <p:spPr>
          <a:xfrm>
            <a:off x="704088" y="3291840"/>
            <a:ext cx="2377440" cy="320040"/>
          </a:xfrm>
          <a:prstGeom prst="rect">
            <a:avLst/>
          </a:prstGeom>
          <a:noFill/>
        </p:spPr>
        <p:txBody>
          <a:bodyPr wrap="square">
            <a:spAutoFit/>
          </a:bodyPr>
          <a:lstStyle/>
          <a:p>
            <a:pPr algn="l"/>
            <a:r>
              <a:rPr sz="1100" b="1" i="0">
                <a:solidFill>
                  <a:srgbClr val="003893"/>
                </a:solidFill>
              </a:rPr>
              <a:t>σ²_deg = 10,000 m²</a:t>
            </a:r>
          </a:p>
        </p:txBody>
      </p:sp>
      <p:sp>
        <p:nvSpPr>
          <p:cNvPr id="66" name="TextBox 65"/>
          <p:cNvSpPr txBox="1"/>
          <p:nvPr/>
        </p:nvSpPr>
        <p:spPr>
          <a:xfrm>
            <a:off x="3200400" y="3291840"/>
            <a:ext cx="8503920" cy="320040"/>
          </a:xfrm>
          <a:prstGeom prst="rect">
            <a:avLst/>
          </a:prstGeom>
          <a:noFill/>
        </p:spPr>
        <p:txBody>
          <a:bodyPr wrap="square">
            <a:spAutoFit/>
          </a:bodyPr>
          <a:lstStyle/>
          <a:p>
            <a:pPr algn="l"/>
            <a:r>
              <a:rPr sz="1100" b="0" i="0">
                <a:solidFill>
                  <a:srgbClr val="333333"/>
                </a:solidFill>
              </a:rPr>
              <a:t>Noise under full degradation — filter ignores GNSS, dead-reckons</a:t>
            </a:r>
          </a:p>
        </p:txBody>
      </p:sp>
      <p:sp>
        <p:nvSpPr>
          <p:cNvPr id="67" name="TextBox 66"/>
          <p:cNvSpPr txBox="1"/>
          <p:nvPr/>
        </p:nvSpPr>
        <p:spPr>
          <a:xfrm>
            <a:off x="704088" y="3675888"/>
            <a:ext cx="2377440" cy="320040"/>
          </a:xfrm>
          <a:prstGeom prst="rect">
            <a:avLst/>
          </a:prstGeom>
          <a:noFill/>
        </p:spPr>
        <p:txBody>
          <a:bodyPr wrap="square">
            <a:spAutoFit/>
          </a:bodyPr>
          <a:lstStyle/>
          <a:p>
            <a:pPr algn="l"/>
            <a:r>
              <a:rPr sz="1100" b="1" i="0">
                <a:solidFill>
                  <a:srgbClr val="003893"/>
                </a:solidFill>
              </a:rPr>
              <a:t>P̂_calib(t)</a:t>
            </a:r>
          </a:p>
        </p:txBody>
      </p:sp>
      <p:sp>
        <p:nvSpPr>
          <p:cNvPr id="68" name="TextBox 67"/>
          <p:cNvSpPr txBox="1"/>
          <p:nvPr/>
        </p:nvSpPr>
        <p:spPr>
          <a:xfrm>
            <a:off x="3200400" y="3675888"/>
            <a:ext cx="8503920" cy="320040"/>
          </a:xfrm>
          <a:prstGeom prst="rect">
            <a:avLst/>
          </a:prstGeom>
          <a:noFill/>
        </p:spPr>
        <p:txBody>
          <a:bodyPr wrap="square">
            <a:spAutoFit/>
          </a:bodyPr>
          <a:lstStyle/>
          <a:p>
            <a:pPr algn="l"/>
            <a:r>
              <a:rPr sz="1100" b="0" i="0">
                <a:solidFill>
                  <a:srgbClr val="333333"/>
                </a:solidFill>
              </a:rPr>
              <a:t>Calibrated DEGRADED probability from SENTINEL (0 = clean, 1 = degraded)</a:t>
            </a:r>
          </a:p>
        </p:txBody>
      </p:sp>
      <p:sp>
        <p:nvSpPr>
          <p:cNvPr id="69" name="TextBox 68"/>
          <p:cNvSpPr txBox="1"/>
          <p:nvPr/>
        </p:nvSpPr>
        <p:spPr>
          <a:xfrm>
            <a:off x="704088" y="4059936"/>
            <a:ext cx="2377440" cy="320040"/>
          </a:xfrm>
          <a:prstGeom prst="rect">
            <a:avLst/>
          </a:prstGeom>
          <a:noFill/>
        </p:spPr>
        <p:txBody>
          <a:bodyPr wrap="square">
            <a:spAutoFit/>
          </a:bodyPr>
          <a:lstStyle/>
          <a:p>
            <a:pPr algn="l"/>
            <a:r>
              <a:rPr sz="1100" b="1" i="0">
                <a:solidFill>
                  <a:srgbClr val="003893"/>
                </a:solidFill>
              </a:rPr>
              <a:t>P₅ = 0.153</a:t>
            </a:r>
          </a:p>
        </p:txBody>
      </p:sp>
      <p:sp>
        <p:nvSpPr>
          <p:cNvPr id="70" name="TextBox 69"/>
          <p:cNvSpPr txBox="1"/>
          <p:nvPr/>
        </p:nvSpPr>
        <p:spPr>
          <a:xfrm>
            <a:off x="3200400" y="4059936"/>
            <a:ext cx="8503920" cy="320040"/>
          </a:xfrm>
          <a:prstGeom prst="rect">
            <a:avLst/>
          </a:prstGeom>
          <a:noFill/>
        </p:spPr>
        <p:txBody>
          <a:bodyPr wrap="square">
            <a:spAutoFit/>
          </a:bodyPr>
          <a:lstStyle/>
          <a:p>
            <a:pPr algn="l"/>
            <a:r>
              <a:rPr sz="1100" b="0" i="0">
                <a:solidFill>
                  <a:srgbClr val="333333"/>
                </a:solidFill>
              </a:rPr>
              <a:t>Floor offset — unsupervised calibration removes cross-receiver bias</a:t>
            </a:r>
          </a:p>
        </p:txBody>
      </p:sp>
      <p:sp>
        <p:nvSpPr>
          <p:cNvPr id="71" name="TextBox 70"/>
          <p:cNvSpPr txBox="1"/>
          <p:nvPr/>
        </p:nvSpPr>
        <p:spPr>
          <a:xfrm>
            <a:off x="704088" y="4443984"/>
            <a:ext cx="2377440" cy="320040"/>
          </a:xfrm>
          <a:prstGeom prst="rect">
            <a:avLst/>
          </a:prstGeom>
          <a:noFill/>
        </p:spPr>
        <p:txBody>
          <a:bodyPr wrap="square">
            <a:spAutoFit/>
          </a:bodyPr>
          <a:lstStyle/>
          <a:p>
            <a:pPr algn="l"/>
            <a:r>
              <a:rPr sz="1100" b="1" i="0">
                <a:solidFill>
                  <a:srgbClr val="003893"/>
                </a:solidFill>
              </a:rPr>
              <a:t>Kₜ shrinks when Rₜ rises</a:t>
            </a:r>
          </a:p>
        </p:txBody>
      </p:sp>
      <p:sp>
        <p:nvSpPr>
          <p:cNvPr id="72" name="TextBox 71"/>
          <p:cNvSpPr txBox="1"/>
          <p:nvPr/>
        </p:nvSpPr>
        <p:spPr>
          <a:xfrm>
            <a:off x="3200400" y="4443984"/>
            <a:ext cx="8503920" cy="320040"/>
          </a:xfrm>
          <a:prstGeom prst="rect">
            <a:avLst/>
          </a:prstGeom>
          <a:noFill/>
        </p:spPr>
        <p:txBody>
          <a:bodyPr wrap="square">
            <a:spAutoFit/>
          </a:bodyPr>
          <a:lstStyle/>
          <a:p>
            <a:pPr algn="l"/>
            <a:r>
              <a:rPr sz="1100" b="0" i="0">
                <a:solidFill>
                  <a:srgbClr val="333333"/>
                </a:solidFill>
              </a:rPr>
              <a:t>Filter leans on motion model when SENTINEL predicts degradation</a:t>
            </a:r>
          </a:p>
        </p:txBody>
      </p:sp>
      <p:sp>
        <p:nvSpPr>
          <p:cNvPr id="73" name="Rectangle 72"/>
          <p:cNvSpPr/>
          <p:nvPr/>
        </p:nvSpPr>
        <p:spPr>
          <a:xfrm>
            <a:off x="612648" y="5760720"/>
            <a:ext cx="3246120" cy="713232"/>
          </a:xfrm>
          <a:prstGeom prst="rect">
            <a:avLst/>
          </a:prstGeom>
          <a:solidFill>
            <a:srgbClr val="1B8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12648" y="5760720"/>
            <a:ext cx="3246120" cy="320040"/>
          </a:xfrm>
          <a:prstGeom prst="rect">
            <a:avLst/>
          </a:prstGeom>
          <a:noFill/>
        </p:spPr>
        <p:txBody>
          <a:bodyPr wrap="square">
            <a:spAutoFit/>
          </a:bodyPr>
          <a:lstStyle/>
          <a:p>
            <a:pPr algn="ctr"/>
            <a:r>
              <a:rPr sz="1300" b="1" i="0">
                <a:solidFill>
                  <a:srgbClr val="FFFFFF"/>
                </a:solidFill>
              </a:rPr>
              <a:t>P̂ = 0</a:t>
            </a:r>
          </a:p>
        </p:txBody>
      </p:sp>
      <p:sp>
        <p:nvSpPr>
          <p:cNvPr id="75" name="TextBox 74"/>
          <p:cNvSpPr txBox="1"/>
          <p:nvPr/>
        </p:nvSpPr>
        <p:spPr>
          <a:xfrm>
            <a:off x="612648" y="6053328"/>
            <a:ext cx="3246120" cy="320040"/>
          </a:xfrm>
          <a:prstGeom prst="rect">
            <a:avLst/>
          </a:prstGeom>
          <a:noFill/>
        </p:spPr>
        <p:txBody>
          <a:bodyPr wrap="square">
            <a:spAutoFit/>
          </a:bodyPr>
          <a:lstStyle/>
          <a:p>
            <a:pPr algn="ctr"/>
            <a:r>
              <a:rPr sz="1000" b="0" i="0">
                <a:solidFill>
                  <a:srgbClr val="FFFFFF"/>
                </a:solidFill>
              </a:rPr>
              <a:t>R = 9 m²  →  Trust GNSS</a:t>
            </a:r>
          </a:p>
        </p:txBody>
      </p:sp>
      <p:sp>
        <p:nvSpPr>
          <p:cNvPr id="76" name="Rectangle 75"/>
          <p:cNvSpPr/>
          <p:nvPr/>
        </p:nvSpPr>
        <p:spPr>
          <a:xfrm>
            <a:off x="4315968" y="5760720"/>
            <a:ext cx="3246120" cy="713232"/>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315968" y="5760720"/>
            <a:ext cx="3246120" cy="320040"/>
          </a:xfrm>
          <a:prstGeom prst="rect">
            <a:avLst/>
          </a:prstGeom>
          <a:noFill/>
        </p:spPr>
        <p:txBody>
          <a:bodyPr wrap="square">
            <a:spAutoFit/>
          </a:bodyPr>
          <a:lstStyle/>
          <a:p>
            <a:pPr algn="ctr"/>
            <a:r>
              <a:rPr sz="1300" b="1" i="0">
                <a:solidFill>
                  <a:srgbClr val="FFFFFF"/>
                </a:solidFill>
              </a:rPr>
              <a:t>P̂ = 0.5</a:t>
            </a:r>
          </a:p>
        </p:txBody>
      </p:sp>
      <p:sp>
        <p:nvSpPr>
          <p:cNvPr id="78" name="TextBox 77"/>
          <p:cNvSpPr txBox="1"/>
          <p:nvPr/>
        </p:nvSpPr>
        <p:spPr>
          <a:xfrm>
            <a:off x="4315968" y="6053328"/>
            <a:ext cx="3246120" cy="320040"/>
          </a:xfrm>
          <a:prstGeom prst="rect">
            <a:avLst/>
          </a:prstGeom>
          <a:noFill/>
        </p:spPr>
        <p:txBody>
          <a:bodyPr wrap="square">
            <a:spAutoFit/>
          </a:bodyPr>
          <a:lstStyle/>
          <a:p>
            <a:pPr algn="ctr"/>
            <a:r>
              <a:rPr sz="1000" b="0" i="0">
                <a:solidFill>
                  <a:srgbClr val="FFFFFF"/>
                </a:solidFill>
              </a:rPr>
              <a:t>R ≈ 500 m²  →  Caution</a:t>
            </a:r>
          </a:p>
        </p:txBody>
      </p:sp>
      <p:sp>
        <p:nvSpPr>
          <p:cNvPr id="79" name="Rectangle 78"/>
          <p:cNvSpPr/>
          <p:nvPr/>
        </p:nvSpPr>
        <p:spPr>
          <a:xfrm>
            <a:off x="8019288" y="5760720"/>
            <a:ext cx="3246120" cy="713232"/>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019288" y="5760720"/>
            <a:ext cx="3246120" cy="320040"/>
          </a:xfrm>
          <a:prstGeom prst="rect">
            <a:avLst/>
          </a:prstGeom>
          <a:noFill/>
        </p:spPr>
        <p:txBody>
          <a:bodyPr wrap="square">
            <a:spAutoFit/>
          </a:bodyPr>
          <a:lstStyle/>
          <a:p>
            <a:pPr algn="ctr"/>
            <a:r>
              <a:rPr sz="1300" b="1" i="0">
                <a:solidFill>
                  <a:srgbClr val="FFFFFF"/>
                </a:solidFill>
              </a:rPr>
              <a:t>P̂ = 1</a:t>
            </a:r>
          </a:p>
        </p:txBody>
      </p:sp>
      <p:sp>
        <p:nvSpPr>
          <p:cNvPr id="81" name="TextBox 80"/>
          <p:cNvSpPr txBox="1"/>
          <p:nvPr/>
        </p:nvSpPr>
        <p:spPr>
          <a:xfrm>
            <a:off x="8019288" y="6053328"/>
            <a:ext cx="3246120" cy="320040"/>
          </a:xfrm>
          <a:prstGeom prst="rect">
            <a:avLst/>
          </a:prstGeom>
          <a:noFill/>
        </p:spPr>
        <p:txBody>
          <a:bodyPr wrap="square">
            <a:spAutoFit/>
          </a:bodyPr>
          <a:lstStyle/>
          <a:p>
            <a:pPr algn="ctr"/>
            <a:r>
              <a:rPr sz="1000" b="0" i="0">
                <a:solidFill>
                  <a:srgbClr val="FFFFFF"/>
                </a:solidFill>
              </a:rPr>
              <a:t>R = 10,000 m²  →  Dead-reckon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
            <a:ext cx="12188952" cy="76809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04088"/>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47688"/>
            <a:ext cx="12188952" cy="21031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20256"/>
            <a:ext cx="12188952"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71016" y="64008"/>
            <a:ext cx="10515600" cy="603504"/>
          </a:xfrm>
          <a:prstGeom prst="rect">
            <a:avLst/>
          </a:prstGeom>
          <a:noFill/>
        </p:spPr>
        <p:txBody>
          <a:bodyPr wrap="square">
            <a:spAutoFit/>
          </a:bodyPr>
          <a:lstStyle/>
          <a:p>
            <a:pPr algn="l"/>
            <a:r>
              <a:rPr sz="1800" b="1" i="0">
                <a:solidFill>
                  <a:srgbClr val="FFFFFF"/>
                </a:solidFill>
              </a:rPr>
              <a:t>EKF RESULTS — THREE TIERS OF VALIDATION</a:t>
            </a:r>
          </a:p>
        </p:txBody>
      </p:sp>
      <p:sp>
        <p:nvSpPr>
          <p:cNvPr id="7" name="TextBox 6"/>
          <p:cNvSpPr txBox="1"/>
          <p:nvPr/>
        </p:nvSpPr>
        <p:spPr>
          <a:xfrm>
            <a:off x="612648" y="6675120"/>
            <a:ext cx="3657600" cy="155448"/>
          </a:xfrm>
          <a:prstGeom prst="rect">
            <a:avLst/>
          </a:prstGeom>
          <a:noFill/>
        </p:spPr>
        <p:txBody>
          <a:bodyPr wrap="square">
            <a:spAutoFit/>
          </a:bodyPr>
          <a:lstStyle/>
          <a:p>
            <a:pPr algn="l"/>
            <a:r>
              <a:rPr sz="800" b="0" i="0">
                <a:solidFill>
                  <a:srgbClr val="BFE6FB"/>
                </a:solidFill>
              </a:rPr>
              <a:t>BEIHANG UNIVERSITY</a:t>
            </a:r>
          </a:p>
        </p:txBody>
      </p:sp>
      <p:sp>
        <p:nvSpPr>
          <p:cNvPr id="8" name="TextBox 7"/>
          <p:cNvSpPr txBox="1"/>
          <p:nvPr/>
        </p:nvSpPr>
        <p:spPr>
          <a:xfrm>
            <a:off x="8686800" y="6675120"/>
            <a:ext cx="2926080" cy="155448"/>
          </a:xfrm>
          <a:prstGeom prst="rect">
            <a:avLst/>
          </a:prstGeom>
          <a:noFill/>
        </p:spPr>
        <p:txBody>
          <a:bodyPr wrap="square">
            <a:spAutoFit/>
          </a:bodyPr>
          <a:lstStyle/>
          <a:p>
            <a:pPr algn="r"/>
            <a:r>
              <a:rPr sz="800" b="0" i="0">
                <a:solidFill>
                  <a:srgbClr val="FFFFFF"/>
                </a:solidFill>
              </a:rPr>
              <a:t>SENTINEL-GNSS · PILOT</a:t>
            </a:r>
          </a:p>
        </p:txBody>
      </p:sp>
      <p:sp>
        <p:nvSpPr>
          <p:cNvPr id="9" name="TextBox 8"/>
          <p:cNvSpPr txBox="1"/>
          <p:nvPr/>
        </p:nvSpPr>
        <p:spPr>
          <a:xfrm>
            <a:off x="612648" y="896112"/>
            <a:ext cx="10972800" cy="320040"/>
          </a:xfrm>
          <a:prstGeom prst="rect">
            <a:avLst/>
          </a:prstGeom>
          <a:noFill/>
        </p:spPr>
        <p:txBody>
          <a:bodyPr wrap="square">
            <a:spAutoFit/>
          </a:bodyPr>
          <a:lstStyle/>
          <a:p>
            <a:pPr algn="l"/>
            <a:r>
              <a:rPr sz="1300" b="0" i="0">
                <a:solidFill>
                  <a:srgbClr val="333333"/>
                </a:solidFill>
              </a:rPr>
              <a:t>From controlled simulation to fully real Tokyo data (cm-level SPAN-INS ground truth)</a:t>
            </a:r>
          </a:p>
        </p:txBody>
      </p:sp>
      <p:sp>
        <p:nvSpPr>
          <p:cNvPr id="10" name="Rectangle 9"/>
          <p:cNvSpPr/>
          <p:nvPr/>
        </p:nvSpPr>
        <p:spPr>
          <a:xfrm>
            <a:off x="612648" y="1325880"/>
            <a:ext cx="3246120" cy="141732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325880"/>
            <a:ext cx="3154680" cy="777240"/>
          </a:xfrm>
          <a:prstGeom prst="rect">
            <a:avLst/>
          </a:prstGeom>
          <a:noFill/>
        </p:spPr>
        <p:txBody>
          <a:bodyPr wrap="square">
            <a:spAutoFit/>
          </a:bodyPr>
          <a:lstStyle/>
          <a:p>
            <a:pPr algn="ctr"/>
            <a:r>
              <a:rPr sz="4000" b="1" i="0">
                <a:solidFill>
                  <a:srgbClr val="C62828"/>
                </a:solidFill>
              </a:rPr>
              <a:t>−33.8%</a:t>
            </a:r>
          </a:p>
        </p:txBody>
      </p:sp>
      <p:sp>
        <p:nvSpPr>
          <p:cNvPr id="12" name="TextBox 11"/>
          <p:cNvSpPr txBox="1"/>
          <p:nvPr/>
        </p:nvSpPr>
        <p:spPr>
          <a:xfrm>
            <a:off x="658368" y="2057400"/>
            <a:ext cx="3154680" cy="640080"/>
          </a:xfrm>
          <a:prstGeom prst="rect">
            <a:avLst/>
          </a:prstGeom>
          <a:noFill/>
        </p:spPr>
        <p:txBody>
          <a:bodyPr wrap="square">
            <a:spAutoFit/>
          </a:bodyPr>
          <a:lstStyle/>
          <a:p>
            <a:pPr algn="ctr"/>
            <a:r>
              <a:rPr sz="1100" b="0" i="0">
                <a:solidFill>
                  <a:srgbClr val="0A1733"/>
                </a:solidFill>
              </a:rPr>
              <a:t>Synthetic blockage
54.4 m → 36.0 m</a:t>
            </a:r>
          </a:p>
        </p:txBody>
      </p:sp>
      <p:sp>
        <p:nvSpPr>
          <p:cNvPr id="13" name="Rectangle 12"/>
          <p:cNvSpPr/>
          <p:nvPr/>
        </p:nvSpPr>
        <p:spPr>
          <a:xfrm>
            <a:off x="4315968" y="1325880"/>
            <a:ext cx="3246120" cy="141732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61688" y="1325880"/>
            <a:ext cx="3154680" cy="777240"/>
          </a:xfrm>
          <a:prstGeom prst="rect">
            <a:avLst/>
          </a:prstGeom>
          <a:noFill/>
        </p:spPr>
        <p:txBody>
          <a:bodyPr wrap="square">
            <a:spAutoFit/>
          </a:bodyPr>
          <a:lstStyle/>
          <a:p>
            <a:pPr algn="ctr"/>
            <a:r>
              <a:rPr sz="4000" b="1" i="0">
                <a:solidFill>
                  <a:srgbClr val="003893"/>
                </a:solidFill>
              </a:rPr>
              <a:t>+82%</a:t>
            </a:r>
          </a:p>
        </p:txBody>
      </p:sp>
      <p:sp>
        <p:nvSpPr>
          <p:cNvPr id="15" name="TextBox 14"/>
          <p:cNvSpPr txBox="1"/>
          <p:nvPr/>
        </p:nvSpPr>
        <p:spPr>
          <a:xfrm>
            <a:off x="4361688" y="2057400"/>
            <a:ext cx="3154680" cy="640080"/>
          </a:xfrm>
          <a:prstGeom prst="rect">
            <a:avLst/>
          </a:prstGeom>
          <a:noFill/>
        </p:spPr>
        <p:txBody>
          <a:bodyPr wrap="square">
            <a:spAutoFit/>
          </a:bodyPr>
          <a:lstStyle/>
          <a:p>
            <a:pPr algn="ctr"/>
            <a:r>
              <a:rPr sz="1100" b="0" i="0">
                <a:solidFill>
                  <a:srgbClr val="0A1733"/>
                </a:solidFill>
              </a:rPr>
              <a:t>Semi-synthetic Tokyo
36.3 m → 6.4 m</a:t>
            </a:r>
          </a:p>
        </p:txBody>
      </p:sp>
      <p:sp>
        <p:nvSpPr>
          <p:cNvPr id="16" name="Rectangle 15"/>
          <p:cNvSpPr/>
          <p:nvPr/>
        </p:nvSpPr>
        <p:spPr>
          <a:xfrm>
            <a:off x="8019288" y="1325880"/>
            <a:ext cx="3246120" cy="141732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65008" y="1325880"/>
            <a:ext cx="3154680" cy="777240"/>
          </a:xfrm>
          <a:prstGeom prst="rect">
            <a:avLst/>
          </a:prstGeom>
          <a:noFill/>
        </p:spPr>
        <p:txBody>
          <a:bodyPr wrap="square">
            <a:spAutoFit/>
          </a:bodyPr>
          <a:lstStyle/>
          <a:p>
            <a:pPr algn="ctr"/>
            <a:r>
              <a:rPr sz="4000" b="1" i="0">
                <a:solidFill>
                  <a:srgbClr val="1B873A"/>
                </a:solidFill>
              </a:rPr>
              <a:t>+48.8%</a:t>
            </a:r>
          </a:p>
        </p:txBody>
      </p:sp>
      <p:sp>
        <p:nvSpPr>
          <p:cNvPr id="18" name="TextBox 17"/>
          <p:cNvSpPr txBox="1"/>
          <p:nvPr/>
        </p:nvSpPr>
        <p:spPr>
          <a:xfrm>
            <a:off x="8065008" y="2057400"/>
            <a:ext cx="3154680" cy="640080"/>
          </a:xfrm>
          <a:prstGeom prst="rect">
            <a:avLst/>
          </a:prstGeom>
          <a:noFill/>
        </p:spPr>
        <p:txBody>
          <a:bodyPr wrap="square">
            <a:spAutoFit/>
          </a:bodyPr>
          <a:lstStyle/>
          <a:p>
            <a:pPr algn="ctr"/>
            <a:r>
              <a:rPr sz="1100" b="0" i="0">
                <a:solidFill>
                  <a:srgbClr val="0A1733"/>
                </a:solidFill>
              </a:rPr>
              <a:t>Fully real Tokyo
47.4 m → 24.3 m</a:t>
            </a:r>
          </a:p>
        </p:txBody>
      </p:sp>
      <p:graphicFrame>
        <p:nvGraphicFramePr>
          <p:cNvPr id="19" name="Table 18"/>
          <p:cNvGraphicFramePr>
            <a:graphicFrameLocks noGrp="1"/>
          </p:cNvGraphicFramePr>
          <p:nvPr/>
        </p:nvGraphicFramePr>
        <p:xfrm>
          <a:off x="612648" y="2880360"/>
          <a:ext cx="10972800" cy="1554480"/>
        </p:xfrm>
        <a:graphic>
          <a:graphicData uri="http://schemas.openxmlformats.org/drawingml/2006/table">
            <a:tbl>
              <a:tblPr firstRow="1" bandRow="1">
                <a:tableStyleId>{5C22544A-7EE6-4342-B048-85BDC9FD1C3A}</a:tableStyleId>
              </a:tblPr>
              <a:tblGrid>
                <a:gridCol w="2743200"/>
                <a:gridCol w="2743200"/>
                <a:gridCol w="2743200"/>
                <a:gridCol w="2743200"/>
              </a:tblGrid>
              <a:tr h="388620">
                <a:tc>
                  <a:txBody>
                    <a:bodyPr/>
                    <a:lstStyle/>
                    <a:p>
                      <a:pPr algn="ctr"/>
                      <a:r>
                        <a:rPr sz="1200" b="1">
                          <a:solidFill>
                            <a:srgbClr val="FFFFFF"/>
                          </a:solidFill>
                        </a:rPr>
                        <a:t>Tier</a:t>
                      </a:r>
                    </a:p>
                  </a:txBody>
                  <a:tcPr>
                    <a:solidFill>
                      <a:srgbClr val="003366"/>
                    </a:solidFill>
                  </a:tcPr>
                </a:tc>
                <a:tc>
                  <a:txBody>
                    <a:bodyPr/>
                    <a:lstStyle/>
                    <a:p>
                      <a:pPr algn="ctr"/>
                      <a:r>
                        <a:rPr sz="1200" b="1">
                          <a:solidFill>
                            <a:srgbClr val="FFFFFF"/>
                          </a:solidFill>
                        </a:rPr>
                        <a:t>Data</a:t>
                      </a:r>
                    </a:p>
                  </a:txBody>
                  <a:tcPr>
                    <a:solidFill>
                      <a:srgbClr val="003366"/>
                    </a:solidFill>
                  </a:tcPr>
                </a:tc>
                <a:tc>
                  <a:txBody>
                    <a:bodyPr/>
                    <a:lstStyle/>
                    <a:p>
                      <a:pPr algn="ctr"/>
                      <a:r>
                        <a:rPr sz="1200" b="1">
                          <a:solidFill>
                            <a:srgbClr val="FFFFFF"/>
                          </a:solidFill>
                        </a:rPr>
                        <a:t>Blocked RMSE</a:t>
                      </a:r>
                    </a:p>
                  </a:txBody>
                  <a:tcPr>
                    <a:solidFill>
                      <a:srgbClr val="003366"/>
                    </a:solidFill>
                  </a:tcPr>
                </a:tc>
                <a:tc>
                  <a:txBody>
                    <a:bodyPr/>
                    <a:lstStyle/>
                    <a:p>
                      <a:pPr algn="ctr"/>
                      <a:r>
                        <a:rPr sz="1200" b="1">
                          <a:solidFill>
                            <a:srgbClr val="FFFFFF"/>
                          </a:solidFill>
                        </a:rPr>
                        <a:t>Gain</a:t>
                      </a:r>
                    </a:p>
                  </a:txBody>
                  <a:tcPr>
                    <a:solidFill>
                      <a:srgbClr val="003366"/>
                    </a:solidFill>
                  </a:tcPr>
                </a:tc>
              </a:tr>
              <a:tr h="388620">
                <a:tc>
                  <a:txBody>
                    <a:bodyPr/>
                    <a:lstStyle/>
                    <a:p>
                      <a:pPr algn="ctr"/>
                      <a:r>
                        <a:rPr sz="1100">
                          <a:solidFill>
                            <a:srgbClr val="0A1733"/>
                          </a:solidFill>
                        </a:rPr>
                        <a:t>Synthetic</a:t>
                      </a:r>
                    </a:p>
                  </a:txBody>
                  <a:tcPr>
                    <a:solidFill>
                      <a:srgbClr val="E8F0FE"/>
                    </a:solidFill>
                  </a:tcPr>
                </a:tc>
                <a:tc>
                  <a:txBody>
                    <a:bodyPr/>
                    <a:lstStyle/>
                    <a:p>
                      <a:pPr algn="ctr"/>
                      <a:r>
                        <a:rPr sz="1100">
                          <a:solidFill>
                            <a:srgbClr val="0A1733"/>
                          </a:solidFill>
                        </a:rPr>
                        <a:t>Controlled blockage simulation</a:t>
                      </a:r>
                    </a:p>
                  </a:txBody>
                  <a:tcPr>
                    <a:solidFill>
                      <a:srgbClr val="E8F0FE"/>
                    </a:solidFill>
                  </a:tcPr>
                </a:tc>
                <a:tc>
                  <a:txBody>
                    <a:bodyPr/>
                    <a:lstStyle/>
                    <a:p>
                      <a:pPr algn="ctr"/>
                      <a:r>
                        <a:rPr sz="1100">
                          <a:solidFill>
                            <a:srgbClr val="0A1733"/>
                          </a:solidFill>
                        </a:rPr>
                        <a:t>54.4 m → 36.0 m</a:t>
                      </a:r>
                    </a:p>
                  </a:txBody>
                  <a:tcPr>
                    <a:solidFill>
                      <a:srgbClr val="E8F0FE"/>
                    </a:solidFill>
                  </a:tcPr>
                </a:tc>
                <a:tc>
                  <a:txBody>
                    <a:bodyPr/>
                    <a:lstStyle/>
                    <a:p>
                      <a:pPr algn="ctr"/>
                      <a:r>
                        <a:rPr sz="1100" b="1">
                          <a:solidFill>
                            <a:srgbClr val="C62828"/>
                          </a:solidFill>
                        </a:rPr>
                        <a:t>−33.8%</a:t>
                      </a:r>
                    </a:p>
                  </a:txBody>
                  <a:tcPr>
                    <a:solidFill>
                      <a:srgbClr val="E8F0FE"/>
                    </a:solidFill>
                  </a:tcPr>
                </a:tc>
              </a:tr>
              <a:tr h="388620">
                <a:tc>
                  <a:txBody>
                    <a:bodyPr/>
                    <a:lstStyle/>
                    <a:p>
                      <a:pPr algn="ctr"/>
                      <a:r>
                        <a:rPr sz="1100">
                          <a:solidFill>
                            <a:srgbClr val="0A1733"/>
                          </a:solidFill>
                        </a:rPr>
                        <a:t>Semi-synthetic</a:t>
                      </a:r>
                    </a:p>
                  </a:txBody>
                  <a:tcPr>
                    <a:solidFill>
                      <a:srgbClr val="FFFFFF"/>
                    </a:solidFill>
                  </a:tcPr>
                </a:tc>
                <a:tc>
                  <a:txBody>
                    <a:bodyPr/>
                    <a:lstStyle/>
                    <a:p>
                      <a:pPr algn="ctr"/>
                      <a:r>
                        <a:rPr sz="1100">
                          <a:solidFill>
                            <a:srgbClr val="0A1733"/>
                          </a:solidFill>
                        </a:rPr>
                        <a:t>Real Tokyo path + IMU, synthetic GNSS errors</a:t>
                      </a:r>
                    </a:p>
                  </a:txBody>
                  <a:tcPr>
                    <a:solidFill>
                      <a:srgbClr val="FFFFFF"/>
                    </a:solidFill>
                  </a:tcPr>
                </a:tc>
                <a:tc>
                  <a:txBody>
                    <a:bodyPr/>
                    <a:lstStyle/>
                    <a:p>
                      <a:pPr algn="ctr"/>
                      <a:r>
                        <a:rPr sz="1100">
                          <a:solidFill>
                            <a:srgbClr val="0A1733"/>
                          </a:solidFill>
                        </a:rPr>
                        <a:t>36.3 m → 6.4 m</a:t>
                      </a:r>
                    </a:p>
                  </a:txBody>
                  <a:tcPr>
                    <a:solidFill>
                      <a:srgbClr val="FFFFFF"/>
                    </a:solidFill>
                  </a:tcPr>
                </a:tc>
                <a:tc>
                  <a:txBody>
                    <a:bodyPr/>
                    <a:lstStyle/>
                    <a:p>
                      <a:pPr algn="ctr"/>
                      <a:r>
                        <a:rPr sz="1100" b="1">
                          <a:solidFill>
                            <a:srgbClr val="1B873A"/>
                          </a:solidFill>
                        </a:rPr>
                        <a:t>+82%</a:t>
                      </a:r>
                    </a:p>
                  </a:txBody>
                  <a:tcPr>
                    <a:solidFill>
                      <a:srgbClr val="FFFFFF"/>
                    </a:solidFill>
                  </a:tcPr>
                </a:tc>
              </a:tr>
              <a:tr h="388620">
                <a:tc>
                  <a:txBody>
                    <a:bodyPr/>
                    <a:lstStyle/>
                    <a:p>
                      <a:pPr algn="ctr"/>
                      <a:r>
                        <a:rPr sz="1100">
                          <a:solidFill>
                            <a:srgbClr val="0A1733"/>
                          </a:solidFill>
                        </a:rPr>
                        <a:t>Fully real ★</a:t>
                      </a:r>
                    </a:p>
                  </a:txBody>
                  <a:tcPr>
                    <a:solidFill>
                      <a:srgbClr val="E8F0FE"/>
                    </a:solidFill>
                  </a:tcPr>
                </a:tc>
                <a:tc>
                  <a:txBody>
                    <a:bodyPr/>
                    <a:lstStyle/>
                    <a:p>
                      <a:pPr algn="ctr"/>
                      <a:r>
                        <a:rPr sz="1100">
                          <a:solidFill>
                            <a:srgbClr val="0A1733"/>
                          </a:solidFill>
                        </a:rPr>
                        <a:t>RTKLIB Trimble + real IMU + SPAN-INS truth</a:t>
                      </a:r>
                    </a:p>
                  </a:txBody>
                  <a:tcPr>
                    <a:solidFill>
                      <a:srgbClr val="E8F0FE"/>
                    </a:solidFill>
                  </a:tcPr>
                </a:tc>
                <a:tc>
                  <a:txBody>
                    <a:bodyPr/>
                    <a:lstStyle/>
                    <a:p>
                      <a:pPr algn="ctr"/>
                      <a:r>
                        <a:rPr sz="1100">
                          <a:solidFill>
                            <a:srgbClr val="0A1733"/>
                          </a:solidFill>
                        </a:rPr>
                        <a:t>47.4 m → 24.3 m</a:t>
                      </a:r>
                    </a:p>
                  </a:txBody>
                  <a:tcPr>
                    <a:solidFill>
                      <a:srgbClr val="E8F0FE"/>
                    </a:solidFill>
                  </a:tcPr>
                </a:tc>
                <a:tc>
                  <a:txBody>
                    <a:bodyPr/>
                    <a:lstStyle/>
                    <a:p>
                      <a:pPr algn="ctr"/>
                      <a:r>
                        <a:rPr sz="1100" b="1">
                          <a:solidFill>
                            <a:srgbClr val="1B873A"/>
                          </a:solidFill>
                        </a:rPr>
                        <a:t>+48.8%</a:t>
                      </a:r>
                    </a:p>
                  </a:txBody>
                  <a:tcPr>
                    <a:solidFill>
                      <a:srgbClr val="E8F0FE"/>
                    </a:solidFill>
                  </a:tcPr>
                </a:tc>
              </a:tr>
            </a:tbl>
          </a:graphicData>
        </a:graphic>
      </p:graphicFrame>
      <p:sp>
        <p:nvSpPr>
          <p:cNvPr id="20" name="Rectangle 19"/>
          <p:cNvSpPr/>
          <p:nvPr/>
        </p:nvSpPr>
        <p:spPr>
          <a:xfrm>
            <a:off x="612648" y="4617720"/>
            <a:ext cx="10972800" cy="64008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4088" y="4617720"/>
            <a:ext cx="10789920" cy="640080"/>
          </a:xfrm>
          <a:prstGeom prst="rect">
            <a:avLst/>
          </a:prstGeom>
          <a:noFill/>
        </p:spPr>
        <p:txBody>
          <a:bodyPr wrap="square">
            <a:spAutoFit/>
          </a:bodyPr>
          <a:lstStyle/>
          <a:p>
            <a:pPr algn="l"/>
            <a:r>
              <a:rPr sz="1200" b="1" i="0">
                <a:solidFill>
                  <a:srgbClr val="1B873A"/>
                </a:solidFill>
              </a:rPr>
              <a:t>★ Fully real validation: real GNSS + IMU + cm-level ground truth on Tokyo Shinjuku — the city SENTINEL never saw in training. 47.4 m → 24.3 m blocked-segment RMSE.</a:t>
            </a:r>
          </a:p>
        </p:txBody>
      </p:sp>
      <p:sp>
        <p:nvSpPr>
          <p:cNvPr id="22" name="TextBox 21"/>
          <p:cNvSpPr txBox="1"/>
          <p:nvPr/>
        </p:nvSpPr>
        <p:spPr>
          <a:xfrm>
            <a:off x="612648" y="5349240"/>
            <a:ext cx="10972800" cy="365760"/>
          </a:xfrm>
          <a:prstGeom prst="rect">
            <a:avLst/>
          </a:prstGeom>
          <a:noFill/>
        </p:spPr>
        <p:txBody>
          <a:bodyPr wrap="square">
            <a:spAutoFit/>
          </a:bodyPr>
          <a:lstStyle/>
          <a:p>
            <a:pPr algn="l"/>
            <a:r>
              <a:rPr sz="1100" b="0" i="1">
                <a:solidFill>
                  <a:srgbClr val="555555"/>
                </a:solidFill>
              </a:rPr>
              <a:t>Honest note: the dominant win is IMU aiding (odometry + NHC + ZUPT). Adaptive-R adds on top in severe multipath — quantified in the next slide.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
            <a:ext cx="12188952" cy="76809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04088"/>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47688"/>
            <a:ext cx="12188952" cy="21031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20256"/>
            <a:ext cx="12188952"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71016" y="64008"/>
            <a:ext cx="10515600" cy="603504"/>
          </a:xfrm>
          <a:prstGeom prst="rect">
            <a:avLst/>
          </a:prstGeom>
          <a:noFill/>
        </p:spPr>
        <p:txBody>
          <a:bodyPr wrap="square">
            <a:spAutoFit/>
          </a:bodyPr>
          <a:lstStyle/>
          <a:p>
            <a:pPr algn="l"/>
            <a:r>
              <a:rPr sz="1800" b="1" i="0">
                <a:solidFill>
                  <a:srgbClr val="FFFFFF"/>
                </a:solidFill>
              </a:rPr>
              <a:t>WHEN IS ADAPTIVE-R WORTH IT? — SEVERITY SWEEP</a:t>
            </a:r>
          </a:p>
        </p:txBody>
      </p:sp>
      <p:sp>
        <p:nvSpPr>
          <p:cNvPr id="7" name="TextBox 6"/>
          <p:cNvSpPr txBox="1"/>
          <p:nvPr/>
        </p:nvSpPr>
        <p:spPr>
          <a:xfrm>
            <a:off x="612648" y="6675120"/>
            <a:ext cx="3657600" cy="155448"/>
          </a:xfrm>
          <a:prstGeom prst="rect">
            <a:avLst/>
          </a:prstGeom>
          <a:noFill/>
        </p:spPr>
        <p:txBody>
          <a:bodyPr wrap="square">
            <a:spAutoFit/>
          </a:bodyPr>
          <a:lstStyle/>
          <a:p>
            <a:pPr algn="l"/>
            <a:r>
              <a:rPr sz="800" b="0" i="0">
                <a:solidFill>
                  <a:srgbClr val="BFE6FB"/>
                </a:solidFill>
              </a:rPr>
              <a:t>BEIHANG UNIVERSITY</a:t>
            </a:r>
          </a:p>
        </p:txBody>
      </p:sp>
      <p:sp>
        <p:nvSpPr>
          <p:cNvPr id="8" name="TextBox 7"/>
          <p:cNvSpPr txBox="1"/>
          <p:nvPr/>
        </p:nvSpPr>
        <p:spPr>
          <a:xfrm>
            <a:off x="8686800" y="6675120"/>
            <a:ext cx="2926080" cy="155448"/>
          </a:xfrm>
          <a:prstGeom prst="rect">
            <a:avLst/>
          </a:prstGeom>
          <a:noFill/>
        </p:spPr>
        <p:txBody>
          <a:bodyPr wrap="square">
            <a:spAutoFit/>
          </a:bodyPr>
          <a:lstStyle/>
          <a:p>
            <a:pPr algn="r"/>
            <a:r>
              <a:rPr sz="800" b="0" i="0">
                <a:solidFill>
                  <a:srgbClr val="FFFFFF"/>
                </a:solidFill>
              </a:rPr>
              <a:t>SENTINEL-GNSS · PILOT</a:t>
            </a:r>
          </a:p>
        </p:txBody>
      </p:sp>
      <p:sp>
        <p:nvSpPr>
          <p:cNvPr id="9" name="TextBox 8"/>
          <p:cNvSpPr txBox="1"/>
          <p:nvPr/>
        </p:nvSpPr>
        <p:spPr>
          <a:xfrm>
            <a:off x="612648" y="896112"/>
            <a:ext cx="10972800" cy="320040"/>
          </a:xfrm>
          <a:prstGeom prst="rect">
            <a:avLst/>
          </a:prstGeom>
          <a:noFill/>
        </p:spPr>
        <p:txBody>
          <a:bodyPr wrap="square">
            <a:spAutoFit/>
          </a:bodyPr>
          <a:lstStyle/>
          <a:p>
            <a:pPr algn="l"/>
            <a:r>
              <a:rPr sz="1300" b="0" i="0">
                <a:solidFill>
                  <a:srgbClr val="333333"/>
                </a:solidFill>
              </a:rPr>
              <a:t>We swept multipath severity to avoid cherry-picking one scenario</a:t>
            </a:r>
          </a:p>
        </p:txBody>
      </p:sp>
      <p:sp>
        <p:nvSpPr>
          <p:cNvPr id="10" name="Rectangle 9"/>
          <p:cNvSpPr/>
          <p:nvPr/>
        </p:nvSpPr>
        <p:spPr>
          <a:xfrm>
            <a:off x="612648" y="1325880"/>
            <a:ext cx="5303520" cy="38404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648" y="1325880"/>
            <a:ext cx="5303520" cy="384048"/>
          </a:xfrm>
          <a:prstGeom prst="rect">
            <a:avLst/>
          </a:prstGeom>
          <a:noFill/>
        </p:spPr>
        <p:txBody>
          <a:bodyPr wrap="square">
            <a:spAutoFit/>
          </a:bodyPr>
          <a:lstStyle/>
          <a:p>
            <a:pPr algn="ctr"/>
            <a:r>
              <a:rPr sz="1300" b="1" i="0">
                <a:solidFill>
                  <a:srgbClr val="FFFFFF"/>
                </a:solidFill>
              </a:rPr>
              <a:t>GNSS-Only Platform (no IMU, no odometry)</a:t>
            </a:r>
          </a:p>
        </p:txBody>
      </p:sp>
      <p:sp>
        <p:nvSpPr>
          <p:cNvPr id="12" name="TextBox 11"/>
          <p:cNvSpPr txBox="1"/>
          <p:nvPr/>
        </p:nvSpPr>
        <p:spPr>
          <a:xfrm>
            <a:off x="704088" y="1828800"/>
            <a:ext cx="5120640" cy="347472"/>
          </a:xfrm>
          <a:prstGeom prst="rect">
            <a:avLst/>
          </a:prstGeom>
          <a:noFill/>
        </p:spPr>
        <p:txBody>
          <a:bodyPr wrap="square">
            <a:spAutoFit/>
          </a:bodyPr>
          <a:lstStyle/>
          <a:p>
            <a:pPr algn="l"/>
            <a:r>
              <a:rPr sz="1200" b="1" i="0">
                <a:solidFill>
                  <a:srgbClr val="C62828"/>
                </a:solidFill>
              </a:rPr>
              <a:t>●  Crossover at ~20 m multipath severity</a:t>
            </a:r>
          </a:p>
        </p:txBody>
      </p:sp>
      <p:sp>
        <p:nvSpPr>
          <p:cNvPr id="13" name="TextBox 12"/>
          <p:cNvSpPr txBox="1"/>
          <p:nvPr/>
        </p:nvSpPr>
        <p:spPr>
          <a:xfrm>
            <a:off x="704088" y="2221992"/>
            <a:ext cx="5120640" cy="347472"/>
          </a:xfrm>
          <a:prstGeom prst="rect">
            <a:avLst/>
          </a:prstGeom>
          <a:noFill/>
        </p:spPr>
        <p:txBody>
          <a:bodyPr wrap="square">
            <a:spAutoFit/>
          </a:bodyPr>
          <a:lstStyle/>
          <a:p>
            <a:pPr algn="l"/>
            <a:r>
              <a:rPr sz="1200" b="0" i="0">
                <a:solidFill>
                  <a:srgbClr val="333333"/>
                </a:solidFill>
              </a:rPr>
              <a:t>●  Below 20 m: fixed-R wins (GNSS is fine)</a:t>
            </a:r>
          </a:p>
        </p:txBody>
      </p:sp>
      <p:sp>
        <p:nvSpPr>
          <p:cNvPr id="14" name="TextBox 13"/>
          <p:cNvSpPr txBox="1"/>
          <p:nvPr/>
        </p:nvSpPr>
        <p:spPr>
          <a:xfrm>
            <a:off x="704088" y="2615184"/>
            <a:ext cx="5120640" cy="347472"/>
          </a:xfrm>
          <a:prstGeom prst="rect">
            <a:avLst/>
          </a:prstGeom>
          <a:noFill/>
        </p:spPr>
        <p:txBody>
          <a:bodyPr wrap="square">
            <a:spAutoFit/>
          </a:bodyPr>
          <a:lstStyle/>
          <a:p>
            <a:pPr algn="l"/>
            <a:r>
              <a:rPr sz="1200" b="1" i="0">
                <a:solidFill>
                  <a:srgbClr val="1B873A"/>
                </a:solidFill>
              </a:rPr>
              <a:t>●  Above 20 m: adaptive-R wins by +25–38%</a:t>
            </a:r>
          </a:p>
        </p:txBody>
      </p:sp>
      <p:sp>
        <p:nvSpPr>
          <p:cNvPr id="15" name="TextBox 14"/>
          <p:cNvSpPr txBox="1"/>
          <p:nvPr/>
        </p:nvSpPr>
        <p:spPr>
          <a:xfrm>
            <a:off x="704088" y="3008376"/>
            <a:ext cx="5120640" cy="347472"/>
          </a:xfrm>
          <a:prstGeom prst="rect">
            <a:avLst/>
          </a:prstGeom>
          <a:noFill/>
        </p:spPr>
        <p:txBody>
          <a:bodyPr wrap="square">
            <a:spAutoFit/>
          </a:bodyPr>
          <a:lstStyle/>
          <a:p>
            <a:pPr algn="l"/>
            <a:r>
              <a:rPr sz="1200" b="0" i="0">
                <a:solidFill>
                  <a:srgbClr val="0A1733"/>
                </a:solidFill>
              </a:rPr>
              <a:t>●  Deep canyons, tunnels: exactly our target</a:t>
            </a:r>
          </a:p>
        </p:txBody>
      </p:sp>
      <p:sp>
        <p:nvSpPr>
          <p:cNvPr id="16" name="TextBox 15"/>
          <p:cNvSpPr txBox="1"/>
          <p:nvPr/>
        </p:nvSpPr>
        <p:spPr>
          <a:xfrm>
            <a:off x="704088" y="3401568"/>
            <a:ext cx="5120640" cy="347472"/>
          </a:xfrm>
          <a:prstGeom prst="rect">
            <a:avLst/>
          </a:prstGeom>
          <a:noFill/>
        </p:spPr>
        <p:txBody>
          <a:bodyPr wrap="square">
            <a:spAutoFit/>
          </a:bodyPr>
          <a:lstStyle/>
          <a:p>
            <a:pPr algn="l"/>
            <a:r>
              <a:rPr sz="1200" b="0" i="0">
                <a:solidFill>
                  <a:srgbClr val="0A1733"/>
                </a:solidFill>
              </a:rPr>
              <a:t>●  Cheap receiver + prediction = strong combo</a:t>
            </a:r>
          </a:p>
        </p:txBody>
      </p:sp>
      <p:sp>
        <p:nvSpPr>
          <p:cNvPr id="17" name="Rectangle 16"/>
          <p:cNvSpPr/>
          <p:nvPr/>
        </p:nvSpPr>
        <p:spPr>
          <a:xfrm>
            <a:off x="6190488" y="1325880"/>
            <a:ext cx="5385816" cy="384048"/>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90488" y="1325880"/>
            <a:ext cx="5385816" cy="384048"/>
          </a:xfrm>
          <a:prstGeom prst="rect">
            <a:avLst/>
          </a:prstGeom>
          <a:noFill/>
        </p:spPr>
        <p:txBody>
          <a:bodyPr wrap="square">
            <a:spAutoFit/>
          </a:bodyPr>
          <a:lstStyle/>
          <a:p>
            <a:pPr algn="ctr"/>
            <a:r>
              <a:rPr sz="1300" b="1" i="0">
                <a:solidFill>
                  <a:srgbClr val="FFFFFF"/>
                </a:solidFill>
              </a:rPr>
              <a:t>Well-Aided Platform (odometry + NHC + ZUPT)</a:t>
            </a:r>
          </a:p>
        </p:txBody>
      </p:sp>
      <p:sp>
        <p:nvSpPr>
          <p:cNvPr id="19" name="TextBox 18"/>
          <p:cNvSpPr txBox="1"/>
          <p:nvPr/>
        </p:nvSpPr>
        <p:spPr>
          <a:xfrm>
            <a:off x="6281928" y="1828800"/>
            <a:ext cx="5202936" cy="347472"/>
          </a:xfrm>
          <a:prstGeom prst="rect">
            <a:avLst/>
          </a:prstGeom>
          <a:noFill/>
        </p:spPr>
        <p:txBody>
          <a:bodyPr wrap="square">
            <a:spAutoFit/>
          </a:bodyPr>
          <a:lstStyle/>
          <a:p>
            <a:pPr algn="l"/>
            <a:r>
              <a:rPr sz="1200" b="1" i="0">
                <a:solidFill>
                  <a:srgbClr val="1B873A"/>
                </a:solidFill>
              </a:rPr>
              <a:t>●  Fixed-R wins across realistic range</a:t>
            </a:r>
          </a:p>
        </p:txBody>
      </p:sp>
      <p:sp>
        <p:nvSpPr>
          <p:cNvPr id="20" name="TextBox 19"/>
          <p:cNvSpPr txBox="1"/>
          <p:nvPr/>
        </p:nvSpPr>
        <p:spPr>
          <a:xfrm>
            <a:off x="6281928" y="2221992"/>
            <a:ext cx="5202936" cy="347472"/>
          </a:xfrm>
          <a:prstGeom prst="rect">
            <a:avLst/>
          </a:prstGeom>
          <a:noFill/>
        </p:spPr>
        <p:txBody>
          <a:bodyPr wrap="square">
            <a:spAutoFit/>
          </a:bodyPr>
          <a:lstStyle/>
          <a:p>
            <a:pPr algn="l"/>
            <a:r>
              <a:rPr sz="1200" b="0" i="0">
                <a:solidFill>
                  <a:srgbClr val="0A1733"/>
                </a:solidFill>
              </a:rPr>
              <a:t>●  GNSS provides the only heading reference</a:t>
            </a:r>
          </a:p>
        </p:txBody>
      </p:sp>
      <p:sp>
        <p:nvSpPr>
          <p:cNvPr id="21" name="TextBox 20"/>
          <p:cNvSpPr txBox="1"/>
          <p:nvPr/>
        </p:nvSpPr>
        <p:spPr>
          <a:xfrm>
            <a:off x="6281928" y="2615184"/>
            <a:ext cx="5202936" cy="347472"/>
          </a:xfrm>
          <a:prstGeom prst="rect">
            <a:avLst/>
          </a:prstGeom>
          <a:noFill/>
        </p:spPr>
        <p:txBody>
          <a:bodyPr wrap="square">
            <a:spAutoFit/>
          </a:bodyPr>
          <a:lstStyle/>
          <a:p>
            <a:pPr algn="l"/>
            <a:r>
              <a:rPr sz="1200" b="1" i="0">
                <a:solidFill>
                  <a:srgbClr val="C62828"/>
                </a:solidFill>
              </a:rPr>
              <a:t>●  Blanket R-inflation → heading drift</a:t>
            </a:r>
          </a:p>
        </p:txBody>
      </p:sp>
      <p:sp>
        <p:nvSpPr>
          <p:cNvPr id="22" name="TextBox 21"/>
          <p:cNvSpPr txBox="1"/>
          <p:nvPr/>
        </p:nvSpPr>
        <p:spPr>
          <a:xfrm>
            <a:off x="6281928" y="3008376"/>
            <a:ext cx="5202936" cy="347472"/>
          </a:xfrm>
          <a:prstGeom prst="rect">
            <a:avLst/>
          </a:prstGeom>
          <a:noFill/>
        </p:spPr>
        <p:txBody>
          <a:bodyPr wrap="square">
            <a:spAutoFit/>
          </a:bodyPr>
          <a:lstStyle/>
          <a:p>
            <a:pPr algn="l"/>
            <a:r>
              <a:rPr sz="1200" b="0" i="0">
                <a:solidFill>
                  <a:srgbClr val="333333"/>
                </a:solidFill>
              </a:rPr>
              <a:t>●  Odometry = speed;  NHC = no lateral slip</a:t>
            </a:r>
          </a:p>
        </p:txBody>
      </p:sp>
      <p:sp>
        <p:nvSpPr>
          <p:cNvPr id="23" name="TextBox 22"/>
          <p:cNvSpPr txBox="1"/>
          <p:nvPr/>
        </p:nvSpPr>
        <p:spPr>
          <a:xfrm>
            <a:off x="6281928" y="3401568"/>
            <a:ext cx="5202936" cy="347472"/>
          </a:xfrm>
          <a:prstGeom prst="rect">
            <a:avLst/>
          </a:prstGeom>
          <a:noFill/>
        </p:spPr>
        <p:txBody>
          <a:bodyPr wrap="square">
            <a:spAutoFit/>
          </a:bodyPr>
          <a:lstStyle/>
          <a:p>
            <a:pPr algn="l"/>
            <a:r>
              <a:rPr sz="1200" b="0" i="0">
                <a:solidFill>
                  <a:srgbClr val="333333"/>
                </a:solidFill>
              </a:rPr>
              <a:t>●  But heading has no absolute backup</a:t>
            </a:r>
          </a:p>
        </p:txBody>
      </p:sp>
      <p:sp>
        <p:nvSpPr>
          <p:cNvPr id="24" name="Rectangle 23"/>
          <p:cNvSpPr/>
          <p:nvPr/>
        </p:nvSpPr>
        <p:spPr>
          <a:xfrm>
            <a:off x="6035040" y="1325880"/>
            <a:ext cx="45720" cy="24688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2648" y="4187952"/>
            <a:ext cx="10972800" cy="50292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4088" y="4187952"/>
            <a:ext cx="10789920" cy="502920"/>
          </a:xfrm>
          <a:prstGeom prst="rect">
            <a:avLst/>
          </a:prstGeom>
          <a:noFill/>
        </p:spPr>
        <p:txBody>
          <a:bodyPr wrap="square">
            <a:spAutoFit/>
          </a:bodyPr>
          <a:lstStyle/>
          <a:p>
            <a:pPr algn="l"/>
            <a:r>
              <a:rPr sz="1200" b="1" i="0">
                <a:solidFill>
                  <a:srgbClr val="003893"/>
                </a:solidFill>
              </a:rPr>
              <a:t>Practical rule: use adaptive-R on GNSS-only platforms in deep-canyon / tunnel environments. On full AV sensor suite, SENTINEL’s role is integrity flagging and regime selection.</a:t>
            </a:r>
          </a:p>
        </p:txBody>
      </p:sp>
      <p:sp>
        <p:nvSpPr>
          <p:cNvPr id="27" name="TextBox 26"/>
          <p:cNvSpPr txBox="1"/>
          <p:nvPr/>
        </p:nvSpPr>
        <p:spPr>
          <a:xfrm>
            <a:off x="612648" y="4800600"/>
            <a:ext cx="5029200" cy="274320"/>
          </a:xfrm>
          <a:prstGeom prst="rect">
            <a:avLst/>
          </a:prstGeom>
          <a:noFill/>
        </p:spPr>
        <p:txBody>
          <a:bodyPr wrap="square">
            <a:spAutoFit/>
          </a:bodyPr>
          <a:lstStyle/>
          <a:p>
            <a:pPr algn="l"/>
            <a:r>
              <a:rPr sz="1200" b="1" i="0">
                <a:solidFill>
                  <a:srgbClr val="005BAC"/>
                </a:solidFill>
              </a:rPr>
              <a:t>Role of SENTINEL in a full AV stack:</a:t>
            </a:r>
          </a:p>
        </p:txBody>
      </p:sp>
      <p:sp>
        <p:nvSpPr>
          <p:cNvPr id="28" name="TextBox 27"/>
          <p:cNvSpPr txBox="1"/>
          <p:nvPr/>
        </p:nvSpPr>
        <p:spPr>
          <a:xfrm>
            <a:off x="704088" y="5102352"/>
            <a:ext cx="10789920" cy="301752"/>
          </a:xfrm>
          <a:prstGeom prst="rect">
            <a:avLst/>
          </a:prstGeom>
          <a:noFill/>
        </p:spPr>
        <p:txBody>
          <a:bodyPr wrap="square">
            <a:spAutoFit/>
          </a:bodyPr>
          <a:lstStyle/>
          <a:p>
            <a:pPr algn="l"/>
            <a:r>
              <a:rPr sz="1100" b="0" i="0">
                <a:solidFill>
                  <a:srgbClr val="0A1733"/>
                </a:solidFill>
              </a:rPr>
              <a:t>✔  Trigger sensor-fusion mode switch (GNSS-primary → odometry-primary)</a:t>
            </a:r>
          </a:p>
        </p:txBody>
      </p:sp>
      <p:sp>
        <p:nvSpPr>
          <p:cNvPr id="29" name="TextBox 28"/>
          <p:cNvSpPr txBox="1"/>
          <p:nvPr/>
        </p:nvSpPr>
        <p:spPr>
          <a:xfrm>
            <a:off x="704088" y="5422392"/>
            <a:ext cx="10789920" cy="301752"/>
          </a:xfrm>
          <a:prstGeom prst="rect">
            <a:avLst/>
          </a:prstGeom>
          <a:noFill/>
        </p:spPr>
        <p:txBody>
          <a:bodyPr wrap="square">
            <a:spAutoFit/>
          </a:bodyPr>
          <a:lstStyle/>
          <a:p>
            <a:pPr algn="l"/>
            <a:r>
              <a:rPr sz="1100" b="0" i="0">
                <a:solidFill>
                  <a:srgbClr val="0A1733"/>
                </a:solidFill>
              </a:rPr>
              <a:t>✔  Alert path planner: predicted blockage zone ahead</a:t>
            </a:r>
          </a:p>
        </p:txBody>
      </p:sp>
      <p:sp>
        <p:nvSpPr>
          <p:cNvPr id="30" name="TextBox 29"/>
          <p:cNvSpPr txBox="1"/>
          <p:nvPr/>
        </p:nvSpPr>
        <p:spPr>
          <a:xfrm>
            <a:off x="704088" y="5742431"/>
            <a:ext cx="10789920" cy="301752"/>
          </a:xfrm>
          <a:prstGeom prst="rect">
            <a:avLst/>
          </a:prstGeom>
          <a:noFill/>
        </p:spPr>
        <p:txBody>
          <a:bodyPr wrap="square">
            <a:spAutoFit/>
          </a:bodyPr>
          <a:lstStyle/>
          <a:p>
            <a:pPr algn="l"/>
            <a:r>
              <a:rPr sz="1100" b="0" i="0">
                <a:solidFill>
                  <a:srgbClr val="0A1733"/>
                </a:solidFill>
              </a:rPr>
              <a:t>✔  Activate ZUPT when vehicle is likely stopped in blocked zone</a:t>
            </a:r>
          </a:p>
        </p:txBody>
      </p:sp>
      <p:sp>
        <p:nvSpPr>
          <p:cNvPr id="31" name="TextBox 30"/>
          <p:cNvSpPr txBox="1"/>
          <p:nvPr/>
        </p:nvSpPr>
        <p:spPr>
          <a:xfrm>
            <a:off x="704088" y="6062471"/>
            <a:ext cx="10789920" cy="301752"/>
          </a:xfrm>
          <a:prstGeom prst="rect">
            <a:avLst/>
          </a:prstGeom>
          <a:noFill/>
        </p:spPr>
        <p:txBody>
          <a:bodyPr wrap="square">
            <a:spAutoFit/>
          </a:bodyPr>
          <a:lstStyle/>
          <a:p>
            <a:pPr algn="l"/>
            <a:r>
              <a:rPr sz="1100" b="0" i="0">
                <a:solidFill>
                  <a:srgbClr val="0A1733"/>
                </a:solidFill>
              </a:rPr>
              <a:t>✔  Flag integrity failure to downstream systems (HD map localisation)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
            <a:ext cx="12188952" cy="76809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04088"/>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47688"/>
            <a:ext cx="12188952" cy="21031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20256"/>
            <a:ext cx="12188952"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71016" y="64008"/>
            <a:ext cx="10515600" cy="603504"/>
          </a:xfrm>
          <a:prstGeom prst="rect">
            <a:avLst/>
          </a:prstGeom>
          <a:noFill/>
        </p:spPr>
        <p:txBody>
          <a:bodyPr wrap="square">
            <a:spAutoFit/>
          </a:bodyPr>
          <a:lstStyle/>
          <a:p>
            <a:pPr algn="l"/>
            <a:r>
              <a:rPr sz="1800" b="1" i="0">
                <a:solidFill>
                  <a:srgbClr val="FFFFFF"/>
                </a:solidFill>
              </a:rPr>
              <a:t>SENTINEL-GNSS DASHBOARD — REAL-TIME ANALYTICS</a:t>
            </a:r>
          </a:p>
        </p:txBody>
      </p:sp>
      <p:sp>
        <p:nvSpPr>
          <p:cNvPr id="7" name="TextBox 6"/>
          <p:cNvSpPr txBox="1"/>
          <p:nvPr/>
        </p:nvSpPr>
        <p:spPr>
          <a:xfrm>
            <a:off x="612648" y="6675120"/>
            <a:ext cx="3657600" cy="155448"/>
          </a:xfrm>
          <a:prstGeom prst="rect">
            <a:avLst/>
          </a:prstGeom>
          <a:noFill/>
        </p:spPr>
        <p:txBody>
          <a:bodyPr wrap="square">
            <a:spAutoFit/>
          </a:bodyPr>
          <a:lstStyle/>
          <a:p>
            <a:pPr algn="l"/>
            <a:r>
              <a:rPr sz="800" b="0" i="0">
                <a:solidFill>
                  <a:srgbClr val="BFE6FB"/>
                </a:solidFill>
              </a:rPr>
              <a:t>BEIHANG UNIVERSITY</a:t>
            </a:r>
          </a:p>
        </p:txBody>
      </p:sp>
      <p:sp>
        <p:nvSpPr>
          <p:cNvPr id="8" name="TextBox 7"/>
          <p:cNvSpPr txBox="1"/>
          <p:nvPr/>
        </p:nvSpPr>
        <p:spPr>
          <a:xfrm>
            <a:off x="8686800" y="6675120"/>
            <a:ext cx="2926080" cy="155448"/>
          </a:xfrm>
          <a:prstGeom prst="rect">
            <a:avLst/>
          </a:prstGeom>
          <a:noFill/>
        </p:spPr>
        <p:txBody>
          <a:bodyPr wrap="square">
            <a:spAutoFit/>
          </a:bodyPr>
          <a:lstStyle/>
          <a:p>
            <a:pPr algn="r"/>
            <a:r>
              <a:rPr sz="800" b="0" i="0">
                <a:solidFill>
                  <a:srgbClr val="FFFFFF"/>
                </a:solidFill>
              </a:rPr>
              <a:t>SENTINEL-GNSS · PILOT</a:t>
            </a:r>
          </a:p>
        </p:txBody>
      </p:sp>
      <p:sp>
        <p:nvSpPr>
          <p:cNvPr id="9" name="TextBox 8"/>
          <p:cNvSpPr txBox="1"/>
          <p:nvPr/>
        </p:nvSpPr>
        <p:spPr>
          <a:xfrm>
            <a:off x="612648" y="896112"/>
            <a:ext cx="10972800" cy="320040"/>
          </a:xfrm>
          <a:prstGeom prst="rect">
            <a:avLst/>
          </a:prstGeom>
          <a:noFill/>
        </p:spPr>
        <p:txBody>
          <a:bodyPr wrap="square">
            <a:spAutoFit/>
          </a:bodyPr>
          <a:lstStyle/>
          <a:p>
            <a:pPr algn="l"/>
            <a:r>
              <a:rPr sz="1300" b="0" i="0">
                <a:solidFill>
                  <a:srgbClr val="333333"/>
                </a:solidFill>
              </a:rPr>
              <a:t>FastAPI backend + Next.js frontend · WebSocket streaming · Runs on any laptop</a:t>
            </a:r>
          </a:p>
        </p:txBody>
      </p:sp>
      <p:sp>
        <p:nvSpPr>
          <p:cNvPr id="10" name="Rectangle 9"/>
          <p:cNvSpPr/>
          <p:nvPr/>
        </p:nvSpPr>
        <p:spPr>
          <a:xfrm>
            <a:off x="612648" y="1325880"/>
            <a:ext cx="3657600" cy="16916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 y="1325880"/>
            <a:ext cx="3657600" cy="91440"/>
          </a:xfrm>
          <a:prstGeom prst="rect">
            <a:avLst/>
          </a:prstGeom>
          <a:solidFill>
            <a:srgbClr val="1B8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2648" y="1435607"/>
            <a:ext cx="347472" cy="347472"/>
          </a:xfrm>
          <a:prstGeom prst="rect">
            <a:avLst/>
          </a:prstGeom>
          <a:solidFill>
            <a:srgbClr val="1B8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2648" y="1435607"/>
            <a:ext cx="347472" cy="347472"/>
          </a:xfrm>
          <a:prstGeom prst="rect">
            <a:avLst/>
          </a:prstGeom>
          <a:noFill/>
        </p:spPr>
        <p:txBody>
          <a:bodyPr wrap="square">
            <a:spAutoFit/>
          </a:bodyPr>
          <a:lstStyle/>
          <a:p>
            <a:pPr algn="ctr"/>
            <a:r>
              <a:rPr sz="1100" b="1" i="0">
                <a:solidFill>
                  <a:srgbClr val="FFFFFF"/>
                </a:solidFill>
              </a:rPr>
              <a:t>01</a:t>
            </a:r>
          </a:p>
        </p:txBody>
      </p:sp>
      <p:sp>
        <p:nvSpPr>
          <p:cNvPr id="14" name="TextBox 13"/>
          <p:cNvSpPr txBox="1"/>
          <p:nvPr/>
        </p:nvSpPr>
        <p:spPr>
          <a:xfrm>
            <a:off x="1024128" y="1435607"/>
            <a:ext cx="3154680" cy="365760"/>
          </a:xfrm>
          <a:prstGeom prst="rect">
            <a:avLst/>
          </a:prstGeom>
          <a:noFill/>
        </p:spPr>
        <p:txBody>
          <a:bodyPr wrap="square">
            <a:spAutoFit/>
          </a:bodyPr>
          <a:lstStyle/>
          <a:p>
            <a:pPr algn="l"/>
            <a:r>
              <a:rPr sz="1200" b="1" i="0">
                <a:solidFill>
                  <a:srgbClr val="0A1733"/>
                </a:solidFill>
              </a:rPr>
              <a:t>Signal Gauge</a:t>
            </a:r>
          </a:p>
        </p:txBody>
      </p:sp>
      <p:sp>
        <p:nvSpPr>
          <p:cNvPr id="15" name="TextBox 14"/>
          <p:cNvSpPr txBox="1"/>
          <p:nvPr/>
        </p:nvSpPr>
        <p:spPr>
          <a:xfrm>
            <a:off x="722376" y="1874519"/>
            <a:ext cx="3474720" cy="868680"/>
          </a:xfrm>
          <a:prstGeom prst="rect">
            <a:avLst/>
          </a:prstGeom>
          <a:noFill/>
        </p:spPr>
        <p:txBody>
          <a:bodyPr wrap="square">
            <a:spAutoFit/>
          </a:bodyPr>
          <a:lstStyle/>
          <a:p>
            <a:pPr algn="l"/>
            <a:r>
              <a:rPr sz="1100" b="0" i="0">
                <a:solidFill>
                  <a:srgbClr val="333333"/>
                </a:solidFill>
              </a:rPr>
              <a:t>P(DEGRADED) at +5 / +15 / +30 s
Colour-coded green / amber / red</a:t>
            </a:r>
          </a:p>
        </p:txBody>
      </p:sp>
      <p:sp>
        <p:nvSpPr>
          <p:cNvPr id="16" name="Rectangle 15"/>
          <p:cNvSpPr/>
          <p:nvPr/>
        </p:nvSpPr>
        <p:spPr>
          <a:xfrm>
            <a:off x="4425696" y="1325880"/>
            <a:ext cx="3657600" cy="16916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425696" y="1325880"/>
            <a:ext cx="3657600" cy="91440"/>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425696" y="1435607"/>
            <a:ext cx="347472" cy="347472"/>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25696" y="1435607"/>
            <a:ext cx="347472" cy="347472"/>
          </a:xfrm>
          <a:prstGeom prst="rect">
            <a:avLst/>
          </a:prstGeom>
          <a:noFill/>
        </p:spPr>
        <p:txBody>
          <a:bodyPr wrap="square">
            <a:spAutoFit/>
          </a:bodyPr>
          <a:lstStyle/>
          <a:p>
            <a:pPr algn="ctr"/>
            <a:r>
              <a:rPr sz="1100" b="1" i="0">
                <a:solidFill>
                  <a:srgbClr val="FFFFFF"/>
                </a:solidFill>
              </a:rPr>
              <a:t>02</a:t>
            </a:r>
          </a:p>
        </p:txBody>
      </p:sp>
      <p:sp>
        <p:nvSpPr>
          <p:cNvPr id="20" name="TextBox 19"/>
          <p:cNvSpPr txBox="1"/>
          <p:nvPr/>
        </p:nvSpPr>
        <p:spPr>
          <a:xfrm>
            <a:off x="4837176" y="1435607"/>
            <a:ext cx="3154680" cy="365760"/>
          </a:xfrm>
          <a:prstGeom prst="rect">
            <a:avLst/>
          </a:prstGeom>
          <a:noFill/>
        </p:spPr>
        <p:txBody>
          <a:bodyPr wrap="square">
            <a:spAutoFit/>
          </a:bodyPr>
          <a:lstStyle/>
          <a:p>
            <a:pPr algn="l"/>
            <a:r>
              <a:rPr sz="1200" b="1" i="0">
                <a:solidFill>
                  <a:srgbClr val="0A1733"/>
                </a:solidFill>
              </a:rPr>
              <a:t>Class Probability Bars</a:t>
            </a:r>
          </a:p>
        </p:txBody>
      </p:sp>
      <p:sp>
        <p:nvSpPr>
          <p:cNvPr id="21" name="TextBox 20"/>
          <p:cNvSpPr txBox="1"/>
          <p:nvPr/>
        </p:nvSpPr>
        <p:spPr>
          <a:xfrm>
            <a:off x="4535424" y="1874519"/>
            <a:ext cx="3474720" cy="868680"/>
          </a:xfrm>
          <a:prstGeom prst="rect">
            <a:avLst/>
          </a:prstGeom>
          <a:noFill/>
        </p:spPr>
        <p:txBody>
          <a:bodyPr wrap="square">
            <a:spAutoFit/>
          </a:bodyPr>
          <a:lstStyle/>
          <a:p>
            <a:pPr algn="l"/>
            <a:r>
              <a:rPr sz="1100" b="0" i="0">
                <a:solidFill>
                  <a:srgbClr val="333333"/>
                </a:solidFill>
              </a:rPr>
              <a:t>CLEAN / WARNING / DEGRADED
Live confidence per horizon</a:t>
            </a:r>
          </a:p>
        </p:txBody>
      </p:sp>
      <p:sp>
        <p:nvSpPr>
          <p:cNvPr id="22" name="Rectangle 21"/>
          <p:cNvSpPr/>
          <p:nvPr/>
        </p:nvSpPr>
        <p:spPr>
          <a:xfrm>
            <a:off x="8238744" y="1325880"/>
            <a:ext cx="3657600" cy="16916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238744" y="1325880"/>
            <a:ext cx="3657600" cy="9144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238744" y="1435607"/>
            <a:ext cx="347472" cy="34747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38744" y="1435607"/>
            <a:ext cx="347472" cy="347472"/>
          </a:xfrm>
          <a:prstGeom prst="rect">
            <a:avLst/>
          </a:prstGeom>
          <a:noFill/>
        </p:spPr>
        <p:txBody>
          <a:bodyPr wrap="square">
            <a:spAutoFit/>
          </a:bodyPr>
          <a:lstStyle/>
          <a:p>
            <a:pPr algn="ctr"/>
            <a:r>
              <a:rPr sz="1100" b="1" i="0">
                <a:solidFill>
                  <a:srgbClr val="FFFFFF"/>
                </a:solidFill>
              </a:rPr>
              <a:t>03</a:t>
            </a:r>
          </a:p>
        </p:txBody>
      </p:sp>
      <p:sp>
        <p:nvSpPr>
          <p:cNvPr id="26" name="TextBox 25"/>
          <p:cNvSpPr txBox="1"/>
          <p:nvPr/>
        </p:nvSpPr>
        <p:spPr>
          <a:xfrm>
            <a:off x="8650224" y="1435607"/>
            <a:ext cx="3154680" cy="365760"/>
          </a:xfrm>
          <a:prstGeom prst="rect">
            <a:avLst/>
          </a:prstGeom>
          <a:noFill/>
        </p:spPr>
        <p:txBody>
          <a:bodyPr wrap="square">
            <a:spAutoFit/>
          </a:bodyPr>
          <a:lstStyle/>
          <a:p>
            <a:pPr algn="l"/>
            <a:r>
              <a:rPr sz="1200" b="1" i="0">
                <a:solidFill>
                  <a:srgbClr val="0A1733"/>
                </a:solidFill>
              </a:rPr>
              <a:t>Trajectory Map</a:t>
            </a:r>
          </a:p>
        </p:txBody>
      </p:sp>
      <p:sp>
        <p:nvSpPr>
          <p:cNvPr id="27" name="TextBox 26"/>
          <p:cNvSpPr txBox="1"/>
          <p:nvPr/>
        </p:nvSpPr>
        <p:spPr>
          <a:xfrm>
            <a:off x="8348471" y="1874519"/>
            <a:ext cx="3474720" cy="868680"/>
          </a:xfrm>
          <a:prstGeom prst="rect">
            <a:avLst/>
          </a:prstGeom>
          <a:noFill/>
        </p:spPr>
        <p:txBody>
          <a:bodyPr wrap="square">
            <a:spAutoFit/>
          </a:bodyPr>
          <a:lstStyle/>
          <a:p>
            <a:pPr algn="l"/>
            <a:r>
              <a:rPr sz="1100" b="0" i="0">
                <a:solidFill>
                  <a:srgbClr val="333333"/>
                </a:solidFill>
              </a:rPr>
              <a:t>Vehicle path coloured by
predicted risk level</a:t>
            </a:r>
          </a:p>
        </p:txBody>
      </p:sp>
      <p:sp>
        <p:nvSpPr>
          <p:cNvPr id="28" name="Rectangle 27"/>
          <p:cNvSpPr/>
          <p:nvPr/>
        </p:nvSpPr>
        <p:spPr>
          <a:xfrm>
            <a:off x="612648" y="3218688"/>
            <a:ext cx="3657600" cy="16916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2648" y="3218688"/>
            <a:ext cx="3657600" cy="91440"/>
          </a:xfrm>
          <a:prstGeom prst="rect">
            <a:avLst/>
          </a:prstGeom>
          <a:solidFill>
            <a:srgbClr val="0083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12648" y="3328416"/>
            <a:ext cx="347472" cy="347472"/>
          </a:xfrm>
          <a:prstGeom prst="rect">
            <a:avLst/>
          </a:prstGeom>
          <a:solidFill>
            <a:srgbClr val="0083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12648" y="3328416"/>
            <a:ext cx="347472" cy="347472"/>
          </a:xfrm>
          <a:prstGeom prst="rect">
            <a:avLst/>
          </a:prstGeom>
          <a:noFill/>
        </p:spPr>
        <p:txBody>
          <a:bodyPr wrap="square">
            <a:spAutoFit/>
          </a:bodyPr>
          <a:lstStyle/>
          <a:p>
            <a:pPr algn="ctr"/>
            <a:r>
              <a:rPr sz="1100" b="1" i="0">
                <a:solidFill>
                  <a:srgbClr val="FFFFFF"/>
                </a:solidFill>
              </a:rPr>
              <a:t>04</a:t>
            </a:r>
          </a:p>
        </p:txBody>
      </p:sp>
      <p:sp>
        <p:nvSpPr>
          <p:cNvPr id="32" name="TextBox 31"/>
          <p:cNvSpPr txBox="1"/>
          <p:nvPr/>
        </p:nvSpPr>
        <p:spPr>
          <a:xfrm>
            <a:off x="1024128" y="3328416"/>
            <a:ext cx="3154680" cy="365760"/>
          </a:xfrm>
          <a:prstGeom prst="rect">
            <a:avLst/>
          </a:prstGeom>
          <a:noFill/>
        </p:spPr>
        <p:txBody>
          <a:bodyPr wrap="square">
            <a:spAutoFit/>
          </a:bodyPr>
          <a:lstStyle/>
          <a:p>
            <a:pPr algn="l"/>
            <a:r>
              <a:rPr sz="1200" b="1" i="0">
                <a:solidFill>
                  <a:srgbClr val="0A1733"/>
                </a:solidFill>
              </a:rPr>
              <a:t>P(DEGRADED) Timeline</a:t>
            </a:r>
          </a:p>
        </p:txBody>
      </p:sp>
      <p:sp>
        <p:nvSpPr>
          <p:cNvPr id="33" name="TextBox 32"/>
          <p:cNvSpPr txBox="1"/>
          <p:nvPr/>
        </p:nvSpPr>
        <p:spPr>
          <a:xfrm>
            <a:off x="722376" y="3767328"/>
            <a:ext cx="3474720" cy="868680"/>
          </a:xfrm>
          <a:prstGeom prst="rect">
            <a:avLst/>
          </a:prstGeom>
          <a:noFill/>
        </p:spPr>
        <p:txBody>
          <a:bodyPr wrap="square">
            <a:spAutoFit/>
          </a:bodyPr>
          <a:lstStyle/>
          <a:p>
            <a:pPr algn="l"/>
            <a:r>
              <a:rPr sz="1100" b="0" i="0">
                <a:solidFill>
                  <a:srgbClr val="333333"/>
                </a:solidFill>
              </a:rPr>
              <a:t>All 3 horizons streaming
with threshold lines</a:t>
            </a:r>
          </a:p>
        </p:txBody>
      </p:sp>
      <p:sp>
        <p:nvSpPr>
          <p:cNvPr id="34" name="Rectangle 33"/>
          <p:cNvSpPr/>
          <p:nvPr/>
        </p:nvSpPr>
        <p:spPr>
          <a:xfrm>
            <a:off x="4425696" y="3218688"/>
            <a:ext cx="3657600" cy="16916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425696" y="3218688"/>
            <a:ext cx="3657600" cy="9144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425696" y="3328416"/>
            <a:ext cx="347472" cy="347472"/>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25696" y="3328416"/>
            <a:ext cx="347472" cy="347472"/>
          </a:xfrm>
          <a:prstGeom prst="rect">
            <a:avLst/>
          </a:prstGeom>
          <a:noFill/>
        </p:spPr>
        <p:txBody>
          <a:bodyPr wrap="square">
            <a:spAutoFit/>
          </a:bodyPr>
          <a:lstStyle/>
          <a:p>
            <a:pPr algn="ctr"/>
            <a:r>
              <a:rPr sz="1100" b="1" i="0">
                <a:solidFill>
                  <a:srgbClr val="FFFFFF"/>
                </a:solidFill>
              </a:rPr>
              <a:t>05</a:t>
            </a:r>
          </a:p>
        </p:txBody>
      </p:sp>
      <p:sp>
        <p:nvSpPr>
          <p:cNvPr id="38" name="TextBox 37"/>
          <p:cNvSpPr txBox="1"/>
          <p:nvPr/>
        </p:nvSpPr>
        <p:spPr>
          <a:xfrm>
            <a:off x="4837176" y="3328416"/>
            <a:ext cx="3154680" cy="365760"/>
          </a:xfrm>
          <a:prstGeom prst="rect">
            <a:avLst/>
          </a:prstGeom>
          <a:noFill/>
        </p:spPr>
        <p:txBody>
          <a:bodyPr wrap="square">
            <a:spAutoFit/>
          </a:bodyPr>
          <a:lstStyle/>
          <a:p>
            <a:pPr algn="l"/>
            <a:r>
              <a:rPr sz="1200" b="1" i="0">
                <a:solidFill>
                  <a:srgbClr val="0A1733"/>
                </a:solidFill>
              </a:rPr>
              <a:t>EKF Analytics</a:t>
            </a:r>
          </a:p>
        </p:txBody>
      </p:sp>
      <p:sp>
        <p:nvSpPr>
          <p:cNvPr id="39" name="TextBox 38"/>
          <p:cNvSpPr txBox="1"/>
          <p:nvPr/>
        </p:nvSpPr>
        <p:spPr>
          <a:xfrm>
            <a:off x="4535424" y="3767328"/>
            <a:ext cx="3474720" cy="868680"/>
          </a:xfrm>
          <a:prstGeom prst="rect">
            <a:avLst/>
          </a:prstGeom>
          <a:noFill/>
        </p:spPr>
        <p:txBody>
          <a:bodyPr wrap="square">
            <a:spAutoFit/>
          </a:bodyPr>
          <a:lstStyle/>
          <a:p>
            <a:pPr algn="l"/>
            <a:r>
              <a:rPr sz="1100" b="0" i="0">
                <a:solidFill>
                  <a:srgbClr val="333333"/>
                </a:solidFill>
              </a:rPr>
              <a:t>Blocked-segment RMSE by filter
Aided EKF wins at 24.3 m</a:t>
            </a:r>
          </a:p>
        </p:txBody>
      </p:sp>
      <p:sp>
        <p:nvSpPr>
          <p:cNvPr id="40" name="Rectangle 39"/>
          <p:cNvSpPr/>
          <p:nvPr/>
        </p:nvSpPr>
        <p:spPr>
          <a:xfrm>
            <a:off x="8238744" y="3218688"/>
            <a:ext cx="3657600" cy="16916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238744" y="3218688"/>
            <a:ext cx="3657600" cy="914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238744" y="3328416"/>
            <a:ext cx="347472" cy="347472"/>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38744" y="3328416"/>
            <a:ext cx="347472" cy="347472"/>
          </a:xfrm>
          <a:prstGeom prst="rect">
            <a:avLst/>
          </a:prstGeom>
          <a:noFill/>
        </p:spPr>
        <p:txBody>
          <a:bodyPr wrap="square">
            <a:spAutoFit/>
          </a:bodyPr>
          <a:lstStyle/>
          <a:p>
            <a:pPr algn="ctr"/>
            <a:r>
              <a:rPr sz="1100" b="1" i="0">
                <a:solidFill>
                  <a:srgbClr val="FFFFFF"/>
                </a:solidFill>
              </a:rPr>
              <a:t>06</a:t>
            </a:r>
          </a:p>
        </p:txBody>
      </p:sp>
      <p:sp>
        <p:nvSpPr>
          <p:cNvPr id="44" name="TextBox 43"/>
          <p:cNvSpPr txBox="1"/>
          <p:nvPr/>
        </p:nvSpPr>
        <p:spPr>
          <a:xfrm>
            <a:off x="8650224" y="3328416"/>
            <a:ext cx="3154680" cy="365760"/>
          </a:xfrm>
          <a:prstGeom prst="rect">
            <a:avLst/>
          </a:prstGeom>
          <a:noFill/>
        </p:spPr>
        <p:txBody>
          <a:bodyPr wrap="square">
            <a:spAutoFit/>
          </a:bodyPr>
          <a:lstStyle/>
          <a:p>
            <a:pPr algn="l"/>
            <a:r>
              <a:rPr sz="1200" b="1" i="0">
                <a:solidFill>
                  <a:srgbClr val="0A1733"/>
                </a:solidFill>
              </a:rPr>
              <a:t>Alert Centre</a:t>
            </a:r>
          </a:p>
        </p:txBody>
      </p:sp>
      <p:sp>
        <p:nvSpPr>
          <p:cNvPr id="45" name="TextBox 44"/>
          <p:cNvSpPr txBox="1"/>
          <p:nvPr/>
        </p:nvSpPr>
        <p:spPr>
          <a:xfrm>
            <a:off x="8348471" y="3767328"/>
            <a:ext cx="3474720" cy="868680"/>
          </a:xfrm>
          <a:prstGeom prst="rect">
            <a:avLst/>
          </a:prstGeom>
          <a:noFill/>
        </p:spPr>
        <p:txBody>
          <a:bodyPr wrap="square">
            <a:spAutoFit/>
          </a:bodyPr>
          <a:lstStyle/>
          <a:p>
            <a:pPr algn="l"/>
            <a:r>
              <a:rPr sz="1100" b="0" i="0">
                <a:solidFill>
                  <a:srgbClr val="333333"/>
                </a:solidFill>
              </a:rPr>
              <a:t>CRITICAL: P &gt; 0.8 @ +5 s
WARNING: P &gt; 0.6 @ +15 s</a:t>
            </a:r>
          </a:p>
        </p:txBody>
      </p:sp>
      <p:sp>
        <p:nvSpPr>
          <p:cNvPr id="46" name="Rectangle 45"/>
          <p:cNvSpPr/>
          <p:nvPr/>
        </p:nvSpPr>
        <p:spPr>
          <a:xfrm>
            <a:off x="612648" y="6291072"/>
            <a:ext cx="10972800"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04088" y="6291072"/>
            <a:ext cx="10789920" cy="365760"/>
          </a:xfrm>
          <a:prstGeom prst="rect">
            <a:avLst/>
          </a:prstGeom>
          <a:noFill/>
        </p:spPr>
        <p:txBody>
          <a:bodyPr wrap="square">
            <a:spAutoFit/>
          </a:bodyPr>
          <a:lstStyle/>
          <a:p>
            <a:pPr algn="ctr"/>
            <a:r>
              <a:rPr sz="1200" b="0" i="0">
                <a:solidFill>
                  <a:srgbClr val="FFFFFF"/>
                </a:solidFill>
              </a:rPr>
              <a:t>Pure-SVG visualisations · Zero external dependencies · Works offline · WebSocket @ 1 Hz</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
            <a:ext cx="12188952" cy="76809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04088"/>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47688"/>
            <a:ext cx="12188952" cy="21031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20256"/>
            <a:ext cx="12188952"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71016" y="64008"/>
            <a:ext cx="10515600" cy="603504"/>
          </a:xfrm>
          <a:prstGeom prst="rect">
            <a:avLst/>
          </a:prstGeom>
          <a:noFill/>
        </p:spPr>
        <p:txBody>
          <a:bodyPr wrap="square">
            <a:spAutoFit/>
          </a:bodyPr>
          <a:lstStyle/>
          <a:p>
            <a:pPr algn="l"/>
            <a:r>
              <a:rPr sz="1800" b="1" i="0">
                <a:solidFill>
                  <a:srgbClr val="FFFFFF"/>
                </a:solidFill>
              </a:rPr>
              <a:t>LIVE DEMO — 3 MINUTES</a:t>
            </a:r>
          </a:p>
        </p:txBody>
      </p:sp>
      <p:sp>
        <p:nvSpPr>
          <p:cNvPr id="7" name="TextBox 6"/>
          <p:cNvSpPr txBox="1"/>
          <p:nvPr/>
        </p:nvSpPr>
        <p:spPr>
          <a:xfrm>
            <a:off x="612648" y="6675120"/>
            <a:ext cx="3657600" cy="155448"/>
          </a:xfrm>
          <a:prstGeom prst="rect">
            <a:avLst/>
          </a:prstGeom>
          <a:noFill/>
        </p:spPr>
        <p:txBody>
          <a:bodyPr wrap="square">
            <a:spAutoFit/>
          </a:bodyPr>
          <a:lstStyle/>
          <a:p>
            <a:pPr algn="l"/>
            <a:r>
              <a:rPr sz="800" b="0" i="0">
                <a:solidFill>
                  <a:srgbClr val="BFE6FB"/>
                </a:solidFill>
              </a:rPr>
              <a:t>BEIHANG UNIVERSITY</a:t>
            </a:r>
          </a:p>
        </p:txBody>
      </p:sp>
      <p:sp>
        <p:nvSpPr>
          <p:cNvPr id="8" name="TextBox 7"/>
          <p:cNvSpPr txBox="1"/>
          <p:nvPr/>
        </p:nvSpPr>
        <p:spPr>
          <a:xfrm>
            <a:off x="8686800" y="6675120"/>
            <a:ext cx="2926080" cy="155448"/>
          </a:xfrm>
          <a:prstGeom prst="rect">
            <a:avLst/>
          </a:prstGeom>
          <a:noFill/>
        </p:spPr>
        <p:txBody>
          <a:bodyPr wrap="square">
            <a:spAutoFit/>
          </a:bodyPr>
          <a:lstStyle/>
          <a:p>
            <a:pPr algn="r"/>
            <a:r>
              <a:rPr sz="800" b="0" i="0">
                <a:solidFill>
                  <a:srgbClr val="FFFFFF"/>
                </a:solidFill>
              </a:rPr>
              <a:t>SENTINEL-GNSS · PILOT</a:t>
            </a:r>
          </a:p>
        </p:txBody>
      </p:sp>
      <p:sp>
        <p:nvSpPr>
          <p:cNvPr id="9" name="TextBox 8"/>
          <p:cNvSpPr txBox="1"/>
          <p:nvPr/>
        </p:nvSpPr>
        <p:spPr>
          <a:xfrm>
            <a:off x="612648" y="896112"/>
            <a:ext cx="10972800" cy="320040"/>
          </a:xfrm>
          <a:prstGeom prst="rect">
            <a:avLst/>
          </a:prstGeom>
          <a:noFill/>
        </p:spPr>
        <p:txBody>
          <a:bodyPr wrap="square">
            <a:spAutoFit/>
          </a:bodyPr>
          <a:lstStyle/>
          <a:p>
            <a:pPr algn="l"/>
            <a:r>
              <a:rPr sz="1300" b="0" i="0">
                <a:solidFill>
                  <a:srgbClr val="333333"/>
                </a:solidFill>
              </a:rPr>
              <a:t>Scenario A — instant blockage · real Beihang campus NMEA · real inference output</a:t>
            </a:r>
          </a:p>
        </p:txBody>
      </p:sp>
      <p:graphicFrame>
        <p:nvGraphicFramePr>
          <p:cNvPr id="10" name="Table 9"/>
          <p:cNvGraphicFramePr>
            <a:graphicFrameLocks noGrp="1"/>
          </p:cNvGraphicFramePr>
          <p:nvPr/>
        </p:nvGraphicFramePr>
        <p:xfrm>
          <a:off x="612648" y="1325880"/>
          <a:ext cx="10972800" cy="4114800"/>
        </p:xfrm>
        <a:graphic>
          <a:graphicData uri="http://schemas.openxmlformats.org/drawingml/2006/table">
            <a:tbl>
              <a:tblPr firstRow="1" bandRow="1">
                <a:tableStyleId>{5C22544A-7EE6-4342-B048-85BDC9FD1C3A}</a:tableStyleId>
              </a:tblPr>
              <a:tblGrid>
                <a:gridCol w="3657600"/>
                <a:gridCol w="3657600"/>
                <a:gridCol w="3657600"/>
              </a:tblGrid>
              <a:tr h="514350">
                <a:tc>
                  <a:txBody>
                    <a:bodyPr/>
                    <a:lstStyle/>
                    <a:p>
                      <a:pPr algn="ctr"/>
                      <a:r>
                        <a:rPr sz="1200" b="1">
                          <a:solidFill>
                            <a:srgbClr val="FFFFFF"/>
                          </a:solidFill>
                        </a:rPr>
                        <a:t>Step</a:t>
                      </a:r>
                    </a:p>
                  </a:txBody>
                  <a:tcPr>
                    <a:solidFill>
                      <a:srgbClr val="003366"/>
                    </a:solidFill>
                  </a:tcPr>
                </a:tc>
                <a:tc>
                  <a:txBody>
                    <a:bodyPr/>
                    <a:lstStyle/>
                    <a:p>
                      <a:pPr algn="ctr"/>
                      <a:r>
                        <a:rPr sz="1200" b="1">
                          <a:solidFill>
                            <a:srgbClr val="FFFFFF"/>
                          </a:solidFill>
                        </a:rPr>
                        <a:t>Action</a:t>
                      </a:r>
                    </a:p>
                  </a:txBody>
                  <a:tcPr>
                    <a:solidFill>
                      <a:srgbClr val="003366"/>
                    </a:solidFill>
                  </a:tcPr>
                </a:tc>
                <a:tc>
                  <a:txBody>
                    <a:bodyPr/>
                    <a:lstStyle/>
                    <a:p>
                      <a:pPr algn="ctr"/>
                      <a:r>
                        <a:rPr sz="1200" b="1">
                          <a:solidFill>
                            <a:srgbClr val="FFFFFF"/>
                          </a:solidFill>
                        </a:rPr>
                        <a:t>What the audience sees</a:t>
                      </a:r>
                    </a:p>
                  </a:txBody>
                  <a:tcPr>
                    <a:solidFill>
                      <a:srgbClr val="003366"/>
                    </a:solidFill>
                  </a:tcPr>
                </a:tc>
              </a:tr>
              <a:tr h="514350">
                <a:tc>
                  <a:txBody>
                    <a:bodyPr/>
                    <a:lstStyle/>
                    <a:p>
                      <a:pPr algn="ctr"/>
                      <a:r>
                        <a:rPr sz="1100">
                          <a:solidFill>
                            <a:srgbClr val="0A1733"/>
                          </a:solidFill>
                        </a:rPr>
                        <a:t>1</a:t>
                      </a:r>
                    </a:p>
                  </a:txBody>
                  <a:tcPr>
                    <a:solidFill>
                      <a:srgbClr val="E8F0FE"/>
                    </a:solidFill>
                  </a:tcPr>
                </a:tc>
                <a:tc>
                  <a:txBody>
                    <a:bodyPr/>
                    <a:lstStyle/>
                    <a:p>
                      <a:pPr algn="ctr"/>
                      <a:r>
                        <a:rPr sz="1100">
                          <a:solidFill>
                            <a:srgbClr val="0A1733"/>
                          </a:solidFill>
                        </a:rPr>
                        <a:t>Open http://localhost:3000</a:t>
                      </a:r>
                    </a:p>
                  </a:txBody>
                  <a:tcPr>
                    <a:solidFill>
                      <a:srgbClr val="E8F0FE"/>
                    </a:solidFill>
                  </a:tcPr>
                </a:tc>
                <a:tc>
                  <a:txBody>
                    <a:bodyPr/>
                    <a:lstStyle/>
                    <a:p>
                      <a:pPr algn="ctr"/>
                      <a:r>
                        <a:rPr sz="1100">
                          <a:solidFill>
                            <a:srgbClr val="0A1733"/>
                          </a:solidFill>
                        </a:rPr>
                        <a:t>Full dashboard loads — 6 live panels</a:t>
                      </a:r>
                    </a:p>
                  </a:txBody>
                  <a:tcPr>
                    <a:solidFill>
                      <a:srgbClr val="E8F0FE"/>
                    </a:solidFill>
                  </a:tcPr>
                </a:tc>
              </a:tr>
              <a:tr h="514350">
                <a:tc>
                  <a:txBody>
                    <a:bodyPr/>
                    <a:lstStyle/>
                    <a:p>
                      <a:pPr algn="ctr"/>
                      <a:r>
                        <a:rPr sz="1100">
                          <a:solidFill>
                            <a:srgbClr val="0A1733"/>
                          </a:solidFill>
                        </a:rPr>
                        <a:t>2</a:t>
                      </a:r>
                    </a:p>
                  </a:txBody>
                  <a:tcPr>
                    <a:solidFill>
                      <a:srgbClr val="FFFFFF"/>
                    </a:solidFill>
                  </a:tcPr>
                </a:tc>
                <a:tc>
                  <a:txBody>
                    <a:bodyPr/>
                    <a:lstStyle/>
                    <a:p>
                      <a:pPr algn="ctr"/>
                      <a:r>
                        <a:rPr sz="1100">
                          <a:solidFill>
                            <a:srgbClr val="0A1733"/>
                          </a:solidFill>
                        </a:rPr>
                        <a:t>Select “A_log_0000” (instant blockage)</a:t>
                      </a:r>
                    </a:p>
                  </a:txBody>
                  <a:tcPr>
                    <a:solidFill>
                      <a:srgbClr val="FFFFFF"/>
                    </a:solidFill>
                  </a:tcPr>
                </a:tc>
                <a:tc>
                  <a:txBody>
                    <a:bodyPr/>
                    <a:lstStyle/>
                    <a:p>
                      <a:pPr algn="ctr"/>
                      <a:r>
                        <a:rPr sz="1100">
                          <a:solidFill>
                            <a:srgbClr val="0A1733"/>
                          </a:solidFill>
                        </a:rPr>
                        <a:t>Prediction data populates all panels</a:t>
                      </a:r>
                    </a:p>
                  </a:txBody>
                  <a:tcPr>
                    <a:solidFill>
                      <a:srgbClr val="FFFFFF"/>
                    </a:solidFill>
                  </a:tcPr>
                </a:tc>
              </a:tr>
              <a:tr h="514350">
                <a:tc>
                  <a:txBody>
                    <a:bodyPr/>
                    <a:lstStyle/>
                    <a:p>
                      <a:pPr algn="ctr"/>
                      <a:r>
                        <a:rPr sz="1100">
                          <a:solidFill>
                            <a:srgbClr val="0A1733"/>
                          </a:solidFill>
                        </a:rPr>
                        <a:t>3</a:t>
                      </a:r>
                    </a:p>
                  </a:txBody>
                  <a:tcPr>
                    <a:solidFill>
                      <a:srgbClr val="E8F0FE"/>
                    </a:solidFill>
                  </a:tcPr>
                </a:tc>
                <a:tc>
                  <a:txBody>
                    <a:bodyPr/>
                    <a:lstStyle/>
                    <a:p>
                      <a:pPr algn="ctr"/>
                      <a:r>
                        <a:rPr sz="1100">
                          <a:solidFill>
                            <a:srgbClr val="0A1733"/>
                          </a:solidFill>
                        </a:rPr>
                        <a:t>Press ▶ Play at 5× speed</a:t>
                      </a:r>
                    </a:p>
                  </a:txBody>
                  <a:tcPr>
                    <a:solidFill>
                      <a:srgbClr val="E8F0FE"/>
                    </a:solidFill>
                  </a:tcPr>
                </a:tc>
                <a:tc>
                  <a:txBody>
                    <a:bodyPr/>
                    <a:lstStyle/>
                    <a:p>
                      <a:pPr algn="ctr"/>
                      <a:r>
                        <a:rPr sz="1100">
                          <a:solidFill>
                            <a:srgbClr val="0A1733"/>
                          </a:solidFill>
                        </a:rPr>
                        <a:t>P(DEGRADED) timeline starts streaming</a:t>
                      </a:r>
                    </a:p>
                  </a:txBody>
                  <a:tcPr>
                    <a:solidFill>
                      <a:srgbClr val="E8F0FE"/>
                    </a:solidFill>
                  </a:tcPr>
                </a:tc>
              </a:tr>
              <a:tr h="514350">
                <a:tc>
                  <a:txBody>
                    <a:bodyPr/>
                    <a:lstStyle/>
                    <a:p>
                      <a:pPr algn="ctr"/>
                      <a:r>
                        <a:rPr sz="1100">
                          <a:solidFill>
                            <a:srgbClr val="0A1733"/>
                          </a:solidFill>
                        </a:rPr>
                        <a:t>4</a:t>
                      </a:r>
                    </a:p>
                  </a:txBody>
                  <a:tcPr>
                    <a:solidFill>
                      <a:srgbClr val="FFFFFF"/>
                    </a:solidFill>
                  </a:tcPr>
                </a:tc>
                <a:tc>
                  <a:txBody>
                    <a:bodyPr/>
                    <a:lstStyle/>
                    <a:p>
                      <a:pPr algn="ctr"/>
                      <a:r>
                        <a:rPr sz="1100">
                          <a:solidFill>
                            <a:srgbClr val="0A1733"/>
                          </a:solidFill>
                        </a:rPr>
                        <a:t>Watch gauge spike before GNSS drops</a:t>
                      </a:r>
                    </a:p>
                  </a:txBody>
                  <a:tcPr>
                    <a:solidFill>
                      <a:srgbClr val="FFFFFF"/>
                    </a:solidFill>
                  </a:tcPr>
                </a:tc>
                <a:tc>
                  <a:txBody>
                    <a:bodyPr/>
                    <a:lstStyle/>
                    <a:p>
                      <a:pPr algn="ctr"/>
                      <a:r>
                        <a:rPr sz="1100">
                          <a:solidFill>
                            <a:srgbClr val="0A1733"/>
                          </a:solidFill>
                        </a:rPr>
                        <a:t>Gauge turns RED — CRITICAL alert fires</a:t>
                      </a:r>
                    </a:p>
                  </a:txBody>
                  <a:tcPr>
                    <a:solidFill>
                      <a:srgbClr val="FFFFFF"/>
                    </a:solidFill>
                  </a:tcPr>
                </a:tc>
              </a:tr>
              <a:tr h="514350">
                <a:tc>
                  <a:txBody>
                    <a:bodyPr/>
                    <a:lstStyle/>
                    <a:p>
                      <a:pPr algn="ctr"/>
                      <a:r>
                        <a:rPr sz="1100">
                          <a:solidFill>
                            <a:srgbClr val="0A1733"/>
                          </a:solidFill>
                        </a:rPr>
                        <a:t>5</a:t>
                      </a:r>
                    </a:p>
                  </a:txBody>
                  <a:tcPr>
                    <a:solidFill>
                      <a:srgbClr val="E8F0FE"/>
                    </a:solidFill>
                  </a:tcPr>
                </a:tc>
                <a:tc>
                  <a:txBody>
                    <a:bodyPr/>
                    <a:lstStyle/>
                    <a:p>
                      <a:pPr algn="ctr"/>
                      <a:r>
                        <a:rPr sz="1100">
                          <a:solidFill>
                            <a:srgbClr val="0A1733"/>
                          </a:solidFill>
                        </a:rPr>
                        <a:t>Pause — point to lead-time number</a:t>
                      </a:r>
                    </a:p>
                  </a:txBody>
                  <a:tcPr>
                    <a:solidFill>
                      <a:srgbClr val="E8F0FE"/>
                    </a:solidFill>
                  </a:tcPr>
                </a:tc>
                <a:tc>
                  <a:txBody>
                    <a:bodyPr/>
                    <a:lstStyle/>
                    <a:p>
                      <a:pPr algn="ctr"/>
                      <a:r>
                        <a:rPr sz="1100">
                          <a:solidFill>
                            <a:srgbClr val="0A1733"/>
                          </a:solidFill>
                        </a:rPr>
                        <a:t>“83 m of reaction distance at 60 km/h”</a:t>
                      </a:r>
                    </a:p>
                  </a:txBody>
                  <a:tcPr>
                    <a:solidFill>
                      <a:srgbClr val="E8F0FE"/>
                    </a:solidFill>
                  </a:tcPr>
                </a:tc>
              </a:tr>
              <a:tr h="514350">
                <a:tc>
                  <a:txBody>
                    <a:bodyPr/>
                    <a:lstStyle/>
                    <a:p>
                      <a:pPr algn="ctr"/>
                      <a:r>
                        <a:rPr sz="1100">
                          <a:solidFill>
                            <a:srgbClr val="0A1733"/>
                          </a:solidFill>
                        </a:rPr>
                        <a:t>6</a:t>
                      </a:r>
                    </a:p>
                  </a:txBody>
                  <a:tcPr>
                    <a:solidFill>
                      <a:srgbClr val="FFFFFF"/>
                    </a:solidFill>
                  </a:tcPr>
                </a:tc>
                <a:tc>
                  <a:txBody>
                    <a:bodyPr/>
                    <a:lstStyle/>
                    <a:p>
                      <a:pPr algn="ctr"/>
                      <a:r>
                        <a:rPr sz="1100">
                          <a:solidFill>
                            <a:srgbClr val="0A1733"/>
                          </a:solidFill>
                        </a:rPr>
                        <a:t>Switch to EKF Analytics tab</a:t>
                      </a:r>
                    </a:p>
                  </a:txBody>
                  <a:tcPr>
                    <a:solidFill>
                      <a:srgbClr val="FFFFFF"/>
                    </a:solidFill>
                  </a:tcPr>
                </a:tc>
                <a:tc>
                  <a:txBody>
                    <a:bodyPr/>
                    <a:lstStyle/>
                    <a:p>
                      <a:pPr algn="ctr"/>
                      <a:r>
                        <a:rPr sz="1100" b="1">
                          <a:solidFill>
                            <a:srgbClr val="1B873A"/>
                          </a:solidFill>
                        </a:rPr>
                        <a:t>Blocked-segment RMSE chart: aided EKF wins</a:t>
                      </a:r>
                    </a:p>
                  </a:txBody>
                  <a:tcPr>
                    <a:solidFill>
                      <a:srgbClr val="FFFFFF"/>
                    </a:solidFill>
                  </a:tcPr>
                </a:tc>
              </a:tr>
              <a:tr h="514350">
                <a:tc>
                  <a:txBody>
                    <a:bodyPr/>
                    <a:lstStyle/>
                    <a:p>
                      <a:pPr algn="ctr"/>
                      <a:r>
                        <a:rPr sz="1100">
                          <a:solidFill>
                            <a:srgbClr val="0A1733"/>
                          </a:solidFill>
                        </a:rPr>
                        <a:t>7</a:t>
                      </a:r>
                    </a:p>
                  </a:txBody>
                  <a:tcPr>
                    <a:solidFill>
                      <a:srgbClr val="E8F0FE"/>
                    </a:solidFill>
                  </a:tcPr>
                </a:tc>
                <a:tc>
                  <a:txBody>
                    <a:bodyPr/>
                    <a:lstStyle/>
                    <a:p>
                      <a:pPr algn="ctr"/>
                      <a:r>
                        <a:rPr sz="1100">
                          <a:solidFill>
                            <a:srgbClr val="0A1733"/>
                          </a:solidFill>
                        </a:rPr>
                        <a:t>Point to trajectory map</a:t>
                      </a:r>
                    </a:p>
                  </a:txBody>
                  <a:tcPr>
                    <a:solidFill>
                      <a:srgbClr val="E8F0FE"/>
                    </a:solidFill>
                  </a:tcPr>
                </a:tc>
                <a:tc>
                  <a:txBody>
                    <a:bodyPr/>
                    <a:lstStyle/>
                    <a:p>
                      <a:pPr algn="ctr"/>
                      <a:r>
                        <a:rPr sz="1100">
                          <a:solidFill>
                            <a:srgbClr val="0A1733"/>
                          </a:solidFill>
                        </a:rPr>
                        <a:t>Path colour shifts green → red through blockage zone</a:t>
                      </a:r>
                    </a:p>
                  </a:txBody>
                  <a:tcPr>
                    <a:solidFill>
                      <a:srgbClr val="E8F0FE"/>
                    </a:solidFill>
                  </a:tcPr>
                </a:tc>
              </a:tr>
            </a:tbl>
          </a:graphicData>
        </a:graphic>
      </p:graphicFrame>
      <p:sp>
        <p:nvSpPr>
          <p:cNvPr id="11" name="Rectangle 10"/>
          <p:cNvSpPr/>
          <p:nvPr/>
        </p:nvSpPr>
        <p:spPr>
          <a:xfrm>
            <a:off x="612648" y="5577840"/>
            <a:ext cx="10972800" cy="54864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4088" y="5577840"/>
            <a:ext cx="10789920" cy="548640"/>
          </a:xfrm>
          <a:prstGeom prst="rect">
            <a:avLst/>
          </a:prstGeom>
          <a:noFill/>
        </p:spPr>
        <p:txBody>
          <a:bodyPr wrap="square">
            <a:spAutoFit/>
          </a:bodyPr>
          <a:lstStyle/>
          <a:p>
            <a:pPr algn="ctr"/>
            <a:r>
              <a:rPr sz="1300" b="1" i="0">
                <a:solidFill>
                  <a:srgbClr val="1B873A"/>
                </a:solidFill>
              </a:rPr>
              <a:t>★  Everything is REAL: pre-computed inference on real Beihang NMEA data. Not a mock-up. Not a demo mode.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Image 0" descr="preencoded.png">
            <a:extLst>
              <a:ext uri="{FF2B5EF4-FFF2-40B4-BE49-F238E27FC236}">
                <a16:creationId xmlns:a16="http://schemas.microsoft.com/office/drawing/2014/main" xmlns="" id="{518D2C41-31F9-7005-A414-D7B832DE7073}"/>
              </a:ext>
            </a:extLst>
          </p:cNvPr>
          <p:cNvPicPr>
            <a:picLocks noChangeAspect="1"/>
          </p:cNvPicPr>
          <p:nvPr/>
        </p:nvPicPr>
        <p:blipFill>
          <a:blip r:embed="rId3"/>
          <a:stretch>
            <a:fillRect/>
          </a:stretch>
        </p:blipFill>
        <p:spPr>
          <a:xfrm>
            <a:off x="0" y="0"/>
            <a:ext cx="12192000" cy="6858000"/>
          </a:xfrm>
          <a:prstGeom prst="rect">
            <a:avLst/>
          </a:prstGeom>
        </p:spPr>
      </p:pic>
      <p:sp>
        <p:nvSpPr>
          <p:cNvPr id="4" name="Shape 2"/>
          <p:cNvSpPr/>
          <p:nvPr/>
        </p:nvSpPr>
        <p:spPr>
          <a:xfrm>
            <a:off x="548640" y="1280160"/>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 name="Shape 3"/>
          <p:cNvSpPr/>
          <p:nvPr/>
        </p:nvSpPr>
        <p:spPr>
          <a:xfrm>
            <a:off x="548640" y="1280160"/>
            <a:ext cx="670560" cy="1158240"/>
          </a:xfrm>
          <a:prstGeom prst="rect">
            <a:avLst/>
          </a:prstGeom>
          <a:solidFill>
            <a:srgbClr val="0A1F44"/>
          </a:solidFill>
          <a:ln w="12700">
            <a:solidFill>
              <a:srgbClr val="0A1F44"/>
            </a:solidFill>
            <a:prstDash val="solid"/>
          </a:ln>
        </p:spPr>
      </p:sp>
      <p:sp>
        <p:nvSpPr>
          <p:cNvPr id="9" name="Shape 7"/>
          <p:cNvSpPr/>
          <p:nvPr/>
        </p:nvSpPr>
        <p:spPr>
          <a:xfrm>
            <a:off x="548640" y="2596896"/>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0" name="Shape 8"/>
          <p:cNvSpPr/>
          <p:nvPr/>
        </p:nvSpPr>
        <p:spPr>
          <a:xfrm>
            <a:off x="548640" y="2596896"/>
            <a:ext cx="670560" cy="1158240"/>
          </a:xfrm>
          <a:prstGeom prst="rect">
            <a:avLst/>
          </a:prstGeom>
          <a:solidFill>
            <a:srgbClr val="0A1F44"/>
          </a:solidFill>
          <a:ln w="12700">
            <a:solidFill>
              <a:srgbClr val="0A1F44"/>
            </a:solidFill>
            <a:prstDash val="solid"/>
          </a:ln>
        </p:spPr>
      </p:sp>
      <p:sp>
        <p:nvSpPr>
          <p:cNvPr id="14" name="Shape 12"/>
          <p:cNvSpPr/>
          <p:nvPr/>
        </p:nvSpPr>
        <p:spPr>
          <a:xfrm>
            <a:off x="548640" y="3913632"/>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5" name="Shape 13"/>
          <p:cNvSpPr/>
          <p:nvPr/>
        </p:nvSpPr>
        <p:spPr>
          <a:xfrm>
            <a:off x="548640" y="3913632"/>
            <a:ext cx="670560" cy="1158240"/>
          </a:xfrm>
          <a:prstGeom prst="rect">
            <a:avLst/>
          </a:prstGeom>
          <a:solidFill>
            <a:srgbClr val="0A1F44"/>
          </a:solidFill>
          <a:ln w="12700">
            <a:solidFill>
              <a:srgbClr val="0A1F44"/>
            </a:solidFill>
            <a:prstDash val="solid"/>
          </a:ln>
        </p:spPr>
      </p:sp>
      <p:sp>
        <p:nvSpPr>
          <p:cNvPr id="19" name="Shape 17"/>
          <p:cNvSpPr/>
          <p:nvPr/>
        </p:nvSpPr>
        <p:spPr>
          <a:xfrm>
            <a:off x="548640" y="5230368"/>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20" name="Shape 18"/>
          <p:cNvSpPr/>
          <p:nvPr/>
        </p:nvSpPr>
        <p:spPr>
          <a:xfrm>
            <a:off x="548640" y="5230368"/>
            <a:ext cx="670560" cy="1158240"/>
          </a:xfrm>
          <a:prstGeom prst="rect">
            <a:avLst/>
          </a:prstGeom>
          <a:solidFill>
            <a:srgbClr val="0A1F44"/>
          </a:solidFill>
          <a:ln w="12700">
            <a:solidFill>
              <a:srgbClr val="0A1F44"/>
            </a:solidFill>
            <a:prstDash val="solid"/>
          </a:ln>
        </p:spPr>
      </p:sp>
      <p:sp>
        <p:nvSpPr>
          <p:cNvPr id="24" name="Shape 22"/>
          <p:cNvSpPr/>
          <p:nvPr/>
        </p:nvSpPr>
        <p:spPr>
          <a:xfrm>
            <a:off x="6461760" y="1280160"/>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25" name="Shape 23"/>
          <p:cNvSpPr/>
          <p:nvPr/>
        </p:nvSpPr>
        <p:spPr>
          <a:xfrm>
            <a:off x="6461760" y="1280160"/>
            <a:ext cx="670560" cy="1158240"/>
          </a:xfrm>
          <a:prstGeom prst="rect">
            <a:avLst/>
          </a:prstGeom>
          <a:solidFill>
            <a:srgbClr val="0A1F44"/>
          </a:solidFill>
          <a:ln w="12700">
            <a:solidFill>
              <a:srgbClr val="0A1F44"/>
            </a:solidFill>
            <a:prstDash val="solid"/>
          </a:ln>
        </p:spPr>
      </p:sp>
      <p:sp>
        <p:nvSpPr>
          <p:cNvPr id="29" name="Shape 27"/>
          <p:cNvSpPr/>
          <p:nvPr/>
        </p:nvSpPr>
        <p:spPr>
          <a:xfrm>
            <a:off x="6461760" y="2596896"/>
            <a:ext cx="5608320" cy="1158240"/>
          </a:xfrm>
          <a:prstGeom prst="rect">
            <a:avLst/>
          </a:prstGeom>
          <a:solidFill>
            <a:srgbClr val="EAF6EF"/>
          </a:solidFill>
          <a:ln w="19050">
            <a:solidFill>
              <a:srgbClr val="1DA462"/>
            </a:solidFill>
            <a:prstDash val="solid"/>
          </a:ln>
          <a:effectLst>
            <a:outerShdw blurRad="101600" dist="25400" dir="8100000" algn="bl" rotWithShape="0">
              <a:srgbClr val="000000">
                <a:alpha val="8000"/>
              </a:srgbClr>
            </a:outerShdw>
          </a:effectLst>
        </p:spPr>
      </p:sp>
      <p:sp>
        <p:nvSpPr>
          <p:cNvPr id="30" name="Shape 28"/>
          <p:cNvSpPr/>
          <p:nvPr/>
        </p:nvSpPr>
        <p:spPr>
          <a:xfrm>
            <a:off x="6461760" y="2596896"/>
            <a:ext cx="670560" cy="1158240"/>
          </a:xfrm>
          <a:prstGeom prst="rect">
            <a:avLst/>
          </a:prstGeom>
          <a:solidFill>
            <a:srgbClr val="1DA462"/>
          </a:solidFill>
          <a:ln w="12700">
            <a:solidFill>
              <a:srgbClr val="1DA462"/>
            </a:solidFill>
            <a:prstDash val="solid"/>
          </a:ln>
        </p:spPr>
      </p:sp>
      <p:sp>
        <p:nvSpPr>
          <p:cNvPr id="34" name="Shape 32"/>
          <p:cNvSpPr/>
          <p:nvPr/>
        </p:nvSpPr>
        <p:spPr>
          <a:xfrm>
            <a:off x="6461760" y="3913632"/>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35" name="Shape 33"/>
          <p:cNvSpPr/>
          <p:nvPr/>
        </p:nvSpPr>
        <p:spPr>
          <a:xfrm>
            <a:off x="6461760" y="3913632"/>
            <a:ext cx="670560" cy="1158240"/>
          </a:xfrm>
          <a:prstGeom prst="rect">
            <a:avLst/>
          </a:prstGeom>
          <a:solidFill>
            <a:srgbClr val="0A1F44"/>
          </a:solidFill>
          <a:ln w="12700">
            <a:solidFill>
              <a:srgbClr val="0A1F44"/>
            </a:solidFill>
            <a:prstDash val="solid"/>
          </a:ln>
        </p:spPr>
      </p:sp>
      <p:sp>
        <p:nvSpPr>
          <p:cNvPr id="39" name="Shape 0">
            <a:extLst>
              <a:ext uri="{FF2B5EF4-FFF2-40B4-BE49-F238E27FC236}">
                <a16:creationId xmlns:a16="http://schemas.microsoft.com/office/drawing/2014/main" xmlns="" id="{6ED9DCFA-D1A8-421F-47A0-DD654DEE918B}"/>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40" name="Shape 1">
            <a:extLst>
              <a:ext uri="{FF2B5EF4-FFF2-40B4-BE49-F238E27FC236}">
                <a16:creationId xmlns:a16="http://schemas.microsoft.com/office/drawing/2014/main" xmlns="" id="{8BF7E44F-C7F4-ADC6-FB40-746C6430AE24}"/>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41" name="Shape 2">
            <a:extLst>
              <a:ext uri="{FF2B5EF4-FFF2-40B4-BE49-F238E27FC236}">
                <a16:creationId xmlns:a16="http://schemas.microsoft.com/office/drawing/2014/main" xmlns="" id="{473FCB80-9B4B-DD44-4132-81268ECC1F06}"/>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42" name="Shape 3">
            <a:extLst>
              <a:ext uri="{FF2B5EF4-FFF2-40B4-BE49-F238E27FC236}">
                <a16:creationId xmlns:a16="http://schemas.microsoft.com/office/drawing/2014/main" xmlns="" id="{E5A4884E-E622-B372-3459-1D6C3CA9A44B}"/>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43" name="Shape 4">
            <a:extLst>
              <a:ext uri="{FF2B5EF4-FFF2-40B4-BE49-F238E27FC236}">
                <a16:creationId xmlns:a16="http://schemas.microsoft.com/office/drawing/2014/main" xmlns="" id="{38022CA2-4EF1-4F95-72D7-49CAFFD5AE2C}"/>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44" name="Shape 5">
            <a:extLst>
              <a:ext uri="{FF2B5EF4-FFF2-40B4-BE49-F238E27FC236}">
                <a16:creationId xmlns:a16="http://schemas.microsoft.com/office/drawing/2014/main" xmlns="" id="{5A496D73-3C67-E645-F246-9389248B5994}"/>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45" name="Shape 6">
            <a:extLst>
              <a:ext uri="{FF2B5EF4-FFF2-40B4-BE49-F238E27FC236}">
                <a16:creationId xmlns:a16="http://schemas.microsoft.com/office/drawing/2014/main" xmlns="" id="{4290D3D7-A6B2-6B7D-F588-44475412554C}"/>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46" name="Shape 7">
            <a:extLst>
              <a:ext uri="{FF2B5EF4-FFF2-40B4-BE49-F238E27FC236}">
                <a16:creationId xmlns:a16="http://schemas.microsoft.com/office/drawing/2014/main" xmlns="" id="{1278521D-5415-AFC4-58B9-17CB20957877}"/>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47" name="Shape 8">
            <a:extLst>
              <a:ext uri="{FF2B5EF4-FFF2-40B4-BE49-F238E27FC236}">
                <a16:creationId xmlns:a16="http://schemas.microsoft.com/office/drawing/2014/main" xmlns="" id="{40B60ADB-32A6-604D-980B-42DA195685A9}"/>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48" name="Shape 9">
            <a:extLst>
              <a:ext uri="{FF2B5EF4-FFF2-40B4-BE49-F238E27FC236}">
                <a16:creationId xmlns:a16="http://schemas.microsoft.com/office/drawing/2014/main" xmlns="" id="{2F48F2D7-8B8C-F902-25DC-1E0167BDEB7F}"/>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49" name="Shape 10">
            <a:extLst>
              <a:ext uri="{FF2B5EF4-FFF2-40B4-BE49-F238E27FC236}">
                <a16:creationId xmlns:a16="http://schemas.microsoft.com/office/drawing/2014/main" xmlns="" id="{17872DB7-F0ED-798C-7E0C-434619A6A8BB}"/>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50" name="Shape 11">
            <a:extLst>
              <a:ext uri="{FF2B5EF4-FFF2-40B4-BE49-F238E27FC236}">
                <a16:creationId xmlns:a16="http://schemas.microsoft.com/office/drawing/2014/main" xmlns="" id="{24AAFA45-4696-F827-FE78-7313D05656AE}"/>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51" name="Shape 12">
            <a:extLst>
              <a:ext uri="{FF2B5EF4-FFF2-40B4-BE49-F238E27FC236}">
                <a16:creationId xmlns:a16="http://schemas.microsoft.com/office/drawing/2014/main" xmlns="" id="{EB4D8B6E-C30A-7674-C432-900F4746292A}"/>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52" name="Shape 13">
            <a:extLst>
              <a:ext uri="{FF2B5EF4-FFF2-40B4-BE49-F238E27FC236}">
                <a16:creationId xmlns:a16="http://schemas.microsoft.com/office/drawing/2014/main" xmlns="" id="{C5857CC7-D0BD-CE8A-C9E8-ABC13731D6C2}"/>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53" name="Shape 14">
            <a:extLst>
              <a:ext uri="{FF2B5EF4-FFF2-40B4-BE49-F238E27FC236}">
                <a16:creationId xmlns:a16="http://schemas.microsoft.com/office/drawing/2014/main" xmlns="" id="{1F007077-407E-D61A-4236-F1A6C882AD57}"/>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54" name="Shape 15">
            <a:extLst>
              <a:ext uri="{FF2B5EF4-FFF2-40B4-BE49-F238E27FC236}">
                <a16:creationId xmlns:a16="http://schemas.microsoft.com/office/drawing/2014/main" xmlns="" id="{42563D4D-6F2C-1BA0-1A4C-CC1AE91BA51C}"/>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55" name="Shape 16">
            <a:extLst>
              <a:ext uri="{FF2B5EF4-FFF2-40B4-BE49-F238E27FC236}">
                <a16:creationId xmlns:a16="http://schemas.microsoft.com/office/drawing/2014/main" xmlns="" id="{E5063159-C588-71DD-3E0A-C0853998A834}"/>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56" name="Picture 55">
            <a:extLst>
              <a:ext uri="{FF2B5EF4-FFF2-40B4-BE49-F238E27FC236}">
                <a16:creationId xmlns:a16="http://schemas.microsoft.com/office/drawing/2014/main" xmlns="" id="{C55D6DED-8B7A-13C2-3458-477511E7D74A}"/>
              </a:ext>
            </a:extLst>
          </p:cNvPr>
          <p:cNvPicPr>
            <a:picLocks noChangeAspect="1"/>
          </p:cNvPicPr>
          <p:nvPr/>
        </p:nvPicPr>
        <p:blipFill>
          <a:blip r:embed="rId4"/>
          <a:stretch>
            <a:fillRect/>
          </a:stretch>
        </p:blipFill>
        <p:spPr>
          <a:xfrm>
            <a:off x="-453212" y="-263954"/>
            <a:ext cx="1776568" cy="1245981"/>
          </a:xfrm>
          <a:prstGeom prst="rect">
            <a:avLst/>
          </a:prstGeom>
        </p:spPr>
      </p:pic>
      <p:sp>
        <p:nvSpPr>
          <p:cNvPr id="58" name="TextBox 57"/>
          <p:cNvSpPr txBox="1"/>
          <p:nvPr/>
        </p:nvSpPr>
        <p:spPr>
          <a:xfrm>
            <a:off x="1271016" y="64008"/>
            <a:ext cx="10515600" cy="603504"/>
          </a:xfrm>
          <a:prstGeom prst="rect">
            <a:avLst/>
          </a:prstGeom>
          <a:noFill/>
        </p:spPr>
        <p:txBody>
          <a:bodyPr wrap="square">
            <a:spAutoFit/>
          </a:bodyPr>
          <a:lstStyle/>
          <a:p>
            <a:pPr algn="l"/>
            <a:r>
              <a:rPr sz="1800" b="1" i="0">
                <a:solidFill>
                  <a:srgbClr val="FFFFFF"/>
                </a:solidFill>
              </a:rPr>
              <a:t>VALIDATION EXPERIMENTS</a:t>
            </a:r>
          </a:p>
        </p:txBody>
      </p:sp>
      <p:sp>
        <p:nvSpPr>
          <p:cNvPr id="59" name="Rectangle 58"/>
          <p:cNvSpPr/>
          <p:nvPr/>
        </p:nvSpPr>
        <p:spPr>
          <a:xfrm>
            <a:off x="612648" y="1005840"/>
            <a:ext cx="548640" cy="1234440"/>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12648" y="1371600"/>
            <a:ext cx="548640" cy="457200"/>
          </a:xfrm>
          <a:prstGeom prst="rect">
            <a:avLst/>
          </a:prstGeom>
          <a:noFill/>
        </p:spPr>
        <p:txBody>
          <a:bodyPr wrap="square">
            <a:spAutoFit/>
          </a:bodyPr>
          <a:lstStyle/>
          <a:p>
            <a:pPr algn="ctr"/>
            <a:r>
              <a:rPr sz="1800" b="1" i="0">
                <a:solidFill>
                  <a:srgbClr val="FFFFFF"/>
                </a:solidFill>
              </a:rPr>
              <a:t>E3</a:t>
            </a:r>
          </a:p>
        </p:txBody>
      </p:sp>
      <p:sp>
        <p:nvSpPr>
          <p:cNvPr id="61" name="Rectangle 60"/>
          <p:cNvSpPr/>
          <p:nvPr/>
        </p:nvSpPr>
        <p:spPr>
          <a:xfrm>
            <a:off x="1252728" y="1005840"/>
            <a:ext cx="10332720" cy="12344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344168" y="1051560"/>
            <a:ext cx="10149840" cy="347472"/>
          </a:xfrm>
          <a:prstGeom prst="rect">
            <a:avLst/>
          </a:prstGeom>
          <a:noFill/>
        </p:spPr>
        <p:txBody>
          <a:bodyPr wrap="square">
            <a:spAutoFit/>
          </a:bodyPr>
          <a:lstStyle/>
          <a:p>
            <a:pPr algn="l"/>
            <a:r>
              <a:rPr sz="1300" b="1" i="0">
                <a:solidFill>
                  <a:srgbClr val="003893"/>
                </a:solidFill>
              </a:rPr>
              <a:t>Bootstrap 95% CI (1,000 iterations)</a:t>
            </a:r>
          </a:p>
        </p:txBody>
      </p:sp>
      <p:sp>
        <p:nvSpPr>
          <p:cNvPr id="63" name="TextBox 62"/>
          <p:cNvSpPr txBox="1"/>
          <p:nvPr/>
        </p:nvSpPr>
        <p:spPr>
          <a:xfrm>
            <a:off x="1344168" y="1444752"/>
            <a:ext cx="10149840" cy="685800"/>
          </a:xfrm>
          <a:prstGeom prst="rect">
            <a:avLst/>
          </a:prstGeom>
          <a:noFill/>
        </p:spPr>
        <p:txBody>
          <a:bodyPr wrap="square">
            <a:spAutoFit/>
          </a:bodyPr>
          <a:lstStyle/>
          <a:p>
            <a:pPr algn="l"/>
            <a:r>
              <a:rPr sz="1100" b="0" i="0">
                <a:solidFill>
                  <a:srgbClr val="333333"/>
                </a:solidFill>
              </a:rPr>
              <a:t>DEGRADED F1 = 0.718 [0.671, 0.762] — all claims backed by confidence intervals. MCC = 0.773 ± 0.035.</a:t>
            </a:r>
          </a:p>
        </p:txBody>
      </p:sp>
      <p:sp>
        <p:nvSpPr>
          <p:cNvPr id="64" name="Rectangle 63"/>
          <p:cNvSpPr/>
          <p:nvPr/>
        </p:nvSpPr>
        <p:spPr>
          <a:xfrm>
            <a:off x="612648" y="2377440"/>
            <a:ext cx="548640" cy="1234440"/>
          </a:xfrm>
          <a:prstGeom prst="rect">
            <a:avLst/>
          </a:prstGeom>
          <a:solidFill>
            <a:srgbClr val="1B8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12648" y="2743200"/>
            <a:ext cx="548640" cy="457200"/>
          </a:xfrm>
          <a:prstGeom prst="rect">
            <a:avLst/>
          </a:prstGeom>
          <a:noFill/>
        </p:spPr>
        <p:txBody>
          <a:bodyPr wrap="square">
            <a:spAutoFit/>
          </a:bodyPr>
          <a:lstStyle/>
          <a:p>
            <a:pPr algn="ctr"/>
            <a:r>
              <a:rPr sz="1800" b="1" i="0">
                <a:solidFill>
                  <a:srgbClr val="FFFFFF"/>
                </a:solidFill>
              </a:rPr>
              <a:t>E4</a:t>
            </a:r>
          </a:p>
        </p:txBody>
      </p:sp>
      <p:sp>
        <p:nvSpPr>
          <p:cNvPr id="66" name="Rectangle 65"/>
          <p:cNvSpPr/>
          <p:nvPr/>
        </p:nvSpPr>
        <p:spPr>
          <a:xfrm>
            <a:off x="1252728" y="2377440"/>
            <a:ext cx="10332720" cy="12344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344168" y="2423160"/>
            <a:ext cx="10149840" cy="347472"/>
          </a:xfrm>
          <a:prstGeom prst="rect">
            <a:avLst/>
          </a:prstGeom>
          <a:noFill/>
        </p:spPr>
        <p:txBody>
          <a:bodyPr wrap="square">
            <a:spAutoFit/>
          </a:bodyPr>
          <a:lstStyle/>
          <a:p>
            <a:pPr algn="l"/>
            <a:r>
              <a:rPr sz="1300" b="1" i="0">
                <a:solidFill>
                  <a:srgbClr val="1B873A"/>
                </a:solidFill>
              </a:rPr>
              <a:t>Inference Latency (Tesla T4 GPU)</a:t>
            </a:r>
          </a:p>
        </p:txBody>
      </p:sp>
      <p:sp>
        <p:nvSpPr>
          <p:cNvPr id="68" name="TextBox 67"/>
          <p:cNvSpPr txBox="1"/>
          <p:nvPr/>
        </p:nvSpPr>
        <p:spPr>
          <a:xfrm>
            <a:off x="1344168" y="2816352"/>
            <a:ext cx="10149840" cy="685800"/>
          </a:xfrm>
          <a:prstGeom prst="rect">
            <a:avLst/>
          </a:prstGeom>
          <a:noFill/>
        </p:spPr>
        <p:txBody>
          <a:bodyPr wrap="square">
            <a:spAutoFit/>
          </a:bodyPr>
          <a:lstStyle/>
          <a:p>
            <a:pPr algn="l"/>
            <a:r>
              <a:rPr sz="1100" b="0" i="0">
                <a:solidFill>
                  <a:srgbClr val="333333"/>
                </a:solidFill>
              </a:rPr>
              <a:t>SENTINEL-GNSS: 0.039 ms/sample vs 3 tree models: 0.409 ms — 10.52× speedup. 17.8 MB checkpoint. &lt;0.04% of CPU budget at 10 Hz.</a:t>
            </a:r>
          </a:p>
        </p:txBody>
      </p:sp>
      <p:sp>
        <p:nvSpPr>
          <p:cNvPr id="69" name="Rectangle 68"/>
          <p:cNvSpPr/>
          <p:nvPr/>
        </p:nvSpPr>
        <p:spPr>
          <a:xfrm>
            <a:off x="612648" y="3749039"/>
            <a:ext cx="548640" cy="12344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12648" y="4114800"/>
            <a:ext cx="548640" cy="457200"/>
          </a:xfrm>
          <a:prstGeom prst="rect">
            <a:avLst/>
          </a:prstGeom>
          <a:noFill/>
        </p:spPr>
        <p:txBody>
          <a:bodyPr wrap="square">
            <a:spAutoFit/>
          </a:bodyPr>
          <a:lstStyle/>
          <a:p>
            <a:pPr algn="ctr"/>
            <a:r>
              <a:rPr sz="1800" b="1" i="0">
                <a:solidFill>
                  <a:srgbClr val="FFFFFF"/>
                </a:solidFill>
              </a:rPr>
              <a:t>E6</a:t>
            </a:r>
          </a:p>
        </p:txBody>
      </p:sp>
      <p:sp>
        <p:nvSpPr>
          <p:cNvPr id="71" name="Rectangle 70"/>
          <p:cNvSpPr/>
          <p:nvPr/>
        </p:nvSpPr>
        <p:spPr>
          <a:xfrm>
            <a:off x="1252728" y="3749039"/>
            <a:ext cx="10332720" cy="12344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344168" y="3794759"/>
            <a:ext cx="10149840" cy="347472"/>
          </a:xfrm>
          <a:prstGeom prst="rect">
            <a:avLst/>
          </a:prstGeom>
          <a:noFill/>
        </p:spPr>
        <p:txBody>
          <a:bodyPr wrap="square">
            <a:spAutoFit/>
          </a:bodyPr>
          <a:lstStyle/>
          <a:p>
            <a:pPr algn="l"/>
            <a:r>
              <a:rPr sz="1300" b="1" i="0">
                <a:solidFill>
                  <a:srgbClr val="C62828"/>
                </a:solidFill>
              </a:rPr>
              <a:t>Cross-City Zero-Shot — Tokyo Shinjuku</a:t>
            </a:r>
          </a:p>
        </p:txBody>
      </p:sp>
      <p:sp>
        <p:nvSpPr>
          <p:cNvPr id="73" name="TextBox 72"/>
          <p:cNvSpPr txBox="1"/>
          <p:nvPr/>
        </p:nvSpPr>
        <p:spPr>
          <a:xfrm>
            <a:off x="1344168" y="4187952"/>
            <a:ext cx="10149840" cy="685800"/>
          </a:xfrm>
          <a:prstGeom prst="rect">
            <a:avLst/>
          </a:prstGeom>
          <a:noFill/>
        </p:spPr>
        <p:txBody>
          <a:bodyPr wrap="square">
            <a:spAutoFit/>
          </a:bodyPr>
          <a:lstStyle/>
          <a:p>
            <a:pPr algn="l"/>
            <a:r>
              <a:rPr sz="1100" b="0" i="0">
                <a:solidFill>
                  <a:srgbClr val="333333"/>
                </a:solidFill>
              </a:rPr>
              <a:t>XGBoost DEGRADED F1: 0.822 → 0.148 (−82%). SENTINEL-GNSS: 0.718 → 0.753 (+5%). DL + XGBoost ensemble: 0.892 macro-F1, 0.896 DEGRADED F1. KEY RESULT.</a:t>
            </a:r>
          </a:p>
        </p:txBody>
      </p:sp>
      <p:sp>
        <p:nvSpPr>
          <p:cNvPr id="74" name="Rectangle 73"/>
          <p:cNvSpPr/>
          <p:nvPr/>
        </p:nvSpPr>
        <p:spPr>
          <a:xfrm>
            <a:off x="612648" y="5120640"/>
            <a:ext cx="548640" cy="123444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12648" y="5486400"/>
            <a:ext cx="548640" cy="457200"/>
          </a:xfrm>
          <a:prstGeom prst="rect">
            <a:avLst/>
          </a:prstGeom>
          <a:noFill/>
        </p:spPr>
        <p:txBody>
          <a:bodyPr wrap="square">
            <a:spAutoFit/>
          </a:bodyPr>
          <a:lstStyle/>
          <a:p>
            <a:pPr algn="ctr"/>
            <a:r>
              <a:rPr sz="1800" b="1" i="0">
                <a:solidFill>
                  <a:srgbClr val="FFFFFF"/>
                </a:solidFill>
              </a:rPr>
              <a:t>E7</a:t>
            </a:r>
          </a:p>
        </p:txBody>
      </p:sp>
      <p:sp>
        <p:nvSpPr>
          <p:cNvPr id="76" name="Rectangle 75"/>
          <p:cNvSpPr/>
          <p:nvPr/>
        </p:nvSpPr>
        <p:spPr>
          <a:xfrm>
            <a:off x="1252728" y="5120640"/>
            <a:ext cx="10332720" cy="12344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344168" y="5166359"/>
            <a:ext cx="10149840" cy="347472"/>
          </a:xfrm>
          <a:prstGeom prst="rect">
            <a:avLst/>
          </a:prstGeom>
          <a:noFill/>
        </p:spPr>
        <p:txBody>
          <a:bodyPr wrap="square">
            <a:spAutoFit/>
          </a:bodyPr>
          <a:lstStyle/>
          <a:p>
            <a:pPr algn="l"/>
            <a:r>
              <a:rPr sz="1300" b="1" i="0">
                <a:solidFill>
                  <a:srgbClr val="F57F17"/>
                </a:solidFill>
              </a:rPr>
              <a:t>Probability Calibration (ECE)</a:t>
            </a:r>
          </a:p>
        </p:txBody>
      </p:sp>
      <p:sp>
        <p:nvSpPr>
          <p:cNvPr id="78" name="TextBox 77"/>
          <p:cNvSpPr txBox="1"/>
          <p:nvPr/>
        </p:nvSpPr>
        <p:spPr>
          <a:xfrm>
            <a:off x="1344168" y="5559552"/>
            <a:ext cx="10149840" cy="685800"/>
          </a:xfrm>
          <a:prstGeom prst="rect">
            <a:avLst/>
          </a:prstGeom>
          <a:noFill/>
        </p:spPr>
        <p:txBody>
          <a:bodyPr wrap="square">
            <a:spAutoFit/>
          </a:bodyPr>
          <a:lstStyle/>
          <a:p>
            <a:pPr algn="l"/>
            <a:r>
              <a:rPr sz="1100" b="0" i="0">
                <a:solidFill>
                  <a:srgbClr val="333333"/>
                </a:solidFill>
              </a:rPr>
              <a:t>Temperature scaling (T = 0.4023) cuts ECE from 0.114 → 0.068 (−40%). Reliable P(DEGRADED) enables the adaptive EKF.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a:extLst>
            <a:ext uri="{FF2B5EF4-FFF2-40B4-BE49-F238E27FC236}">
              <a16:creationId xmlns:a16="http://schemas.microsoft.com/office/drawing/2014/main" xmlns="" id="{F19AD616-B625-CC08-A7D1-C808E980DF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7F661AA7-E12C-5C40-0C7C-652658737F29}"/>
              </a:ext>
            </a:extLst>
          </p:cNvPr>
          <p:cNvSpPr txBox="1"/>
          <p:nvPr/>
        </p:nvSpPr>
        <p:spPr>
          <a:xfrm>
            <a:off x="822960" y="2743200"/>
            <a:ext cx="10515600" cy="13716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5 · Novelty &amp; Validation</a:t>
            </a:r>
          </a:p>
        </p:txBody>
      </p:sp>
      <p:sp>
        <p:nvSpPr>
          <p:cNvPr id="3" name="Rectangle 2">
            <a:extLst>
              <a:ext uri="{FF2B5EF4-FFF2-40B4-BE49-F238E27FC236}">
                <a16:creationId xmlns:a16="http://schemas.microsoft.com/office/drawing/2014/main" xmlns="" id="{9BB6CACF-551A-4896-CC1E-2B9E03C87905}"/>
              </a:ext>
            </a:extLst>
          </p:cNvPr>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829302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3460"/>
            <a:ext cx="12192000" cy="6858000"/>
          </a:xfrm>
          <a:prstGeom prst="rect">
            <a:avLst/>
          </a:prstGeom>
        </p:spPr>
      </p:pic>
      <p:sp>
        <p:nvSpPr>
          <p:cNvPr id="4" name="Shape 1"/>
          <p:cNvSpPr/>
          <p:nvPr/>
        </p:nvSpPr>
        <p:spPr>
          <a:xfrm>
            <a:off x="0" y="702259"/>
            <a:ext cx="12192000" cy="36576"/>
          </a:xfrm>
          <a:prstGeom prst="rect">
            <a:avLst/>
          </a:prstGeom>
          <a:solidFill>
            <a:srgbClr val="4FC3F7"/>
          </a:solidFill>
          <a:ln w="12700">
            <a:solidFill>
              <a:srgbClr val="4FC3F7"/>
            </a:solidFill>
            <a:prstDash val="solid"/>
          </a:ln>
        </p:spPr>
      </p:sp>
      <p:sp>
        <p:nvSpPr>
          <p:cNvPr id="5" name="Shape 2"/>
          <p:cNvSpPr/>
          <p:nvPr/>
        </p:nvSpPr>
        <p:spPr>
          <a:xfrm>
            <a:off x="0" y="6647080"/>
            <a:ext cx="12192000" cy="210921"/>
          </a:xfrm>
          <a:prstGeom prst="rect">
            <a:avLst/>
          </a:prstGeom>
          <a:solidFill>
            <a:srgbClr val="003893"/>
          </a:solidFill>
          <a:ln w="12700">
            <a:solidFill>
              <a:srgbClr val="003893"/>
            </a:solidFill>
            <a:prstDash val="solid"/>
          </a:ln>
        </p:spPr>
      </p:sp>
      <p:sp>
        <p:nvSpPr>
          <p:cNvPr id="6" name="Shape 3"/>
          <p:cNvSpPr/>
          <p:nvPr/>
        </p:nvSpPr>
        <p:spPr>
          <a:xfrm>
            <a:off x="0" y="6623913"/>
            <a:ext cx="12192000" cy="30480"/>
          </a:xfrm>
          <a:prstGeom prst="rect">
            <a:avLst/>
          </a:prstGeom>
          <a:solidFill>
            <a:srgbClr val="4FC3F7"/>
          </a:solidFill>
          <a:ln w="12700">
            <a:solidFill>
              <a:srgbClr val="4FC3F7"/>
            </a:solidFill>
            <a:prstDash val="solid"/>
          </a:ln>
        </p:spPr>
      </p:sp>
      <p:sp>
        <p:nvSpPr>
          <p:cNvPr id="8" name="Shape 4"/>
          <p:cNvSpPr/>
          <p:nvPr/>
        </p:nvSpPr>
        <p:spPr>
          <a:xfrm>
            <a:off x="10731399" y="121921"/>
            <a:ext cx="51207" cy="51207"/>
          </a:xfrm>
          <a:prstGeom prst="ellipse">
            <a:avLst/>
          </a:prstGeom>
          <a:solidFill>
            <a:srgbClr val="FFFFFF">
              <a:alpha val="35000"/>
            </a:srgbClr>
          </a:solidFill>
          <a:ln w="12700">
            <a:solidFill>
              <a:srgbClr val="FFFFFF"/>
            </a:solidFill>
            <a:prstDash val="solid"/>
          </a:ln>
        </p:spPr>
      </p:sp>
      <p:sp>
        <p:nvSpPr>
          <p:cNvPr id="9" name="Shape 5"/>
          <p:cNvSpPr/>
          <p:nvPr/>
        </p:nvSpPr>
        <p:spPr>
          <a:xfrm>
            <a:off x="10947198" y="121921"/>
            <a:ext cx="51207" cy="51207"/>
          </a:xfrm>
          <a:prstGeom prst="ellipse">
            <a:avLst/>
          </a:prstGeom>
          <a:solidFill>
            <a:srgbClr val="FFFFFF">
              <a:alpha val="35000"/>
            </a:srgbClr>
          </a:solidFill>
          <a:ln w="12700">
            <a:solidFill>
              <a:srgbClr val="FFFFFF"/>
            </a:solidFill>
            <a:prstDash val="solid"/>
          </a:ln>
        </p:spPr>
      </p:sp>
      <p:sp>
        <p:nvSpPr>
          <p:cNvPr id="10" name="Shape 6"/>
          <p:cNvSpPr/>
          <p:nvPr/>
        </p:nvSpPr>
        <p:spPr>
          <a:xfrm>
            <a:off x="11162995" y="121921"/>
            <a:ext cx="51207" cy="51207"/>
          </a:xfrm>
          <a:prstGeom prst="ellipse">
            <a:avLst/>
          </a:prstGeom>
          <a:solidFill>
            <a:srgbClr val="FFFFFF">
              <a:alpha val="35000"/>
            </a:srgbClr>
          </a:solidFill>
          <a:ln w="12700">
            <a:solidFill>
              <a:srgbClr val="FFFFFF"/>
            </a:solidFill>
            <a:prstDash val="solid"/>
          </a:ln>
        </p:spPr>
      </p:sp>
      <p:sp>
        <p:nvSpPr>
          <p:cNvPr id="11" name="Shape 7"/>
          <p:cNvSpPr/>
          <p:nvPr/>
        </p:nvSpPr>
        <p:spPr>
          <a:xfrm>
            <a:off x="11378794" y="121921"/>
            <a:ext cx="51207" cy="51207"/>
          </a:xfrm>
          <a:prstGeom prst="ellipse">
            <a:avLst/>
          </a:prstGeom>
          <a:solidFill>
            <a:srgbClr val="FFFFFF">
              <a:alpha val="35000"/>
            </a:srgbClr>
          </a:solidFill>
          <a:ln w="12700">
            <a:solidFill>
              <a:srgbClr val="FFFFFF"/>
            </a:solidFill>
            <a:prstDash val="solid"/>
          </a:ln>
        </p:spPr>
      </p:sp>
      <p:sp>
        <p:nvSpPr>
          <p:cNvPr id="12" name="Shape 8"/>
          <p:cNvSpPr/>
          <p:nvPr/>
        </p:nvSpPr>
        <p:spPr>
          <a:xfrm>
            <a:off x="10731399" y="292609"/>
            <a:ext cx="51207" cy="51207"/>
          </a:xfrm>
          <a:prstGeom prst="ellipse">
            <a:avLst/>
          </a:prstGeom>
          <a:solidFill>
            <a:srgbClr val="FFFFFF">
              <a:alpha val="35000"/>
            </a:srgbClr>
          </a:solidFill>
          <a:ln w="12700">
            <a:solidFill>
              <a:srgbClr val="FFFFFF"/>
            </a:solidFill>
            <a:prstDash val="solid"/>
          </a:ln>
        </p:spPr>
      </p:sp>
      <p:sp>
        <p:nvSpPr>
          <p:cNvPr id="13" name="Shape 9"/>
          <p:cNvSpPr/>
          <p:nvPr/>
        </p:nvSpPr>
        <p:spPr>
          <a:xfrm>
            <a:off x="10947198" y="292609"/>
            <a:ext cx="51207" cy="51207"/>
          </a:xfrm>
          <a:prstGeom prst="ellipse">
            <a:avLst/>
          </a:prstGeom>
          <a:solidFill>
            <a:srgbClr val="FFFFFF">
              <a:alpha val="35000"/>
            </a:srgbClr>
          </a:solidFill>
          <a:ln w="12700">
            <a:solidFill>
              <a:srgbClr val="FFFFFF"/>
            </a:solidFill>
            <a:prstDash val="solid"/>
          </a:ln>
        </p:spPr>
      </p:sp>
      <p:sp>
        <p:nvSpPr>
          <p:cNvPr id="14" name="Shape 10"/>
          <p:cNvSpPr/>
          <p:nvPr/>
        </p:nvSpPr>
        <p:spPr>
          <a:xfrm>
            <a:off x="11162995" y="292609"/>
            <a:ext cx="51207" cy="51207"/>
          </a:xfrm>
          <a:prstGeom prst="ellipse">
            <a:avLst/>
          </a:prstGeom>
          <a:solidFill>
            <a:srgbClr val="FFFFFF">
              <a:alpha val="35000"/>
            </a:srgbClr>
          </a:solidFill>
          <a:ln w="12700">
            <a:solidFill>
              <a:srgbClr val="FFFFFF"/>
            </a:solidFill>
            <a:prstDash val="solid"/>
          </a:ln>
        </p:spPr>
      </p:sp>
      <p:sp>
        <p:nvSpPr>
          <p:cNvPr id="15" name="Shape 11"/>
          <p:cNvSpPr/>
          <p:nvPr/>
        </p:nvSpPr>
        <p:spPr>
          <a:xfrm>
            <a:off x="11378794" y="292609"/>
            <a:ext cx="51207" cy="51207"/>
          </a:xfrm>
          <a:prstGeom prst="ellipse">
            <a:avLst/>
          </a:prstGeom>
          <a:solidFill>
            <a:srgbClr val="FFFFFF">
              <a:alpha val="35000"/>
            </a:srgbClr>
          </a:solidFill>
          <a:ln w="12700">
            <a:solidFill>
              <a:srgbClr val="FFFFFF"/>
            </a:solidFill>
            <a:prstDash val="solid"/>
          </a:ln>
        </p:spPr>
      </p:sp>
      <p:sp>
        <p:nvSpPr>
          <p:cNvPr id="16" name="Shape 12"/>
          <p:cNvSpPr/>
          <p:nvPr/>
        </p:nvSpPr>
        <p:spPr>
          <a:xfrm>
            <a:off x="10731399" y="463297"/>
            <a:ext cx="51207" cy="51207"/>
          </a:xfrm>
          <a:prstGeom prst="ellipse">
            <a:avLst/>
          </a:prstGeom>
          <a:solidFill>
            <a:srgbClr val="FFFFFF">
              <a:alpha val="35000"/>
            </a:srgbClr>
          </a:solidFill>
          <a:ln w="12700">
            <a:solidFill>
              <a:srgbClr val="FFFFFF"/>
            </a:solidFill>
            <a:prstDash val="solid"/>
          </a:ln>
        </p:spPr>
      </p:sp>
      <p:sp>
        <p:nvSpPr>
          <p:cNvPr id="17" name="Shape 13"/>
          <p:cNvSpPr/>
          <p:nvPr/>
        </p:nvSpPr>
        <p:spPr>
          <a:xfrm>
            <a:off x="10947198" y="463297"/>
            <a:ext cx="51207" cy="51207"/>
          </a:xfrm>
          <a:prstGeom prst="ellipse">
            <a:avLst/>
          </a:prstGeom>
          <a:solidFill>
            <a:srgbClr val="FFFFFF">
              <a:alpha val="35000"/>
            </a:srgbClr>
          </a:solidFill>
          <a:ln w="12700">
            <a:solidFill>
              <a:srgbClr val="FFFFFF"/>
            </a:solidFill>
            <a:prstDash val="solid"/>
          </a:ln>
        </p:spPr>
      </p:sp>
      <p:sp>
        <p:nvSpPr>
          <p:cNvPr id="18" name="Shape 14"/>
          <p:cNvSpPr/>
          <p:nvPr/>
        </p:nvSpPr>
        <p:spPr>
          <a:xfrm>
            <a:off x="11162995" y="463297"/>
            <a:ext cx="51207" cy="51207"/>
          </a:xfrm>
          <a:prstGeom prst="ellipse">
            <a:avLst/>
          </a:prstGeom>
          <a:solidFill>
            <a:srgbClr val="FFFFFF">
              <a:alpha val="35000"/>
            </a:srgbClr>
          </a:solidFill>
          <a:ln w="12700">
            <a:solidFill>
              <a:srgbClr val="FFFFFF"/>
            </a:solidFill>
            <a:prstDash val="solid"/>
          </a:ln>
        </p:spPr>
      </p:sp>
      <p:sp>
        <p:nvSpPr>
          <p:cNvPr id="19" name="Shape 15"/>
          <p:cNvSpPr/>
          <p:nvPr/>
        </p:nvSpPr>
        <p:spPr>
          <a:xfrm>
            <a:off x="11378794" y="463297"/>
            <a:ext cx="51207" cy="51207"/>
          </a:xfrm>
          <a:prstGeom prst="ellipse">
            <a:avLst/>
          </a:prstGeom>
          <a:solidFill>
            <a:srgbClr val="FFFFFF">
              <a:alpha val="35000"/>
            </a:srgbClr>
          </a:solidFill>
          <a:ln w="12700">
            <a:solidFill>
              <a:srgbClr val="FFFFFF"/>
            </a:solidFill>
            <a:prstDash val="solid"/>
          </a:ln>
        </p:spPr>
      </p:sp>
      <p:sp>
        <p:nvSpPr>
          <p:cNvPr id="22" name="Shape 18"/>
          <p:cNvSpPr/>
          <p:nvPr/>
        </p:nvSpPr>
        <p:spPr>
          <a:xfrm>
            <a:off x="208955" y="1147066"/>
            <a:ext cx="5730240" cy="890016"/>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23" name="Shape 19"/>
          <p:cNvSpPr/>
          <p:nvPr/>
        </p:nvSpPr>
        <p:spPr>
          <a:xfrm>
            <a:off x="208955" y="1147066"/>
            <a:ext cx="79248" cy="890016"/>
          </a:xfrm>
          <a:prstGeom prst="rect">
            <a:avLst/>
          </a:prstGeom>
          <a:solidFill>
            <a:srgbClr val="0369A1"/>
          </a:solidFill>
          <a:ln w="12700">
            <a:solidFill>
              <a:srgbClr val="0369A1"/>
            </a:solidFill>
            <a:prstDash val="solid"/>
          </a:ln>
        </p:spPr>
      </p:sp>
      <p:sp>
        <p:nvSpPr>
          <p:cNvPr id="24" name="Shape 20"/>
          <p:cNvSpPr/>
          <p:nvPr/>
        </p:nvSpPr>
        <p:spPr>
          <a:xfrm>
            <a:off x="379643" y="1409194"/>
            <a:ext cx="365760" cy="365760"/>
          </a:xfrm>
          <a:prstGeom prst="ellipse">
            <a:avLst/>
          </a:prstGeom>
          <a:solidFill>
            <a:srgbClr val="0369A1"/>
          </a:solidFill>
          <a:ln w="12700">
            <a:solidFill>
              <a:srgbClr val="0369A1"/>
            </a:solidFill>
            <a:prstDash val="solid"/>
          </a:ln>
        </p:spPr>
      </p:sp>
      <p:sp>
        <p:nvSpPr>
          <p:cNvPr id="25" name="Text 21"/>
          <p:cNvSpPr/>
          <p:nvPr/>
        </p:nvSpPr>
        <p:spPr>
          <a:xfrm>
            <a:off x="379643" y="1409194"/>
            <a:ext cx="365760" cy="365760"/>
          </a:xfrm>
          <a:prstGeom prst="rect">
            <a:avLst/>
          </a:prstGeom>
          <a:noFill/>
          <a:ln/>
        </p:spPr>
        <p:txBody>
          <a:bodyPr wrap="square" lIns="0" tIns="0" rIns="0" bIns="0" rtlCol="0" anchor="ctr"/>
          <a:lstStyle/>
          <a:p>
            <a:pPr algn="ctr"/>
            <a:r>
              <a:rPr lang="en-US" sz="1467" b="1" dirty="0">
                <a:solidFill>
                  <a:srgbClr val="FFFFFF"/>
                </a:solidFill>
              </a:rPr>
              <a:t>1</a:t>
            </a:r>
            <a:endParaRPr lang="en-US" sz="1467" dirty="0"/>
          </a:p>
        </p:txBody>
      </p:sp>
      <p:sp>
        <p:nvSpPr>
          <p:cNvPr id="26" name="Text 22"/>
          <p:cNvSpPr/>
          <p:nvPr/>
        </p:nvSpPr>
        <p:spPr>
          <a:xfrm>
            <a:off x="867323" y="1232410"/>
            <a:ext cx="4974336" cy="341376"/>
          </a:xfrm>
          <a:prstGeom prst="rect">
            <a:avLst/>
          </a:prstGeom>
          <a:noFill/>
          <a:ln/>
        </p:spPr>
        <p:txBody>
          <a:bodyPr wrap="square" lIns="0" tIns="0" rIns="0" bIns="0" rtlCol="0" anchor="ctr"/>
          <a:lstStyle/>
          <a:p>
            <a:r>
              <a:rPr lang="en-US" sz="1400" b="1" dirty="0">
                <a:solidFill>
                  <a:srgbClr val="1E293B"/>
                </a:solidFill>
              </a:rPr>
              <a:t>Reactive → Proactive Predictor</a:t>
            </a:r>
            <a:endParaRPr lang="en-US" sz="1400" dirty="0"/>
          </a:p>
        </p:txBody>
      </p:sp>
      <p:sp>
        <p:nvSpPr>
          <p:cNvPr id="27" name="Shape 23"/>
          <p:cNvSpPr/>
          <p:nvPr/>
        </p:nvSpPr>
        <p:spPr>
          <a:xfrm>
            <a:off x="867323" y="1585978"/>
            <a:ext cx="4974336" cy="0"/>
          </a:xfrm>
          <a:prstGeom prst="line">
            <a:avLst/>
          </a:prstGeom>
          <a:noFill/>
          <a:ln w="12700">
            <a:solidFill>
              <a:srgbClr val="CBD5E1"/>
            </a:solidFill>
            <a:prstDash val="solid"/>
          </a:ln>
        </p:spPr>
      </p:sp>
      <p:sp>
        <p:nvSpPr>
          <p:cNvPr id="28" name="Text 24"/>
          <p:cNvSpPr/>
          <p:nvPr/>
        </p:nvSpPr>
        <p:spPr>
          <a:xfrm>
            <a:off x="867323" y="1622554"/>
            <a:ext cx="4974336" cy="353568"/>
          </a:xfrm>
          <a:prstGeom prst="rect">
            <a:avLst/>
          </a:prstGeom>
          <a:noFill/>
          <a:ln/>
        </p:spPr>
        <p:txBody>
          <a:bodyPr wrap="square" lIns="0" tIns="0" rIns="0" bIns="0" rtlCol="0" anchor="t"/>
          <a:lstStyle/>
          <a:p>
            <a:pPr>
              <a:lnSpc>
                <a:spcPct val="118000"/>
              </a:lnSpc>
            </a:pPr>
            <a:r>
              <a:rPr lang="en-US" sz="1133" dirty="0">
                <a:solidFill>
                  <a:srgbClr val="475569"/>
                </a:solidFill>
              </a:rPr>
              <a:t>First system to predict GNSS degradation 5 s, 15 s, 30 s ahead — Liu et al. (2023) only classifies t+0</a:t>
            </a:r>
            <a:endParaRPr lang="en-US" sz="1133" dirty="0"/>
          </a:p>
        </p:txBody>
      </p:sp>
      <p:sp>
        <p:nvSpPr>
          <p:cNvPr id="29" name="Shape 25"/>
          <p:cNvSpPr/>
          <p:nvPr/>
        </p:nvSpPr>
        <p:spPr>
          <a:xfrm>
            <a:off x="208955" y="2228631"/>
            <a:ext cx="5730240" cy="890016"/>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30" name="Shape 26"/>
          <p:cNvSpPr/>
          <p:nvPr/>
        </p:nvSpPr>
        <p:spPr>
          <a:xfrm>
            <a:off x="208955" y="2228631"/>
            <a:ext cx="79248" cy="890016"/>
          </a:xfrm>
          <a:prstGeom prst="rect">
            <a:avLst/>
          </a:prstGeom>
          <a:solidFill>
            <a:srgbClr val="0E7490"/>
          </a:solidFill>
          <a:ln w="12700">
            <a:solidFill>
              <a:srgbClr val="0E7490"/>
            </a:solidFill>
            <a:prstDash val="solid"/>
          </a:ln>
        </p:spPr>
      </p:sp>
      <p:sp>
        <p:nvSpPr>
          <p:cNvPr id="31" name="Shape 27"/>
          <p:cNvSpPr/>
          <p:nvPr/>
        </p:nvSpPr>
        <p:spPr>
          <a:xfrm>
            <a:off x="379643" y="2490759"/>
            <a:ext cx="365760" cy="365760"/>
          </a:xfrm>
          <a:prstGeom prst="ellipse">
            <a:avLst/>
          </a:prstGeom>
          <a:solidFill>
            <a:srgbClr val="0E7490"/>
          </a:solidFill>
          <a:ln w="12700">
            <a:solidFill>
              <a:srgbClr val="0E7490"/>
            </a:solidFill>
            <a:prstDash val="solid"/>
          </a:ln>
        </p:spPr>
      </p:sp>
      <p:sp>
        <p:nvSpPr>
          <p:cNvPr id="32" name="Text 28"/>
          <p:cNvSpPr/>
          <p:nvPr/>
        </p:nvSpPr>
        <p:spPr>
          <a:xfrm>
            <a:off x="379643" y="2490759"/>
            <a:ext cx="365760" cy="365760"/>
          </a:xfrm>
          <a:prstGeom prst="rect">
            <a:avLst/>
          </a:prstGeom>
          <a:noFill/>
          <a:ln/>
        </p:spPr>
        <p:txBody>
          <a:bodyPr wrap="square" lIns="0" tIns="0" rIns="0" bIns="0" rtlCol="0" anchor="ctr"/>
          <a:lstStyle/>
          <a:p>
            <a:pPr algn="ctr"/>
            <a:r>
              <a:rPr lang="en-US" sz="1467" b="1" dirty="0">
                <a:solidFill>
                  <a:srgbClr val="FFFFFF"/>
                </a:solidFill>
              </a:rPr>
              <a:t>2</a:t>
            </a:r>
            <a:endParaRPr lang="en-US" sz="1467" dirty="0"/>
          </a:p>
        </p:txBody>
      </p:sp>
      <p:sp>
        <p:nvSpPr>
          <p:cNvPr id="33" name="Text 29"/>
          <p:cNvSpPr/>
          <p:nvPr/>
        </p:nvSpPr>
        <p:spPr>
          <a:xfrm>
            <a:off x="867323" y="2313975"/>
            <a:ext cx="4974336" cy="341376"/>
          </a:xfrm>
          <a:prstGeom prst="rect">
            <a:avLst/>
          </a:prstGeom>
          <a:noFill/>
          <a:ln/>
        </p:spPr>
        <p:txBody>
          <a:bodyPr wrap="square" lIns="0" tIns="0" rIns="0" bIns="0" rtlCol="0" anchor="ctr"/>
          <a:lstStyle/>
          <a:p>
            <a:r>
              <a:rPr lang="en-US" sz="1400" b="1" dirty="0">
                <a:solidFill>
                  <a:srgbClr val="1E293B"/>
                </a:solidFill>
              </a:rPr>
              <a:t>Cross-City Generalisation</a:t>
            </a:r>
            <a:endParaRPr lang="en-US" sz="1400" dirty="0"/>
          </a:p>
        </p:txBody>
      </p:sp>
      <p:sp>
        <p:nvSpPr>
          <p:cNvPr id="34" name="Shape 30"/>
          <p:cNvSpPr/>
          <p:nvPr/>
        </p:nvSpPr>
        <p:spPr>
          <a:xfrm>
            <a:off x="867323" y="2667543"/>
            <a:ext cx="4974336" cy="0"/>
          </a:xfrm>
          <a:prstGeom prst="line">
            <a:avLst/>
          </a:prstGeom>
          <a:noFill/>
          <a:ln w="12700">
            <a:solidFill>
              <a:srgbClr val="CBD5E1"/>
            </a:solidFill>
            <a:prstDash val="solid"/>
          </a:ln>
        </p:spPr>
      </p:sp>
      <p:sp>
        <p:nvSpPr>
          <p:cNvPr id="35" name="Text 31"/>
          <p:cNvSpPr/>
          <p:nvPr/>
        </p:nvSpPr>
        <p:spPr>
          <a:xfrm>
            <a:off x="867323" y="2704119"/>
            <a:ext cx="4974336" cy="353568"/>
          </a:xfrm>
          <a:prstGeom prst="rect">
            <a:avLst/>
          </a:prstGeom>
          <a:noFill/>
          <a:ln/>
        </p:spPr>
        <p:txBody>
          <a:bodyPr wrap="square" lIns="0" tIns="0" rIns="0" bIns="0" rtlCol="0" anchor="t"/>
          <a:lstStyle/>
          <a:p>
            <a:pPr>
              <a:lnSpc>
                <a:spcPct val="118000"/>
              </a:lnSpc>
            </a:pPr>
            <a:r>
              <a:rPr lang="en-US" sz="1133" dirty="0">
                <a:solidFill>
                  <a:srgbClr val="475569"/>
                </a:solidFill>
              </a:rPr>
              <a:t>Beijing → Tokyo: DEGRADED F1 = 0.75 (ours) vs. 0.15 (Random Forest) — unseen city, zero retraining</a:t>
            </a:r>
            <a:endParaRPr lang="en-US" sz="1133" dirty="0"/>
          </a:p>
        </p:txBody>
      </p:sp>
      <p:sp>
        <p:nvSpPr>
          <p:cNvPr id="36" name="Shape 32"/>
          <p:cNvSpPr/>
          <p:nvPr/>
        </p:nvSpPr>
        <p:spPr>
          <a:xfrm>
            <a:off x="208955" y="3293268"/>
            <a:ext cx="5730240" cy="890016"/>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37" name="Shape 33"/>
          <p:cNvSpPr/>
          <p:nvPr/>
        </p:nvSpPr>
        <p:spPr>
          <a:xfrm>
            <a:off x="208955" y="3301735"/>
            <a:ext cx="79248" cy="890016"/>
          </a:xfrm>
          <a:prstGeom prst="rect">
            <a:avLst/>
          </a:prstGeom>
          <a:solidFill>
            <a:srgbClr val="155E75"/>
          </a:solidFill>
          <a:ln w="12700">
            <a:solidFill>
              <a:srgbClr val="155E75"/>
            </a:solidFill>
            <a:prstDash val="solid"/>
          </a:ln>
        </p:spPr>
      </p:sp>
      <p:sp>
        <p:nvSpPr>
          <p:cNvPr id="38" name="Shape 34"/>
          <p:cNvSpPr/>
          <p:nvPr/>
        </p:nvSpPr>
        <p:spPr>
          <a:xfrm>
            <a:off x="379643" y="3555396"/>
            <a:ext cx="365760" cy="365760"/>
          </a:xfrm>
          <a:prstGeom prst="ellipse">
            <a:avLst/>
          </a:prstGeom>
          <a:solidFill>
            <a:srgbClr val="155E75"/>
          </a:solidFill>
          <a:ln w="12700">
            <a:solidFill>
              <a:srgbClr val="155E75"/>
            </a:solidFill>
            <a:prstDash val="solid"/>
          </a:ln>
        </p:spPr>
      </p:sp>
      <p:sp>
        <p:nvSpPr>
          <p:cNvPr id="39" name="Text 35"/>
          <p:cNvSpPr/>
          <p:nvPr/>
        </p:nvSpPr>
        <p:spPr>
          <a:xfrm>
            <a:off x="379643" y="3555396"/>
            <a:ext cx="365760" cy="365760"/>
          </a:xfrm>
          <a:prstGeom prst="rect">
            <a:avLst/>
          </a:prstGeom>
          <a:noFill/>
          <a:ln/>
        </p:spPr>
        <p:txBody>
          <a:bodyPr wrap="square" lIns="0" tIns="0" rIns="0" bIns="0" rtlCol="0" anchor="ctr"/>
          <a:lstStyle/>
          <a:p>
            <a:pPr algn="ctr"/>
            <a:r>
              <a:rPr lang="en-US" sz="1467" b="1" dirty="0">
                <a:solidFill>
                  <a:srgbClr val="FFFFFF"/>
                </a:solidFill>
              </a:rPr>
              <a:t>3</a:t>
            </a:r>
            <a:endParaRPr lang="en-US" sz="1467" dirty="0"/>
          </a:p>
        </p:txBody>
      </p:sp>
      <p:sp>
        <p:nvSpPr>
          <p:cNvPr id="40" name="Text 36"/>
          <p:cNvSpPr/>
          <p:nvPr/>
        </p:nvSpPr>
        <p:spPr>
          <a:xfrm>
            <a:off x="867323" y="3378612"/>
            <a:ext cx="4974336" cy="341376"/>
          </a:xfrm>
          <a:prstGeom prst="rect">
            <a:avLst/>
          </a:prstGeom>
          <a:noFill/>
          <a:ln/>
        </p:spPr>
        <p:txBody>
          <a:bodyPr wrap="square" lIns="0" tIns="0" rIns="0" bIns="0" rtlCol="0" anchor="ctr"/>
          <a:lstStyle/>
          <a:p>
            <a:r>
              <a:rPr lang="en-US" sz="1400" b="1" dirty="0">
                <a:solidFill>
                  <a:srgbClr val="1E293B"/>
                </a:solidFill>
              </a:rPr>
              <a:t>Unified Multi-Horizon Model</a:t>
            </a:r>
            <a:endParaRPr lang="en-US" sz="1400" dirty="0"/>
          </a:p>
        </p:txBody>
      </p:sp>
      <p:sp>
        <p:nvSpPr>
          <p:cNvPr id="41" name="Shape 37"/>
          <p:cNvSpPr/>
          <p:nvPr/>
        </p:nvSpPr>
        <p:spPr>
          <a:xfrm>
            <a:off x="867323" y="3732180"/>
            <a:ext cx="4974336" cy="0"/>
          </a:xfrm>
          <a:prstGeom prst="line">
            <a:avLst/>
          </a:prstGeom>
          <a:noFill/>
          <a:ln w="12700">
            <a:solidFill>
              <a:srgbClr val="CBD5E1"/>
            </a:solidFill>
            <a:prstDash val="solid"/>
          </a:ln>
        </p:spPr>
      </p:sp>
      <p:sp>
        <p:nvSpPr>
          <p:cNvPr id="42" name="Text 38"/>
          <p:cNvSpPr/>
          <p:nvPr/>
        </p:nvSpPr>
        <p:spPr>
          <a:xfrm>
            <a:off x="867323" y="3768756"/>
            <a:ext cx="4974336" cy="353568"/>
          </a:xfrm>
          <a:prstGeom prst="rect">
            <a:avLst/>
          </a:prstGeom>
          <a:noFill/>
          <a:ln/>
        </p:spPr>
        <p:txBody>
          <a:bodyPr wrap="square" lIns="0" tIns="0" rIns="0" bIns="0" rtlCol="0" anchor="t"/>
          <a:lstStyle/>
          <a:p>
            <a:pPr>
              <a:lnSpc>
                <a:spcPct val="118000"/>
              </a:lnSpc>
            </a:pPr>
            <a:r>
              <a:rPr lang="en-US" sz="1133" dirty="0">
                <a:solidFill>
                  <a:srgbClr val="475569"/>
                </a:solidFill>
              </a:rPr>
              <a:t>One forward pass, three prediction heads — 10.5× faster than three separate traditional models</a:t>
            </a:r>
            <a:endParaRPr lang="en-US" sz="1133" dirty="0"/>
          </a:p>
        </p:txBody>
      </p:sp>
      <p:sp>
        <p:nvSpPr>
          <p:cNvPr id="43" name="Shape 39"/>
          <p:cNvSpPr/>
          <p:nvPr/>
        </p:nvSpPr>
        <p:spPr>
          <a:xfrm>
            <a:off x="208955" y="4324035"/>
            <a:ext cx="5730240" cy="890016"/>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44" name="Shape 40"/>
          <p:cNvSpPr/>
          <p:nvPr/>
        </p:nvSpPr>
        <p:spPr>
          <a:xfrm>
            <a:off x="208955" y="4324035"/>
            <a:ext cx="79248" cy="890016"/>
          </a:xfrm>
          <a:prstGeom prst="rect">
            <a:avLst/>
          </a:prstGeom>
          <a:solidFill>
            <a:srgbClr val="3B37A0"/>
          </a:solidFill>
          <a:ln w="12700">
            <a:solidFill>
              <a:srgbClr val="3B37A0"/>
            </a:solidFill>
            <a:prstDash val="solid"/>
          </a:ln>
        </p:spPr>
      </p:sp>
      <p:sp>
        <p:nvSpPr>
          <p:cNvPr id="45" name="Shape 41"/>
          <p:cNvSpPr/>
          <p:nvPr/>
        </p:nvSpPr>
        <p:spPr>
          <a:xfrm>
            <a:off x="379643" y="4586163"/>
            <a:ext cx="365760" cy="365760"/>
          </a:xfrm>
          <a:prstGeom prst="ellipse">
            <a:avLst/>
          </a:prstGeom>
          <a:solidFill>
            <a:srgbClr val="3B37A0"/>
          </a:solidFill>
          <a:ln w="12700">
            <a:solidFill>
              <a:srgbClr val="3B37A0"/>
            </a:solidFill>
            <a:prstDash val="solid"/>
          </a:ln>
        </p:spPr>
      </p:sp>
      <p:sp>
        <p:nvSpPr>
          <p:cNvPr id="46" name="Text 42"/>
          <p:cNvSpPr/>
          <p:nvPr/>
        </p:nvSpPr>
        <p:spPr>
          <a:xfrm>
            <a:off x="379643" y="4586163"/>
            <a:ext cx="365760" cy="365760"/>
          </a:xfrm>
          <a:prstGeom prst="rect">
            <a:avLst/>
          </a:prstGeom>
          <a:noFill/>
          <a:ln/>
        </p:spPr>
        <p:txBody>
          <a:bodyPr wrap="square" lIns="0" tIns="0" rIns="0" bIns="0" rtlCol="0" anchor="ctr"/>
          <a:lstStyle/>
          <a:p>
            <a:pPr algn="ctr"/>
            <a:r>
              <a:rPr lang="en-US" sz="1467" b="1" dirty="0">
                <a:solidFill>
                  <a:srgbClr val="FFFFFF"/>
                </a:solidFill>
              </a:rPr>
              <a:t>4</a:t>
            </a:r>
            <a:endParaRPr lang="en-US" sz="1467" dirty="0"/>
          </a:p>
        </p:txBody>
      </p:sp>
      <p:sp>
        <p:nvSpPr>
          <p:cNvPr id="47" name="Text 43"/>
          <p:cNvSpPr/>
          <p:nvPr/>
        </p:nvSpPr>
        <p:spPr>
          <a:xfrm>
            <a:off x="867323" y="4409379"/>
            <a:ext cx="4974336" cy="341376"/>
          </a:xfrm>
          <a:prstGeom prst="rect">
            <a:avLst/>
          </a:prstGeom>
          <a:noFill/>
          <a:ln/>
        </p:spPr>
        <p:txBody>
          <a:bodyPr wrap="square" lIns="0" tIns="0" rIns="0" bIns="0" rtlCol="0" anchor="ctr"/>
          <a:lstStyle/>
          <a:p>
            <a:r>
              <a:rPr lang="en-US" sz="1400" b="1" dirty="0">
                <a:solidFill>
                  <a:srgbClr val="1E293B"/>
                </a:solidFill>
              </a:rPr>
              <a:t>Open Multi-City Benchmark</a:t>
            </a:r>
            <a:endParaRPr lang="en-US" sz="1400" dirty="0"/>
          </a:p>
        </p:txBody>
      </p:sp>
      <p:sp>
        <p:nvSpPr>
          <p:cNvPr id="48" name="Shape 44"/>
          <p:cNvSpPr/>
          <p:nvPr/>
        </p:nvSpPr>
        <p:spPr>
          <a:xfrm>
            <a:off x="867323" y="4762947"/>
            <a:ext cx="4974336" cy="0"/>
          </a:xfrm>
          <a:prstGeom prst="line">
            <a:avLst/>
          </a:prstGeom>
          <a:noFill/>
          <a:ln w="12700">
            <a:solidFill>
              <a:srgbClr val="CBD5E1"/>
            </a:solidFill>
            <a:prstDash val="solid"/>
          </a:ln>
        </p:spPr>
      </p:sp>
      <p:sp>
        <p:nvSpPr>
          <p:cNvPr id="49" name="Text 45"/>
          <p:cNvSpPr/>
          <p:nvPr/>
        </p:nvSpPr>
        <p:spPr>
          <a:xfrm>
            <a:off x="867323" y="4799523"/>
            <a:ext cx="4974336" cy="353568"/>
          </a:xfrm>
          <a:prstGeom prst="rect">
            <a:avLst/>
          </a:prstGeom>
          <a:noFill/>
          <a:ln/>
        </p:spPr>
        <p:txBody>
          <a:bodyPr wrap="square" lIns="0" tIns="0" rIns="0" bIns="0" rtlCol="0" anchor="t"/>
          <a:lstStyle/>
          <a:p>
            <a:pPr>
              <a:lnSpc>
                <a:spcPct val="118000"/>
              </a:lnSpc>
            </a:pPr>
            <a:r>
              <a:rPr lang="en-US" sz="1133" dirty="0">
                <a:solidFill>
                  <a:srgbClr val="475569"/>
                </a:solidFill>
              </a:rPr>
              <a:t>149,662 labelled epochs · Beijing, Hong Kong, Tokyo, Oxford, Ann Arbor · 9+ receiver types</a:t>
            </a:r>
            <a:endParaRPr lang="en-US" sz="1133" dirty="0"/>
          </a:p>
        </p:txBody>
      </p:sp>
      <p:sp>
        <p:nvSpPr>
          <p:cNvPr id="50" name="Shape 46"/>
          <p:cNvSpPr/>
          <p:nvPr/>
        </p:nvSpPr>
        <p:spPr>
          <a:xfrm>
            <a:off x="208955" y="5388667"/>
            <a:ext cx="5730240" cy="890016"/>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51" name="Shape 47"/>
          <p:cNvSpPr/>
          <p:nvPr/>
        </p:nvSpPr>
        <p:spPr>
          <a:xfrm>
            <a:off x="208955" y="5388667"/>
            <a:ext cx="79248" cy="890016"/>
          </a:xfrm>
          <a:prstGeom prst="rect">
            <a:avLst/>
          </a:prstGeom>
          <a:solidFill>
            <a:srgbClr val="5B21B6"/>
          </a:solidFill>
          <a:ln w="12700">
            <a:solidFill>
              <a:srgbClr val="5B21B6"/>
            </a:solidFill>
            <a:prstDash val="solid"/>
          </a:ln>
        </p:spPr>
      </p:sp>
      <p:sp>
        <p:nvSpPr>
          <p:cNvPr id="52" name="Shape 48"/>
          <p:cNvSpPr/>
          <p:nvPr/>
        </p:nvSpPr>
        <p:spPr>
          <a:xfrm>
            <a:off x="379643" y="5650795"/>
            <a:ext cx="365760" cy="365760"/>
          </a:xfrm>
          <a:prstGeom prst="ellipse">
            <a:avLst/>
          </a:prstGeom>
          <a:solidFill>
            <a:srgbClr val="5B21B6"/>
          </a:solidFill>
          <a:ln w="12700">
            <a:solidFill>
              <a:srgbClr val="5B21B6"/>
            </a:solidFill>
            <a:prstDash val="solid"/>
          </a:ln>
        </p:spPr>
      </p:sp>
      <p:sp>
        <p:nvSpPr>
          <p:cNvPr id="53" name="Text 49"/>
          <p:cNvSpPr/>
          <p:nvPr/>
        </p:nvSpPr>
        <p:spPr>
          <a:xfrm>
            <a:off x="379643" y="5650795"/>
            <a:ext cx="365760" cy="365760"/>
          </a:xfrm>
          <a:prstGeom prst="rect">
            <a:avLst/>
          </a:prstGeom>
          <a:noFill/>
          <a:ln/>
        </p:spPr>
        <p:txBody>
          <a:bodyPr wrap="square" lIns="0" tIns="0" rIns="0" bIns="0" rtlCol="0" anchor="ctr"/>
          <a:lstStyle/>
          <a:p>
            <a:pPr algn="ctr"/>
            <a:r>
              <a:rPr lang="en-US" sz="1467" b="1" dirty="0">
                <a:solidFill>
                  <a:srgbClr val="FFFFFF"/>
                </a:solidFill>
              </a:rPr>
              <a:t>5</a:t>
            </a:r>
            <a:endParaRPr lang="en-US" sz="1467" dirty="0"/>
          </a:p>
        </p:txBody>
      </p:sp>
      <p:sp>
        <p:nvSpPr>
          <p:cNvPr id="54" name="Text 50"/>
          <p:cNvSpPr/>
          <p:nvPr/>
        </p:nvSpPr>
        <p:spPr>
          <a:xfrm>
            <a:off x="867323" y="5474011"/>
            <a:ext cx="4974336" cy="341376"/>
          </a:xfrm>
          <a:prstGeom prst="rect">
            <a:avLst/>
          </a:prstGeom>
          <a:noFill/>
          <a:ln/>
        </p:spPr>
        <p:txBody>
          <a:bodyPr wrap="square" lIns="0" tIns="0" rIns="0" bIns="0" rtlCol="0" anchor="ctr"/>
          <a:lstStyle/>
          <a:p>
            <a:r>
              <a:rPr lang="en-US" sz="1400" b="1" dirty="0">
                <a:solidFill>
                  <a:srgbClr val="1E293B"/>
                </a:solidFill>
              </a:rPr>
              <a:t>Hardware-Aware Design</a:t>
            </a:r>
            <a:endParaRPr lang="en-US" sz="1400" dirty="0"/>
          </a:p>
        </p:txBody>
      </p:sp>
      <p:sp>
        <p:nvSpPr>
          <p:cNvPr id="55" name="Shape 51"/>
          <p:cNvSpPr/>
          <p:nvPr/>
        </p:nvSpPr>
        <p:spPr>
          <a:xfrm>
            <a:off x="867323" y="5827579"/>
            <a:ext cx="4974336" cy="0"/>
          </a:xfrm>
          <a:prstGeom prst="line">
            <a:avLst/>
          </a:prstGeom>
          <a:noFill/>
          <a:ln w="12700">
            <a:solidFill>
              <a:srgbClr val="CBD5E1"/>
            </a:solidFill>
            <a:prstDash val="solid"/>
          </a:ln>
        </p:spPr>
      </p:sp>
      <p:sp>
        <p:nvSpPr>
          <p:cNvPr id="56" name="Text 52"/>
          <p:cNvSpPr/>
          <p:nvPr/>
        </p:nvSpPr>
        <p:spPr>
          <a:xfrm>
            <a:off x="867323" y="5864155"/>
            <a:ext cx="4974336" cy="353568"/>
          </a:xfrm>
          <a:prstGeom prst="rect">
            <a:avLst/>
          </a:prstGeom>
          <a:noFill/>
          <a:ln/>
        </p:spPr>
        <p:txBody>
          <a:bodyPr wrap="square" lIns="0" tIns="0" rIns="0" bIns="0" rtlCol="0" anchor="t"/>
          <a:lstStyle/>
          <a:p>
            <a:pPr>
              <a:lnSpc>
                <a:spcPct val="118000"/>
              </a:lnSpc>
            </a:pPr>
            <a:r>
              <a:rPr lang="en-US" sz="1133" dirty="0">
                <a:solidFill>
                  <a:srgbClr val="475569"/>
                </a:solidFill>
              </a:rPr>
              <a:t>Explicit receiver_tier feature bridges Septentrio survey-grade → consumer smartphone, no retraining</a:t>
            </a:r>
            <a:endParaRPr lang="en-US" sz="1133" dirty="0"/>
          </a:p>
        </p:txBody>
      </p:sp>
      <p:sp>
        <p:nvSpPr>
          <p:cNvPr id="57" name="Shape 53"/>
          <p:cNvSpPr/>
          <p:nvPr/>
        </p:nvSpPr>
        <p:spPr>
          <a:xfrm>
            <a:off x="6368292" y="935397"/>
            <a:ext cx="5705856" cy="670560"/>
          </a:xfrm>
          <a:prstGeom prst="rect">
            <a:avLst/>
          </a:prstGeom>
          <a:solidFill>
            <a:srgbClr val="0D1F3C"/>
          </a:solidFill>
          <a:ln w="12700">
            <a:solidFill>
              <a:srgbClr val="4FC3F7"/>
            </a:solidFill>
            <a:prstDash val="solid"/>
          </a:ln>
          <a:effectLst>
            <a:outerShdw blurRad="76200" dist="25400" dir="8100000" algn="bl" rotWithShape="0">
              <a:srgbClr val="000000">
                <a:alpha val="10000"/>
              </a:srgbClr>
            </a:outerShdw>
          </a:effectLst>
        </p:spPr>
      </p:sp>
      <p:sp>
        <p:nvSpPr>
          <p:cNvPr id="58" name="Text 54"/>
          <p:cNvSpPr/>
          <p:nvPr/>
        </p:nvSpPr>
        <p:spPr>
          <a:xfrm>
            <a:off x="6563364" y="947589"/>
            <a:ext cx="5315712" cy="390144"/>
          </a:xfrm>
          <a:prstGeom prst="rect">
            <a:avLst/>
          </a:prstGeom>
          <a:noFill/>
          <a:ln/>
        </p:spPr>
        <p:txBody>
          <a:bodyPr wrap="square" lIns="0" tIns="0" rIns="0" bIns="0" rtlCol="0" anchor="ctr"/>
          <a:lstStyle/>
          <a:p>
            <a:r>
              <a:rPr lang="en-US" sz="2933" b="1" dirty="0">
                <a:solidFill>
                  <a:srgbClr val="4FC3F7"/>
                </a:solidFill>
              </a:rPr>
              <a:t>10.5×  </a:t>
            </a:r>
            <a:r>
              <a:rPr lang="en-US" sz="1333" dirty="0">
                <a:solidFill>
                  <a:srgbClr val="FFFFFF"/>
                </a:solidFill>
              </a:rPr>
              <a:t>faster · one pass · three horizons</a:t>
            </a:r>
            <a:endParaRPr lang="en-US" sz="2933" dirty="0"/>
          </a:p>
        </p:txBody>
      </p:sp>
      <p:sp>
        <p:nvSpPr>
          <p:cNvPr id="59" name="Text 55"/>
          <p:cNvSpPr/>
          <p:nvPr/>
        </p:nvSpPr>
        <p:spPr>
          <a:xfrm>
            <a:off x="6563364" y="1325541"/>
            <a:ext cx="5315712" cy="243840"/>
          </a:xfrm>
          <a:prstGeom prst="rect">
            <a:avLst/>
          </a:prstGeom>
          <a:noFill/>
          <a:ln/>
        </p:spPr>
        <p:txBody>
          <a:bodyPr wrap="square" lIns="0" tIns="0" rIns="0" bIns="0" rtlCol="0" anchor="ctr"/>
          <a:lstStyle/>
          <a:p>
            <a:r>
              <a:rPr lang="en-US" sz="1133" i="1" dirty="0">
                <a:solidFill>
                  <a:srgbClr val="4FC3F7"/>
                </a:solidFill>
              </a:rPr>
              <a:t>DEGRADED F1: 0.75 (ours) vs 0.15 (RF) on unseen Tokyo</a:t>
            </a:r>
            <a:endParaRPr lang="en-US" sz="1133" dirty="0"/>
          </a:p>
        </p:txBody>
      </p:sp>
      <p:sp>
        <p:nvSpPr>
          <p:cNvPr id="60" name="Shape 56"/>
          <p:cNvSpPr/>
          <p:nvPr/>
        </p:nvSpPr>
        <p:spPr>
          <a:xfrm>
            <a:off x="6368292" y="1703493"/>
            <a:ext cx="5705856" cy="1365504"/>
          </a:xfrm>
          <a:prstGeom prst="rect">
            <a:avLst/>
          </a:prstGeom>
          <a:solidFill>
            <a:srgbClr val="FFFFFF"/>
          </a:solidFill>
          <a:ln w="12700">
            <a:solidFill>
              <a:srgbClr val="0369A1"/>
            </a:solidFill>
            <a:prstDash val="solid"/>
          </a:ln>
          <a:effectLst>
            <a:outerShdw blurRad="76200" dist="25400" dir="8100000" algn="bl" rotWithShape="0">
              <a:srgbClr val="000000">
                <a:alpha val="10000"/>
              </a:srgbClr>
            </a:outerShdw>
          </a:effectLst>
        </p:spPr>
      </p:sp>
      <p:sp>
        <p:nvSpPr>
          <p:cNvPr id="61" name="Shape 57"/>
          <p:cNvSpPr/>
          <p:nvPr/>
        </p:nvSpPr>
        <p:spPr>
          <a:xfrm>
            <a:off x="6368292" y="1703493"/>
            <a:ext cx="85344" cy="1365504"/>
          </a:xfrm>
          <a:prstGeom prst="rect">
            <a:avLst/>
          </a:prstGeom>
          <a:solidFill>
            <a:srgbClr val="0369A1"/>
          </a:solidFill>
          <a:ln w="12700">
            <a:solidFill>
              <a:srgbClr val="0369A1"/>
            </a:solidFill>
            <a:prstDash val="solid"/>
          </a:ln>
        </p:spPr>
      </p:sp>
      <p:sp>
        <p:nvSpPr>
          <p:cNvPr id="62" name="Shape 58"/>
          <p:cNvSpPr/>
          <p:nvPr/>
        </p:nvSpPr>
        <p:spPr>
          <a:xfrm>
            <a:off x="6551172" y="1825413"/>
            <a:ext cx="877824" cy="426720"/>
          </a:xfrm>
          <a:prstGeom prst="rect">
            <a:avLst/>
          </a:prstGeom>
          <a:solidFill>
            <a:srgbClr val="0369A1"/>
          </a:solidFill>
          <a:ln w="12700">
            <a:solidFill>
              <a:srgbClr val="0369A1"/>
            </a:solidFill>
            <a:prstDash val="solid"/>
          </a:ln>
        </p:spPr>
      </p:sp>
      <p:sp>
        <p:nvSpPr>
          <p:cNvPr id="63" name="Text 59"/>
          <p:cNvSpPr/>
          <p:nvPr/>
        </p:nvSpPr>
        <p:spPr>
          <a:xfrm>
            <a:off x="6551172" y="1825413"/>
            <a:ext cx="877824" cy="426720"/>
          </a:xfrm>
          <a:prstGeom prst="rect">
            <a:avLst/>
          </a:prstGeom>
          <a:noFill/>
          <a:ln/>
        </p:spPr>
        <p:txBody>
          <a:bodyPr wrap="square" lIns="0" tIns="0" rIns="0" bIns="0" rtlCol="0" anchor="ctr"/>
          <a:lstStyle/>
          <a:p>
            <a:pPr algn="ctr"/>
            <a:r>
              <a:rPr lang="en-US" sz="2000" b="1" dirty="0">
                <a:solidFill>
                  <a:srgbClr val="FFFFFF"/>
                </a:solidFill>
              </a:rPr>
              <a:t>5 s</a:t>
            </a:r>
            <a:endParaRPr lang="en-US" sz="2000" dirty="0"/>
          </a:p>
        </p:txBody>
      </p:sp>
      <p:sp>
        <p:nvSpPr>
          <p:cNvPr id="64" name="Text 60"/>
          <p:cNvSpPr/>
          <p:nvPr/>
        </p:nvSpPr>
        <p:spPr>
          <a:xfrm>
            <a:off x="7514340" y="1813221"/>
            <a:ext cx="1341120" cy="438912"/>
          </a:xfrm>
          <a:prstGeom prst="rect">
            <a:avLst/>
          </a:prstGeom>
          <a:noFill/>
          <a:ln/>
        </p:spPr>
        <p:txBody>
          <a:bodyPr wrap="square" lIns="0" tIns="0" rIns="0" bIns="0" rtlCol="0" anchor="ctr"/>
          <a:lstStyle/>
          <a:p>
            <a:r>
              <a:rPr lang="en-US" sz="2667" b="1" dirty="0">
                <a:solidFill>
                  <a:srgbClr val="003893"/>
                </a:solidFill>
              </a:rPr>
              <a:t>≈ 83 m</a:t>
            </a:r>
            <a:endParaRPr lang="en-US" sz="2667" dirty="0"/>
          </a:p>
        </p:txBody>
      </p:sp>
      <p:sp>
        <p:nvSpPr>
          <p:cNvPr id="65" name="Text 61"/>
          <p:cNvSpPr/>
          <p:nvPr/>
        </p:nvSpPr>
        <p:spPr>
          <a:xfrm>
            <a:off x="8928612" y="1861989"/>
            <a:ext cx="2999232" cy="268224"/>
          </a:xfrm>
          <a:prstGeom prst="rect">
            <a:avLst/>
          </a:prstGeom>
          <a:noFill/>
          <a:ln/>
        </p:spPr>
        <p:txBody>
          <a:bodyPr wrap="square" lIns="0" tIns="0" rIns="0" bIns="0" rtlCol="0" anchor="ctr"/>
          <a:lstStyle/>
          <a:p>
            <a:r>
              <a:rPr lang="en-US" sz="1000" b="1" kern="0" spc="293" dirty="0">
                <a:solidFill>
                  <a:srgbClr val="0369A1"/>
                </a:solidFill>
              </a:rPr>
              <a:t>SENSOR TIGHTENING</a:t>
            </a:r>
            <a:endParaRPr lang="en-US" sz="1000" dirty="0"/>
          </a:p>
        </p:txBody>
      </p:sp>
      <p:sp>
        <p:nvSpPr>
          <p:cNvPr id="66" name="Shape 62"/>
          <p:cNvSpPr/>
          <p:nvPr/>
        </p:nvSpPr>
        <p:spPr>
          <a:xfrm>
            <a:off x="6551172" y="2300901"/>
            <a:ext cx="5340096" cy="0"/>
          </a:xfrm>
          <a:prstGeom prst="line">
            <a:avLst/>
          </a:prstGeom>
          <a:noFill/>
          <a:ln w="12700">
            <a:solidFill>
              <a:srgbClr val="CBD5E1"/>
            </a:solidFill>
            <a:prstDash val="solid"/>
          </a:ln>
        </p:spPr>
      </p:sp>
      <p:sp>
        <p:nvSpPr>
          <p:cNvPr id="67" name="Text 63"/>
          <p:cNvSpPr/>
          <p:nvPr/>
        </p:nvSpPr>
        <p:spPr>
          <a:xfrm>
            <a:off x="6551172" y="2337477"/>
            <a:ext cx="5340096" cy="658368"/>
          </a:xfrm>
          <a:prstGeom prst="rect">
            <a:avLst/>
          </a:prstGeom>
          <a:noFill/>
          <a:ln/>
        </p:spPr>
        <p:txBody>
          <a:bodyPr wrap="square" lIns="0" tIns="0" rIns="0" bIns="0" rtlCol="0" anchor="t"/>
          <a:lstStyle/>
          <a:p>
            <a:pPr>
              <a:lnSpc>
                <a:spcPct val="118000"/>
              </a:lnSpc>
            </a:pPr>
            <a:r>
              <a:rPr lang="en-US" sz="1200" dirty="0">
                <a:solidFill>
                  <a:srgbClr val="475569"/>
                </a:solidFill>
              </a:rPr>
              <a:t>Fuse IMU/LiDAR · tighten tracking loops before canyon entry</a:t>
            </a:r>
            <a:endParaRPr lang="en-US" sz="1200" dirty="0"/>
          </a:p>
        </p:txBody>
      </p:sp>
      <p:sp>
        <p:nvSpPr>
          <p:cNvPr id="68" name="Shape 64"/>
          <p:cNvSpPr/>
          <p:nvPr/>
        </p:nvSpPr>
        <p:spPr>
          <a:xfrm>
            <a:off x="6368292" y="3161656"/>
            <a:ext cx="5705856" cy="1365504"/>
          </a:xfrm>
          <a:prstGeom prst="rect">
            <a:avLst/>
          </a:prstGeom>
          <a:solidFill>
            <a:srgbClr val="FFFFFF"/>
          </a:solidFill>
          <a:ln w="12700">
            <a:solidFill>
              <a:srgbClr val="0E7490"/>
            </a:solidFill>
            <a:prstDash val="solid"/>
          </a:ln>
          <a:effectLst>
            <a:outerShdw blurRad="76200" dist="25400" dir="8100000" algn="bl" rotWithShape="0">
              <a:srgbClr val="000000">
                <a:alpha val="10000"/>
              </a:srgbClr>
            </a:outerShdw>
          </a:effectLst>
        </p:spPr>
      </p:sp>
      <p:sp>
        <p:nvSpPr>
          <p:cNvPr id="69" name="Shape 65"/>
          <p:cNvSpPr/>
          <p:nvPr/>
        </p:nvSpPr>
        <p:spPr>
          <a:xfrm>
            <a:off x="6368292" y="3161656"/>
            <a:ext cx="85344" cy="1365504"/>
          </a:xfrm>
          <a:prstGeom prst="rect">
            <a:avLst/>
          </a:prstGeom>
          <a:solidFill>
            <a:srgbClr val="0E7490"/>
          </a:solidFill>
          <a:ln w="12700">
            <a:solidFill>
              <a:srgbClr val="0E7490"/>
            </a:solidFill>
            <a:prstDash val="solid"/>
          </a:ln>
        </p:spPr>
      </p:sp>
      <p:sp>
        <p:nvSpPr>
          <p:cNvPr id="70" name="Shape 66"/>
          <p:cNvSpPr/>
          <p:nvPr/>
        </p:nvSpPr>
        <p:spPr>
          <a:xfrm>
            <a:off x="6551172" y="3283576"/>
            <a:ext cx="877824" cy="426720"/>
          </a:xfrm>
          <a:prstGeom prst="rect">
            <a:avLst/>
          </a:prstGeom>
          <a:solidFill>
            <a:srgbClr val="0E7490"/>
          </a:solidFill>
          <a:ln w="12700">
            <a:solidFill>
              <a:srgbClr val="0E7490"/>
            </a:solidFill>
            <a:prstDash val="solid"/>
          </a:ln>
        </p:spPr>
      </p:sp>
      <p:sp>
        <p:nvSpPr>
          <p:cNvPr id="71" name="Text 67"/>
          <p:cNvSpPr/>
          <p:nvPr/>
        </p:nvSpPr>
        <p:spPr>
          <a:xfrm>
            <a:off x="6551172" y="3283576"/>
            <a:ext cx="877824" cy="426720"/>
          </a:xfrm>
          <a:prstGeom prst="rect">
            <a:avLst/>
          </a:prstGeom>
          <a:noFill/>
          <a:ln/>
        </p:spPr>
        <p:txBody>
          <a:bodyPr wrap="square" lIns="0" tIns="0" rIns="0" bIns="0" rtlCol="0" anchor="ctr"/>
          <a:lstStyle/>
          <a:p>
            <a:pPr algn="ctr"/>
            <a:r>
              <a:rPr lang="en-US" sz="2000" b="1" dirty="0">
                <a:solidFill>
                  <a:srgbClr val="FFFFFF"/>
                </a:solidFill>
              </a:rPr>
              <a:t>15 s</a:t>
            </a:r>
            <a:endParaRPr lang="en-US" sz="2000" dirty="0"/>
          </a:p>
        </p:txBody>
      </p:sp>
      <p:sp>
        <p:nvSpPr>
          <p:cNvPr id="72" name="Text 68"/>
          <p:cNvSpPr/>
          <p:nvPr/>
        </p:nvSpPr>
        <p:spPr>
          <a:xfrm>
            <a:off x="7514340" y="3271384"/>
            <a:ext cx="1341120" cy="438912"/>
          </a:xfrm>
          <a:prstGeom prst="rect">
            <a:avLst/>
          </a:prstGeom>
          <a:noFill/>
          <a:ln/>
        </p:spPr>
        <p:txBody>
          <a:bodyPr wrap="square" lIns="0" tIns="0" rIns="0" bIns="0" rtlCol="0" anchor="ctr"/>
          <a:lstStyle/>
          <a:p>
            <a:r>
              <a:rPr lang="en-US" sz="2667" b="1" dirty="0">
                <a:solidFill>
                  <a:srgbClr val="003893"/>
                </a:solidFill>
              </a:rPr>
              <a:t>≈ 250 m</a:t>
            </a:r>
            <a:endParaRPr lang="en-US" sz="2667" dirty="0"/>
          </a:p>
        </p:txBody>
      </p:sp>
      <p:sp>
        <p:nvSpPr>
          <p:cNvPr id="73" name="Text 69"/>
          <p:cNvSpPr/>
          <p:nvPr/>
        </p:nvSpPr>
        <p:spPr>
          <a:xfrm>
            <a:off x="8928612" y="3320152"/>
            <a:ext cx="2999232" cy="268224"/>
          </a:xfrm>
          <a:prstGeom prst="rect">
            <a:avLst/>
          </a:prstGeom>
          <a:noFill/>
          <a:ln/>
        </p:spPr>
        <p:txBody>
          <a:bodyPr wrap="square" lIns="0" tIns="0" rIns="0" bIns="0" rtlCol="0" anchor="ctr"/>
          <a:lstStyle/>
          <a:p>
            <a:r>
              <a:rPr lang="en-US" sz="1000" b="1" kern="0" spc="293" dirty="0">
                <a:solidFill>
                  <a:srgbClr val="0E7490"/>
                </a:solidFill>
              </a:rPr>
              <a:t>SENSOR HANDOFF</a:t>
            </a:r>
            <a:endParaRPr lang="en-US" sz="1000" dirty="0"/>
          </a:p>
        </p:txBody>
      </p:sp>
      <p:sp>
        <p:nvSpPr>
          <p:cNvPr id="74" name="Shape 70"/>
          <p:cNvSpPr/>
          <p:nvPr/>
        </p:nvSpPr>
        <p:spPr>
          <a:xfrm>
            <a:off x="6551172" y="3759064"/>
            <a:ext cx="5340096" cy="0"/>
          </a:xfrm>
          <a:prstGeom prst="line">
            <a:avLst/>
          </a:prstGeom>
          <a:noFill/>
          <a:ln w="12700">
            <a:solidFill>
              <a:srgbClr val="CBD5E1"/>
            </a:solidFill>
            <a:prstDash val="solid"/>
          </a:ln>
        </p:spPr>
      </p:sp>
      <p:sp>
        <p:nvSpPr>
          <p:cNvPr id="75" name="Text 71"/>
          <p:cNvSpPr/>
          <p:nvPr/>
        </p:nvSpPr>
        <p:spPr>
          <a:xfrm>
            <a:off x="6551172" y="3795640"/>
            <a:ext cx="5340096" cy="658368"/>
          </a:xfrm>
          <a:prstGeom prst="rect">
            <a:avLst/>
          </a:prstGeom>
          <a:noFill/>
          <a:ln/>
        </p:spPr>
        <p:txBody>
          <a:bodyPr wrap="square" lIns="0" tIns="0" rIns="0" bIns="0" rtlCol="0" anchor="t"/>
          <a:lstStyle/>
          <a:p>
            <a:pPr>
              <a:lnSpc>
                <a:spcPct val="118000"/>
              </a:lnSpc>
            </a:pPr>
            <a:r>
              <a:rPr lang="en-US" sz="1200" dirty="0">
                <a:solidFill>
                  <a:srgbClr val="475569"/>
                </a:solidFill>
              </a:rPr>
              <a:t>Shift EKF authority to dead-reckoning before signal loss</a:t>
            </a:r>
            <a:endParaRPr lang="en-US" sz="1200" dirty="0"/>
          </a:p>
        </p:txBody>
      </p:sp>
      <p:sp>
        <p:nvSpPr>
          <p:cNvPr id="76" name="Shape 72"/>
          <p:cNvSpPr/>
          <p:nvPr/>
        </p:nvSpPr>
        <p:spPr>
          <a:xfrm>
            <a:off x="6368292" y="4619820"/>
            <a:ext cx="5705856" cy="1365504"/>
          </a:xfrm>
          <a:prstGeom prst="rect">
            <a:avLst/>
          </a:prstGeom>
          <a:solidFill>
            <a:srgbClr val="FFFFFF"/>
          </a:solidFill>
          <a:ln w="12700">
            <a:solidFill>
              <a:srgbClr val="155E75"/>
            </a:solidFill>
            <a:prstDash val="solid"/>
          </a:ln>
          <a:effectLst>
            <a:outerShdw blurRad="76200" dist="25400" dir="8100000" algn="bl" rotWithShape="0">
              <a:srgbClr val="000000">
                <a:alpha val="10000"/>
              </a:srgbClr>
            </a:outerShdw>
          </a:effectLst>
        </p:spPr>
      </p:sp>
      <p:sp>
        <p:nvSpPr>
          <p:cNvPr id="77" name="Shape 73"/>
          <p:cNvSpPr/>
          <p:nvPr/>
        </p:nvSpPr>
        <p:spPr>
          <a:xfrm>
            <a:off x="6368292" y="4619820"/>
            <a:ext cx="85344" cy="1365504"/>
          </a:xfrm>
          <a:prstGeom prst="rect">
            <a:avLst/>
          </a:prstGeom>
          <a:solidFill>
            <a:srgbClr val="155E75"/>
          </a:solidFill>
          <a:ln w="12700">
            <a:solidFill>
              <a:srgbClr val="155E75"/>
            </a:solidFill>
            <a:prstDash val="solid"/>
          </a:ln>
        </p:spPr>
      </p:sp>
      <p:sp>
        <p:nvSpPr>
          <p:cNvPr id="78" name="Shape 74"/>
          <p:cNvSpPr/>
          <p:nvPr/>
        </p:nvSpPr>
        <p:spPr>
          <a:xfrm>
            <a:off x="6551172" y="4741740"/>
            <a:ext cx="877824" cy="426720"/>
          </a:xfrm>
          <a:prstGeom prst="rect">
            <a:avLst/>
          </a:prstGeom>
          <a:solidFill>
            <a:srgbClr val="155E75"/>
          </a:solidFill>
          <a:ln w="12700">
            <a:solidFill>
              <a:srgbClr val="155E75"/>
            </a:solidFill>
            <a:prstDash val="solid"/>
          </a:ln>
        </p:spPr>
      </p:sp>
      <p:sp>
        <p:nvSpPr>
          <p:cNvPr id="79" name="Text 75"/>
          <p:cNvSpPr/>
          <p:nvPr/>
        </p:nvSpPr>
        <p:spPr>
          <a:xfrm>
            <a:off x="6551172" y="4741740"/>
            <a:ext cx="877824" cy="426720"/>
          </a:xfrm>
          <a:prstGeom prst="rect">
            <a:avLst/>
          </a:prstGeom>
          <a:noFill/>
          <a:ln/>
        </p:spPr>
        <p:txBody>
          <a:bodyPr wrap="square" lIns="0" tIns="0" rIns="0" bIns="0" rtlCol="0" anchor="ctr"/>
          <a:lstStyle/>
          <a:p>
            <a:pPr algn="ctr"/>
            <a:r>
              <a:rPr lang="en-US" sz="2000" b="1" dirty="0">
                <a:solidFill>
                  <a:srgbClr val="FFFFFF"/>
                </a:solidFill>
              </a:rPr>
              <a:t>30 s</a:t>
            </a:r>
            <a:endParaRPr lang="en-US" sz="2000" dirty="0"/>
          </a:p>
        </p:txBody>
      </p:sp>
      <p:sp>
        <p:nvSpPr>
          <p:cNvPr id="80" name="Text 76"/>
          <p:cNvSpPr/>
          <p:nvPr/>
        </p:nvSpPr>
        <p:spPr>
          <a:xfrm>
            <a:off x="7514340" y="4729548"/>
            <a:ext cx="1341120" cy="438912"/>
          </a:xfrm>
          <a:prstGeom prst="rect">
            <a:avLst/>
          </a:prstGeom>
          <a:noFill/>
          <a:ln/>
        </p:spPr>
        <p:txBody>
          <a:bodyPr wrap="square" lIns="0" tIns="0" rIns="0" bIns="0" rtlCol="0" anchor="ctr"/>
          <a:lstStyle/>
          <a:p>
            <a:r>
              <a:rPr lang="en-US" sz="2667" b="1" dirty="0">
                <a:solidFill>
                  <a:srgbClr val="003893"/>
                </a:solidFill>
              </a:rPr>
              <a:t>≈ 500 m</a:t>
            </a:r>
            <a:endParaRPr lang="en-US" sz="2667" dirty="0"/>
          </a:p>
        </p:txBody>
      </p:sp>
      <p:sp>
        <p:nvSpPr>
          <p:cNvPr id="81" name="Text 77"/>
          <p:cNvSpPr/>
          <p:nvPr/>
        </p:nvSpPr>
        <p:spPr>
          <a:xfrm>
            <a:off x="8928612" y="4778316"/>
            <a:ext cx="2999232" cy="268224"/>
          </a:xfrm>
          <a:prstGeom prst="rect">
            <a:avLst/>
          </a:prstGeom>
          <a:noFill/>
          <a:ln/>
        </p:spPr>
        <p:txBody>
          <a:bodyPr wrap="square" lIns="0" tIns="0" rIns="0" bIns="0" rtlCol="0" anchor="ctr"/>
          <a:lstStyle/>
          <a:p>
            <a:r>
              <a:rPr lang="en-US" sz="1000" b="1" kern="0" spc="293" dirty="0">
                <a:solidFill>
                  <a:srgbClr val="155E75"/>
                </a:solidFill>
              </a:rPr>
              <a:t>ROUTE REPLANNING</a:t>
            </a:r>
            <a:endParaRPr lang="en-US" sz="1000" dirty="0"/>
          </a:p>
        </p:txBody>
      </p:sp>
      <p:sp>
        <p:nvSpPr>
          <p:cNvPr id="82" name="Shape 78"/>
          <p:cNvSpPr/>
          <p:nvPr/>
        </p:nvSpPr>
        <p:spPr>
          <a:xfrm>
            <a:off x="6551172" y="5217228"/>
            <a:ext cx="5340096" cy="0"/>
          </a:xfrm>
          <a:prstGeom prst="line">
            <a:avLst/>
          </a:prstGeom>
          <a:noFill/>
          <a:ln w="12700">
            <a:solidFill>
              <a:srgbClr val="CBD5E1"/>
            </a:solidFill>
            <a:prstDash val="solid"/>
          </a:ln>
        </p:spPr>
      </p:sp>
      <p:sp>
        <p:nvSpPr>
          <p:cNvPr id="83" name="Text 79"/>
          <p:cNvSpPr/>
          <p:nvPr/>
        </p:nvSpPr>
        <p:spPr>
          <a:xfrm>
            <a:off x="6551172" y="5253804"/>
            <a:ext cx="5340096" cy="658368"/>
          </a:xfrm>
          <a:prstGeom prst="rect">
            <a:avLst/>
          </a:prstGeom>
          <a:noFill/>
          <a:ln/>
        </p:spPr>
        <p:txBody>
          <a:bodyPr wrap="square" lIns="0" tIns="0" rIns="0" bIns="0" rtlCol="0" anchor="t"/>
          <a:lstStyle/>
          <a:p>
            <a:pPr>
              <a:lnSpc>
                <a:spcPct val="118000"/>
              </a:lnSpc>
            </a:pPr>
            <a:r>
              <a:rPr lang="en-US" sz="1200" dirty="0">
                <a:solidFill>
                  <a:srgbClr val="475569"/>
                </a:solidFill>
              </a:rPr>
              <a:t>Full lead time to commit to an alternative route</a:t>
            </a:r>
            <a:endParaRPr lang="en-US" sz="1200" dirty="0"/>
          </a:p>
        </p:txBody>
      </p:sp>
      <p:sp>
        <p:nvSpPr>
          <p:cNvPr id="84" name="Shape 0"/>
          <p:cNvSpPr/>
          <p:nvPr/>
        </p:nvSpPr>
        <p:spPr>
          <a:xfrm>
            <a:off x="0" y="-19773"/>
            <a:ext cx="12192000" cy="740408"/>
          </a:xfrm>
          <a:prstGeom prst="rect">
            <a:avLst/>
          </a:prstGeom>
          <a:solidFill>
            <a:srgbClr val="003893"/>
          </a:solidFill>
          <a:ln w="12700">
            <a:solidFill>
              <a:srgbClr val="003893"/>
            </a:solidFill>
            <a:prstDash val="solid"/>
          </a:ln>
        </p:spPr>
      </p:sp>
      <p:sp>
        <p:nvSpPr>
          <p:cNvPr id="85" name="Shape 4"/>
          <p:cNvSpPr/>
          <p:nvPr/>
        </p:nvSpPr>
        <p:spPr>
          <a:xfrm>
            <a:off x="0" y="-23991"/>
            <a:ext cx="1128763" cy="767311"/>
          </a:xfrm>
          <a:prstGeom prst="homePlate">
            <a:avLst/>
          </a:prstGeom>
          <a:solidFill>
            <a:srgbClr val="FFFFFF"/>
          </a:solidFill>
          <a:ln w="6350">
            <a:solidFill>
              <a:srgbClr val="CCCCCC"/>
            </a:solidFill>
            <a:prstDash val="solid"/>
          </a:ln>
        </p:spPr>
      </p:sp>
      <p:pic>
        <p:nvPicPr>
          <p:cNvPr id="89" name="Picture 88">
            <a:extLst>
              <a:ext uri="{FF2B5EF4-FFF2-40B4-BE49-F238E27FC236}">
                <a16:creationId xmlns:a16="http://schemas.microsoft.com/office/drawing/2014/main" xmlns="" id="{6BF679AE-4199-10E8-76D5-569080AF8895}"/>
              </a:ext>
            </a:extLst>
          </p:cNvPr>
          <p:cNvPicPr>
            <a:picLocks noChangeAspect="1"/>
          </p:cNvPicPr>
          <p:nvPr/>
        </p:nvPicPr>
        <p:blipFill>
          <a:blip r:embed="rId4"/>
          <a:stretch>
            <a:fillRect/>
          </a:stretch>
        </p:blipFill>
        <p:spPr>
          <a:xfrm>
            <a:off x="-449372" y="-263328"/>
            <a:ext cx="1776568" cy="1245981"/>
          </a:xfrm>
          <a:prstGeom prst="rect">
            <a:avLst/>
          </a:prstGeom>
        </p:spPr>
      </p:pic>
      <p:sp>
        <p:nvSpPr>
          <p:cNvPr id="3" name="Text 1">
            <a:extLst>
              <a:ext uri="{FF2B5EF4-FFF2-40B4-BE49-F238E27FC236}">
                <a16:creationId xmlns:a16="http://schemas.microsoft.com/office/drawing/2014/main" xmlns="" id="{1A39884D-750F-158A-73D2-5A8E63E41188}"/>
              </a:ext>
            </a:extLst>
          </p:cNvPr>
          <p:cNvSpPr/>
          <p:nvPr/>
        </p:nvSpPr>
        <p:spPr>
          <a:xfrm>
            <a:off x="1273155" y="40844"/>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NOVELTIES</a:t>
            </a:r>
            <a:endParaRPr lang="en-US" sz="3200" dirty="0">
              <a:solidFill>
                <a:schemeClr val="bg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40844"/>
            <a:ext cx="12192000" cy="6858000"/>
          </a:xfrm>
          <a:prstGeom prst="rect">
            <a:avLst/>
          </a:prstGeom>
        </p:spPr>
      </p:pic>
      <p:sp>
        <p:nvSpPr>
          <p:cNvPr id="4" name="Shape 1"/>
          <p:cNvSpPr/>
          <p:nvPr/>
        </p:nvSpPr>
        <p:spPr>
          <a:xfrm>
            <a:off x="0" y="702259"/>
            <a:ext cx="12192000" cy="36576"/>
          </a:xfrm>
          <a:prstGeom prst="rect">
            <a:avLst/>
          </a:prstGeom>
          <a:solidFill>
            <a:srgbClr val="4FC3F7"/>
          </a:solidFill>
          <a:ln w="12700">
            <a:solidFill>
              <a:srgbClr val="4FC3F7"/>
            </a:solidFill>
            <a:prstDash val="solid"/>
          </a:ln>
        </p:spPr>
      </p:sp>
      <p:sp>
        <p:nvSpPr>
          <p:cNvPr id="5" name="Shape 2"/>
          <p:cNvSpPr/>
          <p:nvPr/>
        </p:nvSpPr>
        <p:spPr>
          <a:xfrm>
            <a:off x="0" y="6647080"/>
            <a:ext cx="12192000" cy="210921"/>
          </a:xfrm>
          <a:prstGeom prst="rect">
            <a:avLst/>
          </a:prstGeom>
          <a:solidFill>
            <a:srgbClr val="003893"/>
          </a:solidFill>
          <a:ln w="12700">
            <a:solidFill>
              <a:srgbClr val="003893"/>
            </a:solidFill>
            <a:prstDash val="solid"/>
          </a:ln>
        </p:spPr>
      </p:sp>
      <p:sp>
        <p:nvSpPr>
          <p:cNvPr id="6" name="Shape 3"/>
          <p:cNvSpPr/>
          <p:nvPr/>
        </p:nvSpPr>
        <p:spPr>
          <a:xfrm>
            <a:off x="0" y="6623913"/>
            <a:ext cx="12192000" cy="30480"/>
          </a:xfrm>
          <a:prstGeom prst="rect">
            <a:avLst/>
          </a:prstGeom>
          <a:solidFill>
            <a:srgbClr val="4FC3F7"/>
          </a:solidFill>
          <a:ln w="12700">
            <a:solidFill>
              <a:srgbClr val="4FC3F7"/>
            </a:solidFill>
            <a:prstDash val="solid"/>
          </a:ln>
        </p:spPr>
      </p:sp>
      <p:sp>
        <p:nvSpPr>
          <p:cNvPr id="8" name="Shape 4"/>
          <p:cNvSpPr/>
          <p:nvPr/>
        </p:nvSpPr>
        <p:spPr>
          <a:xfrm>
            <a:off x="10731399" y="121921"/>
            <a:ext cx="51207" cy="51207"/>
          </a:xfrm>
          <a:prstGeom prst="ellipse">
            <a:avLst/>
          </a:prstGeom>
          <a:solidFill>
            <a:srgbClr val="FFFFFF">
              <a:alpha val="35000"/>
            </a:srgbClr>
          </a:solidFill>
          <a:ln w="12700">
            <a:solidFill>
              <a:srgbClr val="FFFFFF"/>
            </a:solidFill>
            <a:prstDash val="solid"/>
          </a:ln>
        </p:spPr>
      </p:sp>
      <p:sp>
        <p:nvSpPr>
          <p:cNvPr id="9" name="Shape 5"/>
          <p:cNvSpPr/>
          <p:nvPr/>
        </p:nvSpPr>
        <p:spPr>
          <a:xfrm>
            <a:off x="10947198" y="121921"/>
            <a:ext cx="51207" cy="51207"/>
          </a:xfrm>
          <a:prstGeom prst="ellipse">
            <a:avLst/>
          </a:prstGeom>
          <a:solidFill>
            <a:srgbClr val="FFFFFF">
              <a:alpha val="35000"/>
            </a:srgbClr>
          </a:solidFill>
          <a:ln w="12700">
            <a:solidFill>
              <a:srgbClr val="FFFFFF"/>
            </a:solidFill>
            <a:prstDash val="solid"/>
          </a:ln>
        </p:spPr>
      </p:sp>
      <p:sp>
        <p:nvSpPr>
          <p:cNvPr id="10" name="Shape 6"/>
          <p:cNvSpPr/>
          <p:nvPr/>
        </p:nvSpPr>
        <p:spPr>
          <a:xfrm>
            <a:off x="11162995" y="121921"/>
            <a:ext cx="51207" cy="51207"/>
          </a:xfrm>
          <a:prstGeom prst="ellipse">
            <a:avLst/>
          </a:prstGeom>
          <a:solidFill>
            <a:srgbClr val="FFFFFF">
              <a:alpha val="35000"/>
            </a:srgbClr>
          </a:solidFill>
          <a:ln w="12700">
            <a:solidFill>
              <a:srgbClr val="FFFFFF"/>
            </a:solidFill>
            <a:prstDash val="solid"/>
          </a:ln>
        </p:spPr>
      </p:sp>
      <p:sp>
        <p:nvSpPr>
          <p:cNvPr id="11" name="Shape 7"/>
          <p:cNvSpPr/>
          <p:nvPr/>
        </p:nvSpPr>
        <p:spPr>
          <a:xfrm>
            <a:off x="11378794" y="121921"/>
            <a:ext cx="51207" cy="51207"/>
          </a:xfrm>
          <a:prstGeom prst="ellipse">
            <a:avLst/>
          </a:prstGeom>
          <a:solidFill>
            <a:srgbClr val="FFFFFF">
              <a:alpha val="35000"/>
            </a:srgbClr>
          </a:solidFill>
          <a:ln w="12700">
            <a:solidFill>
              <a:srgbClr val="FFFFFF"/>
            </a:solidFill>
            <a:prstDash val="solid"/>
          </a:ln>
        </p:spPr>
      </p:sp>
      <p:sp>
        <p:nvSpPr>
          <p:cNvPr id="12" name="Shape 8"/>
          <p:cNvSpPr/>
          <p:nvPr/>
        </p:nvSpPr>
        <p:spPr>
          <a:xfrm>
            <a:off x="10731399" y="292609"/>
            <a:ext cx="51207" cy="51207"/>
          </a:xfrm>
          <a:prstGeom prst="ellipse">
            <a:avLst/>
          </a:prstGeom>
          <a:solidFill>
            <a:srgbClr val="FFFFFF">
              <a:alpha val="35000"/>
            </a:srgbClr>
          </a:solidFill>
          <a:ln w="12700">
            <a:solidFill>
              <a:srgbClr val="FFFFFF"/>
            </a:solidFill>
            <a:prstDash val="solid"/>
          </a:ln>
        </p:spPr>
      </p:sp>
      <p:sp>
        <p:nvSpPr>
          <p:cNvPr id="13" name="Shape 9"/>
          <p:cNvSpPr/>
          <p:nvPr/>
        </p:nvSpPr>
        <p:spPr>
          <a:xfrm>
            <a:off x="10947198" y="292609"/>
            <a:ext cx="51207" cy="51207"/>
          </a:xfrm>
          <a:prstGeom prst="ellipse">
            <a:avLst/>
          </a:prstGeom>
          <a:solidFill>
            <a:srgbClr val="FFFFFF">
              <a:alpha val="35000"/>
            </a:srgbClr>
          </a:solidFill>
          <a:ln w="12700">
            <a:solidFill>
              <a:srgbClr val="FFFFFF"/>
            </a:solidFill>
            <a:prstDash val="solid"/>
          </a:ln>
        </p:spPr>
      </p:sp>
      <p:sp>
        <p:nvSpPr>
          <p:cNvPr id="14" name="Shape 10"/>
          <p:cNvSpPr/>
          <p:nvPr/>
        </p:nvSpPr>
        <p:spPr>
          <a:xfrm>
            <a:off x="11162995" y="292609"/>
            <a:ext cx="51207" cy="51207"/>
          </a:xfrm>
          <a:prstGeom prst="ellipse">
            <a:avLst/>
          </a:prstGeom>
          <a:solidFill>
            <a:srgbClr val="FFFFFF">
              <a:alpha val="35000"/>
            </a:srgbClr>
          </a:solidFill>
          <a:ln w="12700">
            <a:solidFill>
              <a:srgbClr val="FFFFFF"/>
            </a:solidFill>
            <a:prstDash val="solid"/>
          </a:ln>
        </p:spPr>
      </p:sp>
      <p:sp>
        <p:nvSpPr>
          <p:cNvPr id="15" name="Shape 11"/>
          <p:cNvSpPr/>
          <p:nvPr/>
        </p:nvSpPr>
        <p:spPr>
          <a:xfrm>
            <a:off x="11378794" y="292609"/>
            <a:ext cx="51207" cy="51207"/>
          </a:xfrm>
          <a:prstGeom prst="ellipse">
            <a:avLst/>
          </a:prstGeom>
          <a:solidFill>
            <a:srgbClr val="FFFFFF">
              <a:alpha val="35000"/>
            </a:srgbClr>
          </a:solidFill>
          <a:ln w="12700">
            <a:solidFill>
              <a:srgbClr val="FFFFFF"/>
            </a:solidFill>
            <a:prstDash val="solid"/>
          </a:ln>
        </p:spPr>
      </p:sp>
      <p:sp>
        <p:nvSpPr>
          <p:cNvPr id="16" name="Shape 12"/>
          <p:cNvSpPr/>
          <p:nvPr/>
        </p:nvSpPr>
        <p:spPr>
          <a:xfrm>
            <a:off x="10731399" y="463297"/>
            <a:ext cx="51207" cy="51207"/>
          </a:xfrm>
          <a:prstGeom prst="ellipse">
            <a:avLst/>
          </a:prstGeom>
          <a:solidFill>
            <a:srgbClr val="FFFFFF">
              <a:alpha val="35000"/>
            </a:srgbClr>
          </a:solidFill>
          <a:ln w="12700">
            <a:solidFill>
              <a:srgbClr val="FFFFFF"/>
            </a:solidFill>
            <a:prstDash val="solid"/>
          </a:ln>
        </p:spPr>
      </p:sp>
      <p:sp>
        <p:nvSpPr>
          <p:cNvPr id="17" name="Shape 13"/>
          <p:cNvSpPr/>
          <p:nvPr/>
        </p:nvSpPr>
        <p:spPr>
          <a:xfrm>
            <a:off x="10947198" y="463297"/>
            <a:ext cx="51207" cy="51207"/>
          </a:xfrm>
          <a:prstGeom prst="ellipse">
            <a:avLst/>
          </a:prstGeom>
          <a:solidFill>
            <a:srgbClr val="FFFFFF">
              <a:alpha val="35000"/>
            </a:srgbClr>
          </a:solidFill>
          <a:ln w="12700">
            <a:solidFill>
              <a:srgbClr val="FFFFFF"/>
            </a:solidFill>
            <a:prstDash val="solid"/>
          </a:ln>
        </p:spPr>
      </p:sp>
      <p:sp>
        <p:nvSpPr>
          <p:cNvPr id="18" name="Shape 14"/>
          <p:cNvSpPr/>
          <p:nvPr/>
        </p:nvSpPr>
        <p:spPr>
          <a:xfrm>
            <a:off x="11162995" y="463297"/>
            <a:ext cx="51207" cy="51207"/>
          </a:xfrm>
          <a:prstGeom prst="ellipse">
            <a:avLst/>
          </a:prstGeom>
          <a:solidFill>
            <a:srgbClr val="FFFFFF">
              <a:alpha val="35000"/>
            </a:srgbClr>
          </a:solidFill>
          <a:ln w="12700">
            <a:solidFill>
              <a:srgbClr val="FFFFFF"/>
            </a:solidFill>
            <a:prstDash val="solid"/>
          </a:ln>
        </p:spPr>
      </p:sp>
      <p:sp>
        <p:nvSpPr>
          <p:cNvPr id="19" name="Shape 15"/>
          <p:cNvSpPr/>
          <p:nvPr/>
        </p:nvSpPr>
        <p:spPr>
          <a:xfrm>
            <a:off x="11378794" y="463297"/>
            <a:ext cx="51207" cy="51207"/>
          </a:xfrm>
          <a:prstGeom prst="ellipse">
            <a:avLst/>
          </a:prstGeom>
          <a:solidFill>
            <a:srgbClr val="FFFFFF">
              <a:alpha val="35000"/>
            </a:srgbClr>
          </a:solidFill>
          <a:ln w="12700">
            <a:solidFill>
              <a:srgbClr val="FFFFFF"/>
            </a:solidFill>
            <a:prstDash val="solid"/>
          </a:ln>
        </p:spPr>
      </p:sp>
      <p:sp>
        <p:nvSpPr>
          <p:cNvPr id="22" name="Shape 18"/>
          <p:cNvSpPr/>
          <p:nvPr/>
        </p:nvSpPr>
        <p:spPr>
          <a:xfrm>
            <a:off x="268224" y="1036995"/>
            <a:ext cx="2816352" cy="1121664"/>
          </a:xfrm>
          <a:prstGeom prst="rect">
            <a:avLst/>
          </a:prstGeom>
          <a:solidFill>
            <a:srgbClr val="003893"/>
          </a:solidFill>
          <a:ln w="12700">
            <a:solidFill>
              <a:srgbClr val="FFFFFF"/>
            </a:solidFill>
            <a:prstDash val="solid"/>
          </a:ln>
          <a:effectLst>
            <a:outerShdw blurRad="76200" dist="25400" dir="8100000" algn="bl" rotWithShape="0">
              <a:srgbClr val="000000">
                <a:alpha val="10000"/>
              </a:srgbClr>
            </a:outerShdw>
          </a:effectLst>
        </p:spPr>
      </p:sp>
      <p:sp>
        <p:nvSpPr>
          <p:cNvPr id="23" name="Text 19"/>
          <p:cNvSpPr/>
          <p:nvPr/>
        </p:nvSpPr>
        <p:spPr>
          <a:xfrm>
            <a:off x="365760" y="1085763"/>
            <a:ext cx="2621280" cy="560832"/>
          </a:xfrm>
          <a:prstGeom prst="rect">
            <a:avLst/>
          </a:prstGeom>
          <a:noFill/>
          <a:ln/>
        </p:spPr>
        <p:txBody>
          <a:bodyPr wrap="square" lIns="0" tIns="0" rIns="0" bIns="0" rtlCol="0" anchor="ctr"/>
          <a:lstStyle/>
          <a:p>
            <a:pPr algn="ctr"/>
            <a:r>
              <a:rPr lang="en-US" sz="3200" b="1" dirty="0">
                <a:solidFill>
                  <a:srgbClr val="FFFFFF"/>
                </a:solidFill>
              </a:rPr>
              <a:t>0.8206</a:t>
            </a:r>
            <a:endParaRPr lang="en-US" sz="3200" dirty="0"/>
          </a:p>
        </p:txBody>
      </p:sp>
      <p:sp>
        <p:nvSpPr>
          <p:cNvPr id="24" name="Text 20"/>
          <p:cNvSpPr/>
          <p:nvPr/>
        </p:nvSpPr>
        <p:spPr>
          <a:xfrm>
            <a:off x="365760" y="1646595"/>
            <a:ext cx="2621280" cy="268224"/>
          </a:xfrm>
          <a:prstGeom prst="rect">
            <a:avLst/>
          </a:prstGeom>
          <a:noFill/>
          <a:ln/>
        </p:spPr>
        <p:txBody>
          <a:bodyPr wrap="square" lIns="0" tIns="0" rIns="0" bIns="0" rtlCol="0" anchor="t"/>
          <a:lstStyle/>
          <a:p>
            <a:pPr algn="ctr"/>
            <a:r>
              <a:rPr lang="en-US" sz="1133" dirty="0">
                <a:solidFill>
                  <a:srgbClr val="4FC3F7"/>
                </a:solidFill>
              </a:rPr>
              <a:t>Macro-F1  (+5 s)</a:t>
            </a:r>
            <a:endParaRPr lang="en-US" sz="1133" dirty="0"/>
          </a:p>
        </p:txBody>
      </p:sp>
      <p:sp>
        <p:nvSpPr>
          <p:cNvPr id="25" name="Text 21"/>
          <p:cNvSpPr/>
          <p:nvPr/>
        </p:nvSpPr>
        <p:spPr>
          <a:xfrm>
            <a:off x="365760" y="1890435"/>
            <a:ext cx="2621280" cy="219456"/>
          </a:xfrm>
          <a:prstGeom prst="rect">
            <a:avLst/>
          </a:prstGeom>
          <a:noFill/>
          <a:ln/>
        </p:spPr>
        <p:txBody>
          <a:bodyPr wrap="square" lIns="0" tIns="0" rIns="0" bIns="0" rtlCol="0" anchor="t"/>
          <a:lstStyle/>
          <a:p>
            <a:pPr algn="ctr"/>
            <a:r>
              <a:rPr lang="en-US" sz="1000" i="1" dirty="0">
                <a:solidFill>
                  <a:srgbClr val="B0C4D8"/>
                </a:solidFill>
              </a:rPr>
              <a:t>95% CI [0.798, 0.840]</a:t>
            </a:r>
            <a:endParaRPr lang="en-US" sz="1000" dirty="0"/>
          </a:p>
        </p:txBody>
      </p:sp>
      <p:sp>
        <p:nvSpPr>
          <p:cNvPr id="26" name="Shape 22"/>
          <p:cNvSpPr/>
          <p:nvPr/>
        </p:nvSpPr>
        <p:spPr>
          <a:xfrm>
            <a:off x="3182112" y="1036995"/>
            <a:ext cx="2816352" cy="1121664"/>
          </a:xfrm>
          <a:prstGeom prst="rect">
            <a:avLst/>
          </a:prstGeom>
          <a:solidFill>
            <a:srgbClr val="0E7490"/>
          </a:solidFill>
          <a:ln w="12700">
            <a:solidFill>
              <a:srgbClr val="FFFFFF"/>
            </a:solidFill>
            <a:prstDash val="solid"/>
          </a:ln>
          <a:effectLst>
            <a:outerShdw blurRad="76200" dist="25400" dir="8100000" algn="bl" rotWithShape="0">
              <a:srgbClr val="000000">
                <a:alpha val="10000"/>
              </a:srgbClr>
            </a:outerShdw>
          </a:effectLst>
        </p:spPr>
      </p:sp>
      <p:sp>
        <p:nvSpPr>
          <p:cNvPr id="27" name="Text 23"/>
          <p:cNvSpPr/>
          <p:nvPr/>
        </p:nvSpPr>
        <p:spPr>
          <a:xfrm>
            <a:off x="3279648" y="1085763"/>
            <a:ext cx="2621280" cy="560832"/>
          </a:xfrm>
          <a:prstGeom prst="rect">
            <a:avLst/>
          </a:prstGeom>
          <a:noFill/>
          <a:ln/>
        </p:spPr>
        <p:txBody>
          <a:bodyPr wrap="square" lIns="0" tIns="0" rIns="0" bIns="0" rtlCol="0" anchor="ctr"/>
          <a:lstStyle/>
          <a:p>
            <a:pPr algn="ctr"/>
            <a:r>
              <a:rPr lang="en-US" sz="3200" b="1" dirty="0">
                <a:solidFill>
                  <a:srgbClr val="FFFFFF"/>
                </a:solidFill>
              </a:rPr>
              <a:t>85%</a:t>
            </a:r>
            <a:endParaRPr lang="en-US" sz="3200" dirty="0"/>
          </a:p>
        </p:txBody>
      </p:sp>
      <p:sp>
        <p:nvSpPr>
          <p:cNvPr id="28" name="Text 24"/>
          <p:cNvSpPr/>
          <p:nvPr/>
        </p:nvSpPr>
        <p:spPr>
          <a:xfrm>
            <a:off x="3279648" y="1646595"/>
            <a:ext cx="2621280" cy="268224"/>
          </a:xfrm>
          <a:prstGeom prst="rect">
            <a:avLst/>
          </a:prstGeom>
          <a:noFill/>
          <a:ln/>
        </p:spPr>
        <p:txBody>
          <a:bodyPr wrap="square" lIns="0" tIns="0" rIns="0" bIns="0" rtlCol="0" anchor="t"/>
          <a:lstStyle/>
          <a:p>
            <a:pPr algn="ctr"/>
            <a:r>
              <a:rPr lang="en-US" sz="1133" dirty="0">
                <a:solidFill>
                  <a:srgbClr val="4FC3F7"/>
                </a:solidFill>
              </a:rPr>
              <a:t>DEGRADED Recall</a:t>
            </a:r>
            <a:endParaRPr lang="en-US" sz="1133" dirty="0"/>
          </a:p>
        </p:txBody>
      </p:sp>
      <p:sp>
        <p:nvSpPr>
          <p:cNvPr id="29" name="Text 25"/>
          <p:cNvSpPr/>
          <p:nvPr/>
        </p:nvSpPr>
        <p:spPr>
          <a:xfrm>
            <a:off x="3279648" y="1890435"/>
            <a:ext cx="2621280" cy="219456"/>
          </a:xfrm>
          <a:prstGeom prst="rect">
            <a:avLst/>
          </a:prstGeom>
          <a:noFill/>
          <a:ln/>
        </p:spPr>
        <p:txBody>
          <a:bodyPr wrap="square" lIns="0" tIns="0" rIns="0" bIns="0" rtlCol="0" anchor="t"/>
          <a:lstStyle/>
          <a:p>
            <a:pPr algn="ctr"/>
            <a:r>
              <a:rPr lang="en-US" sz="1000" i="1" dirty="0">
                <a:solidFill>
                  <a:srgbClr val="B0C4D8"/>
                </a:solidFill>
              </a:rPr>
              <a:t>safety-critical class</a:t>
            </a:r>
            <a:endParaRPr lang="en-US" sz="1000" dirty="0"/>
          </a:p>
        </p:txBody>
      </p:sp>
      <p:sp>
        <p:nvSpPr>
          <p:cNvPr id="30" name="Shape 26"/>
          <p:cNvSpPr/>
          <p:nvPr/>
        </p:nvSpPr>
        <p:spPr>
          <a:xfrm>
            <a:off x="6096000" y="1036995"/>
            <a:ext cx="2816352" cy="1121664"/>
          </a:xfrm>
          <a:prstGeom prst="rect">
            <a:avLst/>
          </a:prstGeom>
          <a:solidFill>
            <a:srgbClr val="0369A1"/>
          </a:solidFill>
          <a:ln w="12700">
            <a:solidFill>
              <a:srgbClr val="FFFFFF"/>
            </a:solidFill>
            <a:prstDash val="solid"/>
          </a:ln>
          <a:effectLst>
            <a:outerShdw blurRad="76200" dist="25400" dir="8100000" algn="bl" rotWithShape="0">
              <a:srgbClr val="000000">
                <a:alpha val="10000"/>
              </a:srgbClr>
            </a:outerShdw>
          </a:effectLst>
        </p:spPr>
      </p:sp>
      <p:sp>
        <p:nvSpPr>
          <p:cNvPr id="31" name="Text 27"/>
          <p:cNvSpPr/>
          <p:nvPr/>
        </p:nvSpPr>
        <p:spPr>
          <a:xfrm>
            <a:off x="6193536" y="1085763"/>
            <a:ext cx="2621280" cy="560832"/>
          </a:xfrm>
          <a:prstGeom prst="rect">
            <a:avLst/>
          </a:prstGeom>
          <a:noFill/>
          <a:ln/>
        </p:spPr>
        <p:txBody>
          <a:bodyPr wrap="square" lIns="0" tIns="0" rIns="0" bIns="0" rtlCol="0" anchor="ctr"/>
          <a:lstStyle/>
          <a:p>
            <a:pPr algn="ctr"/>
            <a:r>
              <a:rPr lang="en-US" sz="3200" b="1" dirty="0">
                <a:solidFill>
                  <a:srgbClr val="FFFFFF"/>
                </a:solidFill>
              </a:rPr>
              <a:t>0.75</a:t>
            </a:r>
            <a:endParaRPr lang="en-US" sz="3200" dirty="0"/>
          </a:p>
        </p:txBody>
      </p:sp>
      <p:sp>
        <p:nvSpPr>
          <p:cNvPr id="32" name="Text 28"/>
          <p:cNvSpPr/>
          <p:nvPr/>
        </p:nvSpPr>
        <p:spPr>
          <a:xfrm>
            <a:off x="6193536" y="1646595"/>
            <a:ext cx="2621280" cy="268224"/>
          </a:xfrm>
          <a:prstGeom prst="rect">
            <a:avLst/>
          </a:prstGeom>
          <a:noFill/>
          <a:ln/>
        </p:spPr>
        <p:txBody>
          <a:bodyPr wrap="square" lIns="0" tIns="0" rIns="0" bIns="0" rtlCol="0" anchor="t"/>
          <a:lstStyle/>
          <a:p>
            <a:pPr algn="ctr"/>
            <a:r>
              <a:rPr lang="en-US" sz="1133" dirty="0">
                <a:solidFill>
                  <a:srgbClr val="4FC3F7"/>
                </a:solidFill>
              </a:rPr>
              <a:t>DEGRADED F1 — Tokyo</a:t>
            </a:r>
            <a:endParaRPr lang="en-US" sz="1133" dirty="0"/>
          </a:p>
        </p:txBody>
      </p:sp>
      <p:sp>
        <p:nvSpPr>
          <p:cNvPr id="33" name="Text 29"/>
          <p:cNvSpPr/>
          <p:nvPr/>
        </p:nvSpPr>
        <p:spPr>
          <a:xfrm>
            <a:off x="6193536" y="1890435"/>
            <a:ext cx="2621280" cy="219456"/>
          </a:xfrm>
          <a:prstGeom prst="rect">
            <a:avLst/>
          </a:prstGeom>
          <a:noFill/>
          <a:ln/>
        </p:spPr>
        <p:txBody>
          <a:bodyPr wrap="square" lIns="0" tIns="0" rIns="0" bIns="0" rtlCol="0" anchor="t"/>
          <a:lstStyle/>
          <a:p>
            <a:pPr algn="ctr"/>
            <a:r>
              <a:rPr lang="en-US" sz="1000" i="1" dirty="0">
                <a:solidFill>
                  <a:srgbClr val="B0C4D8"/>
                </a:solidFill>
              </a:rPr>
              <a:t>vs. RF = 0.15 out-of-domain</a:t>
            </a:r>
            <a:endParaRPr lang="en-US" sz="1000" dirty="0"/>
          </a:p>
        </p:txBody>
      </p:sp>
      <p:sp>
        <p:nvSpPr>
          <p:cNvPr id="34" name="Shape 30"/>
          <p:cNvSpPr/>
          <p:nvPr/>
        </p:nvSpPr>
        <p:spPr>
          <a:xfrm>
            <a:off x="9009888" y="1036995"/>
            <a:ext cx="2816352" cy="1121664"/>
          </a:xfrm>
          <a:prstGeom prst="rect">
            <a:avLst/>
          </a:prstGeom>
          <a:solidFill>
            <a:srgbClr val="155E75"/>
          </a:solidFill>
          <a:ln w="12700">
            <a:solidFill>
              <a:srgbClr val="FFFFFF"/>
            </a:solidFill>
            <a:prstDash val="solid"/>
          </a:ln>
          <a:effectLst>
            <a:outerShdw blurRad="76200" dist="25400" dir="8100000" algn="bl" rotWithShape="0">
              <a:srgbClr val="000000">
                <a:alpha val="10000"/>
              </a:srgbClr>
            </a:outerShdw>
          </a:effectLst>
        </p:spPr>
      </p:sp>
      <p:sp>
        <p:nvSpPr>
          <p:cNvPr id="35" name="Text 31"/>
          <p:cNvSpPr/>
          <p:nvPr/>
        </p:nvSpPr>
        <p:spPr>
          <a:xfrm>
            <a:off x="9107424" y="1085763"/>
            <a:ext cx="2621280" cy="560832"/>
          </a:xfrm>
          <a:prstGeom prst="rect">
            <a:avLst/>
          </a:prstGeom>
          <a:noFill/>
          <a:ln/>
        </p:spPr>
        <p:txBody>
          <a:bodyPr wrap="square" lIns="0" tIns="0" rIns="0" bIns="0" rtlCol="0" anchor="ctr"/>
          <a:lstStyle/>
          <a:p>
            <a:pPr algn="ctr"/>
            <a:r>
              <a:rPr lang="en-US" sz="3200" b="1" dirty="0">
                <a:solidFill>
                  <a:srgbClr val="FFFFFF"/>
                </a:solidFill>
              </a:rPr>
              <a:t>±5 cm</a:t>
            </a:r>
            <a:endParaRPr lang="en-US" sz="3200" dirty="0"/>
          </a:p>
        </p:txBody>
      </p:sp>
      <p:sp>
        <p:nvSpPr>
          <p:cNvPr id="36" name="Text 32"/>
          <p:cNvSpPr/>
          <p:nvPr/>
        </p:nvSpPr>
        <p:spPr>
          <a:xfrm>
            <a:off x="9107424" y="1646595"/>
            <a:ext cx="2621280" cy="268224"/>
          </a:xfrm>
          <a:prstGeom prst="rect">
            <a:avLst/>
          </a:prstGeom>
          <a:noFill/>
          <a:ln/>
        </p:spPr>
        <p:txBody>
          <a:bodyPr wrap="square" lIns="0" tIns="0" rIns="0" bIns="0" rtlCol="0" anchor="t"/>
          <a:lstStyle/>
          <a:p>
            <a:pPr algn="ctr"/>
            <a:r>
              <a:rPr lang="en-US" sz="1133" dirty="0">
                <a:solidFill>
                  <a:srgbClr val="4FC3F7"/>
                </a:solidFill>
              </a:rPr>
              <a:t>Ground-truth accuracy</a:t>
            </a:r>
            <a:endParaRPr lang="en-US" sz="1133" dirty="0"/>
          </a:p>
        </p:txBody>
      </p:sp>
      <p:sp>
        <p:nvSpPr>
          <p:cNvPr id="37" name="Text 33"/>
          <p:cNvSpPr/>
          <p:nvPr/>
        </p:nvSpPr>
        <p:spPr>
          <a:xfrm>
            <a:off x="9107424" y="1890435"/>
            <a:ext cx="2621280" cy="219456"/>
          </a:xfrm>
          <a:prstGeom prst="rect">
            <a:avLst/>
          </a:prstGeom>
          <a:noFill/>
          <a:ln/>
        </p:spPr>
        <p:txBody>
          <a:bodyPr wrap="square" lIns="0" tIns="0" rIns="0" bIns="0" rtlCol="0" anchor="t"/>
          <a:lstStyle/>
          <a:p>
            <a:pPr algn="ctr"/>
            <a:r>
              <a:rPr lang="en-US" sz="1000" i="1" dirty="0">
                <a:solidFill>
                  <a:srgbClr val="B0C4D8"/>
                </a:solidFill>
              </a:rPr>
              <a:t>LiDAR SLAM · NCLT dataset</a:t>
            </a:r>
            <a:endParaRPr lang="en-US" sz="1000" dirty="0"/>
          </a:p>
        </p:txBody>
      </p:sp>
      <p:sp>
        <p:nvSpPr>
          <p:cNvPr id="38" name="Shape 34"/>
          <p:cNvSpPr/>
          <p:nvPr/>
        </p:nvSpPr>
        <p:spPr>
          <a:xfrm>
            <a:off x="268224" y="2450928"/>
            <a:ext cx="5693664" cy="1853184"/>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39" name="Shape 35"/>
          <p:cNvSpPr/>
          <p:nvPr/>
        </p:nvSpPr>
        <p:spPr>
          <a:xfrm>
            <a:off x="268224" y="2450928"/>
            <a:ext cx="85344" cy="1853184"/>
          </a:xfrm>
          <a:prstGeom prst="rect">
            <a:avLst/>
          </a:prstGeom>
          <a:solidFill>
            <a:srgbClr val="003893"/>
          </a:solidFill>
          <a:ln w="12700">
            <a:solidFill>
              <a:srgbClr val="003893"/>
            </a:solidFill>
            <a:prstDash val="solid"/>
          </a:ln>
        </p:spPr>
      </p:sp>
      <p:sp>
        <p:nvSpPr>
          <p:cNvPr id="40" name="Shape 36"/>
          <p:cNvSpPr/>
          <p:nvPr/>
        </p:nvSpPr>
        <p:spPr>
          <a:xfrm>
            <a:off x="353568" y="2450928"/>
            <a:ext cx="5608320" cy="365760"/>
          </a:xfrm>
          <a:prstGeom prst="rect">
            <a:avLst/>
          </a:prstGeom>
          <a:solidFill>
            <a:srgbClr val="003893"/>
          </a:solidFill>
          <a:ln w="12700">
            <a:solidFill>
              <a:srgbClr val="003893"/>
            </a:solidFill>
            <a:prstDash val="solid"/>
          </a:ln>
        </p:spPr>
      </p:sp>
      <p:sp>
        <p:nvSpPr>
          <p:cNvPr id="41" name="Text 37"/>
          <p:cNvSpPr/>
          <p:nvPr/>
        </p:nvSpPr>
        <p:spPr>
          <a:xfrm>
            <a:off x="487680" y="2463120"/>
            <a:ext cx="5376672" cy="341376"/>
          </a:xfrm>
          <a:prstGeom prst="rect">
            <a:avLst/>
          </a:prstGeom>
          <a:noFill/>
          <a:ln/>
        </p:spPr>
        <p:txBody>
          <a:bodyPr wrap="square" lIns="0" tIns="0" rIns="0" bIns="0" rtlCol="0" anchor="ctr"/>
          <a:lstStyle/>
          <a:p>
            <a:r>
              <a:rPr lang="en-US" sz="1333" b="1" dirty="0">
                <a:solidFill>
                  <a:srgbClr val="FFFFFF"/>
                </a:solidFill>
              </a:rPr>
              <a:t>Session-Based Split — No Data Leakage</a:t>
            </a:r>
            <a:endParaRPr lang="en-US" sz="1333" dirty="0"/>
          </a:p>
        </p:txBody>
      </p:sp>
      <p:sp>
        <p:nvSpPr>
          <p:cNvPr id="42" name="Text 38"/>
          <p:cNvSpPr/>
          <p:nvPr/>
        </p:nvSpPr>
        <p:spPr>
          <a:xfrm>
            <a:off x="487680" y="2865456"/>
            <a:ext cx="5352288" cy="1389888"/>
          </a:xfrm>
          <a:prstGeom prst="rect">
            <a:avLst/>
          </a:prstGeom>
          <a:noFill/>
          <a:ln/>
        </p:spPr>
        <p:txBody>
          <a:bodyPr wrap="square" lIns="0" tIns="0" rIns="0" bIns="0" rtlCol="0" anchor="t"/>
          <a:lstStyle/>
          <a:p>
            <a:pPr>
              <a:lnSpc>
                <a:spcPct val="128000"/>
              </a:lnSpc>
            </a:pPr>
            <a:r>
              <a:rPr lang="en-US" sz="1200" b="1" dirty="0">
                <a:solidFill>
                  <a:srgbClr val="003893"/>
                </a:solidFill>
              </a:rPr>
              <a:t>▸  </a:t>
            </a:r>
            <a:r>
              <a:rPr lang="en-US" sz="1200" dirty="0">
                <a:solidFill>
                  <a:srgbClr val="1E293B"/>
                </a:solidFill>
              </a:rPr>
              <a:t>Whole drives assigned to train / val / test — never individual seconds</a:t>
            </a:r>
            <a:endParaRPr lang="en-US" sz="1200" dirty="0"/>
          </a:p>
          <a:p>
            <a:pPr>
              <a:lnSpc>
                <a:spcPct val="128000"/>
              </a:lnSpc>
            </a:pPr>
            <a:endParaRPr lang="en-US" sz="1200" dirty="0"/>
          </a:p>
          <a:p>
            <a:pPr>
              <a:lnSpc>
                <a:spcPct val="128000"/>
              </a:lnSpc>
            </a:pPr>
            <a:r>
              <a:rPr lang="en-US" sz="1200" b="1" dirty="0">
                <a:solidFill>
                  <a:srgbClr val="003893"/>
                </a:solidFill>
              </a:rPr>
              <a:t>▸  </a:t>
            </a:r>
            <a:r>
              <a:rPr lang="en-US" sz="1200" dirty="0">
                <a:solidFill>
                  <a:srgbClr val="1E293B"/>
                </a:solidFill>
              </a:rPr>
              <a:t>Tokyo Shinjuku (31,236 windows) fully held out as cross-city test (E6)</a:t>
            </a:r>
            <a:endParaRPr lang="en-US" sz="1200" dirty="0"/>
          </a:p>
          <a:p>
            <a:pPr>
              <a:lnSpc>
                <a:spcPct val="128000"/>
              </a:lnSpc>
            </a:pPr>
            <a:endParaRPr lang="en-US" sz="1200" dirty="0"/>
          </a:p>
          <a:p>
            <a:pPr>
              <a:lnSpc>
                <a:spcPct val="128000"/>
              </a:lnSpc>
            </a:pPr>
            <a:r>
              <a:rPr lang="en-US" sz="1200" b="1" dirty="0">
                <a:solidFill>
                  <a:srgbClr val="003893"/>
                </a:solidFill>
              </a:rPr>
              <a:t>▸  </a:t>
            </a:r>
            <a:r>
              <a:rPr lang="en-US" sz="1200" dirty="0">
                <a:solidFill>
                  <a:srgbClr val="1E293B"/>
                </a:solidFill>
              </a:rPr>
              <a:t>StandardScaler + SMOTE fitted on training set only  ·  Seed = 42</a:t>
            </a:r>
            <a:endParaRPr lang="en-US" sz="1200" dirty="0"/>
          </a:p>
        </p:txBody>
      </p:sp>
      <p:sp>
        <p:nvSpPr>
          <p:cNvPr id="43" name="Shape 39"/>
          <p:cNvSpPr/>
          <p:nvPr/>
        </p:nvSpPr>
        <p:spPr>
          <a:xfrm>
            <a:off x="6230112" y="2450928"/>
            <a:ext cx="5693664" cy="1853184"/>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44" name="Shape 40"/>
          <p:cNvSpPr/>
          <p:nvPr/>
        </p:nvSpPr>
        <p:spPr>
          <a:xfrm>
            <a:off x="6230112" y="2450928"/>
            <a:ext cx="85344" cy="1853184"/>
          </a:xfrm>
          <a:prstGeom prst="rect">
            <a:avLst/>
          </a:prstGeom>
          <a:solidFill>
            <a:srgbClr val="0E7490"/>
          </a:solidFill>
          <a:ln w="12700">
            <a:solidFill>
              <a:srgbClr val="0E7490"/>
            </a:solidFill>
            <a:prstDash val="solid"/>
          </a:ln>
        </p:spPr>
      </p:sp>
      <p:sp>
        <p:nvSpPr>
          <p:cNvPr id="45" name="Shape 41"/>
          <p:cNvSpPr/>
          <p:nvPr/>
        </p:nvSpPr>
        <p:spPr>
          <a:xfrm>
            <a:off x="6315456" y="2450928"/>
            <a:ext cx="5608320" cy="365760"/>
          </a:xfrm>
          <a:prstGeom prst="rect">
            <a:avLst/>
          </a:prstGeom>
          <a:solidFill>
            <a:srgbClr val="0E7490"/>
          </a:solidFill>
          <a:ln w="12700">
            <a:solidFill>
              <a:srgbClr val="0E7490"/>
            </a:solidFill>
            <a:prstDash val="solid"/>
          </a:ln>
        </p:spPr>
      </p:sp>
      <p:sp>
        <p:nvSpPr>
          <p:cNvPr id="46" name="Text 42"/>
          <p:cNvSpPr/>
          <p:nvPr/>
        </p:nvSpPr>
        <p:spPr>
          <a:xfrm>
            <a:off x="6449568" y="2463120"/>
            <a:ext cx="5376672" cy="341376"/>
          </a:xfrm>
          <a:prstGeom prst="rect">
            <a:avLst/>
          </a:prstGeom>
          <a:noFill/>
          <a:ln/>
        </p:spPr>
        <p:txBody>
          <a:bodyPr wrap="square" lIns="0" tIns="0" rIns="0" bIns="0" rtlCol="0" anchor="ctr"/>
          <a:lstStyle/>
          <a:p>
            <a:r>
              <a:rPr lang="en-US" sz="1333" b="1" dirty="0">
                <a:solidFill>
                  <a:srgbClr val="FFFFFF"/>
                </a:solidFill>
              </a:rPr>
              <a:t>Physically Verified Labels</a:t>
            </a:r>
            <a:endParaRPr lang="en-US" sz="1333" dirty="0"/>
          </a:p>
        </p:txBody>
      </p:sp>
      <p:sp>
        <p:nvSpPr>
          <p:cNvPr id="47" name="Text 43"/>
          <p:cNvSpPr/>
          <p:nvPr/>
        </p:nvSpPr>
        <p:spPr>
          <a:xfrm>
            <a:off x="6449568" y="2865456"/>
            <a:ext cx="5352288" cy="1389888"/>
          </a:xfrm>
          <a:prstGeom prst="rect">
            <a:avLst/>
          </a:prstGeom>
          <a:noFill/>
          <a:ln/>
        </p:spPr>
        <p:txBody>
          <a:bodyPr wrap="square" lIns="0" tIns="0" rIns="0" bIns="0" rtlCol="0" anchor="t"/>
          <a:lstStyle/>
          <a:p>
            <a:pPr>
              <a:lnSpc>
                <a:spcPct val="128000"/>
              </a:lnSpc>
            </a:pPr>
            <a:r>
              <a:rPr lang="en-US" sz="1200" b="1" dirty="0">
                <a:solidFill>
                  <a:srgbClr val="0E7490"/>
                </a:solidFill>
              </a:rPr>
              <a:t>▸  </a:t>
            </a:r>
            <a:r>
              <a:rPr lang="en-US" sz="1200" dirty="0">
                <a:solidFill>
                  <a:srgbClr val="1E293B"/>
                </a:solidFill>
              </a:rPr>
              <a:t>NCLT: labels from |GPS − LiDAR SLAM| — actual positioning error, ±5 cm</a:t>
            </a:r>
            <a:endParaRPr lang="en-US" sz="1200" dirty="0"/>
          </a:p>
          <a:p>
            <a:pPr>
              <a:lnSpc>
                <a:spcPct val="128000"/>
              </a:lnSpc>
            </a:pPr>
            <a:endParaRPr lang="en-US" sz="1200" dirty="0"/>
          </a:p>
          <a:p>
            <a:pPr>
              <a:lnSpc>
                <a:spcPct val="128000"/>
              </a:lnSpc>
            </a:pPr>
            <a:r>
              <a:rPr lang="en-US" sz="1200" b="1" dirty="0">
                <a:solidFill>
                  <a:srgbClr val="0E7490"/>
                </a:solidFill>
              </a:rPr>
              <a:t>▸  </a:t>
            </a:r>
            <a:r>
              <a:rPr lang="en-US" sz="1200" dirty="0">
                <a:solidFill>
                  <a:srgbClr val="1E293B"/>
                </a:solidFill>
              </a:rPr>
              <a:t>Septentrio thresholds 35 / 25 dBHz confirmed by hardware signal charts</a:t>
            </a:r>
            <a:endParaRPr lang="en-US" sz="1200" dirty="0"/>
          </a:p>
          <a:p>
            <a:pPr>
              <a:lnSpc>
                <a:spcPct val="128000"/>
              </a:lnSpc>
            </a:pPr>
            <a:endParaRPr lang="en-US" sz="1200" dirty="0"/>
          </a:p>
          <a:p>
            <a:pPr>
              <a:lnSpc>
                <a:spcPct val="128000"/>
              </a:lnSpc>
            </a:pPr>
            <a:r>
              <a:rPr lang="en-US" sz="1200" b="1" dirty="0">
                <a:solidFill>
                  <a:srgbClr val="0E7490"/>
                </a:solidFill>
              </a:rPr>
              <a:t>▸  </a:t>
            </a:r>
            <a:r>
              <a:rPr lang="en-US" sz="1200" dirty="0">
                <a:solidFill>
                  <a:srgbClr val="1E293B"/>
                </a:solidFill>
              </a:rPr>
              <a:t>NMEA no-fix epochs (quality = 0) correctly captured as DEGRADED</a:t>
            </a:r>
            <a:endParaRPr lang="en-US" sz="1200" dirty="0"/>
          </a:p>
        </p:txBody>
      </p:sp>
      <p:sp>
        <p:nvSpPr>
          <p:cNvPr id="48" name="Shape 44"/>
          <p:cNvSpPr/>
          <p:nvPr/>
        </p:nvSpPr>
        <p:spPr>
          <a:xfrm>
            <a:off x="268224" y="4645152"/>
            <a:ext cx="5693664" cy="1853184"/>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49" name="Shape 45"/>
          <p:cNvSpPr/>
          <p:nvPr/>
        </p:nvSpPr>
        <p:spPr>
          <a:xfrm>
            <a:off x="268224" y="4645152"/>
            <a:ext cx="85344" cy="1853184"/>
          </a:xfrm>
          <a:prstGeom prst="rect">
            <a:avLst/>
          </a:prstGeom>
          <a:solidFill>
            <a:srgbClr val="0369A1"/>
          </a:solidFill>
          <a:ln w="12700">
            <a:solidFill>
              <a:srgbClr val="0369A1"/>
            </a:solidFill>
            <a:prstDash val="solid"/>
          </a:ln>
        </p:spPr>
      </p:sp>
      <p:sp>
        <p:nvSpPr>
          <p:cNvPr id="50" name="Shape 46"/>
          <p:cNvSpPr/>
          <p:nvPr/>
        </p:nvSpPr>
        <p:spPr>
          <a:xfrm>
            <a:off x="353568" y="4645152"/>
            <a:ext cx="5608320" cy="365760"/>
          </a:xfrm>
          <a:prstGeom prst="rect">
            <a:avLst/>
          </a:prstGeom>
          <a:solidFill>
            <a:srgbClr val="0369A1"/>
          </a:solidFill>
          <a:ln w="12700">
            <a:solidFill>
              <a:srgbClr val="0369A1"/>
            </a:solidFill>
            <a:prstDash val="solid"/>
          </a:ln>
        </p:spPr>
      </p:sp>
      <p:sp>
        <p:nvSpPr>
          <p:cNvPr id="51" name="Text 47"/>
          <p:cNvSpPr/>
          <p:nvPr/>
        </p:nvSpPr>
        <p:spPr>
          <a:xfrm>
            <a:off x="487680" y="4657344"/>
            <a:ext cx="5376672" cy="341376"/>
          </a:xfrm>
          <a:prstGeom prst="rect">
            <a:avLst/>
          </a:prstGeom>
          <a:noFill/>
          <a:ln/>
        </p:spPr>
        <p:txBody>
          <a:bodyPr wrap="square" lIns="0" tIns="0" rIns="0" bIns="0" rtlCol="0" anchor="ctr"/>
          <a:lstStyle/>
          <a:p>
            <a:r>
              <a:rPr lang="en-US" sz="1333" b="1" dirty="0">
                <a:solidFill>
                  <a:srgbClr val="FFFFFF"/>
                </a:solidFill>
              </a:rPr>
              <a:t>Honest Comparison with Classical Baselines</a:t>
            </a:r>
            <a:endParaRPr lang="en-US" sz="1333" dirty="0"/>
          </a:p>
        </p:txBody>
      </p:sp>
      <p:sp>
        <p:nvSpPr>
          <p:cNvPr id="52" name="Text 48"/>
          <p:cNvSpPr/>
          <p:nvPr/>
        </p:nvSpPr>
        <p:spPr>
          <a:xfrm>
            <a:off x="487680" y="5059680"/>
            <a:ext cx="5352288" cy="1389888"/>
          </a:xfrm>
          <a:prstGeom prst="rect">
            <a:avLst/>
          </a:prstGeom>
          <a:noFill/>
          <a:ln/>
        </p:spPr>
        <p:txBody>
          <a:bodyPr wrap="square" lIns="0" tIns="0" rIns="0" bIns="0" rtlCol="0" anchor="t"/>
          <a:lstStyle/>
          <a:p>
            <a:pPr>
              <a:lnSpc>
                <a:spcPct val="128000"/>
              </a:lnSpc>
            </a:pPr>
            <a:r>
              <a:rPr lang="en-US" sz="1200" b="1" dirty="0">
                <a:solidFill>
                  <a:srgbClr val="0369A1"/>
                </a:solidFill>
              </a:rPr>
              <a:t>▸  </a:t>
            </a:r>
            <a:r>
              <a:rPr lang="en-US" sz="1200" dirty="0">
                <a:solidFill>
                  <a:srgbClr val="1E293B"/>
                </a:solidFill>
              </a:rPr>
              <a:t>XGBoost Macro-F1 = 0.919 vs. ours 0.821 in-domain — disclosed openly</a:t>
            </a:r>
            <a:endParaRPr lang="en-US" sz="1200" dirty="0"/>
          </a:p>
          <a:p>
            <a:pPr>
              <a:lnSpc>
                <a:spcPct val="128000"/>
              </a:lnSpc>
            </a:pPr>
            <a:endParaRPr lang="en-US" sz="1200" dirty="0"/>
          </a:p>
          <a:p>
            <a:pPr>
              <a:lnSpc>
                <a:spcPct val="128000"/>
              </a:lnSpc>
            </a:pPr>
            <a:r>
              <a:rPr lang="en-US" sz="1200" b="1" dirty="0">
                <a:solidFill>
                  <a:srgbClr val="0369A1"/>
                </a:solidFill>
              </a:rPr>
              <a:t>▸  </a:t>
            </a:r>
            <a:r>
              <a:rPr lang="en-US" sz="1200" dirty="0">
                <a:solidFill>
                  <a:srgbClr val="1E293B"/>
                </a:solidFill>
              </a:rPr>
              <a:t>Cross-city: RF DEGRADED F1 collapses to 0.15 · ours holds at 0.75</a:t>
            </a:r>
            <a:endParaRPr lang="en-US" sz="1200" dirty="0"/>
          </a:p>
          <a:p>
            <a:pPr>
              <a:lnSpc>
                <a:spcPct val="128000"/>
              </a:lnSpc>
            </a:pPr>
            <a:endParaRPr lang="en-US" sz="1200" dirty="0"/>
          </a:p>
          <a:p>
            <a:pPr>
              <a:lnSpc>
                <a:spcPct val="128000"/>
              </a:lnSpc>
            </a:pPr>
            <a:r>
              <a:rPr lang="en-US" sz="1200" b="1" dirty="0">
                <a:solidFill>
                  <a:srgbClr val="0369A1"/>
                </a:solidFill>
              </a:rPr>
              <a:t>▸  </a:t>
            </a:r>
            <a:r>
              <a:rPr lang="en-US" sz="1200" dirty="0">
                <a:solidFill>
                  <a:srgbClr val="1E293B"/>
                </a:solidFill>
              </a:rPr>
              <a:t>One model, 10.5× faster, calibrated probabilities (ECE &lt; 0.05)</a:t>
            </a:r>
            <a:endParaRPr lang="en-US" sz="1200" dirty="0"/>
          </a:p>
        </p:txBody>
      </p:sp>
      <p:sp>
        <p:nvSpPr>
          <p:cNvPr id="53" name="Shape 49"/>
          <p:cNvSpPr/>
          <p:nvPr/>
        </p:nvSpPr>
        <p:spPr>
          <a:xfrm>
            <a:off x="6230112" y="4645152"/>
            <a:ext cx="5693664" cy="1853184"/>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54" name="Shape 50"/>
          <p:cNvSpPr/>
          <p:nvPr/>
        </p:nvSpPr>
        <p:spPr>
          <a:xfrm>
            <a:off x="6230112" y="4645152"/>
            <a:ext cx="85344" cy="1853184"/>
          </a:xfrm>
          <a:prstGeom prst="rect">
            <a:avLst/>
          </a:prstGeom>
          <a:solidFill>
            <a:srgbClr val="155E75"/>
          </a:solidFill>
          <a:ln w="12700">
            <a:solidFill>
              <a:srgbClr val="155E75"/>
            </a:solidFill>
            <a:prstDash val="solid"/>
          </a:ln>
        </p:spPr>
      </p:sp>
      <p:sp>
        <p:nvSpPr>
          <p:cNvPr id="55" name="Shape 51"/>
          <p:cNvSpPr/>
          <p:nvPr/>
        </p:nvSpPr>
        <p:spPr>
          <a:xfrm>
            <a:off x="6315456" y="4645152"/>
            <a:ext cx="5608320" cy="365760"/>
          </a:xfrm>
          <a:prstGeom prst="rect">
            <a:avLst/>
          </a:prstGeom>
          <a:solidFill>
            <a:srgbClr val="155E75"/>
          </a:solidFill>
          <a:ln w="12700">
            <a:solidFill>
              <a:srgbClr val="155E75"/>
            </a:solidFill>
            <a:prstDash val="solid"/>
          </a:ln>
        </p:spPr>
      </p:sp>
      <p:sp>
        <p:nvSpPr>
          <p:cNvPr id="56" name="Text 52"/>
          <p:cNvSpPr/>
          <p:nvPr/>
        </p:nvSpPr>
        <p:spPr>
          <a:xfrm>
            <a:off x="6449568" y="4657344"/>
            <a:ext cx="5376672" cy="341376"/>
          </a:xfrm>
          <a:prstGeom prst="rect">
            <a:avLst/>
          </a:prstGeom>
          <a:noFill/>
          <a:ln/>
        </p:spPr>
        <p:txBody>
          <a:bodyPr wrap="square" lIns="0" tIns="0" rIns="0" bIns="0" rtlCol="0" anchor="ctr"/>
          <a:lstStyle/>
          <a:p>
            <a:r>
              <a:rPr lang="en-US" sz="1333" b="1" dirty="0">
                <a:solidFill>
                  <a:srgbClr val="FFFFFF"/>
                </a:solidFill>
              </a:rPr>
              <a:t>Uncertainty &amp; Ablation Evidence</a:t>
            </a:r>
            <a:endParaRPr lang="en-US" sz="1333" dirty="0"/>
          </a:p>
        </p:txBody>
      </p:sp>
      <p:sp>
        <p:nvSpPr>
          <p:cNvPr id="57" name="Text 53"/>
          <p:cNvSpPr/>
          <p:nvPr/>
        </p:nvSpPr>
        <p:spPr>
          <a:xfrm>
            <a:off x="6449568" y="5059680"/>
            <a:ext cx="5352288" cy="1389888"/>
          </a:xfrm>
          <a:prstGeom prst="rect">
            <a:avLst/>
          </a:prstGeom>
          <a:noFill/>
          <a:ln/>
        </p:spPr>
        <p:txBody>
          <a:bodyPr wrap="square" lIns="0" tIns="0" rIns="0" bIns="0" rtlCol="0" anchor="t"/>
          <a:lstStyle/>
          <a:p>
            <a:pPr>
              <a:lnSpc>
                <a:spcPct val="128000"/>
              </a:lnSpc>
            </a:pPr>
            <a:r>
              <a:rPr lang="en-US" sz="1200" b="1" dirty="0">
                <a:solidFill>
                  <a:srgbClr val="155E75"/>
                </a:solidFill>
              </a:rPr>
              <a:t>▸  </a:t>
            </a:r>
            <a:r>
              <a:rPr lang="en-US" sz="1200" dirty="0">
                <a:solidFill>
                  <a:srgbClr val="1E293B"/>
                </a:solidFill>
              </a:rPr>
              <a:t>Bootstrap 95% CIs on all metrics: DEGRADED F1 [0.647, 0.789]</a:t>
            </a:r>
            <a:endParaRPr lang="en-US" sz="1200" dirty="0"/>
          </a:p>
          <a:p>
            <a:pPr>
              <a:lnSpc>
                <a:spcPct val="128000"/>
              </a:lnSpc>
            </a:pPr>
            <a:endParaRPr lang="en-US" sz="1200" dirty="0"/>
          </a:p>
          <a:p>
            <a:pPr>
              <a:lnSpc>
                <a:spcPct val="128000"/>
              </a:lnSpc>
            </a:pPr>
            <a:r>
              <a:rPr lang="en-US" sz="1200" b="1" dirty="0">
                <a:solidFill>
                  <a:srgbClr val="155E75"/>
                </a:solidFill>
              </a:rPr>
              <a:t>▸  </a:t>
            </a:r>
            <a:r>
              <a:rPr lang="en-US" sz="1200" dirty="0">
                <a:solidFill>
                  <a:srgbClr val="1E293B"/>
                </a:solidFill>
              </a:rPr>
              <a:t>Permutation test (E5): temporal order adds ~3 pp — gain is representation transfer</a:t>
            </a:r>
            <a:endParaRPr lang="en-US" sz="1200" dirty="0"/>
          </a:p>
          <a:p>
            <a:pPr>
              <a:lnSpc>
                <a:spcPct val="128000"/>
              </a:lnSpc>
            </a:pPr>
            <a:endParaRPr lang="en-US" sz="1200" dirty="0"/>
          </a:p>
          <a:p>
            <a:pPr>
              <a:lnSpc>
                <a:spcPct val="128000"/>
              </a:lnSpc>
            </a:pPr>
            <a:r>
              <a:rPr lang="en-US" sz="1200" b="1" dirty="0">
                <a:solidFill>
                  <a:srgbClr val="155E75"/>
                </a:solidFill>
              </a:rPr>
              <a:t>▸  </a:t>
            </a:r>
            <a:r>
              <a:rPr lang="en-US" sz="1200" dirty="0">
                <a:solidFill>
                  <a:srgbClr val="1E293B"/>
                </a:solidFill>
              </a:rPr>
              <a:t>Ablation: full model &gt; Transformer-only &gt; LSTM-only on DEGRADED F1</a:t>
            </a:r>
            <a:endParaRPr lang="en-US" sz="1200" dirty="0"/>
          </a:p>
        </p:txBody>
      </p:sp>
      <p:sp>
        <p:nvSpPr>
          <p:cNvPr id="59" name="Shape 0"/>
          <p:cNvSpPr/>
          <p:nvPr/>
        </p:nvSpPr>
        <p:spPr>
          <a:xfrm>
            <a:off x="0" y="-19773"/>
            <a:ext cx="12192000" cy="740408"/>
          </a:xfrm>
          <a:prstGeom prst="rect">
            <a:avLst/>
          </a:prstGeom>
          <a:solidFill>
            <a:srgbClr val="003893"/>
          </a:solidFill>
          <a:ln w="12700">
            <a:solidFill>
              <a:srgbClr val="003893"/>
            </a:solidFill>
            <a:prstDash val="solid"/>
          </a:ln>
        </p:spPr>
      </p:sp>
      <p:sp>
        <p:nvSpPr>
          <p:cNvPr id="60" name="Shape 4"/>
          <p:cNvSpPr/>
          <p:nvPr/>
        </p:nvSpPr>
        <p:spPr>
          <a:xfrm>
            <a:off x="0" y="-23991"/>
            <a:ext cx="1128763" cy="767311"/>
          </a:xfrm>
          <a:prstGeom prst="homePlate">
            <a:avLst/>
          </a:prstGeom>
          <a:solidFill>
            <a:srgbClr val="FFFFFF"/>
          </a:solidFill>
          <a:ln w="6350">
            <a:solidFill>
              <a:srgbClr val="CCCCCC"/>
            </a:solidFill>
            <a:prstDash val="solid"/>
          </a:ln>
        </p:spPr>
      </p:sp>
      <p:pic>
        <p:nvPicPr>
          <p:cNvPr id="61" name="Picture 60">
            <a:extLst>
              <a:ext uri="{FF2B5EF4-FFF2-40B4-BE49-F238E27FC236}">
                <a16:creationId xmlns:a16="http://schemas.microsoft.com/office/drawing/2014/main" xmlns="" id="{6BF679AE-4199-10E8-76D5-569080AF8895}"/>
              </a:ext>
            </a:extLst>
          </p:cNvPr>
          <p:cNvPicPr>
            <a:picLocks noChangeAspect="1"/>
          </p:cNvPicPr>
          <p:nvPr/>
        </p:nvPicPr>
        <p:blipFill>
          <a:blip r:embed="rId4"/>
          <a:stretch>
            <a:fillRect/>
          </a:stretch>
        </p:blipFill>
        <p:spPr>
          <a:xfrm>
            <a:off x="-449459" y="-263328"/>
            <a:ext cx="1776568" cy="1245981"/>
          </a:xfrm>
          <a:prstGeom prst="rect">
            <a:avLst/>
          </a:prstGeom>
        </p:spPr>
      </p:pic>
      <p:sp>
        <p:nvSpPr>
          <p:cNvPr id="3" name="Text 1">
            <a:extLst>
              <a:ext uri="{FF2B5EF4-FFF2-40B4-BE49-F238E27FC236}">
                <a16:creationId xmlns:a16="http://schemas.microsoft.com/office/drawing/2014/main" xmlns="" id="{19B4DF7B-F2C0-5819-3D1B-82B7FE2383BC}"/>
              </a:ext>
            </a:extLst>
          </p:cNvPr>
          <p:cNvSpPr/>
          <p:nvPr/>
        </p:nvSpPr>
        <p:spPr>
          <a:xfrm>
            <a:off x="1273155" y="40844"/>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VALIDATION</a:t>
            </a:r>
            <a:endParaRPr lang="en-US" sz="3200" dirty="0">
              <a:solidFill>
                <a:schemeClr val="bg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3716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6 · Roadmap &amp; Deliverables</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Image 0" descr="preencoded.png">
            <a:extLst>
              <a:ext uri="{FF2B5EF4-FFF2-40B4-BE49-F238E27FC236}">
                <a16:creationId xmlns:a16="http://schemas.microsoft.com/office/drawing/2014/main" xmlns="" id="{C56D4B79-7EED-2C38-2117-7F7B4C6D94C9}"/>
              </a:ext>
            </a:extLst>
          </p:cNvPr>
          <p:cNvPicPr>
            <a:picLocks noChangeAspect="1"/>
          </p:cNvPicPr>
          <p:nvPr/>
        </p:nvPicPr>
        <p:blipFill>
          <a:blip r:embed="rId3"/>
          <a:stretch>
            <a:fillRect/>
          </a:stretch>
        </p:blipFill>
        <p:spPr>
          <a:xfrm>
            <a:off x="0" y="0"/>
            <a:ext cx="12192000" cy="6858000"/>
          </a:xfrm>
          <a:prstGeom prst="rect">
            <a:avLst/>
          </a:prstGeom>
        </p:spPr>
      </p:pic>
      <p:sp>
        <p:nvSpPr>
          <p:cNvPr id="4" name="Shape 2"/>
          <p:cNvSpPr/>
          <p:nvPr/>
        </p:nvSpPr>
        <p:spPr>
          <a:xfrm>
            <a:off x="548640" y="889635"/>
            <a:ext cx="11277600" cy="1231392"/>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 name="Shape 3"/>
          <p:cNvSpPr/>
          <p:nvPr/>
        </p:nvSpPr>
        <p:spPr>
          <a:xfrm>
            <a:off x="548640" y="889635"/>
            <a:ext cx="1219200" cy="1225963"/>
          </a:xfrm>
          <a:prstGeom prst="rect">
            <a:avLst/>
          </a:prstGeom>
          <a:solidFill>
            <a:srgbClr val="C8102E"/>
          </a:solidFill>
          <a:ln w="12700">
            <a:solidFill>
              <a:srgbClr val="C8102E"/>
            </a:solidFill>
            <a:prstDash val="solid"/>
          </a:ln>
        </p:spPr>
      </p:sp>
      <p:sp>
        <p:nvSpPr>
          <p:cNvPr id="6" name="Text 4"/>
          <p:cNvSpPr/>
          <p:nvPr/>
        </p:nvSpPr>
        <p:spPr>
          <a:xfrm>
            <a:off x="548640" y="1316355"/>
            <a:ext cx="1219200" cy="487680"/>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Paper A</a:t>
            </a:r>
            <a:endParaRPr lang="en-US" sz="1867" dirty="0"/>
          </a:p>
        </p:txBody>
      </p:sp>
      <p:sp>
        <p:nvSpPr>
          <p:cNvPr id="7" name="Text 5"/>
          <p:cNvSpPr/>
          <p:nvPr/>
        </p:nvSpPr>
        <p:spPr>
          <a:xfrm>
            <a:off x="1950720" y="950595"/>
            <a:ext cx="6461760" cy="426720"/>
          </a:xfrm>
          <a:prstGeom prst="rect">
            <a:avLst/>
          </a:prstGeom>
          <a:noFill/>
          <a:ln/>
        </p:spPr>
        <p:txBody>
          <a:bodyPr wrap="square" lIns="0" tIns="0" rIns="0" bIns="0" rtlCol="0" anchor="ctr"/>
          <a:lstStyle/>
          <a:p>
            <a:r>
              <a:rPr lang="en-US" sz="1733" b="1" dirty="0">
                <a:solidFill>
                  <a:srgbClr val="0A1F44"/>
                </a:solidFill>
                <a:latin typeface="Calibri" pitchFamily="34" charset="0"/>
                <a:ea typeface="Calibri" pitchFamily="34" charset="-122"/>
                <a:cs typeface="Calibri" pitchFamily="34" charset="-120"/>
              </a:rPr>
              <a:t>Proactive Multi-Horizon GNSS Degradation Prediction</a:t>
            </a:r>
            <a:endParaRPr lang="en-US" sz="1733" dirty="0"/>
          </a:p>
        </p:txBody>
      </p:sp>
      <p:sp>
        <p:nvSpPr>
          <p:cNvPr id="8" name="Text 6"/>
          <p:cNvSpPr/>
          <p:nvPr/>
        </p:nvSpPr>
        <p:spPr>
          <a:xfrm>
            <a:off x="1950720" y="1401699"/>
            <a:ext cx="6461760" cy="341376"/>
          </a:xfrm>
          <a:prstGeom prst="rect">
            <a:avLst/>
          </a:prstGeom>
          <a:noFill/>
          <a:ln/>
        </p:spPr>
        <p:txBody>
          <a:bodyPr wrap="square" lIns="0" tIns="0" rIns="0" bIns="0" rtlCol="0" anchor="ctr"/>
          <a:lstStyle/>
          <a:p>
            <a:r>
              <a:rPr lang="en-US" sz="1467" dirty="0">
                <a:solidFill>
                  <a:srgbClr val="8493A8"/>
                </a:solidFill>
                <a:latin typeface="Calibri" pitchFamily="34" charset="0"/>
                <a:ea typeface="Calibri" pitchFamily="34" charset="-122"/>
                <a:cs typeface="Calibri" pitchFamily="34" charset="-120"/>
              </a:rPr>
              <a:t>GPS Solutions (Springer, Q1)  ·  Target: Post-ION GNSS+ 2026</a:t>
            </a:r>
            <a:endParaRPr lang="en-US" sz="1467" dirty="0"/>
          </a:p>
        </p:txBody>
      </p:sp>
      <p:sp>
        <p:nvSpPr>
          <p:cNvPr id="10" name="Shape 8"/>
          <p:cNvSpPr/>
          <p:nvPr/>
        </p:nvSpPr>
        <p:spPr>
          <a:xfrm>
            <a:off x="8656320" y="1340739"/>
            <a:ext cx="2926080" cy="487680"/>
          </a:xfrm>
          <a:prstGeom prst="rect">
            <a:avLst/>
          </a:prstGeom>
          <a:solidFill>
            <a:srgbClr val="D97706"/>
          </a:solidFill>
          <a:ln w="12700">
            <a:solidFill>
              <a:srgbClr val="D97706"/>
            </a:solidFill>
            <a:prstDash val="solid"/>
          </a:ln>
        </p:spPr>
      </p:sp>
      <p:sp>
        <p:nvSpPr>
          <p:cNvPr id="11" name="Text 9"/>
          <p:cNvSpPr/>
          <p:nvPr/>
        </p:nvSpPr>
        <p:spPr>
          <a:xfrm>
            <a:off x="8656320" y="1352931"/>
            <a:ext cx="292608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 Drafting</a:t>
            </a:r>
            <a:endParaRPr lang="en-US" sz="1467" dirty="0"/>
          </a:p>
        </p:txBody>
      </p:sp>
      <p:sp>
        <p:nvSpPr>
          <p:cNvPr id="12" name="Shape 10"/>
          <p:cNvSpPr/>
          <p:nvPr/>
        </p:nvSpPr>
        <p:spPr>
          <a:xfrm>
            <a:off x="548640" y="2286000"/>
            <a:ext cx="11277600" cy="1157859"/>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3" name="Shape 11"/>
          <p:cNvSpPr/>
          <p:nvPr/>
        </p:nvSpPr>
        <p:spPr>
          <a:xfrm>
            <a:off x="548640" y="2286000"/>
            <a:ext cx="1219200" cy="1143000"/>
          </a:xfrm>
          <a:prstGeom prst="rect">
            <a:avLst/>
          </a:prstGeom>
          <a:solidFill>
            <a:srgbClr val="0A1F44"/>
          </a:solidFill>
          <a:ln w="12700">
            <a:solidFill>
              <a:srgbClr val="0A1F44"/>
            </a:solidFill>
            <a:prstDash val="solid"/>
          </a:ln>
        </p:spPr>
      </p:sp>
      <p:sp>
        <p:nvSpPr>
          <p:cNvPr id="14" name="Text 12"/>
          <p:cNvSpPr/>
          <p:nvPr/>
        </p:nvSpPr>
        <p:spPr>
          <a:xfrm>
            <a:off x="548640" y="2712720"/>
            <a:ext cx="1219200" cy="487680"/>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Paper B</a:t>
            </a:r>
            <a:endParaRPr lang="en-US" sz="1867" dirty="0"/>
          </a:p>
        </p:txBody>
      </p:sp>
      <p:sp>
        <p:nvSpPr>
          <p:cNvPr id="15" name="Text 13"/>
          <p:cNvSpPr/>
          <p:nvPr/>
        </p:nvSpPr>
        <p:spPr>
          <a:xfrm>
            <a:off x="1950720" y="2346960"/>
            <a:ext cx="6461760" cy="426720"/>
          </a:xfrm>
          <a:prstGeom prst="rect">
            <a:avLst/>
          </a:prstGeom>
          <a:noFill/>
          <a:ln/>
        </p:spPr>
        <p:txBody>
          <a:bodyPr wrap="square" lIns="0" tIns="0" rIns="0" bIns="0" rtlCol="0" anchor="ctr"/>
          <a:lstStyle/>
          <a:p>
            <a:r>
              <a:rPr lang="en-US" sz="1733" b="1" dirty="0">
                <a:solidFill>
                  <a:srgbClr val="0A1F44"/>
                </a:solidFill>
                <a:latin typeface="Calibri" pitchFamily="34" charset="0"/>
                <a:ea typeface="Calibri" pitchFamily="34" charset="-122"/>
                <a:cs typeface="Calibri" pitchFamily="34" charset="-120"/>
              </a:rPr>
              <a:t>From Prediction to Position: Adaptive EKF</a:t>
            </a:r>
            <a:endParaRPr lang="en-US" sz="1733" dirty="0"/>
          </a:p>
        </p:txBody>
      </p:sp>
      <p:sp>
        <p:nvSpPr>
          <p:cNvPr id="16" name="Text 14"/>
          <p:cNvSpPr/>
          <p:nvPr/>
        </p:nvSpPr>
        <p:spPr>
          <a:xfrm>
            <a:off x="1950720" y="2798064"/>
            <a:ext cx="6461760" cy="341376"/>
          </a:xfrm>
          <a:prstGeom prst="rect">
            <a:avLst/>
          </a:prstGeom>
          <a:noFill/>
          <a:ln/>
        </p:spPr>
        <p:txBody>
          <a:bodyPr wrap="square" lIns="0" tIns="0" rIns="0" bIns="0" rtlCol="0" anchor="ctr"/>
          <a:lstStyle/>
          <a:p>
            <a:r>
              <a:rPr lang="en-US" sz="1467" dirty="0">
                <a:solidFill>
                  <a:srgbClr val="8493A8"/>
                </a:solidFill>
                <a:latin typeface="Calibri" pitchFamily="34" charset="0"/>
                <a:ea typeface="Calibri" pitchFamily="34" charset="-122"/>
                <a:cs typeface="Calibri" pitchFamily="34" charset="-120"/>
              </a:rPr>
              <a:t>IEEE T-ITS / Journal of Navigation (Q1)  ·  Target: After Paper A submission</a:t>
            </a:r>
            <a:endParaRPr lang="en-US" sz="1467" dirty="0"/>
          </a:p>
        </p:txBody>
      </p:sp>
      <p:sp>
        <p:nvSpPr>
          <p:cNvPr id="18" name="Shape 16"/>
          <p:cNvSpPr/>
          <p:nvPr/>
        </p:nvSpPr>
        <p:spPr>
          <a:xfrm>
            <a:off x="8656320" y="2737104"/>
            <a:ext cx="2926080" cy="487680"/>
          </a:xfrm>
          <a:prstGeom prst="rect">
            <a:avLst/>
          </a:prstGeom>
          <a:solidFill>
            <a:srgbClr val="8493A8"/>
          </a:solidFill>
          <a:ln w="12700">
            <a:solidFill>
              <a:srgbClr val="8493A8"/>
            </a:solidFill>
            <a:prstDash val="solid"/>
          </a:ln>
        </p:spPr>
      </p:sp>
      <p:sp>
        <p:nvSpPr>
          <p:cNvPr id="19" name="Text 17"/>
          <p:cNvSpPr/>
          <p:nvPr/>
        </p:nvSpPr>
        <p:spPr>
          <a:xfrm>
            <a:off x="8656320" y="2749296"/>
            <a:ext cx="292608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 Outlined</a:t>
            </a:r>
            <a:endParaRPr lang="en-US" sz="1467" dirty="0"/>
          </a:p>
        </p:txBody>
      </p:sp>
      <p:sp>
        <p:nvSpPr>
          <p:cNvPr id="20" name="Shape 18"/>
          <p:cNvSpPr/>
          <p:nvPr/>
        </p:nvSpPr>
        <p:spPr>
          <a:xfrm>
            <a:off x="548640" y="4968240"/>
            <a:ext cx="11277600" cy="1245824"/>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21" name="Shape 19"/>
          <p:cNvSpPr/>
          <p:nvPr/>
        </p:nvSpPr>
        <p:spPr>
          <a:xfrm>
            <a:off x="548640" y="4968240"/>
            <a:ext cx="1219200" cy="1231392"/>
          </a:xfrm>
          <a:prstGeom prst="rect">
            <a:avLst/>
          </a:prstGeom>
          <a:solidFill>
            <a:srgbClr val="D97706"/>
          </a:solidFill>
          <a:ln w="12700">
            <a:solidFill>
              <a:srgbClr val="D97706"/>
            </a:solidFill>
            <a:prstDash val="solid"/>
          </a:ln>
        </p:spPr>
      </p:sp>
      <p:sp>
        <p:nvSpPr>
          <p:cNvPr id="22" name="Text 20"/>
          <p:cNvSpPr/>
          <p:nvPr/>
        </p:nvSpPr>
        <p:spPr>
          <a:xfrm>
            <a:off x="548640" y="5394960"/>
            <a:ext cx="1219200" cy="487680"/>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Conference</a:t>
            </a:r>
            <a:endParaRPr lang="en-US" sz="1867" dirty="0"/>
          </a:p>
        </p:txBody>
      </p:sp>
      <p:sp>
        <p:nvSpPr>
          <p:cNvPr id="23" name="Text 21"/>
          <p:cNvSpPr/>
          <p:nvPr/>
        </p:nvSpPr>
        <p:spPr>
          <a:xfrm>
            <a:off x="1950720" y="5029200"/>
            <a:ext cx="6461760" cy="426720"/>
          </a:xfrm>
          <a:prstGeom prst="rect">
            <a:avLst/>
          </a:prstGeom>
          <a:noFill/>
          <a:ln/>
        </p:spPr>
        <p:txBody>
          <a:bodyPr wrap="square" lIns="0" tIns="0" rIns="0" bIns="0" rtlCol="0" anchor="ctr"/>
          <a:lstStyle/>
          <a:p>
            <a:r>
              <a:rPr lang="en-US" sz="1733" b="1" dirty="0">
                <a:solidFill>
                  <a:srgbClr val="0A1F44"/>
                </a:solidFill>
                <a:latin typeface="Calibri" pitchFamily="34" charset="0"/>
                <a:ea typeface="Calibri" pitchFamily="34" charset="-122"/>
                <a:cs typeface="Calibri" pitchFamily="34" charset="-120"/>
              </a:rPr>
              <a:t>Cross-City Transfer — Short Paper</a:t>
            </a:r>
            <a:endParaRPr lang="en-US" sz="1733" dirty="0"/>
          </a:p>
        </p:txBody>
      </p:sp>
      <p:sp>
        <p:nvSpPr>
          <p:cNvPr id="24" name="Text 22"/>
          <p:cNvSpPr/>
          <p:nvPr/>
        </p:nvSpPr>
        <p:spPr>
          <a:xfrm>
            <a:off x="1950720" y="5480304"/>
            <a:ext cx="6461760" cy="341376"/>
          </a:xfrm>
          <a:prstGeom prst="rect">
            <a:avLst/>
          </a:prstGeom>
          <a:noFill/>
          <a:ln/>
        </p:spPr>
        <p:txBody>
          <a:bodyPr wrap="square" lIns="0" tIns="0" rIns="0" bIns="0" rtlCol="0" anchor="ctr"/>
          <a:lstStyle/>
          <a:p>
            <a:r>
              <a:rPr lang="en-US" sz="1467" dirty="0">
                <a:solidFill>
                  <a:srgbClr val="8493A8"/>
                </a:solidFill>
                <a:latin typeface="Calibri" pitchFamily="34" charset="0"/>
                <a:ea typeface="Calibri" pitchFamily="34" charset="-122"/>
                <a:cs typeface="Calibri" pitchFamily="34" charset="-120"/>
              </a:rPr>
              <a:t>ION GNSS+ 2026  ·  Target: Check deadline</a:t>
            </a:r>
            <a:endParaRPr lang="en-US" sz="1467" dirty="0"/>
          </a:p>
        </p:txBody>
      </p:sp>
      <p:sp>
        <p:nvSpPr>
          <p:cNvPr id="26" name="Shape 24"/>
          <p:cNvSpPr/>
          <p:nvPr/>
        </p:nvSpPr>
        <p:spPr>
          <a:xfrm>
            <a:off x="8656320" y="5419344"/>
            <a:ext cx="2926080" cy="487680"/>
          </a:xfrm>
          <a:prstGeom prst="rect">
            <a:avLst/>
          </a:prstGeom>
          <a:solidFill>
            <a:srgbClr val="8493A8"/>
          </a:solidFill>
          <a:ln w="12700">
            <a:solidFill>
              <a:srgbClr val="8493A8"/>
            </a:solidFill>
            <a:prstDash val="solid"/>
          </a:ln>
        </p:spPr>
      </p:sp>
      <p:sp>
        <p:nvSpPr>
          <p:cNvPr id="27" name="Text 25"/>
          <p:cNvSpPr/>
          <p:nvPr/>
        </p:nvSpPr>
        <p:spPr>
          <a:xfrm>
            <a:off x="8656320" y="5431536"/>
            <a:ext cx="292608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 Outlined</a:t>
            </a:r>
            <a:endParaRPr lang="en-US" sz="1467" dirty="0"/>
          </a:p>
        </p:txBody>
      </p:sp>
      <p:sp>
        <p:nvSpPr>
          <p:cNvPr id="30" name="Shape 0">
            <a:extLst>
              <a:ext uri="{FF2B5EF4-FFF2-40B4-BE49-F238E27FC236}">
                <a16:creationId xmlns:a16="http://schemas.microsoft.com/office/drawing/2014/main" xmlns="" id="{8CB8C325-269A-34A7-B913-0C8103C4870D}"/>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31" name="Shape 1">
            <a:extLst>
              <a:ext uri="{FF2B5EF4-FFF2-40B4-BE49-F238E27FC236}">
                <a16:creationId xmlns:a16="http://schemas.microsoft.com/office/drawing/2014/main" xmlns="" id="{5B057CEB-9151-4C4F-8907-258513BEEE6C}"/>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32" name="Shape 2">
            <a:extLst>
              <a:ext uri="{FF2B5EF4-FFF2-40B4-BE49-F238E27FC236}">
                <a16:creationId xmlns:a16="http://schemas.microsoft.com/office/drawing/2014/main" xmlns="" id="{5EC20E52-FCF1-91E2-9C9A-A6CF47370172}"/>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33" name="Shape 3">
            <a:extLst>
              <a:ext uri="{FF2B5EF4-FFF2-40B4-BE49-F238E27FC236}">
                <a16:creationId xmlns:a16="http://schemas.microsoft.com/office/drawing/2014/main" xmlns="" id="{99BDAAFA-C6CF-316C-9DDC-872F360E6E07}"/>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34" name="Shape 4">
            <a:extLst>
              <a:ext uri="{FF2B5EF4-FFF2-40B4-BE49-F238E27FC236}">
                <a16:creationId xmlns:a16="http://schemas.microsoft.com/office/drawing/2014/main" xmlns="" id="{0ED74389-4A40-7A12-343F-05F49A5C1912}"/>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35" name="Shape 5">
            <a:extLst>
              <a:ext uri="{FF2B5EF4-FFF2-40B4-BE49-F238E27FC236}">
                <a16:creationId xmlns:a16="http://schemas.microsoft.com/office/drawing/2014/main" xmlns="" id="{0CD44AF3-50C0-6399-9EB6-723929A2CC24}"/>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36" name="Shape 6">
            <a:extLst>
              <a:ext uri="{FF2B5EF4-FFF2-40B4-BE49-F238E27FC236}">
                <a16:creationId xmlns:a16="http://schemas.microsoft.com/office/drawing/2014/main" xmlns="" id="{C6904B11-FD2C-BF27-31C6-910C2A04CE22}"/>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37" name="Shape 7">
            <a:extLst>
              <a:ext uri="{FF2B5EF4-FFF2-40B4-BE49-F238E27FC236}">
                <a16:creationId xmlns:a16="http://schemas.microsoft.com/office/drawing/2014/main" xmlns="" id="{2CEDF857-0E50-E12F-DD22-AA656A583339}"/>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38" name="Shape 8">
            <a:extLst>
              <a:ext uri="{FF2B5EF4-FFF2-40B4-BE49-F238E27FC236}">
                <a16:creationId xmlns:a16="http://schemas.microsoft.com/office/drawing/2014/main" xmlns="" id="{BE60D477-A7A1-E54E-AA06-1947D7B4BCBB}"/>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39" name="Shape 9">
            <a:extLst>
              <a:ext uri="{FF2B5EF4-FFF2-40B4-BE49-F238E27FC236}">
                <a16:creationId xmlns:a16="http://schemas.microsoft.com/office/drawing/2014/main" xmlns="" id="{075F713E-578C-D17F-0AF6-0575DD073583}"/>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40" name="Shape 10">
            <a:extLst>
              <a:ext uri="{FF2B5EF4-FFF2-40B4-BE49-F238E27FC236}">
                <a16:creationId xmlns:a16="http://schemas.microsoft.com/office/drawing/2014/main" xmlns="" id="{DA050839-367E-44D7-EE2D-946D801AB208}"/>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41" name="Shape 11">
            <a:extLst>
              <a:ext uri="{FF2B5EF4-FFF2-40B4-BE49-F238E27FC236}">
                <a16:creationId xmlns:a16="http://schemas.microsoft.com/office/drawing/2014/main" xmlns="" id="{118BA531-9153-8AEE-6F64-F4145AAF1921}"/>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42" name="Shape 12">
            <a:extLst>
              <a:ext uri="{FF2B5EF4-FFF2-40B4-BE49-F238E27FC236}">
                <a16:creationId xmlns:a16="http://schemas.microsoft.com/office/drawing/2014/main" xmlns="" id="{16494F83-CC8D-6BA1-3071-0F6A72DC7F5C}"/>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43" name="Shape 13">
            <a:extLst>
              <a:ext uri="{FF2B5EF4-FFF2-40B4-BE49-F238E27FC236}">
                <a16:creationId xmlns:a16="http://schemas.microsoft.com/office/drawing/2014/main" xmlns="" id="{416B7AFC-F29B-7799-0BC7-1149DF6AA52B}"/>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44" name="Shape 14">
            <a:extLst>
              <a:ext uri="{FF2B5EF4-FFF2-40B4-BE49-F238E27FC236}">
                <a16:creationId xmlns:a16="http://schemas.microsoft.com/office/drawing/2014/main" xmlns="" id="{DA6416FE-D50B-415A-2605-1C6D22A95AE9}"/>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45" name="Shape 15">
            <a:extLst>
              <a:ext uri="{FF2B5EF4-FFF2-40B4-BE49-F238E27FC236}">
                <a16:creationId xmlns:a16="http://schemas.microsoft.com/office/drawing/2014/main" xmlns="" id="{B3FA2F6D-EE5F-EF23-DCFD-4D4AC97AA0A8}"/>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46" name="Shape 16">
            <a:extLst>
              <a:ext uri="{FF2B5EF4-FFF2-40B4-BE49-F238E27FC236}">
                <a16:creationId xmlns:a16="http://schemas.microsoft.com/office/drawing/2014/main" xmlns="" id="{22B94A8D-428E-8C32-6CA6-8E662C221374}"/>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47" name="Picture 46">
            <a:extLst>
              <a:ext uri="{FF2B5EF4-FFF2-40B4-BE49-F238E27FC236}">
                <a16:creationId xmlns:a16="http://schemas.microsoft.com/office/drawing/2014/main" xmlns="" id="{6AC47232-D3C2-B140-F9D9-65389A918354}"/>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211844" y="4070"/>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PUBLICATION ROADMAP</a:t>
            </a:r>
            <a:endParaRPr lang="en-US" sz="3200" dirty="0">
              <a:solidFill>
                <a:schemeClr val="bg1"/>
              </a:solidFill>
            </a:endParaRPr>
          </a:p>
        </p:txBody>
      </p:sp>
      <p:sp>
        <p:nvSpPr>
          <p:cNvPr id="48" name="Shape 10">
            <a:extLst>
              <a:ext uri="{FF2B5EF4-FFF2-40B4-BE49-F238E27FC236}">
                <a16:creationId xmlns:a16="http://schemas.microsoft.com/office/drawing/2014/main" xmlns="" id="{BFD081D9-66C0-4DC2-DF81-F53D3B203F60}"/>
              </a:ext>
            </a:extLst>
          </p:cNvPr>
          <p:cNvSpPr/>
          <p:nvPr/>
        </p:nvSpPr>
        <p:spPr>
          <a:xfrm>
            <a:off x="548640" y="3554017"/>
            <a:ext cx="11277600" cy="1245824"/>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1" name="Text 13">
            <a:extLst>
              <a:ext uri="{FF2B5EF4-FFF2-40B4-BE49-F238E27FC236}">
                <a16:creationId xmlns:a16="http://schemas.microsoft.com/office/drawing/2014/main" xmlns="" id="{2A887426-68F0-8B2C-2558-AD5D71863AE9}"/>
              </a:ext>
            </a:extLst>
          </p:cNvPr>
          <p:cNvSpPr/>
          <p:nvPr/>
        </p:nvSpPr>
        <p:spPr>
          <a:xfrm>
            <a:off x="1950720" y="3614977"/>
            <a:ext cx="6461760" cy="426720"/>
          </a:xfrm>
          <a:prstGeom prst="rect">
            <a:avLst/>
          </a:prstGeom>
          <a:noFill/>
          <a:ln/>
        </p:spPr>
        <p:txBody>
          <a:bodyPr wrap="square" lIns="0" tIns="0" rIns="0" bIns="0" rtlCol="0" anchor="ctr"/>
          <a:lstStyle/>
          <a:p>
            <a:r>
              <a:rPr lang="en-US" sz="1733" b="1" dirty="0">
                <a:solidFill>
                  <a:srgbClr val="0A1F44"/>
                </a:solidFill>
                <a:latin typeface="Calibri" pitchFamily="34" charset="0"/>
                <a:ea typeface="Calibri" pitchFamily="34" charset="-122"/>
                <a:cs typeface="Calibri" pitchFamily="34" charset="-120"/>
              </a:rPr>
              <a:t>Literature Review</a:t>
            </a:r>
            <a:endParaRPr lang="en-US" sz="1733" dirty="0"/>
          </a:p>
        </p:txBody>
      </p:sp>
      <p:sp>
        <p:nvSpPr>
          <p:cNvPr id="52" name="Text 14">
            <a:extLst>
              <a:ext uri="{FF2B5EF4-FFF2-40B4-BE49-F238E27FC236}">
                <a16:creationId xmlns:a16="http://schemas.microsoft.com/office/drawing/2014/main" xmlns="" id="{DADB5FDC-DD3E-43A2-B415-2642F51E00DF}"/>
              </a:ext>
            </a:extLst>
          </p:cNvPr>
          <p:cNvSpPr/>
          <p:nvPr/>
        </p:nvSpPr>
        <p:spPr>
          <a:xfrm>
            <a:off x="1950720" y="4097659"/>
            <a:ext cx="6461760" cy="341376"/>
          </a:xfrm>
          <a:prstGeom prst="rect">
            <a:avLst/>
          </a:prstGeom>
          <a:noFill/>
          <a:ln/>
        </p:spPr>
        <p:txBody>
          <a:bodyPr wrap="square" lIns="0" tIns="0" rIns="0" bIns="0" rtlCol="0" anchor="ctr"/>
          <a:lstStyle/>
          <a:p>
            <a:r>
              <a:rPr lang="en-US" sz="1467" dirty="0">
                <a:solidFill>
                  <a:srgbClr val="8493A8"/>
                </a:solidFill>
                <a:latin typeface="Calibri" pitchFamily="34" charset="0"/>
                <a:ea typeface="Calibri" pitchFamily="34" charset="-122"/>
                <a:cs typeface="Calibri" pitchFamily="34" charset="-120"/>
              </a:rPr>
              <a:t>Title: Evolution of Intelligent GNSS Signal Degradation Prediction Techniques for Autonomous Vehicle Navigation</a:t>
            </a:r>
            <a:endParaRPr lang="en-US" sz="1467" dirty="0"/>
          </a:p>
        </p:txBody>
      </p:sp>
      <p:sp>
        <p:nvSpPr>
          <p:cNvPr id="54" name="Shape 16">
            <a:extLst>
              <a:ext uri="{FF2B5EF4-FFF2-40B4-BE49-F238E27FC236}">
                <a16:creationId xmlns:a16="http://schemas.microsoft.com/office/drawing/2014/main" xmlns="" id="{0A6D07CE-9AF7-4778-9CA7-446ED62AAB36}"/>
              </a:ext>
            </a:extLst>
          </p:cNvPr>
          <p:cNvSpPr/>
          <p:nvPr/>
        </p:nvSpPr>
        <p:spPr>
          <a:xfrm>
            <a:off x="8656320" y="4005121"/>
            <a:ext cx="2926080" cy="487680"/>
          </a:xfrm>
          <a:prstGeom prst="rect">
            <a:avLst/>
          </a:prstGeom>
          <a:solidFill>
            <a:srgbClr val="8493A8"/>
          </a:solidFill>
          <a:ln w="12700">
            <a:solidFill>
              <a:srgbClr val="8493A8"/>
            </a:solidFill>
            <a:prstDash val="solid"/>
          </a:ln>
        </p:spPr>
      </p:sp>
      <p:sp>
        <p:nvSpPr>
          <p:cNvPr id="55" name="Text 17">
            <a:extLst>
              <a:ext uri="{FF2B5EF4-FFF2-40B4-BE49-F238E27FC236}">
                <a16:creationId xmlns:a16="http://schemas.microsoft.com/office/drawing/2014/main" xmlns="" id="{5BB42257-C84A-B10F-6AAC-4BC38938E6AB}"/>
              </a:ext>
            </a:extLst>
          </p:cNvPr>
          <p:cNvSpPr/>
          <p:nvPr/>
        </p:nvSpPr>
        <p:spPr>
          <a:xfrm>
            <a:off x="8656320" y="4017313"/>
            <a:ext cx="292608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 Outlined</a:t>
            </a:r>
            <a:endParaRPr lang="en-US" sz="1467" dirty="0"/>
          </a:p>
        </p:txBody>
      </p:sp>
      <p:sp>
        <p:nvSpPr>
          <p:cNvPr id="56" name="Shape 3">
            <a:extLst>
              <a:ext uri="{FF2B5EF4-FFF2-40B4-BE49-F238E27FC236}">
                <a16:creationId xmlns:a16="http://schemas.microsoft.com/office/drawing/2014/main" xmlns="" id="{154CCE3C-453B-A172-EBC6-7FDD22AEE1C8}"/>
              </a:ext>
            </a:extLst>
          </p:cNvPr>
          <p:cNvSpPr/>
          <p:nvPr/>
        </p:nvSpPr>
        <p:spPr>
          <a:xfrm>
            <a:off x="548640" y="3537470"/>
            <a:ext cx="1219200" cy="1225963"/>
          </a:xfrm>
          <a:prstGeom prst="rect">
            <a:avLst/>
          </a:prstGeom>
          <a:solidFill>
            <a:srgbClr val="C8102E"/>
          </a:solidFill>
          <a:ln w="12700">
            <a:solidFill>
              <a:srgbClr val="C8102E"/>
            </a:solidFill>
            <a:prstDash val="solid"/>
          </a:ln>
        </p:spPr>
      </p:sp>
      <p:sp>
        <p:nvSpPr>
          <p:cNvPr id="50" name="Text 12">
            <a:extLst>
              <a:ext uri="{FF2B5EF4-FFF2-40B4-BE49-F238E27FC236}">
                <a16:creationId xmlns:a16="http://schemas.microsoft.com/office/drawing/2014/main" xmlns="" id="{EA13F8C5-D22C-AB17-A502-89550672A237}"/>
              </a:ext>
            </a:extLst>
          </p:cNvPr>
          <p:cNvSpPr/>
          <p:nvPr/>
        </p:nvSpPr>
        <p:spPr>
          <a:xfrm>
            <a:off x="542975" y="3932864"/>
            <a:ext cx="1219200" cy="487680"/>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Paper C</a:t>
            </a:r>
            <a:endParaRPr lang="en-US" sz="1867"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Image 0" descr="preencoded.png">
            <a:extLst>
              <a:ext uri="{FF2B5EF4-FFF2-40B4-BE49-F238E27FC236}">
                <a16:creationId xmlns:a16="http://schemas.microsoft.com/office/drawing/2014/main" xmlns="" id="{2046F66B-55CD-37F2-B0AF-38186C79E321}"/>
              </a:ext>
            </a:extLst>
          </p:cNvPr>
          <p:cNvPicPr>
            <a:picLocks noChangeAspect="1"/>
          </p:cNvPicPr>
          <p:nvPr/>
        </p:nvPicPr>
        <p:blipFill>
          <a:blip r:embed="rId3"/>
          <a:stretch>
            <a:fillRect/>
          </a:stretch>
        </p:blipFill>
        <p:spPr>
          <a:xfrm>
            <a:off x="0" y="0"/>
            <a:ext cx="12192000" cy="6858000"/>
          </a:xfrm>
          <a:prstGeom prst="rect">
            <a:avLst/>
          </a:prstGeom>
        </p:spPr>
      </p:pic>
      <p:sp>
        <p:nvSpPr>
          <p:cNvPr id="4" name="Text 2"/>
          <p:cNvSpPr/>
          <p:nvPr/>
        </p:nvSpPr>
        <p:spPr>
          <a:xfrm>
            <a:off x="0" y="0"/>
            <a:ext cx="11704320" cy="877824"/>
          </a:xfrm>
          <a:prstGeom prst="rect">
            <a:avLst/>
          </a:prstGeom>
          <a:noFill/>
          <a:ln/>
        </p:spPr>
        <p:txBody>
          <a:bodyPr wrap="square" lIns="0" tIns="0" rIns="0" bIns="0" rtlCol="0" anchor="ctr"/>
          <a:lstStyle/>
          <a:p>
            <a:pPr algn="r"/>
            <a:endParaRPr lang="en-US" sz="1333" dirty="0"/>
          </a:p>
        </p:txBody>
      </p:sp>
      <p:sp>
        <p:nvSpPr>
          <p:cNvPr id="6" name="Text 4"/>
          <p:cNvSpPr/>
          <p:nvPr/>
        </p:nvSpPr>
        <p:spPr>
          <a:xfrm>
            <a:off x="609600" y="1011936"/>
            <a:ext cx="10972800" cy="365760"/>
          </a:xfrm>
          <a:prstGeom prst="rect">
            <a:avLst/>
          </a:prstGeom>
          <a:noFill/>
          <a:ln/>
        </p:spPr>
        <p:txBody>
          <a:bodyPr wrap="square" rtlCol="0" anchor="ctr"/>
          <a:lstStyle/>
          <a:p>
            <a:r>
              <a:rPr lang="en-US" sz="1400" i="1" dirty="0">
                <a:solidFill>
                  <a:srgbClr val="566573"/>
                </a:solidFill>
                <a:latin typeface="Calibri" pitchFamily="34" charset="0"/>
                <a:ea typeface="Calibri" pitchFamily="34" charset="-122"/>
                <a:cs typeface="Calibri" pitchFamily="34" charset="-120"/>
              </a:rPr>
              <a:t>1-month total  ·  2 concurrent coursework  ·  Critical path: data collection (Wk 1) → model training (Wk 3)  ·  Target: IEEE T-ITS</a:t>
            </a:r>
            <a:endParaRPr lang="en-US" sz="1400" dirty="0"/>
          </a:p>
        </p:txBody>
      </p:sp>
      <p:sp>
        <p:nvSpPr>
          <p:cNvPr id="7" name="Shape 5"/>
          <p:cNvSpPr/>
          <p:nvPr/>
        </p:nvSpPr>
        <p:spPr>
          <a:xfrm>
            <a:off x="609600" y="1463040"/>
            <a:ext cx="2609088" cy="670560"/>
          </a:xfrm>
          <a:prstGeom prst="rect">
            <a:avLst/>
          </a:prstGeom>
          <a:solidFill>
            <a:srgbClr val="1A3A5C"/>
          </a:solidFill>
          <a:ln w="12700">
            <a:solidFill>
              <a:srgbClr val="1A3A5C"/>
            </a:solidFill>
            <a:prstDash val="solid"/>
          </a:ln>
        </p:spPr>
        <p:txBody>
          <a:bodyPr/>
          <a:lstStyle/>
          <a:p>
            <a:endParaRPr lang="en-US" sz="2400"/>
          </a:p>
        </p:txBody>
      </p:sp>
      <p:sp>
        <p:nvSpPr>
          <p:cNvPr id="8" name="Text 6"/>
          <p:cNvSpPr/>
          <p:nvPr/>
        </p:nvSpPr>
        <p:spPr>
          <a:xfrm>
            <a:off x="609600" y="1463040"/>
            <a:ext cx="2609088" cy="34137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Week 1  ·  Days 1–7</a:t>
            </a:r>
            <a:endParaRPr lang="en-US" sz="1333" dirty="0"/>
          </a:p>
        </p:txBody>
      </p:sp>
      <p:sp>
        <p:nvSpPr>
          <p:cNvPr id="9" name="Text 7"/>
          <p:cNvSpPr/>
          <p:nvPr/>
        </p:nvSpPr>
        <p:spPr>
          <a:xfrm>
            <a:off x="609600" y="1804416"/>
            <a:ext cx="2609088" cy="329184"/>
          </a:xfrm>
          <a:prstGeom prst="rect">
            <a:avLst/>
          </a:prstGeom>
          <a:noFill/>
          <a:ln/>
        </p:spPr>
        <p:txBody>
          <a:bodyPr wrap="square" lIns="0" tIns="0" rIns="0" bIns="0" rtlCol="0" anchor="ctr"/>
          <a:lstStyle/>
          <a:p>
            <a:pPr algn="ctr"/>
            <a:r>
              <a:rPr lang="en-US" sz="1200" dirty="0">
                <a:solidFill>
                  <a:srgbClr val="AED6F1"/>
                </a:solidFill>
                <a:latin typeface="Calibri" pitchFamily="34" charset="0"/>
                <a:ea typeface="Calibri" pitchFamily="34" charset="-122"/>
                <a:cs typeface="Calibri" pitchFamily="34" charset="-120"/>
              </a:rPr>
              <a:t>Setup &amp; Data Extraction</a:t>
            </a:r>
            <a:endParaRPr lang="en-US" sz="1200" dirty="0"/>
          </a:p>
        </p:txBody>
      </p:sp>
      <p:sp>
        <p:nvSpPr>
          <p:cNvPr id="10" name="Shape 8"/>
          <p:cNvSpPr/>
          <p:nvPr/>
        </p:nvSpPr>
        <p:spPr>
          <a:xfrm>
            <a:off x="609600" y="2133600"/>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11" name="Text 9"/>
          <p:cNvSpPr/>
          <p:nvPr/>
        </p:nvSpPr>
        <p:spPr>
          <a:xfrm>
            <a:off x="731520" y="2145969"/>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All software installed · Room 3058 visit · GitHub repo created</a:t>
            </a:r>
            <a:endParaRPr lang="en-US" sz="1267" dirty="0"/>
          </a:p>
        </p:txBody>
      </p:sp>
      <p:sp>
        <p:nvSpPr>
          <p:cNvPr id="12" name="Text 10"/>
          <p:cNvSpPr/>
          <p:nvPr/>
        </p:nvSpPr>
        <p:spPr>
          <a:xfrm>
            <a:off x="731520" y="2987040"/>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All</a:t>
            </a:r>
            <a:endParaRPr lang="en-US" sz="1200" dirty="0"/>
          </a:p>
        </p:txBody>
      </p:sp>
      <p:sp>
        <p:nvSpPr>
          <p:cNvPr id="13" name="Shape 11"/>
          <p:cNvSpPr/>
          <p:nvPr/>
        </p:nvSpPr>
        <p:spPr>
          <a:xfrm>
            <a:off x="609600" y="3328416"/>
            <a:ext cx="2609088" cy="1133856"/>
          </a:xfrm>
          <a:prstGeom prst="rect">
            <a:avLst/>
          </a:prstGeom>
          <a:solidFill>
            <a:srgbClr val="EBF5FB"/>
          </a:solidFill>
          <a:ln w="12700">
            <a:solidFill>
              <a:srgbClr val="AED6F1"/>
            </a:solidFill>
            <a:prstDash val="solid"/>
          </a:ln>
        </p:spPr>
        <p:txBody>
          <a:bodyPr/>
          <a:lstStyle/>
          <a:p>
            <a:endParaRPr lang="en-US" sz="2400"/>
          </a:p>
        </p:txBody>
      </p:sp>
      <p:sp>
        <p:nvSpPr>
          <p:cNvPr id="14" name="Text 12"/>
          <p:cNvSpPr/>
          <p:nvPr/>
        </p:nvSpPr>
        <p:spPr>
          <a:xfrm>
            <a:off x="731520" y="3245192"/>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ROSBAG extraction + RTKLIB running on supervisor vehicle &amp; drone datasets</a:t>
            </a:r>
            <a:endParaRPr lang="en-US" sz="1267" dirty="0"/>
          </a:p>
        </p:txBody>
      </p:sp>
      <p:sp>
        <p:nvSpPr>
          <p:cNvPr id="15" name="Text 13"/>
          <p:cNvSpPr/>
          <p:nvPr/>
        </p:nvSpPr>
        <p:spPr>
          <a:xfrm>
            <a:off x="731520" y="4181856"/>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Joshua</a:t>
            </a:r>
            <a:endParaRPr lang="en-US" sz="1200" dirty="0"/>
          </a:p>
        </p:txBody>
      </p:sp>
      <p:sp>
        <p:nvSpPr>
          <p:cNvPr id="16" name="Shape 14"/>
          <p:cNvSpPr/>
          <p:nvPr/>
        </p:nvSpPr>
        <p:spPr>
          <a:xfrm>
            <a:off x="609600" y="4523232"/>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17" name="Text 15"/>
          <p:cNvSpPr/>
          <p:nvPr/>
        </p:nvSpPr>
        <p:spPr>
          <a:xfrm>
            <a:off x="725424" y="4581453"/>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Scenarios A &amp; D collected (5 reps each) · RTKLIB processed</a:t>
            </a:r>
            <a:endParaRPr lang="en-US" sz="1267" dirty="0"/>
          </a:p>
        </p:txBody>
      </p:sp>
      <p:sp>
        <p:nvSpPr>
          <p:cNvPr id="18" name="Text 16"/>
          <p:cNvSpPr/>
          <p:nvPr/>
        </p:nvSpPr>
        <p:spPr>
          <a:xfrm>
            <a:off x="731520" y="5376672"/>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Claudine, Joshua</a:t>
            </a:r>
            <a:endParaRPr lang="en-US" sz="1200" dirty="0"/>
          </a:p>
        </p:txBody>
      </p:sp>
      <p:sp>
        <p:nvSpPr>
          <p:cNvPr id="19" name="Shape 17"/>
          <p:cNvSpPr/>
          <p:nvPr/>
        </p:nvSpPr>
        <p:spPr>
          <a:xfrm>
            <a:off x="3291840" y="1463040"/>
            <a:ext cx="2609088" cy="670560"/>
          </a:xfrm>
          <a:prstGeom prst="rect">
            <a:avLst/>
          </a:prstGeom>
          <a:solidFill>
            <a:srgbClr val="1F618D"/>
          </a:solidFill>
          <a:ln w="12700">
            <a:solidFill>
              <a:srgbClr val="1F618D"/>
            </a:solidFill>
            <a:prstDash val="solid"/>
          </a:ln>
        </p:spPr>
        <p:txBody>
          <a:bodyPr/>
          <a:lstStyle/>
          <a:p>
            <a:endParaRPr lang="en-US" sz="2400"/>
          </a:p>
        </p:txBody>
      </p:sp>
      <p:sp>
        <p:nvSpPr>
          <p:cNvPr id="20" name="Text 18"/>
          <p:cNvSpPr/>
          <p:nvPr/>
        </p:nvSpPr>
        <p:spPr>
          <a:xfrm>
            <a:off x="3291840" y="1463040"/>
            <a:ext cx="2609088" cy="34137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Week 2  ·  Days 8–14</a:t>
            </a:r>
            <a:endParaRPr lang="en-US" sz="1333" dirty="0"/>
          </a:p>
        </p:txBody>
      </p:sp>
      <p:sp>
        <p:nvSpPr>
          <p:cNvPr id="21" name="Text 19"/>
          <p:cNvSpPr/>
          <p:nvPr/>
        </p:nvSpPr>
        <p:spPr>
          <a:xfrm>
            <a:off x="3291840" y="1804416"/>
            <a:ext cx="2609088" cy="329184"/>
          </a:xfrm>
          <a:prstGeom prst="rect">
            <a:avLst/>
          </a:prstGeom>
          <a:noFill/>
          <a:ln/>
        </p:spPr>
        <p:txBody>
          <a:bodyPr wrap="square" lIns="0" tIns="0" rIns="0" bIns="0" rtlCol="0" anchor="ctr"/>
          <a:lstStyle/>
          <a:p>
            <a:pPr algn="ctr"/>
            <a:r>
              <a:rPr lang="en-US" sz="1200" dirty="0">
                <a:solidFill>
                  <a:srgbClr val="AED6F1"/>
                </a:solidFill>
                <a:latin typeface="Calibri" pitchFamily="34" charset="0"/>
                <a:ea typeface="Calibri" pitchFamily="34" charset="-122"/>
                <a:cs typeface="Calibri" pitchFamily="34" charset="-120"/>
              </a:rPr>
              <a:t>Full Collection &amp; Features</a:t>
            </a:r>
            <a:endParaRPr lang="en-US" sz="1200" dirty="0"/>
          </a:p>
        </p:txBody>
      </p:sp>
      <p:sp>
        <p:nvSpPr>
          <p:cNvPr id="22" name="Shape 20"/>
          <p:cNvSpPr/>
          <p:nvPr/>
        </p:nvSpPr>
        <p:spPr>
          <a:xfrm>
            <a:off x="3291840" y="2133600"/>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23" name="Text 21"/>
          <p:cNvSpPr/>
          <p:nvPr/>
        </p:nvSpPr>
        <p:spPr>
          <a:xfrm>
            <a:off x="3340608" y="2068399"/>
            <a:ext cx="249936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Scenarios B, C, E collected · Feature CSVs generated · Labelling complete</a:t>
            </a:r>
            <a:endParaRPr lang="en-US" sz="1267" dirty="0"/>
          </a:p>
        </p:txBody>
      </p:sp>
      <p:sp>
        <p:nvSpPr>
          <p:cNvPr id="24" name="Text 22"/>
          <p:cNvSpPr/>
          <p:nvPr/>
        </p:nvSpPr>
        <p:spPr>
          <a:xfrm>
            <a:off x="3413760" y="2987040"/>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Claudine, Joshua</a:t>
            </a:r>
            <a:endParaRPr lang="en-US" sz="1200" dirty="0"/>
          </a:p>
        </p:txBody>
      </p:sp>
      <p:sp>
        <p:nvSpPr>
          <p:cNvPr id="25" name="Shape 23"/>
          <p:cNvSpPr/>
          <p:nvPr/>
        </p:nvSpPr>
        <p:spPr>
          <a:xfrm>
            <a:off x="3291840" y="3328416"/>
            <a:ext cx="2609088" cy="1133856"/>
          </a:xfrm>
          <a:prstGeom prst="rect">
            <a:avLst/>
          </a:prstGeom>
          <a:solidFill>
            <a:srgbClr val="EBF5FB"/>
          </a:solidFill>
          <a:ln w="12700">
            <a:solidFill>
              <a:srgbClr val="AED6F1"/>
            </a:solidFill>
            <a:prstDash val="solid"/>
          </a:ln>
        </p:spPr>
        <p:txBody>
          <a:bodyPr/>
          <a:lstStyle/>
          <a:p>
            <a:endParaRPr lang="en-US" sz="2400"/>
          </a:p>
        </p:txBody>
      </p:sp>
      <p:sp>
        <p:nvSpPr>
          <p:cNvPr id="26" name="Text 24"/>
          <p:cNvSpPr/>
          <p:nvPr/>
        </p:nvSpPr>
        <p:spPr>
          <a:xfrm>
            <a:off x="3401568" y="3249787"/>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All baseline models trained &amp; results recorded (RF, LSTM, threshold, RAIM)</a:t>
            </a:r>
            <a:endParaRPr lang="en-US" sz="1267" dirty="0"/>
          </a:p>
        </p:txBody>
      </p:sp>
      <p:sp>
        <p:nvSpPr>
          <p:cNvPr id="27" name="Text 25"/>
          <p:cNvSpPr/>
          <p:nvPr/>
        </p:nvSpPr>
        <p:spPr>
          <a:xfrm>
            <a:off x="3413760" y="4181856"/>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Harun</a:t>
            </a:r>
            <a:endParaRPr lang="en-US" sz="1200" dirty="0"/>
          </a:p>
        </p:txBody>
      </p:sp>
      <p:sp>
        <p:nvSpPr>
          <p:cNvPr id="28" name="Shape 26"/>
          <p:cNvSpPr/>
          <p:nvPr/>
        </p:nvSpPr>
        <p:spPr>
          <a:xfrm>
            <a:off x="3291840" y="4523232"/>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29" name="Text 27"/>
          <p:cNvSpPr/>
          <p:nvPr/>
        </p:nvSpPr>
        <p:spPr>
          <a:xfrm>
            <a:off x="3401568" y="4445663"/>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Literature review drafted (30 papers) · UrbanNav &amp; RobotCar processed</a:t>
            </a:r>
            <a:endParaRPr lang="en-US" sz="1267" dirty="0"/>
          </a:p>
        </p:txBody>
      </p:sp>
      <p:sp>
        <p:nvSpPr>
          <p:cNvPr id="30" name="Text 28"/>
          <p:cNvSpPr/>
          <p:nvPr/>
        </p:nvSpPr>
        <p:spPr>
          <a:xfrm>
            <a:off x="3413760" y="5376672"/>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Harun, Claudine</a:t>
            </a:r>
            <a:endParaRPr lang="en-US" sz="1200" dirty="0"/>
          </a:p>
        </p:txBody>
      </p:sp>
      <p:sp>
        <p:nvSpPr>
          <p:cNvPr id="31" name="Shape 29"/>
          <p:cNvSpPr/>
          <p:nvPr/>
        </p:nvSpPr>
        <p:spPr>
          <a:xfrm>
            <a:off x="5974080" y="1463040"/>
            <a:ext cx="2609088" cy="670560"/>
          </a:xfrm>
          <a:prstGeom prst="rect">
            <a:avLst/>
          </a:prstGeom>
          <a:solidFill>
            <a:srgbClr val="2874A6"/>
          </a:solidFill>
          <a:ln w="12700">
            <a:solidFill>
              <a:srgbClr val="2874A6"/>
            </a:solidFill>
            <a:prstDash val="solid"/>
          </a:ln>
        </p:spPr>
        <p:txBody>
          <a:bodyPr/>
          <a:lstStyle/>
          <a:p>
            <a:endParaRPr lang="en-US" sz="2400"/>
          </a:p>
        </p:txBody>
      </p:sp>
      <p:sp>
        <p:nvSpPr>
          <p:cNvPr id="32" name="Text 30"/>
          <p:cNvSpPr/>
          <p:nvPr/>
        </p:nvSpPr>
        <p:spPr>
          <a:xfrm>
            <a:off x="5974080" y="1463040"/>
            <a:ext cx="2609088" cy="34137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Week 3  ·  Days 15–21</a:t>
            </a:r>
            <a:endParaRPr lang="en-US" sz="1333" dirty="0"/>
          </a:p>
        </p:txBody>
      </p:sp>
      <p:sp>
        <p:nvSpPr>
          <p:cNvPr id="33" name="Text 31"/>
          <p:cNvSpPr/>
          <p:nvPr/>
        </p:nvSpPr>
        <p:spPr>
          <a:xfrm>
            <a:off x="5974080" y="1804416"/>
            <a:ext cx="2609088" cy="329184"/>
          </a:xfrm>
          <a:prstGeom prst="rect">
            <a:avLst/>
          </a:prstGeom>
          <a:noFill/>
          <a:ln/>
        </p:spPr>
        <p:txBody>
          <a:bodyPr wrap="square" lIns="0" tIns="0" rIns="0" bIns="0" rtlCol="0" anchor="ctr"/>
          <a:lstStyle/>
          <a:p>
            <a:pPr algn="ctr"/>
            <a:r>
              <a:rPr lang="en-US" sz="1200" dirty="0">
                <a:solidFill>
                  <a:srgbClr val="AED6F1"/>
                </a:solidFill>
                <a:latin typeface="Calibri" pitchFamily="34" charset="0"/>
                <a:ea typeface="Calibri" pitchFamily="34" charset="-122"/>
                <a:cs typeface="Calibri" pitchFamily="34" charset="-120"/>
              </a:rPr>
              <a:t>Model Training &amp; System Build</a:t>
            </a:r>
            <a:endParaRPr lang="en-US" sz="1200" dirty="0"/>
          </a:p>
        </p:txBody>
      </p:sp>
      <p:sp>
        <p:nvSpPr>
          <p:cNvPr id="34" name="Shape 32"/>
          <p:cNvSpPr/>
          <p:nvPr/>
        </p:nvSpPr>
        <p:spPr>
          <a:xfrm>
            <a:off x="5974080" y="2133600"/>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35" name="Text 33"/>
          <p:cNvSpPr/>
          <p:nvPr/>
        </p:nvSpPr>
        <p:spPr>
          <a:xfrm>
            <a:off x="6096000" y="2084832"/>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Transformer-LSTM trained · First test-set results · Ablation studies done</a:t>
            </a:r>
            <a:endParaRPr lang="en-US" sz="1267" dirty="0"/>
          </a:p>
        </p:txBody>
      </p:sp>
      <p:sp>
        <p:nvSpPr>
          <p:cNvPr id="36" name="Text 34"/>
          <p:cNvSpPr/>
          <p:nvPr/>
        </p:nvSpPr>
        <p:spPr>
          <a:xfrm>
            <a:off x="6096000" y="2987040"/>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Joel</a:t>
            </a:r>
            <a:endParaRPr lang="en-US" sz="1200" dirty="0"/>
          </a:p>
        </p:txBody>
      </p:sp>
      <p:sp>
        <p:nvSpPr>
          <p:cNvPr id="37" name="Shape 35"/>
          <p:cNvSpPr/>
          <p:nvPr/>
        </p:nvSpPr>
        <p:spPr>
          <a:xfrm>
            <a:off x="5974080" y="3328416"/>
            <a:ext cx="2609088" cy="1133856"/>
          </a:xfrm>
          <a:prstGeom prst="rect">
            <a:avLst/>
          </a:prstGeom>
          <a:solidFill>
            <a:srgbClr val="EBF5FB"/>
          </a:solidFill>
          <a:ln w="12700">
            <a:solidFill>
              <a:srgbClr val="AED6F1"/>
            </a:solidFill>
            <a:prstDash val="solid"/>
          </a:ln>
        </p:spPr>
        <p:txBody>
          <a:bodyPr/>
          <a:lstStyle/>
          <a:p>
            <a:endParaRPr lang="en-US" sz="2400"/>
          </a:p>
        </p:txBody>
      </p:sp>
      <p:sp>
        <p:nvSpPr>
          <p:cNvPr id="38" name="Text 36"/>
          <p:cNvSpPr/>
          <p:nvPr/>
        </p:nvSpPr>
        <p:spPr>
          <a:xfrm>
            <a:off x="6096000" y="3275540"/>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Generalisation tests on UrbanNav &amp; RobotCar · KAIST on arrival</a:t>
            </a:r>
            <a:endParaRPr lang="en-US" sz="1267" dirty="0"/>
          </a:p>
        </p:txBody>
      </p:sp>
      <p:sp>
        <p:nvSpPr>
          <p:cNvPr id="39" name="Text 37"/>
          <p:cNvSpPr/>
          <p:nvPr/>
        </p:nvSpPr>
        <p:spPr>
          <a:xfrm>
            <a:off x="6096000" y="4181856"/>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Joel, Claudine</a:t>
            </a:r>
            <a:endParaRPr lang="en-US" sz="1200" dirty="0"/>
          </a:p>
        </p:txBody>
      </p:sp>
      <p:sp>
        <p:nvSpPr>
          <p:cNvPr id="40" name="Shape 38"/>
          <p:cNvSpPr/>
          <p:nvPr/>
        </p:nvSpPr>
        <p:spPr>
          <a:xfrm>
            <a:off x="5974080" y="4523232"/>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41" name="Text 39"/>
          <p:cNvSpPr/>
          <p:nvPr/>
        </p:nvSpPr>
        <p:spPr>
          <a:xfrm>
            <a:off x="6089904" y="4450080"/>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Dynamic EKF in simulation · Dashboard all 5 panels with data playback</a:t>
            </a:r>
            <a:endParaRPr lang="en-US" sz="1267" dirty="0"/>
          </a:p>
        </p:txBody>
      </p:sp>
      <p:sp>
        <p:nvSpPr>
          <p:cNvPr id="42" name="Text 40"/>
          <p:cNvSpPr/>
          <p:nvPr/>
        </p:nvSpPr>
        <p:spPr>
          <a:xfrm>
            <a:off x="6096000" y="5376672"/>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Mustapha</a:t>
            </a:r>
            <a:endParaRPr lang="en-US" sz="1200" dirty="0"/>
          </a:p>
        </p:txBody>
      </p:sp>
      <p:sp>
        <p:nvSpPr>
          <p:cNvPr id="43" name="Shape 41"/>
          <p:cNvSpPr/>
          <p:nvPr/>
        </p:nvSpPr>
        <p:spPr>
          <a:xfrm>
            <a:off x="8656320" y="1463040"/>
            <a:ext cx="2609088" cy="670560"/>
          </a:xfrm>
          <a:prstGeom prst="rect">
            <a:avLst/>
          </a:prstGeom>
          <a:solidFill>
            <a:srgbClr val="2E86C1"/>
          </a:solidFill>
          <a:ln w="12700">
            <a:solidFill>
              <a:srgbClr val="2E86C1"/>
            </a:solidFill>
            <a:prstDash val="solid"/>
          </a:ln>
        </p:spPr>
        <p:txBody>
          <a:bodyPr/>
          <a:lstStyle/>
          <a:p>
            <a:endParaRPr lang="en-US" sz="2400"/>
          </a:p>
        </p:txBody>
      </p:sp>
      <p:sp>
        <p:nvSpPr>
          <p:cNvPr id="44" name="Text 42"/>
          <p:cNvSpPr/>
          <p:nvPr/>
        </p:nvSpPr>
        <p:spPr>
          <a:xfrm>
            <a:off x="8656320" y="1463040"/>
            <a:ext cx="2609088" cy="34137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Week 4  ·  Days 22–28</a:t>
            </a:r>
            <a:endParaRPr lang="en-US" sz="1333" dirty="0"/>
          </a:p>
        </p:txBody>
      </p:sp>
      <p:sp>
        <p:nvSpPr>
          <p:cNvPr id="45" name="Text 43"/>
          <p:cNvSpPr/>
          <p:nvPr/>
        </p:nvSpPr>
        <p:spPr>
          <a:xfrm>
            <a:off x="8656320" y="1804416"/>
            <a:ext cx="2609088" cy="329184"/>
          </a:xfrm>
          <a:prstGeom prst="rect">
            <a:avLst/>
          </a:prstGeom>
          <a:noFill/>
          <a:ln/>
        </p:spPr>
        <p:txBody>
          <a:bodyPr wrap="square" lIns="0" tIns="0" rIns="0" bIns="0" rtlCol="0" anchor="ctr"/>
          <a:lstStyle/>
          <a:p>
            <a:pPr algn="ctr"/>
            <a:r>
              <a:rPr lang="en-US" sz="1200" dirty="0">
                <a:solidFill>
                  <a:srgbClr val="AED6F1"/>
                </a:solidFill>
                <a:latin typeface="Calibri" pitchFamily="34" charset="0"/>
                <a:ea typeface="Calibri" pitchFamily="34" charset="-122"/>
                <a:cs typeface="Calibri" pitchFamily="34" charset="-120"/>
              </a:rPr>
              <a:t>Integration, Demo &amp; Paper</a:t>
            </a:r>
            <a:endParaRPr lang="en-US" sz="1200" dirty="0"/>
          </a:p>
        </p:txBody>
      </p:sp>
      <p:sp>
        <p:nvSpPr>
          <p:cNvPr id="46" name="Shape 44"/>
          <p:cNvSpPr/>
          <p:nvPr/>
        </p:nvSpPr>
        <p:spPr>
          <a:xfrm>
            <a:off x="8656320" y="2133600"/>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47" name="Text 45"/>
          <p:cNvSpPr/>
          <p:nvPr/>
        </p:nvSpPr>
        <p:spPr>
          <a:xfrm>
            <a:off x="8705088" y="2157984"/>
            <a:ext cx="2511552" cy="877824"/>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Live campus test: cart + receiver + dashboard · Screen capture video</a:t>
            </a:r>
            <a:endParaRPr lang="en-US" sz="1267" dirty="0"/>
          </a:p>
        </p:txBody>
      </p:sp>
      <p:sp>
        <p:nvSpPr>
          <p:cNvPr id="48" name="Text 46"/>
          <p:cNvSpPr/>
          <p:nvPr/>
        </p:nvSpPr>
        <p:spPr>
          <a:xfrm>
            <a:off x="8778240" y="2987040"/>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All</a:t>
            </a:r>
            <a:endParaRPr lang="en-US" sz="1200" dirty="0"/>
          </a:p>
        </p:txBody>
      </p:sp>
      <p:sp>
        <p:nvSpPr>
          <p:cNvPr id="49" name="Shape 47"/>
          <p:cNvSpPr/>
          <p:nvPr/>
        </p:nvSpPr>
        <p:spPr>
          <a:xfrm>
            <a:off x="8656320" y="3328416"/>
            <a:ext cx="2609088" cy="1133856"/>
          </a:xfrm>
          <a:prstGeom prst="rect">
            <a:avLst/>
          </a:prstGeom>
          <a:solidFill>
            <a:srgbClr val="EBF5FB"/>
          </a:solidFill>
          <a:ln w="12700">
            <a:solidFill>
              <a:srgbClr val="AED6F1"/>
            </a:solidFill>
            <a:prstDash val="solid"/>
          </a:ln>
        </p:spPr>
        <p:txBody>
          <a:bodyPr/>
          <a:lstStyle/>
          <a:p>
            <a:endParaRPr lang="en-US" sz="2400"/>
          </a:p>
        </p:txBody>
      </p:sp>
      <p:sp>
        <p:nvSpPr>
          <p:cNvPr id="50" name="Text 48"/>
          <p:cNvSpPr/>
          <p:nvPr/>
        </p:nvSpPr>
        <p:spPr>
          <a:xfrm>
            <a:off x="8778240" y="3377184"/>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Paper 1 first draft written · Each member fills their sections</a:t>
            </a:r>
            <a:endParaRPr lang="en-US" sz="1267" dirty="0"/>
          </a:p>
        </p:txBody>
      </p:sp>
      <p:sp>
        <p:nvSpPr>
          <p:cNvPr id="51" name="Text 49"/>
          <p:cNvSpPr/>
          <p:nvPr/>
        </p:nvSpPr>
        <p:spPr>
          <a:xfrm>
            <a:off x="8778240" y="4181856"/>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Joel leads</a:t>
            </a:r>
            <a:endParaRPr lang="en-US" sz="1200" dirty="0"/>
          </a:p>
        </p:txBody>
      </p:sp>
      <p:sp>
        <p:nvSpPr>
          <p:cNvPr id="52" name="Shape 50"/>
          <p:cNvSpPr/>
          <p:nvPr/>
        </p:nvSpPr>
        <p:spPr>
          <a:xfrm>
            <a:off x="8656320" y="4523232"/>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53" name="Text 51"/>
          <p:cNvSpPr/>
          <p:nvPr/>
        </p:nvSpPr>
        <p:spPr>
          <a:xfrm>
            <a:off x="8705088" y="4536484"/>
            <a:ext cx="2511552"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Full team review · Presentation rehearsed · Submission-ready draft</a:t>
            </a:r>
            <a:endParaRPr lang="en-US" sz="1267" dirty="0"/>
          </a:p>
        </p:txBody>
      </p:sp>
      <p:sp>
        <p:nvSpPr>
          <p:cNvPr id="54" name="Text 52"/>
          <p:cNvSpPr/>
          <p:nvPr/>
        </p:nvSpPr>
        <p:spPr>
          <a:xfrm>
            <a:off x="8778240" y="5376672"/>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All</a:t>
            </a:r>
            <a:endParaRPr lang="en-US" sz="1200" dirty="0"/>
          </a:p>
        </p:txBody>
      </p:sp>
      <p:sp>
        <p:nvSpPr>
          <p:cNvPr id="55" name="Text 53"/>
          <p:cNvSpPr/>
          <p:nvPr/>
        </p:nvSpPr>
        <p:spPr>
          <a:xfrm>
            <a:off x="609600" y="5846065"/>
            <a:ext cx="10972800" cy="519396"/>
          </a:xfrm>
          <a:prstGeom prst="rect">
            <a:avLst/>
          </a:prstGeom>
          <a:noFill/>
          <a:ln/>
        </p:spPr>
        <p:txBody>
          <a:bodyPr wrap="square" rtlCol="0" anchor="ctr"/>
          <a:lstStyle/>
          <a:p>
            <a:pPr algn="ctr">
              <a:lnSpc>
                <a:spcPct val="150000"/>
              </a:lnSpc>
            </a:pPr>
            <a:r>
              <a:rPr lang="en-US" sz="1400" i="1" dirty="0">
                <a:solidFill>
                  <a:srgbClr val="B7770D"/>
                </a:solidFill>
                <a:latin typeface="Calibri" pitchFamily="34" charset="0"/>
                <a:ea typeface="Calibri" pitchFamily="34" charset="-122"/>
                <a:cs typeface="Calibri" pitchFamily="34" charset="-120"/>
              </a:rPr>
              <a:t>⚠  Risk: Scenarios A &amp; D (Day 5–7) are the critical path — all model work depends on them. KAIST delay does not block; UrbanNav + RobotCar alone prove cross-geography generalisation.</a:t>
            </a:r>
            <a:endParaRPr lang="en-US" sz="1400" dirty="0"/>
          </a:p>
        </p:txBody>
      </p:sp>
      <p:sp>
        <p:nvSpPr>
          <p:cNvPr id="112" name="Shape 0">
            <a:extLst>
              <a:ext uri="{FF2B5EF4-FFF2-40B4-BE49-F238E27FC236}">
                <a16:creationId xmlns:a16="http://schemas.microsoft.com/office/drawing/2014/main" xmlns="" id="{BC4E41A5-0BF8-CCFD-F12A-FE1791812EC6}"/>
              </a:ext>
            </a:extLst>
          </p:cNvPr>
          <p:cNvSpPr/>
          <p:nvPr/>
        </p:nvSpPr>
        <p:spPr>
          <a:xfrm>
            <a:off x="0" y="1935"/>
            <a:ext cx="12192000" cy="740408"/>
          </a:xfrm>
          <a:prstGeom prst="rect">
            <a:avLst/>
          </a:prstGeom>
          <a:solidFill>
            <a:srgbClr val="003893"/>
          </a:solidFill>
          <a:ln w="12700">
            <a:solidFill>
              <a:srgbClr val="003893"/>
            </a:solidFill>
            <a:prstDash val="solid"/>
          </a:ln>
        </p:spPr>
      </p:sp>
      <p:sp>
        <p:nvSpPr>
          <p:cNvPr id="113" name="Shape 1">
            <a:extLst>
              <a:ext uri="{FF2B5EF4-FFF2-40B4-BE49-F238E27FC236}">
                <a16:creationId xmlns:a16="http://schemas.microsoft.com/office/drawing/2014/main" xmlns="" id="{A246873A-9443-0BAC-5873-80D9DD772573}"/>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14" name="Shape 2">
            <a:extLst>
              <a:ext uri="{FF2B5EF4-FFF2-40B4-BE49-F238E27FC236}">
                <a16:creationId xmlns:a16="http://schemas.microsoft.com/office/drawing/2014/main" xmlns="" id="{944C2789-5576-8C7A-CECE-12B6B87D6AC1}"/>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15" name="Shape 3">
            <a:extLst>
              <a:ext uri="{FF2B5EF4-FFF2-40B4-BE49-F238E27FC236}">
                <a16:creationId xmlns:a16="http://schemas.microsoft.com/office/drawing/2014/main" xmlns="" id="{AA7610E3-3809-0031-3E6E-F077124D16D0}"/>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16" name="Shape 4">
            <a:extLst>
              <a:ext uri="{FF2B5EF4-FFF2-40B4-BE49-F238E27FC236}">
                <a16:creationId xmlns:a16="http://schemas.microsoft.com/office/drawing/2014/main" xmlns="" id="{9BB1141F-7440-F61D-DBB3-A1A36861DB07}"/>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17" name="Shape 5">
            <a:extLst>
              <a:ext uri="{FF2B5EF4-FFF2-40B4-BE49-F238E27FC236}">
                <a16:creationId xmlns:a16="http://schemas.microsoft.com/office/drawing/2014/main" xmlns="" id="{D09AC067-BAC1-1E1D-DFE5-92071D1526E0}"/>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118" name="Shape 6">
            <a:extLst>
              <a:ext uri="{FF2B5EF4-FFF2-40B4-BE49-F238E27FC236}">
                <a16:creationId xmlns:a16="http://schemas.microsoft.com/office/drawing/2014/main" xmlns="" id="{2AF0BEC9-562F-E9B9-AA5F-6D03790EDFA9}"/>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119" name="Shape 7">
            <a:extLst>
              <a:ext uri="{FF2B5EF4-FFF2-40B4-BE49-F238E27FC236}">
                <a16:creationId xmlns:a16="http://schemas.microsoft.com/office/drawing/2014/main" xmlns="" id="{7C863F99-BA11-62F3-1351-60E0BABCF4BD}"/>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120" name="Shape 8">
            <a:extLst>
              <a:ext uri="{FF2B5EF4-FFF2-40B4-BE49-F238E27FC236}">
                <a16:creationId xmlns:a16="http://schemas.microsoft.com/office/drawing/2014/main" xmlns="" id="{B5CBCA9E-87D0-1144-BC39-F767A4FDEDEB}"/>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121" name="Shape 9">
            <a:extLst>
              <a:ext uri="{FF2B5EF4-FFF2-40B4-BE49-F238E27FC236}">
                <a16:creationId xmlns:a16="http://schemas.microsoft.com/office/drawing/2014/main" xmlns="" id="{8835D577-1961-63AD-657B-CB1B7F383E93}"/>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122" name="Shape 10">
            <a:extLst>
              <a:ext uri="{FF2B5EF4-FFF2-40B4-BE49-F238E27FC236}">
                <a16:creationId xmlns:a16="http://schemas.microsoft.com/office/drawing/2014/main" xmlns="" id="{6A1B68CD-E7E2-7DD7-FA94-298611846129}"/>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123" name="Shape 11">
            <a:extLst>
              <a:ext uri="{FF2B5EF4-FFF2-40B4-BE49-F238E27FC236}">
                <a16:creationId xmlns:a16="http://schemas.microsoft.com/office/drawing/2014/main" xmlns="" id="{0D0FB8B0-0DD7-2BB8-5848-497E0C41BE4B}"/>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124" name="Shape 12">
            <a:extLst>
              <a:ext uri="{FF2B5EF4-FFF2-40B4-BE49-F238E27FC236}">
                <a16:creationId xmlns:a16="http://schemas.microsoft.com/office/drawing/2014/main" xmlns="" id="{0DB086FB-9C49-D5F3-6452-5913FF32E5A9}"/>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125" name="Shape 13">
            <a:extLst>
              <a:ext uri="{FF2B5EF4-FFF2-40B4-BE49-F238E27FC236}">
                <a16:creationId xmlns:a16="http://schemas.microsoft.com/office/drawing/2014/main" xmlns="" id="{25CB3151-66EA-3BFE-E367-6C12B44CB7A6}"/>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126" name="Shape 14">
            <a:extLst>
              <a:ext uri="{FF2B5EF4-FFF2-40B4-BE49-F238E27FC236}">
                <a16:creationId xmlns:a16="http://schemas.microsoft.com/office/drawing/2014/main" xmlns="" id="{2F747079-558E-CF8A-5141-8250682D45F3}"/>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127" name="Shape 15">
            <a:extLst>
              <a:ext uri="{FF2B5EF4-FFF2-40B4-BE49-F238E27FC236}">
                <a16:creationId xmlns:a16="http://schemas.microsoft.com/office/drawing/2014/main" xmlns="" id="{B0FE59BF-8362-4556-EA36-9D9C0F76057E}"/>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128" name="Shape 16">
            <a:extLst>
              <a:ext uri="{FF2B5EF4-FFF2-40B4-BE49-F238E27FC236}">
                <a16:creationId xmlns:a16="http://schemas.microsoft.com/office/drawing/2014/main" xmlns="" id="{CC344490-2E48-C424-DDFE-E86C5D69C384}"/>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129" name="Picture 128">
            <a:extLst>
              <a:ext uri="{FF2B5EF4-FFF2-40B4-BE49-F238E27FC236}">
                <a16:creationId xmlns:a16="http://schemas.microsoft.com/office/drawing/2014/main" xmlns="" id="{AB2B5EA0-6EA2-C205-6ECD-39BFAF59F59C}"/>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244863" y="-104203"/>
            <a:ext cx="10241280" cy="877824"/>
          </a:xfrm>
          <a:prstGeom prst="rect">
            <a:avLst/>
          </a:prstGeom>
          <a:noFill/>
          <a:ln/>
        </p:spPr>
        <p:txBody>
          <a:bodyPr wrap="square" lIns="0" tIns="0" rIns="0" bIns="0" rtlCol="0" anchor="ctr"/>
          <a:lstStyle/>
          <a:p>
            <a:r>
              <a:rPr lang="en-US" sz="3200" b="1" dirty="0">
                <a:solidFill>
                  <a:srgbClr val="FFFFFF"/>
                </a:solidFill>
                <a:latin typeface="Calibri" pitchFamily="34" charset="0"/>
                <a:ea typeface="Calibri" pitchFamily="34" charset="-122"/>
                <a:cs typeface="Calibri" pitchFamily="34" charset="-120"/>
              </a:rPr>
              <a:t>PROJECT TIMELINE — 4-WEEK COMPRESSED PLAN</a:t>
            </a:r>
            <a:endParaRPr lang="en-US" sz="3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377440"/>
            <a:ext cx="10607040" cy="18288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Thank you</a:t>
            </a:r>
          </a:p>
          <a:p>
            <a:pPr algn="l">
              <a:lnSpc>
                <a:spcPct val="150000"/>
              </a:lnSpc>
              <a:spcAft>
                <a:spcPts val="600"/>
              </a:spcAft>
            </a:pPr>
            <a:r>
              <a:rPr sz="2200" b="0">
                <a:solidFill>
                  <a:srgbClr val="E6F2FB"/>
                </a:solidFill>
                <a:latin typeface="Calibri"/>
              </a:rPr>
              <a:t>SENTINEL-GNSS — predicting GNSS degradation before it happens</a:t>
            </a:r>
          </a:p>
          <a:p>
            <a:pPr algn="l">
              <a:lnSpc>
                <a:spcPct val="150000"/>
              </a:lnSpc>
              <a:spcAft>
                <a:spcPts val="600"/>
              </a:spcAft>
            </a:pPr>
            <a:r>
              <a:rPr sz="1800" b="0">
                <a:solidFill>
                  <a:srgbClr val="FFFFFF"/>
                </a:solidFill>
                <a:latin typeface="Calibri"/>
              </a:rPr>
              <a:t>Team Pilot Project · Beihang University</a:t>
            </a:r>
          </a:p>
          <a:p>
            <a:pPr algn="l">
              <a:lnSpc>
                <a:spcPct val="150000"/>
              </a:lnSpc>
              <a:spcAft>
                <a:spcPts val="600"/>
              </a:spcAft>
            </a:pPr>
            <a:r>
              <a:rPr sz="1500" b="0">
                <a:solidFill>
                  <a:srgbClr val="CFE3F5"/>
                </a:solidFill>
                <a:latin typeface="Calibri"/>
              </a:rPr>
              <a:t>github.com/Jorshuare/AI-Based-Prediction-for-GNSS-Signal-Degradation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272</TotalTime>
  <Words>3530</Words>
  <Application>Microsoft Office PowerPoint</Application>
  <PresentationFormat>Custom</PresentationFormat>
  <Paragraphs>646</Paragraphs>
  <Slides>36</Slides>
  <Notes>20</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Lenovo</cp:lastModifiedBy>
  <cp:revision>13</cp:revision>
  <dcterms:created xsi:type="dcterms:W3CDTF">2013-01-27T09:14:16Z</dcterms:created>
  <dcterms:modified xsi:type="dcterms:W3CDTF">2026-06-10T11:08:07Z</dcterms:modified>
  <cp:category/>
</cp:coreProperties>
</file>