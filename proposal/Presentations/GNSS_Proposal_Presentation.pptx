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76" r:id="rId5"/>
    <p:sldId id="259" r:id="rId6"/>
    <p:sldId id="260" r:id="rId7"/>
    <p:sldId id="261" r:id="rId8"/>
    <p:sldId id="262" r:id="rId9"/>
    <p:sldId id="277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8" r:id="rId19"/>
    <p:sldId id="271" r:id="rId20"/>
    <p:sldId id="272" r:id="rId21"/>
    <p:sldId id="273" r:id="rId22"/>
    <p:sldId id="274" r:id="rId23"/>
    <p:sldId id="275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-76" y="-2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854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588DCF2-868A-563F-4963-2235003E8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E7E8E8A-24AA-91B2-5AC6-4E69D12B0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8DE93A1-090C-ABBA-115E-0071A7149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8BE0718-60EE-9A04-9800-53CC11DE1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7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EC85914-34FA-09E6-C316-01561080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76C0FE3-96DB-DE33-2FD2-B190C3907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ECAC537-3D7C-B62A-F6CF-AA9881F8E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83BBB20-83D3-DBED-2493-E03449B600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66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6E4654F-C4B8-973C-4F3A-69EDD2860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A1BAC86-B467-7F81-A1D4-FA68E2E3E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E3A5620-5F8F-1825-C028-7E051149D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56720D3-B57C-30A7-0C49-941F2E642A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50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9" y="822959"/>
            <a:ext cx="99391" cy="4051189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78137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Prediction of GNSS Signal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for Autonomous Driving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078337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Study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48232"/>
              </p:ext>
            </p:extLst>
          </p:nvPr>
        </p:nvGraphicFramePr>
        <p:xfrm>
          <a:off x="685800" y="2581257"/>
          <a:ext cx="7863840" cy="1828800"/>
        </p:xfrm>
        <a:graphic>
          <a:graphicData uri="http://schemas.openxmlformats.org/drawingml/2006/table">
            <a:tbl>
              <a:tblPr/>
              <a:tblGrid>
                <a:gridCol w="66923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9086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Ojerinde Joel Segun 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Mustapha Ibrahim Ishola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Ogunlade Joshua Oluwaseun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Ingeriyinkindi Claudine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Rashid Md Harun 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77A5688-5D3D-76CB-DF27-D06D55042F3B}"/>
              </a:ext>
            </a:extLst>
          </p:cNvPr>
          <p:cNvSpPr/>
          <p:nvPr/>
        </p:nvSpPr>
        <p:spPr>
          <a:xfrm>
            <a:off x="2914116" y="4537816"/>
            <a:ext cx="3144852" cy="367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Supervisor: Dr. Ahmed Wasiu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846320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4023360" cy="34747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Statement &amp; Motivation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Prediction, Not Detection?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Contributions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Sources &amp; Collection 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Processing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Model Design — Transformer-LSTM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Protocol &amp; Class Imbalance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Strategy &amp; Datasets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822960"/>
          <a:ext cx="4023360" cy="34747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Overview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Monitoring 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Fusion Adaptation (Dynamic EKF)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Novelty Claims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Responsibilities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Timeline (Milestones)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Anticipated Challenges &amp; Mitigations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 &amp; Future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846320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is the primary positioning source for autonomous vehicles. Yet it fails—predictably and frequently.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51760" cy="25603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Canyons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buildings block or reflect satellite signals, causing multipath errors and signal loss in densely built environments.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651760" cy="25603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51760" cy="4114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Tunnels &amp; Underpasses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9202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signal blockage causes instantaneous position loss. Reactive systems detect failure too late to plan a safe response.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51760" cy="25603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651760" cy="4114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Effects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9202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Ionospheric and tropospheric disturbances degrade range accuracy across wide areas, particularly during daytime and equatorial conditions.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detect degradation after it occurs — autonomous vehicles need advance warning to respond safely.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934DA33B-A089-EED4-2DFE-5AF93D5D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xmlns="" id="{F59BECB2-5CC8-7222-89E2-75E45AF2028C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xmlns="" id="{A224C6EC-B47C-8F50-3551-AF2381CE0850}"/>
              </a:ext>
            </a:extLst>
          </p:cNvPr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xmlns="" id="{2141CBB7-1709-E31D-23BD-2BC6728E6745}"/>
              </a:ext>
            </a:extLst>
          </p:cNvPr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AE006491-F032-E4A0-4109-2905383A3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94" y="712304"/>
            <a:ext cx="6718852" cy="437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019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Prediction, Not Detection?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846320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vs. Proactive Navigation Response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SYSTEM  (Current State of Practice)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92024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1691640"/>
            <a:ext cx="1920240" cy="82296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51760" y="1691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691640"/>
            <a:ext cx="192024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1691640"/>
            <a:ext cx="1920240" cy="822960"/>
          </a:xfrm>
          <a:prstGeom prst="rect">
            <a:avLst/>
          </a:prstGeom>
          <a:solidFill>
            <a:srgbClr val="F3E5F5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0880" y="1691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(Too Late)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2103120"/>
            <a:ext cx="27432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0" y="2103120"/>
            <a:ext cx="27432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766560" y="2103120"/>
            <a:ext cx="27432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 (Proactive — This Work)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192024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154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OK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51760" y="3154680"/>
            <a:ext cx="1920240" cy="82296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51760" y="3154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Ahead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154680"/>
            <a:ext cx="192024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3154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Weights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40880" y="3154680"/>
            <a:ext cx="1920240" cy="822960"/>
          </a:xfrm>
          <a:prstGeom prst="rect">
            <a:avLst/>
          </a:prstGeom>
          <a:solidFill>
            <a:srgbClr val="F1F8E9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040880" y="3154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77440" y="3566160"/>
            <a:ext cx="27432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0" y="3566160"/>
            <a:ext cx="27432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766560" y="3566160"/>
            <a:ext cx="27432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60 km/h, a 30-second prediction window provides 500 metres of advance notice — enough for safe, graduated navigation adjustment.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846320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502920" cy="6400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8686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Multi-Horizon Simultaneous Prediction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16128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GNSS degradation at 5 s, 15 s, and 30 s simultaneously from a single forward pass — enabling graduated autonomous vehicle response.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502920" cy="6400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18288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Cross-Satellite Attention Mechanism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12140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Transformer encoder learns relationships between satellites in real time — the first application of cross-satellite attention to GNSS quality prediction.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502920" cy="6400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27889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Multi-Platform, Cross-Geography Generalisation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08152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vehicle, drone, and cart data; tested without retraining on public datasets from Hong Kong (UrbanNav) and Korea (KAIST).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502920" cy="6400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3749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Sensor Fusion Adaptation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04164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 EKF adjusts GNSS observation noise covariance before degradation arrives, based on the model's prediction output.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4965192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complementary data platforms — supervisor-provided and self-collected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32461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Vehicle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0606" y="1747698"/>
            <a:ext cx="24886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/ Suburban  ·  0–80 km/h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003730"/>
            <a:ext cx="2432304" cy="147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ROSBAG format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Multipath from buildings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&amp; underpass blockage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AV context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114800"/>
            <a:ext cx="2432304" cy="256032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411480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Data acquired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188720"/>
            <a:ext cx="2651760" cy="32461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91840" y="1188720"/>
            <a:ext cx="2651760" cy="4572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/ UAV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01568" y="174769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 ·  0–20 m/s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01568" y="1977555"/>
            <a:ext cx="2432304" cy="144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ROSBAG / RINEX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Open-sky clean baseline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signal reference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via RTKLIB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01568" y="4114800"/>
            <a:ext cx="2432304" cy="256032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01568" y="411480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Data acquired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202436"/>
            <a:ext cx="2651760" cy="32461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26480" y="1188720"/>
            <a:ext cx="2651760" cy="4572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2648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Cart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175326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 ·  Campus routes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36208" y="1977555"/>
            <a:ext cx="2432304" cy="1404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Self-collected (5 scenarios)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degradation events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repeatable routes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RINEX output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6208" y="4114800"/>
            <a:ext cx="2432304" cy="2560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36208" y="411480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 be acquired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438912" y="4553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Validation Datasets: UrbanNav (Hong Kong) ✔  ·  KAIST Urban (Korea) — awaiting delivery  ·  Oxford RobotCar ✔  ·  NCLT Michigan ✔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5 Controlled Scenarios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846320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 isolates one degradation type, producing a scientifically labelled dataset.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61288"/>
            <a:ext cx="4572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6128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161288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Sky → Complete Blockage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41732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Carpark → underground entrance. Captures rapid satellite count drop from 10+ to 0–4.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4572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1874520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Canyon Multipath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13055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corridor between buildings. Captures carrier phase noise on low-elevation satellites without full signal loss.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87752"/>
            <a:ext cx="4572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58775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587752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Obstruction (Foliage)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84378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canopy / covered walkway. Captures intermittent, stochastic signal degradation.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00984"/>
            <a:ext cx="4572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30098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1560" y="3300984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Sky Baseline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55701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field with unobstructed 360° sky view. Provides the CLEAN class reference for the classifier.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14216"/>
            <a:ext cx="4572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01421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51560" y="4014216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Degradation Transition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427024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toward building face; captures satellite count dropping one at a time — directly trains the pre-degradation ramp-up period.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0A788E6-EEB4-AEE3-6405-C342D4679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xmlns="" id="{554BDE42-35EC-AB19-86AE-0F1E646E56B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xmlns="" id="{200F6773-9D8D-24A6-77AE-C59891D57618}"/>
              </a:ext>
            </a:extLst>
          </p:cNvPr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5 Controlled Scenarios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xmlns="" id="{18D22E51-0DD1-1BB7-B3B3-56F2DF7599D1}"/>
              </a:ext>
            </a:extLst>
          </p:cNvPr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B5DADA93-8C5C-C73D-A265-EB1C90BEB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58" y="788062"/>
            <a:ext cx="6629400" cy="419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261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846320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platforms pass through the same six-step pipeline — ensuring model learns signal physics, not processing artefacts.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61288"/>
            <a:ext cx="8229600" cy="53035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161288"/>
            <a:ext cx="438912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161288"/>
            <a:ext cx="438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19786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ROSBAG Extraction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21615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 extracts GNSS topics (/fix, /gnss) from .bag files → CSV with timestamps, position, SNR per satellite.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73936"/>
            <a:ext cx="8229600" cy="53035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773936"/>
            <a:ext cx="438912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773936"/>
            <a:ext cx="438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181051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RINEX Conversion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182880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RTKCONV converts all sources to RINEX 3.x observation format — the universal standard.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86584"/>
            <a:ext cx="8229600" cy="53035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386584"/>
            <a:ext cx="438912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386584"/>
            <a:ext cx="438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242316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RTKLIB Post-Processing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244144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RTKPOST applies IGS precise orbits, Saastamoinen troposphere, Klobuchar ionosphere models → high-accuracy reference positions.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99232"/>
            <a:ext cx="8229600" cy="53035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2999232"/>
            <a:ext cx="438912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999232"/>
            <a:ext cx="438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303580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Labelling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3054096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classes per epoch — CLEAN (error &lt;2m, C/N0 &gt;35 dB-Hz), WARNING, DEGRADED (error &gt;5m or C/N0 &lt;30 dB-Hz or SV count &lt;4).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611880"/>
            <a:ext cx="8229600" cy="53035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438912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611880"/>
            <a:ext cx="438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5840" y="364845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17520" y="366674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features per epoch. Z-score normalised on training data only. Sliding 30-second window → predict at 5s, 15s, 30s ahead.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224528"/>
            <a:ext cx="8229600" cy="53035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" y="4224528"/>
            <a:ext cx="438912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224528"/>
            <a:ext cx="438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05840" y="42611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Assembly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017520" y="427939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train/val/test split (70/15/15). Public datasets reserved for cross-geography evaluation only.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35 Input Variables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846320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computed per epoch (1 Hz) from RTKLIB output — no additional hardware required.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0" cy="59436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258691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Quality (8 features)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1156716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&amp; minimum C/N0 across satellites  ·  Std deviation &amp; rate of change of C/N0  ·  Mean carrier-phase lock time  ·  Cycle slip event count per epoch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0411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Geometry (8 features)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938528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satellite count, GDOP, PDOP, HDOP, VDOP  ·  Elevation angles (lowest &amp; mean)  ·  Sky coverage ratio across 8 azimuth sectors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03196"/>
            <a:ext cx="8229600" cy="597204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642616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Pseudorange &amp; Carrier Phase (6 features)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670048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Pseudorange residual mean &amp; std deviation  ·  Multipath indicator (code-carrier divergence)  ·  Cycle slip count, carrier phase residual RMS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374136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Solution (4 features)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3401568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&amp; vertical positioning error  ·  Solution type (no-fix / single / float / fixed)  ·  Epochs since last fixed RTK solution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4105655"/>
            <a:ext cx="2743200" cy="5259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&amp; Platform Context (9 features)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4133088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speed (Doppler), heading (degrees)  ·  Time of day, day of year (ionosphere proxies)  ·  Estimated sky obstruction index from 3D map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Five-Layer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846320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GNSS signals enter at Layer 1 — reliable autonomous navigation decisions emerge at Layer 5.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52144"/>
            <a:ext cx="8229600" cy="594360"/>
          </a:xfrm>
          <a:prstGeom prst="rect">
            <a:avLst/>
          </a:prstGeom>
          <a:solidFill>
            <a:srgbClr val="F0F7FF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9144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152144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11978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Data Acquisition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1453896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(ROSBAG)  ·  Drone (ROSBAG/RINEX)  ·  Cart (RINEX)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solidFill>
            <a:srgbClr val="F0F7FF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914400" cy="594360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8745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19202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Processing Pipeline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8760" y="2176272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ROSBAG extract → RINEX → RTKLIB post-processing → Feature CSV → Labelled windows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8229600" cy="594360"/>
          </a:xfrm>
          <a:prstGeom prst="rect">
            <a:avLst/>
          </a:prstGeom>
          <a:solidFill>
            <a:srgbClr val="F0F7FF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596896"/>
            <a:ext cx="914400" cy="59436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596896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26426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2898648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Transformer-LSTM: 30 s input window → 5 s / 15 s / 30 s degradation probability output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319272"/>
            <a:ext cx="8229600" cy="594360"/>
          </a:xfrm>
          <a:prstGeom prst="rect">
            <a:avLst/>
          </a:prstGeom>
          <a:solidFill>
            <a:srgbClr val="F0F7FF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319272"/>
            <a:ext cx="914400" cy="5943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31927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33649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Adaptation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3621024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EKF: GNSS noise covariance R scaled by model's 5 s degradation probability P_deg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041648"/>
            <a:ext cx="8229600" cy="594360"/>
          </a:xfrm>
          <a:prstGeom prst="rect">
            <a:avLst/>
          </a:prstGeom>
          <a:solidFill>
            <a:srgbClr val="F0F7FF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4041648"/>
            <a:ext cx="914400" cy="59436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04164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08760" y="40873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Interface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08760" y="4343400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Dash / React  ·  5 panels  ·  1 Hz update  ·  &lt; 100 ms end-to-end latency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— Transformer-LSTM Hybrid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846320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shape: (batch, 30 timesteps, 35 features)  →  Three simultaneous output heads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40296" y="1170432"/>
            <a:ext cx="118872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40296" y="1170432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 × 35)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29016" y="1856232"/>
            <a:ext cx="201168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30184" y="1170432"/>
            <a:ext cx="1737360" cy="1371600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30184" y="1170432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heads · d=64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layers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67544" y="1856232"/>
            <a:ext cx="201168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68712" y="1170432"/>
            <a:ext cx="1737360" cy="137160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68712" y="1170432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layers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hidden=128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06072" y="1856232"/>
            <a:ext cx="201168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7240" y="1170432"/>
            <a:ext cx="1920240" cy="13716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7240" y="1170432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Heads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 · 15s · 30s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softmax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Architectural Choices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136392"/>
            <a:ext cx="822960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1384" y="31912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Transformer?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3191256"/>
            <a:ext cx="6080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 learns cross-satellite relationships: blockage degrades satellites in a spatial sector simultaneously, distinguishable from single-satellite multipath.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822960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739896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LSTM Decoder?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3758184"/>
            <a:ext cx="6080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context capture; translates Transformer output into per-horizon degradation probability vectors efficiently.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70248"/>
            <a:ext cx="822960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430682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 Horizons?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4325112"/>
            <a:ext cx="6080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 → sensor weight adjustment  |  15 s → route planning update  |  5 s → emergency navigation response.  All from a single forward pass.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Protocol &amp; Class Imbalance Handling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070348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design decisions that prevent naive high accuracy while achieving meaningful degradation detection.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Data Splits (never random shuffle — adjacent epochs are correlated)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1295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Earliest data — all platforms, all scenarios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 time period — hyperparameter tuning &amp; early stopping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recent data — untouched until final 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Cross-geo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UrbanNav + KAIST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used in training — proves geographic generalisation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29489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 (~80% CLEAN / 15% WARNING / 5% DEGRADED)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287268"/>
            <a:ext cx="822960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328726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33238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</a:t>
            </a:r>
            <a:endParaRPr lang="en-US" sz="1200" dirty="0"/>
          </a:p>
        </p:txBody>
      </p:sp>
      <p:sp>
        <p:nvSpPr>
          <p:cNvPr id="8" name="Text 10"/>
          <p:cNvSpPr/>
          <p:nvPr/>
        </p:nvSpPr>
        <p:spPr>
          <a:xfrm>
            <a:off x="960120" y="3543300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down-weights easy (clean) examples and focuses training gradient on hard (degraded) examples.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881628"/>
            <a:ext cx="822960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388162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60120" y="39182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60120" y="4137660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synthetic degraded epochs by interpolating between existing degraded examples — applied to training set only.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475988"/>
            <a:ext cx="822960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57200" y="447598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60120" y="45125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Loss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0120" y="4732020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Multiplies loss for degraded class by a weight inversely proportional to its frequency (×20 if 5% of data).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 &amp;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846320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7413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generalisation test types — in-distribution, cross-platform, cross-environment, cross-geography.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90380"/>
              </p:ext>
            </p:extLst>
          </p:nvPr>
        </p:nvGraphicFramePr>
        <p:xfrm>
          <a:off x="457200" y="1059180"/>
          <a:ext cx="8229600" cy="241858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F1-Score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measure — prevents gaming by focussing only on majority 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(per class)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false alarms — alerting system when signal is actually fine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(per class)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missing a degradation event — safety-critical, must be 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Threshold-independent — shows full range of operating points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Lead Time (seconds)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real-world value metric — more lead time = safer response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 RMSE reduction (%)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Proves system improves actual navigation, not just classification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Models for Comparison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581401"/>
            <a:ext cx="8229600" cy="11794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SNR alarm  (simplest possible baseline — no temporal modelling)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on hand-crafted features  (classic ML, no temporal modelling)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LSTM without attention  (removes the Transformer; shows attention adds value)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RAIM  (industry standard for detecting existing signal faults; beating its lead time is a key result)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Studies — Every Component Earns Its Place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925834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specifically look for ablations as evidence of rigorous scientific methodology.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53288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Removed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Proves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attention (LSTM only)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encoder → simple LSTM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Cross-satellite attention adds predictive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Single-horizon (5 s only)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s and 30 s output heads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Multi-horizon output improves overall performance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 features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signal quality features (C/N0, SNR)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signal measurements are necessary, not just geometry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data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Drone and cart data excluded from training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Multi-platform training improves generalisation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SMOTE / focal 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cross-entropy, no oversampling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imbalance handling is essential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ablations evaluated on the held-out test set. Results reported with 95% confidence intervals from 5-fold cross-validation.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07530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Test Protocol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38620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vehicle + drone → Test on cart  |  Train on urban data → Test on suburban  |  Test on UrbanNav (HK) + KAIST (KR) without retraining  |  Train on Month 1 → Test on Month 2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Interface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846320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display panels  ·  Python Dash / React  ·  1 Hz update  ·  &lt; 100 ms end-to-end latency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59436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658368" cy="5943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20700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Navigation Map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1398104"/>
            <a:ext cx="7315200" cy="339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Scrolling map centred on current position. GPS track colour-coded: green (clean), amber (warning), red (degraded). Position marker pulses on alert.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92808"/>
            <a:ext cx="8229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892808"/>
            <a:ext cx="658368" cy="5943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892808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192938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Quality Monitor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21854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Scrolling time series of mean C/N0 (threshold 30 dB-Hz), satellite count (min 4), PDOP (max 6). Individual satellite C/N0 shown as background traces.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15184"/>
            <a:ext cx="8229600" cy="59436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615184"/>
            <a:ext cx="658368" cy="5943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615184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265176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 Display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2907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semicircular gauges (5 s, 15 s, 30 s) showing degradation probability 0–100%. Status banner: NOMINAL / CAUTION / ALERT.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658368" cy="5943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33756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337413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Sky Plot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3578087"/>
            <a:ext cx="7315200" cy="3264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Azimuth/elevation plot. Satellite points colour-coded by C/N0 (green &gt;40 dB-Hz, amber 30–40, red &lt;30). Blockage visually obvious as satellites disappear from azimuth sectors.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059936"/>
            <a:ext cx="8229600" cy="59436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4059936"/>
            <a:ext cx="658368" cy="5943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059936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409651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Status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34440" y="4310270"/>
            <a:ext cx="7315200" cy="316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stacked bar: GNSS % | IMU %. GNSS bar shrinks in real time as degradation probability rises. Shows the system is acting on its prediction.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4609A8E-214C-3CF2-14F4-86A35062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xmlns="" id="{AF58F401-729A-83D3-E625-39CB67F73B74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xmlns="" id="{19556145-DA88-10A0-C96A-33BA98254438}"/>
              </a:ext>
            </a:extLst>
          </p:cNvPr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Interface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xmlns="" id="{7112CA0F-254F-5997-5B5B-9FEC5B5670E4}"/>
              </a:ext>
            </a:extLst>
          </p:cNvPr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xmlns="" id="{55500F85-65B4-0AAC-1A05-CB9EB0EE44CA}"/>
              </a:ext>
            </a:extLst>
          </p:cNvPr>
          <p:cNvSpPr/>
          <p:nvPr/>
        </p:nvSpPr>
        <p:spPr>
          <a:xfrm>
            <a:off x="483705" y="4951477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D1CA55FF-324D-F32C-73FD-20E42B8D5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031" y="745990"/>
            <a:ext cx="6923108" cy="414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032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Adaptation — Dynamic EKF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199" y="5048018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199" y="719627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EKF uses fixed GNSS noise covariance. Our system adapts it proactively using the model's prediction output.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1078992"/>
            <a:ext cx="6400800" cy="1316372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1371599" y="1123421"/>
                <a:ext cx="6400801" cy="391999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6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ar-AE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</a:rPr>
                            <m:t>base</m:t>
                          </m:r>
                        </m:sub>
                      </m:sSub>
                      <m:r>
                        <a:rPr lang="ar-AE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ar-AE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ar-AE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ar-AE" sz="1600" b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16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ar-AE" sz="1600" b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ar-AE" sz="1600" b="1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1600" b="1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 b="1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</a:rPr>
                                <m:t>degraded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b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599" y="1123421"/>
                <a:ext cx="6400801" cy="391999"/>
              </a:xfrm>
              <a:prstGeom prst="rect">
                <a:avLst/>
              </a:prstGeom>
              <a:blipFill>
                <a:blip r:embed="rId3"/>
                <a:stretch>
                  <a:fillRect b="-1846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1371600" y="1507567"/>
                <a:ext cx="6400800" cy="85122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2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ar-AE" sz="12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b="1" i="1"/>
                          <m:t>base</m:t>
                        </m:r>
                      </m:sub>
                    </m:sSub>
                  </m:oMath>
                </a14:m>
                <a:r>
                  <a:rPr lang="ar-AE" sz="1200" dirty="0"/>
                  <a:t>:</a:t>
                </a:r>
                <a:r>
                  <a:rPr lang="ar-AE" sz="700" dirty="0"/>
                  <a:t> </a:t>
                </a:r>
                <a:r>
                  <a:rPr lang="en-US" sz="700" dirty="0"/>
                  <a:t> </a:t>
                </a:r>
                <a:r>
                  <a:rPr lang="en-US" sz="1100" dirty="0"/>
                  <a:t>Nominal GNSS noise covariance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ar-AE" sz="12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b="1" i="1"/>
                          <m:t>degraded</m:t>
                        </m:r>
                      </m:sub>
                    </m:sSub>
                  </m:oMath>
                </a14:m>
                <a:r>
                  <a:rPr lang="ar-AE" sz="1200" dirty="0"/>
                  <a:t>:</a:t>
                </a:r>
                <a:r>
                  <a:rPr lang="ar-AE" sz="800" dirty="0"/>
                  <a:t> </a:t>
                </a:r>
                <a:r>
                  <a:rPr lang="en-US" sz="1050" dirty="0"/>
                  <a:t>Model’s 5-second horizon degradation probability </a:t>
                </a:r>
                <a:endParaRPr lang="en-US" sz="8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200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1200" dirty="0"/>
                  <a:t>:</a:t>
                </a:r>
                <a:r>
                  <a:rPr lang="en-US" sz="800" dirty="0"/>
                  <a:t> </a:t>
                </a:r>
                <a:r>
                  <a:rPr lang="en-US" sz="1100" dirty="0"/>
                  <a:t>Tunable scaling factor </a:t>
                </a:r>
                <a:endParaRPr lang="en-US" sz="800"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507567"/>
                <a:ext cx="6400800" cy="851221"/>
              </a:xfrm>
              <a:prstGeom prst="rect">
                <a:avLst/>
              </a:prstGeom>
              <a:blipFill>
                <a:blip r:embed="rId4"/>
                <a:stretch>
                  <a:fillRect b="-1214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434008" y="2492270"/>
            <a:ext cx="822960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571168" y="2528846"/>
                <a:ext cx="4114800" cy="25208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i="1"/>
                          <m:t>degraded</m:t>
                        </m:r>
                      </m:sub>
                    </m:sSub>
                    <m:r>
                      <a:rPr lang="en-US" sz="1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2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1" dirty="0">
                    <a:solidFill>
                      <a:srgbClr val="27AE6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(clean signal)</a:t>
                </a:r>
                <a:endParaRPr lang="en-US" sz="1200" dirty="0"/>
              </a:p>
            </p:txBody>
          </p:sp>
        </mc:Choice>
        <mc:Fallback xmlns=""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68" y="2528846"/>
                <a:ext cx="4114800" cy="252088"/>
              </a:xfrm>
              <a:prstGeom prst="rect">
                <a:avLst/>
              </a:prstGeom>
              <a:blipFill>
                <a:blip r:embed="rId5"/>
                <a:stretch>
                  <a:fillRect t="-9756" b="-2195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571168" y="2784878"/>
                <a:ext cx="7863840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i="1"/>
                          <m:t>base</m:t>
                        </m:r>
                      </m:sub>
                    </m:sSub>
                  </m:oMath>
                </a14:m>
                <a:r>
                  <a:rPr lang="en-US" sz="900" dirty="0"/>
                  <a:t> </a:t>
                </a:r>
                <a:r>
                  <a:rPr lang="en-US" sz="1100" dirty="0">
                    <a:solidFill>
                      <a:srgbClr val="1C28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— </a:t>
                </a:r>
                <a:r>
                  <a:rPr lang="en-US" sz="1200" dirty="0">
                    <a:solidFill>
                      <a:srgbClr val="1C28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filter behaves normally. GNSS fully trusted</a:t>
                </a:r>
                <a:r>
                  <a:rPr lang="en-US" sz="1100" dirty="0">
                    <a:solidFill>
                      <a:srgbClr val="1C28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1100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68" y="2784878"/>
                <a:ext cx="7863840" cy="256032"/>
              </a:xfrm>
              <a:prstGeom prst="rect">
                <a:avLst/>
              </a:prstGeom>
              <a:blipFill>
                <a:blip r:embed="rId6"/>
                <a:stretch>
                  <a:fillRect t="-4762" b="-2142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434008" y="3242078"/>
            <a:ext cx="8229600" cy="619704"/>
          </a:xfrm>
          <a:prstGeom prst="rect">
            <a:avLst/>
          </a:prstGeom>
          <a:solidFill>
            <a:srgbClr val="FFF9E6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571167" y="3242078"/>
                <a:ext cx="6280206" cy="5410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i="1"/>
                          <m:t>degraded</m:t>
                        </m:r>
                      </m:sub>
                    </m:sSub>
                    <m:r>
                      <a:rPr lang="en-US" sz="1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000" b="1" dirty="0">
                    <a:solidFill>
                      <a:srgbClr val="FFC000"/>
                    </a:solidFill>
                  </a:rPr>
                  <a:t> </a:t>
                </a:r>
                <a:r>
                  <a:rPr lang="en-US" sz="1200" b="1" dirty="0">
                    <a:solidFill>
                      <a:srgbClr val="FFC000"/>
                    </a:solidFill>
                  </a:rPr>
                  <a:t>(Warning State)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2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i="1"/>
                          <m:t>base</m:t>
                        </m:r>
                      </m:sub>
                    </m:sSub>
                  </m:oMath>
                </a14:m>
                <a:r>
                  <a:rPr lang="en-US" sz="1000" b="0" dirty="0"/>
                  <a:t> </a:t>
                </a:r>
                <a:r>
                  <a:rPr lang="en-US" sz="1000" dirty="0">
                    <a:solidFill>
                      <a:srgbClr val="1C28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— </a:t>
                </a:r>
                <a:r>
                  <a:rPr lang="en-US" sz="1200" dirty="0">
                    <a:solidFill>
                      <a:srgbClr val="1C28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filter reduces GNSS weight, begins relying on IMU dead-reckoning</a:t>
                </a:r>
                <a:r>
                  <a:rPr lang="en-US" sz="1000" dirty="0">
                    <a:solidFill>
                      <a:srgbClr val="1C28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1000" b="0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67" y="3242078"/>
                <a:ext cx="6280206" cy="541020"/>
              </a:xfrm>
              <a:prstGeom prst="rect">
                <a:avLst/>
              </a:prstGeom>
              <a:blipFill>
                <a:blip r:embed="rId7"/>
                <a:stretch>
                  <a:fillRect b="-2134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434008" y="3995264"/>
            <a:ext cx="8229600" cy="64935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4008" y="47183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the system complete: the AI prediction directly closes the loop into the navigation stack.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2">
                <a:extLst>
                  <a:ext uri="{FF2B5EF4-FFF2-40B4-BE49-F238E27FC236}">
                    <a16:creationId xmlns:a16="http://schemas.microsoft.com/office/drawing/2014/main" xmlns="" id="{8578BE49-A789-96A7-DD50-4D75B505CD2F}"/>
                  </a:ext>
                </a:extLst>
              </p:cNvPr>
              <p:cNvSpPr/>
              <p:nvPr/>
            </p:nvSpPr>
            <p:spPr>
              <a:xfrm>
                <a:off x="571167" y="3995263"/>
                <a:ext cx="8002989" cy="60284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i="1"/>
                          <m:t>degraded</m:t>
                        </m:r>
                      </m:sub>
                    </m:sSub>
                    <m:r>
                      <a:rPr lang="en-US" sz="1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1000" b="1" dirty="0">
                    <a:solidFill>
                      <a:srgbClr val="FFC000"/>
                    </a:solidFill>
                  </a:rPr>
                  <a:t> </a:t>
                </a:r>
                <a:r>
                  <a:rPr lang="en-US" sz="1200" b="1" dirty="0">
                    <a:solidFill>
                      <a:srgbClr val="C039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(near-certain degradation)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2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i="1"/>
                          <m:t>base</m:t>
                        </m:r>
                      </m:sub>
                    </m:sSub>
                  </m:oMath>
                </a14:m>
                <a:r>
                  <a:rPr lang="en-US" sz="1000" b="0" dirty="0"/>
                  <a:t> </a:t>
                </a:r>
                <a:r>
                  <a:rPr lang="en-US" sz="1000" dirty="0">
                    <a:solidFill>
                      <a:srgbClr val="1C28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— </a:t>
                </a:r>
                <a:r>
                  <a:rPr lang="en-US" sz="1200" dirty="0">
                    <a:solidFill>
                      <a:srgbClr val="1C28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filter relies almost entirely on IMU. Transition completed before degradation reaches positioning</a:t>
                </a:r>
                <a:r>
                  <a:rPr lang="en-US" sz="1000" dirty="0">
                    <a:solidFill>
                      <a:srgbClr val="1C283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1000" b="0" dirty="0"/>
              </a:p>
            </p:txBody>
          </p:sp>
        </mc:Choice>
        <mc:Fallback xmlns="">
          <p:sp>
            <p:nvSpPr>
              <p:cNvPr id="20" name="Text 12">
                <a:extLst>
                  <a:ext uri="{FF2B5EF4-FFF2-40B4-BE49-F238E27FC236}">
                    <a16:creationId xmlns:a16="http://schemas.microsoft.com/office/drawing/2014/main" id="{8578BE49-A789-96A7-DD50-4D75B505CD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67" y="3995263"/>
                <a:ext cx="8002989" cy="602844"/>
              </a:xfrm>
              <a:prstGeom prst="rect">
                <a:avLst/>
              </a:prstGeom>
              <a:blipFill>
                <a:blip r:embed="rId8"/>
                <a:stretch>
                  <a:fillRect b="-1515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Claims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962276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8229600" cy="86868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594360" cy="8686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86868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Multi-Horizon Simultaneous Prediction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17043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predicts single-step ahead (typically 1 second). We simultaneously predict at 5 s, 15 s, and 30 s from a single forward pass — enabling graduated autonomous response.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8229600" cy="86868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594360" cy="8686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87452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192024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Cross-Satellite Attention Mechanism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22199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GNSS degradation prediction paper explicitly models relationships between satellites simultaneously. Our Transformer attention weights are interpretable evidence of model decisions.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594360" cy="8686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29718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Training for Generalisation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27355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published papers train and test on a single platform type. We train across three platforms and demonstrate cross-platform and cross-geography generalisation on public datasets.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594360" cy="8686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402336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Sensor Fusion Adaptation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432511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sensor fusion detects GNSS degradation after it occurs, then reacts. Our EKF increases GNSS noise covariance before degradation affects positioning — the first demonstrated proactive adaptation.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Responsibilities &amp; Presentation Division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406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owns specific components and is fully accountable for their delivery.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471211"/>
              </p:ext>
            </p:extLst>
          </p:nvPr>
        </p:nvGraphicFramePr>
        <p:xfrm>
          <a:off x="457200" y="1143000"/>
          <a:ext cx="8321040" cy="3798558"/>
        </p:xfrm>
        <a:graphic>
          <a:graphicData uri="http://schemas.openxmlformats.org/drawingml/2006/table">
            <a:tbl>
              <a:tblPr/>
              <a:tblGrid>
                <a:gridCol w="22693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252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264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367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 / Delivers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52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Rashid Md Harun Or (LS2525219)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&amp; Baseline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review, baseline models (threshold, RF, LSTM, RAIM), related work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52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Ingeriyinkindi</a:t>
                      </a: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Claudine (LS2525236)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 &amp; Evaluation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GNSS collection (Scenarios A–E), evaluation metrics, results tables, public dataset 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52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Ogunlade Joshua (LS2525237)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Processing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ROSBAG extraction, RTKLIB pipeline, feature extraction code, dataset labelling &amp; QC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52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Mustapha Ibrahim (LS2525238)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&amp; EKF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dashboard (all 5 panels), dynamic EKF implementation, live system testing &amp;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52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Ojerinde Joel Segun (LS2525253)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&amp; Integration Lead (Lead Author)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Transformer-LSTM architecture, training pipeline, ablation studies, generalization testing,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— 4-Week Compressed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915827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1-month total  ·  2 concurrent coursework  ·  Critical path: data collection (Wk 1) → model training (Wk 3)  ·  Target: IEEE T-ITS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956816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Days 1–7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Data Extraction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609477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software installed · Room 3058 visit · GitHub repo created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96312"/>
            <a:ext cx="1956816" cy="85039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433894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ROSBAG extraction + RTKLIB running on supervisor vehicle &amp; drone datasets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Joshua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392424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4068" y="343609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A &amp; D collected (5 reps each) · RTKLIB processed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4032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Claudine, Joshua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68880" y="1097280"/>
            <a:ext cx="1956816" cy="502920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68880" y="10972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Days 8–14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135331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Collection &amp; Features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68880" y="1600200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05456" y="1551299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B, C, E collected · Feature CSVs generated · Labelling complete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60320" y="2240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Claudine, Joshua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68880" y="2496312"/>
            <a:ext cx="1956816" cy="85039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51176" y="24373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baseline models trained &amp; results recorded (RF, LSTM, threshold, RAIM)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60320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68880" y="3392424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51176" y="3334247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drafted (30 papers) · UrbanNav &amp; RobotCar processed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560320" y="4032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Harun, Claudine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80560" y="1097280"/>
            <a:ext cx="1956816" cy="50292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80560" y="10972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Days 15–21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80560" y="135331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System Build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80560" y="1600200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0" y="1563624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Transformer-LSTM trained · First test-set results · Ablation studies done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0" y="2240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2496312"/>
            <a:ext cx="1956816" cy="85039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0" y="2456655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tests on UrbanNav &amp; RobotCar · KAIST on arrival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0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Joel, Claudine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480560" y="3392424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67428" y="33375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EKF in simulation · Dashboard all 5 panels with data playback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0" y="4032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Mustapha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92240" y="1097280"/>
            <a:ext cx="1956816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92240" y="10972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·  Days 22–28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92240" y="135331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Demo &amp; Paper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92240" y="1600200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528816" y="161848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campus test: cart + receiver + dashboard · Screen capture video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583680" y="2240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92240" y="2496312"/>
            <a:ext cx="1956816" cy="85039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83680" y="2532888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first draft written · Each member fills their sections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583680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leads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92240" y="3392424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528816" y="3402363"/>
            <a:ext cx="1883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team review · Presentation rehearsed · Submission-ready draft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583680" y="4032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4384548"/>
            <a:ext cx="8229600" cy="3895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Risk: Scenarios A &amp; D (Day 5–7) are the critical path — all model work depends on them. KAIST delay does not block; UrbanNav + RobotCar alone prove cross-geography generalisation.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8113" y="822960"/>
            <a:ext cx="64008" cy="4187356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174A"/>
          </a:solidFill>
          <a:ln w="12700">
            <a:solidFill>
              <a:srgbClr val="0017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26774" y="1097280"/>
            <a:ext cx="2570922" cy="3268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Transformer-LSTM hybrid for multi-horizon GNSS degradation prediction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35-feature engineering pipeline from RTKLIB observables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EKF that adapts sensor fusion before degradation hits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5-panel monitoring dashboard at &lt;100 ms latency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383280" y="777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Results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24200" y="1087540"/>
            <a:ext cx="2727960" cy="294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&gt; 0.85 on in-distribution test set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Cross-geography F1 within 10% of in-distribution performance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lead time of 15–30 s ahead of positioning failure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RMSE reduction vs. GNSS-only baseline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80760" y="777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1170432"/>
            <a:ext cx="2651760" cy="294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Camera-based environmental context as additional feature group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BeiDou-specific constellation analysis for Chinese urban environments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Larger-scale multi-city urban study for broader generalisation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2: full real-time system integration and field demonstration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4507396"/>
            <a:ext cx="7772400" cy="5029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450739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2842</Words>
  <Application>Microsoft Office PowerPoint</Application>
  <PresentationFormat>On-screen Show (16:9)</PresentationFormat>
  <Paragraphs>429</Paragraphs>
  <Slides>23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Prediction of GNSS Signal Degradation for Autonomous Driving</dc:title>
  <dc:subject>PptxGenJS Presentation</dc:subject>
  <dc:creator>Ojerinde Joel Segun &amp; Team — Beihang University 2025</dc:creator>
  <cp:lastModifiedBy>Lenovo</cp:lastModifiedBy>
  <cp:revision>16</cp:revision>
  <dcterms:created xsi:type="dcterms:W3CDTF">2026-04-24T07:17:25Z</dcterms:created>
  <dcterms:modified xsi:type="dcterms:W3CDTF">2026-05-22T14:13:03Z</dcterms:modified>
</cp:coreProperties>
</file>