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9144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iha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420624" cy="420624"/>
          </a:xfrm>
          <a:prstGeom prst="rect">
            <a:avLst/>
          </a:prstGeom>
        </p:spPr>
      </p:pic>
      <p:pic>
        <p:nvPicPr>
          <p:cNvPr id="5" name="Picture 4" descr="rcsst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73152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" y="27432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46888"/>
            <a:ext cx="80284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C3F7"/>
                </a:solidFill>
              </a:rPr>
              <a:t>Ojerinde Joel Segun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02336"/>
            <a:ext cx="80284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ML Architecture · EKF Integration · Inference Pipeline   |   RCSSTEAP / Beihang University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My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896112"/>
            <a:ext cx="4398264" cy="1371600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Designed the Transformer-LSTM hybrid: 2-layer Transformer (8 heads, d=128)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+ 2-layer LSTM (hidden=256) for causal trend modelling.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Implemented training pipeline, Focal Loss, class weighting, temperature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scaling (T=0.4023) reducing ECE from 0.114 → 0.068.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Ran ablation experiments confirming each component's independent contribution.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Built 9-state Adaptive EKF: prediction-driven R(t), Joseph form, Huber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robust variant, and Bootstrap Particle Filter.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Inference pipeline: 0.0449 ms/sample (all 3 horizons in one forward pass).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2340864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Ablation Study  (+5 s horizon)</a:t>
            </a:r>
          </a:p>
        </p:txBody>
      </p:sp>
      <p:pic>
        <p:nvPicPr>
          <p:cNvPr id="12" name="Picture 11" descr="fig04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50" y="2578608"/>
            <a:ext cx="2994019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" y="4498848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Ablation — each component contributes independently to Macro-F1, MCC, and DEGRADED-F1.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7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Classification Results  (held-out test set)</a:t>
            </a:r>
          </a:p>
        </p:txBody>
      </p:sp>
      <p:pic>
        <p:nvPicPr>
          <p:cNvPr id="15" name="Picture 14" descr="confusion_matrices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300" y="896112"/>
            <a:ext cx="3595679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36007" y="2816352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Row-normalised confusion matrices at +5 s / +15 s / +30 s. CLEAN recall &gt;0.97; DEGRADED recall 0.85 → 0.73 as horizon extends.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7" y="312724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Inference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6007" y="3364991"/>
            <a:ext cx="4398264" cy="585216"/>
          </a:xfrm>
          <a:prstGeom prst="rect">
            <a:avLst/>
          </a:prstGeom>
          <a:solidFill>
            <a:srgbClr val="E3F2FD"/>
          </a:solidFill>
          <a:ln w="12700">
            <a:solidFill>
              <a:srgbClr val="003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3893"/>
                </a:solidFill>
              </a:rPr>
              <a:t>0.0449 ms / sample  —  all three horizons in one forward pass</a:t>
            </a:r>
          </a:p>
          <a:p>
            <a:r>
              <a:rPr sz="800" b="0">
                <a:solidFill>
                  <a:srgbClr val="1A2436"/>
                </a:solidFill>
              </a:rPr>
              <a:t>9.46× faster than three separate RandomForest models (RF = 0.4248 ms × 3)</a:t>
            </a:r>
          </a:p>
          <a:p>
            <a:r>
              <a:rPr sz="750" b="0">
                <a:solidFill>
                  <a:srgbClr val="446480"/>
                </a:solidFill>
              </a:rPr>
              <a:t>Model: 17.81 MB  ·  1,456,652 parameters  ·  within 10 Hz AV-compute budget</a:t>
            </a:r>
          </a:p>
        </p:txBody>
      </p:sp>
      <p:pic>
        <p:nvPicPr>
          <p:cNvPr id="19" name="Picture 18" descr="fig12_laten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754" y="4023359"/>
            <a:ext cx="166677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36007" y="5212079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Inference latency comparison — SENTINEL (0.0449 ms) vs RF (0.4248 ms×3) vs XGBoost.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