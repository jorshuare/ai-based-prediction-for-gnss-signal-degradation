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</p:sldIdLst>
  <p:sldSz cy="5143500" cx="9144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DACEAA-4FC1-498A-BBD2-8D1A79F532A1}">
  <a:tblStyle styleId="{77DACEAA-4FC1-498A-BBD2-8D1A79F532A1}" styleName="Table_0">
    <a:wholeTbl>
      <a:tcTxStyle b="off" i="off">
        <a:font>
          <a:latin typeface="Times"/>
          <a:ea typeface="Times"/>
          <a:cs typeface="Time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EF0"/>
          </a:solidFill>
        </a:fill>
      </a:tcStyle>
    </a:wholeTbl>
    <a:band1H>
      <a:tcTxStyle/>
      <a:tcStyle>
        <a:fill>
          <a:solidFill>
            <a:srgbClr val="CCDBE1"/>
          </a:solidFill>
        </a:fill>
      </a:tcStyle>
    </a:band1H>
    <a:band2H>
      <a:tcTxStyle/>
    </a:band2H>
    <a:band1V>
      <a:tcTxStyle/>
      <a:tcStyle>
        <a:fill>
          <a:solidFill>
            <a:srgbClr val="CCDBE1"/>
          </a:solidFill>
        </a:fill>
      </a:tcStyle>
    </a:band1V>
    <a:band2V>
      <a:tcTxStyle/>
    </a:band2V>
    <a:lastCol>
      <a:tcTxStyle b="on" i="off">
        <a:font>
          <a:latin typeface="Times"/>
          <a:ea typeface="Times"/>
          <a:cs typeface="Time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"/>
          <a:ea typeface="Times"/>
          <a:cs typeface="Time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"/>
          <a:ea typeface="Times"/>
          <a:cs typeface="Time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imes"/>
          <a:ea typeface="Times"/>
          <a:cs typeface="Time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ArialBlack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f08c0b4a_0_4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2f08c0b4a_0_40:notes"/>
          <p:cNvSpPr/>
          <p:nvPr>
            <p:ph idx="2" type="sldImg"/>
          </p:nvPr>
        </p:nvSpPr>
        <p:spPr>
          <a:xfrm>
            <a:off x="1714417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g3f2f08c0b4a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1"/>
            <a:ext cx="6400800" cy="1314451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"/>
              <a:buNone/>
              <a:defRPr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86108" y="457078"/>
            <a:ext cx="7771783" cy="85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86108" y="1486128"/>
            <a:ext cx="7771783" cy="3085902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476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  <a:defRPr/>
            </a:lvl1pPr>
            <a:lvl2pPr indent="-2476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–"/>
              <a:defRPr/>
            </a:lvl2pPr>
            <a:lvl3pPr indent="-2476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  <a:defRPr/>
            </a:lvl3pPr>
            <a:lvl4pPr indent="-2476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–"/>
              <a:defRPr/>
            </a:lvl4pPr>
            <a:lvl5pPr indent="-2476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5pPr>
            <a:lvl6pPr indent="-2476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6pPr>
            <a:lvl7pPr indent="-2476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7pPr>
            <a:lvl8pPr indent="-2476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8pPr>
            <a:lvl9pPr indent="-2476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6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1" sz="8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1"/>
          </a:xfrm>
          <a:prstGeom prst="rect">
            <a:avLst/>
          </a:prstGeom>
          <a:noFill/>
          <a:ln>
            <a:noFill/>
          </a:ln>
        </p:spPr>
        <p:txBody>
          <a:bodyPr anchorCtr="0" anchor="b" bIns="42175" lIns="84325" spcFirstLastPara="1" rIns="84325" wrap="square" tIns="42175">
            <a:no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None/>
              <a:defRPr sz="4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86108" y="457078"/>
            <a:ext cx="7771783" cy="85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86197" y="1486099"/>
            <a:ext cx="3866753" cy="3085903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603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Char char="•"/>
              <a:defRPr sz="500"/>
            </a:lvl1pPr>
            <a:lvl2pPr indent="-2603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Char char="–"/>
              <a:defRPr sz="500"/>
            </a:lvl2pPr>
            <a:lvl3pPr indent="-2540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•"/>
              <a:defRPr sz="400"/>
            </a:lvl3pPr>
            <a:lvl4pPr indent="-2476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–"/>
              <a:defRPr sz="300"/>
            </a:lvl4pPr>
            <a:lvl5pPr indent="-2476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5pPr>
            <a:lvl6pPr indent="-2476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6pPr>
            <a:lvl7pPr indent="-2476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7pPr>
            <a:lvl8pPr indent="-2476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8pPr>
            <a:lvl9pPr indent="-2476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591050" y="1486099"/>
            <a:ext cx="3866753" cy="3085903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603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Char char="•"/>
              <a:defRPr sz="500"/>
            </a:lvl1pPr>
            <a:lvl2pPr indent="-2603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Char char="–"/>
              <a:defRPr sz="500"/>
            </a:lvl2pPr>
            <a:lvl3pPr indent="-2540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•"/>
              <a:defRPr sz="400"/>
            </a:lvl3pPr>
            <a:lvl4pPr indent="-2476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–"/>
              <a:defRPr sz="300"/>
            </a:lvl4pPr>
            <a:lvl5pPr indent="-2476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5pPr>
            <a:lvl6pPr indent="-2476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6pPr>
            <a:lvl7pPr indent="-2476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7pPr>
            <a:lvl8pPr indent="-2476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8pPr>
            <a:lvl9pPr indent="-2476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2175" lIns="84325" spcFirstLastPara="1" rIns="84325" wrap="square" tIns="42175">
            <a:no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None/>
              <a:defRPr b="1" sz="5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None/>
              <a:defRPr b="1" sz="4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7"/>
            <a:ext cx="4040188" cy="296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603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Char char="•"/>
              <a:defRPr sz="500"/>
            </a:lvl1pPr>
            <a:lvl2pPr indent="-2540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–"/>
              <a:defRPr sz="400"/>
            </a:lvl2pPr>
            <a:lvl3pPr indent="-2476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•"/>
              <a:defRPr sz="300"/>
            </a:lvl3pPr>
            <a:lvl4pPr indent="-2476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–"/>
              <a:defRPr sz="300"/>
            </a:lvl4pPr>
            <a:lvl5pPr indent="-2476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5pPr>
            <a:lvl6pPr indent="-2476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6pPr>
            <a:lvl7pPr indent="-2476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7pPr>
            <a:lvl8pPr indent="-2476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8pPr>
            <a:lvl9pPr indent="-2476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2175" lIns="84325" spcFirstLastPara="1" rIns="84325" wrap="square" tIns="42175">
            <a:no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None/>
              <a:defRPr b="1" sz="5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None/>
              <a:defRPr b="1" sz="4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b="1" sz="3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7"/>
            <a:ext cx="4041775" cy="296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603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Char char="•"/>
              <a:defRPr sz="500"/>
            </a:lvl1pPr>
            <a:lvl2pPr indent="-2540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–"/>
              <a:defRPr sz="400"/>
            </a:lvl2pPr>
            <a:lvl3pPr indent="-2476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•"/>
              <a:defRPr sz="300"/>
            </a:lvl3pPr>
            <a:lvl4pPr indent="-2476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–"/>
              <a:defRPr sz="300"/>
            </a:lvl4pPr>
            <a:lvl5pPr indent="-2476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5pPr>
            <a:lvl6pPr indent="-2476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6pPr>
            <a:lvl7pPr indent="-2476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7pPr>
            <a:lvl8pPr indent="-2476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8pPr>
            <a:lvl9pPr indent="-2476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Char char="»"/>
              <a:defRPr sz="3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86108" y="457078"/>
            <a:ext cx="7771783" cy="85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1" sz="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667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"/>
              <a:buChar char="•"/>
              <a:defRPr sz="600"/>
            </a:lvl1pPr>
            <a:lvl2pPr indent="-2603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Char char="–"/>
              <a:defRPr sz="500"/>
            </a:lvl2pPr>
            <a:lvl3pPr indent="-2603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"/>
              <a:buChar char="•"/>
              <a:defRPr sz="500"/>
            </a:lvl3pPr>
            <a:lvl4pPr indent="-2540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–"/>
              <a:defRPr sz="400"/>
            </a:lvl4pPr>
            <a:lvl5pPr indent="-2540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»"/>
              <a:defRPr sz="400"/>
            </a:lvl5pPr>
            <a:lvl6pPr indent="-2540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»"/>
              <a:defRPr sz="400"/>
            </a:lvl6pPr>
            <a:lvl7pPr indent="-2540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»"/>
              <a:defRPr sz="400"/>
            </a:lvl7pPr>
            <a:lvl8pPr indent="-2540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»"/>
              <a:defRPr sz="400"/>
            </a:lvl8pPr>
            <a:lvl9pPr indent="-2540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imes"/>
              <a:buChar char="»"/>
              <a:defRPr sz="4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8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2"/>
            <a:ext cx="5486400" cy="425053"/>
          </a:xfrm>
          <a:prstGeom prst="rect">
            <a:avLst/>
          </a:prstGeom>
          <a:noFill/>
          <a:ln>
            <a:noFill/>
          </a:ln>
        </p:spPr>
        <p:txBody>
          <a:bodyPr anchorCtr="0" anchor="b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1" sz="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1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5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Times"/>
              <a:buNone/>
              <a:defRPr sz="3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Times"/>
              <a:buNone/>
              <a:defRPr sz="2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86108" y="457078"/>
            <a:ext cx="7771783" cy="85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3029049" y="-856813"/>
            <a:ext cx="3085902" cy="7771783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476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  <a:defRPr/>
            </a:lvl1pPr>
            <a:lvl2pPr indent="-2476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–"/>
              <a:defRPr/>
            </a:lvl2pPr>
            <a:lvl3pPr indent="-2476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  <a:defRPr/>
            </a:lvl3pPr>
            <a:lvl4pPr indent="-2476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–"/>
              <a:defRPr/>
            </a:lvl4pPr>
            <a:lvl5pPr indent="-2476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5pPr>
            <a:lvl6pPr indent="-2476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6pPr>
            <a:lvl7pPr indent="-2476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7pPr>
            <a:lvl8pPr indent="-2476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8pPr>
            <a:lvl9pPr indent="-2476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29051" y="1543249"/>
            <a:ext cx="4114802" cy="1942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524198" y="-380801"/>
            <a:ext cx="4114802" cy="579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2476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  <a:defRPr/>
            </a:lvl1pPr>
            <a:lvl2pPr indent="-2476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–"/>
              <a:defRPr/>
            </a:lvl2pPr>
            <a:lvl3pPr indent="-2476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  <a:defRPr/>
            </a:lvl3pPr>
            <a:lvl4pPr indent="-2476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–"/>
              <a:defRPr/>
            </a:lvl4pPr>
            <a:lvl5pPr indent="-2476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5pPr>
            <a:lvl6pPr indent="-2476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6pPr>
            <a:lvl7pPr indent="-2476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7pPr>
            <a:lvl8pPr indent="-2476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8pPr>
            <a:lvl9pPr indent="-2476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Char char="»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6108" y="457078"/>
            <a:ext cx="7771783" cy="85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75" lIns="84325" spcFirstLastPara="1" rIns="84325" wrap="square" tIns="421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4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6108" y="1486128"/>
            <a:ext cx="7771783" cy="3085902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"/>
              <a:buChar char="•"/>
              <a:defRPr b="0" i="0" sz="3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937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"/>
              <a:buChar char="–"/>
              <a:defRPr b="0" i="0" sz="2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3683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Char char="•"/>
              <a:defRPr b="0" i="0" sz="2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3492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–"/>
              <a:defRPr b="0" i="0" sz="19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3492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»"/>
              <a:defRPr b="0" i="0" sz="19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3492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»"/>
              <a:defRPr b="0" i="0" sz="19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-3492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»"/>
              <a:defRPr b="0" i="0" sz="19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-3492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»"/>
              <a:defRPr b="0" i="0" sz="19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-3492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»"/>
              <a:defRPr b="0" i="0" sz="19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86108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3642" y="4686424"/>
            <a:ext cx="2896716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3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2850" y="4686424"/>
            <a:ext cx="1905041" cy="342684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25" spcFirstLastPara="1" rIns="84325" wrap="square" tIns="421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11.jpg"/><Relationship Id="rId10" Type="http://schemas.openxmlformats.org/officeDocument/2006/relationships/image" Target="../media/image9.png"/><Relationship Id="rId21" Type="http://schemas.openxmlformats.org/officeDocument/2006/relationships/image" Target="../media/image15.png"/><Relationship Id="rId13" Type="http://schemas.openxmlformats.org/officeDocument/2006/relationships/image" Target="../media/image3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.png"/><Relationship Id="rId15" Type="http://schemas.openxmlformats.org/officeDocument/2006/relationships/image" Target="../media/image4.png"/><Relationship Id="rId14" Type="http://schemas.openxmlformats.org/officeDocument/2006/relationships/image" Target="../media/image18.png"/><Relationship Id="rId17" Type="http://schemas.openxmlformats.org/officeDocument/2006/relationships/image" Target="../media/image8.png"/><Relationship Id="rId16" Type="http://schemas.openxmlformats.org/officeDocument/2006/relationships/image" Target="../media/image7.png"/><Relationship Id="rId5" Type="http://schemas.openxmlformats.org/officeDocument/2006/relationships/image" Target="../media/image1.png"/><Relationship Id="rId19" Type="http://schemas.openxmlformats.org/officeDocument/2006/relationships/image" Target="../media/image19.jpg"/><Relationship Id="rId6" Type="http://schemas.openxmlformats.org/officeDocument/2006/relationships/image" Target="../media/image12.png"/><Relationship Id="rId18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6140125" y="603800"/>
            <a:ext cx="2942700" cy="4523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3094726" y="606225"/>
            <a:ext cx="2918700" cy="4523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70726" y="606225"/>
            <a:ext cx="2918700" cy="4523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0861" y="1346017"/>
            <a:ext cx="1376925" cy="83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9200" y="1351051"/>
            <a:ext cx="1463001" cy="82278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/>
          <p:nvPr/>
        </p:nvSpPr>
        <p:spPr>
          <a:xfrm>
            <a:off x="8067560" y="1425810"/>
            <a:ext cx="9069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5" lIns="17575" spcFirstLastPara="1" rIns="17575" wrap="square" tIns="87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106742" y="2013189"/>
            <a:ext cx="2872500" cy="72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8775" lIns="17575" spcFirstLastPara="1" rIns="17575" wrap="square" tIns="87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149,662 labelled epochs · Training: Hangzhou &amp; Hong Kong · Zero-shot test: Tokyo · 9+ receiver types </a:t>
            </a:r>
            <a:endParaRPr sz="300"/>
          </a:p>
        </p:txBody>
      </p:sp>
      <p:sp>
        <p:nvSpPr>
          <p:cNvPr id="137" name="Google Shape;137;p25"/>
          <p:cNvSpPr/>
          <p:nvPr/>
        </p:nvSpPr>
        <p:spPr>
          <a:xfrm>
            <a:off x="88505" y="4163352"/>
            <a:ext cx="2872500" cy="72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8775" lIns="17575" spcFirstLastPara="1" rIns="17575" wrap="square" tIns="87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Multi-horizon classification (held-out test, n=1,686): strong +5 s performance that degrades gracefully with horizon.</a:t>
            </a:r>
            <a:endParaRPr sz="300"/>
          </a:p>
        </p:txBody>
      </p:sp>
      <p:sp>
        <p:nvSpPr>
          <p:cNvPr id="138" name="Google Shape;138;p25"/>
          <p:cNvSpPr/>
          <p:nvPr/>
        </p:nvSpPr>
        <p:spPr>
          <a:xfrm>
            <a:off x="99450" y="3024710"/>
            <a:ext cx="2846400" cy="73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8775" lIns="17575" spcFirstLastPara="1" rIns="17575" wrap="square" tIns="87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Classification </a:t>
            </a:r>
            <a:r>
              <a:rPr b="1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across</a:t>
            </a:r>
            <a:r>
              <a:rPr b="1" i="0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all horizons on the </a:t>
            </a:r>
            <a:r>
              <a:rPr b="1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held-out test set.</a:t>
            </a:r>
            <a:endParaRPr b="1" i="0" sz="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140650" y="3883500"/>
            <a:ext cx="17385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 1: Row-normalized confusion matrices</a:t>
            </a:r>
            <a:r>
              <a:rPr b="0"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(+5 s, +15 s, +30 s). CLEAN recall stays above 0.97 </a:t>
            </a: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all</a:t>
            </a:r>
            <a:r>
              <a:rPr b="0"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horizons; DEGRADED recall falls from 0.85 </a:t>
            </a: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0.73</a:t>
            </a:r>
            <a:r>
              <a:rPr b="0"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the </a:t>
            </a: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horizon extends.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6140850" y="4877800"/>
            <a:ext cx="2935800" cy="63900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anchorCtr="0" anchor="t" bIns="8775" lIns="17575" spcFirstLastPara="1" rIns="17575" wrap="square" tIns="8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41" name="Google Shape;141;p25"/>
          <p:cNvSpPr txBox="1"/>
          <p:nvPr/>
        </p:nvSpPr>
        <p:spPr>
          <a:xfrm>
            <a:off x="6183150" y="4964472"/>
            <a:ext cx="2829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We thank our supervisor Dr. Ahmed Wasiu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, and the RCSSTEAP program</a:t>
            </a:r>
            <a:r>
              <a:rPr i="0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 at Beihang University for guidance, equipment, and field-collection support throughout the SENTINEL-GNSS pilot project.</a:t>
            </a:r>
            <a:endParaRPr sz="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3107924" y="2518964"/>
            <a:ext cx="2872500" cy="72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8775" lIns="17575" spcFirstLastPara="1" rIns="17575" wrap="square" tIns="87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 Analysis</a:t>
            </a:r>
            <a:endParaRPr sz="300"/>
          </a:p>
        </p:txBody>
      </p:sp>
      <p:sp>
        <p:nvSpPr>
          <p:cNvPr id="143" name="Google Shape;143;p25"/>
          <p:cNvSpPr txBox="1"/>
          <p:nvPr/>
        </p:nvSpPr>
        <p:spPr>
          <a:xfrm>
            <a:off x="3116000" y="2210725"/>
            <a:ext cx="1463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4: SENTINEL-GNSS end-to-end pipeline—GNSS features + IMU + wheel encoder, fused through the Adaptive EKF to deliver position, alerts, and AV-planner inputs.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6153606" y="4293028"/>
            <a:ext cx="2918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At the time of this project, SENTINEL-GNSS is the first to predict GNSS degradation multi-horizon (5–30 s), achieving Macro-F1 = 0.821, cross-city DEGRADED F1 of 0.75 vs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0.148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 for RF, and 48.8% RMSE reduction at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0.0449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 ms inference. While RF outperforms SENTINEL in-domain (F1 0.926 vs 0.821), cross-city generalisation is the deployment-relevant metric where deep learning holds a decisive advantage.</a:t>
            </a:r>
            <a:endParaRPr sz="400"/>
          </a:p>
        </p:txBody>
      </p:sp>
      <p:sp>
        <p:nvSpPr>
          <p:cNvPr id="145" name="Google Shape;145;p25"/>
          <p:cNvSpPr/>
          <p:nvPr/>
        </p:nvSpPr>
        <p:spPr>
          <a:xfrm>
            <a:off x="1613575" y="940825"/>
            <a:ext cx="1333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5" lIns="17575" spcFirstLastPara="1" rIns="17575" wrap="square" tIns="8775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GNSS is the only drift-free absolute position source for autonomous vehicles. At 60 km/h, a 5-second positioning gap can place the vehicle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in the wrong` lane or</a:t>
            </a:r>
            <a:r>
              <a:rPr b="0" i="0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 miss a junction.  In urban areas GNSS fails silently: NLOS multipath injects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10 to</a:t>
            </a:r>
            <a:r>
              <a:rPr b="0" i="0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 200 m errors while the receiver still reports a 'valid' fix. Existing monitors (RAIM,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Q-codes, and</a:t>
            </a:r>
            <a:r>
              <a:rPr b="0" i="0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 ML classifiers) are reactive, acting only after degradation begins. SENTINEL-GNSS instead predicts degradation 5 to 30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s in advance,</a:t>
            </a:r>
            <a:r>
              <a:rPr b="0" i="0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 giving the controller time to pre-activate dead reckoning.</a:t>
            </a:r>
            <a:endParaRPr sz="300"/>
          </a:p>
        </p:txBody>
      </p:sp>
      <p:pic>
        <p:nvPicPr>
          <p:cNvPr id="146" name="Google Shape;14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57" y="45937"/>
            <a:ext cx="497174" cy="49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265" y="47173"/>
            <a:ext cx="494626" cy="494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/>
        </p:nvSpPr>
        <p:spPr>
          <a:xfrm>
            <a:off x="1959578" y="67039"/>
            <a:ext cx="47700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AI-Based Proactive Prediction Of GNSS Signal Degradation for Autonomous Vehicle Navigation</a:t>
            </a:r>
            <a:endParaRPr sz="300"/>
          </a:p>
        </p:txBody>
      </p:sp>
      <p:sp>
        <p:nvSpPr>
          <p:cNvPr id="149" name="Google Shape;149;p25"/>
          <p:cNvSpPr/>
          <p:nvPr/>
        </p:nvSpPr>
        <p:spPr>
          <a:xfrm>
            <a:off x="1184350" y="0"/>
            <a:ext cx="6923400" cy="560400"/>
          </a:xfrm>
          <a:prstGeom prst="rect">
            <a:avLst/>
          </a:prstGeom>
          <a:solidFill>
            <a:srgbClr val="00439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75" lIns="17725" spcFirstLastPara="1" rIns="17725" wrap="square" tIns="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highlight>
                <a:srgbClr val="426CA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1279350" y="62550"/>
            <a:ext cx="67881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AI-Based Proactive Prediction Of GNSS Signal Degradation For Autonomous Vehicle Navigation</a:t>
            </a:r>
            <a:endParaRPr sz="300"/>
          </a:p>
        </p:txBody>
      </p:sp>
      <p:sp>
        <p:nvSpPr>
          <p:cNvPr id="151" name="Google Shape;151;p25"/>
          <p:cNvSpPr txBox="1"/>
          <p:nvPr/>
        </p:nvSpPr>
        <p:spPr>
          <a:xfrm>
            <a:off x="1766250" y="225074"/>
            <a:ext cx="5786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Ojerinde Joel Segun, </a:t>
            </a:r>
            <a:r>
              <a:rPr lang="en-GB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GB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Mustapha Ibrahim Ishola,</a:t>
            </a:r>
            <a:r>
              <a:rPr lang="en-GB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GB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Ogunlade Joshua Oluwaseun,</a:t>
            </a:r>
            <a:r>
              <a:rPr lang="en-GB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GB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Ingeriyinkindi Claudine,</a:t>
            </a:r>
            <a:r>
              <a:rPr lang="en-GB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GB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Rashid Md Harun Or</a:t>
            </a:r>
            <a:endParaRPr i="0" sz="7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2334097" y="360010"/>
            <a:ext cx="4634700" cy="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Regional Centre for Space Science and Technology Education in Asia and the Pacific | </a:t>
            </a:r>
            <a:r>
              <a:rPr lang="en-GB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Beihang University</a:t>
            </a:r>
            <a:endParaRPr i="0" sz="6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p25"/>
          <p:cNvGraphicFramePr/>
          <p:nvPr/>
        </p:nvGraphicFramePr>
        <p:xfrm>
          <a:off x="109481" y="44601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{77DACEAA-4FC1-498A-BBD2-8D1A79F532A1}</a:tableStyleId>
              </a:tblPr>
              <a:tblGrid>
                <a:gridCol w="290825"/>
                <a:gridCol w="325075"/>
                <a:gridCol w="458975"/>
                <a:gridCol w="238700"/>
              </a:tblGrid>
              <a:tr h="14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Horizon</a:t>
                      </a:r>
                      <a:endParaRPr sz="200"/>
                    </a:p>
                  </a:txBody>
                  <a:tcPr marT="7250" marB="7250" marR="15475" marL="23225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Macro-F1</a:t>
                      </a:r>
                      <a:endParaRPr sz="200"/>
                    </a:p>
                  </a:txBody>
                  <a:tcPr marT="7250" marB="7250" marR="15475" marL="23225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DEGRADED-F1</a:t>
                      </a:r>
                      <a:endParaRPr sz="200"/>
                    </a:p>
                  </a:txBody>
                  <a:tcPr marT="7250" marB="7250" marR="15475" marL="23225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MCC</a:t>
                      </a:r>
                      <a:endParaRPr sz="200"/>
                    </a:p>
                  </a:txBody>
                  <a:tcPr marT="7250" marB="7250" marR="15475" marL="23225" anchor="ctr">
                    <a:solidFill>
                      <a:srgbClr val="003366"/>
                    </a:solidFill>
                  </a:tcPr>
                </a:tc>
              </a:tr>
              <a:tr h="14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 s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0.821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0.718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0.773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</a:tr>
              <a:tr h="14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+15 s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0.741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0.583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0.691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DAE5F2"/>
                    </a:solidFill>
                  </a:tcPr>
                </a:tc>
              </a:tr>
              <a:tr h="14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 s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0.783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0.629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5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0.731</a:t>
                      </a:r>
                      <a:endParaRPr b="1" sz="4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Google Shape;154;p25"/>
          <p:cNvGraphicFramePr/>
          <p:nvPr/>
        </p:nvGraphicFramePr>
        <p:xfrm>
          <a:off x="7750662" y="14254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{77DACEAA-4FC1-498A-BBD2-8D1A79F532A1}</a:tableStyleId>
              </a:tblPr>
              <a:tblGrid>
                <a:gridCol w="470300"/>
                <a:gridCol w="506100"/>
                <a:gridCol w="269375"/>
              </a:tblGrid>
              <a:tr h="14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200"/>
                    </a:p>
                  </a:txBody>
                  <a:tcPr marT="7250" marB="7250" marR="15475" marL="23225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Environment</a:t>
                      </a:r>
                      <a:endParaRPr sz="200"/>
                    </a:p>
                  </a:txBody>
                  <a:tcPr marT="7250" marB="7250" marR="15475" marL="23225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 red.</a:t>
                      </a:r>
                      <a:endParaRPr sz="200"/>
                    </a:p>
                  </a:txBody>
                  <a:tcPr marT="7250" marB="7250" marR="15475" marL="23225" anchor="ctr">
                    <a:solidFill>
                      <a:srgbClr val="003366"/>
                    </a:solidFill>
                  </a:tcPr>
                </a:tc>
              </a:tr>
              <a:tr h="2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EKF Fixed-R + SENTINEL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Trimble Shinjuku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48.8%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</a:tr>
              <a:tr h="14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Huber EKF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u-blox Shinjuku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25.2%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DAE5F2"/>
                    </a:solidFill>
                  </a:tcPr>
                </a:tc>
              </a:tr>
              <a:tr h="14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Student-t PF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Odaiba harbour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00" u="none" cap="none" strike="noStrike">
                          <a:solidFill>
                            <a:srgbClr val="1C2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40.1%</a:t>
                      </a:r>
                      <a:endParaRPr b="1" sz="200"/>
                    </a:p>
                  </a:txBody>
                  <a:tcPr marT="7250" marB="7250" marR="15475" marL="23225" anchor="ctr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25"/>
          <p:cNvSpPr txBox="1"/>
          <p:nvPr/>
        </p:nvSpPr>
        <p:spPr>
          <a:xfrm>
            <a:off x="3116000" y="847625"/>
            <a:ext cx="28746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Model Architecture: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Transformer Encoder (2 layers, 8 heads, d = 128) + 2-layer LSTM (hidden = 256), operating on a 30 × 37 feature window (37 engineered GNSS features). Multi-horizon forecasting for +5 s, +15 s, and +30 s is performed in a single forward pass.</a:t>
            </a:r>
            <a:endParaRPr sz="400">
              <a:solidFill>
                <a:srgbClr val="1C22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Model Size &amp; Performance: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1.46M parameters ·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0.0449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 ms per sample inference latency · unified multi-horizon output (no per-horizon re-inference).</a:t>
            </a:r>
            <a:endParaRPr sz="400">
              <a:solidFill>
                <a:srgbClr val="1C22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Deployment Efficiency: </a:t>
            </a:r>
            <a:r>
              <a:rPr lang="en-GB" sz="400">
                <a:solidFill>
                  <a:srgbClr val="1C222B"/>
                </a:solidFill>
                <a:latin typeface="Calibri"/>
                <a:ea typeface="Calibri"/>
                <a:cs typeface="Calibri"/>
                <a:sym typeface="Calibri"/>
              </a:rPr>
              <a:t>Achieves 9.46× faster inference than equivalent ensemble tree-based baselines while remaining within a 10 Hz real-time vehicle compute budget.</a:t>
            </a:r>
            <a:endParaRPr sz="400">
              <a:solidFill>
                <a:srgbClr val="1C22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112" y="889293"/>
            <a:ext cx="1520025" cy="81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450" y="3143575"/>
            <a:ext cx="1825527" cy="70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23650" y="2643405"/>
            <a:ext cx="1363377" cy="1005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43700" y="1367525"/>
            <a:ext cx="1424098" cy="65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_3_sources.jpg" id="160" name="Google Shape;160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750" y="2128000"/>
            <a:ext cx="1265998" cy="8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6243700" y="2041775"/>
            <a:ext cx="1482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8: (a) Estimated trajectory (SENTINEL Adaptive EKF, navy) vs. raw GNSS (grey), with epochs. (b) Classifier output P(DEGRADED) over time</a:t>
            </a:r>
            <a:endParaRPr sz="300">
              <a:solidFill>
                <a:schemeClr val="dk1"/>
              </a:solidFill>
            </a:endParaRPr>
          </a:p>
        </p:txBody>
      </p:sp>
      <p:pic>
        <p:nvPicPr>
          <p:cNvPr descr="fig02_perclass_f1.png" id="162" name="Google Shape;162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946800" y="3143575"/>
            <a:ext cx="999048" cy="70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1941475" y="3872975"/>
            <a:ext cx="999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 2: Per-class F1 at +5 s / +15 s / +30 s horizons. CLEAN stays above 0.97; DEGRADED recall falls from 0.85 to 0.73 as horizon extends.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6152175" y="4664450"/>
            <a:ext cx="2918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">
                <a:solidFill>
                  <a:srgbClr val="1A2436"/>
                </a:solidFill>
                <a:latin typeface="Arial"/>
                <a:ea typeface="Arial"/>
                <a:cs typeface="Arial"/>
                <a:sym typeface="Arial"/>
              </a:rPr>
              <a:t>[1] L.-T. Hsu et al. "UrbanNav: An Open-Sourced Multisensory Dataset for Benchmarking Positioning Algorithms Designed for Urban Areas." ION GNSS+ 2021.</a:t>
            </a:r>
            <a:endParaRPr sz="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">
                <a:solidFill>
                  <a:srgbClr val="1A2436"/>
                </a:solidFill>
                <a:latin typeface="Arial"/>
                <a:ea typeface="Arial"/>
                <a:cs typeface="Arial"/>
                <a:sym typeface="Arial"/>
              </a:rPr>
              <a:t>[2] A. Vaswani et al. "Attention Is All You Need." Advances in Neural Information Processing Systems (NeurIPS) 2017.</a:t>
            </a:r>
            <a:endParaRPr sz="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">
                <a:solidFill>
                  <a:srgbClr val="1A2436"/>
                </a:solidFill>
                <a:latin typeface="Arial"/>
                <a:ea typeface="Arial"/>
                <a:cs typeface="Arial"/>
                <a:sym typeface="Arial"/>
              </a:rPr>
              <a:t>[3] P.D. Groves. Principles of GNSS, Inertial, and Multisensor Integrated Navigation Systems. Artech House, 2nd ed., 2013.</a:t>
            </a:r>
            <a:endParaRPr sz="300"/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55375" y="2195050"/>
            <a:ext cx="2613951" cy="7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/>
          <p:nvPr/>
        </p:nvSpPr>
        <p:spPr>
          <a:xfrm>
            <a:off x="69033" y="645018"/>
            <a:ext cx="2918700" cy="186900"/>
          </a:xfrm>
          <a:prstGeom prst="rect">
            <a:avLst/>
          </a:prstGeom>
          <a:solidFill>
            <a:srgbClr val="00439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75" lIns="17725" spcFirstLastPara="1" rIns="17725" wrap="square" tIns="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highlight>
                <a:srgbClr val="426CA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6132925" y="2972350"/>
            <a:ext cx="2918700" cy="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 9: </a:t>
            </a: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Trimble — Shinjuku, (b) u-blox — Shinjuku, (c) Odaiba Harbour. Bars compare overall vs. during-blockage RMSE for GNSS raw, CV KF, EKF fixed-R, EKF adaptive (SENTINEL), EKF Huber (robust), and PF Student-t (robust); starred bars indicate the best-performing method per site during blockage. 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1113700" y="648363"/>
            <a:ext cx="8586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Introduction</a:t>
            </a:r>
            <a:endParaRPr sz="1000"/>
          </a:p>
        </p:txBody>
      </p:sp>
      <p:sp>
        <p:nvSpPr>
          <p:cNvPr id="169" name="Google Shape;169;p25"/>
          <p:cNvSpPr/>
          <p:nvPr/>
        </p:nvSpPr>
        <p:spPr>
          <a:xfrm>
            <a:off x="68554" y="1772200"/>
            <a:ext cx="2918700" cy="186900"/>
          </a:xfrm>
          <a:prstGeom prst="rect">
            <a:avLst/>
          </a:prstGeom>
          <a:solidFill>
            <a:srgbClr val="00439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75" lIns="17725" spcFirstLastPara="1" rIns="17725" wrap="square" tIns="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highlight>
                <a:srgbClr val="426CA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942088" y="1772050"/>
            <a:ext cx="12018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Multi-City Dataset</a:t>
            </a:r>
            <a:endParaRPr sz="1000"/>
          </a:p>
        </p:txBody>
      </p:sp>
      <p:sp>
        <p:nvSpPr>
          <p:cNvPr id="171" name="Google Shape;171;p25"/>
          <p:cNvSpPr/>
          <p:nvPr/>
        </p:nvSpPr>
        <p:spPr>
          <a:xfrm>
            <a:off x="3088991" y="648313"/>
            <a:ext cx="2918700" cy="186900"/>
          </a:xfrm>
          <a:prstGeom prst="rect">
            <a:avLst/>
          </a:prstGeom>
          <a:solidFill>
            <a:srgbClr val="00439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75" lIns="17725" spcFirstLastPara="1" rIns="17725" wrap="square" tIns="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highlight>
                <a:srgbClr val="426CA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3903088" y="655992"/>
            <a:ext cx="1407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System Architecture</a:t>
            </a:r>
            <a:endParaRPr sz="1000"/>
          </a:p>
        </p:txBody>
      </p:sp>
      <p:sp>
        <p:nvSpPr>
          <p:cNvPr id="173" name="Google Shape;173;p25"/>
          <p:cNvSpPr/>
          <p:nvPr/>
        </p:nvSpPr>
        <p:spPr>
          <a:xfrm>
            <a:off x="6147900" y="656000"/>
            <a:ext cx="2935800" cy="186900"/>
          </a:xfrm>
          <a:prstGeom prst="rect">
            <a:avLst/>
          </a:prstGeom>
          <a:solidFill>
            <a:srgbClr val="00439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75" lIns="17725" spcFirstLastPara="1" rIns="17725" wrap="square" tIns="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highlight>
                <a:srgbClr val="426CA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6894016" y="669956"/>
            <a:ext cx="1678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Prediction-Informed EKF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6134525" y="4087499"/>
            <a:ext cx="2942700" cy="186900"/>
          </a:xfrm>
          <a:prstGeom prst="rect">
            <a:avLst/>
          </a:prstGeom>
          <a:solidFill>
            <a:srgbClr val="00439F"/>
          </a:solidFill>
          <a:ln cap="flat" cmpd="sng" w="96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25" lIns="18000" spcFirstLastPara="1" rIns="18000" wrap="square" tIns="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8"/>
              <a:buFont typeface="Arial"/>
              <a:buNone/>
            </a:pPr>
            <a:r>
              <a:t/>
            </a:r>
            <a:endParaRPr b="0" i="0" sz="508" u="none" cap="none" strike="noStrike">
              <a:solidFill>
                <a:schemeClr val="dk1"/>
              </a:solidFill>
              <a:highlight>
                <a:srgbClr val="426CA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7028789" y="4093349"/>
            <a:ext cx="1102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25" lIns="18000" spcFirstLastPara="1" rIns="18000" wrap="square" tIns="9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Conclusions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4574309" y="3706806"/>
            <a:ext cx="13332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7: </a:t>
            </a: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Ablation across architecture variants (Macro-F1, MCC, DEGRADED-F1). Each component contributes independently to performance.</a:t>
            </a:r>
            <a:endParaRPr i="1"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32250" y="4257200"/>
            <a:ext cx="1376924" cy="73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4567268" y="2232036"/>
            <a:ext cx="1424100" cy="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5: SENTINEL-GNSS  Model architecture 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1532249" y="4994100"/>
            <a:ext cx="14631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 3: Class label distribution across the full dataset. DEGRADED epochs are rare, motivating Focal Loss and class-weighted training.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3116363" y="3977463"/>
            <a:ext cx="2872500" cy="72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8775" lIns="17575" spcFirstLastPara="1" rIns="17575" wrap="square" tIns="87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Zero-shot Tokyo: SENTINEL (F1 0.75) vs Random Forest (F1 </a:t>
            </a:r>
            <a:r>
              <a:rPr b="1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0.148</a:t>
            </a:r>
            <a:r>
              <a:rPr b="1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00"/>
          </a:p>
        </p:txBody>
      </p:sp>
      <p:sp>
        <p:nvSpPr>
          <p:cNvPr id="182" name="Google Shape;182;p25"/>
          <p:cNvSpPr txBox="1"/>
          <p:nvPr/>
        </p:nvSpPr>
        <p:spPr>
          <a:xfrm>
            <a:off x="3104975" y="4882100"/>
            <a:ext cx="1201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</a:t>
            </a: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Cross-city DEGRADED-class F1 at +5 s. SENTINEL 0.75 versus RF </a:t>
            </a: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0.148</a:t>
            </a:r>
            <a:r>
              <a:rPr b="0"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5x generalization gap that widens further at +15 s and +30 s.</a:t>
            </a:r>
            <a:endParaRPr sz="400">
              <a:solidFill>
                <a:schemeClr val="dk1"/>
              </a:solidFill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06750" y="4088775"/>
            <a:ext cx="1245775" cy="76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88098" y="4296520"/>
            <a:ext cx="14631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5" lIns="17575" spcFirstLastPara="1" rIns="17575" wrap="square" tIns="8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1:  </a:t>
            </a:r>
            <a:r>
              <a:rPr b="0" i="1" lang="en-GB" sz="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Macro-F1 and MCC across prediction horizons with bootstrap 95% CI. Performance degrades as the horizon extends.</a:t>
            </a:r>
            <a:endParaRPr b="0" baseline="3000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6145021" y="3110595"/>
            <a:ext cx="2942700" cy="79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8775" lIns="17575" spcFirstLastPara="1" rIns="17575" wrap="square" tIns="87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300"/>
          </a:p>
        </p:txBody>
      </p:sp>
      <p:sp>
        <p:nvSpPr>
          <p:cNvPr id="186" name="Google Shape;186;p25"/>
          <p:cNvSpPr txBox="1"/>
          <p:nvPr/>
        </p:nvSpPr>
        <p:spPr>
          <a:xfrm>
            <a:off x="7375750" y="867650"/>
            <a:ext cx="16542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KF</a:t>
            </a: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trusts every GNSS fix equally, even during blockage.</a:t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Adaptive EKF</a:t>
            </a: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conditions R on SENTINEL's forecast: when P(DEGRADED) &gt; </a:t>
            </a: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measurement noise inflates to (</a:t>
            </a: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m</a:t>
            </a: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)², letting the filter fall back on the motion model instead of a corrupted fix.</a:t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Joseph form keeps P provably positive semi-definite even under large, fast R changes. This is critical when R jumps by orders of magnitude between epochs.</a:t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effect: the EKF starts distrusting GNSS before position error appears, not after.</a:t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129950" y="2643414"/>
            <a:ext cx="1295068" cy="10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3076943" y="3705062"/>
            <a:ext cx="1424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6: </a:t>
            </a: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Top-15 feature saliency at +5 s. C/N₀ strength and position uncertainty dominate; the model relies on physically meaningful GNSS indicators.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4422325" y="4083100"/>
            <a:ext cx="15594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Trained only on Hangzhou + Hong Kong, tested zero-shot on Tokyo which is a city with different skyline geometry, satellite visibility, and receiver hardware.</a:t>
            </a:r>
            <a:endParaRPr sz="4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Random Forest memorizes site-specific noise patterns and collapses (Macro-F1 0.926 in-domain → DEGRADED F1 0.148 cross-city) the moment DEGRADED signal appears in an unseen city.</a:t>
            </a:r>
            <a:endParaRPr sz="4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SENTINEL-GNSS holds (DEGRADED F1 0.75 cross-city), because it learns degradation dynamics — signal trend, DOP drift, C/N₀ decay — rather than site-specific thresholds.</a:t>
            </a:r>
            <a:endParaRPr sz="4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Deployment implication: no per-city retraining needed before rollout.</a:t>
            </a:r>
            <a:endParaRPr sz="4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7011100" y="4866951"/>
            <a:ext cx="1102500" cy="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025" lIns="18000" spcFirstLastPara="1" rIns="18000" wrap="square" tIns="9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chemeClr val="lt1"/>
                </a:solidFill>
              </a:rPr>
              <a:t>Acknowledgement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91" name="Google Shape;191;p25"/>
          <p:cNvSpPr txBox="1"/>
          <p:nvPr/>
        </p:nvSpPr>
        <p:spPr>
          <a:xfrm flipH="1" rot="10800000">
            <a:off x="6140975" y="4583775"/>
            <a:ext cx="2935800" cy="63900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anchorCtr="0" anchor="t" bIns="8775" lIns="17575" spcFirstLastPara="1" rIns="17575" wrap="square" tIns="8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pic>
        <p:nvPicPr>
          <p:cNvPr id="192" name="Google Shape;192;p2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62300" y="3212696"/>
            <a:ext cx="1463101" cy="77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649100" y="3212925"/>
            <a:ext cx="1407898" cy="766238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6167681" y="3990174"/>
            <a:ext cx="1424100" cy="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Fig.10: Dashboard system architecture and data flow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7599006" y="3996075"/>
            <a:ext cx="1490700" cy="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" lIns="17725" spcFirstLastPara="1" rIns="17725" wrap="square" tIns="88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11: </a:t>
            </a:r>
            <a:r>
              <a:rPr i="1" lang="en-GB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showing real-time GNSS degradation prediction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6968792" y="4574505"/>
            <a:ext cx="1102500" cy="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025" lIns="18000" spcFirstLastPara="1" rIns="18000" wrap="square" tIns="9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">
                <a:solidFill>
                  <a:schemeClr val="lt1"/>
                </a:solidFill>
              </a:rPr>
              <a:t>References</a:t>
            </a:r>
            <a:endParaRPr b="1" sz="400">
              <a:solidFill>
                <a:schemeClr val="lt1"/>
              </a:solidFill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19">
            <a:alphaModFix/>
          </a:blip>
          <a:srcRect b="0" l="0" r="0" t="31068"/>
          <a:stretch/>
        </p:blipFill>
        <p:spPr>
          <a:xfrm>
            <a:off x="8127900" y="29700"/>
            <a:ext cx="994575" cy="53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349732" y="857375"/>
            <a:ext cx="965683" cy="49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5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398159" y="2127975"/>
            <a:ext cx="1559474" cy="832824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