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43891200" cy="3291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3891200" cy="32918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01168"/>
            <a:ext cx="43891200" cy="30175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145536"/>
            <a:ext cx="43891200" cy="73152"/>
          </a:xfrm>
          <a:prstGeom prst="rect">
            <a:avLst/>
          </a:prstGeom>
          <a:solidFill>
            <a:srgbClr val="00A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eihan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75488"/>
            <a:ext cx="1920240" cy="1737360"/>
          </a:xfrm>
          <a:prstGeom prst="rect">
            <a:avLst/>
          </a:prstGeom>
        </p:spPr>
      </p:pic>
      <p:pic>
        <p:nvPicPr>
          <p:cNvPr id="6" name="Picture 5" descr="rcsste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532048" y="475488"/>
            <a:ext cx="1920240" cy="1737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743200" y="365760"/>
            <a:ext cx="38404800" cy="102412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7000" b="1" i="0">
                <a:solidFill>
                  <a:srgbClr val="FFFFFF"/>
                </a:solidFill>
              </a:rPr>
              <a:t>SENTINEL-GNSS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353312"/>
            <a:ext cx="38404800" cy="7315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00A0E9"/>
                </a:solidFill>
              </a:rPr>
              <a:t>Proactive Multi-Horizon Prediction of GNSS Signal Degradation for Autonomous Vehicle Navigation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2048256"/>
            <a:ext cx="38404800" cy="49377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FFFFFF"/>
                </a:solidFill>
              </a:rPr>
              <a:t>Ojerinde Joel  ·  Ogunlade Joshua  ·  Mustapha Ibrahim  ·  Ingeriyinkindi Claudine  ·  Rashid Md Harun 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2523744"/>
            <a:ext cx="38404800" cy="3657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900" b="0" i="0">
                <a:solidFill>
                  <a:srgbClr val="B4D2F0"/>
                </a:solidFill>
              </a:rPr>
              <a:t>H3I, Beihang University (RCSSTEAP)  ·  Hangzhou, China  · 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" y="3474720"/>
            <a:ext cx="14118335" cy="47548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" y="3538727"/>
            <a:ext cx="13862303" cy="4114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Background &amp; Motivation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" y="3950208"/>
            <a:ext cx="14118335" cy="2834640"/>
          </a:xfrm>
          <a:prstGeom prst="rect">
            <a:avLst/>
          </a:prstGeom>
          <a:solidFill>
            <a:srgbClr val="EBF4FC"/>
          </a:solidFill>
          <a:ln w="19050">
            <a:solidFill>
              <a:srgbClr val="005B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4078224"/>
            <a:ext cx="13789151" cy="257860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003366"/>
                </a:solidFill>
              </a:rPr>
              <a:t>GNSS is the only drift-free absolute position source for autonomous vehicles.</a:t>
            </a:r>
          </a:p>
          <a:p>
            <a:pPr algn="l">
              <a:spcBef>
                <a:spcPts val="500"/>
              </a:spcBef>
            </a:pPr>
            <a:r>
              <a:rPr sz="2000" b="0">
                <a:solidFill>
                  <a:srgbClr val="373737"/>
                </a:solidFill>
              </a:rPr>
              <a:t>At 60 km/h a vehicle covers 17 m/s — a 5-second positioning gap can place it in the wrong lane or miss a junction entirely.</a:t>
            </a:r>
          </a:p>
          <a:p>
            <a:pPr algn="l"/>
            <a:r>
              <a:rPr sz="800" b="0">
                <a:solidFill>
                  <a:srgbClr val="373737"/>
                </a:solidFill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2100" b="1">
                <a:solidFill>
                  <a:srgbClr val="003366"/>
                </a:solidFill>
              </a:rPr>
              <a:t>GNSS fails silently in urban environments:</a:t>
            </a:r>
          </a:p>
          <a:p>
            <a:pPr algn="l"/>
            <a:r>
              <a:rPr sz="2000" b="0">
                <a:solidFill>
                  <a:srgbClr val="373737"/>
                </a:solidFill>
              </a:rPr>
              <a:t>  •  NLOS multipath from buildings injects 10–200 m position errors</a:t>
            </a:r>
          </a:p>
          <a:p>
            <a:pPr algn="l"/>
            <a:r>
              <a:rPr sz="2000" b="0">
                <a:solidFill>
                  <a:srgbClr val="373737"/>
                </a:solidFill>
              </a:rPr>
              <a:t>  •  The receiver continues to output a ‘valid’ fix with no error flag</a:t>
            </a:r>
          </a:p>
          <a:p>
            <a:pPr algn="l"/>
            <a:r>
              <a:rPr sz="800" b="0">
                <a:solidFill>
                  <a:srgbClr val="373737"/>
                </a:solidFill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2100" b="1">
                <a:solidFill>
                  <a:srgbClr val="C81E1E"/>
                </a:solidFill>
              </a:rPr>
              <a:t>Existing monitors (RAIM, RTKLIB Q-codes, ML classifiers) are REACTIVE:</a:t>
            </a:r>
          </a:p>
          <a:p>
            <a:pPr algn="l"/>
            <a:r>
              <a:rPr sz="2000" b="0">
                <a:solidFill>
                  <a:srgbClr val="C81E1E"/>
                </a:solidFill>
              </a:rPr>
              <a:t>  they report degradation only after it begins — zero preparation time.</a:t>
            </a:r>
          </a:p>
          <a:p>
            <a:pPr algn="l"/>
            <a:r>
              <a:rPr sz="800" b="0">
                <a:solidFill>
                  <a:srgbClr val="373737"/>
                </a:solidFill>
              </a:rPr>
              <a:t/>
            </a:r>
          </a:p>
          <a:p>
            <a:pPr algn="l"/>
            <a:r>
              <a:rPr sz="2100" b="1">
                <a:solidFill>
                  <a:srgbClr val="148C1E"/>
                </a:solidFill>
              </a:rPr>
              <a:t>SENTINEL-GNSS predicts degradation 5–30 s in advance,</a:t>
            </a:r>
          </a:p>
          <a:p>
            <a:pPr algn="l"/>
            <a:r>
              <a:rPr sz="2100" b="1">
                <a:solidFill>
                  <a:srgbClr val="148C1E"/>
                </a:solidFill>
              </a:rPr>
              <a:t>giving the vehicle controller time to pre-activate dead reckoning.</a:t>
            </a:r>
          </a:p>
        </p:txBody>
      </p:sp>
      <p:pic>
        <p:nvPicPr>
          <p:cNvPr id="15" name="Picture 14" descr="fig13_reactive_vs_proactiv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6903720"/>
            <a:ext cx="14118335" cy="420624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75488" y="11137391"/>
            <a:ext cx="13935455" cy="42062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005BAC"/>
                </a:solidFill>
              </a:rPr>
              <a:t>Fig. 1: Reactive monitoring gives 0 s warning. SENTINEL gives 5–30 s advance notice, enabling pre-emptive action before the worst GPS measurements arrive.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4048" y="11695176"/>
            <a:ext cx="14118335" cy="47548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064" y="11759184"/>
            <a:ext cx="13862303" cy="4114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Dataset &amp; Feature Engineering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" y="12170663"/>
            <a:ext cx="14118335" cy="2487168"/>
          </a:xfrm>
          <a:prstGeom prst="rect">
            <a:avLst/>
          </a:prstGeom>
          <a:solidFill>
            <a:srgbClr val="EBF4FC"/>
          </a:solidFill>
          <a:ln w="19050">
            <a:solidFill>
              <a:srgbClr val="005B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12298680"/>
            <a:ext cx="13789151" cy="223113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003366"/>
                </a:solidFill>
              </a:rPr>
              <a:t>149,662 labelled epochs across 4 cities and 9+ receiver types:</a:t>
            </a:r>
          </a:p>
          <a:p>
            <a:pPr algn="l">
              <a:spcBef>
                <a:spcPts val="500"/>
              </a:spcBef>
            </a:pPr>
            <a:r>
              <a:rPr sz="2000" b="0">
                <a:solidFill>
                  <a:srgbClr val="373737"/>
                </a:solidFill>
              </a:rPr>
              <a:t>  •  Hangzhou (Beihang campus): 5 scenarios, Septentrio Mosaic-X5C</a:t>
            </a:r>
          </a:p>
          <a:p>
            <a:pPr algn="l"/>
            <a:r>
              <a:rPr sz="2000" b="0">
                <a:solidFill>
                  <a:srgbClr val="373737"/>
                </a:solidFill>
              </a:rPr>
              <a:t>  •  Hong Kong (UrbanNav): Medium / Deep / Harsh / Tunnel environments</a:t>
            </a:r>
          </a:p>
          <a:p>
            <a:pPr algn="l"/>
            <a:r>
              <a:rPr sz="2000" b="0">
                <a:solidFill>
                  <a:srgbClr val="373737"/>
                </a:solidFill>
              </a:rPr>
              <a:t>  •  Tokyo (held-out): Shinjuku Trimble, Shinjuku u-blox F9P, Odaiba</a:t>
            </a:r>
          </a:p>
          <a:p>
            <a:pPr algn="l"/>
            <a:r>
              <a:rPr sz="800" b="0">
                <a:solidFill>
                  <a:srgbClr val="373737"/>
                </a:solidFill>
              </a:rPr>
              <a:t/>
            </a:r>
          </a:p>
          <a:p>
            <a:pPr algn="l"/>
            <a:r>
              <a:rPr sz="2000" b="0">
                <a:solidFill>
                  <a:srgbClr val="373737"/>
                </a:solidFill>
              </a:rPr>
              <a:t>37 features in 7 groups: position quality, signal strength, satellite geometry,</a:t>
            </a:r>
          </a:p>
          <a:p>
            <a:pPr algn="l"/>
            <a:r>
              <a:rPr sz="2000" b="0">
                <a:solidFill>
                  <a:srgbClr val="373737"/>
                </a:solidFill>
              </a:rPr>
              <a:t>pseudorange, temporal patterns, atmospheric delays, receiver status.</a:t>
            </a:r>
          </a:p>
          <a:p>
            <a:pPr algn="l"/>
            <a:r>
              <a:rPr sz="600" b="0">
                <a:solidFill>
                  <a:srgbClr val="373737"/>
                </a:solidFill>
              </a:rPr>
              <a:t/>
            </a:r>
          </a:p>
          <a:p>
            <a:pPr algn="l"/>
            <a:r>
              <a:rPr sz="2000" b="1">
                <a:solidFill>
                  <a:srgbClr val="005BAC"/>
                </a:solidFill>
              </a:rPr>
              <a:t>Key: receiver_tier encodes hardware class so one model handles</a:t>
            </a:r>
          </a:p>
          <a:p>
            <a:pPr algn="l"/>
            <a:r>
              <a:rPr sz="2000" b="1">
                <a:solidFill>
                  <a:srgbClr val="005BAC"/>
                </a:solidFill>
              </a:rPr>
              <a:t>Septentrio (48 dB-Hz baseline) and u-blox (38 dB-Hz) correctly.</a:t>
            </a:r>
          </a:p>
        </p:txBody>
      </p:sp>
      <p:pic>
        <p:nvPicPr>
          <p:cNvPr id="21" name="Picture 20" descr="fig10_dataset_composit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048" y="14776703"/>
            <a:ext cx="14118335" cy="338328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75488" y="18187415"/>
            <a:ext cx="13935455" cy="42062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005BAC"/>
                </a:solidFill>
              </a:rPr>
              <a:t>Fig. 2: Dataset composition across cities and receiver types. Tokyo is strictly held-out for cross-city evaluation.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4048" y="18745199"/>
            <a:ext cx="14118335" cy="47548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2064" y="18809207"/>
            <a:ext cx="13862303" cy="4114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End-to-End System Pipeline</a:t>
            </a:r>
          </a:p>
        </p:txBody>
      </p:sp>
      <p:pic>
        <p:nvPicPr>
          <p:cNvPr id="25" name="Picture 24" descr="system_pipelin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4048" y="19220687"/>
            <a:ext cx="14118335" cy="1271016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75488" y="31958280"/>
            <a:ext cx="13935455" cy="42062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005BAC"/>
                </a:solidFill>
              </a:rPr>
              <a:t>Fig. 3: SENTINEL wires the degradation forecast into the EKF measurement noise R, producing accurate trajectories during NLOS windows.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4886431" y="3474720"/>
            <a:ext cx="14118335" cy="47548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5014447" y="3538727"/>
            <a:ext cx="13862303" cy="4114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SENTINEL-GNSS Architecture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4886431" y="3950208"/>
            <a:ext cx="14118335" cy="2423160"/>
          </a:xfrm>
          <a:prstGeom prst="rect">
            <a:avLst/>
          </a:prstGeom>
          <a:solidFill>
            <a:srgbClr val="EBF4FC"/>
          </a:solidFill>
          <a:ln w="19050">
            <a:solidFill>
              <a:srgbClr val="005B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5051023" y="4078224"/>
            <a:ext cx="13789151" cy="216712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003366"/>
                </a:solidFill>
              </a:rPr>
              <a:t>Hybrid Transformer–LSTM exploiting two temporal scales:</a:t>
            </a:r>
          </a:p>
          <a:p>
            <a:pPr algn="l"/>
            <a:r>
              <a:rPr sz="600" b="0">
                <a:solidFill>
                  <a:srgbClr val="373737"/>
                </a:solidFill>
              </a:rPr>
              <a:t/>
            </a:r>
          </a:p>
          <a:p>
            <a:pPr algn="l">
              <a:spcBef>
                <a:spcPts val="300"/>
              </a:spcBef>
            </a:pPr>
            <a:r>
              <a:rPr sz="2100" b="1">
                <a:solidFill>
                  <a:srgbClr val="005BAC"/>
                </a:solidFill>
              </a:rPr>
              <a:t>Transformer encoder (global patterns):</a:t>
            </a:r>
          </a:p>
          <a:p>
            <a:pPr algn="l"/>
            <a:r>
              <a:rPr sz="2000" b="0">
                <a:solidFill>
                  <a:srgbClr val="373737"/>
                </a:solidFill>
              </a:rPr>
              <a:t>  2 layers · 8 heads · d_model=128 · d_ff=512 · dropout=0.3</a:t>
            </a:r>
          </a:p>
          <a:p>
            <a:pPr algn="l"/>
            <a:r>
              <a:rPr sz="2000" b="0">
                <a:solidFill>
                  <a:srgbClr val="373737"/>
                </a:solidFill>
              </a:rPr>
              <a:t>  Captures satellite rise/set and PDOP trends across the 30-s window.</a:t>
            </a:r>
          </a:p>
          <a:p>
            <a:pPr algn="l"/>
            <a:r>
              <a:rPr sz="600" b="0">
                <a:solidFill>
                  <a:srgbClr val="373737"/>
                </a:solidFill>
              </a:rPr>
              <a:t/>
            </a:r>
          </a:p>
          <a:p>
            <a:pPr algn="l">
              <a:spcBef>
                <a:spcPts val="300"/>
              </a:spcBef>
            </a:pPr>
            <a:r>
              <a:rPr sz="2100" b="1">
                <a:solidFill>
                  <a:srgbClr val="005BAC"/>
                </a:solidFill>
              </a:rPr>
              <a:t>LSTM (sequential dynamics):</a:t>
            </a:r>
          </a:p>
          <a:p>
            <a:pPr algn="l"/>
            <a:r>
              <a:rPr sz="2000" b="0">
                <a:solidFill>
                  <a:srgbClr val="373737"/>
                </a:solidFill>
              </a:rPr>
              <a:t>  2 stacked layers · hidden=256 · Reads the directional approach</a:t>
            </a:r>
          </a:p>
          <a:p>
            <a:pPr algn="l"/>
            <a:r>
              <a:rPr sz="2000" b="0">
                <a:solidFill>
                  <a:srgbClr val="373737"/>
                </a:solidFill>
              </a:rPr>
              <a:t>  to blockage: C/N₀ gradually declining, pseudorange residuals growing.</a:t>
            </a:r>
          </a:p>
          <a:p>
            <a:pPr algn="l"/>
            <a:r>
              <a:rPr sz="600" b="0">
                <a:solidFill>
                  <a:srgbClr val="373737"/>
                </a:solidFill>
              </a:rPr>
              <a:t/>
            </a:r>
          </a:p>
          <a:p>
            <a:pPr algn="l"/>
            <a:r>
              <a:rPr sz="2100" b="1">
                <a:solidFill>
                  <a:srgbClr val="148C1E"/>
                </a:solidFill>
              </a:rPr>
              <a:t>Three output heads: +5 s, +15 s, +30 s  |  1.46 M parameters  |  0.039 ms/sample</a:t>
            </a:r>
          </a:p>
        </p:txBody>
      </p:sp>
      <p:pic>
        <p:nvPicPr>
          <p:cNvPr id="31" name="Picture 30" descr="sentinel_gnss_insid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886431" y="6492240"/>
            <a:ext cx="14118335" cy="484632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4977872" y="11365992"/>
            <a:ext cx="13935455" cy="42062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005BAC"/>
                </a:solidFill>
              </a:rPr>
              <a:t>Fig. 4: SENTINEL architecture. Transformer reads global satellite patterns; LSTM reads the directional approach to degradation events.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4886431" y="11923776"/>
            <a:ext cx="14118335" cy="47548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5014447" y="11987784"/>
            <a:ext cx="13862303" cy="4114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Multi-Horizon Classification Results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4886431" y="12399264"/>
            <a:ext cx="14118335" cy="2084831"/>
          </a:xfrm>
          <a:prstGeom prst="rect">
            <a:avLst/>
          </a:prstGeom>
          <a:solidFill>
            <a:srgbClr val="EBF4FC"/>
          </a:solidFill>
          <a:ln w="19050">
            <a:solidFill>
              <a:srgbClr val="005B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5051023" y="12527280"/>
            <a:ext cx="13789151" cy="1828799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373737"/>
                </a:solidFill>
              </a:rPr>
              <a:t>Held-out test set (n=1,686 windows). 95% CI via 1,000 bootstrap iterations.</a:t>
            </a:r>
          </a:p>
          <a:p>
            <a:pPr algn="l"/>
            <a:r>
              <a:rPr sz="600" b="0">
                <a:solidFill>
                  <a:srgbClr val="373737"/>
                </a:solidFill>
              </a:rPr>
              <a:t/>
            </a:r>
          </a:p>
          <a:p>
            <a:pPr algn="l">
              <a:spcBef>
                <a:spcPts val="300"/>
              </a:spcBef>
            </a:pPr>
            <a:r>
              <a:rPr sz="2200" b="1">
                <a:solidFill>
                  <a:srgbClr val="148C1E"/>
                </a:solidFill>
              </a:rPr>
              <a:t>  +5 s:   Macro-F1 = 0.821  |  DEGRADED F1 = 0.718  |  Recall = 0.847</a:t>
            </a:r>
          </a:p>
          <a:p>
            <a:pPr algn="l"/>
            <a:r>
              <a:rPr sz="2000" b="0">
                <a:solidFill>
                  <a:srgbClr val="373737"/>
                </a:solidFill>
              </a:rPr>
              <a:t>  +15 s:  Macro-F1 = 0.741  |  DEGRADED F1 = 0.68</a:t>
            </a:r>
          </a:p>
          <a:p>
            <a:pPr algn="l"/>
            <a:r>
              <a:rPr sz="2000" b="0">
                <a:solidFill>
                  <a:srgbClr val="373737"/>
                </a:solidFill>
              </a:rPr>
              <a:t>  +30 s:  Macro-F1 = 0.783  |  DEGRADED F1 = 0.71</a:t>
            </a:r>
          </a:p>
          <a:p>
            <a:pPr algn="l"/>
            <a:r>
              <a:rPr sz="600" b="0">
                <a:solidFill>
                  <a:srgbClr val="373737"/>
                </a:solidFill>
              </a:rPr>
              <a:t/>
            </a:r>
          </a:p>
          <a:p>
            <a:pPr algn="l"/>
            <a:r>
              <a:rPr sz="2000" b="0">
                <a:solidFill>
                  <a:srgbClr val="373737"/>
                </a:solidFill>
              </a:rPr>
              <a:t>High DEGRADED recall at +5 s means 84.7% of all approaching degradation</a:t>
            </a:r>
          </a:p>
          <a:p>
            <a:pPr algn="l"/>
            <a:r>
              <a:rPr sz="2000" b="0">
                <a:solidFill>
                  <a:srgbClr val="373737"/>
                </a:solidFill>
              </a:rPr>
              <a:t>events are flagged before they arrive — the safety-critical metric for AVs.</a:t>
            </a:r>
          </a:p>
        </p:txBody>
      </p:sp>
      <p:pic>
        <p:nvPicPr>
          <p:cNvPr id="37" name="Picture 36" descr="fig01_multihorizo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886431" y="14602968"/>
            <a:ext cx="14118335" cy="3749039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4977872" y="18379440"/>
            <a:ext cx="13935455" cy="42062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005BAC"/>
                </a:solidFill>
              </a:rPr>
              <a:t>Fig. 5: Per-class F1 at all three prediction horizons. +5 s achieves the strongest DEGRADED-class detection.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4886431" y="18937224"/>
            <a:ext cx="14118335" cy="47548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5014447" y="19001232"/>
            <a:ext cx="13862303" cy="4114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Ablation Study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4886431" y="19412712"/>
            <a:ext cx="14118335" cy="1901952"/>
          </a:xfrm>
          <a:prstGeom prst="rect">
            <a:avLst/>
          </a:prstGeom>
          <a:solidFill>
            <a:srgbClr val="EBF4FC"/>
          </a:solidFill>
          <a:ln w="19050">
            <a:solidFill>
              <a:srgbClr val="005B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5051023" y="19540728"/>
            <a:ext cx="13789151" cy="16459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003366"/>
                </a:solidFill>
              </a:rPr>
              <a:t>Both Transformer and LSTM are necessary:</a:t>
            </a:r>
          </a:p>
          <a:p>
            <a:pPr algn="l"/>
            <a:r>
              <a:rPr sz="2000" b="0">
                <a:solidFill>
                  <a:srgbClr val="C81E1E"/>
                </a:solidFill>
              </a:rPr>
              <a:t>  Transformer-only: Macro-F1=0.767, DEG-F1=0.571  (over-flags, precision=0.42)</a:t>
            </a:r>
          </a:p>
          <a:p>
            <a:pPr algn="l"/>
            <a:r>
              <a:rPr sz="2000" b="0">
                <a:solidFill>
                  <a:srgbClr val="C86400"/>
                </a:solidFill>
              </a:rPr>
              <a:t>  LSTM-only:        Macro-F1=0.767, DEG-F1=0.645  (under-detects, recall=0.51)</a:t>
            </a:r>
          </a:p>
          <a:p>
            <a:pPr algn="l"/>
            <a:r>
              <a:rPr sz="2000" b="1">
                <a:solidFill>
                  <a:srgbClr val="148C1E"/>
                </a:solidFill>
              </a:rPr>
              <a:t>  Full SENTINEL:    Macro-F1=0.821, DEG-F1=0.718  ✔ precision=0.62, recall=0.85</a:t>
            </a:r>
          </a:p>
          <a:p>
            <a:pPr algn="l"/>
            <a:r>
              <a:rPr sz="600" b="0">
                <a:solidFill>
                  <a:srgbClr val="373737"/>
                </a:solidFill>
              </a:rPr>
              <a:t/>
            </a:r>
          </a:p>
          <a:p>
            <a:pPr algn="l"/>
            <a:r>
              <a:rPr sz="1900" b="0">
                <a:solidFill>
                  <a:srgbClr val="373737"/>
                </a:solidFill>
              </a:rPr>
              <a:t>Removing receiver_tier: DEG-F1 drops 0.718→0.656 (largest single feature effect).</a:t>
            </a:r>
          </a:p>
          <a:p>
            <a:pPr algn="l"/>
            <a:r>
              <a:rPr sz="1900" b="0">
                <a:solidFill>
                  <a:srgbClr val="373737"/>
                </a:solidFill>
              </a:rPr>
              <a:t>Focal loss (γ=1) beats cross-entropy + SMOTE: DEG-F1 0.718 vs 0.672.</a:t>
            </a:r>
          </a:p>
        </p:txBody>
      </p:sp>
      <p:pic>
        <p:nvPicPr>
          <p:cNvPr id="43" name="Picture 42" descr="fig04_ablation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4886431" y="21433536"/>
            <a:ext cx="14118335" cy="365760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14977872" y="25118568"/>
            <a:ext cx="13935455" cy="42062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005BAC"/>
                </a:solidFill>
              </a:rPr>
              <a:t>Fig. 6: Ablation: Macro-F1, MCC, and DEGRADED-F1 for each architecture variant. Each component contributes independently.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4886431" y="25676352"/>
            <a:ext cx="14118335" cy="47548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5014447" y="25740360"/>
            <a:ext cx="13862303" cy="4114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Full Model Comparison</a:t>
            </a:r>
          </a:p>
        </p:txBody>
      </p:sp>
      <p:pic>
        <p:nvPicPr>
          <p:cNvPr id="47" name="Picture 46" descr="fig03_model_comparison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4886431" y="26151840"/>
            <a:ext cx="14118335" cy="5779008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4977872" y="31958280"/>
            <a:ext cx="13935455" cy="42062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005BAC"/>
                </a:solidFill>
              </a:rPr>
              <a:t>Fig. 7: In-domain, tree models beat SENTINEL. In Tokyo (cross-city), only SENTINEL generalises — the deployment-relevant metric.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9388815" y="3474720"/>
            <a:ext cx="14118335" cy="47548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9516831" y="3538727"/>
            <a:ext cx="13862303" cy="4114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★  Cross-City Generalisation  —  Key Result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9388815" y="3950208"/>
            <a:ext cx="14118335" cy="2926080"/>
          </a:xfrm>
          <a:prstGeom prst="rect">
            <a:avLst/>
          </a:prstGeom>
          <a:solidFill>
            <a:srgbClr val="EBF4FC"/>
          </a:solidFill>
          <a:ln w="19050">
            <a:solidFill>
              <a:srgbClr val="005B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9553407" y="4078224"/>
            <a:ext cx="13789151" cy="267004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373737"/>
                </a:solidFill>
              </a:rPr>
              <a:t>Training: Hangzhou + Hong Kong   |   Test: Tokyo (never seen during training)</a:t>
            </a:r>
          </a:p>
          <a:p>
            <a:pPr algn="l"/>
            <a:r>
              <a:rPr sz="600" b="0">
                <a:solidFill>
                  <a:srgbClr val="373737"/>
                </a:solidFill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2200" b="1">
                <a:solidFill>
                  <a:srgbClr val="003366"/>
                </a:solidFill>
              </a:rPr>
              <a:t>Tokyo DEGRADED-class F1 at +5 s:</a:t>
            </a:r>
          </a:p>
          <a:p>
            <a:pPr algn="l"/>
            <a:r>
              <a:rPr sz="2300" b="1">
                <a:solidFill>
                  <a:srgbClr val="148C1E"/>
                </a:solidFill>
              </a:rPr>
              <a:t>  SENTINEL (DL):    0.75   ✔  Learns transferable temporal patterns</a:t>
            </a:r>
          </a:p>
          <a:p>
            <a:pPr algn="l"/>
            <a:r>
              <a:rPr sz="2300" b="1">
                <a:solidFill>
                  <a:srgbClr val="C81E1E"/>
                </a:solidFill>
              </a:rPr>
              <a:t>  Random Forest:    0.15   ✘  Memorises city-specific feature thresholds</a:t>
            </a:r>
          </a:p>
          <a:p>
            <a:pPr algn="l"/>
            <a:r>
              <a:rPr sz="600" b="0">
                <a:solidFill>
                  <a:srgbClr val="373737"/>
                </a:solidFill>
              </a:rPr>
              <a:t/>
            </a:r>
          </a:p>
          <a:p>
            <a:pPr algn="l"/>
            <a:r>
              <a:rPr sz="2000" b="0">
                <a:solidFill>
                  <a:srgbClr val="373737"/>
                </a:solidFill>
              </a:rPr>
              <a:t>Why RF fails: RF learned PDOP &gt; 3.1 → DEGRADED from Beihang data.</a:t>
            </a:r>
          </a:p>
          <a:p>
            <a:pPr algn="l"/>
            <a:r>
              <a:rPr sz="2000" b="0">
                <a:solidFill>
                  <a:srgbClr val="373737"/>
                </a:solidFill>
              </a:rPr>
              <a:t>In Tokyo the PDOP baseline is 2.8 (taller buildings). RF mislabels 40%</a:t>
            </a:r>
          </a:p>
          <a:p>
            <a:pPr algn="l"/>
            <a:r>
              <a:rPr sz="2000" b="0">
                <a:solidFill>
                  <a:srgbClr val="373737"/>
                </a:solidFill>
              </a:rPr>
              <a:t>of CLEAN epochs as DEGRADED, producing precision=0.09.</a:t>
            </a:r>
          </a:p>
          <a:p>
            <a:pPr algn="l"/>
            <a:r>
              <a:rPr sz="600" b="0">
                <a:solidFill>
                  <a:srgbClr val="373737"/>
                </a:solidFill>
              </a:rPr>
              <a:t/>
            </a:r>
          </a:p>
          <a:p>
            <a:pPr algn="l"/>
            <a:r>
              <a:rPr sz="2000" b="0">
                <a:solidFill>
                  <a:srgbClr val="373737"/>
                </a:solidFill>
              </a:rPr>
              <a:t>SENTINEL detects the temporal signature (C/N₀ declining, residuals growing),</a:t>
            </a:r>
          </a:p>
          <a:p>
            <a:pPr algn="l"/>
            <a:r>
              <a:rPr sz="2000" b="0">
                <a:solidFill>
                  <a:srgbClr val="373737"/>
                </a:solidFill>
              </a:rPr>
              <a:t>which is physically consistent across cities — independent of geometry.</a:t>
            </a:r>
          </a:p>
        </p:txBody>
      </p:sp>
      <p:pic>
        <p:nvPicPr>
          <p:cNvPr id="53" name="Picture 52" descr="fig05_crosscity_degra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9388815" y="6995160"/>
            <a:ext cx="14118335" cy="402336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29480255" y="11045952"/>
            <a:ext cx="13935455" cy="42062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005BAC"/>
                </a:solidFill>
              </a:rPr>
              <a:t>Fig. 8: Tokyo cross-city DEGRADED-class F1. The 5× gap (0.75 vs 0.15) shows SENTINEL generalises; RF collapses.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9388815" y="11603736"/>
            <a:ext cx="14118335" cy="47548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9516831" y="11667744"/>
            <a:ext cx="13862303" cy="4114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Prediction-Informed EKF Navigation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9388815" y="12079224"/>
            <a:ext cx="14118335" cy="3017520"/>
          </a:xfrm>
          <a:prstGeom prst="rect">
            <a:avLst/>
          </a:prstGeom>
          <a:solidFill>
            <a:srgbClr val="EBF4FC"/>
          </a:solidFill>
          <a:ln w="19050">
            <a:solidFill>
              <a:srgbClr val="005B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9553407" y="12207240"/>
            <a:ext cx="13789151" cy="276148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373737"/>
                </a:solidFill>
              </a:rPr>
              <a:t>SENTINEL +5 s probability inflates GPS measurement noise R before bad epochs arrive:</a:t>
            </a:r>
          </a:p>
          <a:p>
            <a:pPr algn="l"/>
            <a:r>
              <a:rPr sz="2100" b="1">
                <a:solidFill>
                  <a:srgbClr val="003366"/>
                </a:solidFill>
              </a:rPr>
              <a:t>  R = (40 m)² I₂  when P(DEGRADED) &gt; 0.45;  else R = r_base² I₂</a:t>
            </a:r>
          </a:p>
          <a:p>
            <a:pPr algn="l"/>
            <a:r>
              <a:rPr sz="2000" b="0">
                <a:solidFill>
                  <a:srgbClr val="373737"/>
                </a:solidFill>
              </a:rPr>
              <a:t>Pre-emptive gain reduction means the filter is already protected when biased</a:t>
            </a:r>
          </a:p>
          <a:p>
            <a:pPr algn="l"/>
            <a:r>
              <a:rPr sz="2000" b="0">
                <a:solidFill>
                  <a:srgbClr val="373737"/>
                </a:solidFill>
              </a:rPr>
              <a:t>fixes are processed — a reactive detector acts only after the damage.</a:t>
            </a:r>
          </a:p>
          <a:p>
            <a:pPr algn="l"/>
            <a:r>
              <a:rPr sz="600" b="0">
                <a:solidFill>
                  <a:srgbClr val="373737"/>
                </a:solidFill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2200" b="1">
                <a:solidFill>
                  <a:srgbClr val="003366"/>
                </a:solidFill>
              </a:rPr>
              <a:t>Degraded-segment RMSE reduction over raw GPS:</a:t>
            </a:r>
          </a:p>
          <a:p>
            <a:pPr algn="l"/>
            <a:r>
              <a:rPr sz="2200" b="1">
                <a:solidFill>
                  <a:srgbClr val="148C1E"/>
                </a:solidFill>
              </a:rPr>
              <a:t>  EKF Fixed-R (SENTINEL):    48.8%   ★ Trimble Shinjuku</a:t>
            </a:r>
          </a:p>
          <a:p>
            <a:pPr algn="l"/>
            <a:r>
              <a:rPr sz="2100" b="0">
                <a:solidFill>
                  <a:srgbClr val="1450A0"/>
                </a:solidFill>
              </a:rPr>
              <a:t>  Huber EKF (standalone):    25.2%   ★ u-blox Shinjuku (handles 1,472 m spike)</a:t>
            </a:r>
          </a:p>
          <a:p>
            <a:pPr algn="l"/>
            <a:r>
              <a:rPr sz="2100" b="0">
                <a:solidFill>
                  <a:srgbClr val="1450A0"/>
                </a:solidFill>
              </a:rPr>
              <a:t>  Student-t PF (standalone): 40.1%   ★ Odaiba harbour (non-persistent NLOS)</a:t>
            </a:r>
          </a:p>
          <a:p>
            <a:pPr algn="l"/>
            <a:r>
              <a:rPr sz="600" b="0">
                <a:solidFill>
                  <a:srgbClr val="373737"/>
                </a:solidFill>
              </a:rPr>
              <a:t/>
            </a:r>
          </a:p>
          <a:p>
            <a:pPr algn="l"/>
            <a:r>
              <a:rPr sz="1900" b="0">
                <a:solidFill>
                  <a:srgbClr val="373737"/>
                </a:solidFill>
              </a:rPr>
              <a:t>Unsupervised floor calibration (5th-percentile clip) for unseen receivers:</a:t>
            </a:r>
          </a:p>
          <a:p>
            <a:pPr algn="l"/>
            <a:r>
              <a:rPr sz="2000" b="1">
                <a:solidFill>
                  <a:srgbClr val="005BAC"/>
                </a:solidFill>
              </a:rPr>
              <a:t>  14.3% → 38.7% reduction (no labels).  Online noise scale: 38.7% → 43.2%.</a:t>
            </a:r>
          </a:p>
        </p:txBody>
      </p:sp>
      <p:pic>
        <p:nvPicPr>
          <p:cNvPr id="59" name="Picture 58" descr="fig07_ekf_rms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9388815" y="15215616"/>
            <a:ext cx="14118335" cy="3931920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29480255" y="19174968"/>
            <a:ext cx="13935455" cy="42062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005BAC"/>
                </a:solidFill>
              </a:rPr>
              <a:t>Fig. 9: Degraded-segment RMSE across all fusion methods and three Tokyo scenarios. Stars mark the best method per scenario.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9388815" y="19732752"/>
            <a:ext cx="14118335" cy="47548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9516831" y="19796760"/>
            <a:ext cx="13862303" cy="4114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Conclusions &amp; Future Work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388815" y="20208240"/>
            <a:ext cx="14118335" cy="12143232"/>
          </a:xfrm>
          <a:prstGeom prst="rect">
            <a:avLst/>
          </a:prstGeom>
          <a:solidFill>
            <a:srgbClr val="EBF4FC"/>
          </a:solidFill>
          <a:ln w="19050">
            <a:solidFill>
              <a:srgbClr val="005B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9553407" y="20336256"/>
            <a:ext cx="13789151" cy="118872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3366"/>
                </a:solidFill>
              </a:rPr>
              <a:t>Key Results:</a:t>
            </a:r>
          </a:p>
          <a:p>
            <a:pPr algn="l">
              <a:spcBef>
                <a:spcPts val="500"/>
              </a:spcBef>
            </a:pPr>
            <a:r>
              <a:rPr sz="2100" b="1">
                <a:solidFill>
                  <a:srgbClr val="005BAC"/>
                </a:solidFill>
              </a:rPr>
              <a:t>  ✔  First system to predict GNSS degradation 5–30 s in advance</a:t>
            </a:r>
          </a:p>
          <a:p>
            <a:pPr algn="l"/>
            <a:r>
              <a:rPr sz="2100" b="1">
                <a:solidFill>
                  <a:srgbClr val="005BAC"/>
                </a:solidFill>
              </a:rPr>
              <a:t>  ✔  Macro-F1 = 0.821 at +5 s horizon  |  DEGRADED recall = 0.847</a:t>
            </a:r>
          </a:p>
          <a:p>
            <a:pPr algn="l"/>
            <a:r>
              <a:rPr sz="2100" b="1">
                <a:solidFill>
                  <a:srgbClr val="148C1E"/>
                </a:solidFill>
              </a:rPr>
              <a:t>  ✔  Cross-city DEGRADED F1: 0.75 (SENTINEL) vs 0.15 (RF)  —  5× gain</a:t>
            </a:r>
          </a:p>
          <a:p>
            <a:pPr algn="l"/>
            <a:r>
              <a:rPr sz="2100" b="1">
                <a:solidFill>
                  <a:srgbClr val="005BAC"/>
                </a:solidFill>
              </a:rPr>
              <a:t>  ✔  48.8% degraded-RMSE reduction via prediction-informed EKF</a:t>
            </a:r>
          </a:p>
          <a:p>
            <a:pPr algn="l"/>
            <a:r>
              <a:rPr sz="2100" b="1">
                <a:solidFill>
                  <a:srgbClr val="005BAC"/>
                </a:solidFill>
              </a:rPr>
              <a:t>  ✔  0.039 ms inference  |  all three horizons in one forward pass</a:t>
            </a:r>
          </a:p>
          <a:p>
            <a:pPr algn="l"/>
            <a:r>
              <a:rPr sz="800" b="0">
                <a:solidFill>
                  <a:srgbClr val="373737"/>
                </a:solidFill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2200" b="1">
                <a:solidFill>
                  <a:srgbClr val="003366"/>
                </a:solidFill>
              </a:rPr>
              <a:t>Honest Disclosure:</a:t>
            </a:r>
          </a:p>
          <a:p>
            <a:pPr algn="l"/>
            <a:r>
              <a:rPr sz="2000" b="0">
                <a:solidFill>
                  <a:srgbClr val="373737"/>
                </a:solidFill>
              </a:rPr>
              <a:t>  RF/XGBoost outperform SENTINEL in-domain (Macro-F1 0.926/0.919 vs 0.821).</a:t>
            </a:r>
          </a:p>
          <a:p>
            <a:pPr algn="l"/>
            <a:r>
              <a:rPr sz="2000" b="0">
                <a:solidFill>
                  <a:srgbClr val="373737"/>
                </a:solidFill>
              </a:rPr>
              <a:t>  We disclose this and argue cross-city generalisation is the deployment metric:</a:t>
            </a:r>
          </a:p>
          <a:p>
            <a:pPr algn="l"/>
            <a:r>
              <a:rPr sz="2000" b="0">
                <a:solidFill>
                  <a:srgbClr val="373737"/>
                </a:solidFill>
              </a:rPr>
              <a:t>  a model that memorises Beihang C/N₀ statistics is useless in Tokyo.</a:t>
            </a:r>
          </a:p>
          <a:p>
            <a:pPr algn="l"/>
            <a:r>
              <a:rPr sz="800" b="0">
                <a:solidFill>
                  <a:srgbClr val="373737"/>
                </a:solidFill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2200" b="1">
                <a:solidFill>
                  <a:srgbClr val="003366"/>
                </a:solidFill>
              </a:rPr>
              <a:t>Key Scientific Finding:</a:t>
            </a:r>
          </a:p>
          <a:p>
            <a:pPr algn="l"/>
            <a:r>
              <a:rPr sz="2000" b="0">
                <a:solidFill>
                  <a:srgbClr val="373737"/>
                </a:solidFill>
              </a:rPr>
              <a:t>  No single fusion method dominates all environments. Environment-aware</a:t>
            </a:r>
          </a:p>
          <a:p>
            <a:pPr algn="l"/>
            <a:r>
              <a:rPr sz="2000" b="0">
                <a:solidFill>
                  <a:srgbClr val="373737"/>
                </a:solidFill>
              </a:rPr>
              <a:t>  method selection (EKF vs Huber vs PF) is a productive future direction.</a:t>
            </a:r>
          </a:p>
          <a:p>
            <a:pPr algn="l"/>
            <a:r>
              <a:rPr sz="800" b="0">
                <a:solidFill>
                  <a:srgbClr val="373737"/>
                </a:solidFill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2200" b="1">
                <a:solidFill>
                  <a:srgbClr val="003366"/>
                </a:solidFill>
              </a:rPr>
              <a:t>Future Work:</a:t>
            </a:r>
          </a:p>
          <a:p>
            <a:pPr algn="l"/>
            <a:r>
              <a:rPr sz="2000" b="0">
                <a:solidFill>
                  <a:srgbClr val="373737"/>
                </a:solidFill>
              </a:rPr>
              <a:t>  •  Multi-hypothesis PF proposal to break GPS attractor collapse at N=500</a:t>
            </a:r>
          </a:p>
          <a:p>
            <a:pPr algn="l"/>
            <a:r>
              <a:rPr sz="2000" b="0">
                <a:solidFill>
                  <a:srgbClr val="373737"/>
                </a:solidFill>
              </a:rPr>
              <a:t>  •  Per-satellite C/N₀ arrays as CNN front-end (capture satellite geometry)</a:t>
            </a:r>
          </a:p>
          <a:p>
            <a:pPr algn="l"/>
            <a:r>
              <a:rPr sz="2000" b="0">
                <a:solidFill>
                  <a:srgbClr val="373737"/>
                </a:solidFill>
              </a:rPr>
              <a:t>  •  Environment-aware EKF/Huber/PF dynamic selection classifier</a:t>
            </a:r>
          </a:p>
          <a:p>
            <a:pPr algn="l"/>
            <a:r>
              <a:rPr sz="2000" b="0">
                <a:solidFill>
                  <a:srgbClr val="373737"/>
                </a:solidFill>
              </a:rPr>
              <a:t>  •  Vehicle-speed 5–10 Hz real-time deployment with tight GNSS/IMU coupling</a:t>
            </a:r>
          </a:p>
        </p:txBody>
      </p:sp>
      <p:sp>
        <p:nvSpPr>
          <p:cNvPr id="65" name="Rectangle 64"/>
          <p:cNvSpPr/>
          <p:nvPr/>
        </p:nvSpPr>
        <p:spPr>
          <a:xfrm>
            <a:off x="0" y="32388048"/>
            <a:ext cx="43891200" cy="530351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11480" y="32433768"/>
            <a:ext cx="43068240" cy="484631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4D2F0"/>
                </a:solidFill>
              </a:rPr>
              <a:t>H3I, Beihang University (RCSSTEAP) · Hangzhou, China · 2026  │  Key references: Brown 1997 (RAIM) · Hsu 2021 (UrbanNav) · Liu 2023 (GBT GNSS) · Chen 2019 (LSTM GPS) · Vaswani 2017 (Transformer) · Hochreiter 1997 (LSTM) · Mehra 1970 (Adaptive Kalman) · Kalman 1960 (EKF)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