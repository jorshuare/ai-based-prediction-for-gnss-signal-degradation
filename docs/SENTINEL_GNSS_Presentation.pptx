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49" r:id="rId2"/>
    <p:sldId id="257" r:id="rId3"/>
    <p:sldId id="350" r:id="rId4"/>
    <p:sldId id="351" r:id="rId5"/>
    <p:sldId id="260" r:id="rId6"/>
    <p:sldId id="316" r:id="rId7"/>
    <p:sldId id="263" r:id="rId8"/>
    <p:sldId id="352" r:id="rId9"/>
    <p:sldId id="353" r:id="rId10"/>
    <p:sldId id="354" r:id="rId11"/>
    <p:sldId id="319" r:id="rId12"/>
    <p:sldId id="266" r:id="rId13"/>
    <p:sldId id="321" r:id="rId14"/>
    <p:sldId id="322" r:id="rId15"/>
    <p:sldId id="324" r:id="rId16"/>
    <p:sldId id="325" r:id="rId17"/>
    <p:sldId id="348" r:id="rId18"/>
    <p:sldId id="333" r:id="rId19"/>
    <p:sldId id="292" r:id="rId20"/>
    <p:sldId id="293" r:id="rId21"/>
    <p:sldId id="294" r:id="rId22"/>
    <p:sldId id="273" r:id="rId23"/>
    <p:sldId id="328" r:id="rId24"/>
    <p:sldId id="330" r:id="rId25"/>
    <p:sldId id="334" r:id="rId26"/>
    <p:sldId id="355" r:id="rId43"/>
    <p:sldId id="335" r:id="rId27"/>
    <p:sldId id="343" r:id="rId28"/>
    <p:sldId id="345" r:id="rId29"/>
    <p:sldId id="344" r:id="rId30"/>
    <p:sldId id="346" r:id="rId31"/>
    <p:sldId id="331" r:id="rId32"/>
    <p:sldId id="340" r:id="rId33"/>
    <p:sldId id="341" r:id="rId34"/>
    <p:sldId id="276" r:id="rId35"/>
    <p:sldId id="303" r:id="rId36"/>
    <p:sldId id="28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274" autoAdjust="0"/>
    <p:restoredTop sz="94751"/>
  </p:normalViewPr>
  <p:slideViewPr>
    <p:cSldViewPr snapToGrid="0" snapToObjects="1">
      <p:cViewPr varScale="1">
        <p:scale>
          <a:sx n="119" d="100"/>
          <a:sy n="119" d="100"/>
        </p:scale>
        <p:origin x="2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C0949-C823-9546-B609-6FA0E32F4A5E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B195B-D80B-F543-88FA-918A8B18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1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CC32-814E-F13A-7ADD-021B9B82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577CA-DAD6-1BA3-B0EE-FF1701C65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F8374-507E-DCEC-581F-7F2B4CFD7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5B93B-16B7-42A9-178A-B49BE5D1B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4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865-24A8-E242-54E0-DCB57FD1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4F111-E5FE-9D98-DA8C-150AA0E64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E9862-C321-6FFC-6A8C-7C48B1430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047E-9370-1E43-177B-D6C245331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3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attends strongly to the most recent timesteps before failure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saliency features: C/N₀, PDOP, </a:t>
            </a:r>
            <a:r>
              <a:rPr lang="en-US" sz="1200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num_satellites</a:t>
            </a: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fix quality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cannot provide this mechanistic transparency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B195B-D80B-F543-88FA-918A8B18C3F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03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8E5D-7DA2-F3DD-39E4-02FFF74F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86020-5284-6C41-F2AF-BCF9D1458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F83B1-8733-D9AA-EE34-78F9535A4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6CCD-F3F9-4CB4-4363-62593DE29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55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8AAA-A8C6-8728-CA83-6A587D3B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547F-5A8A-1C8D-4004-F36DD7ED9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FEC95-9FE9-01B4-A1DE-A3DED83CC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DA3B8-5D46-1BDF-DE25-ECBD2FFD3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98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80F6-D257-B067-4555-0B802060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F4FE1-FD69-40AE-281C-38FB65607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A2D02-9807-CE4F-A315-B4C368996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F549D-C3AA-94B5-D2EA-EEAF7A4D82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32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A6EA-5CE6-0B02-6191-18F96D35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F9713-6592-D212-CB17-26418091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04DC2-5167-8D15-67A7-BFFF3A162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4CA63-4EA3-C646-4818-0CCD82C2A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035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9818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emf"/><Relationship Id="rId6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jpeg"/><Relationship Id="rId5" Type="http://schemas.openxmlformats.org/officeDocument/2006/relationships/image" Target="../media/image20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78EE36E0-7FAA-382F-D779-23FFCCE1F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33408"/>
            <a:ext cx="12191928" cy="6857928"/>
          </a:xfrm>
          <a:prstGeom prst="rect">
            <a:avLst/>
          </a:prstGeom>
        </p:spPr>
      </p:pic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9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867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MainTitle"/>
          <p:cNvSpPr>
            <a:spLocks noGrp="1"/>
          </p:cNvSpPr>
          <p:nvPr/>
        </p:nvSpPr>
        <p:spPr>
          <a:xfrm>
            <a:off x="515799" y="427045"/>
            <a:ext cx="7442868" cy="18396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AI-Based Proactive Prediction </a:t>
            </a:r>
          </a:p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Of GNSS Signal Degradation</a:t>
            </a:r>
          </a:p>
          <a:p>
            <a:pPr>
              <a:lnSpc>
                <a:spcPct val="110000"/>
              </a:lnSpc>
            </a:pPr>
            <a:r>
              <a:rPr lang="en-US" sz="3300" i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for Autonomous Vehicle Navigation</a:t>
            </a:r>
          </a:p>
        </p:txBody>
      </p:sp>
      <p:sp>
        <p:nvSpPr>
          <p:cNvPr id="32" name="AccentLine"/>
          <p:cNvSpPr/>
          <p:nvPr/>
        </p:nvSpPr>
        <p:spPr>
          <a:xfrm>
            <a:off x="609600" y="5199342"/>
            <a:ext cx="2400000" cy="60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  <p:txBody>
          <a:bodyPr/>
          <a:p/>
        </p:txBody>
      </p:sp>
      <p:sp>
        <p:nvSpPr>
          <p:cNvPr id="33" name="TeamInfo"/>
          <p:cNvSpPr>
            <a:spLocks noGrp="1"/>
          </p:cNvSpPr>
          <p:nvPr/>
        </p:nvSpPr>
        <p:spPr>
          <a:xfrm>
            <a:off x="609600" y="5332675"/>
            <a:ext cx="5173133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8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Team Pilot Project</a:t>
            </a:r>
            <a:r>
              <a:rPr lang="en-US" sz="18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8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Beihang University (BUAA)</a:t>
            </a:r>
          </a:p>
        </p:txBody>
      </p:sp>
      <p:sp>
        <p:nvSpPr>
          <p:cNvPr id="34" name="Supervisor"/>
          <p:cNvSpPr>
            <a:spLocks noGrp="1"/>
          </p:cNvSpPr>
          <p:nvPr/>
        </p:nvSpPr>
        <p:spPr>
          <a:xfrm>
            <a:off x="609601" y="5866009"/>
            <a:ext cx="4470400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667" b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Supervisor:</a:t>
            </a:r>
            <a:r>
              <a:rPr lang="en-US" sz="16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Dr. Ahmed Wasiu</a:t>
            </a:r>
            <a:r>
              <a:rPr lang="en-US" sz="16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667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June 2026</a:t>
            </a:r>
          </a:p>
        </p:txBody>
      </p:sp>
      <p:sp>
        <p:nvSpPr>
          <p:cNvPr id="35" name="Tagline"/>
          <p:cNvSpPr>
            <a:spLocks noGrp="1"/>
          </p:cNvSpPr>
          <p:nvPr/>
        </p:nvSpPr>
        <p:spPr>
          <a:xfrm>
            <a:off x="564381" y="6344520"/>
            <a:ext cx="6666667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467" i="1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Predicting GNSS degradation before it impacts safety</a:t>
            </a:r>
          </a:p>
        </p:txBody>
      </p:sp>
      <p:sp>
        <p:nvSpPr>
          <p:cNvPr id="40" name="HeroPanel"/>
          <p:cNvSpPr/>
          <p:nvPr/>
        </p:nvSpPr>
        <p:spPr>
          <a:xfrm>
            <a:off x="7794735" y="1153403"/>
            <a:ext cx="4000000" cy="4533333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p/>
        </p:txBody>
      </p:sp>
      <p:sp>
        <p:nvSpPr>
          <p:cNvPr id="41" name="HeroStrip"/>
          <p:cNvSpPr/>
          <p:nvPr/>
        </p:nvSpPr>
        <p:spPr>
          <a:xfrm>
            <a:off x="7794735" y="1153403"/>
            <a:ext cx="4000000" cy="133333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p/>
        </p:txBody>
      </p:sp>
      <p:sp>
        <p:nvSpPr>
          <p:cNvPr id="42" name="HeroLabel"/>
          <p:cNvSpPr>
            <a:spLocks noGrp="1"/>
          </p:cNvSpPr>
          <p:nvPr/>
        </p:nvSpPr>
        <p:spPr>
          <a:xfrm>
            <a:off x="7794735" y="1486736"/>
            <a:ext cx="4000000" cy="37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THE PROMISE</a:t>
            </a:r>
          </a:p>
        </p:txBody>
      </p:sp>
      <p:sp>
        <p:nvSpPr>
          <p:cNvPr id="43" name="HeroStat"/>
          <p:cNvSpPr>
            <a:spLocks noGrp="1"/>
          </p:cNvSpPr>
          <p:nvPr/>
        </p:nvSpPr>
        <p:spPr>
          <a:xfrm>
            <a:off x="7794735" y="1953403"/>
            <a:ext cx="4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8666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5-30</a:t>
            </a:r>
          </a:p>
        </p:txBody>
      </p:sp>
      <p:sp>
        <p:nvSpPr>
          <p:cNvPr id="44" name="HeroUnit"/>
          <p:cNvSpPr>
            <a:spLocks noGrp="1"/>
          </p:cNvSpPr>
          <p:nvPr/>
        </p:nvSpPr>
        <p:spPr>
          <a:xfrm>
            <a:off x="7794735" y="3126736"/>
            <a:ext cx="4000000" cy="42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33" i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seconds advance warning</a:t>
            </a:r>
          </a:p>
        </p:txBody>
      </p:sp>
      <p:sp>
        <p:nvSpPr>
          <p:cNvPr id="45" name="HeroDiv"/>
          <p:cNvSpPr/>
          <p:nvPr/>
        </p:nvSpPr>
        <p:spPr>
          <a:xfrm>
            <a:off x="9128069" y="3660069"/>
            <a:ext cx="1333333" cy="24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p/>
        </p:txBody>
      </p:sp>
      <p:sp>
        <p:nvSpPr>
          <p:cNvPr id="46" name="HeroBullets"/>
          <p:cNvSpPr>
            <a:spLocks noGrp="1"/>
          </p:cNvSpPr>
          <p:nvPr/>
        </p:nvSpPr>
        <p:spPr>
          <a:xfrm>
            <a:off x="8061402" y="3820069"/>
            <a:ext cx="3466667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lang="en-US" sz="14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Predict, not detect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lang="en-US" sz="14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Multi-horizon: 5 / 15 / 30 s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lang="en-US" sz="14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Cross-city generalisation</a:t>
            </a:r>
          </a:p>
        </p:txBody>
      </p:sp>
      <p:sp>
        <p:nvSpPr>
          <p:cNvPr id="47" name="HeroBottomStrip"/>
          <p:cNvSpPr/>
          <p:nvPr/>
        </p:nvSpPr>
        <p:spPr>
          <a:xfrm>
            <a:off x="7794735" y="5606736"/>
            <a:ext cx="4000000" cy="8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p/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EC4B48A4-51DA-9894-4C29-2AB32072C139}"/>
              </a:ext>
            </a:extLst>
          </p:cNvPr>
          <p:cNvGraphicFramePr>
            <a:graphicFrameLocks noGrp="1"/>
          </p:cNvGraphicFramePr>
          <p:nvPr/>
        </p:nvGraphicFramePr>
        <p:xfrm>
          <a:off x="459234" y="2323670"/>
          <a:ext cx="6917933" cy="2341594"/>
        </p:xfrm>
        <a:graphic>
          <a:graphicData uri="http://schemas.openxmlformats.org/drawingml/2006/table">
            <a:tbl>
              <a:tblPr/>
              <a:tblGrid>
                <a:gridCol w="72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LS2525253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Ishola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LS2525238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Oluwaseun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LS2525237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 Claudine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LS2525236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LS2525219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1 ·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0F06-5715-8690-7533-802B7029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A0CA6B56-D9E5-98C4-92D0-A42D2898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12073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7D3A872F-6DCF-FF75-EB98-4F4737D9E524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3" name="TopAccent">
            <a:extLst>
              <a:ext uri="{FF2B5EF4-FFF2-40B4-BE49-F238E27FC236}">
                <a16:creationId xmlns:a16="http://schemas.microsoft.com/office/drawing/2014/main" id="{6B5EA038-394A-E637-0F3D-0F2517CCFDA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95E545B2-5088-1756-47CA-76F4E43DAAE9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5" name="BottomAccent">
            <a:extLst>
              <a:ext uri="{FF2B5EF4-FFF2-40B4-BE49-F238E27FC236}">
                <a16:creationId xmlns:a16="http://schemas.microsoft.com/office/drawing/2014/main" id="{73CD07C8-B66F-4DD7-A0E9-96DB9A61EBD4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183C85B-8E83-D361-41F9-8A8CCD51FCCF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68F8DE80-08E1-801F-C04A-113E0D03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0BB26A96-3F12-4A3C-5185-90F9E70FB6D8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3" name="Intro">
            <a:extLst>
              <a:ext uri="{FF2B5EF4-FFF2-40B4-BE49-F238E27FC236}">
                <a16:creationId xmlns:a16="http://schemas.microsoft.com/office/drawing/2014/main" id="{FA29D90A-06CE-5433-31C5-1F50203DDD83}"/>
              </a:ext>
            </a:extLst>
          </p:cNvPr>
          <p:cNvSpPr>
            <a:spLocks noGrp="1"/>
          </p:cNvSpPr>
          <p:nvPr/>
        </p:nvSpPr>
        <p:spPr>
          <a:xfrm>
            <a:off x="609600" y="948325"/>
            <a:ext cx="109728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GNSS is the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primary absolute-positioning sensor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for autonomous vehicles, yet it fails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predictably and frequently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in the environments AVs operate in.</a:t>
            </a:r>
          </a:p>
        </p:txBody>
      </p:sp>
      <p:sp>
        <p:nvSpPr>
          <p:cNvPr id="40" name="Card0Bg">
            <a:extLst>
              <a:ext uri="{FF2B5EF4-FFF2-40B4-BE49-F238E27FC236}">
                <a16:creationId xmlns:a16="http://schemas.microsoft.com/office/drawing/2014/main" id="{C6FCEFEB-EE8A-295C-1C56-2A6713D1E670}"/>
              </a:ext>
            </a:extLst>
          </p:cNvPr>
          <p:cNvSpPr/>
          <p:nvPr/>
        </p:nvSpPr>
        <p:spPr>
          <a:xfrm>
            <a:off x="609600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p/>
        </p:txBody>
      </p:sp>
      <p:sp>
        <p:nvSpPr>
          <p:cNvPr id="41" name="Card0Strip">
            <a:extLst>
              <a:ext uri="{FF2B5EF4-FFF2-40B4-BE49-F238E27FC236}">
                <a16:creationId xmlns:a16="http://schemas.microsoft.com/office/drawing/2014/main" id="{91082F18-454B-0092-EFF2-AFEACD89A78E}"/>
              </a:ext>
            </a:extLst>
          </p:cNvPr>
          <p:cNvSpPr/>
          <p:nvPr/>
        </p:nvSpPr>
        <p:spPr>
          <a:xfrm>
            <a:off x="609600" y="1872133"/>
            <a:ext cx="3493333" cy="1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/>
          <a:p/>
        </p:txBody>
      </p:sp>
      <p:sp>
        <p:nvSpPr>
          <p:cNvPr id="42" name="Card0IconBg">
            <a:extLst>
              <a:ext uri="{FF2B5EF4-FFF2-40B4-BE49-F238E27FC236}">
                <a16:creationId xmlns:a16="http://schemas.microsoft.com/office/drawing/2014/main" id="{F6FB9A0B-31A7-22D1-7556-B34768E251BB}"/>
              </a:ext>
            </a:extLst>
          </p:cNvPr>
          <p:cNvSpPr/>
          <p:nvPr/>
        </p:nvSpPr>
        <p:spPr>
          <a:xfrm>
            <a:off x="849600" y="2165466"/>
            <a:ext cx="666667" cy="666667"/>
          </a:xfrm>
          <a:prstGeom prst="ellipse">
            <a:avLst/>
          </a:prstGeom>
          <a:solidFill>
            <a:srgbClr val="FDECEA"/>
          </a:solidFill>
          <a:ln w="19050">
            <a:solidFill>
              <a:srgbClr val="C6282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C62828"/>
                </a:solidFill>
              </a:rPr>
              <a:t>1</a:t>
            </a:r>
          </a:p>
        </p:txBody>
      </p:sp>
      <p:sp>
        <p:nvSpPr>
          <p:cNvPr id="43" name="Card0Title">
            <a:extLst>
              <a:ext uri="{FF2B5EF4-FFF2-40B4-BE49-F238E27FC236}">
                <a16:creationId xmlns:a16="http://schemas.microsoft.com/office/drawing/2014/main" id="{BA1D4CA3-6D7A-C42B-7945-A4CB330E80E1}"/>
              </a:ext>
            </a:extLst>
          </p:cNvPr>
          <p:cNvSpPr>
            <a:spLocks noGrp="1"/>
          </p:cNvSpPr>
          <p:nvPr/>
        </p:nvSpPr>
        <p:spPr>
          <a:xfrm>
            <a:off x="1582933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Urban Canyons</a:t>
            </a:r>
          </a:p>
        </p:txBody>
      </p:sp>
      <p:sp>
        <p:nvSpPr>
          <p:cNvPr id="44" name="Card0Body">
            <a:extLst>
              <a:ext uri="{FF2B5EF4-FFF2-40B4-BE49-F238E27FC236}">
                <a16:creationId xmlns:a16="http://schemas.microsoft.com/office/drawing/2014/main" id="{B6DF3BBB-9EC3-E6BD-5E45-BA201BE0848D}"/>
              </a:ext>
            </a:extLst>
          </p:cNvPr>
          <p:cNvSpPr>
            <a:spLocks noGrp="1"/>
          </p:cNvSpPr>
          <p:nvPr/>
        </p:nvSpPr>
        <p:spPr>
          <a:xfrm>
            <a:off x="849600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Tall buildings block and reflect satellite signals. Multipath errors corrupt range measurements.</a:t>
            </a:r>
          </a:p>
        </p:txBody>
      </p:sp>
      <p:sp>
        <p:nvSpPr>
          <p:cNvPr id="45" name="Card0Detail">
            <a:extLst>
              <a:ext uri="{FF2B5EF4-FFF2-40B4-BE49-F238E27FC236}">
                <a16:creationId xmlns:a16="http://schemas.microsoft.com/office/drawing/2014/main" id="{FE6BA089-A40A-C3D0-EDB4-B70F35CA7893}"/>
              </a:ext>
            </a:extLst>
          </p:cNvPr>
          <p:cNvSpPr>
            <a:spLocks noGrp="1"/>
          </p:cNvSpPr>
          <p:nvPr/>
        </p:nvSpPr>
        <p:spPr>
          <a:xfrm>
            <a:off x="849599" y="4181400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Position jumps of 10-50 m occur silently, the receiver continues reporting a “fix” even as accuracy collapses.</a:t>
            </a:r>
          </a:p>
        </p:txBody>
      </p:sp>
      <p:sp>
        <p:nvSpPr>
          <p:cNvPr id="46" name="Card1Bg">
            <a:extLst>
              <a:ext uri="{FF2B5EF4-FFF2-40B4-BE49-F238E27FC236}">
                <a16:creationId xmlns:a16="http://schemas.microsoft.com/office/drawing/2014/main" id="{7A73F685-5147-2CAD-259C-B26125B1B729}"/>
              </a:ext>
            </a:extLst>
          </p:cNvPr>
          <p:cNvSpPr/>
          <p:nvPr/>
        </p:nvSpPr>
        <p:spPr>
          <a:xfrm>
            <a:off x="4276267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p/>
        </p:txBody>
      </p:sp>
      <p:sp>
        <p:nvSpPr>
          <p:cNvPr id="47" name="Card1Strip">
            <a:extLst>
              <a:ext uri="{FF2B5EF4-FFF2-40B4-BE49-F238E27FC236}">
                <a16:creationId xmlns:a16="http://schemas.microsoft.com/office/drawing/2014/main" id="{F3F8F523-99C7-DFCC-D633-37563F7C1446}"/>
              </a:ext>
            </a:extLst>
          </p:cNvPr>
          <p:cNvSpPr/>
          <p:nvPr/>
        </p:nvSpPr>
        <p:spPr>
          <a:xfrm>
            <a:off x="4276267" y="1872133"/>
            <a:ext cx="3493333" cy="1200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txBody>
          <a:bodyPr/>
          <a:p/>
        </p:txBody>
      </p:sp>
      <p:sp>
        <p:nvSpPr>
          <p:cNvPr id="48" name="Card1IconBg">
            <a:extLst>
              <a:ext uri="{FF2B5EF4-FFF2-40B4-BE49-F238E27FC236}">
                <a16:creationId xmlns:a16="http://schemas.microsoft.com/office/drawing/2014/main" id="{9D53E266-4A27-1CB5-45DF-86AE8A71F29E}"/>
              </a:ext>
            </a:extLst>
          </p:cNvPr>
          <p:cNvSpPr/>
          <p:nvPr/>
        </p:nvSpPr>
        <p:spPr>
          <a:xfrm>
            <a:off x="4516267" y="2165466"/>
            <a:ext cx="666667" cy="666667"/>
          </a:xfrm>
          <a:prstGeom prst="ellipse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F57F17"/>
                </a:solidFill>
              </a:rPr>
              <a:t>2</a:t>
            </a:r>
          </a:p>
        </p:txBody>
      </p:sp>
      <p:sp>
        <p:nvSpPr>
          <p:cNvPr id="49" name="Card1Title">
            <a:extLst>
              <a:ext uri="{FF2B5EF4-FFF2-40B4-BE49-F238E27FC236}">
                <a16:creationId xmlns:a16="http://schemas.microsoft.com/office/drawing/2014/main" id="{1D52987F-7C33-65E5-CF46-89904C276C3E}"/>
              </a:ext>
            </a:extLst>
          </p:cNvPr>
          <p:cNvSpPr>
            <a:spLocks noGrp="1"/>
          </p:cNvSpPr>
          <p:nvPr/>
        </p:nvSpPr>
        <p:spPr>
          <a:xfrm>
            <a:off x="5249599" y="2178800"/>
            <a:ext cx="2816715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Tunnels &amp; Underpasses</a:t>
            </a:r>
          </a:p>
        </p:txBody>
      </p:sp>
      <p:sp>
        <p:nvSpPr>
          <p:cNvPr id="50" name="Card1Body">
            <a:extLst>
              <a:ext uri="{FF2B5EF4-FFF2-40B4-BE49-F238E27FC236}">
                <a16:creationId xmlns:a16="http://schemas.microsoft.com/office/drawing/2014/main" id="{0ED4BF6E-1C00-8C71-581A-B8B925428D65}"/>
              </a:ext>
            </a:extLst>
          </p:cNvPr>
          <p:cNvSpPr>
            <a:spLocks noGrp="1"/>
          </p:cNvSpPr>
          <p:nvPr/>
        </p:nvSpPr>
        <p:spPr>
          <a:xfrm>
            <a:off x="4516267" y="3005467"/>
            <a:ext cx="3013333" cy="813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Complete signal blockage causes instantaneous position loss.</a:t>
            </a:r>
          </a:p>
        </p:txBody>
      </p:sp>
      <p:sp>
        <p:nvSpPr>
          <p:cNvPr id="51" name="Card1Detail">
            <a:extLst>
              <a:ext uri="{FF2B5EF4-FFF2-40B4-BE49-F238E27FC236}">
                <a16:creationId xmlns:a16="http://schemas.microsoft.com/office/drawing/2014/main" id="{95BAEA96-D700-B5D2-6F71-4444800C4D9C}"/>
              </a:ext>
            </a:extLst>
          </p:cNvPr>
          <p:cNvSpPr>
            <a:spLocks noGrp="1"/>
          </p:cNvSpPr>
          <p:nvPr/>
        </p:nvSpPr>
        <p:spPr>
          <a:xfrm>
            <a:off x="4462828" y="4013792"/>
            <a:ext cx="3013333" cy="1668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 reactive system detects failure only after the vehicle has entered the tunnel, too late to plan a safe response or engage backup </a:t>
            </a:r>
            <a:r>
              <a:rPr lang="en-US" sz="1400" dirty="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localisation</a:t>
            </a: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2" name="Card2Bg">
            <a:extLst>
              <a:ext uri="{FF2B5EF4-FFF2-40B4-BE49-F238E27FC236}">
                <a16:creationId xmlns:a16="http://schemas.microsoft.com/office/drawing/2014/main" id="{E97E349B-C539-6DBC-C43E-B0407E717BBB}"/>
              </a:ext>
            </a:extLst>
          </p:cNvPr>
          <p:cNvSpPr/>
          <p:nvPr/>
        </p:nvSpPr>
        <p:spPr>
          <a:xfrm>
            <a:off x="7945202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/>
          <a:p/>
        </p:txBody>
      </p:sp>
      <p:sp>
        <p:nvSpPr>
          <p:cNvPr id="53" name="Card2Strip">
            <a:extLst>
              <a:ext uri="{FF2B5EF4-FFF2-40B4-BE49-F238E27FC236}">
                <a16:creationId xmlns:a16="http://schemas.microsoft.com/office/drawing/2014/main" id="{3470156D-48A4-CB36-4766-4886C3306133}"/>
              </a:ext>
            </a:extLst>
          </p:cNvPr>
          <p:cNvSpPr/>
          <p:nvPr/>
        </p:nvSpPr>
        <p:spPr>
          <a:xfrm>
            <a:off x="7942934" y="1872133"/>
            <a:ext cx="3493333" cy="12000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p/>
        </p:txBody>
      </p:sp>
      <p:sp>
        <p:nvSpPr>
          <p:cNvPr id="54" name="Card2IconBg">
            <a:extLst>
              <a:ext uri="{FF2B5EF4-FFF2-40B4-BE49-F238E27FC236}">
                <a16:creationId xmlns:a16="http://schemas.microsoft.com/office/drawing/2014/main" id="{961120CA-D38F-7AE4-9F13-E29FF7A9211A}"/>
              </a:ext>
            </a:extLst>
          </p:cNvPr>
          <p:cNvSpPr/>
          <p:nvPr/>
        </p:nvSpPr>
        <p:spPr>
          <a:xfrm>
            <a:off x="8182933" y="2165466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3</a:t>
            </a:r>
          </a:p>
        </p:txBody>
      </p:sp>
      <p:sp>
        <p:nvSpPr>
          <p:cNvPr id="55" name="Card2Title">
            <a:extLst>
              <a:ext uri="{FF2B5EF4-FFF2-40B4-BE49-F238E27FC236}">
                <a16:creationId xmlns:a16="http://schemas.microsoft.com/office/drawing/2014/main" id="{AFB6B867-8D10-5489-94F6-01CFC60B4B1A}"/>
              </a:ext>
            </a:extLst>
          </p:cNvPr>
          <p:cNvSpPr>
            <a:spLocks noGrp="1"/>
          </p:cNvSpPr>
          <p:nvPr/>
        </p:nvSpPr>
        <p:spPr>
          <a:xfrm>
            <a:off x="8916267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Atmospheric Effects</a:t>
            </a:r>
          </a:p>
        </p:txBody>
      </p:sp>
      <p:sp>
        <p:nvSpPr>
          <p:cNvPr id="56" name="Card2Body">
            <a:extLst>
              <a:ext uri="{FF2B5EF4-FFF2-40B4-BE49-F238E27FC236}">
                <a16:creationId xmlns:a16="http://schemas.microsoft.com/office/drawing/2014/main" id="{5EA8C9A0-E9A7-643D-6A24-B0538BF64882}"/>
              </a:ext>
            </a:extLst>
          </p:cNvPr>
          <p:cNvSpPr>
            <a:spLocks noGrp="1"/>
          </p:cNvSpPr>
          <p:nvPr/>
        </p:nvSpPr>
        <p:spPr>
          <a:xfrm>
            <a:off x="8182934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Ionospheric and tropospheric disturbances degrade range accuracy across wide areas.</a:t>
            </a:r>
          </a:p>
        </p:txBody>
      </p:sp>
      <p:sp>
        <p:nvSpPr>
          <p:cNvPr id="57" name="Card2Detail">
            <a:extLst>
              <a:ext uri="{FF2B5EF4-FFF2-40B4-BE49-F238E27FC236}">
                <a16:creationId xmlns:a16="http://schemas.microsoft.com/office/drawing/2014/main" id="{2E49CC50-AEC5-31AC-025F-367FF16CF0DD}"/>
              </a:ext>
            </a:extLst>
          </p:cNvPr>
          <p:cNvSpPr>
            <a:spLocks noGrp="1"/>
          </p:cNvSpPr>
          <p:nvPr/>
        </p:nvSpPr>
        <p:spPr>
          <a:xfrm>
            <a:off x="8180141" y="4172722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Effects are gradual and harder to detect, DOP and C/N₀ drift slowly before the solution quality degrades.</a:t>
            </a:r>
          </a:p>
        </p:txBody>
      </p:sp>
      <p:sp>
        <p:nvSpPr>
          <p:cNvPr id="80" name="CoreBg">
            <a:extLst>
              <a:ext uri="{FF2B5EF4-FFF2-40B4-BE49-F238E27FC236}">
                <a16:creationId xmlns:a16="http://schemas.microsoft.com/office/drawing/2014/main" id="{B48C156B-641F-30A4-A0E6-DDE8789BB52C}"/>
              </a:ext>
            </a:extLst>
          </p:cNvPr>
          <p:cNvSpPr/>
          <p:nvPr/>
        </p:nvSpPr>
        <p:spPr>
          <a:xfrm>
            <a:off x="609600" y="5938799"/>
            <a:ext cx="10828935" cy="530299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p/>
        </p:txBody>
      </p:sp>
      <p:sp>
        <p:nvSpPr>
          <p:cNvPr id="81" name="CoreText">
            <a:extLst>
              <a:ext uri="{FF2B5EF4-FFF2-40B4-BE49-F238E27FC236}">
                <a16:creationId xmlns:a16="http://schemas.microsoft.com/office/drawing/2014/main" id="{6E0CC040-41AD-8640-E590-3A23D39EC651}"/>
              </a:ext>
            </a:extLst>
          </p:cNvPr>
          <p:cNvSpPr>
            <a:spLocks noGrp="1"/>
          </p:cNvSpPr>
          <p:nvPr/>
        </p:nvSpPr>
        <p:spPr>
          <a:xfrm>
            <a:off x="564381" y="5967777"/>
            <a:ext cx="10972800" cy="42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266667" bIns="0" rtlCol="0" anchor="ctr">
            <a:normAutofit fontScale="85000" lnSpcReduction="10000"/>
          </a:bodyPr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Core Problem: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All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monitors (RTKLIB Q-codes, RAIM, ML classifiers) are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REACTIVE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-  autonomous vehicles need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advance warning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to respond safely.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5F7016-4AF0-63EF-3859-7B606FEA03E1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9B34594A-88CA-A221-5B65-5854DC54E69B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09233E48-A9A8-0C14-3244-ADCB2298769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CBF101A3-3272-8422-73BC-68EF8F42A6F7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81BBA983-6BA7-ACA3-116A-F73F2285FE6A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757D680B-35C4-2C17-7910-15851BF64C3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C7AE08F5-C177-C809-057F-62E319EC4D2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C9D57033-090C-A435-E219-2B6EC4588BFB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3BC5B016-B3F3-E27B-639F-CD5536FCF7DB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6AA1E6-DCE1-903B-457A-3F5A1BFB374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9FC4A87-9B4C-186B-BB18-D416D483D1A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60E85A59-F2FF-4B81-63FF-B145847B0439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17D24CDC-6D40-C94A-079D-6214C7FC44F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DD523AAC-12EC-E31E-2892-FA4D394AE233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6F5FC13E-E3C4-191B-C06C-57CCDD4033DD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57C549D-AB0A-42DE-77C4-BD0ED565B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9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11EB2792-E0EE-D051-CB00-59BD56AF9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7330"/>
            <a:ext cx="12191928" cy="6857928"/>
          </a:xfrm>
          <a:prstGeom prst="rect">
            <a:avLst/>
          </a:prstGeom>
        </p:spPr>
      </p:pic>
      <p:sp>
        <p:nvSpPr>
          <p:cNvPr id="2" name="TopBar"/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3" name="TopAccent"/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4" name="BottomBar"/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5" name="BottomAccent"/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6" name="LogoTab"/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110" name="TblTitleBg"/>
          <p:cNvSpPr/>
          <p:nvPr/>
        </p:nvSpPr>
        <p:spPr>
          <a:xfrm>
            <a:off x="691794" y="4900618"/>
            <a:ext cx="10972800" cy="373333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txBody>
          <a:bodyPr/>
          <a:p/>
        </p:txBody>
      </p:sp>
      <p:sp>
        <p:nvSpPr>
          <p:cNvPr id="111" name="TblTitle"/>
          <p:cNvSpPr>
            <a:spLocks noGrp="1"/>
          </p:cNvSpPr>
          <p:nvPr/>
        </p:nvSpPr>
        <p:spPr>
          <a:xfrm>
            <a:off x="691794" y="4900618"/>
            <a:ext cx="10972800" cy="373333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266667" bIns="0" rtlCol="0" anchor="ctr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Early Warning Enables</a:t>
            </a:r>
          </a:p>
        </p:txBody>
      </p:sp>
      <p:sp>
        <p:nvSpPr>
          <p:cNvPr id="112" name="ColHdrBg"/>
          <p:cNvSpPr/>
          <p:nvPr/>
        </p:nvSpPr>
        <p:spPr>
          <a:xfrm>
            <a:off x="691794" y="5273951"/>
            <a:ext cx="10972800" cy="32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p/>
        </p:txBody>
      </p:sp>
      <p:sp>
        <p:nvSpPr>
          <p:cNvPr id="113" name="Col1Hdr"/>
          <p:cNvSpPr>
            <a:spLocks noGrp="1"/>
          </p:cNvSpPr>
          <p:nvPr/>
        </p:nvSpPr>
        <p:spPr>
          <a:xfrm>
            <a:off x="691794" y="5273951"/>
            <a:ext cx="1466667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Horizon</a:t>
            </a:r>
          </a:p>
        </p:txBody>
      </p:sp>
      <p:sp>
        <p:nvSpPr>
          <p:cNvPr id="114" name="Col2Hdr"/>
          <p:cNvSpPr>
            <a:spLocks noGrp="1"/>
          </p:cNvSpPr>
          <p:nvPr/>
        </p:nvSpPr>
        <p:spPr>
          <a:xfrm>
            <a:off x="2158461" y="5273951"/>
            <a:ext cx="2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Distance @ 60 km/h</a:t>
            </a:r>
          </a:p>
        </p:txBody>
      </p:sp>
      <p:sp>
        <p:nvSpPr>
          <p:cNvPr id="115" name="Col3Hdr"/>
          <p:cNvSpPr>
            <a:spLocks noGrp="1"/>
          </p:cNvSpPr>
          <p:nvPr/>
        </p:nvSpPr>
        <p:spPr>
          <a:xfrm>
            <a:off x="4158461" y="5273951"/>
            <a:ext cx="7506133" cy="320000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AV Action</a:t>
            </a:r>
          </a:p>
        </p:txBody>
      </p:sp>
      <p:sp>
        <p:nvSpPr>
          <p:cNvPr id="120" name="RowBg0"/>
          <p:cNvSpPr/>
          <p:nvPr/>
        </p:nvSpPr>
        <p:spPr>
          <a:xfrm>
            <a:off x="691794" y="5593951"/>
            <a:ext cx="10972800" cy="306667"/>
          </a:xfrm>
          <a:prstGeom prst="rect">
            <a:avLst/>
          </a:prstGeom>
          <a:solidFill>
            <a:srgbClr val="F5F8FF"/>
          </a:solidFill>
          <a:ln w="6350">
            <a:solidFill>
              <a:srgbClr val="EEEEEE"/>
            </a:solidFill>
          </a:ln>
        </p:spPr>
        <p:txBody>
          <a:bodyPr/>
          <a:p/>
        </p:txBody>
      </p:sp>
      <p:sp>
        <p:nvSpPr>
          <p:cNvPr id="121" name="R0C1"/>
          <p:cNvSpPr>
            <a:spLocks noGrp="1"/>
          </p:cNvSpPr>
          <p:nvPr/>
        </p:nvSpPr>
        <p:spPr>
          <a:xfrm>
            <a:off x="691794" y="5593951"/>
            <a:ext cx="1466667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+5 s</a:t>
            </a:r>
          </a:p>
        </p:txBody>
      </p:sp>
      <p:sp>
        <p:nvSpPr>
          <p:cNvPr id="122" name="R0C2"/>
          <p:cNvSpPr>
            <a:spLocks noGrp="1"/>
          </p:cNvSpPr>
          <p:nvPr/>
        </p:nvSpPr>
        <p:spPr>
          <a:xfrm>
            <a:off x="2158461" y="5593951"/>
            <a:ext cx="2000000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83 m</a:t>
            </a:r>
          </a:p>
        </p:txBody>
      </p:sp>
      <p:sp>
        <p:nvSpPr>
          <p:cNvPr id="123" name="R0C3"/>
          <p:cNvSpPr>
            <a:spLocks noGrp="1"/>
          </p:cNvSpPr>
          <p:nvPr/>
        </p:nvSpPr>
        <p:spPr>
          <a:xfrm>
            <a:off x="4158461" y="5593951"/>
            <a:ext cx="7506133" cy="30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Tighten IMU fusion · slow down</a:t>
            </a:r>
          </a:p>
        </p:txBody>
      </p:sp>
      <p:sp>
        <p:nvSpPr>
          <p:cNvPr id="124" name="RowBg1"/>
          <p:cNvSpPr/>
          <p:nvPr/>
        </p:nvSpPr>
        <p:spPr>
          <a:xfrm>
            <a:off x="691794" y="5900618"/>
            <a:ext cx="10972800" cy="306667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txBody>
          <a:bodyPr/>
          <a:p/>
        </p:txBody>
      </p:sp>
      <p:sp>
        <p:nvSpPr>
          <p:cNvPr id="125" name="R1C1"/>
          <p:cNvSpPr>
            <a:spLocks noGrp="1"/>
          </p:cNvSpPr>
          <p:nvPr/>
        </p:nvSpPr>
        <p:spPr>
          <a:xfrm>
            <a:off x="691794" y="5900618"/>
            <a:ext cx="1466667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+15 s</a:t>
            </a:r>
          </a:p>
        </p:txBody>
      </p:sp>
      <p:sp>
        <p:nvSpPr>
          <p:cNvPr id="126" name="R1C2"/>
          <p:cNvSpPr>
            <a:spLocks noGrp="1"/>
          </p:cNvSpPr>
          <p:nvPr/>
        </p:nvSpPr>
        <p:spPr>
          <a:xfrm>
            <a:off x="2158461" y="5900618"/>
            <a:ext cx="2000000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250 m</a:t>
            </a:r>
          </a:p>
        </p:txBody>
      </p:sp>
      <p:sp>
        <p:nvSpPr>
          <p:cNvPr id="127" name="R1C3"/>
          <p:cNvSpPr>
            <a:spLocks noGrp="1"/>
          </p:cNvSpPr>
          <p:nvPr/>
        </p:nvSpPr>
        <p:spPr>
          <a:xfrm>
            <a:off x="4158461" y="5900618"/>
            <a:ext cx="7506133" cy="30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Pre-engage dead-reckoning · adjust speed</a:t>
            </a:r>
          </a:p>
        </p:txBody>
      </p:sp>
      <p:sp>
        <p:nvSpPr>
          <p:cNvPr id="128" name="RowBg2"/>
          <p:cNvSpPr/>
          <p:nvPr/>
        </p:nvSpPr>
        <p:spPr>
          <a:xfrm>
            <a:off x="691794" y="6207285"/>
            <a:ext cx="10972800" cy="306667"/>
          </a:xfrm>
          <a:prstGeom prst="rect">
            <a:avLst/>
          </a:prstGeom>
          <a:solidFill>
            <a:srgbClr val="F5F8FF"/>
          </a:solidFill>
          <a:ln w="6350">
            <a:solidFill>
              <a:srgbClr val="EEEEEE"/>
            </a:solidFill>
          </a:ln>
        </p:spPr>
        <p:txBody>
          <a:bodyPr/>
          <a:p/>
        </p:txBody>
      </p:sp>
      <p:sp>
        <p:nvSpPr>
          <p:cNvPr id="129" name="R2C1"/>
          <p:cNvSpPr>
            <a:spLocks noGrp="1"/>
          </p:cNvSpPr>
          <p:nvPr/>
        </p:nvSpPr>
        <p:spPr>
          <a:xfrm>
            <a:off x="691794" y="6207285"/>
            <a:ext cx="1466667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+30 s</a:t>
            </a:r>
          </a:p>
        </p:txBody>
      </p:sp>
      <p:sp>
        <p:nvSpPr>
          <p:cNvPr id="130" name="R2C2"/>
          <p:cNvSpPr>
            <a:spLocks noGrp="1"/>
          </p:cNvSpPr>
          <p:nvPr/>
        </p:nvSpPr>
        <p:spPr>
          <a:xfrm>
            <a:off x="2158461" y="6207285"/>
            <a:ext cx="2000000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500 m</a:t>
            </a:r>
          </a:p>
        </p:txBody>
      </p:sp>
      <p:sp>
        <p:nvSpPr>
          <p:cNvPr id="131" name="R2C3"/>
          <p:cNvSpPr>
            <a:spLocks noGrp="1"/>
          </p:cNvSpPr>
          <p:nvPr/>
        </p:nvSpPr>
        <p:spPr>
          <a:xfrm>
            <a:off x="4158461" y="6207285"/>
            <a:ext cx="7506133" cy="30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Re-route away from degradation zone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0007CD-EDFA-F4C1-AE6F-744A862E5A4A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3407758C-2DAB-BF49-E11D-B3D1F82E1DC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4F87558A-751E-8471-93D8-B0402FD66BC9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FDF6E289-E263-8344-0113-57C26545F6E6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697E0A82-E7EC-E55B-F226-DB53E1316FD7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AD066CF0-7FFA-1ED6-60ED-51AC443AE339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0C434B2D-F4FB-DDA3-B093-CB01B49D6FB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AE18E06B-2B4A-2DC9-9F7A-49941E7BAB27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01594319-4198-2DBD-F688-57E54D886C4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7CD7D3-A50D-A2EB-265F-911F9224A9E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A43F0261-3E6E-0036-647A-6BFEAE3BF18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B9942C48-995C-2906-B1CF-D9E953934F0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D0B32104-BFC2-20F9-B103-8602FE2B93B4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ED38DEBB-8F4E-276D-46FD-A189B54485B7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7FAFAD18-1042-0D68-1AD3-09DABD4CE6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90F76EC-1277-44AB-2FEE-E1BB2E5A0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742DB0B4-3699-A86B-F3A0-942C5E757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594" y="783537"/>
            <a:ext cx="7087199" cy="3987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2 ·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408" y="-24618"/>
            <a:ext cx="1220440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927" y="1213254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761928" y="2182407"/>
            <a:ext cx="6195073" cy="3555928"/>
          </a:xfrm>
          <a:prstGeom prst="roundRect">
            <a:avLst>
              <a:gd name="adj" fmla="val 2500"/>
            </a:avLst>
          </a:prstGeom>
          <a:ln/>
          <a:effectLst>
            <a:outerShdw blurRad="381000" dist="133350" dir="5400000" algn="bl" rotWithShape="0">
              <a:srgbClr val="002A6E">
                <a:alpha val="55000"/>
              </a:srgbClr>
            </a:outerShdw>
          </a:effectLst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379666" y="5632405"/>
            <a:ext cx="6959596" cy="31975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600" b="1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149,662 </a:t>
            </a:r>
            <a:r>
              <a:rPr lang="en-US" sz="1600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labelled epochs · one unified 3-class schema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671173" y="1076490"/>
            <a:ext cx="1511227" cy="3744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</a:rPr>
              <a:t>3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8397498" y="1023531"/>
            <a:ext cx="1546432" cy="28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Cities collected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97499" y="1382000"/>
            <a:ext cx="2862835" cy="919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Hangzhou · Hong Kong · Tokyo </a:t>
            </a:r>
            <a:endParaRPr lang="en-US" sz="1200" b="1" dirty="0"/>
          </a:p>
        </p:txBody>
      </p:sp>
      <p:sp>
        <p:nvSpPr>
          <p:cNvPr id="18" name="Shape 13"/>
          <p:cNvSpPr/>
          <p:nvPr/>
        </p:nvSpPr>
        <p:spPr>
          <a:xfrm>
            <a:off x="7299857" y="2243009"/>
            <a:ext cx="4130073" cy="6351"/>
          </a:xfrm>
          <a:prstGeom prst="rect">
            <a:avLst/>
          </a:prstGeom>
          <a:solidFill>
            <a:srgbClr val="CDD9EA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7695170" y="2083635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3100" dirty="0"/>
          </a:p>
        </p:txBody>
      </p:sp>
      <p:sp>
        <p:nvSpPr>
          <p:cNvPr id="20" name="Text 15"/>
          <p:cNvSpPr/>
          <p:nvPr/>
        </p:nvSpPr>
        <p:spPr>
          <a:xfrm>
            <a:off x="8397499" y="2041011"/>
            <a:ext cx="1462444" cy="26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Receiver types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97500" y="2280512"/>
            <a:ext cx="2952577" cy="23746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survey-grade → consumer phone</a:t>
            </a:r>
            <a:endParaRPr lang="en-US" sz="1200" b="1" dirty="0"/>
          </a:p>
        </p:txBody>
      </p:sp>
      <p:sp>
        <p:nvSpPr>
          <p:cNvPr id="22" name="Shape 17"/>
          <p:cNvSpPr/>
          <p:nvPr/>
        </p:nvSpPr>
        <p:spPr>
          <a:xfrm>
            <a:off x="7299857" y="2727527"/>
            <a:ext cx="4130073" cy="6351"/>
          </a:xfrm>
          <a:prstGeom prst="rect">
            <a:avLst/>
          </a:prstGeom>
          <a:solidFill>
            <a:srgbClr val="CDD9EA"/>
          </a:solidFill>
          <a:ln/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7671173" y="3027849"/>
            <a:ext cx="1579585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3100" dirty="0"/>
          </a:p>
        </p:txBody>
      </p:sp>
      <p:sp>
        <p:nvSpPr>
          <p:cNvPr id="24" name="Text 19"/>
          <p:cNvSpPr/>
          <p:nvPr/>
        </p:nvSpPr>
        <p:spPr>
          <a:xfrm>
            <a:off x="8397499" y="3007604"/>
            <a:ext cx="2410711" cy="29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Degradation scenarios A-E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97500" y="3283218"/>
            <a:ext cx="2749377" cy="4820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blockage · canyon · partial · open · approaching</a:t>
            </a:r>
            <a:endParaRPr lang="en-US" sz="1200" b="1" dirty="0"/>
          </a:p>
        </p:txBody>
      </p:sp>
      <p:sp>
        <p:nvSpPr>
          <p:cNvPr id="27" name="Text 22"/>
          <p:cNvSpPr/>
          <p:nvPr/>
        </p:nvSpPr>
        <p:spPr>
          <a:xfrm>
            <a:off x="7671172" y="4145574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3100" dirty="0"/>
          </a:p>
        </p:txBody>
      </p:sp>
      <p:sp>
        <p:nvSpPr>
          <p:cNvPr id="28" name="Text 23"/>
          <p:cNvSpPr/>
          <p:nvPr/>
        </p:nvSpPr>
        <p:spPr>
          <a:xfrm>
            <a:off x="8397500" y="4136801"/>
            <a:ext cx="2112413" cy="336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Sampling cadence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97500" y="4410555"/>
            <a:ext cx="2221057" cy="3107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RINEX + NMEA per epoch</a:t>
            </a:r>
            <a:endParaRPr lang="en-US" sz="1200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71C799-BD83-0553-C789-2F6AD278BC9F}"/>
              </a:ext>
            </a:extLst>
          </p:cNvPr>
          <p:cNvGrpSpPr/>
          <p:nvPr/>
        </p:nvGrpSpPr>
        <p:grpSpPr>
          <a:xfrm>
            <a:off x="-95624" y="-46134"/>
            <a:ext cx="12287624" cy="767311"/>
            <a:chOff x="-71718" y="-18464"/>
            <a:chExt cx="9215718" cy="575483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6CE38917-AB98-BDC4-77F8-DD2A9D564AEA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36" name="Shape 1">
              <a:extLst>
                <a:ext uri="{FF2B5EF4-FFF2-40B4-BE49-F238E27FC236}">
                  <a16:creationId xmlns:a16="http://schemas.microsoft.com/office/drawing/2014/main" id="{B94ABE1A-90E2-690E-3C7C-DE5083632610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8C25F906-D66A-A74B-2C37-382EAA0980B6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38" name="Shape 5">
              <a:extLst>
                <a:ext uri="{FF2B5EF4-FFF2-40B4-BE49-F238E27FC236}">
                  <a16:creationId xmlns:a16="http://schemas.microsoft.com/office/drawing/2014/main" id="{E9AEE26E-87E7-AC1B-D772-AA4B9D3A604B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9F6B7D67-D278-A536-A364-DC4CA17A5A46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E1EF7C92-825B-36C6-FE31-9E2CEF3ABF4C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6090DF5B-325C-DFDF-215F-4F10AFDDE09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Shape 9">
              <a:extLst>
                <a:ext uri="{FF2B5EF4-FFF2-40B4-BE49-F238E27FC236}">
                  <a16:creationId xmlns:a16="http://schemas.microsoft.com/office/drawing/2014/main" id="{28707B0A-F92B-9522-9FD5-3A3FD8ABA37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Shape 10">
              <a:extLst>
                <a:ext uri="{FF2B5EF4-FFF2-40B4-BE49-F238E27FC236}">
                  <a16:creationId xmlns:a16="http://schemas.microsoft.com/office/drawing/2014/main" id="{08CD6C0F-BCEC-61BC-02BA-8D78C6A3DF2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4" name="Shape 11">
              <a:extLst>
                <a:ext uri="{FF2B5EF4-FFF2-40B4-BE49-F238E27FC236}">
                  <a16:creationId xmlns:a16="http://schemas.microsoft.com/office/drawing/2014/main" id="{CB4692AB-7E21-55E3-C959-B99FBF5A2BA2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5" name="Shape 12">
              <a:extLst>
                <a:ext uri="{FF2B5EF4-FFF2-40B4-BE49-F238E27FC236}">
                  <a16:creationId xmlns:a16="http://schemas.microsoft.com/office/drawing/2014/main" id="{104690DC-2AA0-AD78-A48E-80EE7631EE6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Shape 13">
              <a:extLst>
                <a:ext uri="{FF2B5EF4-FFF2-40B4-BE49-F238E27FC236}">
                  <a16:creationId xmlns:a16="http://schemas.microsoft.com/office/drawing/2014/main" id="{A312E4E3-1090-CF90-DD85-8CFEC78FB3EB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5A4773D0-ADF6-8B8C-4174-A5E64C07F16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8" name="Shape 15">
              <a:extLst>
                <a:ext uri="{FF2B5EF4-FFF2-40B4-BE49-F238E27FC236}">
                  <a16:creationId xmlns:a16="http://schemas.microsoft.com/office/drawing/2014/main" id="{4222439E-60A8-3572-6BCD-B9A09E0F3360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Shape 16">
              <a:extLst>
                <a:ext uri="{FF2B5EF4-FFF2-40B4-BE49-F238E27FC236}">
                  <a16:creationId xmlns:a16="http://schemas.microsoft.com/office/drawing/2014/main" id="{46FAE77C-6ABE-4A29-559D-7AEE501589AF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9718EB6C-8904-5EED-AC95-F9C1535F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5" name="TopLabel">
            <a:extLst>
              <a:ext uri="{FF2B5EF4-FFF2-40B4-BE49-F238E27FC236}">
                <a16:creationId xmlns:a16="http://schemas.microsoft.com/office/drawing/2014/main" id="{3EF71C49-036E-8725-EE0C-BC63418483EC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 - Three sources, one unified schema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52795-39A9-BC37-E7CB-CD6982532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71" y="1094779"/>
            <a:ext cx="6410998" cy="4254369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032576AD-3ADD-1385-E994-3706ACDD53D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9945E74-F2C7-3784-A1DE-2B4C3266DB9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3 ·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0638-9874-946D-33AE-BDF2E60B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F5FDB16D-4345-4755-A51E-2AD6D8A8BC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7330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8768DF91-B049-BEA0-F881-B7AAD8DC7E33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DEEEC112-00FD-430D-BD46-36B875CC444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E17C71F-03EC-9127-86EB-4B7016F84A3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F4666B28-AB11-6BFC-4B22-6250B60F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2003361C-62C7-F418-4173-1346A2D7BAFD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COMPLETE SYSTEM PIPELINE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D14E39-696E-A2EA-4277-AF55CE274FA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DBF300E5-AF06-2E0F-4E9B-63BF87D22601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7760B6AD-6BA4-2BC0-20B7-4133FFFD1F5B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E28DFD7E-D1A4-BE0E-BD04-7A003A4C8F2D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EC041BB4-F568-8B66-A7D9-0912B5AE57DC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15C897A9-41A9-ED90-6455-1726E1BD8B1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81DDFF98-AEF5-55FC-42F1-E1FC689FB3C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F0C38718-30EC-A2E1-ACA8-5B42382A2E6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F223B489-1BFC-6594-AFF3-6CBFCF17E0CA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F343436C-9FE4-A5C4-B044-736D5308C4A1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0B36607-1727-E03D-B0D3-979FD09B93D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3B613D6A-C6CE-2ACD-0859-416C79B8CAA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39512386-7A1C-3925-182A-CCC6B6EF04CE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1A1AD1B5-282F-CB39-0D7A-B40B3D6EB38D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13CB4BAD-1F8D-FA96-8DFA-03DC27ABE0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7BB0411-E02E-44C2-7B73-FDF1F4F37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E0878CB-B258-77BB-D92C-88ECECCDD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60" y="967916"/>
            <a:ext cx="10427542" cy="55017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9361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81588"/>
            <a:ext cx="12191928" cy="676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4833" y="899811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3" name="Shape 8"/>
          <p:cNvSpPr/>
          <p:nvPr/>
        </p:nvSpPr>
        <p:spPr>
          <a:xfrm>
            <a:off x="734833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946034" y="5979973"/>
            <a:ext cx="745389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333" b="1" kern="0" spc="32" dirty="0">
                <a:solidFill>
                  <a:srgbClr val="2E9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1597051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E0A012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1835345" y="5979973"/>
            <a:ext cx="826576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333" b="1" kern="0" spc="32" dirty="0">
                <a:solidFill>
                  <a:srgbClr val="B982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</a:t>
            </a:r>
            <a:endParaRPr lang="en-US" sz="1333" dirty="0"/>
          </a:p>
        </p:txBody>
      </p:sp>
      <p:sp>
        <p:nvSpPr>
          <p:cNvPr id="17" name="Shape 12"/>
          <p:cNvSpPr/>
          <p:nvPr/>
        </p:nvSpPr>
        <p:spPr>
          <a:xfrm>
            <a:off x="2796539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D6453D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3014514" y="5979973"/>
            <a:ext cx="1144313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333" b="1" kern="0" spc="32" dirty="0">
                <a:solidFill>
                  <a:srgbClr val="D645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DEGRADED</a:t>
            </a:r>
            <a:endParaRPr lang="en-US" sz="1333" dirty="0"/>
          </a:p>
        </p:txBody>
      </p:sp>
      <p:sp>
        <p:nvSpPr>
          <p:cNvPr id="19" name="Text 14"/>
          <p:cNvSpPr/>
          <p:nvPr/>
        </p:nvSpPr>
        <p:spPr>
          <a:xfrm>
            <a:off x="4910973" y="5979973"/>
            <a:ext cx="7181967" cy="37541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40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s of signal in → degradation class out at +5 / +15 / +30 s</a:t>
            </a:r>
            <a:endParaRPr lang="en-US" sz="1400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35D027-65E9-FFAD-0501-5AA931157D9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745CBA48-ADE7-E439-C5F9-88B6D826CEF5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9AFA4D1D-905F-90DB-70E7-83562014A2B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C8ECE362-EA46-E257-5946-741385C18B33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42CF7C76-59C4-A2DD-D6BC-7A010782D0BA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AAB3DDAE-A664-BB31-0819-E426E955EC6F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A9D5A26F-A210-6B89-60B1-EE0A204621CD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CE790845-BCD7-139D-25C5-F7E89E6B53C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CCFACD4A-8090-3777-11A2-4C3353CF12F3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ACB99CCE-835B-CA5D-9DB0-AD88370FC222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9BD5C7BB-A7CC-B83C-290A-95364549F8A7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6E28E5B2-FC44-408A-1776-4C4DE7F2F993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10E84644-CC2A-F723-D75B-EA9F0511548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D6A86F6B-18FF-7785-F5F4-13DC80D8BAD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15">
              <a:extLst>
                <a:ext uri="{FF2B5EF4-FFF2-40B4-BE49-F238E27FC236}">
                  <a16:creationId xmlns:a16="http://schemas.microsoft.com/office/drawing/2014/main" id="{238F248F-DABF-8EAB-DF36-94C9CDC74C58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16">
              <a:extLst>
                <a:ext uri="{FF2B5EF4-FFF2-40B4-BE49-F238E27FC236}">
                  <a16:creationId xmlns:a16="http://schemas.microsoft.com/office/drawing/2014/main" id="{DC81E306-0012-4F2E-98F4-37216D9AC261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8216D8D-5226-DB04-835E-92EA0173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3" name="TopLabel">
            <a:extLst>
              <a:ext uri="{FF2B5EF4-FFF2-40B4-BE49-F238E27FC236}">
                <a16:creationId xmlns:a16="http://schemas.microsoft.com/office/drawing/2014/main" id="{7F7D13F6-4D45-BFFD-0F86-8AF1D5E3090A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8078501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METHODOLOGY - Three classes, predicted three steps ahead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9BD67AC-60E6-DF8D-97B6-2398BA43E319}"/>
              </a:ext>
            </a:extLst>
          </p:cNvPr>
          <p:cNvSpPr/>
          <p:nvPr/>
        </p:nvSpPr>
        <p:spPr>
          <a:xfrm>
            <a:off x="-72" y="6831378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196365C-9AD7-9293-D07F-CE6081F490F4}"/>
              </a:ext>
            </a:extLst>
          </p:cNvPr>
          <p:cNvSpPr/>
          <p:nvPr/>
        </p:nvSpPr>
        <p:spPr>
          <a:xfrm>
            <a:off x="-72" y="680819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00180-F778-EE7F-C1E6-5BCD41E25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07" y="1097457"/>
            <a:ext cx="11498786" cy="43152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8" y="-11368"/>
            <a:ext cx="12191928" cy="68579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385274" y="1193205"/>
            <a:ext cx="9464412" cy="35663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056">
            <a:solidFill>
              <a:srgbClr val="CDD9EA"/>
            </a:solidFill>
            <a:prstDash val="solid"/>
          </a:ln>
          <a:effectLst>
            <a:outerShdw blurRad="285750" dist="95250" dir="5400000" algn="bl" rotWithShape="0">
              <a:srgbClr val="002A6E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801575" y="5209777"/>
            <a:ext cx="2657501" cy="19771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150" b="1" kern="0" spc="76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FEATURES · 7 GROUPS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075117" y="5116379"/>
            <a:ext cx="824897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3206821" y="5196521"/>
            <a:ext cx="589425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045074" y="5116379"/>
            <a:ext cx="1699284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4176777" y="5196519"/>
            <a:ext cx="1463815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 strength · C/N₀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38834" y="5116379"/>
            <a:ext cx="1247683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6070539" y="5196519"/>
            <a:ext cx="1012213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Satellite count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66890" y="5116379"/>
            <a:ext cx="584689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7498594" y="5196519"/>
            <a:ext cx="349219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DOP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970948" y="5116379"/>
            <a:ext cx="1306943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8102652" y="5196521"/>
            <a:ext cx="1071471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Receiver status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336598" y="5116379"/>
            <a:ext cx="917285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9468302" y="5196521"/>
            <a:ext cx="681813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Temporal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10401942" y="5116379"/>
            <a:ext cx="1136819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10533644" y="5196521"/>
            <a:ext cx="901347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Atmospheric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1034853" y="5865019"/>
            <a:ext cx="335301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r>
              <a:rPr lang="en-US" sz="14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2500" dirty="0"/>
          </a:p>
        </p:txBody>
      </p:sp>
      <p:sp>
        <p:nvSpPr>
          <p:cNvPr id="30" name="Text 25"/>
          <p:cNvSpPr/>
          <p:nvPr/>
        </p:nvSpPr>
        <p:spPr>
          <a:xfrm>
            <a:off x="1433639" y="5759508"/>
            <a:ext cx="2346122" cy="3882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RIEX + NMEA per epoch</a:t>
            </a:r>
            <a:endParaRPr lang="en-US" sz="1333" dirty="0"/>
          </a:p>
        </p:txBody>
      </p:sp>
      <p:sp>
        <p:nvSpPr>
          <p:cNvPr id="31" name="Text 26"/>
          <p:cNvSpPr/>
          <p:nvPr/>
        </p:nvSpPr>
        <p:spPr>
          <a:xfrm>
            <a:off x="3702715" y="5858245"/>
            <a:ext cx="1339689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× 37</a:t>
            </a:r>
            <a:endParaRPr lang="en-US" sz="2500" dirty="0"/>
          </a:p>
        </p:txBody>
      </p:sp>
      <p:sp>
        <p:nvSpPr>
          <p:cNvPr id="32" name="Text 27"/>
          <p:cNvSpPr/>
          <p:nvPr/>
        </p:nvSpPr>
        <p:spPr>
          <a:xfrm>
            <a:off x="5087394" y="5759508"/>
            <a:ext cx="1986399" cy="60780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sliding-window tensor</a:t>
            </a:r>
            <a:endParaRPr lang="en-US" sz="1333" dirty="0"/>
          </a:p>
        </p:txBody>
      </p:sp>
      <p:sp>
        <p:nvSpPr>
          <p:cNvPr id="33" name="Text 28"/>
          <p:cNvSpPr/>
          <p:nvPr/>
        </p:nvSpPr>
        <p:spPr>
          <a:xfrm>
            <a:off x="6902216" y="5885339"/>
            <a:ext cx="2379108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 / 15 / 30</a:t>
            </a:r>
            <a:r>
              <a:rPr lang="en-US" sz="14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2500" dirty="0"/>
          </a:p>
        </p:txBody>
      </p:sp>
      <p:sp>
        <p:nvSpPr>
          <p:cNvPr id="34" name="Text 29"/>
          <p:cNvSpPr/>
          <p:nvPr/>
        </p:nvSpPr>
        <p:spPr>
          <a:xfrm>
            <a:off x="9327253" y="5815948"/>
            <a:ext cx="1713251" cy="60780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 horizons</a:t>
            </a:r>
            <a:endParaRPr lang="en-US" sz="1333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09AB04-1C4B-BFA6-6708-05B2EFB9AA7D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39" name="Shape 0">
              <a:extLst>
                <a:ext uri="{FF2B5EF4-FFF2-40B4-BE49-F238E27FC236}">
                  <a16:creationId xmlns:a16="http://schemas.microsoft.com/office/drawing/2014/main" id="{8C34A9CD-459D-9997-0964-E79377D1C26C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40" name="Shape 1">
              <a:extLst>
                <a:ext uri="{FF2B5EF4-FFF2-40B4-BE49-F238E27FC236}">
                  <a16:creationId xmlns:a16="http://schemas.microsoft.com/office/drawing/2014/main" id="{F2681B20-F38A-74FC-EEC6-3623C8787F95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992D5A3-07A2-586C-471B-1AEA6BDDFDDB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D5DD6FBB-3426-FD62-A948-3012850FAEED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F101E4A-F7A1-75FB-3079-CA5ED737E907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A5AF7EA-CA33-87A6-387A-527BEFDB7DC7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7B03D3A6-3454-3BFB-F14D-D351E7E3AC14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F40B6E5D-BC49-93EC-4D59-5C2EA65D8C47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AC3A7623-D09D-8C95-5284-F4F2247018B1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F1B54E4E-DA17-4D2B-4DDD-8B6474ADCB12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Shape 12">
              <a:extLst>
                <a:ext uri="{FF2B5EF4-FFF2-40B4-BE49-F238E27FC236}">
                  <a16:creationId xmlns:a16="http://schemas.microsoft.com/office/drawing/2014/main" id="{68E2CA5C-9F11-3D5F-296F-352BFE2CC9D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0" name="Shape 13">
              <a:extLst>
                <a:ext uri="{FF2B5EF4-FFF2-40B4-BE49-F238E27FC236}">
                  <a16:creationId xmlns:a16="http://schemas.microsoft.com/office/drawing/2014/main" id="{C6C257A0-92CA-2D25-5C3D-7E9214CBDAA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Shape 14">
              <a:extLst>
                <a:ext uri="{FF2B5EF4-FFF2-40B4-BE49-F238E27FC236}">
                  <a16:creationId xmlns:a16="http://schemas.microsoft.com/office/drawing/2014/main" id="{84CFACC2-8699-BC6F-39D8-9191648284B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Shape 15">
              <a:extLst>
                <a:ext uri="{FF2B5EF4-FFF2-40B4-BE49-F238E27FC236}">
                  <a16:creationId xmlns:a16="http://schemas.microsoft.com/office/drawing/2014/main" id="{82C56113-CCC6-3469-DD3B-A6171C8F8212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3" name="Shape 16">
              <a:extLst>
                <a:ext uri="{FF2B5EF4-FFF2-40B4-BE49-F238E27FC236}">
                  <a16:creationId xmlns:a16="http://schemas.microsoft.com/office/drawing/2014/main" id="{64E4E338-6B91-96E0-2F10-3BB273E2AEBE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B8F513D-7679-1FA4-1905-FE4B552FE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3" name="TopLabel">
            <a:extLst>
              <a:ext uri="{FF2B5EF4-FFF2-40B4-BE49-F238E27FC236}">
                <a16:creationId xmlns:a16="http://schemas.microsoft.com/office/drawing/2014/main" id="{E1449DB4-E893-DAB9-BB3D-932189A2B1A3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METHODOLOGY</a:t>
            </a:r>
            <a:endParaRPr lang="en-US" sz="32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17ED5-B2F7-CFDA-DA24-D075DD7D7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548" y="1214839"/>
            <a:ext cx="9414037" cy="3504292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3D8EF96F-F2C8-072A-B6A3-DAD74ED3E694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52B8B8C-6197-A57C-C516-6DE1A33AEF15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" y="-24618"/>
            <a:ext cx="1219192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1941" y="1065803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algn="ctr"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1478839" y="1043724"/>
            <a:ext cx="9411698" cy="4228396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7056">
            <a:solidFill>
              <a:srgbClr val="CDD9EA"/>
            </a:solidFill>
            <a:prstDash val="solid"/>
          </a:ln>
          <a:effectLst>
            <a:outerShdw blurRad="285750" dist="95250" dir="5400000" algn="bl" rotWithShape="0">
              <a:srgbClr val="002A6E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9176" y="1062035"/>
            <a:ext cx="9231024" cy="411529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85545" y="5561518"/>
            <a:ext cx="2703617" cy="379493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1157410" y="5631736"/>
            <a:ext cx="2367077" cy="26775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focal loss · γ = 1.0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924E11-E98D-D243-957E-EA2ACE05C569}"/>
              </a:ext>
            </a:extLst>
          </p:cNvPr>
          <p:cNvGrpSpPr/>
          <p:nvPr/>
        </p:nvGrpSpPr>
        <p:grpSpPr>
          <a:xfrm>
            <a:off x="-106382" y="-46134"/>
            <a:ext cx="12287624" cy="767311"/>
            <a:chOff x="-71718" y="-18464"/>
            <a:chExt cx="9215718" cy="575483"/>
          </a:xfrm>
        </p:grpSpPr>
        <p:sp>
          <p:nvSpPr>
            <p:cNvPr id="27" name="Shape 0">
              <a:extLst>
                <a:ext uri="{FF2B5EF4-FFF2-40B4-BE49-F238E27FC236}">
                  <a16:creationId xmlns:a16="http://schemas.microsoft.com/office/drawing/2014/main" id="{9122362D-F64B-24F0-067B-9100D7DB0AC9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28" name="Shape 1">
              <a:extLst>
                <a:ext uri="{FF2B5EF4-FFF2-40B4-BE49-F238E27FC236}">
                  <a16:creationId xmlns:a16="http://schemas.microsoft.com/office/drawing/2014/main" id="{58427887-7980-4D37-DB5F-41296FDFBF42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6A9D3119-1BD6-2777-36C3-7D69350A781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30" name="Shape 5">
              <a:extLst>
                <a:ext uri="{FF2B5EF4-FFF2-40B4-BE49-F238E27FC236}">
                  <a16:creationId xmlns:a16="http://schemas.microsoft.com/office/drawing/2014/main" id="{57CC8F4E-331B-AD91-A827-F5E5298F1512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6">
              <a:extLst>
                <a:ext uri="{FF2B5EF4-FFF2-40B4-BE49-F238E27FC236}">
                  <a16:creationId xmlns:a16="http://schemas.microsoft.com/office/drawing/2014/main" id="{8680FC17-9C4D-5F25-0DB0-7C6E521A1101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C0489106-098F-9CC6-71E5-18375CBCF1DF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19D98C45-D9CC-CE2B-74F3-57BC17B5B69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2DBCEF41-DC97-BB00-869C-3DF77E44FBF9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BA83516F-3A9F-98F8-4009-F619C2AF3577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11">
              <a:extLst>
                <a:ext uri="{FF2B5EF4-FFF2-40B4-BE49-F238E27FC236}">
                  <a16:creationId xmlns:a16="http://schemas.microsoft.com/office/drawing/2014/main" id="{38960180-8A8D-6DFC-3A0E-0398E1C665B3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12">
              <a:extLst>
                <a:ext uri="{FF2B5EF4-FFF2-40B4-BE49-F238E27FC236}">
                  <a16:creationId xmlns:a16="http://schemas.microsoft.com/office/drawing/2014/main" id="{A72A36A9-9807-F829-55BB-18F60DA2A9CD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AD782100-A76A-6E56-01D4-64219AA4443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14">
              <a:extLst>
                <a:ext uri="{FF2B5EF4-FFF2-40B4-BE49-F238E27FC236}">
                  <a16:creationId xmlns:a16="http://schemas.microsoft.com/office/drawing/2014/main" id="{350EBA46-9079-6CB5-6AC0-E62E30B627ED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15">
              <a:extLst>
                <a:ext uri="{FF2B5EF4-FFF2-40B4-BE49-F238E27FC236}">
                  <a16:creationId xmlns:a16="http://schemas.microsoft.com/office/drawing/2014/main" id="{72DA8FD2-22F2-2D7C-ABB8-60A7B8E7784A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1" name="Shape 16">
              <a:extLst>
                <a:ext uri="{FF2B5EF4-FFF2-40B4-BE49-F238E27FC236}">
                  <a16:creationId xmlns:a16="http://schemas.microsoft.com/office/drawing/2014/main" id="{90750C28-99EE-E507-F163-EE5FFB70EB3B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97A2DFA-17FE-4730-E1E9-E6134E5D4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44" name="Shape 12">
            <a:extLst>
              <a:ext uri="{FF2B5EF4-FFF2-40B4-BE49-F238E27FC236}">
                <a16:creationId xmlns:a16="http://schemas.microsoft.com/office/drawing/2014/main" id="{602020F9-8F8E-078B-7ECF-EBD20A2EBEDF}"/>
              </a:ext>
            </a:extLst>
          </p:cNvPr>
          <p:cNvSpPr/>
          <p:nvPr/>
        </p:nvSpPr>
        <p:spPr>
          <a:xfrm>
            <a:off x="3970800" y="5561518"/>
            <a:ext cx="3190701" cy="379492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weights [1 · 2 · 5]</a:t>
            </a:r>
            <a:endParaRPr lang="en-US" sz="1400" dirty="0"/>
          </a:p>
          <a:p>
            <a:endParaRPr lang="en-US" sz="28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6A21AF6B-9D89-008E-CD13-467C370F3625}"/>
              </a:ext>
            </a:extLst>
          </p:cNvPr>
          <p:cNvSpPr/>
          <p:nvPr/>
        </p:nvSpPr>
        <p:spPr>
          <a:xfrm>
            <a:off x="7257197" y="5575866"/>
            <a:ext cx="3895079" cy="379492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SMOTE  -  imbalance at loss level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3" name="TopLabel">
            <a:extLst>
              <a:ext uri="{FF2B5EF4-FFF2-40B4-BE49-F238E27FC236}">
                <a16:creationId xmlns:a16="http://schemas.microsoft.com/office/drawing/2014/main" id="{5915431F-4D49-014E-4C44-9F15A0C1ECD9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METHODOLOGY - Inside SENTINEL-GNSS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FC1B39-3751-98B4-DCD8-D50351BCC44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99C8D0-9DDD-914B-41EA-0707AC7EDD88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4 · Results 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94A06CA-A6B0-B444-889C-B28506C60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-291"/>
            <a:ext cx="12191928" cy="6857928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2027464" y="851528"/>
            <a:ext cx="2528752" cy="151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14938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214938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+5 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214938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0.773  |  CI [0.798-0.840]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31624" y="851528"/>
            <a:ext cx="2621280" cy="151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5354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</a:t>
            </a:r>
            <a:endParaRPr lang="en-US" sz="4533" dirty="0"/>
          </a:p>
        </p:txBody>
      </p:sp>
      <p:sp>
        <p:nvSpPr>
          <p:cNvPr id="10" name="Text 8"/>
          <p:cNvSpPr/>
          <p:nvPr/>
        </p:nvSpPr>
        <p:spPr>
          <a:xfrm>
            <a:off x="495354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+15 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95354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0.691  |  CI [0.717-0.764]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784" y="851528"/>
            <a:ext cx="2528752" cy="15311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5770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</a:t>
            </a:r>
            <a:endParaRPr lang="en-US" sz="4533" dirty="0"/>
          </a:p>
        </p:txBody>
      </p:sp>
      <p:sp>
        <p:nvSpPr>
          <p:cNvPr id="14" name="Text 12"/>
          <p:cNvSpPr/>
          <p:nvPr/>
        </p:nvSpPr>
        <p:spPr>
          <a:xfrm>
            <a:off x="775770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+30 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75770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0.731  |  CI [0.758-0.804]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995" y="3260732"/>
            <a:ext cx="6307111" cy="536448"/>
          </a:xfrm>
          <a:prstGeom prst="rect">
            <a:avLst/>
          </a:prstGeom>
          <a:solidFill>
            <a:srgbClr val="0A1F44">
              <a:alpha val="94000"/>
            </a:srgbClr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1914" y="3199772"/>
            <a:ext cx="74980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warning with Macro-F1 = 0.783  -  nearly as strong as 5-second prediction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728792"/>
              </p:ext>
            </p:extLst>
          </p:nvPr>
        </p:nvGraphicFramePr>
        <p:xfrm>
          <a:off x="19994" y="3933922"/>
          <a:ext cx="6307112" cy="1573667"/>
        </p:xfrm>
        <a:graphic>
          <a:graphicData uri="http://schemas.openxmlformats.org/drawingml/2006/table">
            <a:tbl>
              <a:tblPr/>
              <a:tblGrid>
                <a:gridCol w="1206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3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3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0">
            <a:extLst>
              <a:ext uri="{FF2B5EF4-FFF2-40B4-BE49-F238E27FC236}">
                <a16:creationId xmlns:a16="http://schemas.microsoft.com/office/drawing/2014/main" id="{87CCF24D-1AF1-74F9-4D19-8346C5980538}"/>
              </a:ext>
            </a:extLst>
          </p:cNvPr>
          <p:cNvSpPr/>
          <p:nvPr/>
        </p:nvSpPr>
        <p:spPr>
          <a:xfrm>
            <a:off x="0" y="-14999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663E9366-47C3-8641-F5B7-123771E660C8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0D9DC2BD-BC63-EBDB-0052-59AE0B3C4F45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922562E-0B77-6BAC-5F8F-4566B6333A1C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92A2B3-9D01-B300-94E2-D21B241542C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352A548A-6F0E-C929-38E1-82A226D518D6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6B99675-A0B4-9F6F-DF59-2B8FFC884DC4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5D4B0EAF-18B6-F4A9-D163-238D1E892E53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FDB21CF5-E1A0-61B9-6470-3D9D980BA57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4750F87-FBBE-A3BD-4EF4-FBAB65F35E86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995F669-75CB-AE61-9296-7F3725091ED0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80B4136-791B-8E12-B7F0-75F94EE1B07A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C8025F57-DAAB-FC28-FE33-560C29845DC0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D5285F09-3CFF-D55E-CD36-88CCB91C96EC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1DDE3261-B8D6-21E5-A8B5-740211AA11B0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8A995811-FF1E-EF32-E8C7-5C6089A4C869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028A888-F4A9-CD42-FDB6-DA80835069F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626372-6B6A-6683-4783-9E74580BB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7" y="22673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PREDICTION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921957-1BC1-9292-A76D-B567F729A8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77"/>
          <a:stretch>
            <a:fillRect/>
          </a:stretch>
        </p:blipFill>
        <p:spPr>
          <a:xfrm>
            <a:off x="6486721" y="2466177"/>
            <a:ext cx="5463171" cy="3591705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7BFC57F7-6000-5F78-FB96-361D1FF7F77D}"/>
              </a:ext>
            </a:extLst>
          </p:cNvPr>
          <p:cNvSpPr/>
          <p:nvPr/>
        </p:nvSpPr>
        <p:spPr>
          <a:xfrm>
            <a:off x="7635785" y="6181799"/>
            <a:ext cx="2946872" cy="3080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AE0FD-5723-C9F3-0F0F-778E37941D3D}"/>
              </a:ext>
            </a:extLst>
          </p:cNvPr>
          <p:cNvSpPr txBox="1"/>
          <p:nvPr/>
        </p:nvSpPr>
        <p:spPr>
          <a:xfrm>
            <a:off x="7786357" y="6146507"/>
            <a:ext cx="2559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</a:t>
            </a:r>
            <a:endParaRPr lang="en-US" sz="1600" b="1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89D4A98-EFEC-0F49-1B35-30DFDDDBA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315968"/>
              </p:ext>
            </p:extLst>
          </p:nvPr>
        </p:nvGraphicFramePr>
        <p:xfrm>
          <a:off x="170269" y="865638"/>
          <a:ext cx="6356657" cy="2131437"/>
        </p:xfrm>
        <a:graphic>
          <a:graphicData uri="http://schemas.openxmlformats.org/drawingml/2006/table">
            <a:tbl>
              <a:tblPr/>
              <a:tblGrid>
                <a:gridCol w="1616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4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00434" y="866754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300434" y="866754"/>
            <a:ext cx="73152" cy="731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507698" y="90333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Recall = 0.847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07698" y="1220322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85% of impending signal failures  -  5 s ahead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7300434" y="1695810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300434" y="1695810"/>
            <a:ext cx="73152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07698" y="1732386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Precision = 0.947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07698" y="2049378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 WARNING, it is right 95% of the time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7300434" y="2524866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300434" y="2524866"/>
            <a:ext cx="73152" cy="73152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507698" y="2561442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F1 = 0.927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07698" y="2878434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triggers false alarms on healthy signal</a:t>
            </a:r>
            <a:endParaRPr lang="en-US" sz="1333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A14D145E-0E6A-5973-0C2D-7764A01920D5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7B8AFFDE-7208-0B66-48FE-30057776A33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4C0587E-D210-81DD-A9EA-3E65BEB90083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608C570-17AD-ACC5-3A85-AF39FBC2B94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E3F61359-9AAC-C734-216A-3C542EB9D68A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6E77782E-AE5D-88CE-EF76-54DAAC31264F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230C0635-461E-5303-F4C8-84EE9050F1E0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965746F-EEF4-3DC0-712B-CAEA42E9AC00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63649464-B911-C181-1DD7-FF7B061E705A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D97AC1ED-48BC-6C7D-0BB9-25E475C8136F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60B597F6-7C19-97FD-F8DA-7F54E9716E4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781245C-4E47-52EC-1547-25F7200ED99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1078C86E-097B-B07E-E970-04FDE6723027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A15582DA-07DA-9A5B-65E7-64C83370FCCE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A88A0669-05E1-0BF2-C3BB-D54F27D8727A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CE4AF859-2630-8FB1-D936-BD2C16336EC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AFA0504-FCB5-AD1C-42D5-5646A656EDD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38C8458-92C2-B7D4-07AC-FFFA7A6AE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9200" y="-672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@ +5S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CC67EC6-2461-26E5-0A92-0BDABE251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789" y="3358034"/>
            <a:ext cx="4950259" cy="320735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D356BCF-73A7-E1F3-C1FD-7411C1EA1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25" y="3055362"/>
            <a:ext cx="6321862" cy="3510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05184"/>
              </p:ext>
            </p:extLst>
          </p:nvPr>
        </p:nvGraphicFramePr>
        <p:xfrm>
          <a:off x="548640" y="1219200"/>
          <a:ext cx="7315200" cy="5303520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CNR 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07680" y="128016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77176" y="1467447"/>
            <a:ext cx="37100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XGBoost 0.919 outperforms DL 0.821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107680" y="304800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177176" y="3248045"/>
            <a:ext cx="3596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Cross-city: DL retains DEGRADED F1 trees collapse 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107680" y="481584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107680" y="5021181"/>
            <a:ext cx="37795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pass; 10.5× faster than 3 tree models</a:t>
            </a:r>
            <a:endParaRPr lang="en-US" sz="200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B570CCFD-A047-15D1-BF8D-23418727A91D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C2C4C3B7-014C-6DC4-1581-E89B3D17E3C1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22A156EB-254A-2DDC-AA80-45FB291DA5DA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6865D83D-AD8E-B397-808A-8F92ED3EB45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CD99FE7-4B79-207F-F9DE-AF03324E759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4801523F-29D2-7B9D-9AC5-BEB38D7BF447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5A17A2E-D4DA-C315-C171-AC7E78132AEB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70C00E26-EF90-9110-7E33-FC2C22C0E5F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A093B432-C31C-9796-A3B7-34AEDCC7D3DC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C83956FF-F365-7318-D3D6-862BF6EDC9A0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AB5D4F69-28E0-FB4A-3B59-34AE5E6C5E8C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A08A8AE0-1DB2-962B-E28B-2C2BF05C76EC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BB006D42-6E44-D7C8-E538-BC1723FC39D3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094E3A13-2DB9-F465-2443-8D327604B0A9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B7B7E4B0-D803-7938-DE55-F8504DBA8C6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C823072-BD26-63CD-EBFB-99D27BEE42EC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55F16D79-1036-0ED0-DADB-D7989C3B9817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1AC392E-B0D1-61CE-9F5C-3099FA8C1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273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ALL BASELINES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71980932-8472-BF1C-F416-04008536D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85956"/>
              </p:ext>
            </p:extLst>
          </p:nvPr>
        </p:nvGraphicFramePr>
        <p:xfrm>
          <a:off x="7529815" y="1219200"/>
          <a:ext cx="4296424" cy="2286000"/>
        </p:xfrm>
        <a:graphic>
          <a:graphicData uri="http://schemas.openxmlformats.org/drawingml/2006/table">
            <a:tbl>
              <a:tblPr/>
              <a:tblGrid>
                <a:gridCol w="185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529815" y="3596640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533635" y="3596640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7614655" y="3621024"/>
            <a:ext cx="4114049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beats both ablations at +5s and +30s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529815" y="4474464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7533635" y="4474464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7614655" y="4498848"/>
            <a:ext cx="4296424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alone is strong for longer horizons (+30s)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529815" y="5352288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533638" y="5352288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614655" y="5376672"/>
            <a:ext cx="4114049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Transformer-only struggles at +30s; sequence matters there</a:t>
            </a:r>
            <a:endParaRPr lang="en-US" sz="16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AC1A5C5D-C4D2-32FD-5A21-FDA4C9997980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98C5B56-03C4-5EDD-06AC-3D5FCA09E204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EE4D281-E67B-2B86-2DE0-278B43A5202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2FA483A2-3DF3-68E2-F406-0707EB929F2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34D5E15C-6FF5-9C58-FBD2-00A73594567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65B2162-0218-8747-3DCE-DF0C50089CA9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13D8CC4F-6EB8-9727-BCA7-6AF5F7233D1A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B9012DF-6326-950E-3A70-4C3F77E2F04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430C0FB-CB35-34FA-962F-38B4D30F2A26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264C17E-BA07-0DDB-1052-09597875DBCC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9ACB0C6-8B97-A678-0F96-BE6BC3E2F77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DF9A11AE-2B54-9802-7A75-DB71683F69A5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B7BCC867-2BA2-8A44-FF50-9296202F6636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BB75E9A-B639-CBE4-3734-CFB7308BB902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73C36D8-1F7A-1379-CA9D-AFCE6D5DCCB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8784C98-365D-F7DF-BBAA-1EB31B5D09FB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50A54B14-3F28-D694-3511-941E1B195DA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1A711E8-471E-4FE9-38F6-096172ED0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 -  WHAT EACH COMPONENT ADDS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2DDD521-4E7D-9A72-1FDD-9E7428DC4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37" y="1229718"/>
            <a:ext cx="6904060" cy="46589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5BAB-F4EB-5564-571F-4F9F2556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1E958374-EFFF-50EC-32A8-4D3534075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-4016"/>
            <a:ext cx="12191928" cy="6857928"/>
          </a:xfrm>
          <a:prstGeom prst="rect">
            <a:avLst/>
          </a:prstGeom>
        </p:spPr>
      </p:pic>
      <p:sp>
        <p:nvSpPr>
          <p:cNvPr id="17" name="Shape 0">
            <a:extLst>
              <a:ext uri="{FF2B5EF4-FFF2-40B4-BE49-F238E27FC236}">
                <a16:creationId xmlns:a16="http://schemas.microsoft.com/office/drawing/2014/main" id="{3F26C8C6-7038-B2ED-8DF1-4CA92EDCA667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9E9F50-C2EB-EC13-E585-E43B266EA03F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8EF19A03-3B7E-582D-2649-5C5AD979A5DD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9B6098D-C117-7703-45D0-D76622DBA1AA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F6337B8-B5E3-226A-F0E7-9F427E0602D3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2B21CEE2-F38E-7205-FE5D-01BDFE5510A7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BCE43695-298E-7FEA-E3E7-D5C881F276CC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0AE8C22A-5A7F-3017-13E0-203B3A6FDD4A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C3AB7FE7-8B5E-31E6-8A80-C965D4F5EA0B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5E96F7C1-0780-FFB0-3092-145F9B02E48F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CA70255-83D7-D7AB-D09F-EF1F7EBF5C19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F62D0FE1-945F-DA8D-EAD5-2F5D54918631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1ED2EA50-A3AE-76C3-574B-F759B439395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9A09FBAF-7955-5ECA-2173-28677AE87409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6E46CF8-E3ED-892B-5D5A-A7FA9EE66F7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DF07F8B3-A180-5F5F-E012-51B6BFCF82C6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03B84A2D-D4DC-87B2-E1D3-23F0DB348AF6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9E1FE22-9800-FBF1-DC4A-8E7B2ACCA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087B050-B0D6-5444-CD10-1F30CD033852}"/>
              </a:ext>
            </a:extLst>
          </p:cNvPr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200" b="1" dirty="0">
                <a:solidFill>
                  <a:srgbClr val="FFFFFF"/>
                </a:solidFill>
              </a:rPr>
              <a:t>CROSS-CITY GENERALISATION  -  THE 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96F70-EE09-BDAF-ECAA-61A715A1410F}"/>
              </a:ext>
            </a:extLst>
          </p:cNvPr>
          <p:cNvSpPr txBox="1"/>
          <p:nvPr/>
        </p:nvSpPr>
        <p:spPr>
          <a:xfrm>
            <a:off x="612648" y="1018694"/>
            <a:ext cx="1126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0A1733"/>
                </a:solidFill>
              </a:rPr>
              <a:t>Can a model </a:t>
            </a:r>
            <a:r>
              <a:rPr lang="en-US" b="0" i="0" dirty="0">
                <a:solidFill>
                  <a:srgbClr val="0A1733"/>
                </a:solidFill>
              </a:rPr>
              <a:t>trained</a:t>
            </a:r>
            <a:r>
              <a:rPr b="0" i="0" dirty="0">
                <a:solidFill>
                  <a:srgbClr val="0A1733"/>
                </a:solidFill>
              </a:rPr>
              <a:t> in Beijing and Hong Kong predict GNSS quality in Tokyo</a:t>
            </a:r>
            <a:r>
              <a:rPr lang="en-US" b="0" i="0" dirty="0">
                <a:solidFill>
                  <a:srgbClr val="0A1733"/>
                </a:solidFill>
              </a:rPr>
              <a:t> (</a:t>
            </a:r>
            <a:r>
              <a:rPr b="0" i="0" dirty="0">
                <a:solidFill>
                  <a:srgbClr val="0A1733"/>
                </a:solidFill>
              </a:rPr>
              <a:t>a city it has never seen</a:t>
            </a:r>
            <a:r>
              <a:rPr lang="en-US" b="0" i="0" dirty="0">
                <a:solidFill>
                  <a:srgbClr val="0A1733"/>
                </a:solidFill>
              </a:rPr>
              <a:t>)</a:t>
            </a:r>
            <a:r>
              <a:rPr b="0" i="0" dirty="0">
                <a:solidFill>
                  <a:srgbClr val="0A1733"/>
                </a:solidFill>
              </a:rPr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340AA9-3712-B84D-1BB7-9FF522B21D13}"/>
              </a:ext>
            </a:extLst>
          </p:cNvPr>
          <p:cNvSpPr/>
          <p:nvPr/>
        </p:nvSpPr>
        <p:spPr>
          <a:xfrm>
            <a:off x="612648" y="1780032"/>
            <a:ext cx="73152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8C6177-3C68-CC08-E92C-77B5437116D1}"/>
              </a:ext>
            </a:extLst>
          </p:cNvPr>
          <p:cNvSpPr txBox="1"/>
          <p:nvPr/>
        </p:nvSpPr>
        <p:spPr>
          <a:xfrm>
            <a:off x="795528" y="1780032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03893"/>
                </a:solidFill>
              </a:rPr>
              <a:t>Different skyline geometry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32D0DF-DA1F-B562-E1AC-E95D1CFF1314}"/>
              </a:ext>
            </a:extLst>
          </p:cNvPr>
          <p:cNvSpPr txBox="1"/>
          <p:nvPr/>
        </p:nvSpPr>
        <p:spPr>
          <a:xfrm>
            <a:off x="795528" y="2081784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</a:rPr>
              <a:t>Tokyo Shinjuku has a distinct building density and canyon profile vs Beijing ring-roads.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2932ED-D1B1-5438-C642-91E85AF6FB09}"/>
              </a:ext>
            </a:extLst>
          </p:cNvPr>
          <p:cNvSpPr/>
          <p:nvPr/>
        </p:nvSpPr>
        <p:spPr>
          <a:xfrm>
            <a:off x="612648" y="2825496"/>
            <a:ext cx="73152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ECC1FE-5044-BA24-A0ED-AAFBDDAE88F1}"/>
              </a:ext>
            </a:extLst>
          </p:cNvPr>
          <p:cNvSpPr txBox="1"/>
          <p:nvPr/>
        </p:nvSpPr>
        <p:spPr>
          <a:xfrm>
            <a:off x="795528" y="2825496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03893"/>
                </a:solidFill>
              </a:rPr>
              <a:t>Different satellite visibility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ABA14A-09C4-E51F-A55C-3C3F9344B574}"/>
              </a:ext>
            </a:extLst>
          </p:cNvPr>
          <p:cNvSpPr txBox="1"/>
          <p:nvPr/>
        </p:nvSpPr>
        <p:spPr>
          <a:xfrm>
            <a:off x="795528" y="3127248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</a:rPr>
              <a:t>Latitude difference changes GNSS constellation elevation angles and multipath patterns.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3C2852-A3CF-1456-10BE-D763AFC8A958}"/>
              </a:ext>
            </a:extLst>
          </p:cNvPr>
          <p:cNvSpPr/>
          <p:nvPr/>
        </p:nvSpPr>
        <p:spPr>
          <a:xfrm>
            <a:off x="612648" y="3858768"/>
            <a:ext cx="73152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96F6A5-FB4F-EE50-8273-1E405445D5D7}"/>
              </a:ext>
            </a:extLst>
          </p:cNvPr>
          <p:cNvSpPr txBox="1"/>
          <p:nvPr/>
        </p:nvSpPr>
        <p:spPr>
          <a:xfrm>
            <a:off x="795528" y="3858768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03893"/>
                </a:solidFill>
              </a:rPr>
              <a:t>Different receiver hardware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CE4DB6-9038-E4CF-09F3-B0643086212F}"/>
              </a:ext>
            </a:extLst>
          </p:cNvPr>
          <p:cNvSpPr txBox="1"/>
          <p:nvPr/>
        </p:nvSpPr>
        <p:spPr>
          <a:xfrm>
            <a:off x="795528" y="416052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</a:rPr>
              <a:t>Trimble + u-</a:t>
            </a:r>
            <a:r>
              <a:rPr b="0" i="0" dirty="0" err="1">
                <a:solidFill>
                  <a:srgbClr val="333333"/>
                </a:solidFill>
              </a:rPr>
              <a:t>blox</a:t>
            </a:r>
            <a:r>
              <a:rPr b="0" i="0" dirty="0">
                <a:solidFill>
                  <a:srgbClr val="333333"/>
                </a:solidFill>
              </a:rPr>
              <a:t> F9P in Tokyo vs </a:t>
            </a:r>
            <a:r>
              <a:rPr b="0" i="0" dirty="0" err="1">
                <a:solidFill>
                  <a:srgbClr val="333333"/>
                </a:solidFill>
              </a:rPr>
              <a:t>Septentrio</a:t>
            </a:r>
            <a:r>
              <a:rPr b="0" i="0" dirty="0">
                <a:solidFill>
                  <a:srgbClr val="333333"/>
                </a:solidFill>
              </a:rPr>
              <a:t> survey-grade in </a:t>
            </a:r>
            <a:r>
              <a:rPr b="0" i="0" dirty="0" err="1">
                <a:solidFill>
                  <a:srgbClr val="333333"/>
                </a:solidFill>
              </a:rPr>
              <a:t>Beihang</a:t>
            </a:r>
            <a:r>
              <a:rPr b="0" i="0" dirty="0">
                <a:solidFill>
                  <a:srgbClr val="333333"/>
                </a:solidFill>
              </a:rPr>
              <a:t>  -  different noise floors.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BAF3A4-E4CA-64C8-152D-ACA3A42ECDF4}"/>
              </a:ext>
            </a:extLst>
          </p:cNvPr>
          <p:cNvSpPr/>
          <p:nvPr/>
        </p:nvSpPr>
        <p:spPr>
          <a:xfrm>
            <a:off x="612647" y="5013960"/>
            <a:ext cx="76355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12478E-282F-EC51-D732-61504F2D0BAD}"/>
              </a:ext>
            </a:extLst>
          </p:cNvPr>
          <p:cNvSpPr txBox="1"/>
          <p:nvPr/>
        </p:nvSpPr>
        <p:spPr>
          <a:xfrm>
            <a:off x="795528" y="5013960"/>
            <a:ext cx="1126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03893"/>
                </a:solidFill>
              </a:rPr>
              <a:t>Zero training data from Tokyo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BA2099-9A04-57F3-9073-F4DAE529BC63}"/>
              </a:ext>
            </a:extLst>
          </p:cNvPr>
          <p:cNvSpPr txBox="1"/>
          <p:nvPr/>
        </p:nvSpPr>
        <p:spPr>
          <a:xfrm>
            <a:off x="795528" y="5315712"/>
            <a:ext cx="1126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</a:rPr>
              <a:t>Tokyo is completely excluded from training. Not a single Tokyo window was used. This is a true zero-shot evaluation.</a:t>
            </a:r>
          </a:p>
        </p:txBody>
      </p:sp>
    </p:spTree>
    <p:extLst>
      <p:ext uri="{BB962C8B-B14F-4D97-AF65-F5344CB8AC3E}">
        <p14:creationId xmlns:p14="http://schemas.microsoft.com/office/powerpoint/2010/main" val="170478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1236-7B22-0211-0D49-36E7A4E9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590B1BC8-929B-1933-D1A6-BFA3E84F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5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0EF1E95-7BA4-B101-D072-ECEE62FA2322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844E13-DA2D-AF88-8063-45F5D9C2F225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F4F981-4D91-F961-B380-E21874F23C2E}"/>
              </a:ext>
            </a:extLst>
          </p:cNvPr>
          <p:cNvSpPr/>
          <p:nvPr/>
        </p:nvSpPr>
        <p:spPr>
          <a:xfrm>
            <a:off x="476368" y="1245981"/>
            <a:ext cx="2816729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414A5E-E45B-2A10-5585-4A6F57A5CFBA}"/>
              </a:ext>
            </a:extLst>
          </p:cNvPr>
          <p:cNvSpPr/>
          <p:nvPr/>
        </p:nvSpPr>
        <p:spPr>
          <a:xfrm>
            <a:off x="213360" y="1338027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B175F3-7B6A-F8DE-D26E-17C38E800846}"/>
              </a:ext>
            </a:extLst>
          </p:cNvPr>
          <p:cNvSpPr/>
          <p:nvPr/>
        </p:nvSpPr>
        <p:spPr>
          <a:xfrm>
            <a:off x="213360" y="1725998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 → 0.148</a:t>
            </a:r>
            <a:endParaRPr lang="en-US" sz="29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AF9DDC-C7D8-AF9E-8640-ABE94CF753C5}"/>
              </a:ext>
            </a:extLst>
          </p:cNvPr>
          <p:cNvSpPr/>
          <p:nvPr/>
        </p:nvSpPr>
        <p:spPr>
          <a:xfrm>
            <a:off x="315518" y="2393180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−82% collapse</a:t>
            </a:r>
            <a:endParaRPr lang="en-US" sz="1333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4268C45-E74B-E81A-3971-879281491439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69E4828C-969E-C0FB-C0F0-DF962A59B99F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D7C653CC-62E6-6C4C-4D33-E147AB9B582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13C3694-30CC-C348-F99D-594A4F913375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2E27570-1828-CB3B-B392-6B3D92CAB73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26320C1F-993B-3DD7-F8FE-653FE7123CAE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47487BB2-3148-BD9B-A029-D9311F88F59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5D435034-5F45-BB15-B59B-491B7518042B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FD42E6FF-9D1E-2937-BD4E-C285D00DB64F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D33C15C5-19B2-4695-8ED7-C9BBC7A07BBE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D2733582-E837-5CE3-CF69-DE72563476B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C87E9D6-6AE6-E710-FD4A-C32E9AEB14C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2DF1222-2CB1-B5FE-21FE-0290A36AA6E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015D7CD-FF44-85CE-CEF9-C608B57DAA9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CAD32DF-A476-6AE8-F798-4B35B4267FE3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35572C2E-3553-7942-B269-31E5DB5FA2C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46ED58E7-58F0-9FD9-7025-1EC1D0CABDDC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D719333-F02C-801C-D970-367D9582B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4560CBD-63BD-150C-AF29-98AD013A1CDF}"/>
              </a:ext>
            </a:extLst>
          </p:cNvPr>
          <p:cNvSpPr/>
          <p:nvPr/>
        </p:nvSpPr>
        <p:spPr>
          <a:xfrm>
            <a:off x="1219200" y="-1390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GENERALISATION  -  TOKYO SHINJUKU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1EEC1081-0D5B-F61C-D497-73ED52DA7008}"/>
              </a:ext>
            </a:extLst>
          </p:cNvPr>
          <p:cNvSpPr/>
          <p:nvPr/>
        </p:nvSpPr>
        <p:spPr>
          <a:xfrm>
            <a:off x="3543999" y="1223193"/>
            <a:ext cx="2816729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F6F75C-8182-F086-AA2E-A5B3A8A9F4B1}"/>
              </a:ext>
            </a:extLst>
          </p:cNvPr>
          <p:cNvSpPr/>
          <p:nvPr/>
        </p:nvSpPr>
        <p:spPr>
          <a:xfrm>
            <a:off x="3361119" y="1783579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 → 0.753</a:t>
            </a:r>
            <a:endParaRPr lang="en-US" sz="29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B1D6F9-067D-AE52-BB00-9460FA3B8C98}"/>
              </a:ext>
            </a:extLst>
          </p:cNvPr>
          <p:cNvSpPr/>
          <p:nvPr/>
        </p:nvSpPr>
        <p:spPr>
          <a:xfrm>
            <a:off x="3245483" y="1393434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B4C0C22-C91D-A0E9-91D9-0CEB3E4372A0}"/>
              </a:ext>
            </a:extLst>
          </p:cNvPr>
          <p:cNvSpPr/>
          <p:nvPr/>
        </p:nvSpPr>
        <p:spPr>
          <a:xfrm>
            <a:off x="3361119" y="2374101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improvement</a:t>
            </a:r>
            <a:endParaRPr lang="en-US" sz="1333" dirty="0"/>
          </a:p>
        </p:txBody>
      </p:sp>
      <p:pic>
        <p:nvPicPr>
          <p:cNvPr id="4" name="Picture 3" descr="fig16_ensemble.png">
            <a:extLst>
              <a:ext uri="{FF2B5EF4-FFF2-40B4-BE49-F238E27FC236}">
                <a16:creationId xmlns:a16="http://schemas.microsoft.com/office/drawing/2014/main" id="{DA5EF677-B061-A973-4B61-9B5797C60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688" y="868246"/>
            <a:ext cx="5657528" cy="320375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F35E8F-1E62-6B03-ED81-69DE8AC3B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62320"/>
              </p:ext>
            </p:extLst>
          </p:nvPr>
        </p:nvGraphicFramePr>
        <p:xfrm>
          <a:off x="315517" y="4316610"/>
          <a:ext cx="11071812" cy="208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301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Hangzhou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 DEGRADED F1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DL + </a:t>
                      </a:r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XGBoost</a:t>
                      </a:r>
                      <a:r>
                        <a:rPr sz="1500" dirty="0">
                          <a:solidFill>
                            <a:srgbClr val="1A1A1A"/>
                          </a:solidFill>
                        </a:rPr>
                        <a:t>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SENTINEL-GNSS (DL)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0.822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0.649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0.753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RandomForest</a:t>
                      </a:r>
                      <a:endParaRPr sz="15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0.926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0.148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281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56A7F3C4-1F9B-0DD8-64E2-70BF2821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678730" y="1321468"/>
            <a:ext cx="3527510" cy="21532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41120"/>
            <a:ext cx="36576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10.52×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31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3 separate tree models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 ms / sample  vs  0.409 ms / sample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548640" y="3814035"/>
            <a:ext cx="28261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70560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70560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 ms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70560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horizons in one forward pass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529784" y="5094195"/>
            <a:ext cx="284501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560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Tree models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70560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0.409 ms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70560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horizon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3521851" y="381403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43771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MB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3643771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3643771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1,456,652 parameters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3521851" y="509419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43771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0.04%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643771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budget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3643771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vehicle compute</a:t>
            </a:r>
            <a:endParaRPr lang="en-US" sz="1267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DF7F4A77-5B51-9D4F-18CC-4560E8985F85}"/>
              </a:ext>
            </a:extLst>
          </p:cNvPr>
          <p:cNvSpPr/>
          <p:nvPr/>
        </p:nvSpPr>
        <p:spPr>
          <a:xfrm>
            <a:off x="0" y="-653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AF50A34E-23FC-434C-7A90-6FEDAD362BF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5CD1D30-E861-7184-2B38-181B6D78686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9F94866-2355-C124-1559-8340EC8A629D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44A01F6-B201-9558-22D7-ED258CA0FFB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9D08145D-4E20-4C23-5C9B-BA7280103EBD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17C43C7B-0C9A-E6ED-183A-D1B42C581CE3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2574541A-9A98-D1F0-45B1-3DEFBCC41EF6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68A6695B-EE03-148B-3B4A-BC47BCA3E2F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97DC82AC-59D2-B198-36B9-306A4643DFB4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F54EBC7-8F7A-2F77-E643-4ED1655A65B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6D1192C0-A2D9-6EB0-9600-38AFC11BED40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9D9D7D0-D49A-15F4-B29A-D064C19D3644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61DE9218-E6DE-6FBF-2103-C7573DD1D52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5B9BBF74-A7B7-3F99-D547-68537B761D87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9DC84B28-4DC3-5915-F152-39F9C0807E7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421B3511-BD4D-1865-FAA4-FE2DB8631CA9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9B6A5A1-526B-E825-CE0E-D5B423622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3EB849B-B690-55BA-1355-F0A5F967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80" y="1216850"/>
            <a:ext cx="5975119" cy="4263727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16497" y="-120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&amp; EFFICIENCY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7EB3CF48-79BB-8345-BB88-0B79C5E9D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160936" y="5447264"/>
            <a:ext cx="1127760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endParaRPr lang="en-US" sz="16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6D1FDFB-CB30-998E-D87E-D93A480810B0}"/>
              </a:ext>
            </a:extLst>
          </p:cNvPr>
          <p:cNvSpPr/>
          <p:nvPr/>
        </p:nvSpPr>
        <p:spPr>
          <a:xfrm>
            <a:off x="0" y="-749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6468133E-B173-DF0B-F8EC-DADE94686815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D0BCA845-11E8-602B-5242-23AE72315EAF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7CB967F-9FE9-6FE6-2828-1B7F2E45EEF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EA4C0F7E-5538-AA6C-2CF8-C66AD8DAD8EF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9F7D65A-D916-1817-1B43-F687C9212168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19CB701-CD42-31A4-9C4F-00F7FE60582B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12ED1A91-0455-BD41-DB2D-1CD10C605950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96DDA856-4B09-B7C9-2550-9C428B3AB5A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DFD24C05-5E73-7274-77E3-619E5657EA09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9F7A3AB4-CF9B-5D7B-1760-BBA256CAB610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DBA1B95F-2A18-685D-5A70-19A93021220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06C86765-A611-FC49-73EB-019E973F486E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56D502E6-B0C0-D398-BC97-EF912469DC3D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E00AFC2E-A2E8-D143-53E4-63D8A7044E2E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62D47B8F-0B39-CD8C-18C9-A437E0FC84C0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7C42246D-7BA7-2CF7-08C7-583EAFA4F33C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9B64476-ECE0-A35D-335C-5F5011D41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55007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2335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 -  ATTENTION &amp; FEATURE SALIENCY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75F50F4-D96D-DC26-148D-6788EA456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15" y="881836"/>
            <a:ext cx="4749800" cy="472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DA0CCE-2AA4-2001-633D-E6EC63170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862329"/>
            <a:ext cx="6101185" cy="4799103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7FFE363C-20FF-4529-B611-68EC93798720}"/>
              </a:ext>
            </a:extLst>
          </p:cNvPr>
          <p:cNvSpPr/>
          <p:nvPr/>
        </p:nvSpPr>
        <p:spPr>
          <a:xfrm>
            <a:off x="599378" y="5838964"/>
            <a:ext cx="4265719" cy="4835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E7EE9-3624-E487-FEF0-37C0D7D7B354}"/>
              </a:ext>
            </a:extLst>
          </p:cNvPr>
          <p:cNvSpPr txBox="1"/>
          <p:nvPr/>
        </p:nvSpPr>
        <p:spPr>
          <a:xfrm>
            <a:off x="564381" y="5898505"/>
            <a:ext cx="4265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Attention; DEGRADED sample</a:t>
            </a:r>
            <a:endParaRPr lang="en-US" sz="1600" b="1" i="1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1225E2B-63A3-2446-A4D7-23B054C3B29E}"/>
              </a:ext>
            </a:extLst>
          </p:cNvPr>
          <p:cNvSpPr/>
          <p:nvPr/>
        </p:nvSpPr>
        <p:spPr>
          <a:xfrm>
            <a:off x="7480680" y="5824351"/>
            <a:ext cx="3518944" cy="47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CBE88-F6AB-B5BA-2214-60E632B51402}"/>
              </a:ext>
            </a:extLst>
          </p:cNvPr>
          <p:cNvSpPr txBox="1"/>
          <p:nvPr/>
        </p:nvSpPr>
        <p:spPr>
          <a:xfrm>
            <a:off x="7654376" y="5873269"/>
            <a:ext cx="3155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Saliency (gradient) @ +5 s</a:t>
            </a:r>
            <a:endParaRPr lang="en-US" sz="16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06102058-EFEC-9D22-1D47-D28CA5150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056172"/>
              </p:ext>
            </p:extLst>
          </p:nvPr>
        </p:nvGraphicFramePr>
        <p:xfrm>
          <a:off x="6352651" y="5064006"/>
          <a:ext cx="4815222" cy="1524000"/>
        </p:xfrm>
        <a:graphic>
          <a:graphicData uri="http://schemas.openxmlformats.org/drawingml/2006/table">
            <a:tbl>
              <a:tblPr/>
              <a:tblGrid>
                <a:gridCol w="2927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 (T = 1.0)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scaling  (T = 0.4023)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−40%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66251" y="5067776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converts raw logits to more reliable probability estimates  -  enabling P(DEGRADED) to serve as a risk score for the adaptive EKF.</a:t>
            </a:r>
            <a:endParaRPr lang="en-US" sz="1600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F592E7D-C8B9-AC81-B758-B01BB525BEB2}"/>
              </a:ext>
            </a:extLst>
          </p:cNvPr>
          <p:cNvSpPr/>
          <p:nvPr/>
        </p:nvSpPr>
        <p:spPr>
          <a:xfrm>
            <a:off x="0" y="-749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6753494-C546-1F29-C099-44212A2F5C3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83C3B31-1619-1B89-8A10-A37CBCD8068B}"/>
              </a:ext>
            </a:extLst>
          </p:cNvPr>
          <p:cNvSpPr/>
          <p:nvPr/>
        </p:nvSpPr>
        <p:spPr>
          <a:xfrm>
            <a:off x="-12192" y="6653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AA3C75DF-99BB-37D8-548E-79674AE882BC}"/>
              </a:ext>
            </a:extLst>
          </p:cNvPr>
          <p:cNvSpPr/>
          <p:nvPr/>
        </p:nvSpPr>
        <p:spPr>
          <a:xfrm>
            <a:off x="-12192" y="6630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BE07CDFF-FB64-78C3-E3B5-2F19E2F54AB1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7BB5EA54-01DE-44A2-9703-07C4F9AA3FB4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40DB522-EE4D-0E50-EF53-B252A5D1E23C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5F36AE8-4048-A5AC-9A1A-D214328A2A4E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93B43423-D2CA-0EBF-BC3D-D4FC70FBD1BF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982D9566-B873-9B43-7F9D-E25D89B2B5E7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319CE49-1047-FDF2-DD79-4943EA6208A4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E8122BD2-24CC-2C73-5505-B4DACDCA3AEB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E8E5DA1-400F-E4BB-30C9-85B8BE710F3E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11E4BDAE-D14C-5F52-5188-A19CDC710017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3C87CE01-9D47-A9DC-E2EB-D5AD38227EA9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51DE0CE4-9F22-5A57-2462-04FF62F5C77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A209586C-FC4C-51FA-7E38-D23A2F0DD641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0E51FAC-721D-FB4E-1659-E4EAB9AB9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6161" y="-249613"/>
            <a:ext cx="1776568" cy="12459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6A19C3-FB18-26AF-8786-94A8872C7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63" y="875033"/>
            <a:ext cx="10039110" cy="4043065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 -  TEMPERATURE SCALING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4600" b="1" dirty="0">
                <a:solidFill>
                  <a:srgbClr val="FFFFFF"/>
                </a:solidFill>
              </a:rPr>
              <a:t>5 · EKF: From Prediction to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0F166AB-AD91-4B64-DD52-0AA449DE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653" y="-7148"/>
            <a:ext cx="12192000" cy="685800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2A5CD850-1EE3-E023-1963-A9830CA6085F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B11008E-3F8F-2016-02E4-C16E994BFA6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FDA0D68-1543-D2AF-2FDD-A28825502698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4A347C5-EA8E-E2A0-B1ED-619311389981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0D7D544-2629-1C9E-0AA8-5C2D0742251C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41290F9-B946-0B81-3AA6-689959E796AD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49213CD4-20D1-2349-833A-8579C7A1F52C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3A25FF2-D5A5-7D85-66E2-41652C7BA8FE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53C000BD-A3A2-2298-CEF1-91064FEA507D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804119C-604B-18AB-B986-4E61858A97B9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4704A2BA-D64B-C75E-5B57-960050596FA8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36DB7F0-0C58-C68B-D0DD-9CBB930368B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47B07F77-80C9-CFF0-AFAA-76FA0ABA01B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47F3185-6D39-6EFF-FADF-5C90C1B64F0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8A5361BD-34AA-8504-C463-91085F6E9A8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808E64E-550C-2AD7-B939-56DF6F8B921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55577" y="1451647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chemeClr val="tx2"/>
                </a:solidFill>
              </a:rPr>
              <a:t>●  R = fixed (e.g. 9 m²)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1845564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Always trusts GNSS equally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2275332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Reactive  -  waits until GNSS fails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266700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Position jumps during blockage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29958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No advance warning used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18D38D-47F4-AE66-6E6B-0B0AC8FD7FA4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STANDARD VS ADAPTIVE EKF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3E492C-4FBC-66B4-714B-49F6ACDF97C3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E18866-A97B-CF65-6680-DFA13BB39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4736" y="-250852"/>
            <a:ext cx="1776568" cy="12459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3B3569-4BBC-17FF-B73E-C226BBCC9172}"/>
              </a:ext>
            </a:extLst>
          </p:cNvPr>
          <p:cNvSpPr/>
          <p:nvPr/>
        </p:nvSpPr>
        <p:spPr>
          <a:xfrm>
            <a:off x="480569" y="916549"/>
            <a:ext cx="4239538" cy="375963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99666" y="953807"/>
            <a:ext cx="4356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Standard Kalman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568" y="3764212"/>
            <a:ext cx="4239539" cy="384048"/>
          </a:xfrm>
          <a:prstGeom prst="rect">
            <a:avLst/>
          </a:prstGeom>
          <a:solidFill>
            <a:srgbClr val="1B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0568" y="3764212"/>
            <a:ext cx="4870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Our Adaptive EKF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008" y="4267132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B873A"/>
                </a:solidFill>
              </a:rPr>
              <a:t>✔  R(t) grows with P̂(DEGRADED)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008" y="464610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Pre-emptively distrusts GNSS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008" y="499966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Shifts to dead-reckoning before 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008" y="5391336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Smooth handoff during blockage</a:t>
            </a:r>
          </a:p>
          <a:p>
            <a:r>
              <a:rPr sz="1200">
                <a:solidFill>
                  <a:srgbClr val="1F1F1F"/>
                </a:solidFill>
              </a:rPr>
              <a:t>Pre-calibrated P(DEGRADED): P_cal = clip((P - 0.153)/(1 - 0.153), 0, 1)</a:t>
            </a:r>
          </a:p>
          <a:p>
            <a:r>
              <a:rPr sz="1200">
                <a:solidFill>
                  <a:srgbClr val="1F1F1F"/>
                </a:solidFill>
              </a:rPr>
              <a:t>Online sigma_deg: running median of innovations, window=80, clamp [8-80] 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2008" y="5770303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5 s early warning from SENTINEL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DBBABC-DC85-D360-15FB-F8525A493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002" y="1552565"/>
            <a:ext cx="6942449" cy="44053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1DDAC8F-5845-D742-845D-BF1EBA0E1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74"/>
            <a:ext cx="12192000" cy="6858000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872508D-6A3F-2D35-A7F6-C07ADDC68FE9}"/>
              </a:ext>
            </a:extLst>
          </p:cNvPr>
          <p:cNvSpPr/>
          <p:nvPr/>
        </p:nvSpPr>
        <p:spPr>
          <a:xfrm>
            <a:off x="11049001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5A50ADA-8B46-180C-0D2C-4E0AD2D16051}"/>
              </a:ext>
            </a:extLst>
          </p:cNvPr>
          <p:cNvSpPr/>
          <p:nvPr/>
        </p:nvSpPr>
        <p:spPr>
          <a:xfrm>
            <a:off x="11268457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AA1D791E-6EA7-523C-9308-59F4E8645EE5}"/>
              </a:ext>
            </a:extLst>
          </p:cNvPr>
          <p:cNvSpPr/>
          <p:nvPr/>
        </p:nvSpPr>
        <p:spPr>
          <a:xfrm>
            <a:off x="11487913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AFF812F-BFB4-15A7-DE8F-D84BC2E19CB6}"/>
              </a:ext>
            </a:extLst>
          </p:cNvPr>
          <p:cNvSpPr/>
          <p:nvPr/>
        </p:nvSpPr>
        <p:spPr>
          <a:xfrm>
            <a:off x="11707369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EC3A0EE-7C16-E653-628A-BE5C591ED646}"/>
              </a:ext>
            </a:extLst>
          </p:cNvPr>
          <p:cNvSpPr/>
          <p:nvPr/>
        </p:nvSpPr>
        <p:spPr>
          <a:xfrm>
            <a:off x="11049001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3D5177C-7A3A-3184-4D2C-86D8D6B0541F}"/>
              </a:ext>
            </a:extLst>
          </p:cNvPr>
          <p:cNvSpPr/>
          <p:nvPr/>
        </p:nvSpPr>
        <p:spPr>
          <a:xfrm>
            <a:off x="11268457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327092D-B802-8361-2993-C84DB5DC8BAB}"/>
              </a:ext>
            </a:extLst>
          </p:cNvPr>
          <p:cNvSpPr/>
          <p:nvPr/>
        </p:nvSpPr>
        <p:spPr>
          <a:xfrm>
            <a:off x="11487913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3B110EB0-2F04-D604-DCBB-DD4B2EA50A16}"/>
              </a:ext>
            </a:extLst>
          </p:cNvPr>
          <p:cNvSpPr/>
          <p:nvPr/>
        </p:nvSpPr>
        <p:spPr>
          <a:xfrm>
            <a:off x="11707369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FD109DE-75FC-4B9E-FB66-813B40677D4B}"/>
              </a:ext>
            </a:extLst>
          </p:cNvPr>
          <p:cNvSpPr/>
          <p:nvPr/>
        </p:nvSpPr>
        <p:spPr>
          <a:xfrm>
            <a:off x="11487913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0BFBBE2E-F646-1A9B-BB1A-47429AC24A32}"/>
              </a:ext>
            </a:extLst>
          </p:cNvPr>
          <p:cNvSpPr/>
          <p:nvPr/>
        </p:nvSpPr>
        <p:spPr>
          <a:xfrm>
            <a:off x="11707369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9614D7F0-7ED1-E89D-8CB7-193F22809D36}"/>
              </a:ext>
            </a:extLst>
          </p:cNvPr>
          <p:cNvSpPr/>
          <p:nvPr/>
        </p:nvSpPr>
        <p:spPr>
          <a:xfrm>
            <a:off x="10312490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31C5FC57-2948-B0A0-BDD3-8C295E5B919A}"/>
              </a:ext>
            </a:extLst>
          </p:cNvPr>
          <p:cNvSpPr/>
          <p:nvPr/>
        </p:nvSpPr>
        <p:spPr>
          <a:xfrm>
            <a:off x="10531946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477E42D-4449-D8CF-FB58-82C0D674561A}"/>
              </a:ext>
            </a:extLst>
          </p:cNvPr>
          <p:cNvSpPr/>
          <p:nvPr/>
        </p:nvSpPr>
        <p:spPr>
          <a:xfrm>
            <a:off x="10751402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B028FACA-81FF-C91C-083C-E2EE75EDF48F}"/>
              </a:ext>
            </a:extLst>
          </p:cNvPr>
          <p:cNvSpPr/>
          <p:nvPr/>
        </p:nvSpPr>
        <p:spPr>
          <a:xfrm>
            <a:off x="10970858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33E7CDD6-B0D6-B830-355B-A6344B84EF1F}"/>
              </a:ext>
            </a:extLst>
          </p:cNvPr>
          <p:cNvSpPr/>
          <p:nvPr/>
        </p:nvSpPr>
        <p:spPr>
          <a:xfrm>
            <a:off x="10312490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66AF2529-8FF3-A3CE-3B55-CE7132CB5020}"/>
              </a:ext>
            </a:extLst>
          </p:cNvPr>
          <p:cNvSpPr/>
          <p:nvPr/>
        </p:nvSpPr>
        <p:spPr>
          <a:xfrm>
            <a:off x="10531946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7F8D144D-D2A0-E82A-F8F0-82FF6882325B}"/>
              </a:ext>
            </a:extLst>
          </p:cNvPr>
          <p:cNvSpPr/>
          <p:nvPr/>
        </p:nvSpPr>
        <p:spPr>
          <a:xfrm>
            <a:off x="10751402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4D8FBE6C-6C61-C68B-FE0A-224D31A9FAC0}"/>
              </a:ext>
            </a:extLst>
          </p:cNvPr>
          <p:cNvSpPr/>
          <p:nvPr/>
        </p:nvSpPr>
        <p:spPr>
          <a:xfrm>
            <a:off x="10970858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9980BA6-E76C-FA86-56AA-FAD39352EB25}"/>
              </a:ext>
            </a:extLst>
          </p:cNvPr>
          <p:cNvSpPr/>
          <p:nvPr/>
        </p:nvSpPr>
        <p:spPr>
          <a:xfrm>
            <a:off x="10312490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5BF94415-AA36-5B3A-060D-CB1BB57D8B0C}"/>
              </a:ext>
            </a:extLst>
          </p:cNvPr>
          <p:cNvSpPr/>
          <p:nvPr/>
        </p:nvSpPr>
        <p:spPr>
          <a:xfrm>
            <a:off x="10531946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21F2FAC0-6909-F068-3638-C59BABBE4995}"/>
              </a:ext>
            </a:extLst>
          </p:cNvPr>
          <p:cNvSpPr/>
          <p:nvPr/>
        </p:nvSpPr>
        <p:spPr>
          <a:xfrm>
            <a:off x="10751402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72D4CADE-CE6C-4FEE-B1E1-94A7D4E12C14}"/>
              </a:ext>
            </a:extLst>
          </p:cNvPr>
          <p:cNvSpPr/>
          <p:nvPr/>
        </p:nvSpPr>
        <p:spPr>
          <a:xfrm>
            <a:off x="10970858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BE3CFFD-53F7-E238-BEEB-0DFAC08C0F27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33E4C01-9D65-6FD0-D51D-0DA77783C8F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C1376D2-7D95-F94F-B473-07FC35093AA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AB4A-9466-DA54-36D9-15D4BDBE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4860" y="-252322"/>
            <a:ext cx="1776568" cy="1245981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C4E196DD-7F57-2AE3-C409-4534A34164ED}"/>
              </a:ext>
            </a:extLst>
          </p:cNvPr>
          <p:cNvSpPr/>
          <p:nvPr/>
        </p:nvSpPr>
        <p:spPr>
          <a:xfrm>
            <a:off x="-12192" y="6780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4C0ADD0-00BE-5486-310D-217165B01BAA}"/>
              </a:ext>
            </a:extLst>
          </p:cNvPr>
          <p:cNvSpPr/>
          <p:nvPr/>
        </p:nvSpPr>
        <p:spPr>
          <a:xfrm>
            <a:off x="-12192" y="6757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D1EA45F-1FD1-AF90-784A-971BF559A9AA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EKF FORMULA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DCE9A-02F4-1795-8BE8-F54843BF4F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" t="1176"/>
          <a:stretch>
            <a:fillRect/>
          </a:stretch>
        </p:blipFill>
        <p:spPr>
          <a:xfrm>
            <a:off x="464526" y="1878393"/>
            <a:ext cx="5545724" cy="3101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A7DA7E-9C4E-55E4-E4DA-AA866E584B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04" t="10791" r="2902" b="3275"/>
          <a:stretch>
            <a:fillRect/>
          </a:stretch>
        </p:blipFill>
        <p:spPr>
          <a:xfrm>
            <a:off x="6210709" y="1999028"/>
            <a:ext cx="5622233" cy="2859943"/>
          </a:xfrm>
          <a:prstGeom prst="rect">
            <a:avLst/>
          </a:prstGeom>
        </p:spPr>
      </p:pic>
      <p:sp>
        <p:nvSpPr>
          <p:cNvPr id="2" name="Shape 5">
            <a:extLst>
              <a:ext uri="{FF2B5EF4-FFF2-40B4-BE49-F238E27FC236}">
                <a16:creationId xmlns:a16="http://schemas.microsoft.com/office/drawing/2014/main" id="{15D5BC12-D742-A560-9FEF-B13A42724032}"/>
              </a:ext>
            </a:extLst>
          </p:cNvPr>
          <p:cNvSpPr/>
          <p:nvPr/>
        </p:nvSpPr>
        <p:spPr>
          <a:xfrm>
            <a:off x="1919212" y="5253874"/>
            <a:ext cx="2636352" cy="47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3ED200-0AFA-BD71-DD14-5671CAA2B13D}"/>
              </a:ext>
            </a:extLst>
          </p:cNvPr>
          <p:cNvSpPr txBox="1"/>
          <p:nvPr/>
        </p:nvSpPr>
        <p:spPr>
          <a:xfrm>
            <a:off x="1917584" y="5253874"/>
            <a:ext cx="263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EKF Formula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FA1BA0B-8F1A-6A3C-DD86-60BDC26B2FBE}"/>
              </a:ext>
            </a:extLst>
          </p:cNvPr>
          <p:cNvSpPr/>
          <p:nvPr/>
        </p:nvSpPr>
        <p:spPr>
          <a:xfrm>
            <a:off x="8166257" y="5236059"/>
            <a:ext cx="2636352" cy="47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7DBE1-E1E6-DFF9-6EF8-BC97B74F14C1}"/>
              </a:ext>
            </a:extLst>
          </p:cNvPr>
          <p:cNvSpPr txBox="1"/>
          <p:nvPr/>
        </p:nvSpPr>
        <p:spPr>
          <a:xfrm>
            <a:off x="8261410" y="5244966"/>
            <a:ext cx="263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 Gain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88952" cy="76809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04088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889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9515" y="1036625"/>
            <a:ext cx="3349253" cy="1334682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12835" y="1036625"/>
            <a:ext cx="3349253" cy="1334682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16155" y="1036625"/>
            <a:ext cx="3349253" cy="1334682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figC3_ek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00" y="2596682"/>
            <a:ext cx="10461804" cy="387331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A93D519-F237-EEC6-6055-A0ACD471E612}"/>
              </a:ext>
            </a:extLst>
          </p:cNvPr>
          <p:cNvGrpSpPr/>
          <p:nvPr/>
        </p:nvGrpSpPr>
        <p:grpSpPr>
          <a:xfrm>
            <a:off x="-453212" y="-263954"/>
            <a:ext cx="12645212" cy="1245981"/>
            <a:chOff x="-453212" y="-263954"/>
            <a:chExt cx="12645212" cy="1245981"/>
          </a:xfrm>
        </p:grpSpPr>
        <p:sp>
          <p:nvSpPr>
            <p:cNvPr id="20" name="Shape 0">
              <a:extLst>
                <a:ext uri="{FF2B5EF4-FFF2-40B4-BE49-F238E27FC236}">
                  <a16:creationId xmlns:a16="http://schemas.microsoft.com/office/drawing/2014/main" id="{C9D74867-C494-7DFE-A86B-262804D1545E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49F12F1F-0CD1-3CC6-76FA-BF5A3F5761CB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86BB9DFA-3657-526C-5FAE-B695B38598B8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24" name="Shape 5">
              <a:extLst>
                <a:ext uri="{FF2B5EF4-FFF2-40B4-BE49-F238E27FC236}">
                  <a16:creationId xmlns:a16="http://schemas.microsoft.com/office/drawing/2014/main" id="{364F5E06-A9E8-9197-E0D2-36926C3D6CA8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81AA89EB-20DB-D075-1DDF-D405D4246407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76B82A15-69C8-63FF-9F21-B006A772020E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755D25FA-10EB-6B51-9B72-0CD79ADE85B6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9">
              <a:extLst>
                <a:ext uri="{FF2B5EF4-FFF2-40B4-BE49-F238E27FC236}">
                  <a16:creationId xmlns:a16="http://schemas.microsoft.com/office/drawing/2014/main" id="{E7EACE83-5BAA-2440-315C-858566BC896F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10">
              <a:extLst>
                <a:ext uri="{FF2B5EF4-FFF2-40B4-BE49-F238E27FC236}">
                  <a16:creationId xmlns:a16="http://schemas.microsoft.com/office/drawing/2014/main" id="{EE2703FA-31AA-F2FC-2B08-6459A01C3020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11">
              <a:extLst>
                <a:ext uri="{FF2B5EF4-FFF2-40B4-BE49-F238E27FC236}">
                  <a16:creationId xmlns:a16="http://schemas.microsoft.com/office/drawing/2014/main" id="{83F5D679-4371-BDC2-3F03-55294B76D334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12">
              <a:extLst>
                <a:ext uri="{FF2B5EF4-FFF2-40B4-BE49-F238E27FC236}">
                  <a16:creationId xmlns:a16="http://schemas.microsoft.com/office/drawing/2014/main" id="{49589CF9-CE8D-558F-82BB-57878B10F915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27E2E16F-BD0D-5684-288A-B7E155C92A31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14">
              <a:extLst>
                <a:ext uri="{FF2B5EF4-FFF2-40B4-BE49-F238E27FC236}">
                  <a16:creationId xmlns:a16="http://schemas.microsoft.com/office/drawing/2014/main" id="{AE3CDAAB-5D8D-981B-5525-490513825FD4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15">
              <a:extLst>
                <a:ext uri="{FF2B5EF4-FFF2-40B4-BE49-F238E27FC236}">
                  <a16:creationId xmlns:a16="http://schemas.microsoft.com/office/drawing/2014/main" id="{D91D74F8-603D-6C13-4730-88AA60AFC9D4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FDADB201-1C2B-9BDF-2858-CE2E10F572CC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9ACED8D-EB46-FA4C-F4D1-168A2C2D6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37" name="Text 1">
              <a:extLst>
                <a:ext uri="{FF2B5EF4-FFF2-40B4-BE49-F238E27FC236}">
                  <a16:creationId xmlns:a16="http://schemas.microsoft.com/office/drawing/2014/main" id="{C4C640C1-08FE-0EA9-88D4-EB63B26E3516}"/>
                </a:ext>
              </a:extLst>
            </p:cNvPr>
            <p:cNvSpPr/>
            <p:nvPr/>
          </p:nvSpPr>
          <p:spPr>
            <a:xfrm>
              <a:off x="1192376" y="-48531"/>
              <a:ext cx="10972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3200" b="1" i="0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EKF RESULTS  -  THREE TIERS OF VALIDATION</a:t>
              </a:r>
              <a:endParaRPr lang="en-US" sz="3200" dirty="0">
                <a:effectLst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457A"/>
                </a:solidFill>
              </a:rPr>
              <a:t>EKF POSITION ACCURACY - REAL TOKYO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4B5"/>
                </a:solidFill>
              </a:rPr>
              <a:t>REAL TOKYO EKF RESULTS (Trimble Shinjuku)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14630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1F1F"/>
                </a:solidFill>
              </a:rPr>
              <a:t>During Degraded Segment:</a:t>
            </a:r>
          </a:p>
          <a:p/>
          <a:p>
            <a:r>
              <a:rPr sz="1300" b="0">
                <a:solidFill>
                  <a:srgbClr val="606060"/>
                </a:solidFill>
              </a:rPr>
              <a:t>GNSS-only baseline:          47.4 m</a:t>
            </a:r>
          </a:p>
          <a:p>
            <a:r>
              <a:rPr sz="1300" b="1">
                <a:solidFill>
                  <a:srgbClr val="1A7A3A"/>
                </a:solidFill>
              </a:rPr>
              <a:t>SENTINEL adaptive (ours):    26.9 m   (-43.2% vs raw)</a:t>
            </a:r>
          </a:p>
          <a:p>
            <a:r>
              <a:rPr sz="1300" b="0">
                <a:solidFill>
                  <a:srgbClr val="2E74B5"/>
                </a:solidFill>
              </a:rPr>
              <a:t>Fixed-R EKF (oracle):        24.3 m   (-48.8% vs raw)</a:t>
            </a:r>
          </a:p>
          <a:p/>
          <a:p>
            <a:r>
              <a:rPr sz="1300" b="1">
                <a:solidFill>
                  <a:srgbClr val="1A7A3A"/>
                </a:solidFill>
              </a:rPr>
              <a:t>Our proactive system achieves 43.2% RMSE reduction</a:t>
            </a:r>
          </a:p>
          <a:p>
            <a:r>
              <a:rPr sz="1300" b="1">
                <a:solidFill>
                  <a:srgbClr val="1A7A3A"/>
                </a:solidFill>
              </a:rPr>
              <a:t>vs raw GPS</a:t>
            </a:r>
          </a:p>
          <a:p/>
          <a:p>
            <a:r>
              <a:rPr sz="1100" b="0">
                <a:solidFill>
                  <a:srgbClr val="808080"/>
                </a:solidFill>
              </a:rPr>
              <a:t>(Fixed-R oracle uses true degradation labels - not predictive)</a:t>
            </a:r>
          </a:p>
        </p:txBody>
      </p:sp>
      <p:pic>
        <p:nvPicPr>
          <p:cNvPr id="41" name="Picture 40" descr="fig07_ekf_rm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188720"/>
            <a:ext cx="4572000" cy="3200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303520" y="4434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06060"/>
                </a:solidFill>
              </a:rPr>
              <a:t>Real Tokyo Trimble Shinjuku results (Phase 2b/2c)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457A"/>
                </a:solidFill>
              </a:rPr>
              <a:t>EKF MULTI-ENVIRONMENT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505050"/>
                </a:solidFill>
              </a:rPr>
              <a:t>Degraded-Segment RMSE gain vs. Raw GPS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57A"/>
                </a:solidFill>
              </a:rPr>
              <a:t>Trimble Shinjuku (clean GPS):</a:t>
            </a:r>
          </a:p>
          <a:p>
            <a:r>
              <a:rPr sz="1300" b="0">
                <a:solidFill>
                  <a:srgbClr val="1F1F1F"/>
                </a:solidFill>
              </a:rPr>
              <a:t>  EKF Fixed-R: +48.8%  |  EKF Adaptive (ours): +43.2%</a:t>
            </a:r>
          </a:p>
          <a:p/>
          <a:p>
            <a:r>
              <a:rPr sz="1500" b="1">
                <a:solidFill>
                  <a:srgbClr val="1F457A"/>
                </a:solidFill>
              </a:rPr>
              <a:t>u-blox Shinjuku (heavy-tailed):</a:t>
            </a:r>
          </a:p>
          <a:p>
            <a:r>
              <a:rPr sz="1300" b="0">
                <a:solidFill>
                  <a:srgbClr val="1F1F1F"/>
                </a:solidFill>
              </a:rPr>
              <a:t>  Huber EKF: +25.2%  |  EKF Adaptive: +13.2%</a:t>
            </a:r>
          </a:p>
          <a:p/>
          <a:p>
            <a:r>
              <a:rPr sz="1500" b="1">
                <a:solidFill>
                  <a:srgbClr val="1F457A"/>
                </a:solidFill>
              </a:rPr>
              <a:t>Odaiba (random NLOS):</a:t>
            </a:r>
          </a:p>
          <a:p>
            <a:r>
              <a:rPr sz="1300" b="0">
                <a:solidFill>
                  <a:srgbClr val="1F1F1F"/>
                </a:solidFill>
              </a:rPr>
              <a:t>  Student-t PF: +40.1%  |  EKF Fixed-R: +17.6% (worst)</a:t>
            </a:r>
          </a:p>
          <a:p/>
          <a:p>
            <a:r>
              <a:rPr sz="1400" b="1">
                <a:solidFill>
                  <a:srgbClr val="C05000"/>
                </a:solidFill>
              </a:rPr>
              <a:t>Key finding: No single method dominates all environments.</a:t>
            </a:r>
          </a:p>
          <a:p>
            <a:r>
              <a:rPr sz="1300" b="0">
                <a:solidFill>
                  <a:srgbClr val="1A7A3A"/>
                </a:solidFill>
              </a:rPr>
              <a:t>SENTINEL pairs best with Fixed-R for clean GPS (most common case).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88952" cy="76809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04088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889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6675120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FFFFFF"/>
                </a:solidFill>
              </a:rPr>
              <a:t>SENTINEL-GNSS</a:t>
            </a:r>
          </a:p>
        </p:txBody>
      </p:sp>
      <p:sp>
        <p:nvSpPr>
          <p:cNvPr id="50" name="Hdr A bar"/>
          <p:cNvSpPr/>
          <p:nvPr/>
        </p:nvSpPr>
        <p:spPr>
          <a:xfrm>
            <a:off x="612648" y="1059774"/>
            <a:ext cx="2643676" cy="43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100" b="1" i="0">
                <a:solidFill>
                  <a:srgbClr val="FFFFFF"/>
                </a:solidFill>
              </a:rPr>
              <a:t>GNSS-Only Platform (no IMU, no odometry)</a:t>
            </a:r>
          </a:p>
        </p:txBody>
      </p:sp>
      <p:sp>
        <p:nvSpPr>
          <p:cNvPr id="51" name="Hdr B bar"/>
          <p:cNvSpPr/>
          <p:nvPr/>
        </p:nvSpPr>
        <p:spPr>
          <a:xfrm>
            <a:off x="3406324" y="1059774"/>
            <a:ext cx="2643676" cy="43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100" b="1" i="0">
                <a:solidFill>
                  <a:srgbClr val="FFFFFF"/>
                </a:solidFill>
              </a:rPr>
              <a:t>Well-Aided Platform (odometry + NHC + ZUPT)</a:t>
            </a:r>
          </a:p>
        </p:txBody>
      </p:sp>
      <p:sp>
        <p:nvSpPr>
          <p:cNvPr id="52" name="Bullets A"/>
          <p:cNvSpPr txBox="1"/>
          <p:nvPr/>
        </p:nvSpPr>
        <p:spPr>
          <a:xfrm>
            <a:off x="612648" y="1529774"/>
            <a:ext cx="2643676" cy="2383258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>
              <a:lnSpc>
                <a:spcPct val="250000"/>
              </a:lnSpc>
            </a:pPr>
            <a:r>
              <a:rPr lang="en-US" sz="1050" b="1" i="0" dirty="0">
                <a:solidFill>
                  <a:srgbClr val="C62828"/>
                </a:solidFill>
              </a:rPr>
              <a:t>●  Crossover at ~20 m multipath severity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333333"/>
                </a:solidFill>
              </a:rPr>
              <a:t>●  Below 20 m: fixed-R wins (GNSS is fine)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1B873A"/>
                </a:solidFill>
              </a:rPr>
              <a:t>●  Above 20 m: adaptive-R wins by +25-38%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0A1733"/>
                </a:solidFill>
              </a:rPr>
              <a:t>●  Deep canyons, tunnels: exactly our target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0A1733"/>
                </a:solidFill>
              </a:rPr>
              <a:t>●  Cheap receiver + prediction = strong combo</a:t>
            </a:r>
          </a:p>
        </p:txBody>
      </p:sp>
      <p:sp>
        <p:nvSpPr>
          <p:cNvPr id="53" name="Bullets B"/>
          <p:cNvSpPr txBox="1"/>
          <p:nvPr/>
        </p:nvSpPr>
        <p:spPr>
          <a:xfrm>
            <a:off x="3406324" y="1596313"/>
            <a:ext cx="2553696" cy="2527031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>
              <a:lnSpc>
                <a:spcPct val="250000"/>
              </a:lnSpc>
            </a:pPr>
            <a:r>
              <a:rPr lang="en-US" sz="1000" b="1" i="0" dirty="0">
                <a:solidFill>
                  <a:srgbClr val="1B873A"/>
                </a:solidFill>
              </a:rPr>
              <a:t>●  Fixed-R wins: oracle baseline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0A1733"/>
                </a:solidFill>
              </a:rPr>
              <a:t>●  GNSS provides the only heading reference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C62828"/>
                </a:solidFill>
              </a:rPr>
              <a:t>●  Blanket R-inflation → heading drift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333333"/>
                </a:solidFill>
              </a:rPr>
              <a:t>●  Odometry = speed;  NHC = no lateral slip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333333"/>
                </a:solidFill>
              </a:rPr>
              <a:t>●  But heading has no absolute backup</a:t>
            </a:r>
          </a:p>
        </p:txBody>
      </p:sp>
      <p:sp>
        <p:nvSpPr>
          <p:cNvPr id="55" name="Role hdr"/>
          <p:cNvSpPr txBox="1"/>
          <p:nvPr/>
        </p:nvSpPr>
        <p:spPr>
          <a:xfrm>
            <a:off x="612648" y="4123344"/>
            <a:ext cx="3203702" cy="300000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/>
            <a:r>
              <a:rPr lang="en-US" sz="1400" b="1" i="0" dirty="0">
                <a:solidFill>
                  <a:srgbClr val="005BAC"/>
                </a:solidFill>
              </a:rPr>
              <a:t>Role of SENTINEL in a full AV stack:</a:t>
            </a:r>
          </a:p>
        </p:txBody>
      </p:sp>
      <p:sp>
        <p:nvSpPr>
          <p:cNvPr id="56" name="Role items"/>
          <p:cNvSpPr txBox="1"/>
          <p:nvPr/>
        </p:nvSpPr>
        <p:spPr>
          <a:xfrm>
            <a:off x="612648" y="4453343"/>
            <a:ext cx="4778502" cy="1625641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>
              <a:lnSpc>
                <a:spcPct val="150000"/>
              </a:lnSpc>
            </a:pPr>
            <a:r>
              <a:rPr lang="en-US" sz="1100" b="1" i="0" dirty="0">
                <a:solidFill>
                  <a:srgbClr val="0A1733"/>
                </a:solidFill>
              </a:rPr>
              <a:t>✔  Trigger sensor-fusion mode switch (GNSS-primary → odometry-primary)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i="0" dirty="0">
                <a:solidFill>
                  <a:srgbClr val="0A1733"/>
                </a:solidFill>
              </a:rPr>
              <a:t>✔  Alert path planner: predicted blockage zone ahead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i="0" dirty="0">
                <a:solidFill>
                  <a:srgbClr val="0A1733"/>
                </a:solidFill>
              </a:rPr>
              <a:t>✔  Activate ZUPT when vehicle is likely stopped in blocked zone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i="0" dirty="0">
                <a:solidFill>
                  <a:srgbClr val="0A1733"/>
                </a:solidFill>
              </a:rPr>
              <a:t>✔  Flag integrity failure to downstream systems (HD map </a:t>
            </a:r>
            <a:r>
              <a:rPr lang="en-US" sz="1100" b="1" i="0" dirty="0" err="1">
                <a:solidFill>
                  <a:srgbClr val="0A1733"/>
                </a:solidFill>
              </a:rPr>
              <a:t>localisation</a:t>
            </a:r>
            <a:r>
              <a:rPr lang="en-US" sz="1100" b="1" i="0" dirty="0">
                <a:solidFill>
                  <a:srgbClr val="0A1733"/>
                </a:solidFill>
              </a:rPr>
              <a:t>)</a:t>
            </a:r>
          </a:p>
        </p:txBody>
      </p:sp>
      <p:pic>
        <p:nvPicPr>
          <p:cNvPr id="60" name="severity_swee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805" y="1039250"/>
            <a:ext cx="5826768" cy="3800438"/>
          </a:xfrm>
          <a:prstGeom prst="rect">
            <a:avLst/>
          </a:prstGeom>
        </p:spPr>
      </p:pic>
      <p:cxnSp>
        <p:nvCxnSpPr>
          <p:cNvPr id="61" name="callout arrow"/>
          <p:cNvCxnSpPr>
            <a:cxnSpLocks/>
          </p:cNvCxnSpPr>
          <p:nvPr/>
        </p:nvCxnSpPr>
        <p:spPr>
          <a:xfrm flipV="1">
            <a:off x="10100000" y="3237576"/>
            <a:ext cx="1594017" cy="1762424"/>
          </a:xfrm>
          <a:prstGeom prst="straightConnector1">
            <a:avLst/>
          </a:prstGeom>
          <a:ln w="38100" cap="rnd">
            <a:solidFill>
              <a:srgbClr val="E5393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62" name="red callout"/>
          <p:cNvSpPr txBox="1"/>
          <p:nvPr/>
        </p:nvSpPr>
        <p:spPr>
          <a:xfrm>
            <a:off x="6300000" y="5050000"/>
            <a:ext cx="5300000" cy="1150000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just">
              <a:lnSpc>
                <a:spcPct val="150000"/>
              </a:lnSpc>
            </a:pPr>
            <a:r>
              <a:rPr lang="en-US" sz="1600" b="1" i="0" dirty="0">
                <a:solidFill>
                  <a:srgbClr val="E53935"/>
                </a:solidFill>
              </a:rPr>
              <a:t>Crossover only at ~80 m bias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</a:pPr>
            <a:r>
              <a:rPr lang="en-US" sz="1400" b="0" i="0" dirty="0">
                <a:solidFill>
                  <a:srgbClr val="E53935"/>
                </a:solidFill>
              </a:rPr>
              <a:t>Adaptive-R edges fixed-R only at extreme multipath; fixed-R wins everywhere below on this well-aided platform.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FDD130-C013-C480-6834-7ECC3E55D88E}"/>
              </a:ext>
            </a:extLst>
          </p:cNvPr>
          <p:cNvGrpSpPr/>
          <p:nvPr/>
        </p:nvGrpSpPr>
        <p:grpSpPr>
          <a:xfrm>
            <a:off x="-453212" y="-263954"/>
            <a:ext cx="12695766" cy="1245981"/>
            <a:chOff x="-453212" y="-263954"/>
            <a:chExt cx="12695766" cy="1245981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F0567383-7426-103E-CCD9-19B66F20B26F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FD3BD93E-5CFD-8421-6DCB-1BE896EFAE1E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B3F303A1-7F46-2EDC-FD4C-4DF7A09F38DE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6B114785-E93C-C872-FB10-5E36BA1F87DF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DC5BBE2C-3613-1FCF-4026-5B0A3FF93B86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2C4B2E57-5B56-1EE2-DDB4-98212E94D851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5356E53-C788-2D75-F5D9-0EFD8590F88C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B36865FA-86E2-18ED-B587-7849C6B9B366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0">
              <a:extLst>
                <a:ext uri="{FF2B5EF4-FFF2-40B4-BE49-F238E27FC236}">
                  <a16:creationId xmlns:a16="http://schemas.microsoft.com/office/drawing/2014/main" id="{FA444749-A0AD-3120-E586-513EAF47D6FC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317584CF-5802-C31D-2E7D-3B38870635FB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B35474DB-497B-FF3E-5354-3BE5B4E17A26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13">
              <a:extLst>
                <a:ext uri="{FF2B5EF4-FFF2-40B4-BE49-F238E27FC236}">
                  <a16:creationId xmlns:a16="http://schemas.microsoft.com/office/drawing/2014/main" id="{76D853C4-B789-95C3-5EED-B0C506406BD6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14">
              <a:extLst>
                <a:ext uri="{FF2B5EF4-FFF2-40B4-BE49-F238E27FC236}">
                  <a16:creationId xmlns:a16="http://schemas.microsoft.com/office/drawing/2014/main" id="{32E0F742-EBC2-E832-587D-00AB2F757C32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0CAC0353-8A38-5B5E-E328-0D2D387BE04B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9988BBFD-1648-9BE5-2853-478BA3B6163D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081D7F5-2434-9EA9-1751-E99A7C214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9022D089-7F9B-943B-E9EE-B5C97F069A16}"/>
                </a:ext>
              </a:extLst>
            </p:cNvPr>
            <p:cNvSpPr/>
            <p:nvPr/>
          </p:nvSpPr>
          <p:spPr>
            <a:xfrm>
              <a:off x="1269754" y="318153"/>
              <a:ext cx="10972800" cy="5058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200" b="1" i="0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WHEN IS ADAPTIVE-R WORTH IT?  - &gt; SEVERITY SWEEP</a:t>
              </a:r>
              <a:endParaRPr lang="en-US" sz="3200" dirty="0">
                <a:effectLst/>
              </a:endParaRPr>
            </a:p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effectLst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1A7-6117-3FCB-D2B5-383C882D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104CEF9-ED78-4D03-DB9A-268FCC0D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2D7F999D-3F9D-1DB0-F84A-F6FCA8FE573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5252F82-DE25-7BDC-8D2A-F0F240EA0D18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B7024AA-639C-291B-9004-3C0B23DE15B5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7F40D78-AFD0-C649-33A7-4433FBA401F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8961121-1312-0B32-D507-E2D1AD7DA226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ED977EF-125E-A906-B120-F38DE5721D11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87921BC-4D3F-F056-2624-98640177C260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463A6B6-F340-53E4-87D7-19D05DDF6EB0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7F23159-8B1C-EB05-A24D-93F9F7F0B1C7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126EFF6-9328-80B0-72DE-67D255A43E93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8112812-D0FB-FA14-15F7-5DC4EED7F1E7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13584E1-F063-6722-7CE1-1B0E8621DE3A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57AD538-43D2-D63D-4EAC-041302489905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F2A296D-EE48-06D3-51C8-51BC6683750D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831495C9-E884-FC75-A8F6-EC4896B216EF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C989B863-D714-D297-C99B-14BEF450A884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CCDE87AC-D365-0797-9DF9-186049E78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AB1B4F76-ABD6-6B21-1EA1-85096C600B68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06E7F-6333-2AE8-ED19-959DD6DD5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4" y="794783"/>
            <a:ext cx="11286267" cy="575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1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C476-DE65-165C-341E-8E62B0E8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CF92992-6FEA-10E3-4CEF-6FEEC9DB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AC1550A-A483-726B-BDC9-24ACF65A7E0C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1D40E21-422E-9FCC-764A-E1CD1C217EE7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9170FBD-4FF4-D3A2-B409-2F433059287D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5ABCF96-FC63-C5A5-7AA4-FF02D607BD9C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E3C466F-E365-2ED5-7FDE-4F13491660A9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68CD647-127D-0588-3D21-7B4EB0B79C44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9D2B2F5-E223-929B-8437-D47D08FC799A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C4AE384-AC2A-09D4-61F7-53248F3CD061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13BA5AD-43FD-4109-AA8E-D69215C65D37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316EB6A5-D4C4-2076-A538-8ACDB27DBC19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E19D222-3826-6EC1-792C-D3C350F40A44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73F0459D-ECB3-DAB1-4DC4-F6F718258DFC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F39DF27C-FCEC-1CEA-871A-C98EA71EA810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71137C5F-9D3C-F67F-27EA-34E6437DC35C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1596EBF0-F486-2C09-877C-832B60713493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DF9874BE-9046-0F3A-B47A-65FE81C35E72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B390DD69-B1A0-973B-BEB1-2D7BBB216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0450BBCB-E271-FB7D-C096-0506419B34AB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8BD49-161A-98B0-FBE4-AEA3339CD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44" y="784768"/>
            <a:ext cx="10982911" cy="580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27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0DFE-F2B4-C588-AFDC-0ADA02BE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32BFF49-5968-E1F2-CDA2-1484D34B5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11A85EF0-3AA8-72F6-2310-C24601CA3098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CD9EAB2-9D6D-D656-0F2B-119984CE289C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4DA88EF-516E-FBF2-C689-0FB3AD5F5323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F6F3098-F741-0E00-16D4-5EE9BD8BD61E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26ADF2E-BFF5-9EE0-529A-7F59429C9CA0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EC00722-4529-4677-8771-2E3598D4B2A7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A58BBC4-22FD-4865-8033-646E4930BAC0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419EA86-F475-D150-C2B5-D2C0941CF507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0E3EDC9-1BFD-696B-CA07-4A97DFD601B3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7164867-B5F0-B079-66A7-C7389AD159FC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62F1286-C051-F7E4-BAA9-CEF07F156161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6979F0D-B4E3-E465-33D8-20F5D44EC258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C43295E-597B-329F-ACBC-BCD0388DD1EE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F055132-883C-F053-F335-E1026974F501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CAD0F558-7B30-8769-4EAA-5C3BB0EE16C7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238DCED3-1CA1-D7AA-F5A1-94038AD469C9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1E23AF81-4252-671B-0DB1-D895DE6B8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63A45EAF-BFCE-B67C-4D69-70E24D727444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9813B-0EC9-4526-753A-2322C6E51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6" y="803937"/>
            <a:ext cx="3405668" cy="3088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873C05-2654-6958-E937-F7B13872F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5" y="3915179"/>
            <a:ext cx="12023926" cy="26752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7D62F5-E6F1-52EC-F5E2-3081A4483F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7917" y="827951"/>
            <a:ext cx="4250832" cy="30322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C65D96-4E04-3530-945F-8C9E2B6128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0234" y="827951"/>
            <a:ext cx="4231086" cy="299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26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256D-8EE1-4F6A-876A-16E6C1F8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DE8850A-6377-EC20-A10D-91E34C13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1789850-A2E4-4D7A-07A6-2DD50DA7FBD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8A91033-3574-DC34-379B-587D91F0BDB2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42D1558-EC71-3010-4E6D-0D30EBFC0E43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EDF54D8-50F2-63BB-A029-8F664FE636D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76545EB-4575-EC1A-C622-F6A62E8E3159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E970AC3-56DE-C576-DF8A-13B644298787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7F0280D-0F9D-E372-1CFC-5ABAECCFAF9D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92B6112-34D7-7DB4-1891-11C4E810CF51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D186A24-FC30-A136-4BBA-9A0174130AD9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05B7187-02B7-EF8C-AE3D-0347FA320E67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85A11CA-1D63-09F3-CB9A-B95634EA1E15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7451654-1C25-0700-415F-88D5658772D5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C3B503F-CFA3-EEAE-9549-A04BC6661C17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37ABA60-0874-68F5-1D01-131C670789B6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10C18C00-F5E5-4797-E52F-2E6AFF6FB237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B0531AAA-9D55-16E2-4C61-1BBE35E04F3C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A19DF28E-EDE5-D851-2111-0C73C0D9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357310F-461C-8BB2-96B9-56D50AE17D23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  -  SENSOR FUSION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8054B2-049F-0EEE-FEDA-16BB210A3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81" y="766487"/>
            <a:ext cx="11177926" cy="581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03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AD616-B625-CC08-A7D1-C808E980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61AA7-E12C-5C40-0C7C-652658737F29}"/>
              </a:ext>
            </a:extLst>
          </p:cNvPr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5 · Novelty &amp;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6CACF-551A-4896-CC1E-2B9E03C87905}"/>
              </a:ext>
            </a:extLst>
          </p:cNvPr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29302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208955" y="1147065"/>
            <a:ext cx="5730240" cy="9831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208955" y="1147066"/>
            <a:ext cx="79248" cy="98314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379643" y="1409194"/>
            <a:ext cx="365760" cy="3657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379643" y="14091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26" name="Text 22"/>
          <p:cNvSpPr/>
          <p:nvPr/>
        </p:nvSpPr>
        <p:spPr>
          <a:xfrm>
            <a:off x="867323" y="1232410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Reactive → Proactive Predictor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67323" y="1585978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867323" y="1622554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First system to predict GNSS degradation 5 s, 15 s, 30 s ahead  -  Liu et al. (2023) only classifies t+0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08955" y="2228630"/>
            <a:ext cx="5730240" cy="93302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208955" y="2228631"/>
            <a:ext cx="79248" cy="890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379643" y="2490759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379643" y="249075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33" name="Text 29"/>
          <p:cNvSpPr/>
          <p:nvPr/>
        </p:nvSpPr>
        <p:spPr>
          <a:xfrm>
            <a:off x="867323" y="2313975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Cross-City Generalisation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67323" y="2667543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867323" y="2704119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Beijing → Tokyo: DEGRADED F1 = 0.75 (ours) vs. 0.15 (Random Forest)  -  unseen city, zero retraining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208955" y="3293268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208955" y="3301735"/>
            <a:ext cx="79248" cy="890016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379643" y="3555396"/>
            <a:ext cx="365760" cy="365760"/>
          </a:xfrm>
          <a:prstGeom prst="ellipse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379643" y="35553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40" name="Text 36"/>
          <p:cNvSpPr/>
          <p:nvPr/>
        </p:nvSpPr>
        <p:spPr>
          <a:xfrm>
            <a:off x="867323" y="3378612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Unified Multi-Horizon Model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67323" y="3732180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867323" y="3768756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One forward pass, three prediction heads  -  10.5× faster than three separate traditional models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208955" y="4324035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Shape 40"/>
          <p:cNvSpPr/>
          <p:nvPr/>
        </p:nvSpPr>
        <p:spPr>
          <a:xfrm>
            <a:off x="208955" y="4324035"/>
            <a:ext cx="79248" cy="890016"/>
          </a:xfrm>
          <a:prstGeom prst="rect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  <p:txBody>
          <a:bodyPr/>
          <a:p/>
        </p:txBody>
      </p:sp>
      <p:sp>
        <p:nvSpPr>
          <p:cNvPr id="45" name="Shape 41"/>
          <p:cNvSpPr/>
          <p:nvPr/>
        </p:nvSpPr>
        <p:spPr>
          <a:xfrm>
            <a:off x="379643" y="4586163"/>
            <a:ext cx="365760" cy="365760"/>
          </a:xfrm>
          <a:prstGeom prst="ellipse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379643" y="458616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4</a:t>
            </a:r>
            <a:endParaRPr lang="en-US" sz="1467" dirty="0"/>
          </a:p>
        </p:txBody>
      </p:sp>
      <p:sp>
        <p:nvSpPr>
          <p:cNvPr id="47" name="Text 43"/>
          <p:cNvSpPr/>
          <p:nvPr/>
        </p:nvSpPr>
        <p:spPr>
          <a:xfrm>
            <a:off x="867323" y="4409379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Open Multi-City Benchmark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867323" y="4762947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9" name="Text 45"/>
          <p:cNvSpPr/>
          <p:nvPr/>
        </p:nvSpPr>
        <p:spPr>
          <a:xfrm>
            <a:off x="867323" y="4799523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149,662 labelled epochs · Beijing, Hong Kong, Tokyo, Oxford, Ann Arbor · 9+ receiver types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208955" y="5388667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1" name="Shape 47"/>
          <p:cNvSpPr/>
          <p:nvPr/>
        </p:nvSpPr>
        <p:spPr>
          <a:xfrm>
            <a:off x="208955" y="5388667"/>
            <a:ext cx="79248" cy="89001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52" name="Shape 48"/>
          <p:cNvSpPr/>
          <p:nvPr/>
        </p:nvSpPr>
        <p:spPr>
          <a:xfrm>
            <a:off x="379643" y="5650795"/>
            <a:ext cx="365760" cy="3657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379643" y="56507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5</a:t>
            </a:r>
            <a:endParaRPr lang="en-US" sz="1467" dirty="0"/>
          </a:p>
        </p:txBody>
      </p:sp>
      <p:sp>
        <p:nvSpPr>
          <p:cNvPr id="54" name="Text 50"/>
          <p:cNvSpPr/>
          <p:nvPr/>
        </p:nvSpPr>
        <p:spPr>
          <a:xfrm>
            <a:off x="867323" y="5474011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Hardware-Aware Design</a:t>
            </a:r>
            <a:endParaRPr lang="en-US" sz="1400" dirty="0"/>
          </a:p>
        </p:txBody>
      </p:sp>
      <p:sp>
        <p:nvSpPr>
          <p:cNvPr id="55" name="Shape 51"/>
          <p:cNvSpPr/>
          <p:nvPr/>
        </p:nvSpPr>
        <p:spPr>
          <a:xfrm>
            <a:off x="867323" y="5827579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67323" y="5864155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Explicit receiver_tier feature bridges Septentrio survey-grade → consumer smartphone, no retraining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6368292" y="935397"/>
            <a:ext cx="5705856" cy="670560"/>
          </a:xfrm>
          <a:prstGeom prst="rect">
            <a:avLst/>
          </a:prstGeom>
          <a:solidFill>
            <a:srgbClr val="0D1F3C"/>
          </a:solidFill>
          <a:ln w="127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8" name="Text 54"/>
          <p:cNvSpPr/>
          <p:nvPr/>
        </p:nvSpPr>
        <p:spPr>
          <a:xfrm>
            <a:off x="6563364" y="947589"/>
            <a:ext cx="531571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4FC3F7"/>
                </a:solidFill>
              </a:rPr>
              <a:t>10.5×  </a:t>
            </a:r>
            <a:r>
              <a:rPr lang="en-US" sz="1400" dirty="0">
                <a:solidFill>
                  <a:srgbClr val="FFFFFF"/>
                </a:solidFill>
              </a:rPr>
              <a:t>faster · one pass · three horizons</a:t>
            </a:r>
            <a:endParaRPr lang="en-US" sz="3200" dirty="0"/>
          </a:p>
        </p:txBody>
      </p:sp>
      <p:sp>
        <p:nvSpPr>
          <p:cNvPr id="59" name="Text 55"/>
          <p:cNvSpPr/>
          <p:nvPr/>
        </p:nvSpPr>
        <p:spPr>
          <a:xfrm>
            <a:off x="6563364" y="1325541"/>
            <a:ext cx="53157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4FC3F7"/>
                </a:solidFill>
              </a:rPr>
              <a:t>DEGRADED F1: 0.75 (ours) vs 0.15 (RF) on unseen Tokyo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6368292" y="1703493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1" name="Shape 57"/>
          <p:cNvSpPr/>
          <p:nvPr/>
        </p:nvSpPr>
        <p:spPr>
          <a:xfrm>
            <a:off x="6368292" y="1703493"/>
            <a:ext cx="85344" cy="136550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62" name="Shape 58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5 s</a:t>
            </a:r>
            <a:endParaRPr lang="en-US" sz="2000" dirty="0"/>
          </a:p>
        </p:txBody>
      </p:sp>
      <p:sp>
        <p:nvSpPr>
          <p:cNvPr id="64" name="Text 60"/>
          <p:cNvSpPr/>
          <p:nvPr/>
        </p:nvSpPr>
        <p:spPr>
          <a:xfrm>
            <a:off x="7514340" y="1813221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83 m</a:t>
            </a:r>
            <a:endParaRPr lang="en-US" sz="2667" dirty="0"/>
          </a:p>
        </p:txBody>
      </p:sp>
      <p:sp>
        <p:nvSpPr>
          <p:cNvPr id="65" name="Text 61"/>
          <p:cNvSpPr/>
          <p:nvPr/>
        </p:nvSpPr>
        <p:spPr>
          <a:xfrm>
            <a:off x="8928612" y="1861989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93" dirty="0">
                <a:solidFill>
                  <a:srgbClr val="0369A1"/>
                </a:solidFill>
              </a:rPr>
              <a:t>SENSOR TIGHTENING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6551172" y="2300901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7" name="Text 63"/>
          <p:cNvSpPr/>
          <p:nvPr/>
        </p:nvSpPr>
        <p:spPr>
          <a:xfrm>
            <a:off x="6551172" y="2337477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Fuse IMU/LiDAR · tighten tracking loops before canyon entry</a:t>
            </a:r>
            <a:endParaRPr lang="en-US" dirty="0"/>
          </a:p>
        </p:txBody>
      </p:sp>
      <p:sp>
        <p:nvSpPr>
          <p:cNvPr id="68" name="Shape 64"/>
          <p:cNvSpPr/>
          <p:nvPr/>
        </p:nvSpPr>
        <p:spPr>
          <a:xfrm>
            <a:off x="6368292" y="3161656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9" name="Shape 65"/>
          <p:cNvSpPr/>
          <p:nvPr/>
        </p:nvSpPr>
        <p:spPr>
          <a:xfrm>
            <a:off x="6368292" y="3161656"/>
            <a:ext cx="85344" cy="13655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70" name="Shape 66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71" name="Text 67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15 s</a:t>
            </a:r>
            <a:endParaRPr lang="en-US" sz="2000" dirty="0"/>
          </a:p>
        </p:txBody>
      </p:sp>
      <p:sp>
        <p:nvSpPr>
          <p:cNvPr id="72" name="Text 68"/>
          <p:cNvSpPr/>
          <p:nvPr/>
        </p:nvSpPr>
        <p:spPr>
          <a:xfrm>
            <a:off x="7514340" y="3271384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250 m</a:t>
            </a:r>
            <a:endParaRPr lang="en-US" sz="2667" dirty="0"/>
          </a:p>
        </p:txBody>
      </p:sp>
      <p:sp>
        <p:nvSpPr>
          <p:cNvPr id="73" name="Text 69"/>
          <p:cNvSpPr/>
          <p:nvPr/>
        </p:nvSpPr>
        <p:spPr>
          <a:xfrm>
            <a:off x="8928612" y="3320152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93" dirty="0">
                <a:solidFill>
                  <a:srgbClr val="0E7490"/>
                </a:solidFill>
              </a:rPr>
              <a:t>SENSOR HANDOFF</a:t>
            </a:r>
            <a:endParaRPr lang="en-US" sz="1100" dirty="0"/>
          </a:p>
        </p:txBody>
      </p:sp>
      <p:sp>
        <p:nvSpPr>
          <p:cNvPr id="74" name="Shape 70"/>
          <p:cNvSpPr/>
          <p:nvPr/>
        </p:nvSpPr>
        <p:spPr>
          <a:xfrm>
            <a:off x="6551172" y="3759064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6551172" y="3795640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Shift EKF authority to dead-reckoning before signal loss</a:t>
            </a:r>
            <a:endParaRPr lang="en-US" dirty="0"/>
          </a:p>
        </p:txBody>
      </p:sp>
      <p:sp>
        <p:nvSpPr>
          <p:cNvPr id="76" name="Shape 72"/>
          <p:cNvSpPr/>
          <p:nvPr/>
        </p:nvSpPr>
        <p:spPr>
          <a:xfrm>
            <a:off x="6368292" y="4619820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5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7" name="Shape 73"/>
          <p:cNvSpPr/>
          <p:nvPr/>
        </p:nvSpPr>
        <p:spPr>
          <a:xfrm>
            <a:off x="6368292" y="4619820"/>
            <a:ext cx="85344" cy="13655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p/>
        </p:txBody>
      </p:sp>
      <p:sp>
        <p:nvSpPr>
          <p:cNvPr id="78" name="Shape 74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p/>
        </p:txBody>
      </p:sp>
      <p:sp>
        <p:nvSpPr>
          <p:cNvPr id="79" name="Text 75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30 s</a:t>
            </a:r>
            <a:endParaRPr lang="en-US" sz="2000" dirty="0"/>
          </a:p>
        </p:txBody>
      </p:sp>
      <p:sp>
        <p:nvSpPr>
          <p:cNvPr id="80" name="Text 76"/>
          <p:cNvSpPr/>
          <p:nvPr/>
        </p:nvSpPr>
        <p:spPr>
          <a:xfrm>
            <a:off x="7514340" y="472954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500 m</a:t>
            </a:r>
            <a:endParaRPr lang="en-US" sz="2667" dirty="0"/>
          </a:p>
        </p:txBody>
      </p:sp>
      <p:sp>
        <p:nvSpPr>
          <p:cNvPr id="81" name="Text 77"/>
          <p:cNvSpPr/>
          <p:nvPr/>
        </p:nvSpPr>
        <p:spPr>
          <a:xfrm>
            <a:off x="8928612" y="4778316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93" dirty="0">
                <a:solidFill>
                  <a:srgbClr val="155E75"/>
                </a:solidFill>
              </a:rPr>
              <a:t>ROUTE REPLANNING</a:t>
            </a:r>
            <a:endParaRPr lang="en-US" sz="1100" dirty="0"/>
          </a:p>
        </p:txBody>
      </p:sp>
      <p:sp>
        <p:nvSpPr>
          <p:cNvPr id="82" name="Shape 78"/>
          <p:cNvSpPr/>
          <p:nvPr/>
        </p:nvSpPr>
        <p:spPr>
          <a:xfrm>
            <a:off x="6551172" y="5217228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3" name="Text 79"/>
          <p:cNvSpPr/>
          <p:nvPr/>
        </p:nvSpPr>
        <p:spPr>
          <a:xfrm>
            <a:off x="6551172" y="5253804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Full lead time to commit to an alternative route</a:t>
            </a:r>
            <a:endParaRPr lang="en-US" dirty="0"/>
          </a:p>
        </p:txBody>
      </p:sp>
      <p:sp>
        <p:nvSpPr>
          <p:cNvPr id="84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85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A39884D-750F-158A-73D2-5A8E63E41188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NOVELTIES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4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268224" y="1036995"/>
            <a:ext cx="2816352" cy="1121664"/>
          </a:xfrm>
          <a:prstGeom prst="rect">
            <a:avLst/>
          </a:prstGeom>
          <a:solidFill>
            <a:srgbClr val="003893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65760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0.8206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365760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Macro-F1  (+5 s)</a:t>
            </a:r>
          </a:p>
        </p:txBody>
      </p:sp>
      <p:sp>
        <p:nvSpPr>
          <p:cNvPr id="25" name="Text 21"/>
          <p:cNvSpPr/>
          <p:nvPr/>
        </p:nvSpPr>
        <p:spPr>
          <a:xfrm>
            <a:off x="365760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95% CI [0.798, 0.840]</a:t>
            </a:r>
            <a:endParaRPr lang="en-US" sz="1200" b="1" dirty="0"/>
          </a:p>
        </p:txBody>
      </p:sp>
      <p:sp>
        <p:nvSpPr>
          <p:cNvPr id="26" name="Shape 22"/>
          <p:cNvSpPr/>
          <p:nvPr/>
        </p:nvSpPr>
        <p:spPr>
          <a:xfrm>
            <a:off x="3182112" y="1036995"/>
            <a:ext cx="2816352" cy="1121664"/>
          </a:xfrm>
          <a:prstGeom prst="rect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3279648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85%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3279648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DEGRADED Recall</a:t>
            </a:r>
          </a:p>
        </p:txBody>
      </p:sp>
      <p:sp>
        <p:nvSpPr>
          <p:cNvPr id="29" name="Text 25"/>
          <p:cNvSpPr/>
          <p:nvPr/>
        </p:nvSpPr>
        <p:spPr>
          <a:xfrm>
            <a:off x="3279648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safety-critical class</a:t>
            </a:r>
            <a:endParaRPr lang="en-US" sz="1200" b="1" dirty="0"/>
          </a:p>
        </p:txBody>
      </p:sp>
      <p:sp>
        <p:nvSpPr>
          <p:cNvPr id="30" name="Shape 26"/>
          <p:cNvSpPr/>
          <p:nvPr/>
        </p:nvSpPr>
        <p:spPr>
          <a:xfrm>
            <a:off x="6096000" y="1036995"/>
            <a:ext cx="2816352" cy="1121664"/>
          </a:xfrm>
          <a:prstGeom prst="rect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193536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0.75</a:t>
            </a:r>
            <a:endParaRPr lang="en-US" sz="3200" dirty="0"/>
          </a:p>
        </p:txBody>
      </p:sp>
      <p:sp>
        <p:nvSpPr>
          <p:cNvPr id="32" name="Text 28"/>
          <p:cNvSpPr/>
          <p:nvPr/>
        </p:nvSpPr>
        <p:spPr>
          <a:xfrm>
            <a:off x="6193536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DEGRADED F1  -  Tokyo</a:t>
            </a:r>
          </a:p>
        </p:txBody>
      </p:sp>
      <p:sp>
        <p:nvSpPr>
          <p:cNvPr id="33" name="Text 29"/>
          <p:cNvSpPr/>
          <p:nvPr/>
        </p:nvSpPr>
        <p:spPr>
          <a:xfrm>
            <a:off x="6193536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vs. RF = 0.15 out-of-domain</a:t>
            </a:r>
            <a:endParaRPr lang="en-US" sz="1200" b="1" dirty="0"/>
          </a:p>
        </p:txBody>
      </p:sp>
      <p:sp>
        <p:nvSpPr>
          <p:cNvPr id="34" name="Shape 30"/>
          <p:cNvSpPr/>
          <p:nvPr/>
        </p:nvSpPr>
        <p:spPr>
          <a:xfrm>
            <a:off x="9009888" y="1036995"/>
            <a:ext cx="2816352" cy="1121664"/>
          </a:xfrm>
          <a:prstGeom prst="rect">
            <a:avLst/>
          </a:prstGeom>
          <a:solidFill>
            <a:srgbClr val="155E75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9107424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±5 cm</a:t>
            </a:r>
            <a:endParaRPr lang="en-US" sz="3200" dirty="0"/>
          </a:p>
        </p:txBody>
      </p:sp>
      <p:sp>
        <p:nvSpPr>
          <p:cNvPr id="36" name="Text 32"/>
          <p:cNvSpPr/>
          <p:nvPr/>
        </p:nvSpPr>
        <p:spPr>
          <a:xfrm>
            <a:off x="9107424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Ground-truth accuracy</a:t>
            </a:r>
          </a:p>
        </p:txBody>
      </p:sp>
      <p:sp>
        <p:nvSpPr>
          <p:cNvPr id="37" name="Text 33"/>
          <p:cNvSpPr/>
          <p:nvPr/>
        </p:nvSpPr>
        <p:spPr>
          <a:xfrm>
            <a:off x="9107424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RTK ground truth accuracy (Trimble)</a:t>
            </a:r>
            <a:endParaRPr lang="en-US" sz="1200" b="1" dirty="0"/>
          </a:p>
        </p:txBody>
      </p:sp>
      <p:sp>
        <p:nvSpPr>
          <p:cNvPr id="38" name="Shape 34"/>
          <p:cNvSpPr/>
          <p:nvPr/>
        </p:nvSpPr>
        <p:spPr>
          <a:xfrm>
            <a:off x="268224" y="2450928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9" name="Shape 35"/>
          <p:cNvSpPr/>
          <p:nvPr/>
        </p:nvSpPr>
        <p:spPr>
          <a:xfrm>
            <a:off x="268224" y="2450928"/>
            <a:ext cx="85344" cy="1853184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40" name="Shape 36"/>
          <p:cNvSpPr/>
          <p:nvPr/>
        </p:nvSpPr>
        <p:spPr>
          <a:xfrm>
            <a:off x="353568" y="2450928"/>
            <a:ext cx="5608320" cy="36576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487680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Session-Based Split  -  No Data Leakage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487680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03893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Whole drives assigned to train / val / test  -  never individual seconds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03893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Tokyo Shinjuku (31,236 windows) fully held out as cross-city test (E6)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03893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StandardScaler + SMOTE fitted on training set only  ·  Seed = 42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230112" y="2450928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Shape 40"/>
          <p:cNvSpPr/>
          <p:nvPr/>
        </p:nvSpPr>
        <p:spPr>
          <a:xfrm>
            <a:off x="6230112" y="2450928"/>
            <a:ext cx="85344" cy="1853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45" name="Shape 41"/>
          <p:cNvSpPr/>
          <p:nvPr/>
        </p:nvSpPr>
        <p:spPr>
          <a:xfrm>
            <a:off x="6315456" y="2450928"/>
            <a:ext cx="56083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6449568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Physically Verified Labels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6449568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NCLT: labels from |GPS − LiDAR SLAM|  -  actual positioning error, ±5 cm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Septentrio thresholds 35 / 25 dBHz confirmed by hardware signal charts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NMEA no-fix epochs (quality = 0) correctly captured as DEGRADED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268224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268224" y="4645152"/>
            <a:ext cx="85344" cy="1853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50" name="Shape 46"/>
          <p:cNvSpPr/>
          <p:nvPr/>
        </p:nvSpPr>
        <p:spPr>
          <a:xfrm>
            <a:off x="353568" y="4645152"/>
            <a:ext cx="560832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487680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Honest Comparison with Classical Baselines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487680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369A1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XGBoost Macro-F1 = 0.919 vs. ours 0.821 in-domain  -  disclosed openly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369A1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Cross-city: RF DEGRADED F1 collapses to 0.15 · ours holds at 0.75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369A1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One model, 10.5× faster, calibrated probabilities (ECE &lt; 0.05)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6230112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4" name="Shape 50"/>
          <p:cNvSpPr/>
          <p:nvPr/>
        </p:nvSpPr>
        <p:spPr>
          <a:xfrm>
            <a:off x="6230112" y="4645152"/>
            <a:ext cx="85344" cy="185318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p/>
        </p:txBody>
      </p:sp>
      <p:sp>
        <p:nvSpPr>
          <p:cNvPr id="55" name="Shape 51"/>
          <p:cNvSpPr/>
          <p:nvPr/>
        </p:nvSpPr>
        <p:spPr>
          <a:xfrm>
            <a:off x="6315456" y="4645152"/>
            <a:ext cx="5608320" cy="3657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449568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Uncertainty &amp; Ablation Evidence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6449568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Bootstrap 95% CIs on all metrics: DEGRADED F1 [0.647, 0.789]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Permutation test (E5): temporal order adds ~3 pp  -  gain is representation transfer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Ablation: full model &gt; Transformer-only &gt; LSTM-only on DEGRADED F1</a:t>
            </a:r>
            <a:endParaRPr lang="en-US" sz="1200" dirty="0"/>
          </a:p>
        </p:txBody>
      </p:sp>
      <p:sp>
        <p:nvSpPr>
          <p:cNvPr id="59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60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459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9B4DF7B-F2C0-5819-3D1B-82B7FE2383BC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6 ·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C56D4B79-7EED-2C38-2117-7F7B4C6D9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48640" y="889635"/>
            <a:ext cx="11277600" cy="1231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889635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16355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950720" y="950595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Multi-Horizon GNSS Degradation Prediction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950720" y="140169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Solutions (Springer, Q1)  ·  Target: Post-ION GNSS+ 2026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8656320" y="1340739"/>
            <a:ext cx="2926080" cy="48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56320" y="1352931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Drafting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277600" cy="115785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2286000"/>
            <a:ext cx="1219200" cy="1143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71272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1950720" y="234696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Position: Adaptive EKF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950720" y="279806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T-ITS / Journal of Navigation (Q1)  ·  Target: After Paper A submission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8656320" y="273710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56320" y="274929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548640" y="4968240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4968240"/>
            <a:ext cx="1219200" cy="1231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53949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1950720" y="502920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Transfer  -  Short Paper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1950720" y="548030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GNSS+ 2026  ·  Target: Check deadline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656320" y="541934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56320" y="543153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8CB8C325-269A-34A7-B913-0C8103C4870D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5B057CEB-9151-4C4F-8907-258513BEEE6C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EC20E52-FCF1-91E2-9C9A-A6CF47370172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  <p:txBody>
          <a:bodyPr/>
          <a:p/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9BDAAFA-C6CF-316C-9DDC-872F360E6E0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p/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0ED74389-4A40-7A12-343F-05F49A5C191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0CD44AF3-50C0-6399-9EB6-723929A2CC24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C6904B11-FD2C-BF27-31C6-910C2A04CE2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2CEDF857-0E50-E12F-DD22-AA656A583339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BE60D477-A7A1-E54E-AA06-1947D7B4BCBB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075F713E-578C-D17F-0AF6-0575DD073583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DA050839-367E-44D7-EE2D-946D801AB208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118BA531-9153-8AEE-6F64-F4145AAF1921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6494F83-CC8D-6BA1-3071-0F6A72DC7F5C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416B7AFC-F29B-7799-0BC7-1149DF6AA52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DA6416FE-D50B-415A-2605-1C6D22A95AE9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B3FA2F6D-EE5F-EF23-DCFD-4D4AC97AA0A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22B94A8D-428E-8C32-6CA6-8E662C221374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AC47232-D3C2-B140-F9D9-65389A918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1844" y="407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BFD081D9-66C0-4DC2-DF81-F53D3B203F60}"/>
              </a:ext>
            </a:extLst>
          </p:cNvPr>
          <p:cNvSpPr/>
          <p:nvPr/>
        </p:nvSpPr>
        <p:spPr>
          <a:xfrm>
            <a:off x="548640" y="3554017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2A887426-68F0-8B2C-2558-AD5D71863AE9}"/>
              </a:ext>
            </a:extLst>
          </p:cNvPr>
          <p:cNvSpPr/>
          <p:nvPr/>
        </p:nvSpPr>
        <p:spPr>
          <a:xfrm>
            <a:off x="1950720" y="3614977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33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DADB5FDC-DD3E-43A2-B415-2642F51E00DF}"/>
              </a:ext>
            </a:extLst>
          </p:cNvPr>
          <p:cNvSpPr/>
          <p:nvPr/>
        </p:nvSpPr>
        <p:spPr>
          <a:xfrm>
            <a:off x="1950720" y="409765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Evolution of Intelligent GNSS Signal Degradation Prediction Techniques for Autonomous Vehicle Navigation</a:t>
            </a:r>
            <a:endParaRPr lang="en-US" sz="1467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0A6D07CE-9AF7-4778-9CA7-446ED62AAB36}"/>
              </a:ext>
            </a:extLst>
          </p:cNvPr>
          <p:cNvSpPr/>
          <p:nvPr/>
        </p:nvSpPr>
        <p:spPr>
          <a:xfrm>
            <a:off x="8656320" y="4005121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  <p:txBody>
          <a:bodyPr/>
          <a:p/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BB42257-C84A-B10F-6AAC-4BC38938E6AB}"/>
              </a:ext>
            </a:extLst>
          </p:cNvPr>
          <p:cNvSpPr/>
          <p:nvPr/>
        </p:nvSpPr>
        <p:spPr>
          <a:xfrm>
            <a:off x="8656320" y="4017313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154CCE3C-453B-A172-EBC6-7FDD22AEE1C8}"/>
              </a:ext>
            </a:extLst>
          </p:cNvPr>
          <p:cNvSpPr/>
          <p:nvPr/>
        </p:nvSpPr>
        <p:spPr>
          <a:xfrm>
            <a:off x="548640" y="3537470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EA13F8C5-D22C-AB17-A502-89550672A237}"/>
              </a:ext>
            </a:extLst>
          </p:cNvPr>
          <p:cNvSpPr/>
          <p:nvPr/>
        </p:nvSpPr>
        <p:spPr>
          <a:xfrm>
            <a:off x="542975" y="3932864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</a:t>
            </a:r>
            <a:endParaRPr lang="en-US" sz="1867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200" b="0">
                <a:solidFill>
                  <a:srgbClr val="E6F2FB"/>
                </a:solidFill>
                <a:latin typeface="Calibri"/>
              </a:rPr>
              <a:t>SENTINEL-GNSS  -  predicting GNSS degradation before it happens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Team Pilot Project · Beihang University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CFE3F5"/>
                </a:solidFill>
                <a:latin typeface="Calibri"/>
              </a:rPr>
              <a:t>github.com/Jorshuare/AI-Based-Prediction-for-GNSS-Signal-Degradation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2012</Words>
  <Application>Microsoft Macintosh PowerPoint</Application>
  <PresentationFormat>Widescreen</PresentationFormat>
  <Paragraphs>468</Paragraphs>
  <Slides>36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Calibri</vt:lpstr>
      <vt:lpstr>IBM Plex Mono</vt:lpstr>
      <vt:lpstr>IBM Plex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Ogunlade</cp:lastModifiedBy>
  <cp:revision>32</cp:revision>
  <dcterms:created xsi:type="dcterms:W3CDTF">2013-01-27T09:14:16Z</dcterms:created>
  <dcterms:modified xsi:type="dcterms:W3CDTF">2026-06-11T07:14:30Z</dcterms:modified>
  <cp:category/>
</cp:coreProperties>
</file>