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12191695" cy="182880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574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5000" b="1">
                <a:solidFill>
                  <a:srgbClr val="FFFFFF"/>
                </a:solidFill>
                <a:latin typeface="Calibri"/>
              </a:rPr>
              <a:t>SENTINEL-GNSS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718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400" b="0">
                <a:solidFill>
                  <a:srgbClr val="E6F2FB"/>
                </a:solidFill>
                <a:latin typeface="Calibri"/>
              </a:rPr>
              <a:t>Proactive Multi-Horizon Prediction of GNSS Signal Degradation for Autonomous Vehicle Navigation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9768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Team Pilot Project — Beihang University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800" b="0">
                <a:solidFill>
                  <a:srgbClr val="CFE3F5"/>
                </a:solidFill>
                <a:latin typeface="Calibri"/>
              </a:rPr>
              <a:t>Progress Presentation · Version 4 · Run 14 results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CFE3F5"/>
                </a:solidFill>
                <a:latin typeface="Calibri"/>
              </a:rPr>
              <a:t>Forecasting GNSS degradation 5, 15 and 30 seconds before it happens.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1 · 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3886200"/>
            <a:ext cx="2926080" cy="73152"/>
          </a:xfrm>
          <a:prstGeom prst="rect">
            <a:avLst/>
          </a:prstGeom>
          <a:solidFill>
            <a:srgbClr val="00A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64592" cy="82296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3400" b="1">
                <a:solidFill>
                  <a:srgbClr val="003366"/>
                </a:solidFill>
                <a:latin typeface="Calibri"/>
              </a:rPr>
              <a:t>Why GNSS prediction matters for autonomous driving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 GNSS is the primary absolute-positioning sensor for autonomous vehicles.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 It fails abruptly: urban canyons, tunnels, foliage, multipath.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 A car at 60 km/h travels 17 metres every second.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0">
                <a:solidFill>
                  <a:srgbClr val="F44336"/>
                </a:solidFill>
                <a:latin typeface="Calibri"/>
              </a:rPr>
              <a:t>•  Every existing monitor (RTKLIB codes, RAIM, ML classifiers) is REACTIVE — it reports degradation only after it happens.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0">
                <a:solidFill>
                  <a:srgbClr val="005BAC"/>
                </a:solidFill>
                <a:latin typeface="Calibri"/>
              </a:rPr>
              <a:t>•  Our question is harder: will the signal degrade in the next 5 / 15 / 30 seconds?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64592" cy="82296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3400" b="1">
                <a:solidFill>
                  <a:srgbClr val="003366"/>
                </a:solidFill>
                <a:latin typeface="Calibri"/>
              </a:rPr>
              <a:t>What proactive warning buys the vehicle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68680" y="1600200"/>
          <a:ext cx="109728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26080"/>
                <a:gridCol w="603504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</a:rPr>
                        <a:t>Horizon</a:t>
                      </a:r>
                    </a:p>
                  </a:txBody>
                  <a:tcPr>
                    <a:solidFill>
                      <a:srgbClr val="005B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</a:rPr>
                        <a:t>Distance @ 60 km/h</a:t>
                      </a:r>
                    </a:p>
                  </a:txBody>
                  <a:tcPr>
                    <a:solidFill>
                      <a:srgbClr val="005B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</a:rPr>
                        <a:t>Action the planner can take</a:t>
                      </a:r>
                    </a:p>
                  </a:txBody>
                  <a:tcPr>
                    <a:solidFill>
                      <a:srgbClr val="005BA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700">
                          <a:solidFill>
                            <a:srgbClr val="1A1A1A"/>
                          </a:solidFill>
                        </a:rPr>
                        <a:t>+5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A1A1A"/>
                          </a:solidFill>
                        </a:rPr>
                        <a:t>83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A1A1A"/>
                          </a:solidFill>
                        </a:rPr>
                        <a:t>Tighten IMU fusion, slow down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700">
                          <a:solidFill>
                            <a:srgbClr val="1A1A1A"/>
                          </a:solidFill>
                        </a:rPr>
                        <a:t>+15 s</a:t>
                      </a:r>
                    </a:p>
                  </a:txBody>
                  <a:tcPr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A1A1A"/>
                          </a:solidFill>
                        </a:rPr>
                        <a:t>250 m</a:t>
                      </a:r>
                    </a:p>
                  </a:txBody>
                  <a:tcPr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A1A1A"/>
                          </a:solidFill>
                        </a:rPr>
                        <a:t>Pre-engage dead-reckoning, adjust speed</a:t>
                      </a:r>
                    </a:p>
                  </a:txBody>
                  <a:tcPr>
                    <a:solidFill>
                      <a:srgbClr val="ECF3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700">
                          <a:solidFill>
                            <a:srgbClr val="1A1A1A"/>
                          </a:solidFill>
                        </a:rPr>
                        <a:t>+30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A1A1A"/>
                          </a:solidFill>
                        </a:rPr>
                        <a:t>500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A1A1A"/>
                          </a:solidFill>
                        </a:rPr>
                        <a:t>Re-route to avoid the degradation zone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68680" y="3227832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500" b="0">
                <a:solidFill>
                  <a:srgbClr val="5A5A5A"/>
                </a:solidFill>
                <a:latin typeface="Calibri"/>
              </a:rPr>
              <a:t>Prediction converts a sudden failure into a planned hand-off to backup localisation.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2 ·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3886200"/>
            <a:ext cx="2926080" cy="73152"/>
          </a:xfrm>
          <a:prstGeom prst="rect">
            <a:avLst/>
          </a:prstGeom>
          <a:solidFill>
            <a:srgbClr val="00A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64592" cy="82296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3400" b="1">
                <a:solidFill>
                  <a:srgbClr val="003366"/>
                </a:solidFill>
                <a:latin typeface="Calibri"/>
              </a:rPr>
              <a:t>A multi-city, multi-receiver dataset (149,662 labelled epochs)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68680" y="1600200"/>
          <a:ext cx="109728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2011680"/>
                <a:gridCol w="256032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>
                    <a:solidFill>
                      <a:srgbClr val="005B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City</a:t>
                      </a:r>
                    </a:p>
                  </a:txBody>
                  <a:tcPr>
                    <a:solidFill>
                      <a:srgbClr val="005B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Receivers</a:t>
                      </a:r>
                    </a:p>
                  </a:txBody>
                  <a:tcPr>
                    <a:solidFill>
                      <a:srgbClr val="005B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>
                    <a:solidFill>
                      <a:srgbClr val="005BA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</a:rPr>
                        <a:t>Field Scenarios A–E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A1A1A"/>
                          </a:solidFill>
                        </a:rPr>
                        <a:t>Beihang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A1A1A"/>
                          </a:solidFill>
                        </a:rPr>
                        <a:t>Septentrio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A1A1A"/>
                          </a:solidFill>
                        </a:rPr>
                        <a:t>train / 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</a:rPr>
                        <a:t>UrbanNav Medium/Tunnel/Deep/Harsh</a:t>
                      </a:r>
                    </a:p>
                  </a:txBody>
                  <a:tcPr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A1A1A"/>
                          </a:solidFill>
                        </a:rPr>
                        <a:t>Hong Kong</a:t>
                      </a:r>
                    </a:p>
                  </a:txBody>
                  <a:tcPr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A1A1A"/>
                          </a:solidFill>
                        </a:rPr>
                        <a:t>9+</a:t>
                      </a:r>
                    </a:p>
                  </a:txBody>
                  <a:tcPr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A1A1A"/>
                          </a:solidFill>
                        </a:rPr>
                        <a:t>train / val</a:t>
                      </a:r>
                    </a:p>
                  </a:txBody>
                  <a:tcPr>
                    <a:solidFill>
                      <a:srgbClr val="ECF3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</a:rPr>
                        <a:t>Tokyo Shinjuku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A1A1A"/>
                          </a:solidFill>
                        </a:rPr>
                        <a:t>Tokyo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A1A1A"/>
                          </a:solidFill>
                        </a:rPr>
                        <a:t>Trimble + u-blox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A1A1A"/>
                          </a:solidFill>
                        </a:rPr>
                        <a:t>HELD-OUT 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68680" y="3227832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500" b="0">
                <a:solidFill>
                  <a:srgbClr val="5A5A5A"/>
                </a:solidFill>
                <a:latin typeface="Calibri"/>
              </a:rPr>
              <a:t>5 controlled degradation scenarios (A–E). 4 cities, 9+ receiver types, one 3-class schema.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64592" cy="82296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3400" b="1">
                <a:solidFill>
                  <a:srgbClr val="003366"/>
                </a:solidFill>
                <a:latin typeface="Calibri"/>
              </a:rPr>
              <a:t>From raw signals to model-ready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 Raw RINEX + NMEA  →  37 engineered features in 7 groups, per 1-second epoch.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 Groups: position, C/N0 signal strength, satellite count, DOP, receiver status, temporal patterns, atmospheric.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 A 30-second sliding window → tensor (30 × 37); labels at t+5 / t+15 / t+30 s.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0">
                <a:solidFill>
                  <a:srgbClr val="4CAF50"/>
                </a:solidFill>
                <a:latin typeface="Calibri"/>
              </a:rPr>
              <a:t>•  CLEAN = healthy fix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0">
                <a:solidFill>
                  <a:srgbClr val="FF9800"/>
                </a:solidFill>
                <a:latin typeface="Calibri"/>
              </a:rPr>
              <a:t>•  WARNING = partial degradation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0">
                <a:solidFill>
                  <a:srgbClr val="F44336"/>
                </a:solidFill>
                <a:latin typeface="Calibri"/>
              </a:rPr>
              <a:t>•  DEGRADED = loss of fix / severe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3 · Method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3886200"/>
            <a:ext cx="2926080" cy="73152"/>
          </a:xfrm>
          <a:prstGeom prst="rect">
            <a:avLst/>
          </a:prstGeom>
          <a:solidFill>
            <a:srgbClr val="00A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64592" cy="82296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3400" b="1">
                <a:solidFill>
                  <a:srgbClr val="003366"/>
                </a:solidFill>
                <a:latin typeface="Calibri"/>
              </a:rPr>
              <a:t>The SENTINEL-GNSS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 Transformer encoder (2 layers, 8 heads, d=128) — long-range dependencies in the window.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 BiLSTM (2 layers, hidden=256) — directional trajectory toward degradation.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 Three output heads (+5s, +15s, +30s) + auxiliary head — one model, one forward pass.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 1.46 M parameters; focal loss (gamma=1.0) + class weights [1, 2, 5]; NO SMOTE for the network.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0">
                <a:solidFill>
                  <a:srgbClr val="005BAC"/>
                </a:solidFill>
                <a:latin typeface="Calibri"/>
              </a:rPr>
              <a:t>•  Honest validation: ablations + permutation test + temporal-feature ablation — we report negative results too.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64592" cy="82296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3400" b="1">
                <a:solidFill>
                  <a:srgbClr val="003366"/>
                </a:solidFill>
                <a:latin typeface="Calibri"/>
              </a:rPr>
              <a:t>Architecture</a:t>
            </a:r>
          </a:p>
        </p:txBody>
      </p:sp>
      <p:pic>
        <p:nvPicPr>
          <p:cNvPr id="4" name="Picture 3" descr="fig14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645920"/>
            <a:ext cx="12555547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" y="59436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500" b="0">
                <a:solidFill>
                  <a:srgbClr val="5A5A5A"/>
                </a:solidFill>
                <a:latin typeface="Calibri"/>
              </a:rPr>
              <a:t>Block diagram: input 30×37 → projection → Transformer ×2 → BiLSTM ×2 → 3 heads.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4 · Results (Run 15)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3886200"/>
            <a:ext cx="2926080" cy="73152"/>
          </a:xfrm>
          <a:prstGeom prst="rect">
            <a:avLst/>
          </a:prstGeom>
          <a:solidFill>
            <a:srgbClr val="00A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64592" cy="82296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3400" b="1">
                <a:solidFill>
                  <a:srgbClr val="003366"/>
                </a:solidFill>
                <a:latin typeface="Calibri"/>
              </a:rPr>
              <a:t>Multi-horizon performance</a:t>
            </a:r>
          </a:p>
        </p:txBody>
      </p:sp>
      <p:pic>
        <p:nvPicPr>
          <p:cNvPr id="4" name="Picture 3" descr="fig01_multihoriz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645920"/>
            <a:ext cx="6116398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" y="59436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500" b="0">
                <a:solidFill>
                  <a:srgbClr val="5A5A5A"/>
                </a:solidFill>
                <a:latin typeface="Calibri"/>
              </a:rPr>
              <a:t>Macro-F1 and MCC at +5/+15/+30 s with 95% bootstrap confidence intervals.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64592" cy="82296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3400" b="1">
                <a:solidFill>
                  <a:srgbClr val="003366"/>
                </a:solidFill>
                <a:latin typeface="Calibri"/>
              </a:rPr>
              <a:t>Per-class metrics at +5 s</a:t>
            </a:r>
          </a:p>
        </p:txBody>
      </p:sp>
      <p:pic>
        <p:nvPicPr>
          <p:cNvPr id="4" name="Picture 3" descr="fig02_perclass_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645920"/>
            <a:ext cx="6492593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" y="59436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500" b="0">
                <a:solidFill>
                  <a:srgbClr val="5A5A5A"/>
                </a:solidFill>
                <a:latin typeface="Calibri"/>
              </a:rPr>
              <a:t>Per-class F1 across horizons; DEGRADED (safety-critical) shown with recall.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64592" cy="82296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3400" b="1">
                <a:solidFill>
                  <a:srgbClr val="003366"/>
                </a:solidFill>
                <a:latin typeface="Calibri"/>
              </a:rPr>
              <a:t>Headline: multi-horizon prediction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68680" y="1600200"/>
          <a:ext cx="109728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103120"/>
                <a:gridCol w="2103120"/>
                <a:gridCol w="1828800"/>
                <a:gridCol w="310896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</a:rPr>
                        <a:t>Horizon</a:t>
                      </a:r>
                    </a:p>
                  </a:txBody>
                  <a:tcPr>
                    <a:solidFill>
                      <a:srgbClr val="005B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>
                    <a:solidFill>
                      <a:srgbClr val="005B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</a:rPr>
                        <a:t>Macro-F1</a:t>
                      </a:r>
                    </a:p>
                  </a:txBody>
                  <a:tcPr>
                    <a:solidFill>
                      <a:srgbClr val="005B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</a:rPr>
                        <a:t>MCC</a:t>
                      </a:r>
                    </a:p>
                  </a:txBody>
                  <a:tcPr>
                    <a:solidFill>
                      <a:srgbClr val="005B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</a:rPr>
                        <a:t>95% CI (Macro-F1)</a:t>
                      </a:r>
                    </a:p>
                  </a:txBody>
                  <a:tcPr>
                    <a:solidFill>
                      <a:srgbClr val="005BA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700">
                          <a:solidFill>
                            <a:srgbClr val="1A1A1A"/>
                          </a:solidFill>
                        </a:rPr>
                        <a:t>+5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A1A1A"/>
                          </a:solidFill>
                        </a:rPr>
                        <a:t>0.854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A1A1A"/>
                          </a:solidFill>
                        </a:rPr>
                        <a:t>0.821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A1A1A"/>
                          </a:solidFill>
                        </a:rPr>
                        <a:t>0.773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A1A1A"/>
                          </a:solidFill>
                        </a:rPr>
                        <a:t>[0.800, 0.843]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700">
                          <a:solidFill>
                            <a:srgbClr val="1A1A1A"/>
                          </a:solidFill>
                        </a:rPr>
                        <a:t>+15 s</a:t>
                      </a:r>
                    </a:p>
                  </a:txBody>
                  <a:tcPr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A1A1A"/>
                          </a:solidFill>
                        </a:rPr>
                        <a:t>0.789</a:t>
                      </a:r>
                    </a:p>
                  </a:txBody>
                  <a:tcPr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A1A1A"/>
                          </a:solidFill>
                        </a:rPr>
                        <a:t>0.741</a:t>
                      </a:r>
                    </a:p>
                  </a:txBody>
                  <a:tcPr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A1A1A"/>
                          </a:solidFill>
                        </a:rPr>
                        <a:t>0.691</a:t>
                      </a:r>
                    </a:p>
                  </a:txBody>
                  <a:tcPr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A1A1A"/>
                          </a:solidFill>
                        </a:rPr>
                        <a:t>[0.717, 0.764]</a:t>
                      </a:r>
                    </a:p>
                  </a:txBody>
                  <a:tcPr>
                    <a:solidFill>
                      <a:srgbClr val="ECF3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700">
                          <a:solidFill>
                            <a:srgbClr val="1A1A1A"/>
                          </a:solidFill>
                        </a:rPr>
                        <a:t>+30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A1A1A"/>
                          </a:solidFill>
                        </a:rPr>
                        <a:t>0.830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A1A1A"/>
                          </a:solidFill>
                        </a:rPr>
                        <a:t>0.783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A1A1A"/>
                          </a:solidFill>
                        </a:rPr>
                        <a:t>0.731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A1A1A"/>
                          </a:solidFill>
                        </a:rPr>
                        <a:t>[0.758, 0.804]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68680" y="3227832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500" b="0">
                <a:solidFill>
                  <a:srgbClr val="5A5A5A"/>
                </a:solidFill>
                <a:latin typeface="Calibri"/>
              </a:rPr>
              <a:t>DEGRADED recall = 0.85 at +5 s. DEGRADED F1 improved 0.274 → 0.718 across runs (2.6×).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64592" cy="82296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3400" b="1">
                <a:solidFill>
                  <a:srgbClr val="003366"/>
                </a:solidFill>
                <a:latin typeface="Calibri"/>
              </a:rPr>
              <a:t>Per-class performance at +5 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68680" y="1600200"/>
          <a:ext cx="109728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194560"/>
                <a:gridCol w="2011680"/>
                <a:gridCol w="2011680"/>
                <a:gridCol w="237744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</a:rPr>
                        <a:t>Class</a:t>
                      </a:r>
                    </a:p>
                  </a:txBody>
                  <a:tcPr>
                    <a:solidFill>
                      <a:srgbClr val="005B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</a:rPr>
                        <a:t>Precision</a:t>
                      </a:r>
                    </a:p>
                  </a:txBody>
                  <a:tcPr>
                    <a:solidFill>
                      <a:srgbClr val="005B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>
                    <a:solidFill>
                      <a:srgbClr val="005B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>
                    <a:solidFill>
                      <a:srgbClr val="005B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</a:rPr>
                        <a:t>Support</a:t>
                      </a:r>
                    </a:p>
                  </a:txBody>
                  <a:tcPr>
                    <a:solidFill>
                      <a:srgbClr val="005BA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700">
                          <a:solidFill>
                            <a:srgbClr val="1A1A1A"/>
                          </a:solidFill>
                        </a:rPr>
                        <a:t>CLEAN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A1A1A"/>
                          </a:solidFill>
                        </a:rPr>
                        <a:t>0.868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A1A1A"/>
                          </a:solidFill>
                        </a:rPr>
                        <a:t>0.993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A1A1A"/>
                          </a:solidFill>
                        </a:rPr>
                        <a:t>0.927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A1A1A"/>
                          </a:solidFill>
                        </a:rPr>
                        <a:t>731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700">
                          <a:solidFill>
                            <a:srgbClr val="1A1A1A"/>
                          </a:solidFill>
                        </a:rPr>
                        <a:t>WARNING</a:t>
                      </a:r>
                    </a:p>
                  </a:txBody>
                  <a:tcPr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A1A1A"/>
                          </a:solidFill>
                        </a:rPr>
                        <a:t>0.947</a:t>
                      </a:r>
                    </a:p>
                  </a:txBody>
                  <a:tcPr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A1A1A"/>
                          </a:solidFill>
                        </a:rPr>
                        <a:t>0.718</a:t>
                      </a:r>
                    </a:p>
                  </a:txBody>
                  <a:tcPr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A1A1A"/>
                          </a:solidFill>
                        </a:rPr>
                        <a:t>0.817</a:t>
                      </a:r>
                    </a:p>
                  </a:txBody>
                  <a:tcPr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A1A1A"/>
                          </a:solidFill>
                        </a:rPr>
                        <a:t>746</a:t>
                      </a:r>
                    </a:p>
                  </a:txBody>
                  <a:tcPr>
                    <a:solidFill>
                      <a:srgbClr val="ECF3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700">
                          <a:solidFill>
                            <a:srgbClr val="1A1A1A"/>
                          </a:solidFill>
                        </a:rPr>
                        <a:t>DEGRADED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A1A1A"/>
                          </a:solidFill>
                        </a:rPr>
                        <a:t>0.623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A1A1A"/>
                          </a:solidFill>
                        </a:rPr>
                        <a:t>0.847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A1A1A"/>
                          </a:solidFill>
                        </a:rPr>
                        <a:t>0.718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A1A1A"/>
                          </a:solidFill>
                        </a:rPr>
                        <a:t>209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68680" y="3227832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500" b="0">
                <a:solidFill>
                  <a:srgbClr val="5A5A5A"/>
                </a:solidFill>
                <a:latin typeface="Calibri"/>
              </a:rPr>
              <a:t>High recall on the safety-critical DEGRADED class is the priority for an AV system.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64592" cy="82296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3400" b="1">
                <a:solidFill>
                  <a:srgbClr val="003366"/>
                </a:solidFill>
                <a:latin typeface="Calibri"/>
              </a:rPr>
              <a:t>Ablation — component contribution</a:t>
            </a:r>
          </a:p>
        </p:txBody>
      </p:sp>
      <p:pic>
        <p:nvPicPr>
          <p:cNvPr id="4" name="Picture 3" descr="fig04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645920"/>
            <a:ext cx="6558327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" y="59436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500" b="0">
                <a:solidFill>
                  <a:srgbClr val="5A5A5A"/>
                </a:solidFill>
                <a:latin typeface="Calibri"/>
              </a:rPr>
              <a:t>Full vs LSTM-only vs Transformer-only; full model wins on all metrics.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64592" cy="82296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3400" b="1">
                <a:solidFill>
                  <a:srgbClr val="003366"/>
                </a:solidFill>
                <a:latin typeface="Calibri"/>
              </a:rPr>
              <a:t>KEY RESULT — cross-city generalisation (Tokyo, never seen)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68680" y="1600200"/>
          <a:ext cx="107899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2377440"/>
                <a:gridCol w="1828800"/>
                <a:gridCol w="237744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005B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Beihang/Beijing</a:t>
                      </a:r>
                    </a:p>
                  </a:txBody>
                  <a:tcPr>
                    <a:solidFill>
                      <a:srgbClr val="005B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Tokyo</a:t>
                      </a:r>
                    </a:p>
                  </a:txBody>
                  <a:tcPr>
                    <a:solidFill>
                      <a:srgbClr val="005B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Tokyo DEGRADED F1</a:t>
                      </a:r>
                    </a:p>
                  </a:txBody>
                  <a:tcPr>
                    <a:solidFill>
                      <a:srgbClr val="005BA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A1A1A"/>
                          </a:solidFill>
                        </a:rPr>
                        <a:t>DL + XGBoost ENSEMBLE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1A"/>
                          </a:solidFill>
                        </a:rPr>
                        <a:t>0.911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1A"/>
                          </a:solidFill>
                        </a:rPr>
                        <a:t>0.892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1A"/>
                          </a:solidFill>
                        </a:rPr>
                        <a:t>0.896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A1A1A"/>
                          </a:solidFill>
                        </a:rPr>
                        <a:t>SENTINEL-GNSS (DL)</a:t>
                      </a:r>
                    </a:p>
                  </a:txBody>
                  <a:tcPr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1A"/>
                          </a:solidFill>
                        </a:rPr>
                        <a:t>0.822</a:t>
                      </a:r>
                    </a:p>
                  </a:txBody>
                  <a:tcPr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1A"/>
                          </a:solidFill>
                        </a:rPr>
                        <a:t>0.649</a:t>
                      </a:r>
                    </a:p>
                  </a:txBody>
                  <a:tcPr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1A"/>
                          </a:solidFill>
                        </a:rPr>
                        <a:t>0.753</a:t>
                      </a:r>
                    </a:p>
                  </a:txBody>
                  <a:tcPr>
                    <a:solidFill>
                      <a:srgbClr val="ECF3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A1A1A"/>
                          </a:solidFill>
                        </a:rPr>
                        <a:t>XGBoost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1A"/>
                          </a:solidFill>
                        </a:rPr>
                        <a:t>0.919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1A"/>
                          </a:solidFill>
                        </a:rPr>
                        <a:t>0.821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1A"/>
                          </a:solidFill>
                        </a:rPr>
                        <a:t>0.784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A1A1A"/>
                          </a:solidFill>
                        </a:rPr>
                        <a:t>RandomForest</a:t>
                      </a:r>
                    </a:p>
                  </a:txBody>
                  <a:tcPr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1A"/>
                          </a:solidFill>
                        </a:rPr>
                        <a:t>0.926</a:t>
                      </a:r>
                    </a:p>
                  </a:txBody>
                  <a:tcPr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1A"/>
                          </a:solidFill>
                        </a:rPr>
                        <a:t>0.618</a:t>
                      </a:r>
                    </a:p>
                  </a:txBody>
                  <a:tcPr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1A"/>
                          </a:solidFill>
                        </a:rPr>
                        <a:t>0.148</a:t>
                      </a:r>
                    </a:p>
                  </a:txBody>
                  <a:tcPr>
                    <a:solidFill>
                      <a:srgbClr val="ECF3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68680" y="36118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500" b="0">
                <a:solidFill>
                  <a:srgbClr val="5A5A5A"/>
                </a:solidFill>
                <a:latin typeface="Calibri"/>
              </a:rPr>
              <a:t>In-domain trees win. Cross-city, a DL+XGBoost ENSEMBLE beats every single model (DEGRADED 0.90); RandomForest collapses (0.15) but XGBoost transfers. Ensemble = the deployment choice feeding the EKF.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64592" cy="82296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3400" b="1">
                <a:solidFill>
                  <a:srgbClr val="003366"/>
                </a:solidFill>
                <a:latin typeface="Calibri"/>
              </a:rPr>
              <a:t>Efficiency, ensemble &amp; calibration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0">
                <a:solidFill>
                  <a:srgbClr val="005BAC"/>
                </a:solidFill>
                <a:latin typeface="Calibri"/>
              </a:rPr>
              <a:t>•  Cross-city: DL+XGBoost ensemble is best (Macro-F1 0.892, DEGRADED 0.896).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 Inference: 0.045 ms/sample on GPU — ~9.5x faster than three separate tree models.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 One 17.8 MB checkpoint serves all three horizons; real-time at 10 Hz.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 Calibration: temperature scaling cuts ECE 40% (0.114 -&gt; 0.069); not yet &lt;0.05 (future work).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0">
                <a:solidFill>
                  <a:srgbClr val="005BAC"/>
                </a:solidFill>
                <a:latin typeface="Calibri"/>
              </a:rPr>
              <a:t>•  Persistence baseline scores 0.91 at +5s -&gt; the model's value is transitions + longer horizons.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64592" cy="82296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3400" b="1">
                <a:solidFill>
                  <a:srgbClr val="003366"/>
                </a:solidFill>
                <a:latin typeface="Calibri"/>
              </a:rPr>
              <a:t>Ensemble wins cross-city</a:t>
            </a:r>
          </a:p>
        </p:txBody>
      </p:sp>
      <p:pic>
        <p:nvPicPr>
          <p:cNvPr id="4" name="Picture 3" descr="fig16_ensem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645920"/>
            <a:ext cx="7427822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" y="59436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500" b="0">
                <a:solidFill>
                  <a:srgbClr val="5A5A5A"/>
                </a:solidFill>
                <a:latin typeface="Calibri"/>
              </a:rPr>
              <a:t>In-domain vs cross-city (Tokyo): DL+XGBoost soft-vote beats every single model.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64592" cy="82296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3400" b="1">
                <a:solidFill>
                  <a:srgbClr val="003366"/>
                </a:solidFill>
                <a:latin typeface="Calibri"/>
              </a:rPr>
              <a:t>Cross-city generalization</a:t>
            </a:r>
          </a:p>
        </p:txBody>
      </p:sp>
      <p:pic>
        <p:nvPicPr>
          <p:cNvPr id="4" name="Picture 3" descr="fig05_crosscity_degra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645920"/>
            <a:ext cx="6868591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" y="59436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500" b="0">
                <a:solidFill>
                  <a:srgbClr val="5A5A5A"/>
                </a:solidFill>
                <a:latin typeface="Calibri"/>
              </a:rPr>
              <a:t>RandomForest collapses cross-city (DEGRADED 0.15); XGBoost transfers (0.78); DL (0.75).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64592" cy="82296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3400" b="1">
                <a:solidFill>
                  <a:srgbClr val="003366"/>
                </a:solidFill>
                <a:latin typeface="Calibri"/>
              </a:rPr>
              <a:t>Real-data EKF case study</a:t>
            </a:r>
          </a:p>
        </p:txBody>
      </p:sp>
      <p:pic>
        <p:nvPicPr>
          <p:cNvPr id="4" name="Picture 3" descr="fig18_ekf_real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645920"/>
            <a:ext cx="9522047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" y="59436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500" b="0">
                <a:solidFill>
                  <a:srgbClr val="5A5A5A"/>
                </a:solidFill>
                <a:latin typeface="Calibri"/>
              </a:rPr>
              <a:t>Raw GNSS trajectory vs adaptive EKF on real Beihang field NMEA; P(DEGRADED) predictions.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5 · Novelty &amp;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3886200"/>
            <a:ext cx="2926080" cy="73152"/>
          </a:xfrm>
          <a:prstGeom prst="rect">
            <a:avLst/>
          </a:prstGeom>
          <a:solidFill>
            <a:srgbClr val="00A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64592" cy="82296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3400" b="1">
                <a:solidFill>
                  <a:srgbClr val="003366"/>
                </a:solidFill>
                <a:latin typeface="Calibri"/>
              </a:rPr>
              <a:t>What is genuinely new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0">
                <a:solidFill>
                  <a:srgbClr val="005BAC"/>
                </a:solidFill>
                <a:latin typeface="Calibri"/>
              </a:rPr>
              <a:t>•  1. Reactive → proactive: first multi-horizon GNSS degradation PREDICTOR.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 2. Cross-city: DL+XGBoost ensemble best (DEGRADED 0.90); RandomForest collapses (0.15), XGBoost transfers.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 3. Unified multi-horizon model — one pass, three horizons, ~9.5x faster.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 4. Multi-city, multi-receiver open benchmark (149,662 epochs, reproducible).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 5. Hardware-aware design — explicit receiver-tier conditioning across 9+ receivers.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64592" cy="82296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3400" b="1">
                <a:solidFill>
                  <a:srgbClr val="003366"/>
                </a:solidFill>
                <a:latin typeface="Calibri"/>
              </a:rPr>
              <a:t>How we defend it to reviewers (honest narrative)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 "Trees beat you in-domain" -&gt; true; cross-city a DL+XGBoost ensemble wins (0.892), one model option ~9.5x faster.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 "Does the Transformer use time?" → order adds ~3% (permutation test); the win is representation transfer, not order modelling.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 "Small DEGRADED test set" → bootstrap 95% CIs on every per-class metric.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 "Data leakage?" → session-level split; scaler/SMOTE on train only; Tokyo fully held out.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0">
                <a:solidFill>
                  <a:srgbClr val="005BAC"/>
                </a:solidFill>
                <a:latin typeface="Calibri"/>
              </a:rPr>
              <a:t>•  We lead with generalisation + efficiency, not an in-domain leaderboard score.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6 · Roadmap &amp; Deliverables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3886200"/>
            <a:ext cx="2926080" cy="73152"/>
          </a:xfrm>
          <a:prstGeom prst="rect">
            <a:avLst/>
          </a:prstGeom>
          <a:solidFill>
            <a:srgbClr val="00A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64592" cy="82296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3400" b="1">
                <a:solidFill>
                  <a:srgbClr val="003366"/>
                </a:solidFill>
                <a:latin typeface="Calibri"/>
              </a:rPr>
              <a:t>Publication plan — 2 papers + 1 conference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0">
                <a:solidFill>
                  <a:srgbClr val="005BAC"/>
                </a:solidFill>
                <a:latin typeface="Calibri"/>
              </a:rPr>
              <a:t>•  Paper A (GPS Solutions, Q1): method + multi-horizon + cross-receiver + cross-city + EKF.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 Paper B (Scientific Data / Data in Brief): the benchmark / dataset descriptor.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 Conference (ION GNSS+ 2026): cross-city result as a short paper, later extended.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 Two substantial papers avoid salami-slicing and carry more impact than four thin ones.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6 · Future Work &amp; Deployment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3886200"/>
            <a:ext cx="2926080" cy="73152"/>
          </a:xfrm>
          <a:prstGeom prst="rect">
            <a:avLst/>
          </a:prstGeom>
          <a:solidFill>
            <a:srgbClr val="00A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64592" cy="82296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3400" b="1">
                <a:solidFill>
                  <a:srgbClr val="003366"/>
                </a:solidFill>
                <a:latin typeface="Calibri"/>
              </a:rPr>
              <a:t>Real-data EKF: from simulation to deployed navigation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 Current: adaptive EKF tested on controlled blockage simulation (33.8% RMSE gain).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 Next: integrate UrbanNav Tokyo ground-truth (reference.csv, cm-level SPAN-INS).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 Compute rover single-point positions (RTKLIB SPP from rover.obs), align with reference.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 Real-data case study: demonstrate 5–15% RMSE gain on actual urban degradation events.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0">
                <a:solidFill>
                  <a:srgbClr val="005BAC"/>
                </a:solidFill>
                <a:latin typeface="Calibri"/>
              </a:rPr>
              <a:t>•  Phase 2: per-receiver EKF tuning; multi-constellation (GPS+BeiDou+Galileo).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64592" cy="82296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3400" b="1">
                <a:solidFill>
                  <a:srgbClr val="003366"/>
                </a:solidFill>
                <a:latin typeface="Calibri"/>
              </a:rPr>
              <a:t>Ensemble model deployment &amp; inference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 Save trained XGBoost model (joblib) during training for reproducibility.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 inference.py supports --ensemble flag: load DL + XGB, soft-vote probabilities.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 End-to-end: NMEA stream → features → P(DEGRADED) +5/15/30s → EKF trajectory.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 Real-time capable: 0.045 ms/sample on GPU; 10 Hz stream at &lt;1% CPU.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0">
                <a:solidFill>
                  <a:srgbClr val="005BAC"/>
                </a:solidFill>
                <a:latin typeface="Calibri"/>
              </a:rPr>
              <a:t>•  Phase 2b: raw per-satellite C/N₀ streams; +60s horizon retraining.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64592" cy="82296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3400" b="1">
                <a:solidFill>
                  <a:srgbClr val="003366"/>
                </a:solidFill>
                <a:latin typeface="Calibri"/>
              </a:rPr>
              <a:t>Web dashboard (Next.js + FastAPI)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 Real-time monitor: C/N₀, DOP, sat count + live 3-horizon prediction bars.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 Route map (Mapbox): colour-coded predicted signal quality along the planned path.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 Prediction timeline with lead-time annotations; attention heatmap for interpretability.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 DL-vs-baseline comparison; dataset explorer (149k epochs); metrics/performance board.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0">
                <a:solidFill>
                  <a:srgbClr val="005BAC"/>
                </a:solidFill>
                <a:latin typeface="Calibri"/>
              </a:rPr>
              <a:t>•  Phase 2: integrate actual vehicle IMU; Kalman-filter fusion visualization.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64592" cy="82296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3400" b="1">
                <a:solidFill>
                  <a:srgbClr val="003366"/>
                </a:solidFill>
                <a:latin typeface="Calibri"/>
              </a:rPr>
              <a:t>Publication &amp; reproducibility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0">
                <a:solidFill>
                  <a:srgbClr val="005BAC"/>
                </a:solidFill>
                <a:latin typeface="Calibri"/>
              </a:rPr>
              <a:t>•  Paper A (GPS Solutions, Q1): method + multi-horizon + cross-receiver + cross-city.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 Paper B (Journal of Navigation): model comparison → ensemble selection → EKF integration.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 Conference (ION GNSS+ 2026): cross-city generalization result as a systems paper.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 Data + code release: GitHub + Zenodo (reproducible; citable DOI).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 All results / figures / models in results/ (zipped &amp; versioned).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10607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Thank you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200" b="0">
                <a:solidFill>
                  <a:srgbClr val="E6F2FB"/>
                </a:solidFill>
                <a:latin typeface="Calibri"/>
              </a:rPr>
              <a:t>SENTINEL-GNSS — predicting GNSS degradation before it happens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Team Pilot Project · Beihang University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500" b="0">
                <a:solidFill>
                  <a:srgbClr val="CFE3F5"/>
                </a:solidFill>
                <a:latin typeface="Calibri"/>
              </a:rPr>
              <a:t>github.com/Jorshuare/AI-Based-Prediction-for-GNSS-Signal-Degradation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