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strictFirstAndLastChars="0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43205400" cy="32405638"/>
  <p:notesSz cx="9144000" cy="6858000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1pPr>
    <a:lvl2pPr marL="452902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2pPr>
    <a:lvl3pPr marL="905805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3pPr>
    <a:lvl4pPr marL="1358707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4pPr>
    <a:lvl5pPr marL="1811609" algn="l" rtl="0" eaLnBrk="0" fontAlgn="base" hangingPunct="0">
      <a:spcBef>
        <a:spcPct val="0"/>
      </a:spcBef>
      <a:spcAft>
        <a:spcPct val="0"/>
      </a:spcAft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5pPr>
    <a:lvl6pPr marL="2264512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6pPr>
    <a:lvl7pPr marL="2717414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7pPr>
    <a:lvl8pPr marL="3170316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8pPr>
    <a:lvl9pPr marL="3623219" algn="l" defTabSz="452902" rtl="0" eaLnBrk="1" latinLnBrk="0" hangingPunct="1">
      <a:defRPr sz="2400" kern="1200">
        <a:solidFill>
          <a:schemeClr val="tx1"/>
        </a:solidFill>
        <a:latin typeface="Arial" charset="0"/>
        <a:ea typeface="ＭＳ Ｐゴシック" charset="0"/>
        <a:cs typeface="ＭＳ Ｐゴシック" charset="0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/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439F"/>
    <a:srgbClr val="01519A"/>
    <a:srgbClr val="426CAE"/>
    <a:srgbClr val="B41E29"/>
    <a:srgbClr val="31787E"/>
    <a:srgbClr val="296267"/>
    <a:srgbClr val="B40000"/>
    <a:srgbClr val="4E7398"/>
    <a:srgbClr val="4E99C1"/>
    <a:srgbClr val="A79D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894" autoAdjust="0"/>
    <p:restoredTop sz="88448" autoAdjust="0"/>
  </p:normalViewPr>
  <p:slideViewPr>
    <p:cSldViewPr>
      <p:cViewPr>
        <p:scale>
          <a:sx n="25" d="100"/>
          <a:sy n="25" d="100"/>
        </p:scale>
        <p:origin x="1205" y="-56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50" d="100"/>
        <a:sy n="150" d="100"/>
      </p:scale>
      <p:origin x="0" y="0"/>
    </p:cViewPr>
  </p:sorterViewPr>
  <p:notesViewPr>
    <p:cSldViewPr>
      <p:cViewPr varScale="1">
        <p:scale>
          <a:sx n="91" d="100"/>
          <a:sy n="91" d="100"/>
        </p:scale>
        <p:origin x="-3368" y="-104"/>
      </p:cViewPr>
      <p:guideLst>
        <p:guide orient="horz" pos="2160"/>
        <p:guide pos="288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dirty="0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5181600" y="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endParaRPr lang="en-US" dirty="0"/>
          </a:p>
        </p:txBody>
      </p:sp>
      <p:sp>
        <p:nvSpPr>
          <p:cNvPr id="13316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2857500" y="514350"/>
            <a:ext cx="3429000" cy="257175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1219200" y="3257550"/>
            <a:ext cx="6705600" cy="3086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endParaRPr lang="en-US" dirty="0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5181600" y="6515100"/>
            <a:ext cx="3962400" cy="3429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20841615-1DF9-A448-9A9B-BCE9DBD29FE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287518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84" charset="-128"/>
        <a:cs typeface="ＭＳ Ｐゴシック" pitchFamily="-84" charset="-128"/>
      </a:defRPr>
    </a:lvl1pPr>
    <a:lvl2pPr marL="452902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2pPr>
    <a:lvl3pPr marL="905805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3pPr>
    <a:lvl4pPr marL="1358707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4pPr>
    <a:lvl5pPr marL="1811609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" pitchFamily="-108" charset="0"/>
        <a:ea typeface="ＭＳ Ｐゴシック" pitchFamily="-108" charset="-128"/>
        <a:cs typeface="+mn-cs"/>
      </a:defRPr>
    </a:lvl5pPr>
    <a:lvl6pPr marL="2264512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17414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170316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23219" algn="l" defTabSz="452902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2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fld id="{25C66430-FF76-7B4E-9DC1-A2D9C309AAB8}" type="slidenum">
              <a:rPr lang="en-US" sz="1200"/>
              <a:pPr/>
              <a:t>1</a:t>
            </a:fld>
            <a:endParaRPr lang="en-US" sz="1200" dirty="0"/>
          </a:p>
        </p:txBody>
      </p:sp>
      <p:sp>
        <p:nvSpPr>
          <p:cNvPr id="15363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2857500" y="514350"/>
            <a:ext cx="3429000" cy="2571750"/>
          </a:xfrm>
          <a:ln/>
        </p:spPr>
      </p:sp>
      <p:sp>
        <p:nvSpPr>
          <p:cNvPr id="15364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>
              <a:spcBef>
                <a:spcPct val="0"/>
              </a:spcBef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8357732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40405" y="10066752"/>
            <a:ext cx="36724590" cy="6946208"/>
          </a:xfrm>
        </p:spPr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80810" y="18363195"/>
            <a:ext cx="30243780" cy="8281441"/>
          </a:xfrm>
        </p:spPr>
        <p:txBody>
          <a:bodyPr/>
          <a:lstStyle>
            <a:lvl1pPr marL="0" indent="0" algn="ctr">
              <a:buNone/>
              <a:defRPr/>
            </a:lvl1pPr>
            <a:lvl2pPr marL="452902" indent="0" algn="ctr">
              <a:buNone/>
              <a:defRPr/>
            </a:lvl2pPr>
            <a:lvl3pPr marL="905805" indent="0" algn="ctr">
              <a:buNone/>
              <a:defRPr/>
            </a:lvl3pPr>
            <a:lvl4pPr marL="1358707" indent="0" algn="ctr">
              <a:buNone/>
              <a:defRPr/>
            </a:lvl4pPr>
            <a:lvl5pPr marL="1811609" indent="0" algn="ctr">
              <a:buNone/>
              <a:defRPr/>
            </a:lvl5pPr>
            <a:lvl6pPr marL="2264512" indent="0" algn="ctr">
              <a:buNone/>
              <a:defRPr/>
            </a:lvl6pPr>
            <a:lvl7pPr marL="2717414" indent="0" algn="ctr">
              <a:buNone/>
              <a:defRPr/>
            </a:lvl7pPr>
            <a:lvl8pPr marL="3170316" indent="0" algn="ctr">
              <a:buNone/>
              <a:defRPr/>
            </a:lvl8pPr>
            <a:lvl9pPr marL="3623219" indent="0" algn="ctr">
              <a:buNone/>
              <a:defRPr/>
            </a:lvl9pPr>
          </a:lstStyle>
          <a:p>
            <a:r>
              <a:rPr lang="en-CA"/>
              <a:t>Click to edit Master subtitle style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CB408F8E-6FB3-464A-9C30-2A3F5C4211BF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28177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084C6583-A371-E440-BCED-D2D0D131BD20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1573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12927" y="20823624"/>
            <a:ext cx="36724590" cy="643612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12927" y="13734890"/>
            <a:ext cx="36724590" cy="7088733"/>
          </a:xfrm>
        </p:spPr>
        <p:txBody>
          <a:bodyPr anchor="b"/>
          <a:lstStyle>
            <a:lvl1pPr marL="0" indent="0">
              <a:buNone/>
              <a:defRPr sz="2000"/>
            </a:lvl1pPr>
            <a:lvl2pPr marL="452902" indent="0">
              <a:buNone/>
              <a:defRPr sz="1800"/>
            </a:lvl2pPr>
            <a:lvl3pPr marL="905805" indent="0">
              <a:buNone/>
              <a:defRPr sz="1600"/>
            </a:lvl3pPr>
            <a:lvl4pPr marL="1358707" indent="0">
              <a:buNone/>
              <a:defRPr sz="1400"/>
            </a:lvl4pPr>
            <a:lvl5pPr marL="1811609" indent="0">
              <a:buNone/>
              <a:defRPr sz="1400"/>
            </a:lvl5pPr>
            <a:lvl6pPr marL="2264512" indent="0">
              <a:buNone/>
              <a:defRPr sz="1400"/>
            </a:lvl6pPr>
            <a:lvl7pPr marL="2717414" indent="0">
              <a:buNone/>
              <a:defRPr sz="1400"/>
            </a:lvl7pPr>
            <a:lvl8pPr marL="3170316" indent="0">
              <a:buNone/>
              <a:defRPr sz="1400"/>
            </a:lvl8pPr>
            <a:lvl9pPr marL="3623219" indent="0">
              <a:buNone/>
              <a:defRPr sz="14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AAED8963-7EB0-0B4B-83FE-B728280DABD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45512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242282" y="9362879"/>
            <a:ext cx="18270408" cy="1944213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692712" y="9362879"/>
            <a:ext cx="18270409" cy="1944213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628F32F2-82B6-9049-BEB3-E621FD709512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28061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0271" y="1297726"/>
            <a:ext cx="38884860" cy="5400940"/>
          </a:xfrm>
        </p:spPr>
        <p:txBody>
          <a:bodyPr/>
          <a:lstStyle>
            <a:lvl1pPr>
              <a:defRPr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60270" y="7253763"/>
            <a:ext cx="19089886" cy="302302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2902" indent="0">
              <a:buNone/>
              <a:defRPr sz="2000" b="1"/>
            </a:lvl2pPr>
            <a:lvl3pPr marL="905805" indent="0">
              <a:buNone/>
              <a:defRPr sz="1800" b="1"/>
            </a:lvl3pPr>
            <a:lvl4pPr marL="1358707" indent="0">
              <a:buNone/>
              <a:defRPr sz="1600" b="1"/>
            </a:lvl4pPr>
            <a:lvl5pPr marL="1811609" indent="0">
              <a:buNone/>
              <a:defRPr sz="1600" b="1"/>
            </a:lvl5pPr>
            <a:lvl6pPr marL="2264512" indent="0">
              <a:buNone/>
              <a:defRPr sz="1600" b="1"/>
            </a:lvl6pPr>
            <a:lvl7pPr marL="2717414" indent="0">
              <a:buNone/>
              <a:defRPr sz="1600" b="1"/>
            </a:lvl7pPr>
            <a:lvl8pPr marL="3170316" indent="0">
              <a:buNone/>
              <a:defRPr sz="1600" b="1"/>
            </a:lvl8pPr>
            <a:lvl9pPr marL="3623219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60270" y="10276788"/>
            <a:ext cx="19089886" cy="186707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1947744" y="7253763"/>
            <a:ext cx="19097387" cy="302302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2902" indent="0">
              <a:buNone/>
              <a:defRPr sz="2000" b="1"/>
            </a:lvl2pPr>
            <a:lvl3pPr marL="905805" indent="0">
              <a:buNone/>
              <a:defRPr sz="1800" b="1"/>
            </a:lvl3pPr>
            <a:lvl4pPr marL="1358707" indent="0">
              <a:buNone/>
              <a:defRPr sz="1600" b="1"/>
            </a:lvl4pPr>
            <a:lvl5pPr marL="1811609" indent="0">
              <a:buNone/>
              <a:defRPr sz="1600" b="1"/>
            </a:lvl5pPr>
            <a:lvl6pPr marL="2264512" indent="0">
              <a:buNone/>
              <a:defRPr sz="1600" b="1"/>
            </a:lvl6pPr>
            <a:lvl7pPr marL="2717414" indent="0">
              <a:buNone/>
              <a:defRPr sz="1600" b="1"/>
            </a:lvl7pPr>
            <a:lvl8pPr marL="3170316" indent="0">
              <a:buNone/>
              <a:defRPr sz="1600" b="1"/>
            </a:lvl8pPr>
            <a:lvl9pPr marL="3623219" indent="0">
              <a:buNone/>
              <a:defRPr sz="1600" b="1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1947744" y="10276788"/>
            <a:ext cx="19097387" cy="1867074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7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8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9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19036F31-6EE5-7643-9611-011E51138A68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721276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4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49B67582-577B-874D-A3AC-1F3095A41DB5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948783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3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4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D88A3B30-A64E-324C-82F5-1C1A069C8850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06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60270" y="1290225"/>
            <a:ext cx="14214277" cy="5490956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6892112" y="1290225"/>
            <a:ext cx="24153019" cy="2765731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60270" y="6781180"/>
            <a:ext cx="14214277" cy="22166356"/>
          </a:xfrm>
        </p:spPr>
        <p:txBody>
          <a:bodyPr/>
          <a:lstStyle>
            <a:lvl1pPr marL="0" indent="0">
              <a:buNone/>
              <a:defRPr sz="1400"/>
            </a:lvl1pPr>
            <a:lvl2pPr marL="452902" indent="0">
              <a:buNone/>
              <a:defRPr sz="1200"/>
            </a:lvl2pPr>
            <a:lvl3pPr marL="905805" indent="0">
              <a:buNone/>
              <a:defRPr sz="1000"/>
            </a:lvl3pPr>
            <a:lvl4pPr marL="1358707" indent="0">
              <a:buNone/>
              <a:defRPr sz="900"/>
            </a:lvl4pPr>
            <a:lvl5pPr marL="1811609" indent="0">
              <a:buNone/>
              <a:defRPr sz="900"/>
            </a:lvl5pPr>
            <a:lvl6pPr marL="2264512" indent="0">
              <a:buNone/>
              <a:defRPr sz="900"/>
            </a:lvl6pPr>
            <a:lvl7pPr marL="2717414" indent="0">
              <a:buNone/>
              <a:defRPr sz="900"/>
            </a:lvl7pPr>
            <a:lvl8pPr marL="3170316" indent="0">
              <a:buNone/>
              <a:defRPr sz="900"/>
            </a:lvl8pPr>
            <a:lvl9pPr marL="3623219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366B38C-B96F-6041-B6E5-E3AC3CAB1B4D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4487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68559" y="22683948"/>
            <a:ext cx="25923240" cy="2677965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8468559" y="2895504"/>
            <a:ext cx="25923240" cy="19443383"/>
          </a:xfrm>
        </p:spPr>
        <p:txBody>
          <a:bodyPr/>
          <a:lstStyle>
            <a:lvl1pPr marL="0" indent="0">
              <a:buNone/>
              <a:defRPr sz="3200"/>
            </a:lvl1pPr>
            <a:lvl2pPr marL="452902" indent="0">
              <a:buNone/>
              <a:defRPr sz="2800"/>
            </a:lvl2pPr>
            <a:lvl3pPr marL="905805" indent="0">
              <a:buNone/>
              <a:defRPr sz="2400"/>
            </a:lvl3pPr>
            <a:lvl4pPr marL="1358707" indent="0">
              <a:buNone/>
              <a:defRPr sz="2000"/>
            </a:lvl4pPr>
            <a:lvl5pPr marL="1811609" indent="0">
              <a:buNone/>
              <a:defRPr sz="2000"/>
            </a:lvl5pPr>
            <a:lvl6pPr marL="2264512" indent="0">
              <a:buNone/>
              <a:defRPr sz="2000"/>
            </a:lvl6pPr>
            <a:lvl7pPr marL="2717414" indent="0">
              <a:buNone/>
              <a:defRPr sz="2000"/>
            </a:lvl7pPr>
            <a:lvl8pPr marL="3170316" indent="0">
              <a:buNone/>
              <a:defRPr sz="2000"/>
            </a:lvl8pPr>
            <a:lvl9pPr marL="3623219" indent="0">
              <a:buNone/>
              <a:defRPr sz="2000"/>
            </a:lvl9pPr>
          </a:lstStyle>
          <a:p>
            <a:pPr lvl="0"/>
            <a:endParaRPr lang="en-US" noProof="0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68559" y="25361913"/>
            <a:ext cx="25923240" cy="3803162"/>
          </a:xfrm>
        </p:spPr>
        <p:txBody>
          <a:bodyPr/>
          <a:lstStyle>
            <a:lvl1pPr marL="0" indent="0">
              <a:buNone/>
              <a:defRPr sz="1400"/>
            </a:lvl1pPr>
            <a:lvl2pPr marL="452902" indent="0">
              <a:buNone/>
              <a:defRPr sz="1200"/>
            </a:lvl2pPr>
            <a:lvl3pPr marL="905805" indent="0">
              <a:buNone/>
              <a:defRPr sz="1000"/>
            </a:lvl3pPr>
            <a:lvl4pPr marL="1358707" indent="0">
              <a:buNone/>
              <a:defRPr sz="900"/>
            </a:lvl4pPr>
            <a:lvl5pPr marL="1811609" indent="0">
              <a:buNone/>
              <a:defRPr sz="900"/>
            </a:lvl5pPr>
            <a:lvl6pPr marL="2264512" indent="0">
              <a:buNone/>
              <a:defRPr sz="900"/>
            </a:lvl6pPr>
            <a:lvl7pPr marL="2717414" indent="0">
              <a:buNone/>
              <a:defRPr sz="900"/>
            </a:lvl7pPr>
            <a:lvl8pPr marL="3170316" indent="0">
              <a:buNone/>
              <a:defRPr sz="900"/>
            </a:lvl8pPr>
            <a:lvl9pPr marL="3623219" indent="0">
              <a:buNone/>
              <a:defRPr sz="900"/>
            </a:lvl9pPr>
          </a:lstStyle>
          <a:p>
            <a:pPr lvl="0"/>
            <a:r>
              <a:rPr lang="en-CA"/>
              <a:t>Click to edit Master text styles</a:t>
            </a:r>
          </a:p>
        </p:txBody>
      </p:sp>
      <p:sp>
        <p:nvSpPr>
          <p:cNvPr id="5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7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5BE02177-8C81-9B4A-BBDB-E5F540E3940E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8743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2B6E4779-C9D0-1546-BDA3-D15D6350C8C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05350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0783848" y="2880501"/>
            <a:ext cx="9179273" cy="25924510"/>
          </a:xfrm>
        </p:spPr>
        <p:txBody>
          <a:bodyPr vert="eaVert"/>
          <a:lstStyle/>
          <a:p>
            <a:r>
              <a:rPr lang="en-CA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242281" y="2880501"/>
            <a:ext cx="27361544" cy="25924510"/>
          </a:xfrm>
        </p:spPr>
        <p:txBody>
          <a:bodyPr vert="eaVert"/>
          <a:lstStyle/>
          <a:p>
            <a:pPr lvl="0"/>
            <a:r>
              <a:rPr lang="en-CA"/>
              <a:t>Click to edit Master text styles</a:t>
            </a:r>
          </a:p>
          <a:p>
            <a:pPr lvl="1"/>
            <a:r>
              <a:rPr lang="en-CA"/>
              <a:t>Second level</a:t>
            </a:r>
          </a:p>
          <a:p>
            <a:pPr lvl="2"/>
            <a:r>
              <a:rPr lang="en-CA"/>
              <a:t>Third level</a:t>
            </a:r>
          </a:p>
          <a:p>
            <a:pPr lvl="3"/>
            <a:r>
              <a:rPr lang="en-CA"/>
              <a:t>Fourth level</a:t>
            </a:r>
          </a:p>
          <a:p>
            <a:pPr lvl="4"/>
            <a:r>
              <a:rPr lang="en-CA"/>
              <a:t>Fifth level</a:t>
            </a:r>
            <a:endParaRPr lang="en-US"/>
          </a:p>
        </p:txBody>
      </p:sp>
      <p:sp>
        <p:nvSpPr>
          <p:cNvPr id="4" name="Rectangle 4"/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5" name="Rectangle 5"/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endParaRPr lang="en-US" dirty="0"/>
          </a:p>
        </p:txBody>
      </p:sp>
      <p:sp>
        <p:nvSpPr>
          <p:cNvPr id="6" name="Rectangle 6"/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fld id="{B44E3DF7-D832-E64A-A100-1F0D711245C3}" type="slidenum">
              <a:rPr lang="en-US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19948023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2"/>
          <p:cNvSpPr>
            <a:spLocks noGrp="1" noChangeArrowheads="1"/>
          </p:cNvSpPr>
          <p:nvPr>
            <p:ph type="title"/>
          </p:nvPr>
        </p:nvSpPr>
        <p:spPr bwMode="auto">
          <a:xfrm>
            <a:off x="3241862" y="2879734"/>
            <a:ext cx="36721676" cy="5401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434744" tIns="217372" rIns="434744" bIns="217372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Rectangle 3"/>
          <p:cNvSpPr>
            <a:spLocks noGrp="1" noChangeArrowheads="1"/>
          </p:cNvSpPr>
          <p:nvPr>
            <p:ph type="body" idx="1"/>
          </p:nvPr>
        </p:nvSpPr>
        <p:spPr bwMode="auto">
          <a:xfrm>
            <a:off x="3241862" y="9363060"/>
            <a:ext cx="36721676" cy="1944212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  <a:ext uri="{FAA26D3D-D897-4be2-8F04-BA451C77F1D7}">
              <ma14:placeholderFlag xmlns="" xmlns:ma14="http://schemas.microsoft.com/office/mac/drawingml/2011/main" val="1"/>
            </a:ext>
          </a:extLst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28" name="Rectangle 4"/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3241862" y="29525905"/>
            <a:ext cx="9001321" cy="2159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>
            <a:lvl1pPr>
              <a:defRPr sz="6600">
                <a:latin typeface="Times" charset="0"/>
              </a:defRPr>
            </a:lvl1pPr>
          </a:lstStyle>
          <a:p>
            <a:endParaRPr lang="en-US" dirty="0"/>
          </a:p>
        </p:txBody>
      </p:sp>
      <p:sp>
        <p:nvSpPr>
          <p:cNvPr id="1029" name="Rectangle 5"/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14759208" y="29525905"/>
            <a:ext cx="13686985" cy="2159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>
            <a:lvl1pPr algn="ctr">
              <a:defRPr sz="6600">
                <a:latin typeface="Times" charset="0"/>
              </a:defRPr>
            </a:lvl1pPr>
          </a:lstStyle>
          <a:p>
            <a:endParaRPr lang="en-US" dirty="0"/>
          </a:p>
        </p:txBody>
      </p:sp>
      <p:sp>
        <p:nvSpPr>
          <p:cNvPr id="1030" name="Rectangle 6"/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30962218" y="29525905"/>
            <a:ext cx="9001321" cy="215901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434744" tIns="217372" rIns="434744" bIns="217372" numCol="1" anchor="t" anchorCtr="0" compatLnSpc="1">
            <a:prstTxWarp prst="textNoShape">
              <a:avLst/>
            </a:prstTxWarp>
          </a:bodyPr>
          <a:lstStyle>
            <a:lvl1pPr algn="r">
              <a:defRPr sz="6600">
                <a:latin typeface="Times" charset="0"/>
              </a:defRPr>
            </a:lvl1pPr>
          </a:lstStyle>
          <a:p>
            <a:fld id="{95E46882-1281-924A-8848-F951F22FAA83}" type="slidenum">
              <a:rPr lang="en-US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+mj-lt"/>
          <a:ea typeface="ＭＳ Ｐゴシック" pitchFamily="-84" charset="-128"/>
          <a:cs typeface="ＭＳ Ｐゴシック" pitchFamily="-84" charset="-128"/>
        </a:defRPr>
      </a:lvl1pPr>
      <a:lvl2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2pPr>
      <a:lvl3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3pPr>
      <a:lvl4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4pPr>
      <a:lvl5pPr algn="ctr" defTabSz="4348177" rtl="0" eaLnBrk="0" fontAlgn="base" hangingPunct="0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  <a:ea typeface="ＭＳ Ｐゴシック" pitchFamily="-84" charset="-128"/>
          <a:cs typeface="ＭＳ Ｐゴシック" pitchFamily="-84" charset="-128"/>
        </a:defRPr>
      </a:lvl5pPr>
      <a:lvl6pPr marL="452902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6pPr>
      <a:lvl7pPr marL="905805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7pPr>
      <a:lvl8pPr marL="1358707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8pPr>
      <a:lvl9pPr marL="1811609" algn="ctr" defTabSz="4348177" rtl="0" fontAlgn="base">
        <a:spcBef>
          <a:spcPct val="0"/>
        </a:spcBef>
        <a:spcAft>
          <a:spcPct val="0"/>
        </a:spcAft>
        <a:defRPr sz="20900">
          <a:solidFill>
            <a:schemeClr val="tx2"/>
          </a:solidFill>
          <a:latin typeface="Times" pitchFamily="-108" charset="0"/>
        </a:defRPr>
      </a:lvl9pPr>
    </p:titleStyle>
    <p:bodyStyle>
      <a:lvl1pPr marL="1630763" indent="-1630763" algn="l" defTabSz="4348177" rtl="0" eaLnBrk="0" fontAlgn="base" hangingPunct="0">
        <a:spcBef>
          <a:spcPct val="20000"/>
        </a:spcBef>
        <a:spcAft>
          <a:spcPct val="0"/>
        </a:spcAft>
        <a:buChar char="•"/>
        <a:defRPr sz="15300">
          <a:solidFill>
            <a:schemeClr val="tx1"/>
          </a:solidFill>
          <a:latin typeface="+mn-lt"/>
          <a:ea typeface="ＭＳ Ｐゴシック" pitchFamily="-84" charset="-128"/>
          <a:cs typeface="ＭＳ Ｐゴシック" pitchFamily="-84" charset="-128"/>
        </a:defRPr>
      </a:lvl1pPr>
      <a:lvl2pPr marL="3532009" indent="-1358707" algn="l" defTabSz="4348177" rtl="0" eaLnBrk="0" fontAlgn="base" hangingPunct="0">
        <a:spcBef>
          <a:spcPct val="20000"/>
        </a:spcBef>
        <a:spcAft>
          <a:spcPct val="0"/>
        </a:spcAft>
        <a:buChar char="–"/>
        <a:defRPr sz="13400">
          <a:solidFill>
            <a:schemeClr val="tx1"/>
          </a:solidFill>
          <a:latin typeface="+mn-lt"/>
          <a:ea typeface="ＭＳ Ｐゴシック" pitchFamily="-108" charset="-128"/>
        </a:defRPr>
      </a:lvl2pPr>
      <a:lvl3pPr marL="5433256" indent="-1085078" algn="l" defTabSz="4348177" rtl="0" eaLnBrk="0" fontAlgn="base" hangingPunct="0">
        <a:spcBef>
          <a:spcPct val="20000"/>
        </a:spcBef>
        <a:spcAft>
          <a:spcPct val="0"/>
        </a:spcAft>
        <a:buChar char="•"/>
        <a:defRPr sz="11500">
          <a:solidFill>
            <a:schemeClr val="tx1"/>
          </a:solidFill>
          <a:latin typeface="+mn-lt"/>
          <a:ea typeface="ＭＳ Ｐゴシック" pitchFamily="-108" charset="-128"/>
        </a:defRPr>
      </a:lvl3pPr>
      <a:lvl4pPr marL="7608130" indent="-1086652" algn="l" defTabSz="4348177" rtl="0" eaLnBrk="0" fontAlgn="base" hangingPunct="0">
        <a:spcBef>
          <a:spcPct val="20000"/>
        </a:spcBef>
        <a:spcAft>
          <a:spcPct val="0"/>
        </a:spcAft>
        <a:buChar char="–"/>
        <a:defRPr sz="9600">
          <a:solidFill>
            <a:schemeClr val="tx1"/>
          </a:solidFill>
          <a:latin typeface="+mn-lt"/>
          <a:ea typeface="ＭＳ Ｐゴシック" pitchFamily="-108" charset="-128"/>
        </a:defRPr>
      </a:lvl4pPr>
      <a:lvl5pPr marL="9781432" indent="-1085078" algn="l" defTabSz="4348177" rtl="0" eaLnBrk="0" fontAlgn="base" hangingPunct="0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5pPr>
      <a:lvl6pPr marL="10234334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6pPr>
      <a:lvl7pPr marL="10687237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7pPr>
      <a:lvl8pPr marL="11140139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8pPr>
      <a:lvl9pPr marL="11593041" indent="-1085078" algn="l" defTabSz="4348177" rtl="0" fontAlgn="base">
        <a:spcBef>
          <a:spcPct val="20000"/>
        </a:spcBef>
        <a:spcAft>
          <a:spcPct val="0"/>
        </a:spcAft>
        <a:buChar char="»"/>
        <a:defRPr sz="9600">
          <a:solidFill>
            <a:schemeClr val="tx1"/>
          </a:solidFill>
          <a:latin typeface="+mn-lt"/>
          <a:ea typeface="ＭＳ Ｐゴシック" pitchFamily="-108" charset="-128"/>
        </a:defRPr>
      </a:lvl9pPr>
    </p:bodyStyle>
    <p:otherStyle>
      <a:defPPr>
        <a:defRPr lang="en-US"/>
      </a:defPPr>
      <a:lvl1pPr marL="0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2902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05805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58707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11609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64512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17414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70316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23219" algn="l" defTabSz="45290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Relationship Id="rId12" Type="http://schemas.openxmlformats.org/officeDocument/2006/relationships/image" Target="../media/image10.png"/><Relationship Id="rId13" Type="http://schemas.openxmlformats.org/officeDocument/2006/relationships/image" Target="../media/image11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9279F450-DBFD-A9CF-3E71-9DD7075C5A0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67286" y="8338534"/>
            <a:ext cx="11165266" cy="3183765"/>
          </a:xfrm>
          <a:prstGeom prst="rect">
            <a:avLst/>
          </a:prstGeom>
        </p:spPr>
      </p:pic>
      <p:sp>
        <p:nvSpPr>
          <p:cNvPr id="14341" name="Rectangle 12"/>
          <p:cNvSpPr>
            <a:spLocks noChangeArrowheads="1"/>
          </p:cNvSpPr>
          <p:nvPr/>
        </p:nvSpPr>
        <p:spPr bwMode="auto">
          <a:xfrm>
            <a:off x="37929038" y="16119237"/>
            <a:ext cx="4285744" cy="88558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90572" tIns="45286" rIns="90572" bIns="45286">
            <a:spAutoFit/>
          </a:bodyPr>
          <a:lstStyle/>
          <a:p>
            <a:pPr algn="just">
              <a:spcBef>
                <a:spcPts val="483"/>
              </a:spcBef>
              <a:spcAft>
                <a:spcPts val="483"/>
              </a:spcAft>
            </a:pPr>
            <a:endParaRPr lang="en-US" dirty="0">
              <a:latin typeface="Times New Roman" charset="0"/>
            </a:endParaRPr>
          </a:p>
          <a:p>
            <a:pPr algn="just"/>
            <a:endParaRPr lang="en-US" dirty="0">
              <a:latin typeface="Times" charset="0"/>
            </a:endParaRPr>
          </a:p>
        </p:txBody>
      </p:sp>
      <p:sp>
        <p:nvSpPr>
          <p:cNvPr id="14344" name="Rectangle 18"/>
          <p:cNvSpPr>
            <a:spLocks noChangeArrowheads="1"/>
          </p:cNvSpPr>
          <p:nvPr/>
        </p:nvSpPr>
        <p:spPr bwMode="auto">
          <a:xfrm>
            <a:off x="456583" y="12463652"/>
            <a:ext cx="13619772" cy="41709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72" tIns="45286" rIns="90572" bIns="45286">
            <a:spAutoFit/>
          </a:bodyPr>
          <a:lstStyle/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1" i="0" dirty="0">
                <a:solidFill>
                  <a:srgbClr val="1C222B"/>
                </a:solidFill>
                <a:latin typeface="Calibri"/>
              </a:rPr>
              <a:t>Dataset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149,662 labelled epochs across 4 cities and 9+ receiver types. Hangzhou (Beihang campus, Scenarios A to E,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Septentrio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Mosaic-X5C); Hong Kong (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UrbanNav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Medium, Deep, Harsh, Tunnel); Tokyo held-out (Shinjuku Trimble, Shinjuku u-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blox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F9P, Odaiba).</a:t>
            </a:r>
          </a:p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1" i="0" dirty="0">
                <a:solidFill>
                  <a:srgbClr val="1C222B"/>
                </a:solidFill>
                <a:latin typeface="Calibri"/>
              </a:rPr>
              <a:t>Features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3</a:t>
            </a:r>
            <a:r>
              <a:rPr lang="en-US" sz="2200" b="0" i="0" dirty="0">
                <a:solidFill>
                  <a:srgbClr val="1C222B"/>
                </a:solidFill>
                <a:latin typeface="Calibri"/>
              </a:rPr>
              <a:t>7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features in 7 groups, position quality, signal strength, satellite geometry, pseudorange residuals, temporal patterns, atmospheric delays, and receiver status. The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receiver_tier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feature encodes hardware class so one model handles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Septentrio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(48 dB-Hz) and u-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blox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(38 dB-Hz) identically.</a:t>
            </a:r>
          </a:p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1" i="0" dirty="0">
                <a:solidFill>
                  <a:srgbClr val="1C222B"/>
                </a:solidFill>
                <a:latin typeface="Calibri"/>
              </a:rPr>
              <a:t>Model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: a hybrid Transformer-LSTM. The Transformer (2 layers, 8 heads,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d_model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=128) reads global patterns across the 30 s window; a 2-layer LSTM (hidden=256) tracks the directional approach to blockage. Three heads predict +5, +15, and +30 s. 1.46 M parameters, 0.039 </a:t>
            </a:r>
            <a:r>
              <a:rPr sz="2200" b="0" i="0" dirty="0" err="1">
                <a:solidFill>
                  <a:srgbClr val="1C222B"/>
                </a:solidFill>
                <a:latin typeface="Calibri"/>
              </a:rPr>
              <a:t>ms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 per sample.</a:t>
            </a:r>
          </a:p>
        </p:txBody>
      </p:sp>
      <p:sp>
        <p:nvSpPr>
          <p:cNvPr id="14346" name="Rectangle 102"/>
          <p:cNvSpPr>
            <a:spLocks noChangeArrowheads="1"/>
          </p:cNvSpPr>
          <p:nvPr/>
        </p:nvSpPr>
        <p:spPr bwMode="auto">
          <a:xfrm>
            <a:off x="28935866" y="13768732"/>
            <a:ext cx="13527962" cy="261259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72" tIns="45286" rIns="90572" bIns="45286" anchor="t">
            <a:spAutoFit/>
          </a:bodyPr>
          <a:lstStyle/>
          <a:p>
            <a:pPr marL="342900" indent="-342900" algn="l">
              <a:lnSpc>
                <a:spcPct val="130000"/>
              </a:lnSpc>
              <a:spcAft>
                <a:spcPts val="400"/>
              </a:spcAft>
              <a:buFont typeface="Arial"/>
              <a:buChar char="•"/>
            </a:pPr>
            <a:r>
              <a:rPr sz="1600" b="1" dirty="0">
                <a:solidFill>
                  <a:srgbClr val="102A43"/>
                </a:solidFill>
                <a:latin typeface="Consolas"/>
              </a:rPr>
              <a:t>Prediction inflates GPS noise R before bad epochs arrive (Joseph-form EKF):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Predict:   </a:t>
            </a:r>
            <a:r>
              <a:rPr sz="1600" b="0" dirty="0" err="1">
                <a:solidFill>
                  <a:srgbClr val="102A43"/>
                </a:solidFill>
                <a:latin typeface="Consolas"/>
              </a:rPr>
              <a:t>xp</a:t>
            </a:r>
            <a:r>
              <a:rPr sz="1600" b="0" dirty="0">
                <a:solidFill>
                  <a:srgbClr val="102A43"/>
                </a:solidFill>
                <a:latin typeface="Consolas"/>
              </a:rPr>
              <a:t> = f(x, u);   Pp = F P F^T + Q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Update:    K = Pp H^T (H Pp H^T + R)^-1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           x = </a:t>
            </a:r>
            <a:r>
              <a:rPr sz="1600" b="0" dirty="0" err="1">
                <a:solidFill>
                  <a:srgbClr val="102A43"/>
                </a:solidFill>
                <a:latin typeface="Consolas"/>
              </a:rPr>
              <a:t>xp</a:t>
            </a:r>
            <a:r>
              <a:rPr sz="1600" b="0" dirty="0">
                <a:solidFill>
                  <a:srgbClr val="102A43"/>
                </a:solidFill>
                <a:latin typeface="Consolas"/>
              </a:rPr>
              <a:t> + K (z - H </a:t>
            </a:r>
            <a:r>
              <a:rPr sz="1600" b="0" dirty="0" err="1">
                <a:solidFill>
                  <a:srgbClr val="102A43"/>
                </a:solidFill>
                <a:latin typeface="Consolas"/>
              </a:rPr>
              <a:t>xp</a:t>
            </a:r>
            <a:r>
              <a:rPr sz="1600" b="0" dirty="0">
                <a:solidFill>
                  <a:srgbClr val="102A43"/>
                </a:solidFill>
                <a:latin typeface="Consolas"/>
              </a:rPr>
              <a:t>)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           P = (I - K H) Pp (I - K H)^T + K R K^T   [Joseph form]</a:t>
            </a: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02A43"/>
                </a:solidFill>
                <a:latin typeface="Consolas"/>
              </a:rPr>
              <a:t>Adaptive:  R = (40 m)^2 I2 if P(DEGRADED) &gt; 0.45, else r_base^2 I2</a:t>
            </a:r>
            <a:endParaRPr lang="en-US" sz="1600" b="0" dirty="0">
              <a:solidFill>
                <a:srgbClr val="102A43"/>
              </a:solidFill>
              <a:latin typeface="Consolas"/>
            </a:endParaRPr>
          </a:p>
          <a:p>
            <a:pPr algn="l">
              <a:lnSpc>
                <a:spcPct val="130000"/>
              </a:lnSpc>
              <a:spcAft>
                <a:spcPts val="400"/>
              </a:spcAft>
            </a:pPr>
            <a:endParaRPr sz="1600" b="0" dirty="0">
              <a:solidFill>
                <a:srgbClr val="102A43"/>
              </a:solidFill>
              <a:latin typeface="Consolas"/>
            </a:endParaRPr>
          </a:p>
        </p:txBody>
      </p:sp>
      <p:sp>
        <p:nvSpPr>
          <p:cNvPr id="14347" name="TextBox 53"/>
          <p:cNvSpPr txBox="1">
            <a:spLocks noChangeArrowheads="1"/>
          </p:cNvSpPr>
          <p:nvPr/>
        </p:nvSpPr>
        <p:spPr bwMode="auto">
          <a:xfrm>
            <a:off x="534514" y="4308585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lang="en-US" sz="5900" dirty="0">
                <a:solidFill>
                  <a:srgbClr val="FFFFFF"/>
                </a:solidFill>
              </a:rPr>
              <a:t>Introduction</a:t>
            </a:r>
          </a:p>
        </p:txBody>
      </p:sp>
      <p:sp>
        <p:nvSpPr>
          <p:cNvPr id="14348" name="TextBox 54"/>
          <p:cNvSpPr txBox="1">
            <a:spLocks noChangeArrowheads="1"/>
          </p:cNvSpPr>
          <p:nvPr/>
        </p:nvSpPr>
        <p:spPr bwMode="auto">
          <a:xfrm>
            <a:off x="504355" y="10730211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lang="en-US" sz="5900" dirty="0">
                <a:solidFill>
                  <a:srgbClr val="FFFFFF"/>
                </a:solidFill>
              </a:rPr>
              <a:t>Methodology</a:t>
            </a:r>
          </a:p>
        </p:txBody>
      </p:sp>
      <p:sp>
        <p:nvSpPr>
          <p:cNvPr id="14349" name="TextBox 55"/>
          <p:cNvSpPr txBox="1">
            <a:spLocks noChangeArrowheads="1"/>
          </p:cNvSpPr>
          <p:nvPr/>
        </p:nvSpPr>
        <p:spPr bwMode="auto">
          <a:xfrm>
            <a:off x="14733694" y="4321499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sz="5900">
                <a:solidFill>
                  <a:srgbClr val="FFFFFF"/>
                </a:solidFill>
              </a:rPr>
              <a:t>System Architecture &amp; Pipeline</a:t>
            </a:r>
          </a:p>
        </p:txBody>
      </p:sp>
      <p:sp>
        <p:nvSpPr>
          <p:cNvPr id="14350" name="TextBox 56"/>
          <p:cNvSpPr txBox="1">
            <a:spLocks noChangeArrowheads="1"/>
          </p:cNvSpPr>
          <p:nvPr/>
        </p:nvSpPr>
        <p:spPr bwMode="auto">
          <a:xfrm>
            <a:off x="28989704" y="12567327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sz="5900" dirty="0">
                <a:solidFill>
                  <a:srgbClr val="FFFFFF"/>
                </a:solidFill>
              </a:rPr>
              <a:t>Prediction-Informed EKF</a:t>
            </a:r>
          </a:p>
        </p:txBody>
      </p:sp>
      <p:sp>
        <p:nvSpPr>
          <p:cNvPr id="14353" name="Rectangle 49"/>
          <p:cNvSpPr>
            <a:spLocks noChangeArrowheads="1"/>
          </p:cNvSpPr>
          <p:nvPr/>
        </p:nvSpPr>
        <p:spPr bwMode="auto">
          <a:xfrm>
            <a:off x="504355" y="11844063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A unified pipeline turns raw multi-city GNSS into 3</a:t>
            </a:r>
            <a:r>
              <a:rPr lang="en-US" sz="2000" b="1" i="0" dirty="0">
                <a:solidFill>
                  <a:schemeClr val="bg1"/>
                </a:solidFill>
                <a:latin typeface="Calibri"/>
              </a:rPr>
              <a:t>7</a:t>
            </a:r>
            <a:r>
              <a:rPr sz="2000" b="1" i="0" dirty="0">
                <a:solidFill>
                  <a:schemeClr val="bg1"/>
                </a:solidFill>
                <a:latin typeface="Calibri"/>
              </a:rPr>
              <a:t> engineered features and multi-horizon degradation labels.</a:t>
            </a:r>
          </a:p>
        </p:txBody>
      </p:sp>
      <p:sp>
        <p:nvSpPr>
          <p:cNvPr id="14358" name="Rectangle 49"/>
          <p:cNvSpPr>
            <a:spLocks noChangeArrowheads="1"/>
          </p:cNvSpPr>
          <p:nvPr/>
        </p:nvSpPr>
        <p:spPr bwMode="auto">
          <a:xfrm>
            <a:off x="28989704" y="4321499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Cross-city zero-shot: SENTINEL holds DEGRADED F1 = 0.75 on unseen Tokyo while Random Forest collapses to 0.15</a:t>
            </a:r>
          </a:p>
        </p:txBody>
      </p:sp>
      <p:sp>
        <p:nvSpPr>
          <p:cNvPr id="14365" name="Rectangle 49"/>
          <p:cNvSpPr>
            <a:spLocks noChangeArrowheads="1"/>
          </p:cNvSpPr>
          <p:nvPr/>
        </p:nvSpPr>
        <p:spPr bwMode="auto">
          <a:xfrm>
            <a:off x="14647235" y="12001315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Multi-horizon classification (held-out test, n=1,686): strong +5 s performance that degrades gracefully with horizon.</a:t>
            </a:r>
          </a:p>
        </p:txBody>
      </p:sp>
      <p:sp>
        <p:nvSpPr>
          <p:cNvPr id="14366" name="TextBox 36"/>
          <p:cNvSpPr txBox="1">
            <a:spLocks noChangeArrowheads="1"/>
          </p:cNvSpPr>
          <p:nvPr/>
        </p:nvSpPr>
        <p:spPr bwMode="auto">
          <a:xfrm>
            <a:off x="21102906" y="16143172"/>
            <a:ext cx="6912725" cy="6454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>
              <a:spcAft>
                <a:spcPts val="600"/>
              </a:spcAft>
            </a:pPr>
            <a:r>
              <a:rPr sz="1800" b="0" i="1" dirty="0">
                <a:solidFill>
                  <a:srgbClr val="444A52"/>
                </a:solidFill>
                <a:latin typeface="Calibri"/>
              </a:rPr>
              <a:t>Macro-F1 and MCC across prediction horizons with bootstrap 95% CI. Performance degrades gracefully as the horizon extends.</a:t>
            </a:r>
            <a:endParaRPr lang="en-US" sz="1800" baseline="30000" dirty="0"/>
          </a:p>
        </p:txBody>
      </p:sp>
      <p:sp>
        <p:nvSpPr>
          <p:cNvPr id="14398" name="Right Arrow 54"/>
          <p:cNvSpPr>
            <a:spLocks noChangeArrowheads="1"/>
          </p:cNvSpPr>
          <p:nvPr/>
        </p:nvSpPr>
        <p:spPr bwMode="auto">
          <a:xfrm rot="5400000">
            <a:off x="607635" y="19628272"/>
            <a:ext cx="452216" cy="226726"/>
          </a:xfrm>
          <a:prstGeom prst="rightArrow">
            <a:avLst>
              <a:gd name="adj1" fmla="val 16667"/>
              <a:gd name="adj2" fmla="val 60000"/>
            </a:avLst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580" tIns="45290" rIns="90580" bIns="45290"/>
          <a:lstStyle/>
          <a:p>
            <a:endParaRPr lang="en-US" dirty="0"/>
          </a:p>
        </p:txBody>
      </p:sp>
      <p:sp>
        <p:nvSpPr>
          <p:cNvPr id="14399" name="Right Arrow 54"/>
          <p:cNvSpPr>
            <a:spLocks noChangeArrowheads="1"/>
          </p:cNvSpPr>
          <p:nvPr/>
        </p:nvSpPr>
        <p:spPr bwMode="auto">
          <a:xfrm rot="10800000">
            <a:off x="10780097" y="18291051"/>
            <a:ext cx="453451" cy="226108"/>
          </a:xfrm>
          <a:prstGeom prst="rightArrow">
            <a:avLst>
              <a:gd name="adj1" fmla="val 16667"/>
              <a:gd name="adj2" fmla="val 60000"/>
            </a:avLst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lIns="90580" tIns="45290" rIns="90580" bIns="45290"/>
          <a:lstStyle/>
          <a:p>
            <a:endParaRPr lang="en-US" dirty="0"/>
          </a:p>
        </p:txBody>
      </p:sp>
      <p:sp>
        <p:nvSpPr>
          <p:cNvPr id="32" name="Rectangle 49"/>
          <p:cNvSpPr>
            <a:spLocks noChangeArrowheads="1"/>
          </p:cNvSpPr>
          <p:nvPr/>
        </p:nvSpPr>
        <p:spPr bwMode="auto">
          <a:xfrm>
            <a:off x="469860" y="26474741"/>
            <a:ext cx="13572000" cy="45727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Dataset composition across four cities, with Tokyo strictly held out.</a:t>
            </a:r>
            <a:endParaRPr lang="en-GB" sz="2000" dirty="0">
              <a:solidFill>
                <a:schemeClr val="bg1"/>
              </a:solidFill>
            </a:endParaRPr>
          </a:p>
        </p:txBody>
      </p:sp>
      <p:sp>
        <p:nvSpPr>
          <p:cNvPr id="33" name="Rectangle 49"/>
          <p:cNvSpPr>
            <a:spLocks noChangeArrowheads="1"/>
          </p:cNvSpPr>
          <p:nvPr/>
        </p:nvSpPr>
        <p:spPr bwMode="auto">
          <a:xfrm>
            <a:off x="469860" y="20897234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Classification performance across all horizons on the held-out test set.</a:t>
            </a:r>
            <a:endParaRPr lang="en-US" sz="2000" b="1" i="0" dirty="0">
              <a:solidFill>
                <a:schemeClr val="bg1"/>
              </a:solidFill>
              <a:latin typeface="Calibri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747646" y="25174563"/>
            <a:ext cx="13572000" cy="860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Row-</a:t>
            </a:r>
            <a:r>
              <a:rPr sz="2000" b="0" i="1" dirty="0" err="1">
                <a:solidFill>
                  <a:srgbClr val="444A52"/>
                </a:solidFill>
                <a:latin typeface="Calibri"/>
              </a:rPr>
              <a:t>normalised</a:t>
            </a:r>
            <a:r>
              <a:rPr sz="2000" b="0" i="1" dirty="0">
                <a:solidFill>
                  <a:srgbClr val="444A52"/>
                </a:solidFill>
                <a:latin typeface="Calibri"/>
              </a:rPr>
              <a:t> confusion matrices (+5 s, +15 s, +30 s). CLEAN recall stays above 0.97 at all horizons; DEGRADED recall falls from 0.85 to 0.73 as the horizon extends.</a:t>
            </a:r>
          </a:p>
        </p:txBody>
      </p:sp>
      <p:sp>
        <p:nvSpPr>
          <p:cNvPr id="42" name="TextBox 56"/>
          <p:cNvSpPr txBox="1">
            <a:spLocks noChangeArrowheads="1"/>
          </p:cNvSpPr>
          <p:nvPr/>
        </p:nvSpPr>
        <p:spPr bwMode="auto">
          <a:xfrm>
            <a:off x="28768627" y="26846393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sz="5900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43" name="TextBox 56"/>
          <p:cNvSpPr txBox="1">
            <a:spLocks noChangeArrowheads="1"/>
          </p:cNvSpPr>
          <p:nvPr/>
        </p:nvSpPr>
        <p:spPr bwMode="auto">
          <a:xfrm>
            <a:off x="28875507" y="29988195"/>
            <a:ext cx="13572000" cy="999405"/>
          </a:xfrm>
          <a:prstGeom prst="rect">
            <a:avLst/>
          </a:prstGeom>
          <a:solidFill>
            <a:srgbClr val="00439F"/>
          </a:solidFill>
          <a:ln>
            <a:noFill/>
          </a:ln>
        </p:spPr>
        <p:txBody>
          <a:bodyPr lIns="90580" tIns="45290" rIns="90580" bIns="45290">
            <a:spAutoFit/>
          </a:bodyPr>
          <a:lstStyle>
            <a:lvl1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37931725" indent="-37474525"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4572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9144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13716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1828800" eaLnBrk="0" fontAlgn="base" hangingPunct="0">
              <a:spcBef>
                <a:spcPct val="0"/>
              </a:spcBef>
              <a:spcAft>
                <a:spcPct val="0"/>
              </a:spcAft>
              <a:defRPr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 algn="ctr"/>
            <a:r>
              <a:rPr lang="en-US" sz="5900" dirty="0">
                <a:solidFill>
                  <a:srgbClr val="FFFFFF"/>
                </a:solidFill>
              </a:rPr>
              <a:t>Acknowledgments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768627" y="31325882"/>
            <a:ext cx="13572000" cy="9370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0" i="0" dirty="0">
                <a:solidFill>
                  <a:srgbClr val="1C222B"/>
                </a:solidFill>
                <a:latin typeface="Calibri"/>
              </a:rPr>
              <a:t>We thank our supervisor Dr. Ahmed Wasiu and RCSSTEAP program at Beihang University for guidance, equipment, and field-collection support throughout the SENTINEL-GNSS pilot project.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47232" y="31781417"/>
            <a:ext cx="13572000" cy="4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Dataset composition. Tokyo (49,868 epochs) is strictly held out and never seen during training or validation.</a:t>
            </a:r>
          </a:p>
        </p:txBody>
      </p:sp>
      <p:sp>
        <p:nvSpPr>
          <p:cNvPr id="77" name="Rectangle 49"/>
          <p:cNvSpPr>
            <a:spLocks noChangeArrowheads="1"/>
          </p:cNvSpPr>
          <p:nvPr/>
        </p:nvSpPr>
        <p:spPr bwMode="auto">
          <a:xfrm>
            <a:off x="14632787" y="20873247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Ablation: both the Transformer and the LSTM are necessary; </a:t>
            </a:r>
            <a:r>
              <a:rPr sz="2000" b="1" i="0" dirty="0" err="1">
                <a:solidFill>
                  <a:schemeClr val="bg1"/>
                </a:solidFill>
                <a:latin typeface="Calibri"/>
              </a:rPr>
              <a:t>receiver_tier</a:t>
            </a:r>
            <a:r>
              <a:rPr sz="2000" b="1" i="0" dirty="0">
                <a:solidFill>
                  <a:schemeClr val="bg1"/>
                </a:solidFill>
                <a:latin typeface="Calibri"/>
              </a:rPr>
              <a:t> is the most important feature.</a:t>
            </a:r>
          </a:p>
        </p:txBody>
      </p:sp>
      <p:sp>
        <p:nvSpPr>
          <p:cNvPr id="14378" name="TextBox 14377"/>
          <p:cNvSpPr txBox="1"/>
          <p:nvPr/>
        </p:nvSpPr>
        <p:spPr>
          <a:xfrm>
            <a:off x="14616603" y="11269490"/>
            <a:ext cx="13572000" cy="4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lang="en-US" sz="2000" i="1" dirty="0">
                <a:solidFill>
                  <a:srgbClr val="444A52"/>
                </a:solidFill>
                <a:latin typeface="Calibri"/>
              </a:rPr>
              <a:t>Fig. 4: E</a:t>
            </a:r>
            <a:r>
              <a:rPr sz="2000" b="0" i="1" dirty="0">
                <a:solidFill>
                  <a:srgbClr val="444A52"/>
                </a:solidFill>
                <a:latin typeface="Calibri"/>
              </a:rPr>
              <a:t>nd-to-end SENTINEL-GNSS pipeline, from raw GNSS signals to multi-horizon AV-planner inputs via the Transformer-LSTM.</a:t>
            </a:r>
          </a:p>
        </p:txBody>
      </p:sp>
      <p:sp>
        <p:nvSpPr>
          <p:cNvPr id="14337" name="TextBox 14336"/>
          <p:cNvSpPr txBox="1"/>
          <p:nvPr/>
        </p:nvSpPr>
        <p:spPr>
          <a:xfrm>
            <a:off x="14447667" y="25604680"/>
            <a:ext cx="13537504" cy="8602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Ablation across architecture variants (Macro-F1, MCC, DEGRADED-F1). Each component contributes independently to performance.</a:t>
            </a:r>
          </a:p>
        </p:txBody>
      </p:sp>
      <p:sp>
        <p:nvSpPr>
          <p:cNvPr id="113" name="Rectangle 49"/>
          <p:cNvSpPr>
            <a:spLocks noChangeArrowheads="1"/>
          </p:cNvSpPr>
          <p:nvPr/>
        </p:nvSpPr>
        <p:spPr bwMode="auto">
          <a:xfrm>
            <a:off x="14816700" y="26472753"/>
            <a:ext cx="13572000" cy="45925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txBody>
          <a:bodyPr wrap="square" lIns="90580" tIns="45290" rIns="90580" bIns="4529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1" i="0" dirty="0">
                <a:solidFill>
                  <a:schemeClr val="bg1"/>
                </a:solidFill>
                <a:latin typeface="Calibri"/>
              </a:rPr>
              <a:t>Prediction-informed EKF keeps the trajectory accurate through blockage.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8755934" y="28156147"/>
            <a:ext cx="13572000" cy="14493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lang="en-US" sz="1600" dirty="0">
                <a:solidFill>
                  <a:srgbClr val="1C222B"/>
                </a:solidFill>
                <a:latin typeface="Calibri"/>
              </a:rPr>
              <a:t>Key results: to our knowledge, the first system to predict GNSS degradation 5 to 30 s ahead; Macro-F1 = 0.821 at +5 s (DEGRADED recall 0.847); cross-city DEGRADED F1 of 0.75 vs 0.15 for RF; 48.8% degraded-RMSE reduction via prediction-informed EKF; 0.039 ms inference.</a:t>
            </a:r>
          </a:p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C222B"/>
                </a:solidFill>
                <a:latin typeface="Calibri"/>
              </a:rPr>
              <a:t>Honest disclosure: RF and </a:t>
            </a:r>
            <a:r>
              <a:rPr sz="1600" b="0" dirty="0" err="1">
                <a:solidFill>
                  <a:srgbClr val="1C222B"/>
                </a:solidFill>
                <a:latin typeface="Calibri"/>
              </a:rPr>
              <a:t>XGBoost</a:t>
            </a:r>
            <a:r>
              <a:rPr sz="1600" b="0" dirty="0">
                <a:solidFill>
                  <a:srgbClr val="1C222B"/>
                </a:solidFill>
                <a:latin typeface="Calibri"/>
              </a:rPr>
              <a:t> beat SENTINEL in-domain (F1 0.926 vs 0.821), but cross-city </a:t>
            </a:r>
            <a:r>
              <a:rPr sz="1600" b="0" dirty="0" err="1">
                <a:solidFill>
                  <a:srgbClr val="1C222B"/>
                </a:solidFill>
                <a:latin typeface="Calibri"/>
              </a:rPr>
              <a:t>generalisation</a:t>
            </a:r>
            <a:r>
              <a:rPr sz="1600" b="0" dirty="0">
                <a:solidFill>
                  <a:srgbClr val="1C222B"/>
                </a:solidFill>
                <a:latin typeface="Calibri"/>
              </a:rPr>
              <a:t> is the deployment-relevant metric.</a:t>
            </a:r>
          </a:p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sz="1600" b="0" dirty="0">
                <a:solidFill>
                  <a:srgbClr val="1C222B"/>
                </a:solidFill>
                <a:latin typeface="Calibri"/>
              </a:rPr>
              <a:t>Key finding: no single fusion method dominates every environment, so environment-aware method selection is a productive direction.</a:t>
            </a:r>
          </a:p>
        </p:txBody>
      </p:sp>
      <p:sp>
        <p:nvSpPr>
          <p:cNvPr id="115" name="Rectangle 18"/>
          <p:cNvSpPr>
            <a:spLocks noChangeArrowheads="1"/>
          </p:cNvSpPr>
          <p:nvPr/>
        </p:nvSpPr>
        <p:spPr bwMode="auto">
          <a:xfrm>
            <a:off x="7849172" y="5473627"/>
            <a:ext cx="6299192" cy="489725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=""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90572" tIns="45286" rIns="90572" bIns="45286">
            <a:spAutoFit/>
          </a:bodyPr>
          <a:lstStyle/>
          <a:p>
            <a:pPr algn="just">
              <a:lnSpc>
                <a:spcPct val="130000"/>
              </a:lnSpc>
              <a:spcAft>
                <a:spcPts val="600"/>
              </a:spcAft>
            </a:pPr>
            <a:r>
              <a:rPr sz="2200" b="0" i="0" dirty="0">
                <a:solidFill>
                  <a:srgbClr val="1C222B"/>
                </a:solidFill>
                <a:latin typeface="Calibri"/>
              </a:rPr>
              <a:t>GNSS is the only drift-free absolute position source for autonomous vehicles. At 60 km/h, a 5-second positioning gap can place the vehicle in the wrong lane or miss a junction.</a:t>
            </a:r>
            <a:r>
              <a:rPr lang="en-US" sz="2200" b="0" i="0" dirty="0">
                <a:solidFill>
                  <a:srgbClr val="1C222B"/>
                </a:solidFill>
                <a:latin typeface="Calibri"/>
              </a:rPr>
              <a:t>  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In urban areas GNSS fails silently: NLOS multipath injects 10 to 200 m errors while the receiver still reports a 'valid' fix. Existing monitors (RAIM, Q-codes, ML classifiers) are reactive, acting only after degradation begins.</a:t>
            </a:r>
            <a:r>
              <a:rPr lang="en-US" sz="2200" b="0" i="0" dirty="0">
                <a:solidFill>
                  <a:srgbClr val="1C222B"/>
                </a:solidFill>
                <a:latin typeface="Calibri"/>
              </a:rPr>
              <a:t> </a:t>
            </a:r>
            <a:r>
              <a:rPr sz="2200" b="0" i="0" dirty="0">
                <a:solidFill>
                  <a:srgbClr val="1C222B"/>
                </a:solidFill>
                <a:latin typeface="Calibri"/>
              </a:rPr>
              <a:t>SENTINEL-GNSS instead predicts degradation 5 to 30 s in advance, giving the controller time to pre-activate dead reckoning.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345116" y="27076027"/>
            <a:ext cx="30444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*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14667283" y="31743512"/>
            <a:ext cx="13537504" cy="4601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SENTINEL trajectory (blue) hugs ground truth through blockage while the Fixed-R EKF and raw GNSS diverge.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29186885" y="9312941"/>
            <a:ext cx="6652163" cy="12603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2000" b="0" i="1" dirty="0">
                <a:solidFill>
                  <a:srgbClr val="444A52"/>
                </a:solidFill>
                <a:latin typeface="Calibri"/>
              </a:rPr>
              <a:t>Fig. 7: Cross-city DEGRADED-class F1 at +5 s. SENTINEL 0.75 versus RF 0.15, a 5x </a:t>
            </a:r>
            <a:r>
              <a:rPr sz="2000" b="0" i="1" dirty="0" err="1">
                <a:solidFill>
                  <a:srgbClr val="444A52"/>
                </a:solidFill>
                <a:latin typeface="Calibri"/>
              </a:rPr>
              <a:t>generalisation</a:t>
            </a:r>
            <a:r>
              <a:rPr sz="2000" b="0" i="1" dirty="0">
                <a:solidFill>
                  <a:srgbClr val="444A52"/>
                </a:solidFill>
                <a:latin typeface="Calibri"/>
              </a:rPr>
              <a:t> gap that widens further at +15 s and +30 s.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DECCCB-F5D0-6D7C-D201-6BA1A3CCDE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7646" y="111873"/>
            <a:ext cx="3132348" cy="3148454"/>
          </a:xfrm>
          <a:prstGeom prst="rect">
            <a:avLst/>
          </a:prstGeom>
          <a:ln>
            <a:noFill/>
          </a:ln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B4DAAA8-4EE1-A4D0-F06C-4CB1DE87461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05558" y="127683"/>
            <a:ext cx="3116300" cy="31163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E5BF51BD-8C16-9B13-EF73-7B7D41C1CFE5}"/>
              </a:ext>
            </a:extLst>
          </p:cNvPr>
          <p:cNvSpPr txBox="1"/>
          <p:nvPr/>
        </p:nvSpPr>
        <p:spPr>
          <a:xfrm>
            <a:off x="9259008" y="422367"/>
            <a:ext cx="22538504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000" dirty="0">
                <a:solidFill>
                  <a:schemeClr val="bg1"/>
                </a:solidFill>
              </a:rPr>
              <a:t>AI-Based Proactive Prediction Of GNSS Signal Degradation for Autonomous Vehicle Navigation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D90A3310-5F67-98A7-813A-E2ECC246CE0C}"/>
              </a:ext>
            </a:extLst>
          </p:cNvPr>
          <p:cNvSpPr/>
          <p:nvPr/>
        </p:nvSpPr>
        <p:spPr bwMode="auto">
          <a:xfrm>
            <a:off x="4050860" y="0"/>
            <a:ext cx="34257696" cy="3265774"/>
          </a:xfrm>
          <a:prstGeom prst="rect">
            <a:avLst/>
          </a:prstGeom>
          <a:solidFill>
            <a:srgbClr val="00439F"/>
          </a:solidFill>
          <a:ln w="9525" cap="flat" cmpd="sng" algn="ctr">
            <a:solidFill>
              <a:schemeClr val="tx1"/>
            </a:solidFill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numCol="1" rtlCol="0" anchor="t" anchorCtr="0" compatLnSpc="1">
            <a:prstTxWarp prst="textNoShape">
              <a:avLst/>
            </a:prstTxWarp>
          </a:bodyPr>
          <a:lstStyle/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highlight>
                <a:srgbClr val="426CAE"/>
              </a:highlight>
              <a:latin typeface="Arial" pitchFamily="-108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5CC2E4-198A-37AF-2B14-0605467FF539}"/>
              </a:ext>
            </a:extLst>
          </p:cNvPr>
          <p:cNvSpPr txBox="1"/>
          <p:nvPr/>
        </p:nvSpPr>
        <p:spPr>
          <a:xfrm>
            <a:off x="5328892" y="394158"/>
            <a:ext cx="33150530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 b="1" dirty="0">
                <a:solidFill>
                  <a:schemeClr val="bg1"/>
                </a:solidFill>
                <a:latin typeface="Arial Black" panose="020B0A04020102020204" pitchFamily="34" charset="0"/>
              </a:rPr>
              <a:t>AI-Based Proactive Prediction Of GNSS Signal Degradation For Autonomous Vehicle Navigation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182D7A8-B575-567F-3F7D-64FC82A2312E}"/>
              </a:ext>
            </a:extLst>
          </p:cNvPr>
          <p:cNvSpPr txBox="1"/>
          <p:nvPr/>
        </p:nvSpPr>
        <p:spPr>
          <a:xfrm>
            <a:off x="8345531" y="1418038"/>
            <a:ext cx="2734195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fontAlgn="t" latinLnBrk="0" hangingPunct="1">
              <a:spcBef>
                <a:spcPts val="0"/>
              </a:spcBef>
              <a:spcAft>
                <a:spcPts val="0"/>
              </a:spcAft>
            </a:pP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Ojerinde Joel Segun, 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Mustapha Ibrahim Ishola,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Ogunlade Joshua Oluwaseun,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 err="1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Ingeriyinkindi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 Claudine,</a:t>
            </a:r>
            <a:r>
              <a:rPr lang="en-US" sz="36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3600" i="0" u="none" strike="noStrike" kern="1200" dirty="0">
                <a:solidFill>
                  <a:srgbClr val="FFFFFF"/>
                </a:solidFill>
                <a:effectLst/>
                <a:latin typeface="Arial" panose="020B0604020202020204" pitchFamily="34" charset="0"/>
                <a:ea typeface="Calibri" panose="020F0502020204030204" pitchFamily="34" charset="0"/>
                <a:cs typeface="Arial" panose="020B0604020202020204" pitchFamily="34" charset="0"/>
              </a:rPr>
              <a:t>Rashid Md Harun Or</a:t>
            </a:r>
            <a:endParaRPr lang="en-US" sz="3600" i="0" u="none" strike="noStrike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7629472-1477-E422-4FDF-F13BB4749E87}"/>
              </a:ext>
            </a:extLst>
          </p:cNvPr>
          <p:cNvSpPr txBox="1"/>
          <p:nvPr/>
        </p:nvSpPr>
        <p:spPr>
          <a:xfrm>
            <a:off x="11028606" y="2082573"/>
            <a:ext cx="21898372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indent="0" algn="l" rtl="0" eaLnBrk="1" fontAlgn="t" latinLnBrk="0" hangingPunct="1">
              <a:lnSpc>
                <a:spcPct val="15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sz="3200" u="none" strike="noStrike" dirty="0">
                <a:solidFill>
                  <a:schemeClr val="bg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Regional Centre for Space Science and Technology Education in Asia and the Pacific | </a:t>
            </a:r>
            <a:r>
              <a:rPr lang="en-US" sz="320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Beihang</a:t>
            </a:r>
            <a:r>
              <a:rPr lang="en-US" sz="32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University</a:t>
            </a:r>
            <a:endParaRPr lang="en-US" sz="3200" i="0" u="none" strike="noStrike" dirty="0">
              <a:solidFill>
                <a:schemeClr val="bg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graphicFrame>
        <p:nvGraphicFramePr>
          <p:cNvPr id="14400" name="Table 1439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511444"/>
              </p:ext>
            </p:extLst>
          </p:nvPr>
        </p:nvGraphicFramePr>
        <p:xfrm>
          <a:off x="14639353" y="12624039"/>
          <a:ext cx="5678146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044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5790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584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85732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300" b="1">
                          <a:solidFill>
                            <a:srgbClr val="FFFFFF"/>
                          </a:solidFill>
                          <a:latin typeface="Calibri"/>
                        </a:rPr>
                        <a:t>Horizon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 dirty="0">
                          <a:solidFill>
                            <a:srgbClr val="FFFFFF"/>
                          </a:solidFill>
                          <a:latin typeface="Calibri"/>
                        </a:rPr>
                        <a:t>Macro-F1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Calibri"/>
                        </a:rPr>
                        <a:t>DEGRADED-F1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300" b="1">
                          <a:solidFill>
                            <a:srgbClr val="FFFFFF"/>
                          </a:solidFill>
                          <a:latin typeface="Calibri"/>
                        </a:rPr>
                        <a:t>MCC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+5 s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0.821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0.718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0.773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+15 s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0.741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0.583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0.691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2200" b="0" dirty="0">
                          <a:solidFill>
                            <a:srgbClr val="1C222B"/>
                          </a:solidFill>
                          <a:latin typeface="Calibri"/>
                        </a:rPr>
                        <a:t>+30 s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>
                            <a:srgbClr val="1C222B"/>
                          </a:solidFill>
                          <a:latin typeface="Calibri"/>
                        </a:rPr>
                        <a:t>0.783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>
                          <a:solidFill>
                            <a:srgbClr val="1C222B"/>
                          </a:solidFill>
                          <a:latin typeface="Calibri"/>
                        </a:rPr>
                        <a:t>0.629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200" b="0" dirty="0">
                          <a:solidFill>
                            <a:srgbClr val="1C222B"/>
                          </a:solidFill>
                          <a:latin typeface="Calibri"/>
                        </a:rPr>
                        <a:t>0.731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401" name="TextBox 14400"/>
          <p:cNvSpPr txBox="1"/>
          <p:nvPr/>
        </p:nvSpPr>
        <p:spPr>
          <a:xfrm>
            <a:off x="14640436" y="15996026"/>
            <a:ext cx="567814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i="1" dirty="0">
                <a:solidFill>
                  <a:srgbClr val="444A52"/>
                </a:solidFill>
                <a:latin typeface="Calibri"/>
              </a:rPr>
              <a:t>Multi-horizon classification metrics. Held-out test (n=1,686); 95% CI via 1,000 bootstrap iterations. DEGRADED recall = 0.847 at +5 s.</a:t>
            </a:r>
          </a:p>
        </p:txBody>
      </p:sp>
      <p:graphicFrame>
        <p:nvGraphicFramePr>
          <p:cNvPr id="14403" name="Table 1440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582850"/>
              </p:ext>
            </p:extLst>
          </p:nvPr>
        </p:nvGraphicFramePr>
        <p:xfrm>
          <a:off x="28989704" y="16316145"/>
          <a:ext cx="1353312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35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57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260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</a:rPr>
                        <a:t>Environment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100" b="1">
                          <a:solidFill>
                            <a:srgbClr val="FFFFFF"/>
                          </a:solidFill>
                          <a:latin typeface="Calibri"/>
                        </a:rPr>
                        <a:t>RMSE red.</a:t>
                      </a:r>
                    </a:p>
                  </a:txBody>
                  <a:tcPr marL="109728" marR="73152" anchor="ctr">
                    <a:solidFill>
                      <a:srgbClr val="00336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000" b="0" dirty="0">
                          <a:solidFill>
                            <a:srgbClr val="1C222B"/>
                          </a:solidFill>
                          <a:latin typeface="Calibri"/>
                        </a:rPr>
                        <a:t>EKF Fixed-R + SENTINEL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Trimble Shinjuku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48.8%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Huber EKF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u-blox Shinjuku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25.2%</a:t>
                      </a:r>
                    </a:p>
                  </a:txBody>
                  <a:tcPr marL="109728" marR="73152" anchor="ctr">
                    <a:solidFill>
                      <a:srgbClr val="DAE5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770">
                <a:tc>
                  <a:txBody>
                    <a:bodyPr/>
                    <a:lstStyle/>
                    <a:p>
                      <a:pPr algn="l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Student-t PF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>
                          <a:solidFill>
                            <a:srgbClr val="1C222B"/>
                          </a:solidFill>
                          <a:latin typeface="Calibri"/>
                        </a:rPr>
                        <a:t>Odaiba harbour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2000" b="0" dirty="0">
                          <a:solidFill>
                            <a:srgbClr val="1C222B"/>
                          </a:solidFill>
                          <a:latin typeface="Calibri"/>
                        </a:rPr>
                        <a:t>40.1%</a:t>
                      </a:r>
                    </a:p>
                  </a:txBody>
                  <a:tcPr marL="109728" marR="73152" anchor="ctr">
                    <a:solidFill>
                      <a:srgbClr val="ECF1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5046050-CCC0-4B04-AD2D-7E227D9930E3}"/>
              </a:ext>
            </a:extLst>
          </p:cNvPr>
          <p:cNvSpPr txBox="1"/>
          <p:nvPr/>
        </p:nvSpPr>
        <p:spPr>
          <a:xfrm>
            <a:off x="14723120" y="5412344"/>
            <a:ext cx="13582573" cy="29856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lang="en-US" sz="2400" b="0" dirty="0">
                <a:solidFill>
                  <a:srgbClr val="1C222B"/>
                </a:solidFill>
                <a:latin typeface="Calibri"/>
              </a:rPr>
              <a:t>SENTINEL-GNSS is a hybrid Transformer-LSTM. The Transformer (2 layers, 8 heads, </a:t>
            </a:r>
            <a:r>
              <a:rPr lang="en-US" sz="2400" b="0" dirty="0" err="1">
                <a:solidFill>
                  <a:srgbClr val="1C222B"/>
                </a:solidFill>
                <a:latin typeface="Calibri"/>
              </a:rPr>
              <a:t>d_model</a:t>
            </a:r>
            <a:r>
              <a:rPr lang="en-US" sz="2400" b="0" dirty="0">
                <a:solidFill>
                  <a:srgbClr val="1C222B"/>
                </a:solidFill>
                <a:latin typeface="Calibri"/>
              </a:rPr>
              <a:t>=128) reads global patterns across the 30 s window, while the stacked LSTM (hidden=256) tracks the directional approach to blockage as C/N0 declines and residuals grow. Three heads forecast +5 / +15 / +30 s in one forward pass.</a:t>
            </a:r>
          </a:p>
          <a:p>
            <a:pPr algn="just">
              <a:lnSpc>
                <a:spcPct val="130000"/>
              </a:lnSpc>
              <a:spcAft>
                <a:spcPts val="400"/>
              </a:spcAft>
            </a:pPr>
            <a:r>
              <a:rPr lang="en-US" sz="2400" b="1" dirty="0">
                <a:solidFill>
                  <a:srgbClr val="1C222B"/>
                </a:solidFill>
                <a:latin typeface="Calibri"/>
              </a:rPr>
              <a:t>Inference &amp; Deployment: </a:t>
            </a:r>
            <a:r>
              <a:rPr lang="en-US" sz="2400" b="0" dirty="0">
                <a:solidFill>
                  <a:srgbClr val="1C222B"/>
                </a:solidFill>
                <a:latin typeface="Calibri"/>
              </a:rPr>
              <a:t>1.46 M parameters, 0.039 </a:t>
            </a:r>
            <a:r>
              <a:rPr lang="en-US" sz="2400" b="0" dirty="0" err="1">
                <a:solidFill>
                  <a:srgbClr val="1C222B"/>
                </a:solidFill>
                <a:latin typeface="Calibri"/>
              </a:rPr>
              <a:t>ms</a:t>
            </a:r>
            <a:r>
              <a:rPr lang="en-US" sz="2400" b="0" dirty="0">
                <a:solidFill>
                  <a:srgbClr val="1C222B"/>
                </a:solidFill>
                <a:latin typeface="Calibri"/>
              </a:rPr>
              <a:t> per sample, all three horizons in one pass, 10.5x faster than three tree models, within a 10 Hz vehicle-compute budget.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3A31EFB-66C6-FE60-0FD1-EC3DAC32037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860" y="5369384"/>
            <a:ext cx="7179696" cy="5058843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E2B2CC-9568-347C-39C4-EC756CED5A0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810339" y="16774155"/>
            <a:ext cx="10645786" cy="35028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790CB9-2079-3011-574C-F69C7EFBF078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4908" y="21697064"/>
            <a:ext cx="10047813" cy="33572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CBCB616-AE27-CE03-6D3F-55AAA4B96D7A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64596" y="27505138"/>
            <a:ext cx="8364010" cy="425662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7C78A299-A69B-8684-2093-0AB1F508263C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0778123" y="12611490"/>
            <a:ext cx="6729233" cy="359132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797A63A3-798B-E880-A38A-E8410D85B891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6418124" y="21629217"/>
            <a:ext cx="9664304" cy="3948335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B310F7F0-A5E6-ECBB-E530-1CF98455A9D0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5077155" y="27375912"/>
            <a:ext cx="6525545" cy="4182337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F6A6F2E3-C74F-B61E-9648-1FA2F2E6150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28980066" y="18627149"/>
            <a:ext cx="13552395" cy="4531892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28FA2BF-57A6-E5F0-BCDE-921427AC777B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29039848" y="5059150"/>
            <a:ext cx="6946239" cy="4253791"/>
          </a:xfrm>
          <a:prstGeom prst="rect">
            <a:avLst/>
          </a:prstGeom>
        </p:spPr>
      </p:pic>
      <p:sp>
        <p:nvSpPr>
          <p:cNvPr id="14404" name="TextBox 14403"/>
          <p:cNvSpPr txBox="1"/>
          <p:nvPr/>
        </p:nvSpPr>
        <p:spPr>
          <a:xfrm>
            <a:off x="548640" y="31912560"/>
            <a:ext cx="41696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i="1">
                <a:solidFill>
                  <a:srgbClr val="444A52"/>
                </a:solidFill>
                <a:latin typeface="Calibri"/>
              </a:rPr>
              <a:t>Key references: Brown 1997 (RAIM)  -  Hsu 2021 (UrbanNav)  -  Liu 2023 (GBT GNSS)  -  Chen 2019 (LSTM GPS)  -  Vaswani 2017 (Transformer)  -  Hochreiter 1997 (LSTM)  -  Mehra 1970 (Adaptive Kalman)  -  Kalman 1960 (EKF).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nk Presentation">
  <a:themeElements>
    <a:clrScheme name="Solstice">
      <a:dk1>
        <a:sysClr val="windowText" lastClr="000000"/>
      </a:dk1>
      <a:lt1>
        <a:sysClr val="window" lastClr="FFFFFF"/>
      </a:lt1>
      <a:dk2>
        <a:srgbClr val="4F271C"/>
      </a:dk2>
      <a:lt2>
        <a:srgbClr val="E7DEC9"/>
      </a:lt2>
      <a:accent1>
        <a:srgbClr val="3891A7"/>
      </a:accent1>
      <a:accent2>
        <a:srgbClr val="FEB80A"/>
      </a:accent2>
      <a:accent3>
        <a:srgbClr val="C32D2E"/>
      </a:accent3>
      <a:accent4>
        <a:srgbClr val="84AA33"/>
      </a:accent4>
      <a:accent5>
        <a:srgbClr val="964305"/>
      </a:accent5>
      <a:accent6>
        <a:srgbClr val="475A8D"/>
      </a:accent6>
      <a:hlink>
        <a:srgbClr val="8DC765"/>
      </a:hlink>
      <a:folHlink>
        <a:srgbClr val="AA8A14"/>
      </a:folHlink>
    </a:clrScheme>
    <a:fontScheme name="Blank Presentation">
      <a:majorFont>
        <a:latin typeface="Times"/>
        <a:ea typeface=""/>
        <a:cs typeface=""/>
      </a:majorFont>
      <a:minorFont>
        <a:latin typeface="Times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8" charset="0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type="none" w="med" len="med"/>
          <a:tailEnd type="none"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0" hangingPunct="0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400" b="0" i="0" u="none" strike="noStrike" cap="none" normalizeH="0" baseline="0">
            <a:ln>
              <a:noFill/>
            </a:ln>
            <a:solidFill>
              <a:schemeClr val="tx1"/>
            </a:solidFill>
            <a:effectLst/>
            <a:latin typeface="Arial" pitchFamily="-108" charset="0"/>
          </a:defRPr>
        </a:defPPr>
      </a:lstStyle>
    </a:lnDef>
  </a:objectDefaults>
  <a:extraClrSchemeLst>
    <a:extraClrScheme>
      <a:clrScheme name="Blank Presentation 1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BBE0E3"/>
        </a:accent1>
        <a:accent2>
          <a:srgbClr val="333399"/>
        </a:accent2>
        <a:accent3>
          <a:srgbClr val="FFFFFF"/>
        </a:accent3>
        <a:accent4>
          <a:srgbClr val="000000"/>
        </a:accent4>
        <a:accent5>
          <a:srgbClr val="DAEDEF"/>
        </a:accent5>
        <a:accent6>
          <a:srgbClr val="2D2D8A"/>
        </a:accent6>
        <a:hlink>
          <a:srgbClr val="009999"/>
        </a:hlink>
        <a:folHlink>
          <a:srgbClr val="99CC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2">
        <a:dk1>
          <a:srgbClr val="000000"/>
        </a:dk1>
        <a:lt1>
          <a:srgbClr val="FFFFFF"/>
        </a:lt1>
        <a:dk2>
          <a:srgbClr val="000000"/>
        </a:dk2>
        <a:lt2>
          <a:srgbClr val="969696"/>
        </a:lt2>
        <a:accent1>
          <a:srgbClr val="FBDF53"/>
        </a:accent1>
        <a:accent2>
          <a:srgbClr val="FF9966"/>
        </a:accent2>
        <a:accent3>
          <a:srgbClr val="FFFFFF"/>
        </a:accent3>
        <a:accent4>
          <a:srgbClr val="000000"/>
        </a:accent4>
        <a:accent5>
          <a:srgbClr val="FDECB3"/>
        </a:accent5>
        <a:accent6>
          <a:srgbClr val="E78A5C"/>
        </a:accent6>
        <a:hlink>
          <a:srgbClr val="CC3300"/>
        </a:hlink>
        <a:folHlink>
          <a:srgbClr val="9966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3">
        <a:dk1>
          <a:srgbClr val="000000"/>
        </a:dk1>
        <a:lt1>
          <a:srgbClr val="FFFFFF"/>
        </a:lt1>
        <a:dk2>
          <a:srgbClr val="000000"/>
        </a:dk2>
        <a:lt2>
          <a:srgbClr val="808080"/>
        </a:lt2>
        <a:accent1>
          <a:srgbClr val="99CCFF"/>
        </a:accent1>
        <a:accent2>
          <a:srgbClr val="CCCCFF"/>
        </a:accent2>
        <a:accent3>
          <a:srgbClr val="FFFFFF"/>
        </a:accent3>
        <a:accent4>
          <a:srgbClr val="000000"/>
        </a:accent4>
        <a:accent5>
          <a:srgbClr val="CAE2FF"/>
        </a:accent5>
        <a:accent6>
          <a:srgbClr val="B9B9E7"/>
        </a:accent6>
        <a:hlink>
          <a:srgbClr val="3333CC"/>
        </a:hlink>
        <a:folHlink>
          <a:srgbClr val="AF67FF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4">
        <a:dk1>
          <a:srgbClr val="000000"/>
        </a:dk1>
        <a:lt1>
          <a:srgbClr val="DEF6F1"/>
        </a:lt1>
        <a:dk2>
          <a:srgbClr val="000000"/>
        </a:dk2>
        <a:lt2>
          <a:srgbClr val="969696"/>
        </a:lt2>
        <a:accent1>
          <a:srgbClr val="FFFFFF"/>
        </a:accent1>
        <a:accent2>
          <a:srgbClr val="8DC6FF"/>
        </a:accent2>
        <a:accent3>
          <a:srgbClr val="ECFAF7"/>
        </a:accent3>
        <a:accent4>
          <a:srgbClr val="000000"/>
        </a:accent4>
        <a:accent5>
          <a:srgbClr val="FFFFFF"/>
        </a:accent5>
        <a:accent6>
          <a:srgbClr val="7FB3E7"/>
        </a:accent6>
        <a:hlink>
          <a:srgbClr val="0066CC"/>
        </a:hlink>
        <a:folHlink>
          <a:srgbClr val="00A8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5">
        <a:dk1>
          <a:srgbClr val="000000"/>
        </a:dk1>
        <a:lt1>
          <a:srgbClr val="FFFFD9"/>
        </a:lt1>
        <a:dk2>
          <a:srgbClr val="000000"/>
        </a:dk2>
        <a:lt2>
          <a:srgbClr val="777777"/>
        </a:lt2>
        <a:accent1>
          <a:srgbClr val="FFFFF7"/>
        </a:accent1>
        <a:accent2>
          <a:srgbClr val="33CCCC"/>
        </a:accent2>
        <a:accent3>
          <a:srgbClr val="FFFFE9"/>
        </a:accent3>
        <a:accent4>
          <a:srgbClr val="000000"/>
        </a:accent4>
        <a:accent5>
          <a:srgbClr val="FFFFFA"/>
        </a:accent5>
        <a:accent6>
          <a:srgbClr val="2DB9B9"/>
        </a:accent6>
        <a:hlink>
          <a:srgbClr val="FF5050"/>
        </a:hlink>
        <a:folHlink>
          <a:srgbClr val="FF990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ank Presentation 6">
        <a:dk1>
          <a:srgbClr val="005A58"/>
        </a:dk1>
        <a:lt1>
          <a:srgbClr val="FFFFFF"/>
        </a:lt1>
        <a:dk2>
          <a:srgbClr val="008080"/>
        </a:dk2>
        <a:lt2>
          <a:srgbClr val="FFFF99"/>
        </a:lt2>
        <a:accent1>
          <a:srgbClr val="006462"/>
        </a:accent1>
        <a:accent2>
          <a:srgbClr val="6D6FC7"/>
        </a:accent2>
        <a:accent3>
          <a:srgbClr val="AAC0C0"/>
        </a:accent3>
        <a:accent4>
          <a:srgbClr val="DADADA"/>
        </a:accent4>
        <a:accent5>
          <a:srgbClr val="AAB8B7"/>
        </a:accent5>
        <a:accent6>
          <a:srgbClr val="6264B4"/>
        </a:accent6>
        <a:hlink>
          <a:srgbClr val="00FFFF"/>
        </a:hlink>
        <a:folHlink>
          <a:srgbClr val="00FF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7">
        <a:dk1>
          <a:srgbClr val="5C1F00"/>
        </a:dk1>
        <a:lt1>
          <a:srgbClr val="FFFFFF"/>
        </a:lt1>
        <a:dk2>
          <a:srgbClr val="800000"/>
        </a:dk2>
        <a:lt2>
          <a:srgbClr val="DFD293"/>
        </a:lt2>
        <a:accent1>
          <a:srgbClr val="713E39"/>
        </a:accent1>
        <a:accent2>
          <a:srgbClr val="BE7960"/>
        </a:accent2>
        <a:accent3>
          <a:srgbClr val="C0AAAA"/>
        </a:accent3>
        <a:accent4>
          <a:srgbClr val="DADADA"/>
        </a:accent4>
        <a:accent5>
          <a:srgbClr val="BBAFAE"/>
        </a:accent5>
        <a:accent6>
          <a:srgbClr val="AC6D56"/>
        </a:accent6>
        <a:hlink>
          <a:srgbClr val="FFFF99"/>
        </a:hlink>
        <a:folHlink>
          <a:srgbClr val="D3A21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8">
        <a:dk1>
          <a:srgbClr val="003366"/>
        </a:dk1>
        <a:lt1>
          <a:srgbClr val="FFFFFF"/>
        </a:lt1>
        <a:dk2>
          <a:srgbClr val="000099"/>
        </a:dk2>
        <a:lt2>
          <a:srgbClr val="CCFFFF"/>
        </a:lt2>
        <a:accent1>
          <a:srgbClr val="3366CC"/>
        </a:accent1>
        <a:accent2>
          <a:srgbClr val="00B000"/>
        </a:accent2>
        <a:accent3>
          <a:srgbClr val="AAAACA"/>
        </a:accent3>
        <a:accent4>
          <a:srgbClr val="DADADA"/>
        </a:accent4>
        <a:accent5>
          <a:srgbClr val="ADB8E2"/>
        </a:accent5>
        <a:accent6>
          <a:srgbClr val="009F00"/>
        </a:accent6>
        <a:hlink>
          <a:srgbClr val="66CCFF"/>
        </a:hlink>
        <a:folHlink>
          <a:srgbClr val="FFE7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9">
        <a:dk1>
          <a:srgbClr val="336699"/>
        </a:dk1>
        <a:lt1>
          <a:srgbClr val="FFFFFF"/>
        </a:lt1>
        <a:dk2>
          <a:srgbClr val="000000"/>
        </a:dk2>
        <a:lt2>
          <a:srgbClr val="E3EBF1"/>
        </a:lt2>
        <a:accent1>
          <a:srgbClr val="003399"/>
        </a:accent1>
        <a:accent2>
          <a:srgbClr val="468A4B"/>
        </a:accent2>
        <a:accent3>
          <a:srgbClr val="AAAAAA"/>
        </a:accent3>
        <a:accent4>
          <a:srgbClr val="DADADA"/>
        </a:accent4>
        <a:accent5>
          <a:srgbClr val="AAADCA"/>
        </a:accent5>
        <a:accent6>
          <a:srgbClr val="3F7D43"/>
        </a:accent6>
        <a:hlink>
          <a:srgbClr val="66CCFF"/>
        </a:hlink>
        <a:folHlink>
          <a:srgbClr val="F0E5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0">
        <a:dk1>
          <a:srgbClr val="777777"/>
        </a:dk1>
        <a:lt1>
          <a:srgbClr val="FFFFFF"/>
        </a:lt1>
        <a:dk2>
          <a:srgbClr val="686B5D"/>
        </a:dk2>
        <a:lt2>
          <a:srgbClr val="D1D1CB"/>
        </a:lt2>
        <a:accent1>
          <a:srgbClr val="909082"/>
        </a:accent1>
        <a:accent2>
          <a:srgbClr val="809EA8"/>
        </a:accent2>
        <a:accent3>
          <a:srgbClr val="B9BAB6"/>
        </a:accent3>
        <a:accent4>
          <a:srgbClr val="DADADA"/>
        </a:accent4>
        <a:accent5>
          <a:srgbClr val="C6C6C1"/>
        </a:accent5>
        <a:accent6>
          <a:srgbClr val="738F98"/>
        </a:accent6>
        <a:hlink>
          <a:srgbClr val="FFCC66"/>
        </a:hlink>
        <a:folHlink>
          <a:srgbClr val="E9DCB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1">
        <a:dk1>
          <a:srgbClr val="3E3E5C"/>
        </a:dk1>
        <a:lt1>
          <a:srgbClr val="FFFFFF"/>
        </a:lt1>
        <a:dk2>
          <a:srgbClr val="666699"/>
        </a:dk2>
        <a:lt2>
          <a:srgbClr val="FFFFFF"/>
        </a:lt2>
        <a:accent1>
          <a:srgbClr val="60597B"/>
        </a:accent1>
        <a:accent2>
          <a:srgbClr val="6666FF"/>
        </a:accent2>
        <a:accent3>
          <a:srgbClr val="B8B8CA"/>
        </a:accent3>
        <a:accent4>
          <a:srgbClr val="DADADA"/>
        </a:accent4>
        <a:accent5>
          <a:srgbClr val="B6B5BF"/>
        </a:accent5>
        <a:accent6>
          <a:srgbClr val="5C5CE7"/>
        </a:accent6>
        <a:hlink>
          <a:srgbClr val="99CCFF"/>
        </a:hlink>
        <a:folHlink>
          <a:srgbClr val="FFFF99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ank Presentation 12">
        <a:dk1>
          <a:srgbClr val="2D2015"/>
        </a:dk1>
        <a:lt1>
          <a:srgbClr val="FFFFFF"/>
        </a:lt1>
        <a:dk2>
          <a:srgbClr val="523E26"/>
        </a:dk2>
        <a:lt2>
          <a:srgbClr val="DFC08D"/>
        </a:lt2>
        <a:accent1>
          <a:srgbClr val="8C7B70"/>
        </a:accent1>
        <a:accent2>
          <a:srgbClr val="8F5F2F"/>
        </a:accent2>
        <a:accent3>
          <a:srgbClr val="B3AFAC"/>
        </a:accent3>
        <a:accent4>
          <a:srgbClr val="DADADA"/>
        </a:accent4>
        <a:accent5>
          <a:srgbClr val="C5BFBB"/>
        </a:accent5>
        <a:accent6>
          <a:srgbClr val="81552A"/>
        </a:accent6>
        <a:hlink>
          <a:srgbClr val="CCB400"/>
        </a:hlink>
        <a:folHlink>
          <a:srgbClr val="8C9EA0"/>
        </a:folHlink>
      </a:clrScheme>
      <a:clrMap bg1="dk2" tx1="lt1" bg2="dk1" tx2="lt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BBE0E3"/>
      </a:accent1>
      <a:accent2>
        <a:srgbClr val="333399"/>
      </a:accent2>
      <a:accent3>
        <a:srgbClr val="FFFFFF"/>
      </a:accent3>
      <a:accent4>
        <a:srgbClr val="000000"/>
      </a:accent4>
      <a:accent5>
        <a:srgbClr val="DAEDEF"/>
      </a:accent5>
      <a:accent6>
        <a:srgbClr val="2D2D8A"/>
      </a:accent6>
      <a:hlink>
        <a:srgbClr val="009999"/>
      </a:hlink>
      <a:folHlink>
        <a:srgbClr val="99CC0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10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7394EC1-E879-44C1-B991-638B445E64C2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af7e8f62-3041-4644-8b60-4750dce6cd4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1026</Words>
  <Application>Microsoft Office PowerPoint</Application>
  <PresentationFormat>Custom</PresentationFormat>
  <Paragraphs>71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8" baseType="lpstr">
      <vt:lpstr>Arial</vt:lpstr>
      <vt:lpstr>Arial Black</vt:lpstr>
      <vt:lpstr>Calibri</vt:lpstr>
      <vt:lpstr>Consolas</vt:lpstr>
      <vt:lpstr>Times</vt:lpstr>
      <vt:lpstr>Times New Roman</vt:lpstr>
      <vt:lpstr>Blank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Scientific Poster Template</dc:title>
  <dc:creator/>
  <cp:lastModifiedBy/>
  <cp:revision>1</cp:revision>
  <dcterms:created xsi:type="dcterms:W3CDTF">2015-02-13T18:11:21Z</dcterms:created>
  <dcterms:modified xsi:type="dcterms:W3CDTF">2026-06-30T12:55:46Z</dcterms:modified>
</cp:coreProperties>
</file>