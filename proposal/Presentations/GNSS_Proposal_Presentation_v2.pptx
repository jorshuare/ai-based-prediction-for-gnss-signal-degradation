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76" r:id="rId5"/>
    <p:sldId id="259" r:id="rId6"/>
    <p:sldId id="260" r:id="rId7"/>
    <p:sldId id="261" r:id="rId8"/>
    <p:sldId id="262" r:id="rId9"/>
    <p:sldId id="277" r:id="rId10"/>
    <p:sldId id="279" r:id="rId30"/>
    <p:sldId id="280" r:id="rId31"/>
    <p:sldId id="281" r:id="rId32"/>
    <p:sldId id="282" r:id="rId33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8" r:id="rId19"/>
    <p:sldId id="271" r:id="rId20"/>
    <p:sldId id="272" r:id="rId21"/>
    <p:sldId id="273" r:id="rId22"/>
    <p:sldId id="274" r:id="rId23"/>
    <p:sldId id="275" r:id="rId24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49" d="100"/>
          <a:sy n="149" d="100"/>
        </p:scale>
        <p:origin x="464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385405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88DCF2-868A-563F-4963-2235003E89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E7E8E8A-24AA-91B2-5AC6-4E69D12B059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8DE93A1-090C-ABBA-115E-0071A7149B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BE0718-60EE-9A04-9800-53CC11DE1E0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63742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C85914-34FA-09E6-C316-015610808C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76C0FE3-96DB-DE33-2FD2-B190C390733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ECAC537-3D7C-B62A-F6CF-AA9881F8E16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3BBB20-83D3-DBED-2493-E03449B6008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216674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E4654F-C4B8-973C-4F3A-69EDD28608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A1BAC86-B467-7F81-A1D4-FA68E2E3E16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E3A5620-5F8F-1825-C028-7E051149D1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6720D3-B57C-30A7-0C49-941F2E642A9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13507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0.png"/><Relationship Id="rId4" Type="http://schemas.openxmlformats.org/officeDocument/2006/relationships/image" Target="../media/image20.png"/><Relationship Id="rId5" Type="http://schemas.openxmlformats.org/officeDocument/2006/relationships/image" Target="../media/image30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206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199" y="822959"/>
            <a:ext cx="99391" cy="4051189"/>
          </a:xfrm>
          <a:prstGeom prst="rect">
            <a:avLst/>
          </a:prstGeom>
          <a:solidFill>
            <a:srgbClr val="AED6F1"/>
          </a:solidFill>
          <a:ln w="12700">
            <a:solidFill>
              <a:srgbClr val="AED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85800" y="478137"/>
            <a:ext cx="804672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AI-Based Prediction of GNSS Signal</a:t>
            </a:r>
            <a:endParaRPr lang="en-US" sz="3400" dirty="0"/>
          </a:p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Degradation for Autonomous Driving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85800" y="2078337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i="1" dirty="0">
                <a:solidFill>
                  <a:srgbClr val="AED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Pilot Study</a:t>
            </a:r>
            <a:endParaRPr lang="en-US" sz="2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0948232"/>
              </p:ext>
            </p:extLst>
          </p:nvPr>
        </p:nvGraphicFramePr>
        <p:xfrm>
          <a:off x="685800" y="2581257"/>
          <a:ext cx="7863840" cy="1828800"/>
        </p:xfrm>
        <a:graphic>
          <a:graphicData uri="http://schemas.openxmlformats.org/drawingml/2006/table">
            <a:tbl>
              <a:tblPr/>
              <a:tblGrid>
                <a:gridCol w="6692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0860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S/N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27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27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Student ID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27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8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Ojerinde Joel Segun 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8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LS2525253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84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8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Mustapha Ibrahim Ishola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8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LS2525238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84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84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Ogunlade Joshua Oluwaseun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8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LS2525237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84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8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Ingeriyinkindi Claudine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8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LS2525236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84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8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Rashid Md Harun Or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8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LS2525219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84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Rectangle 5">
            <a:extLst>
              <a:ext uri="{FF2B5EF4-FFF2-40B4-BE49-F238E27FC236}">
                <a16:creationId xmlns:a16="http://schemas.microsoft.com/office/drawing/2014/main" id="{E77A5688-5D3D-76CB-DF27-D06D55042F3B}"/>
              </a:ext>
            </a:extLst>
          </p:cNvPr>
          <p:cNvSpPr/>
          <p:nvPr/>
        </p:nvSpPr>
        <p:spPr>
          <a:xfrm>
            <a:off x="2914116" y="4537816"/>
            <a:ext cx="3144852" cy="36746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Supervisor: Dr. Ahmed Wasiu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03087"/>
          </a:solidFill>
          <a:ln w="12700">
            <a:solidFill>
              <a:srgbClr val="00308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7680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 Outline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4846320"/>
            <a:ext cx="8229600" cy="27432"/>
          </a:xfrm>
          <a:prstGeom prst="rect">
            <a:avLst/>
          </a:prstGeom>
          <a:solidFill>
            <a:srgbClr val="AED6F1"/>
          </a:solidFill>
          <a:ln w="12700">
            <a:solidFill>
              <a:srgbClr val="AED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822960"/>
          <a:ext cx="4023360" cy="3474720"/>
        </p:xfrm>
        <a:graphic>
          <a:graphicData uri="http://schemas.openxmlformats.org/drawingml/2006/table">
            <a:tbl>
              <a:tblPr/>
              <a:tblGrid>
                <a:gridCol w="457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66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E86C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Problem Statement &amp; Motivation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E86C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Why Prediction, Not Detection?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E86C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Our Contributions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E86C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Sources &amp; Collection Strategy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E86C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Processing Pipeline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E86C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Feature Engineering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E86C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System Architecture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E86C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Model Design — Transformer-LSTM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E86C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Training Protocol &amp; Class Imbalance Handling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E86C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 Strategy &amp; Datasets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graphicFrame>
        <p:nvGraphicFramePr>
          <p:cNvPr id="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63440" y="822960"/>
          <a:ext cx="4023360" cy="3474720"/>
        </p:xfrm>
        <a:graphic>
          <a:graphicData uri="http://schemas.openxmlformats.org/drawingml/2006/table">
            <a:tbl>
              <a:tblPr/>
              <a:tblGrid>
                <a:gridCol w="457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66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E86C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Results Overview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E86C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Real-Time Monitoring Interface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E86C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Sensor Fusion Adaptation (Dynamic EKF)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E86C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Novelty Claims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E86C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Team Responsibilities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E86C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Project Timeline (Milestones)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E86C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Anticipated Challenges &amp; Mitigations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E86C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Real-World Impact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E86C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Conclusion &amp; Future Work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E86C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Q&amp;A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03087"/>
          </a:solidFill>
          <a:ln w="12700">
            <a:solidFill>
              <a:srgbClr val="00308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7680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0" y="0"/>
            <a:ext cx="8778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4846320"/>
            <a:ext cx="8229600" cy="27432"/>
          </a:xfrm>
          <a:prstGeom prst="rect">
            <a:avLst/>
          </a:prstGeom>
          <a:solidFill>
            <a:srgbClr val="AED6F1"/>
          </a:solidFill>
          <a:ln w="12700">
            <a:solidFill>
              <a:srgbClr val="AED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57200" y="7772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GNSS is the primary positioning source for autonomous vehicles. Yet it fails—predictably and frequently.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2651760" cy="2560320"/>
          </a:xfrm>
          <a:prstGeom prst="rect">
            <a:avLst/>
          </a:prstGeom>
          <a:solidFill>
            <a:srgbClr val="D6EAF8"/>
          </a:solidFill>
          <a:ln w="12700">
            <a:solidFill>
              <a:srgbClr val="AED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457200" y="1417320"/>
            <a:ext cx="2651760" cy="411480"/>
          </a:xfrm>
          <a:prstGeom prst="rect">
            <a:avLst/>
          </a:prstGeom>
          <a:solidFill>
            <a:srgbClr val="003087"/>
          </a:solidFill>
          <a:ln w="12700">
            <a:solidFill>
              <a:srgbClr val="00308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57200" y="141732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Urban Canyons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1920240"/>
            <a:ext cx="237744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200000"/>
              </a:lnSpc>
              <a:buNone/>
            </a:pPr>
            <a:r>
              <a:rPr lang="en-US" sz="12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 buildings block or reflect satellite signals, causing multipath errors and signal loss in densely built environments.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291840" y="1417320"/>
            <a:ext cx="2651760" cy="2560320"/>
          </a:xfrm>
          <a:prstGeom prst="rect">
            <a:avLst/>
          </a:prstGeom>
          <a:solidFill>
            <a:srgbClr val="D6EAF8"/>
          </a:solidFill>
          <a:ln w="12700">
            <a:solidFill>
              <a:srgbClr val="AED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3291840" y="1417320"/>
            <a:ext cx="2651760" cy="411480"/>
          </a:xfrm>
          <a:prstGeom prst="rect">
            <a:avLst/>
          </a:prstGeom>
          <a:solidFill>
            <a:srgbClr val="003087"/>
          </a:solidFill>
          <a:ln w="12700">
            <a:solidFill>
              <a:srgbClr val="00308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3291840" y="141732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Tunnels &amp; Underpasses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429000" y="1920240"/>
            <a:ext cx="237744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200000"/>
              </a:lnSpc>
              <a:buNone/>
            </a:pPr>
            <a:r>
              <a:rPr lang="en-US" sz="12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signal blockage causes instantaneous position loss. Reactive systems detect failure too late to plan a safe response.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126480" y="1417320"/>
            <a:ext cx="2651760" cy="2560320"/>
          </a:xfrm>
          <a:prstGeom prst="rect">
            <a:avLst/>
          </a:prstGeom>
          <a:solidFill>
            <a:srgbClr val="D6EAF8"/>
          </a:solidFill>
          <a:ln w="12700">
            <a:solidFill>
              <a:srgbClr val="AED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6126480" y="1417320"/>
            <a:ext cx="2651760" cy="411480"/>
          </a:xfrm>
          <a:prstGeom prst="rect">
            <a:avLst/>
          </a:prstGeom>
          <a:solidFill>
            <a:srgbClr val="003087"/>
          </a:solidFill>
          <a:ln w="12700">
            <a:solidFill>
              <a:srgbClr val="00308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6126480" y="141732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Atmospheric Effects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263640" y="1920240"/>
            <a:ext cx="237744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200000"/>
              </a:lnSpc>
              <a:buNone/>
            </a:pPr>
            <a:r>
              <a:rPr lang="en-US" sz="12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Ionospheric and tropospheric disturbances degrade range accuracy across wide areas, particularly during daytime and equatorial conditions.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57200" y="41605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E86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systems detect degradation after it occurs — autonomous vehicles need advance warning to respond safely.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34DA33B-A089-EED4-2DFE-5AF93D5DD8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F59BECB2-5CC8-7222-89E2-75E45AF2028C}"/>
              </a:ext>
            </a:extLst>
          </p:cNvPr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03087"/>
          </a:solidFill>
          <a:ln w="12700">
            <a:solidFill>
              <a:srgbClr val="00308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A224C6EC-B47C-8F50-3551-AF2381CE0850}"/>
              </a:ext>
            </a:extLst>
          </p:cNvPr>
          <p:cNvSpPr/>
          <p:nvPr/>
        </p:nvSpPr>
        <p:spPr>
          <a:xfrm>
            <a:off x="457200" y="0"/>
            <a:ext cx="7680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</a:t>
            </a:r>
            <a:endParaRPr lang="en-US" sz="22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2141CBB7-1709-E31D-23BD-2BC6728E6745}"/>
              </a:ext>
            </a:extLst>
          </p:cNvPr>
          <p:cNvSpPr/>
          <p:nvPr/>
        </p:nvSpPr>
        <p:spPr>
          <a:xfrm>
            <a:off x="0" y="0"/>
            <a:ext cx="8778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endParaRPr lang="en-US" sz="1000" dirty="0"/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AE006491-F032-E4A0-4109-2905383A30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9694" y="712304"/>
            <a:ext cx="6718852" cy="43798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50191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03087"/>
          </a:solidFill>
          <a:ln w="12700">
            <a:solidFill>
              <a:srgbClr val="00308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7680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Prediction, Not Detection?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0" y="0"/>
            <a:ext cx="8778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4846320"/>
            <a:ext cx="8229600" cy="27432"/>
          </a:xfrm>
          <a:prstGeom prst="rect">
            <a:avLst/>
          </a:prstGeom>
          <a:solidFill>
            <a:srgbClr val="AED6F1"/>
          </a:solidFill>
          <a:ln w="12700">
            <a:solidFill>
              <a:srgbClr val="AED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57200" y="7772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03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Reactive vs. Proactive Navigation Response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57200" y="1280160"/>
            <a:ext cx="8229600" cy="320040"/>
          </a:xfrm>
          <a:prstGeom prst="rect">
            <a:avLst/>
          </a:prstGeom>
          <a:solidFill>
            <a:srgbClr val="D6EAF8"/>
          </a:solidFill>
          <a:ln w="12700">
            <a:solidFill>
              <a:srgbClr val="AED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57200" y="12801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3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REACTIVE SYSTEM  (Current State of Practice)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1691640"/>
            <a:ext cx="1920240" cy="822960"/>
          </a:xfrm>
          <a:prstGeom prst="rect">
            <a:avLst/>
          </a:prstGeom>
          <a:solidFill>
            <a:srgbClr val="E8F5E9"/>
          </a:solidFill>
          <a:ln w="1270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57200" y="1691640"/>
            <a:ext cx="1920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 OK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651760" y="1691640"/>
            <a:ext cx="1920240" cy="822960"/>
          </a:xfrm>
          <a:prstGeom prst="rect">
            <a:avLst/>
          </a:prstGeom>
          <a:solidFill>
            <a:srgbClr val="FFEBEE"/>
          </a:solidFill>
          <a:ln w="12700">
            <a:solidFill>
              <a:srgbClr val="B71C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2651760" y="1691640"/>
            <a:ext cx="1920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B7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Degradation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B7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Occurs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846320" y="1691640"/>
            <a:ext cx="1920240" cy="822960"/>
          </a:xfrm>
          <a:prstGeom prst="rect">
            <a:avLst/>
          </a:prstGeom>
          <a:solidFill>
            <a:srgbClr val="FFF3E0"/>
          </a:solidFill>
          <a:ln w="12700">
            <a:solidFill>
              <a:srgbClr val="E651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846320" y="1691640"/>
            <a:ext cx="1920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65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E65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040880" y="1691640"/>
            <a:ext cx="1920240" cy="822960"/>
          </a:xfrm>
          <a:prstGeom prst="rect">
            <a:avLst/>
          </a:prstGeom>
          <a:solidFill>
            <a:srgbClr val="F3E5F5"/>
          </a:solidFill>
          <a:ln w="12700">
            <a:solidFill>
              <a:srgbClr val="4A14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7040880" y="1691640"/>
            <a:ext cx="1920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4A14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4A14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(Too Late)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2377440" y="2103120"/>
            <a:ext cx="274320" cy="0"/>
          </a:xfrm>
          <a:prstGeom prst="line">
            <a:avLst/>
          </a:prstGeom>
          <a:noFill/>
          <a:ln w="19050">
            <a:solidFill>
              <a:srgbClr val="56657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4572000" y="2103120"/>
            <a:ext cx="274320" cy="0"/>
          </a:xfrm>
          <a:prstGeom prst="line">
            <a:avLst/>
          </a:prstGeom>
          <a:noFill/>
          <a:ln w="19050">
            <a:solidFill>
              <a:srgbClr val="56657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6766560" y="2103120"/>
            <a:ext cx="274320" cy="0"/>
          </a:xfrm>
          <a:prstGeom prst="line">
            <a:avLst/>
          </a:prstGeom>
          <a:noFill/>
          <a:ln w="19050">
            <a:solidFill>
              <a:srgbClr val="56657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solidFill>
            <a:srgbClr val="003087"/>
          </a:solidFill>
          <a:ln w="12700">
            <a:solidFill>
              <a:srgbClr val="00308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SYSTEM  (Proactive — This Work)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57200" y="3154680"/>
            <a:ext cx="1920240" cy="822960"/>
          </a:xfrm>
          <a:prstGeom prst="rect">
            <a:avLst/>
          </a:prstGeom>
          <a:solidFill>
            <a:srgbClr val="E3F2FD"/>
          </a:solidFill>
          <a:ln w="12700">
            <a:solidFill>
              <a:srgbClr val="1565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457200" y="3154680"/>
            <a:ext cx="1920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 OK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2651760" y="3154680"/>
            <a:ext cx="1920240" cy="822960"/>
          </a:xfrm>
          <a:prstGeom prst="rect">
            <a:avLst/>
          </a:prstGeom>
          <a:solidFill>
            <a:srgbClr val="E0F2F1"/>
          </a:solidFill>
          <a:ln w="12700">
            <a:solidFill>
              <a:srgbClr val="0069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2651760" y="3154680"/>
            <a:ext cx="1920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6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Predicts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006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30s Ahead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846320" y="3154680"/>
            <a:ext cx="1920240" cy="822960"/>
          </a:xfrm>
          <a:prstGeom prst="rect">
            <a:avLst/>
          </a:prstGeom>
          <a:solidFill>
            <a:srgbClr val="E8F5E9"/>
          </a:solidFill>
          <a:ln w="1270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4846320" y="3154680"/>
            <a:ext cx="1920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 Weights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Adjusted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7040880" y="3154680"/>
            <a:ext cx="1920240" cy="822960"/>
          </a:xfrm>
          <a:prstGeom prst="rect">
            <a:avLst/>
          </a:prstGeom>
          <a:solidFill>
            <a:srgbClr val="F1F8E9"/>
          </a:solidFill>
          <a:ln w="12700">
            <a:solidFill>
              <a:srgbClr val="1B5E2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7040880" y="3154680"/>
            <a:ext cx="1920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Smooth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Navigation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2377440" y="3566160"/>
            <a:ext cx="274320" cy="0"/>
          </a:xfrm>
          <a:prstGeom prst="line">
            <a:avLst/>
          </a:prstGeom>
          <a:noFill/>
          <a:ln w="19050">
            <a:solidFill>
              <a:srgbClr val="56657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4572000" y="3566160"/>
            <a:ext cx="274320" cy="0"/>
          </a:xfrm>
          <a:prstGeom prst="line">
            <a:avLst/>
          </a:prstGeom>
          <a:noFill/>
          <a:ln w="19050">
            <a:solidFill>
              <a:srgbClr val="56657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6766560" y="3566160"/>
            <a:ext cx="274320" cy="0"/>
          </a:xfrm>
          <a:prstGeom prst="line">
            <a:avLst/>
          </a:prstGeom>
          <a:noFill/>
          <a:ln w="19050">
            <a:solidFill>
              <a:srgbClr val="56657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457200" y="42062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400" i="1" dirty="0">
                <a:solidFill>
                  <a:srgbClr val="2E86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60 km/h, a 30-second prediction window provides 500 metres of advance notice — enough for safe, graduated navigation adjustment.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03087"/>
          </a:solidFill>
          <a:ln w="12700">
            <a:solidFill>
              <a:srgbClr val="00308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7680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Contributions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0" y="0"/>
            <a:ext cx="8778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4846320"/>
            <a:ext cx="8229600" cy="27432"/>
          </a:xfrm>
          <a:prstGeom prst="rect">
            <a:avLst/>
          </a:prstGeom>
          <a:solidFill>
            <a:srgbClr val="AED6F1"/>
          </a:solidFill>
          <a:ln w="12700">
            <a:solidFill>
              <a:srgbClr val="AED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57200" y="868680"/>
            <a:ext cx="502920" cy="640080"/>
          </a:xfrm>
          <a:prstGeom prst="rect">
            <a:avLst/>
          </a:prstGeom>
          <a:solidFill>
            <a:srgbClr val="003087"/>
          </a:solidFill>
          <a:ln w="12700">
            <a:solidFill>
              <a:srgbClr val="00308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57200" y="86868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097280" y="868680"/>
            <a:ext cx="7498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3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Multi-Horizon Simultaneous Prediction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97280" y="1161288"/>
            <a:ext cx="7498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 GNSS degradation at 5 s, 15 s, and 30 s simultaneously from a single forward pass — enabling graduated autonomous vehicle response.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1828800"/>
            <a:ext cx="502920" cy="640080"/>
          </a:xfrm>
          <a:prstGeom prst="rect">
            <a:avLst/>
          </a:prstGeom>
          <a:solidFill>
            <a:srgbClr val="003087"/>
          </a:solidFill>
          <a:ln w="12700">
            <a:solidFill>
              <a:srgbClr val="00308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57200" y="182880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097280" y="1828800"/>
            <a:ext cx="7498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3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Cross-Satellite Attention Mechanism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97280" y="2121408"/>
            <a:ext cx="7498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Transformer encoder learns relationships between satellites in real time — the first application of cross-satellite attention to GNSS quality prediction.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7200" y="2788920"/>
            <a:ext cx="502920" cy="640080"/>
          </a:xfrm>
          <a:prstGeom prst="rect">
            <a:avLst/>
          </a:prstGeom>
          <a:solidFill>
            <a:srgbClr val="003087"/>
          </a:solidFill>
          <a:ln w="12700">
            <a:solidFill>
              <a:srgbClr val="00308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457200" y="278892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1097280" y="2788920"/>
            <a:ext cx="7498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3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Multi-Platform, Cross-Geography Generalisation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097280" y="3081528"/>
            <a:ext cx="7498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Trained on vehicle, drone, and cart data; tested without retraining on public datasets from Hong Kong (UrbanNav) and Korea (KAIST).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57200" y="3749040"/>
            <a:ext cx="502920" cy="640080"/>
          </a:xfrm>
          <a:prstGeom prst="rect">
            <a:avLst/>
          </a:prstGeom>
          <a:solidFill>
            <a:srgbClr val="003087"/>
          </a:solidFill>
          <a:ln w="12700">
            <a:solidFill>
              <a:srgbClr val="00308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457200" y="374904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1097280" y="3749040"/>
            <a:ext cx="7498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3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Proactive Sensor Fusion Adaptation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097280" y="4041648"/>
            <a:ext cx="7498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dynamic EKF adjusts GNSS observation noise covariance before degradation arrives, based on the model's prediction output.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03087"/>
          </a:solidFill>
          <a:ln w="12700">
            <a:solidFill>
              <a:srgbClr val="00308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7680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Sources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0" y="0"/>
            <a:ext cx="8778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4965192"/>
            <a:ext cx="8229600" cy="27432"/>
          </a:xfrm>
          <a:prstGeom prst="rect">
            <a:avLst/>
          </a:prstGeom>
          <a:solidFill>
            <a:srgbClr val="AED6F1"/>
          </a:solidFill>
          <a:ln w="12700">
            <a:solidFill>
              <a:srgbClr val="AED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57200" y="7772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6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complementary data platforms — supervisor-provided and self-collected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188720"/>
            <a:ext cx="2651760" cy="3246120"/>
          </a:xfrm>
          <a:prstGeom prst="rect">
            <a:avLst/>
          </a:prstGeom>
          <a:solidFill>
            <a:srgbClr val="D6EAF8"/>
          </a:solidFill>
          <a:ln w="12700">
            <a:solidFill>
              <a:srgbClr val="AED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2651760" cy="457200"/>
          </a:xfrm>
          <a:prstGeom prst="rect">
            <a:avLst/>
          </a:prstGeom>
          <a:solidFill>
            <a:srgbClr val="003087"/>
          </a:solidFill>
          <a:ln w="12700">
            <a:solidFill>
              <a:srgbClr val="00308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57200" y="118872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 Vehicle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10606" y="1747698"/>
            <a:ext cx="248862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6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Urban / Suburban  ·  0–80 km/h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66928" y="2003730"/>
            <a:ext cx="2432304" cy="147099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200000"/>
              </a:lnSpc>
              <a:buSzPct val="100000"/>
              <a:buChar char="•"/>
            </a:pPr>
            <a:r>
              <a:rPr lang="en-US" sz="11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ROSBAG format</a:t>
            </a:r>
            <a:endParaRPr lang="en-US" sz="1100" dirty="0"/>
          </a:p>
          <a:p>
            <a:pPr marL="342900" indent="-342900">
              <a:lnSpc>
                <a:spcPct val="200000"/>
              </a:lnSpc>
              <a:buSzPct val="100000"/>
              <a:buChar char="•"/>
            </a:pPr>
            <a:r>
              <a:rPr lang="en-US" sz="11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Multipath from buildings</a:t>
            </a:r>
            <a:endParaRPr lang="en-US" sz="1100" dirty="0"/>
          </a:p>
          <a:p>
            <a:pPr marL="342900" indent="-342900">
              <a:lnSpc>
                <a:spcPct val="200000"/>
              </a:lnSpc>
              <a:buSzPct val="100000"/>
              <a:buChar char="•"/>
            </a:pPr>
            <a:r>
              <a:rPr lang="en-US" sz="11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Tunnel &amp; underpass blockage</a:t>
            </a:r>
            <a:endParaRPr lang="en-US" sz="1100" dirty="0"/>
          </a:p>
          <a:p>
            <a:pPr marL="342900" indent="-342900">
              <a:lnSpc>
                <a:spcPct val="200000"/>
              </a:lnSpc>
              <a:buSzPct val="100000"/>
              <a:buChar char="•"/>
            </a:pPr>
            <a:r>
              <a:rPr lang="en-US" sz="11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AV context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66928" y="4114800"/>
            <a:ext cx="2432304" cy="256032"/>
          </a:xfrm>
          <a:prstGeom prst="rect">
            <a:avLst/>
          </a:prstGeom>
          <a:solidFill>
            <a:srgbClr val="D5F5E3"/>
          </a:solidFill>
          <a:ln w="12700">
            <a:solidFill>
              <a:srgbClr val="27AE6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566928" y="4114800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Data acquired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291840" y="1188720"/>
            <a:ext cx="2651760" cy="3246120"/>
          </a:xfrm>
          <a:prstGeom prst="rect">
            <a:avLst/>
          </a:prstGeom>
          <a:solidFill>
            <a:srgbClr val="D6EAF8"/>
          </a:solidFill>
          <a:ln w="12700">
            <a:solidFill>
              <a:srgbClr val="AED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3291840" y="1188720"/>
            <a:ext cx="2651760" cy="457200"/>
          </a:xfrm>
          <a:prstGeom prst="rect">
            <a:avLst/>
          </a:prstGeom>
          <a:solidFill>
            <a:srgbClr val="003087"/>
          </a:solidFill>
          <a:ln w="12700">
            <a:solidFill>
              <a:srgbClr val="00308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3291840" y="118872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Drone / UAV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3401568" y="1747698"/>
            <a:ext cx="243230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6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Aerial  ·  0–20 m/s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3401568" y="1977555"/>
            <a:ext cx="2432304" cy="1447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200000"/>
              </a:lnSpc>
              <a:buSzPct val="100000"/>
              <a:buChar char="•"/>
            </a:pPr>
            <a:r>
              <a:rPr lang="en-US" sz="11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ROSBAG / RINEX</a:t>
            </a:r>
            <a:endParaRPr lang="en-US" sz="1100" dirty="0"/>
          </a:p>
          <a:p>
            <a:pPr marL="342900" indent="-342900">
              <a:lnSpc>
                <a:spcPct val="200000"/>
              </a:lnSpc>
              <a:buSzPct val="100000"/>
              <a:buChar char="•"/>
            </a:pPr>
            <a:r>
              <a:rPr lang="en-US" sz="11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Open-sky clean baseline</a:t>
            </a:r>
            <a:endParaRPr lang="en-US" sz="1100" dirty="0"/>
          </a:p>
          <a:p>
            <a:pPr marL="342900" indent="-342900">
              <a:lnSpc>
                <a:spcPct val="200000"/>
              </a:lnSpc>
              <a:buSzPct val="100000"/>
              <a:buChar char="•"/>
            </a:pPr>
            <a:r>
              <a:rPr lang="en-US" sz="11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Healthy signal reference</a:t>
            </a:r>
            <a:endParaRPr lang="en-US" sz="1100" dirty="0"/>
          </a:p>
          <a:p>
            <a:pPr marL="342900" indent="-342900">
              <a:lnSpc>
                <a:spcPct val="200000"/>
              </a:lnSpc>
              <a:buSzPct val="100000"/>
              <a:buChar char="•"/>
            </a:pPr>
            <a:r>
              <a:rPr lang="en-US" sz="11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Processed via RTKLIB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401568" y="4114800"/>
            <a:ext cx="2432304" cy="256032"/>
          </a:xfrm>
          <a:prstGeom prst="rect">
            <a:avLst/>
          </a:prstGeom>
          <a:solidFill>
            <a:srgbClr val="D5F5E3"/>
          </a:solidFill>
          <a:ln w="12700">
            <a:solidFill>
              <a:srgbClr val="27AE6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3401568" y="4114800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Data acquired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126480" y="1202436"/>
            <a:ext cx="2651760" cy="3246120"/>
          </a:xfrm>
          <a:prstGeom prst="rect">
            <a:avLst/>
          </a:prstGeom>
          <a:solidFill>
            <a:srgbClr val="D6EAF8"/>
          </a:solidFill>
          <a:ln w="12700">
            <a:solidFill>
              <a:srgbClr val="AED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6126480" y="1188720"/>
            <a:ext cx="2651760" cy="457200"/>
          </a:xfrm>
          <a:prstGeom prst="rect">
            <a:avLst/>
          </a:prstGeom>
          <a:solidFill>
            <a:srgbClr val="003087"/>
          </a:solidFill>
          <a:ln w="12700">
            <a:solidFill>
              <a:srgbClr val="00308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6126480" y="118872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Septentrio MOSAIC-X5C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236208" y="1753264"/>
            <a:ext cx="243230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6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Pedestrian  ·  Campus routes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236208" y="1977555"/>
            <a:ext cx="2432304" cy="140473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200000"/>
              </a:lnSpc>
              <a:buSzPct val="100000"/>
              <a:buChar char="•"/>
            </a:pPr>
            <a:r>
              <a:rPr lang="en-US" sz="11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5 scenarios collected</a:t>
            </a:r>
            <a:endParaRPr lang="en-US" sz="1100" dirty="0"/>
          </a:p>
          <a:p>
            <a:pPr marL="342900" indent="-342900">
              <a:lnSpc>
                <a:spcPct val="200000"/>
              </a:lnSpc>
              <a:buSzPct val="100000"/>
              <a:buChar char="•"/>
            </a:pPr>
            <a:r>
              <a:rPr lang="en-US" sz="11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Controlled degradation events</a:t>
            </a:r>
            <a:endParaRPr lang="en-US" sz="1100" dirty="0"/>
          </a:p>
          <a:p>
            <a:pPr marL="342900" indent="-342900">
              <a:lnSpc>
                <a:spcPct val="200000"/>
              </a:lnSpc>
              <a:buSzPct val="100000"/>
              <a:buChar char="•"/>
            </a:pPr>
            <a:r>
              <a:rPr lang="en-US" sz="11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Fully repeatable routes</a:t>
            </a:r>
            <a:endParaRPr lang="en-US" sz="1100" dirty="0"/>
          </a:p>
          <a:p>
            <a:pPr marL="342900" indent="-342900">
              <a:lnSpc>
                <a:spcPct val="200000"/>
              </a:lnSpc>
              <a:buSzPct val="100000"/>
              <a:buChar char="•"/>
            </a:pPr>
            <a:r>
              <a:rPr lang="en-US" sz="11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RINEX output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36208" y="4114800"/>
            <a:ext cx="2432304" cy="2560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rgbClr val="27AE6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6236208" y="4114800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Collected (May 2026)</a:t>
            </a:r>
            <a:endParaRPr lang="en-US" sz="1000" dirty="0">
              <a:solidFill>
                <a:srgbClr val="FF0000"/>
              </a:solidFill>
            </a:endParaRPr>
          </a:p>
        </p:txBody>
      </p:sp>
      <p:sp>
        <p:nvSpPr>
          <p:cNvPr id="31" name="Text 29"/>
          <p:cNvSpPr/>
          <p:nvPr/>
        </p:nvSpPr>
        <p:spPr>
          <a:xfrm>
            <a:off x="438912" y="455371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6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Validation Datasets: UrbanNav (Hong Kong) ✔  ·  KAIST Urban (Korea) — awaiting delivery  ·  Oxford RobotCar ✔  ·  NCLT Michigan ✔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03087"/>
          </a:solidFill>
          <a:ln w="12700">
            <a:solidFill>
              <a:srgbClr val="00308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7680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Collection — 5 Controlled Scenarios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0" y="0"/>
            <a:ext cx="8778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4846320"/>
            <a:ext cx="8229600" cy="27432"/>
          </a:xfrm>
          <a:prstGeom prst="rect">
            <a:avLst/>
          </a:prstGeom>
          <a:solidFill>
            <a:srgbClr val="AED6F1"/>
          </a:solidFill>
          <a:ln w="12700">
            <a:solidFill>
              <a:srgbClr val="AED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57200" y="74980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6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scenario isolates one degradation type, producing a scientifically labelled dataset.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161288"/>
            <a:ext cx="457200" cy="530352"/>
          </a:xfrm>
          <a:prstGeom prst="rect">
            <a:avLst/>
          </a:prstGeom>
          <a:solidFill>
            <a:srgbClr val="003087"/>
          </a:solidFill>
          <a:ln w="12700">
            <a:solidFill>
              <a:srgbClr val="00308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57200" y="1161288"/>
            <a:ext cx="457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51560" y="1161288"/>
            <a:ext cx="75895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3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Sky → Complete Blockage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51560" y="1417320"/>
            <a:ext cx="7589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Carpark → underground entrance. Captures rapid satellite count drop from 10+ to 0–4.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1874520"/>
            <a:ext cx="457200" cy="530352"/>
          </a:xfrm>
          <a:prstGeom prst="rect">
            <a:avLst/>
          </a:prstGeom>
          <a:solidFill>
            <a:srgbClr val="003087"/>
          </a:solidFill>
          <a:ln w="12700">
            <a:solidFill>
              <a:srgbClr val="00308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57200" y="1874520"/>
            <a:ext cx="457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051560" y="1874520"/>
            <a:ext cx="75895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3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Urban Canyon Multipath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51560" y="2130552"/>
            <a:ext cx="7589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Narrow corridor between buildings. Captures carrier phase noise on low-elevation satellites without full signal loss.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2587752"/>
            <a:ext cx="457200" cy="530352"/>
          </a:xfrm>
          <a:prstGeom prst="rect">
            <a:avLst/>
          </a:prstGeom>
          <a:solidFill>
            <a:srgbClr val="003087"/>
          </a:solidFill>
          <a:ln w="12700">
            <a:solidFill>
              <a:srgbClr val="00308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57200" y="2587752"/>
            <a:ext cx="457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051560" y="2587752"/>
            <a:ext cx="75895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3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 Obstruction (Foliage)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051560" y="2843784"/>
            <a:ext cx="7589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Tree canopy / covered walkway. Captures intermittent, stochastic signal degradation.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" y="3300984"/>
            <a:ext cx="457200" cy="530352"/>
          </a:xfrm>
          <a:prstGeom prst="rect">
            <a:avLst/>
          </a:prstGeom>
          <a:solidFill>
            <a:srgbClr val="003087"/>
          </a:solidFill>
          <a:ln w="12700">
            <a:solidFill>
              <a:srgbClr val="00308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457200" y="3300984"/>
            <a:ext cx="457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051560" y="3300984"/>
            <a:ext cx="75895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3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Sky Baseline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51560" y="3557016"/>
            <a:ext cx="7589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field with unobstructed 360° sky view. Provides the CLEAN class reference for the classifier.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57200" y="4014216"/>
            <a:ext cx="457200" cy="530352"/>
          </a:xfrm>
          <a:prstGeom prst="rect">
            <a:avLst/>
          </a:prstGeom>
          <a:solidFill>
            <a:srgbClr val="003087"/>
          </a:solidFill>
          <a:ln w="12700">
            <a:solidFill>
              <a:srgbClr val="00308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457200" y="4014216"/>
            <a:ext cx="457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1051560" y="4014216"/>
            <a:ext cx="75895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3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Gradual Degradation Transition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1051560" y="4270248"/>
            <a:ext cx="7589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 toward building face; captures satellite count dropping one at a time — directly trains the pre-degradation ramp-up period.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A788E6-EEB4-AEE3-6405-C342D46797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554BDE42-35EC-AB19-86AE-0F1E646E56BE}"/>
              </a:ext>
            </a:extLst>
          </p:cNvPr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03087"/>
          </a:solidFill>
          <a:ln w="12700">
            <a:solidFill>
              <a:srgbClr val="00308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200F6773-9D8D-24A6-77AE-C59891D57618}"/>
              </a:ext>
            </a:extLst>
          </p:cNvPr>
          <p:cNvSpPr/>
          <p:nvPr/>
        </p:nvSpPr>
        <p:spPr>
          <a:xfrm>
            <a:off x="457200" y="0"/>
            <a:ext cx="7680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Collection — 5 Controlled Scenarios</a:t>
            </a:r>
            <a:endParaRPr lang="en-US" sz="22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18D22E51-0DD1-1BB7-B3B3-56F2DF7599D1}"/>
              </a:ext>
            </a:extLst>
          </p:cNvPr>
          <p:cNvSpPr/>
          <p:nvPr/>
        </p:nvSpPr>
        <p:spPr>
          <a:xfrm>
            <a:off x="0" y="0"/>
            <a:ext cx="8778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endParaRPr lang="en-US" sz="1000" dirty="0"/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B5DADA93-8C5C-C73D-A265-EB1C90BEB6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0358" y="788062"/>
            <a:ext cx="6629400" cy="41980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826184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03087"/>
          </a:solidFill>
          <a:ln w="12700">
            <a:solidFill>
              <a:srgbClr val="00308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7680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Processing Pipeline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0" y="0"/>
            <a:ext cx="8778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4846320"/>
            <a:ext cx="8229600" cy="27432"/>
          </a:xfrm>
          <a:prstGeom prst="rect">
            <a:avLst/>
          </a:prstGeom>
          <a:solidFill>
            <a:srgbClr val="AED6F1"/>
          </a:solidFill>
          <a:ln w="12700">
            <a:solidFill>
              <a:srgbClr val="AED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57200" y="758952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6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platforms pass through the same six-step pipeline — ensuring model learns signal physics, not processing artefacts.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161288"/>
            <a:ext cx="8229600" cy="530352"/>
          </a:xfrm>
          <a:prstGeom prst="rect">
            <a:avLst/>
          </a:prstGeom>
          <a:solidFill>
            <a:srgbClr val="D6EAF8"/>
          </a:solidFill>
          <a:ln w="12700">
            <a:solidFill>
              <a:srgbClr val="AED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457200" y="1161288"/>
            <a:ext cx="438912" cy="530352"/>
          </a:xfrm>
          <a:prstGeom prst="rect">
            <a:avLst/>
          </a:prstGeom>
          <a:solidFill>
            <a:srgbClr val="003087"/>
          </a:solidFill>
          <a:ln w="12700">
            <a:solidFill>
              <a:srgbClr val="00308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57200" y="1161288"/>
            <a:ext cx="43891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005840" y="1197864"/>
            <a:ext cx="1920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3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ROSBAG Extraction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017520" y="1216152"/>
            <a:ext cx="5577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script extracts GNSS topics (/fix, /gnss) from .bag files → CSV with timestamps, position, SNR per satellite.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1773936"/>
            <a:ext cx="8229600" cy="530352"/>
          </a:xfrm>
          <a:prstGeom prst="rect">
            <a:avLst/>
          </a:prstGeom>
          <a:solidFill>
            <a:srgbClr val="EBF5FB"/>
          </a:solidFill>
          <a:ln w="12700">
            <a:solidFill>
              <a:srgbClr val="AED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457200" y="1773936"/>
            <a:ext cx="438912" cy="530352"/>
          </a:xfrm>
          <a:prstGeom prst="rect">
            <a:avLst/>
          </a:prstGeom>
          <a:solidFill>
            <a:srgbClr val="003087"/>
          </a:solidFill>
          <a:ln w="12700">
            <a:solidFill>
              <a:srgbClr val="00308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57200" y="1773936"/>
            <a:ext cx="43891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005840" y="1810512"/>
            <a:ext cx="1920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3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RINEX Conversion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017520" y="1828800"/>
            <a:ext cx="5577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RTKCONV converts all sources to RINEX 3.x observation format — the universal standard.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2386584"/>
            <a:ext cx="8229600" cy="530352"/>
          </a:xfrm>
          <a:prstGeom prst="rect">
            <a:avLst/>
          </a:prstGeom>
          <a:solidFill>
            <a:srgbClr val="D6EAF8"/>
          </a:solidFill>
          <a:ln w="12700">
            <a:solidFill>
              <a:srgbClr val="AED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457200" y="2386584"/>
            <a:ext cx="438912" cy="530352"/>
          </a:xfrm>
          <a:prstGeom prst="rect">
            <a:avLst/>
          </a:prstGeom>
          <a:solidFill>
            <a:srgbClr val="003087"/>
          </a:solidFill>
          <a:ln w="12700">
            <a:solidFill>
              <a:srgbClr val="00308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457200" y="2386584"/>
            <a:ext cx="43891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005840" y="2423160"/>
            <a:ext cx="1920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3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RTKLIB Post-Processing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3017520" y="2441448"/>
            <a:ext cx="5577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RTKPOST applies IGS precise orbits, Saastamoinen troposphere, Klobuchar ionosphere models → high-accuracy reference positions.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57200" y="2999232"/>
            <a:ext cx="8229600" cy="530352"/>
          </a:xfrm>
          <a:prstGeom prst="rect">
            <a:avLst/>
          </a:prstGeom>
          <a:solidFill>
            <a:srgbClr val="EBF5FB"/>
          </a:solidFill>
          <a:ln w="12700">
            <a:solidFill>
              <a:srgbClr val="AED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457200" y="2999232"/>
            <a:ext cx="438912" cy="530352"/>
          </a:xfrm>
          <a:prstGeom prst="rect">
            <a:avLst/>
          </a:prstGeom>
          <a:solidFill>
            <a:srgbClr val="003087"/>
          </a:solidFill>
          <a:ln w="12700">
            <a:solidFill>
              <a:srgbClr val="00308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457200" y="2999232"/>
            <a:ext cx="43891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1005840" y="3035808"/>
            <a:ext cx="1920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3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Ground-Truth Labelling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3017520" y="3054096"/>
            <a:ext cx="5577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classes per epoch — CLEAN (error &lt;2m, C/N0 &gt;35 dB-Hz), WARNING, DEGRADED (error &gt;5m or C/N0 &lt;30 dB-Hz or SV count &lt;4).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57200" y="3611880"/>
            <a:ext cx="8229600" cy="530352"/>
          </a:xfrm>
          <a:prstGeom prst="rect">
            <a:avLst/>
          </a:prstGeom>
          <a:solidFill>
            <a:srgbClr val="D6EAF8"/>
          </a:solidFill>
          <a:ln w="12700">
            <a:solidFill>
              <a:srgbClr val="AED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457200" y="3611880"/>
            <a:ext cx="438912" cy="530352"/>
          </a:xfrm>
          <a:prstGeom prst="rect">
            <a:avLst/>
          </a:prstGeom>
          <a:solidFill>
            <a:srgbClr val="003087"/>
          </a:solidFill>
          <a:ln w="12700">
            <a:solidFill>
              <a:srgbClr val="00308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457200" y="3611880"/>
            <a:ext cx="43891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1005840" y="3648456"/>
            <a:ext cx="1920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3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Extraction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3017520" y="3666744"/>
            <a:ext cx="5577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 features per epoch. Z-score normalised on training data only. Sliding 30-second window → predict at 5s, 15s, 30s ahead.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457200" y="4224528"/>
            <a:ext cx="8229600" cy="530352"/>
          </a:xfrm>
          <a:prstGeom prst="rect">
            <a:avLst/>
          </a:prstGeom>
          <a:solidFill>
            <a:srgbClr val="EBF5FB"/>
          </a:solidFill>
          <a:ln w="12700">
            <a:solidFill>
              <a:srgbClr val="AED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457200" y="4224528"/>
            <a:ext cx="438912" cy="530352"/>
          </a:xfrm>
          <a:prstGeom prst="rect">
            <a:avLst/>
          </a:prstGeom>
          <a:solidFill>
            <a:srgbClr val="003087"/>
          </a:solidFill>
          <a:ln w="12700">
            <a:solidFill>
              <a:srgbClr val="00308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457200" y="4224528"/>
            <a:ext cx="43891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1005840" y="4261104"/>
            <a:ext cx="1920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3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Assembly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3017520" y="4279392"/>
            <a:ext cx="5577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Temporal train/val/test split (70/15/15). Public datasets reserved for cross-geography evaluation only.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03087"/>
          </a:solidFill>
          <a:ln w="12700">
            <a:solidFill>
              <a:srgbClr val="00308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7680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Engineering — 35 Input Variables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0" y="0"/>
            <a:ext cx="8778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4846320"/>
            <a:ext cx="8229600" cy="27432"/>
          </a:xfrm>
          <a:prstGeom prst="rect">
            <a:avLst/>
          </a:prstGeom>
          <a:solidFill>
            <a:srgbClr val="AED6F1"/>
          </a:solidFill>
          <a:ln w="12700">
            <a:solidFill>
              <a:srgbClr val="AED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57200" y="758952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6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features computed per epoch (1 Hz) from RTKLIB output — no additional hardware required.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143000"/>
            <a:ext cx="8229600" cy="594360"/>
          </a:xfrm>
          <a:prstGeom prst="rect">
            <a:avLst/>
          </a:prstGeom>
          <a:solidFill>
            <a:srgbClr val="D6EAF8"/>
          </a:solidFill>
          <a:ln w="12700">
            <a:solidFill>
              <a:srgbClr val="AED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94360" y="1258691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3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 Quality (8 features)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429000" y="1156716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&amp; minimum C/N0 across satellites  ·  Std deviation &amp; rate of change of C/N0  ·  Mean carrier-phase lock time  ·  Cycle slip event count per epoch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1874520"/>
            <a:ext cx="8229600" cy="594360"/>
          </a:xfrm>
          <a:prstGeom prst="rect">
            <a:avLst/>
          </a:prstGeom>
          <a:solidFill>
            <a:srgbClr val="EBF5FB"/>
          </a:solidFill>
          <a:ln w="12700">
            <a:solidFill>
              <a:srgbClr val="AED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94360" y="204110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3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Satellite Geometry (8 features)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429000" y="1938528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Visible satellite count, GDOP, PDOP, HDOP, VDOP  ·  Elevation angles (lowest &amp; mean)  ·  Sky coverage ratio across 8 azimuth sectors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2606040"/>
            <a:ext cx="8229600" cy="594360"/>
          </a:xfrm>
          <a:prstGeom prst="rect">
            <a:avLst/>
          </a:prstGeom>
          <a:solidFill>
            <a:srgbClr val="D6EAF8"/>
          </a:solidFill>
          <a:ln w="12700">
            <a:solidFill>
              <a:srgbClr val="AED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594360" y="2642616"/>
            <a:ext cx="27432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3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Pseudorange &amp; Carrier Phase (6 features)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429000" y="2670048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Pseudorange residual mean &amp; std deviation  ·  Multipath indicator (code-carrier divergence)  ·  Cycle slip count, carrier phase residual RMS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337560"/>
            <a:ext cx="8229600" cy="594360"/>
          </a:xfrm>
          <a:prstGeom prst="rect">
            <a:avLst/>
          </a:prstGeom>
          <a:solidFill>
            <a:srgbClr val="EBF5FB"/>
          </a:solidFill>
          <a:ln w="12700">
            <a:solidFill>
              <a:srgbClr val="AED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594360" y="3374136"/>
            <a:ext cx="2743200" cy="4846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3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Positioning Solution (4 features)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429000" y="3401568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Horizontal &amp; vertical positioning error  ·  Solution type (no-fix / single / float / fixed)  ·  Epochs since last fixed RTK solution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" y="4069080"/>
            <a:ext cx="8229600" cy="594360"/>
          </a:xfrm>
          <a:prstGeom prst="rect">
            <a:avLst/>
          </a:prstGeom>
          <a:solidFill>
            <a:srgbClr val="D6EAF8"/>
          </a:solidFill>
          <a:ln w="12700">
            <a:solidFill>
              <a:srgbClr val="AED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594360" y="4105655"/>
            <a:ext cx="2743200" cy="52597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3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Environmental &amp; Platform Context (9 features)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3429000" y="4133088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speed (Doppler), heading (degrees)  ·  Time of day, day of year (ionosphere proxies)  ·  Estimated sky obstruction index from 3D map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03087"/>
          </a:solidFill>
          <a:ln w="12700">
            <a:solidFill>
              <a:srgbClr val="00308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7680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Architecture — Five-Layer Pipeline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0" y="0"/>
            <a:ext cx="8778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4846320"/>
            <a:ext cx="8229600" cy="27432"/>
          </a:xfrm>
          <a:prstGeom prst="rect">
            <a:avLst/>
          </a:prstGeom>
          <a:solidFill>
            <a:srgbClr val="AED6F1"/>
          </a:solidFill>
          <a:ln w="12700">
            <a:solidFill>
              <a:srgbClr val="AED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57200" y="758952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6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GNSS signals enter at Layer 1 — reliable autonomous navigation decisions emerge at Layer 5.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152144"/>
            <a:ext cx="8229600" cy="594360"/>
          </a:xfrm>
          <a:prstGeom prst="rect">
            <a:avLst/>
          </a:prstGeom>
          <a:solidFill>
            <a:srgbClr val="F0F7FF"/>
          </a:solidFill>
          <a:ln w="12700">
            <a:solidFill>
              <a:srgbClr val="AED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457200" y="1152144"/>
            <a:ext cx="914400" cy="594360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57200" y="1152144"/>
            <a:ext cx="914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L1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508760" y="1197864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3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Multi-Platform Data Acquisition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508760" y="1453896"/>
            <a:ext cx="7040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Vehicle (ROSBAG)  ·  Drone (ROSBAG/RINEX)  ·  Cart (RINEX)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1874520"/>
            <a:ext cx="8229600" cy="594360"/>
          </a:xfrm>
          <a:prstGeom prst="rect">
            <a:avLst/>
          </a:prstGeom>
          <a:solidFill>
            <a:srgbClr val="F0F7FF"/>
          </a:solidFill>
          <a:ln w="12700">
            <a:solidFill>
              <a:srgbClr val="AED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457200" y="1874520"/>
            <a:ext cx="914400" cy="594360"/>
          </a:xfrm>
          <a:prstGeom prst="rect">
            <a:avLst/>
          </a:prstGeom>
          <a:solidFill>
            <a:srgbClr val="1F618D"/>
          </a:solidFill>
          <a:ln w="12700">
            <a:solidFill>
              <a:srgbClr val="1F618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57200" y="1874520"/>
            <a:ext cx="914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508760" y="1920240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3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Data Processing Pipeline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508760" y="2176272"/>
            <a:ext cx="7040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ROSBAG extract → RINEX → RTKLIB post-processing → Feature CSV → Labelled windows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2596896"/>
            <a:ext cx="8229600" cy="594360"/>
          </a:xfrm>
          <a:prstGeom prst="rect">
            <a:avLst/>
          </a:prstGeom>
          <a:solidFill>
            <a:srgbClr val="F0F7FF"/>
          </a:solidFill>
          <a:ln w="12700">
            <a:solidFill>
              <a:srgbClr val="AED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457200" y="2596896"/>
            <a:ext cx="914400" cy="594360"/>
          </a:xfrm>
          <a:prstGeom prst="rect">
            <a:avLst/>
          </a:prstGeom>
          <a:solidFill>
            <a:srgbClr val="2874A6"/>
          </a:solidFill>
          <a:ln w="12700">
            <a:solidFill>
              <a:srgbClr val="2874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457200" y="2596896"/>
            <a:ext cx="914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L3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508760" y="2642616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3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Prediction Engine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508760" y="2898648"/>
            <a:ext cx="7040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Transformer-LSTM: 30 s input window → 5 s / 15 s / 30 s degradation probability output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57200" y="3319272"/>
            <a:ext cx="8229600" cy="594360"/>
          </a:xfrm>
          <a:prstGeom prst="rect">
            <a:avLst/>
          </a:prstGeom>
          <a:solidFill>
            <a:srgbClr val="F0F7FF"/>
          </a:solidFill>
          <a:ln w="12700">
            <a:solidFill>
              <a:srgbClr val="AED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457200" y="3319272"/>
            <a:ext cx="914400" cy="594360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457200" y="3319272"/>
            <a:ext cx="914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L4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508760" y="3364992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3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 Fusion Adaptation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1508760" y="3621024"/>
            <a:ext cx="7040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 EKF: GNSS noise covariance R scaled by model's 5 s degradation probability P_deg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57200" y="4041648"/>
            <a:ext cx="8229600" cy="594360"/>
          </a:xfrm>
          <a:prstGeom prst="rect">
            <a:avLst/>
          </a:prstGeom>
          <a:solidFill>
            <a:srgbClr val="F0F7FF"/>
          </a:solidFill>
          <a:ln w="12700">
            <a:solidFill>
              <a:srgbClr val="AED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457200" y="4041648"/>
            <a:ext cx="914400" cy="594360"/>
          </a:xfrm>
          <a:prstGeom prst="rect">
            <a:avLst/>
          </a:prstGeom>
          <a:solidFill>
            <a:srgbClr val="3498DB"/>
          </a:solidFill>
          <a:ln w="12700">
            <a:solidFill>
              <a:srgbClr val="3498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457200" y="4041648"/>
            <a:ext cx="914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L5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1508760" y="4087368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3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Monitoring Interface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1508760" y="4343400"/>
            <a:ext cx="7040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Dash / React  ·  5 panels  ·  1 Hz update  ·  &lt; 100 ms end-to-end latency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03087"/>
          </a:solidFill>
          <a:ln w="12700">
            <a:solidFill>
              <a:srgbClr val="00308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7680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Model — Transformer-LSTM Hybrid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0" y="0"/>
            <a:ext cx="8778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4846320"/>
            <a:ext cx="8229600" cy="27432"/>
          </a:xfrm>
          <a:prstGeom prst="rect">
            <a:avLst/>
          </a:prstGeom>
          <a:solidFill>
            <a:srgbClr val="AED6F1"/>
          </a:solidFill>
          <a:ln w="12700">
            <a:solidFill>
              <a:srgbClr val="AED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57200" y="758952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6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shape: (batch, 30 timesteps, 35 features)  →  Three simultaneous output heads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040296" y="1170432"/>
            <a:ext cx="1188720" cy="1371600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1040296" y="1170432"/>
            <a:ext cx="11887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(30 × 35)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2229016" y="1856232"/>
            <a:ext cx="201168" cy="0"/>
          </a:xfrm>
          <a:prstGeom prst="line">
            <a:avLst/>
          </a:prstGeom>
          <a:noFill/>
          <a:ln w="25400">
            <a:solidFill>
              <a:srgbClr val="2E86C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2430184" y="1170432"/>
            <a:ext cx="1737360" cy="1371600"/>
          </a:xfrm>
          <a:prstGeom prst="rect">
            <a:avLst/>
          </a:prstGeom>
          <a:solidFill>
            <a:srgbClr val="1F618D"/>
          </a:solidFill>
          <a:ln w="12700">
            <a:solidFill>
              <a:srgbClr val="1F618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2430184" y="1170432"/>
            <a:ext cx="17373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Transformer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Encoder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heads · d=64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layers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167544" y="1856232"/>
            <a:ext cx="201168" cy="0"/>
          </a:xfrm>
          <a:prstGeom prst="line">
            <a:avLst/>
          </a:prstGeom>
          <a:noFill/>
          <a:ln w="25400">
            <a:solidFill>
              <a:srgbClr val="2E86C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4368712" y="1170432"/>
            <a:ext cx="1737360" cy="1371600"/>
          </a:xfrm>
          <a:prstGeom prst="rect">
            <a:avLst/>
          </a:prstGeom>
          <a:solidFill>
            <a:srgbClr val="2874A6"/>
          </a:solidFill>
          <a:ln w="12700">
            <a:solidFill>
              <a:srgbClr val="2874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368712" y="1170432"/>
            <a:ext cx="17373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LSTM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Decoder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layers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hidden=128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106072" y="1856232"/>
            <a:ext cx="201168" cy="0"/>
          </a:xfrm>
          <a:prstGeom prst="line">
            <a:avLst/>
          </a:prstGeom>
          <a:noFill/>
          <a:ln w="25400">
            <a:solidFill>
              <a:srgbClr val="2E86C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6307240" y="1170432"/>
            <a:ext cx="1920240" cy="1371600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6307240" y="1170432"/>
            <a:ext cx="19202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Heads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5s · 15s · 30s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3-class softmax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457200" y="27889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3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Architectural Choices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3136392"/>
            <a:ext cx="8229600" cy="475488"/>
          </a:xfrm>
          <a:prstGeom prst="rect">
            <a:avLst/>
          </a:prstGeom>
          <a:solidFill>
            <a:srgbClr val="D6EAF8"/>
          </a:solidFill>
          <a:ln w="12700">
            <a:solidFill>
              <a:srgbClr val="AED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601384" y="3191256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3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Transformer?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2468880" y="3191256"/>
            <a:ext cx="6080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Multi-head attention learns cross-satellite relationships: blockage degrades satellites in a spatial sector simultaneously, distinguishable from single-satellite multipath.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57200" y="3703320"/>
            <a:ext cx="8229600" cy="475488"/>
          </a:xfrm>
          <a:prstGeom prst="rect">
            <a:avLst/>
          </a:prstGeom>
          <a:solidFill>
            <a:srgbClr val="D6EAF8"/>
          </a:solidFill>
          <a:ln w="12700">
            <a:solidFill>
              <a:srgbClr val="AED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594360" y="3739896"/>
            <a:ext cx="182880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3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LSTM Decoder?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2468880" y="3758184"/>
            <a:ext cx="6080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Sequential context capture; translates Transformer output into per-horizon degradation probability vectors efficiently.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57200" y="4270248"/>
            <a:ext cx="8229600" cy="475488"/>
          </a:xfrm>
          <a:prstGeom prst="rect">
            <a:avLst/>
          </a:prstGeom>
          <a:solidFill>
            <a:srgbClr val="D6EAF8"/>
          </a:solidFill>
          <a:ln w="12700">
            <a:solidFill>
              <a:srgbClr val="AED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594360" y="4306824"/>
            <a:ext cx="18288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3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3 Horizons?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2468880" y="4325112"/>
            <a:ext cx="6080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s → sensor weight adjustment  |  15 s → route planning update  |  5 s → emergency navigation response.  All from a single forward pass.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03087"/>
          </a:solidFill>
          <a:ln w="12700">
            <a:solidFill>
              <a:srgbClr val="00308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7680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Protocol &amp; Class Imbalance Handling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0" y="0"/>
            <a:ext cx="8778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5070348"/>
            <a:ext cx="8229600" cy="27432"/>
          </a:xfrm>
          <a:prstGeom prst="rect">
            <a:avLst/>
          </a:prstGeom>
          <a:solidFill>
            <a:srgbClr val="AED6F1"/>
          </a:solidFill>
          <a:ln w="12700">
            <a:solidFill>
              <a:srgbClr val="AED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57200" y="758952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6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design decisions that prevent naive high accuracy while achieving meaningful degradation detection.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1430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3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Temporal Data Splits (never random shuffle — adjacent epochs are correlated)</a:t>
            </a:r>
            <a:endParaRPr lang="en-US" sz="13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63040"/>
          <a:ext cx="8229600" cy="1295400"/>
        </p:xfrm>
        <a:graphic>
          <a:graphicData uri="http://schemas.openxmlformats.org/drawingml/2006/table">
            <a:tbl>
              <a:tblPr/>
              <a:tblGrid>
                <a:gridCol w="1463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7548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Split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08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Proportion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08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Purpose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08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Training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Earliest data — all platforms, all scenarios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Middle time period — hyperparameter tuning &amp; early stopping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Most recent data — untouched until final evaluation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Cross-geo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 UrbanNav + KAIST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Never used in training — proves geographic generalisation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457200" y="29489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3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Imbalance Handling (~80% CLEAN / 15% WARNING / 5% DEGRADED)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7200" y="3287268"/>
            <a:ext cx="8229600" cy="502920"/>
          </a:xfrm>
          <a:prstGeom prst="rect">
            <a:avLst/>
          </a:prstGeom>
          <a:solidFill>
            <a:srgbClr val="D6EAF8"/>
          </a:solidFill>
          <a:ln w="12700">
            <a:solidFill>
              <a:srgbClr val="AED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457200" y="3287268"/>
            <a:ext cx="411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E86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960120" y="3323844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3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Focal Loss</a:t>
            </a:r>
            <a:endParaRPr lang="en-US" sz="1200" dirty="0"/>
          </a:p>
        </p:txBody>
      </p:sp>
      <p:sp>
        <p:nvSpPr>
          <p:cNvPr id="8" name="Text 10"/>
          <p:cNvSpPr/>
          <p:nvPr/>
        </p:nvSpPr>
        <p:spPr>
          <a:xfrm>
            <a:off x="960120" y="3543300"/>
            <a:ext cx="7589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Mathematically down-weights easy (clean) examples and focuses training gradient on hard (degraded) examples.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57200" y="3881628"/>
            <a:ext cx="8229600" cy="502920"/>
          </a:xfrm>
          <a:prstGeom prst="rect">
            <a:avLst/>
          </a:prstGeom>
          <a:solidFill>
            <a:srgbClr val="EBF5FB"/>
          </a:solidFill>
          <a:ln w="12700">
            <a:solidFill>
              <a:srgbClr val="AED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457200" y="3881628"/>
            <a:ext cx="411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E86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960120" y="3918204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3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SMOTE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960120" y="4137660"/>
            <a:ext cx="7589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Generates synthetic degraded epochs by interpolating between existing degraded examples — applied to training set only.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457200" y="4475988"/>
            <a:ext cx="8229600" cy="502920"/>
          </a:xfrm>
          <a:prstGeom prst="rect">
            <a:avLst/>
          </a:prstGeom>
          <a:solidFill>
            <a:srgbClr val="D6EAF8"/>
          </a:solidFill>
          <a:ln w="12700">
            <a:solidFill>
              <a:srgbClr val="AED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/>
          <p:nvPr/>
        </p:nvSpPr>
        <p:spPr>
          <a:xfrm>
            <a:off x="457200" y="4475988"/>
            <a:ext cx="411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E86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960120" y="4512564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3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Class-Weighted Loss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960120" y="4732020"/>
            <a:ext cx="7589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Multiplies loss for degraded class by a weight inversely proportional to its frequency (×20 if 5% of data).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03087"/>
          </a:solidFill>
          <a:ln w="12700">
            <a:solidFill>
              <a:srgbClr val="00308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7680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Strategy &amp; Metrics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0" y="0"/>
            <a:ext cx="8778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4846320"/>
            <a:ext cx="8229600" cy="27432"/>
          </a:xfrm>
          <a:prstGeom prst="rect">
            <a:avLst/>
          </a:prstGeom>
          <a:solidFill>
            <a:srgbClr val="AED6F1"/>
          </a:solidFill>
          <a:ln w="12700">
            <a:solidFill>
              <a:srgbClr val="AED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57200" y="67413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6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generalisation test types — in-distribution, cross-platform, cross-environment, cross-geography.</a:t>
            </a:r>
            <a:endParaRPr lang="en-US" sz="1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8290380"/>
              </p:ext>
            </p:extLst>
          </p:nvPr>
        </p:nvGraphicFramePr>
        <p:xfrm>
          <a:off x="457200" y="1059180"/>
          <a:ext cx="8229600" cy="2255520"/>
        </p:xfrm>
        <a:graphic>
          <a:graphicData uri="http://schemas.openxmlformats.org/drawingml/2006/table">
            <a:tbl>
              <a:tblPr/>
              <a:tblGrid>
                <a:gridCol w="3200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29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Metric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08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Why It Matters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08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Macro F1-Score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Balanced measure — prevents gaming by focussing only on majority class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Precision (per class)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 of false alarms — alerting system when signal is actually fine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Recall (per class)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 of missing a degradation event — safety-critical, must be high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AUC-ROC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Threshold-independent — shows full range of operating points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Prediction Lead Time (seconds)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Primary real-world value metric — more lead time = safer response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Navigation RMSE reduction (%)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Proves system improves actual navigation, not just classification accuracy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57200" y="33832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3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Models for Comparison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457200" y="3581401"/>
            <a:ext cx="8229600" cy="117944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Threshold-based SNR alarm  (simplest possible baseline — no temporal modelling)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 on hand-crafted features  (classic ML, no temporal modelling)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LSTM without attention  (removes the Transformer; shows attention adds value)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GNSS RAIM  (industry standard for detecting existing signal faults; beating its lead time is a key result)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03087"/>
          </a:solidFill>
          <a:ln w="12700">
            <a:solidFill>
              <a:srgbClr val="00308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7680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Ablation Studies — Every Component Earns Its Place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0" y="0"/>
            <a:ext cx="8778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4925834"/>
            <a:ext cx="8229600" cy="27432"/>
          </a:xfrm>
          <a:prstGeom prst="rect">
            <a:avLst/>
          </a:prstGeom>
          <a:solidFill>
            <a:srgbClr val="AED6F1"/>
          </a:solidFill>
          <a:ln w="12700">
            <a:solidFill>
              <a:srgbClr val="AED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57200" y="758952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6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Reviewers specifically look for ablations as evidence of rigorous scientific methodology.</a:t>
            </a:r>
            <a:endParaRPr lang="en-US" sz="12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43000"/>
          <a:ext cx="8229600" cy="2532888"/>
        </p:xfrm>
        <a:graphic>
          <a:graphicData uri="http://schemas.openxmlformats.org/drawingml/2006/table">
            <a:tbl>
              <a:tblPr/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Ablation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08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Is Removed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08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Proves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08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attention (LSTM only)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Transformer encoder → simple LSTM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Cross-satellite attention adds predictive value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Single-horizon (5 s only)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 s and 30 s output heads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Multi-horizon output improves overall performance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Geometry features only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signal quality features (C/N0, SNR)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Raw signal measurements are necessary, not just geometry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Vehicle data only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Drone and cart data excluded from training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Multi-platform training improves generalisation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SMOTE / focal loss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Standard cross-entropy, no oversampling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 imbalance handling is essential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57200" y="37490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56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ablations evaluated on the held-out test set. Results reported with 95% confidence intervals from 5-fold cross-validation.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457200" y="4075309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3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Generalisation Test Protocol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457200" y="4386205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115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on vehicle + drone → Test on cart  |  Train on urban data → Test on suburban  |  Test on UrbanNav (HK) + KAIST (KR) without retraining  |  Train on Month 1 → Test on Month 2</a:t>
            </a:r>
            <a:endParaRPr lang="en-US" sz="11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03087"/>
          </a:solidFill>
          <a:ln w="12700">
            <a:solidFill>
              <a:srgbClr val="00308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7680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Monitoring Interface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0" y="0"/>
            <a:ext cx="8778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4846320"/>
            <a:ext cx="8229600" cy="27432"/>
          </a:xfrm>
          <a:prstGeom prst="rect">
            <a:avLst/>
          </a:prstGeom>
          <a:solidFill>
            <a:srgbClr val="AED6F1"/>
          </a:solidFill>
          <a:ln w="12700">
            <a:solidFill>
              <a:srgbClr val="AED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57200" y="758952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6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display panels  ·  Python Dash / React  ·  1 Hz update  ·  &lt; 100 ms end-to-end latency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594360"/>
          </a:xfrm>
          <a:prstGeom prst="rect">
            <a:avLst/>
          </a:prstGeom>
          <a:solidFill>
            <a:srgbClr val="D6EAF8"/>
          </a:solidFill>
          <a:ln w="12700">
            <a:solidFill>
              <a:srgbClr val="AED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457200" y="1170432"/>
            <a:ext cx="658368" cy="594360"/>
          </a:xfrm>
          <a:prstGeom prst="rect">
            <a:avLst/>
          </a:prstGeom>
          <a:solidFill>
            <a:srgbClr val="003087"/>
          </a:solidFill>
          <a:ln w="12700">
            <a:solidFill>
              <a:srgbClr val="00308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57200" y="1170432"/>
            <a:ext cx="65836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234440" y="1207008"/>
            <a:ext cx="2194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3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Navigation Map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234440" y="1398104"/>
            <a:ext cx="7315200" cy="3392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Scrolling map centred on current position. GPS track colour-coded: green (clean), amber (warning), red (degraded). Position marker pulses on alert.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1892808"/>
            <a:ext cx="8229600" cy="594360"/>
          </a:xfrm>
          <a:prstGeom prst="rect">
            <a:avLst/>
          </a:prstGeom>
          <a:solidFill>
            <a:srgbClr val="EBF5FB"/>
          </a:solidFill>
          <a:ln w="12700">
            <a:solidFill>
              <a:srgbClr val="AED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457200" y="1892808"/>
            <a:ext cx="658368" cy="594360"/>
          </a:xfrm>
          <a:prstGeom prst="rect">
            <a:avLst/>
          </a:prstGeom>
          <a:solidFill>
            <a:srgbClr val="003087"/>
          </a:solidFill>
          <a:ln w="12700">
            <a:solidFill>
              <a:srgbClr val="00308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57200" y="1892808"/>
            <a:ext cx="65836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234440" y="1929384"/>
            <a:ext cx="2194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3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 Quality Monitor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234440" y="21854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Scrolling time series of mean C/N0 (threshold 30 dB-Hz), satellite count (min 4), PDOP (max 6). Individual satellite C/N0 shown as background traces.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2615184"/>
            <a:ext cx="8229600" cy="594360"/>
          </a:xfrm>
          <a:prstGeom prst="rect">
            <a:avLst/>
          </a:prstGeom>
          <a:solidFill>
            <a:srgbClr val="D6EAF8"/>
          </a:solidFill>
          <a:ln w="12700">
            <a:solidFill>
              <a:srgbClr val="AED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457200" y="2615184"/>
            <a:ext cx="658368" cy="594360"/>
          </a:xfrm>
          <a:prstGeom prst="rect">
            <a:avLst/>
          </a:prstGeom>
          <a:solidFill>
            <a:srgbClr val="003087"/>
          </a:solidFill>
          <a:ln w="12700">
            <a:solidFill>
              <a:srgbClr val="00308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457200" y="2615184"/>
            <a:ext cx="65836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P3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234440" y="2651760"/>
            <a:ext cx="2194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3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Prediction Display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234440" y="290779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semicircular gauges (5 s, 15 s, 30 s) showing degradation probability 0–100%. Status banner: NOMINAL / CAUTION / ALERT.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57200" y="3337560"/>
            <a:ext cx="8229600" cy="594360"/>
          </a:xfrm>
          <a:prstGeom prst="rect">
            <a:avLst/>
          </a:prstGeom>
          <a:solidFill>
            <a:srgbClr val="EBF5FB"/>
          </a:solidFill>
          <a:ln w="12700">
            <a:solidFill>
              <a:srgbClr val="AED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457200" y="3337560"/>
            <a:ext cx="658368" cy="594360"/>
          </a:xfrm>
          <a:prstGeom prst="rect">
            <a:avLst/>
          </a:prstGeom>
          <a:solidFill>
            <a:srgbClr val="003087"/>
          </a:solidFill>
          <a:ln w="12700">
            <a:solidFill>
              <a:srgbClr val="00308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457200" y="3337560"/>
            <a:ext cx="65836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P4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1234440" y="3374136"/>
            <a:ext cx="2194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3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Satellite Sky Plot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1234440" y="3578087"/>
            <a:ext cx="7315200" cy="32640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Azimuth/elevation plot. Satellite points colour-coded by C/N0 (green &gt;40 dB-Hz, amber 30–40, red &lt;30). Blockage visually obvious as satellites disappear from azimuth sectors.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57200" y="4059936"/>
            <a:ext cx="8229600" cy="594360"/>
          </a:xfrm>
          <a:prstGeom prst="rect">
            <a:avLst/>
          </a:prstGeom>
          <a:solidFill>
            <a:srgbClr val="D6EAF8"/>
          </a:solidFill>
          <a:ln w="12700">
            <a:solidFill>
              <a:srgbClr val="AED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457200" y="4059936"/>
            <a:ext cx="658368" cy="594360"/>
          </a:xfrm>
          <a:prstGeom prst="rect">
            <a:avLst/>
          </a:prstGeom>
          <a:solidFill>
            <a:srgbClr val="003087"/>
          </a:solidFill>
          <a:ln w="12700">
            <a:solidFill>
              <a:srgbClr val="00308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457200" y="4059936"/>
            <a:ext cx="65836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P5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1234440" y="4096512"/>
            <a:ext cx="2194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3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 Fusion Status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1234440" y="4310270"/>
            <a:ext cx="7315200" cy="3165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Horizontal stacked bar: GNSS % | IMU %. GNSS bar shrinks in real time as degradation probability rises. Shows the system is acting on its prediction.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609A8E-214C-3CF2-14F4-86A350628E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AF58F401-729A-83D3-E625-39CB67F73B74}"/>
              </a:ext>
            </a:extLst>
          </p:cNvPr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03087"/>
          </a:solidFill>
          <a:ln w="12700">
            <a:solidFill>
              <a:srgbClr val="00308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19556145-DA88-10A0-C96A-33BA98254438}"/>
              </a:ext>
            </a:extLst>
          </p:cNvPr>
          <p:cNvSpPr/>
          <p:nvPr/>
        </p:nvSpPr>
        <p:spPr>
          <a:xfrm>
            <a:off x="457200" y="0"/>
            <a:ext cx="7680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Monitoring Interface</a:t>
            </a:r>
            <a:endParaRPr lang="en-US" sz="22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7112CA0F-254F-5997-5B5B-9FEC5B5670E4}"/>
              </a:ext>
            </a:extLst>
          </p:cNvPr>
          <p:cNvSpPr/>
          <p:nvPr/>
        </p:nvSpPr>
        <p:spPr>
          <a:xfrm>
            <a:off x="0" y="0"/>
            <a:ext cx="8778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endParaRPr lang="en-US" sz="100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55500F85-65B4-0AAC-1A05-CB9EB0EE44CA}"/>
              </a:ext>
            </a:extLst>
          </p:cNvPr>
          <p:cNvSpPr/>
          <p:nvPr/>
        </p:nvSpPr>
        <p:spPr>
          <a:xfrm>
            <a:off x="483705" y="4951477"/>
            <a:ext cx="8229600" cy="27432"/>
          </a:xfrm>
          <a:prstGeom prst="rect">
            <a:avLst/>
          </a:prstGeom>
          <a:solidFill>
            <a:srgbClr val="AED6F1"/>
          </a:solidFill>
          <a:ln w="12700">
            <a:solidFill>
              <a:srgbClr val="AED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D1CA55FF-324D-F32C-73FD-20E42B8D5F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4031" y="745990"/>
            <a:ext cx="6923108" cy="41440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003275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03087"/>
          </a:solidFill>
          <a:ln w="12700">
            <a:solidFill>
              <a:srgbClr val="00308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7680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 Fusion Adaptation — Dynamic EKF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0" y="0"/>
            <a:ext cx="8778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199" y="5048018"/>
            <a:ext cx="8229600" cy="27432"/>
          </a:xfrm>
          <a:prstGeom prst="rect">
            <a:avLst/>
          </a:prstGeom>
          <a:solidFill>
            <a:srgbClr val="AED6F1"/>
          </a:solidFill>
          <a:ln w="12700">
            <a:solidFill>
              <a:srgbClr val="AED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57199" y="719627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6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EKF uses fixed GNSS noise covariance. Our system adapts it proactively using the model's prediction output.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371600" y="1078992"/>
            <a:ext cx="6400800" cy="1316372"/>
          </a:xfrm>
          <a:prstGeom prst="rect">
            <a:avLst/>
          </a:prstGeom>
          <a:solidFill>
            <a:srgbClr val="EBF5FB"/>
          </a:solidFill>
          <a:ln w="12700">
            <a:solidFill>
              <a:srgbClr val="2E86C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 6"/>
              <p:cNvSpPr/>
              <p:nvPr/>
            </p:nvSpPr>
            <p:spPr>
              <a:xfrm>
                <a:off x="1371599" y="1123421"/>
                <a:ext cx="6400801" cy="391999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ar-AE" sz="1600" b="1" i="1" smtClean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𝑹</m:t>
                      </m:r>
                      <m:r>
                        <a:rPr lang="ar-AE" sz="1600" b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ar-AE" sz="1600" b="1" i="1">
                              <a:solidFill>
                                <a:schemeClr val="accent1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sz="1600" b="1" i="1">
                              <a:solidFill>
                                <a:schemeClr val="accent1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𝑹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 b="1" i="1">
                              <a:solidFill>
                                <a:schemeClr val="accent1">
                                  <a:lumMod val="50000"/>
                                </a:schemeClr>
                              </a:solidFill>
                            </a:rPr>
                            <m:t>base</m:t>
                          </m:r>
                        </m:sub>
                      </m:sSub>
                      <m:r>
                        <a:rPr lang="ar-AE" sz="1600" b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×</m:t>
                      </m:r>
                      <m:d>
                        <m:dPr>
                          <m:ctrlPr>
                            <a:rPr lang="ar-AE" sz="1600" b="1" i="1">
                              <a:solidFill>
                                <a:schemeClr val="accent1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sz="1600" b="1" i="1">
                              <a:solidFill>
                                <a:schemeClr val="accent1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  <m:r>
                            <a:rPr lang="ar-AE" sz="1600" b="1">
                              <a:solidFill>
                                <a:schemeClr val="accent1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ar-AE" sz="1600" b="1" i="1">
                              <a:solidFill>
                                <a:schemeClr val="accent1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𝜶</m:t>
                          </m:r>
                          <m:r>
                            <a:rPr lang="ar-AE" sz="1600" b="1">
                              <a:solidFill>
                                <a:schemeClr val="accent1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⋅</m:t>
                          </m:r>
                          <m:sSub>
                            <m:sSubPr>
                              <m:ctrlPr>
                                <a:rPr lang="ar-AE" sz="1600" b="1" i="1">
                                  <a:solidFill>
                                    <a:schemeClr val="accent1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sz="1600" b="1" i="1">
                                  <a:solidFill>
                                    <a:schemeClr val="accent1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𝑷</m:t>
                              </m:r>
                            </m:e>
                            <m:sub>
                              <m:r>
                                <m:rPr>
                                  <m:nor/>
                                </m:rPr>
                                <a:rPr lang="en-US" sz="1600" b="1" i="1">
                                  <a:solidFill>
                                    <a:schemeClr val="accent1">
                                      <a:lumMod val="50000"/>
                                    </a:schemeClr>
                                  </a:solidFill>
                                </a:rPr>
                                <m:t>degraded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ar-AE" b="1" dirty="0">
                  <a:solidFill>
                    <a:schemeClr val="accent1">
                      <a:lumMod val="5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8" name="Text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71599" y="1123421"/>
                <a:ext cx="6400801" cy="391999"/>
              </a:xfrm>
              <a:prstGeom prst="rect">
                <a:avLst/>
              </a:prstGeom>
              <a:blipFill>
                <a:blip r:embed="rId3"/>
                <a:stretch>
                  <a:fillRect b="-18462"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 7"/>
              <p:cNvSpPr/>
              <p:nvPr/>
            </p:nvSpPr>
            <p:spPr>
              <a:xfrm>
                <a:off x="1371600" y="1507567"/>
                <a:ext cx="6400800" cy="851221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>
                  <a:lnSpc>
                    <a:spcPct val="1500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ar-AE" sz="1200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1200" b="1" i="1">
                            <a:latin typeface="Cambria Math" panose="02040503050406030204" pitchFamily="18" charset="0"/>
                          </a:rPr>
                          <m:t>𝑹</m:t>
                        </m:r>
                      </m:e>
                      <m:sub>
                        <m:r>
                          <m:rPr>
                            <m:nor/>
                          </m:rPr>
                          <a:rPr lang="en-US" sz="1200" b="1" i="1"/>
                          <m:t>base</m:t>
                        </m:r>
                      </m:sub>
                    </m:sSub>
                  </m:oMath>
                </a14:m>
                <a:r>
                  <a:rPr lang="ar-AE" sz="1200" dirty="0"/>
                  <a:t>:</a:t>
                </a:r>
                <a:r>
                  <a:rPr lang="ar-AE" sz="700" dirty="0"/>
                  <a:t> </a:t>
                </a:r>
                <a:r>
                  <a:rPr lang="en-US" sz="700" dirty="0"/>
                  <a:t> </a:t>
                </a:r>
                <a:r>
                  <a:rPr lang="en-US" sz="1100" dirty="0"/>
                  <a:t>Nominal GNSS noise covariance</a:t>
                </a:r>
              </a:p>
              <a:p>
                <a:pPr>
                  <a:lnSpc>
                    <a:spcPct val="1500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ar-AE" sz="1200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1200" b="1" i="1">
                            <a:latin typeface="Cambria Math" panose="02040503050406030204" pitchFamily="18" charset="0"/>
                          </a:rPr>
                          <m:t>𝑷</m:t>
                        </m:r>
                      </m:e>
                      <m:sub>
                        <m:r>
                          <m:rPr>
                            <m:nor/>
                          </m:rPr>
                          <a:rPr lang="en-US" sz="1200" b="1" i="1"/>
                          <m:t>degraded</m:t>
                        </m:r>
                      </m:sub>
                    </m:sSub>
                  </m:oMath>
                </a14:m>
                <a:r>
                  <a:rPr lang="ar-AE" sz="1200" dirty="0"/>
                  <a:t>:</a:t>
                </a:r>
                <a:r>
                  <a:rPr lang="ar-AE" sz="800" dirty="0"/>
                  <a:t> </a:t>
                </a:r>
                <a:r>
                  <a:rPr lang="en-US" sz="1050" dirty="0"/>
                  <a:t>Model’s 5-second horizon degradation probability </a:t>
                </a:r>
                <a:endParaRPr lang="en-US" sz="800" dirty="0"/>
              </a:p>
              <a:p>
                <a:pPr>
                  <a:lnSpc>
                    <a:spcPct val="150000"/>
                  </a:lnSpc>
                </a:pPr>
                <a14:m>
                  <m:oMath xmlns:m="http://schemas.openxmlformats.org/officeDocument/2006/math">
                    <m:r>
                      <a:rPr lang="en-US" sz="1200" b="1" i="1">
                        <a:latin typeface="Cambria Math" panose="02040503050406030204" pitchFamily="18" charset="0"/>
                      </a:rPr>
                      <m:t>𝜶</m:t>
                    </m:r>
                    <m:r>
                      <a:rPr lang="en-US" sz="1200">
                        <a:latin typeface="Cambria Math" panose="02040503050406030204" pitchFamily="18" charset="0"/>
                      </a:rPr>
                      <m:t>=10</m:t>
                    </m:r>
                  </m:oMath>
                </a14:m>
                <a:r>
                  <a:rPr lang="en-US" sz="1200" dirty="0"/>
                  <a:t>:</a:t>
                </a:r>
                <a:r>
                  <a:rPr lang="en-US" sz="800" dirty="0"/>
                  <a:t> </a:t>
                </a:r>
                <a:r>
                  <a:rPr lang="en-US" sz="1100" dirty="0"/>
                  <a:t>Tunable scaling factor </a:t>
                </a:r>
                <a:endParaRPr lang="en-US" sz="800" dirty="0"/>
              </a:p>
            </p:txBody>
          </p:sp>
        </mc:Choice>
        <mc:Fallback xmlns="">
          <p:sp>
            <p:nvSpPr>
              <p:cNvPr id="9" name="Text 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71600" y="1507567"/>
                <a:ext cx="6400800" cy="851221"/>
              </a:xfrm>
              <a:prstGeom prst="rect">
                <a:avLst/>
              </a:prstGeom>
              <a:blipFill>
                <a:blip r:embed="rId4"/>
                <a:stretch>
                  <a:fillRect b="-12143"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Shape 8"/>
          <p:cNvSpPr/>
          <p:nvPr/>
        </p:nvSpPr>
        <p:spPr>
          <a:xfrm>
            <a:off x="434008" y="2492270"/>
            <a:ext cx="8229600" cy="594360"/>
          </a:xfrm>
          <a:prstGeom prst="rect">
            <a:avLst/>
          </a:prstGeom>
          <a:solidFill>
            <a:srgbClr val="E8F5E9"/>
          </a:solidFill>
          <a:ln w="12700">
            <a:solidFill>
              <a:srgbClr val="27AE6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 9"/>
              <p:cNvSpPr/>
              <p:nvPr/>
            </p:nvSpPr>
            <p:spPr>
              <a:xfrm>
                <a:off x="571168" y="2528846"/>
                <a:ext cx="4114800" cy="252088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m:rPr>
                            <m:nor/>
                          </m:rPr>
                          <a:rPr lang="en-US" sz="1200" i="1"/>
                          <m:t>degraded</m:t>
                        </m:r>
                      </m:sub>
                    </m:sSub>
                    <m:r>
                      <a:rPr lang="en-US" sz="1200">
                        <a:latin typeface="Cambria Math" panose="02040503050406030204" pitchFamily="18" charset="0"/>
                      </a:rPr>
                      <m:t>=0.0</m:t>
                    </m:r>
                    <m:r>
                      <a:rPr lang="en-US" sz="120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b="1" dirty="0">
                    <a:solidFill>
                      <a:srgbClr val="27AE60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(clean signal)</a:t>
                </a:r>
                <a:endParaRPr lang="en-US" sz="1200" dirty="0"/>
              </a:p>
            </p:txBody>
          </p:sp>
        </mc:Choice>
        <mc:Fallback xmlns="">
          <p:sp>
            <p:nvSpPr>
              <p:cNvPr id="11" name="Text 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1168" y="2528846"/>
                <a:ext cx="4114800" cy="252088"/>
              </a:xfrm>
              <a:prstGeom prst="rect">
                <a:avLst/>
              </a:prstGeom>
              <a:blipFill>
                <a:blip r:embed="rId5"/>
                <a:stretch>
                  <a:fillRect t="-9756" b="-21951"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 10"/>
              <p:cNvSpPr/>
              <p:nvPr/>
            </p:nvSpPr>
            <p:spPr>
              <a:xfrm>
                <a:off x="571168" y="2784878"/>
                <a:ext cx="7863840" cy="256032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𝑅</m:t>
                    </m:r>
                    <m:r>
                      <a:rPr lang="en-US" sz="120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m:rPr>
                            <m:nor/>
                          </m:rPr>
                          <a:rPr lang="en-US" sz="1200" i="1"/>
                          <m:t>base</m:t>
                        </m:r>
                      </m:sub>
                    </m:sSub>
                  </m:oMath>
                </a14:m>
                <a:r>
                  <a:rPr lang="en-US" sz="900" dirty="0"/>
                  <a:t> </a:t>
                </a:r>
                <a:r>
                  <a:rPr lang="en-US" sz="1100" dirty="0">
                    <a:solidFill>
                      <a:srgbClr val="1C28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— </a:t>
                </a:r>
                <a:r>
                  <a:rPr lang="en-US" sz="1200" dirty="0">
                    <a:solidFill>
                      <a:srgbClr val="1C28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filter behaves normally. GNSS fully trusted</a:t>
                </a:r>
                <a:r>
                  <a:rPr lang="en-US" sz="1100" dirty="0">
                    <a:solidFill>
                      <a:srgbClr val="1C28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.</a:t>
                </a:r>
                <a:endParaRPr lang="en-US" sz="1100" dirty="0"/>
              </a:p>
            </p:txBody>
          </p:sp>
        </mc:Choice>
        <mc:Fallback xmlns="">
          <p:sp>
            <p:nvSpPr>
              <p:cNvPr id="12" name="Text 1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1168" y="2784878"/>
                <a:ext cx="7863840" cy="256032"/>
              </a:xfrm>
              <a:prstGeom prst="rect">
                <a:avLst/>
              </a:prstGeom>
              <a:blipFill>
                <a:blip r:embed="rId6"/>
                <a:stretch>
                  <a:fillRect t="-4762" b="-21429"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Shape 11"/>
          <p:cNvSpPr/>
          <p:nvPr/>
        </p:nvSpPr>
        <p:spPr>
          <a:xfrm>
            <a:off x="434008" y="3242078"/>
            <a:ext cx="8229600" cy="619704"/>
          </a:xfrm>
          <a:prstGeom prst="rect">
            <a:avLst/>
          </a:prstGeom>
          <a:solidFill>
            <a:srgbClr val="FFF9E6"/>
          </a:solidFill>
          <a:ln w="1270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 12"/>
              <p:cNvSpPr/>
              <p:nvPr/>
            </p:nvSpPr>
            <p:spPr>
              <a:xfrm>
                <a:off x="571167" y="3242078"/>
                <a:ext cx="6280206" cy="541020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>
                  <a:lnSpc>
                    <a:spcPct val="1500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m:rPr>
                            <m:nor/>
                          </m:rPr>
                          <a:rPr lang="en-US" sz="1200" i="1"/>
                          <m:t>degraded</m:t>
                        </m:r>
                      </m:sub>
                    </m:sSub>
                    <m:r>
                      <a:rPr lang="en-US" sz="1200">
                        <a:latin typeface="Cambria Math" panose="02040503050406030204" pitchFamily="18" charset="0"/>
                      </a:rPr>
                      <m:t>=0.5</m:t>
                    </m:r>
                  </m:oMath>
                </a14:m>
                <a:r>
                  <a:rPr lang="en-US" sz="1000" b="1" dirty="0">
                    <a:solidFill>
                      <a:srgbClr val="FFC000"/>
                    </a:solidFill>
                  </a:rPr>
                  <a:t> </a:t>
                </a:r>
                <a:r>
                  <a:rPr lang="en-US" sz="1200" b="1" dirty="0">
                    <a:solidFill>
                      <a:srgbClr val="FFC000"/>
                    </a:solidFill>
                  </a:rPr>
                  <a:t>(Warning State)</a:t>
                </a:r>
              </a:p>
              <a:p>
                <a:pPr>
                  <a:lnSpc>
                    <a:spcPct val="150000"/>
                  </a:lnSpc>
                </a:pP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𝑅</m:t>
                    </m:r>
                    <m:r>
                      <a:rPr lang="en-US" sz="1200">
                        <a:latin typeface="Cambria Math" panose="02040503050406030204" pitchFamily="18" charset="0"/>
                      </a:rPr>
                      <m:t>=6×</m:t>
                    </m:r>
                    <m:sSub>
                      <m:sSub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m:rPr>
                            <m:nor/>
                          </m:rPr>
                          <a:rPr lang="en-US" sz="1200" i="1"/>
                          <m:t>base</m:t>
                        </m:r>
                      </m:sub>
                    </m:sSub>
                  </m:oMath>
                </a14:m>
                <a:r>
                  <a:rPr lang="en-US" sz="1000" b="0" dirty="0"/>
                  <a:t> </a:t>
                </a:r>
                <a:r>
                  <a:rPr lang="en-US" sz="1000" dirty="0">
                    <a:solidFill>
                      <a:srgbClr val="1C28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— </a:t>
                </a:r>
                <a:r>
                  <a:rPr lang="en-US" sz="1200" dirty="0">
                    <a:solidFill>
                      <a:srgbClr val="1C28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filter reduces GNSS weight, begins relying on IMU dead-reckoning</a:t>
                </a:r>
                <a:r>
                  <a:rPr lang="en-US" sz="1000" dirty="0">
                    <a:solidFill>
                      <a:srgbClr val="1C28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.</a:t>
                </a:r>
                <a:endParaRPr lang="en-US" sz="1000" b="0" dirty="0"/>
              </a:p>
            </p:txBody>
          </p:sp>
        </mc:Choice>
        <mc:Fallback xmlns="">
          <p:sp>
            <p:nvSpPr>
              <p:cNvPr id="14" name="Text 1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1167" y="3242078"/>
                <a:ext cx="6280206" cy="541020"/>
              </a:xfrm>
              <a:prstGeom prst="rect">
                <a:avLst/>
              </a:prstGeom>
              <a:blipFill>
                <a:blip r:embed="rId7"/>
                <a:stretch>
                  <a:fillRect b="-21348"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Shape 14"/>
          <p:cNvSpPr/>
          <p:nvPr/>
        </p:nvSpPr>
        <p:spPr>
          <a:xfrm>
            <a:off x="434008" y="3995264"/>
            <a:ext cx="8229600" cy="649358"/>
          </a:xfrm>
          <a:prstGeom prst="rect">
            <a:avLst/>
          </a:prstGeom>
          <a:solidFill>
            <a:srgbClr val="FDEDEC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434008" y="4718304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2E86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what makes the system complete: the AI prediction directly closes the loop into the navigation stack.</a:t>
            </a:r>
            <a:endParaRPr lang="en-US" sz="11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 12">
                <a:extLst>
                  <a:ext uri="{FF2B5EF4-FFF2-40B4-BE49-F238E27FC236}">
                    <a16:creationId xmlns:a16="http://schemas.microsoft.com/office/drawing/2014/main" id="{8578BE49-A789-96A7-DD50-4D75B505CD2F}"/>
                  </a:ext>
                </a:extLst>
              </p:cNvPr>
              <p:cNvSpPr/>
              <p:nvPr/>
            </p:nvSpPr>
            <p:spPr>
              <a:xfrm>
                <a:off x="571167" y="3995263"/>
                <a:ext cx="8002989" cy="602844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>
                  <a:lnSpc>
                    <a:spcPct val="1500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m:rPr>
                            <m:nor/>
                          </m:rPr>
                          <a:rPr lang="en-US" sz="1200" i="1"/>
                          <m:t>degraded</m:t>
                        </m:r>
                      </m:sub>
                    </m:sSub>
                    <m:r>
                      <a:rPr lang="en-US" sz="1200">
                        <a:latin typeface="Cambria Math" panose="02040503050406030204" pitchFamily="18" charset="0"/>
                      </a:rPr>
                      <m:t>=0.</m:t>
                    </m:r>
                    <m:r>
                      <a:rPr lang="en-US" sz="1200" b="0" i="0" smtClean="0">
                        <a:latin typeface="Cambria Math" panose="02040503050406030204" pitchFamily="18" charset="0"/>
                      </a:rPr>
                      <m:t>9</m:t>
                    </m:r>
                  </m:oMath>
                </a14:m>
                <a:r>
                  <a:rPr lang="en-US" sz="1000" b="1" dirty="0">
                    <a:solidFill>
                      <a:srgbClr val="FFC000"/>
                    </a:solidFill>
                  </a:rPr>
                  <a:t> </a:t>
                </a:r>
                <a:r>
                  <a:rPr lang="en-US" sz="1200" b="1" dirty="0">
                    <a:solidFill>
                      <a:srgbClr val="C0392B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(near-certain degradation) </a:t>
                </a:r>
              </a:p>
              <a:p>
                <a:pPr>
                  <a:lnSpc>
                    <a:spcPct val="150000"/>
                  </a:lnSpc>
                </a:pP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𝑅</m:t>
                    </m:r>
                    <m:r>
                      <a:rPr lang="en-US" sz="120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b="0" i="0" smtClean="0">
                        <a:latin typeface="Cambria Math" panose="02040503050406030204" pitchFamily="18" charset="0"/>
                      </a:rPr>
                      <m:t>10</m:t>
                    </m:r>
                    <m:r>
                      <a:rPr lang="en-US" sz="1200">
                        <a:latin typeface="Cambria Math" panose="02040503050406030204" pitchFamily="18" charset="0"/>
                      </a:rPr>
                      <m:t>×</m:t>
                    </m:r>
                    <m:sSub>
                      <m:sSub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m:rPr>
                            <m:nor/>
                          </m:rPr>
                          <a:rPr lang="en-US" sz="1200" i="1"/>
                          <m:t>base</m:t>
                        </m:r>
                      </m:sub>
                    </m:sSub>
                  </m:oMath>
                </a14:m>
                <a:r>
                  <a:rPr lang="en-US" sz="1000" b="0" dirty="0"/>
                  <a:t> </a:t>
                </a:r>
                <a:r>
                  <a:rPr lang="en-US" sz="1000" dirty="0">
                    <a:solidFill>
                      <a:srgbClr val="1C28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— </a:t>
                </a:r>
                <a:r>
                  <a:rPr lang="en-US" sz="1200" dirty="0">
                    <a:solidFill>
                      <a:srgbClr val="1C28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filter relies almost entirely on IMU. Transition completed before degradation reaches positioning</a:t>
                </a:r>
                <a:r>
                  <a:rPr lang="en-US" sz="1000" dirty="0">
                    <a:solidFill>
                      <a:srgbClr val="1C28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.</a:t>
                </a:r>
                <a:endParaRPr lang="en-US" sz="1000" b="0" dirty="0"/>
              </a:p>
            </p:txBody>
          </p:sp>
        </mc:Choice>
        <mc:Fallback xmlns="">
          <p:sp>
            <p:nvSpPr>
              <p:cNvPr id="20" name="Text 12">
                <a:extLst>
                  <a:ext uri="{FF2B5EF4-FFF2-40B4-BE49-F238E27FC236}">
                    <a16:creationId xmlns:a16="http://schemas.microsoft.com/office/drawing/2014/main" id="{8578BE49-A789-96A7-DD50-4D75B505CD2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1167" y="3995263"/>
                <a:ext cx="8002989" cy="602844"/>
              </a:xfrm>
              <a:prstGeom prst="rect">
                <a:avLst/>
              </a:prstGeom>
              <a:blipFill>
                <a:blip r:embed="rId8"/>
                <a:stretch>
                  <a:fillRect b="-15152"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03087"/>
          </a:solidFill>
          <a:ln w="12700">
            <a:solidFill>
              <a:srgbClr val="00308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7680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Novelty Claims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0" y="0"/>
            <a:ext cx="8778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4962276"/>
            <a:ext cx="8229600" cy="27432"/>
          </a:xfrm>
          <a:prstGeom prst="rect">
            <a:avLst/>
          </a:prstGeom>
          <a:solidFill>
            <a:srgbClr val="AED6F1"/>
          </a:solidFill>
          <a:ln w="12700">
            <a:solidFill>
              <a:srgbClr val="AED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57200" y="822960"/>
            <a:ext cx="8229600" cy="868680"/>
          </a:xfrm>
          <a:prstGeom prst="rect">
            <a:avLst/>
          </a:prstGeom>
          <a:solidFill>
            <a:srgbClr val="D6EAF8"/>
          </a:solidFill>
          <a:ln w="12700">
            <a:solidFill>
              <a:srgbClr val="AED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457200" y="822960"/>
            <a:ext cx="594360" cy="868680"/>
          </a:xfrm>
          <a:prstGeom prst="rect">
            <a:avLst/>
          </a:prstGeom>
          <a:solidFill>
            <a:srgbClr val="003087"/>
          </a:solidFill>
          <a:ln w="12700">
            <a:solidFill>
              <a:srgbClr val="00308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57200" y="822960"/>
            <a:ext cx="594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88720" y="868680"/>
            <a:ext cx="7406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3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Multi-Horizon Simultaneous Prediction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188720" y="1170432"/>
            <a:ext cx="7406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work predicts single-step ahead (typically 1 second). We simultaneously predict at 5 s, 15 s, and 30 s from a single forward pass — enabling graduated autonomous response.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1874520"/>
            <a:ext cx="8229600" cy="868680"/>
          </a:xfrm>
          <a:prstGeom prst="rect">
            <a:avLst/>
          </a:prstGeom>
          <a:solidFill>
            <a:srgbClr val="D6EAF8"/>
          </a:solidFill>
          <a:ln w="12700">
            <a:solidFill>
              <a:srgbClr val="AED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457200" y="1874520"/>
            <a:ext cx="594360" cy="868680"/>
          </a:xfrm>
          <a:prstGeom prst="rect">
            <a:avLst/>
          </a:prstGeom>
          <a:solidFill>
            <a:srgbClr val="003087"/>
          </a:solidFill>
          <a:ln w="12700">
            <a:solidFill>
              <a:srgbClr val="00308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57200" y="1874520"/>
            <a:ext cx="594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N2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188720" y="1920240"/>
            <a:ext cx="7406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3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Cross-Satellite Attention Mechanism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188720" y="2221992"/>
            <a:ext cx="7406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published GNSS degradation prediction paper explicitly models relationships between satellites simultaneously. Our Transformer attention weights are interpretable evidence of model decisions.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2926080"/>
            <a:ext cx="8229600" cy="868680"/>
          </a:xfrm>
          <a:prstGeom prst="rect">
            <a:avLst/>
          </a:prstGeom>
          <a:solidFill>
            <a:srgbClr val="D6EAF8"/>
          </a:solidFill>
          <a:ln w="12700">
            <a:solidFill>
              <a:srgbClr val="AED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457200" y="2926080"/>
            <a:ext cx="594360" cy="868680"/>
          </a:xfrm>
          <a:prstGeom prst="rect">
            <a:avLst/>
          </a:prstGeom>
          <a:solidFill>
            <a:srgbClr val="003087"/>
          </a:solidFill>
          <a:ln w="12700">
            <a:solidFill>
              <a:srgbClr val="00308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457200" y="2926080"/>
            <a:ext cx="594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N3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188720" y="2971800"/>
            <a:ext cx="7406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3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Multi-Platform Training for Generalisation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188720" y="3273552"/>
            <a:ext cx="7406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published papers train and test on a single platform type. We train across three platforms and demonstrate cross-platform and cross-geography generalisation on public datasets.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57200" y="3977640"/>
            <a:ext cx="8229600" cy="868680"/>
          </a:xfrm>
          <a:prstGeom prst="rect">
            <a:avLst/>
          </a:prstGeom>
          <a:solidFill>
            <a:srgbClr val="D6EAF8"/>
          </a:solidFill>
          <a:ln w="12700">
            <a:solidFill>
              <a:srgbClr val="AED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457200" y="3977640"/>
            <a:ext cx="594360" cy="868680"/>
          </a:xfrm>
          <a:prstGeom prst="rect">
            <a:avLst/>
          </a:prstGeom>
          <a:solidFill>
            <a:srgbClr val="003087"/>
          </a:solidFill>
          <a:ln w="12700">
            <a:solidFill>
              <a:srgbClr val="00308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457200" y="3977640"/>
            <a:ext cx="594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N4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188720" y="4023360"/>
            <a:ext cx="7406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3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Proactive Sensor Fusion Adaptation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1188720" y="4325112"/>
            <a:ext cx="7406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sensor fusion detects GNSS degradation after it occurs, then reacts. Our EKF increases GNSS noise covariance before degradation affects positioning — the first demonstrated proactive adaptation.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03087"/>
          </a:solidFill>
          <a:ln w="12700">
            <a:solidFill>
              <a:srgbClr val="00308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7680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Responsibilities &amp; Presentation Division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0" y="0"/>
            <a:ext cx="8778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740664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6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member owns specific components and is fully accountable for their delivery.</a:t>
            </a:r>
            <a:endParaRPr lang="en-US" sz="12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01471211"/>
              </p:ext>
            </p:extLst>
          </p:nvPr>
        </p:nvGraphicFramePr>
        <p:xfrm>
          <a:off x="457200" y="1143000"/>
          <a:ext cx="8321040" cy="3798558"/>
        </p:xfrm>
        <a:graphic>
          <a:graphicData uri="http://schemas.openxmlformats.org/drawingml/2006/table">
            <a:tbl>
              <a:tblPr/>
              <a:tblGrid>
                <a:gridCol w="22693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252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2645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3671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Member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08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08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Owns / Delivers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08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236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Rashid Md Harun Or (LS2525219)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Literature &amp; Baseline Lead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None/>
                      </a:pPr>
                      <a:r>
                        <a:rPr lang="en-US" sz="110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Literature review, baseline models (threshold, RF, LSTM, RAIM), related work analysis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5236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 err="1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Ingeriyinkindi</a:t>
                      </a:r>
                      <a:r>
                        <a:rPr lang="en-US" sz="110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Claudine (LS2525236)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Collection &amp; Evaluation Lead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None/>
                      </a:pPr>
                      <a:r>
                        <a:rPr lang="en-US" sz="110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Cart GNSS collection (Scenarios A–E), evaluation metrics, results tables, public dataset processing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5236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Ogunlade Joshua (LS2525237)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&amp; Processing Lead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None/>
                      </a:pPr>
                      <a:r>
                        <a:rPr lang="en-US" sz="110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ROSBAG extraction, RTKLIB pipeline, feature extraction code, dataset labelling &amp; QC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5236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Mustapha Ibrahim (LS2525238)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System &amp; EKF Lead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None/>
                      </a:pPr>
                      <a:r>
                        <a:rPr lang="en-US" sz="110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Real-time dashboard (all 5 panels), dynamic EKF implementation, live system testing &amp; video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5236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Ojerinde Joel Segun (LS2525253)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&amp; Integration Lead (Lead Author)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None/>
                      </a:pPr>
                      <a:r>
                        <a:rPr lang="en-US" sz="110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Transformer-LSTM architecture, training pipeline, ablation studies, generalization testing, integration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03087"/>
          </a:solidFill>
          <a:ln w="12700">
            <a:solidFill>
              <a:srgbClr val="00308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7680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Timeline — 4-Week Compressed Plan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0" y="0"/>
            <a:ext cx="8778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4915827"/>
            <a:ext cx="8229600" cy="27432"/>
          </a:xfrm>
          <a:prstGeom prst="rect">
            <a:avLst/>
          </a:prstGeom>
          <a:solidFill>
            <a:srgbClr val="AED6F1"/>
          </a:solidFill>
          <a:ln w="12700">
            <a:solidFill>
              <a:srgbClr val="AED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57200" y="758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56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1-month total  ·  2 concurrent coursework  ·  Critical path: data collection (Wk 1) → model training (Wk 3)  ·  Target: IEEE T-ITS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097280"/>
            <a:ext cx="1956816" cy="502920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57200" y="1097280"/>
            <a:ext cx="1956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  ·  Days 1–7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1353312"/>
            <a:ext cx="195681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AED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&amp; Data Extraction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57200" y="1600200"/>
            <a:ext cx="1956816" cy="850392"/>
          </a:xfrm>
          <a:prstGeom prst="rect">
            <a:avLst/>
          </a:prstGeom>
          <a:solidFill>
            <a:srgbClr val="D6EAF8"/>
          </a:solidFill>
          <a:ln w="12700">
            <a:solidFill>
              <a:srgbClr val="AED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48640" y="1609477"/>
            <a:ext cx="17830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50000"/>
              </a:lnSpc>
              <a:buNone/>
            </a:pPr>
            <a:r>
              <a:rPr lang="en-US" sz="95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All software installed · Room 3058 visit · GitHub repo created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548640" y="2240280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2E86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57200" y="2496312"/>
            <a:ext cx="1956816" cy="850392"/>
          </a:xfrm>
          <a:prstGeom prst="rect">
            <a:avLst/>
          </a:prstGeom>
          <a:solidFill>
            <a:srgbClr val="EBF5FB"/>
          </a:solidFill>
          <a:ln w="12700">
            <a:solidFill>
              <a:srgbClr val="AED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548640" y="2433894"/>
            <a:ext cx="17830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50000"/>
              </a:lnSpc>
              <a:buNone/>
            </a:pPr>
            <a:r>
              <a:rPr lang="en-US" sz="95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ROSBAG extraction + RTKLIB running on supervisor vehicle &amp; drone datasets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548640" y="3136392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2E86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Joshua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57200" y="3392424"/>
            <a:ext cx="1956816" cy="850392"/>
          </a:xfrm>
          <a:prstGeom prst="rect">
            <a:avLst/>
          </a:prstGeom>
          <a:solidFill>
            <a:srgbClr val="D6EAF8"/>
          </a:solidFill>
          <a:ln w="12700">
            <a:solidFill>
              <a:srgbClr val="AED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544068" y="3436090"/>
            <a:ext cx="17830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50000"/>
              </a:lnSpc>
              <a:buNone/>
            </a:pPr>
            <a:r>
              <a:rPr lang="en-US" sz="95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✅ ALL scenarios A–E collected (May 5, 2026) · RTKLIB processed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548640" y="4032504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2E86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Claudine, Joshua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468880" y="1097280"/>
            <a:ext cx="1956816" cy="502920"/>
          </a:xfrm>
          <a:prstGeom prst="rect">
            <a:avLst/>
          </a:prstGeom>
          <a:solidFill>
            <a:srgbClr val="1F618D"/>
          </a:solidFill>
          <a:ln w="12700">
            <a:solidFill>
              <a:srgbClr val="1F618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2468880" y="1097280"/>
            <a:ext cx="1956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 ·  Days 8–14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2468880" y="1353312"/>
            <a:ext cx="195681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AED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Collection &amp; Features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2468880" y="1600200"/>
            <a:ext cx="1956816" cy="850392"/>
          </a:xfrm>
          <a:prstGeom prst="rect">
            <a:avLst/>
          </a:prstGeom>
          <a:solidFill>
            <a:srgbClr val="D6EAF8"/>
          </a:solidFill>
          <a:ln w="12700">
            <a:solidFill>
              <a:srgbClr val="AED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2505456" y="1551299"/>
            <a:ext cx="18745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50000"/>
              </a:lnSpc>
              <a:buNone/>
            </a:pPr>
            <a:r>
              <a:rPr lang="en-US" sz="95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Scenarios B, C, E collected · Feature CSVs generated · Labelling complete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2560320" y="2240280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2E86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Claudine, Joshua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2468880" y="2496312"/>
            <a:ext cx="1956816" cy="850392"/>
          </a:xfrm>
          <a:prstGeom prst="rect">
            <a:avLst/>
          </a:prstGeom>
          <a:solidFill>
            <a:srgbClr val="EBF5FB"/>
          </a:solidFill>
          <a:ln w="12700">
            <a:solidFill>
              <a:srgbClr val="AED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2551176" y="2437340"/>
            <a:ext cx="17830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50000"/>
              </a:lnSpc>
              <a:buNone/>
            </a:pPr>
            <a:r>
              <a:rPr lang="en-US" sz="95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baseline models trained &amp; results recorded (RF, LSTM, threshold, RAIM)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2560320" y="3136392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2E86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Harun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2468880" y="3392424"/>
            <a:ext cx="1956816" cy="850392"/>
          </a:xfrm>
          <a:prstGeom prst="rect">
            <a:avLst/>
          </a:prstGeom>
          <a:solidFill>
            <a:srgbClr val="D6EAF8"/>
          </a:solidFill>
          <a:ln w="12700">
            <a:solidFill>
              <a:srgbClr val="AED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2551176" y="3334247"/>
            <a:ext cx="17830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50000"/>
              </a:lnSpc>
              <a:buNone/>
            </a:pPr>
            <a:r>
              <a:rPr lang="en-US" sz="95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review drafted (30 papers) · UrbanNav &amp; RobotCar processed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2560320" y="4032504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2E86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Harun, Claudine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480560" y="1097280"/>
            <a:ext cx="1956816" cy="502920"/>
          </a:xfrm>
          <a:prstGeom prst="rect">
            <a:avLst/>
          </a:prstGeom>
          <a:solidFill>
            <a:srgbClr val="2874A6"/>
          </a:solidFill>
          <a:ln w="12700">
            <a:solidFill>
              <a:srgbClr val="2874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4480560" y="1097280"/>
            <a:ext cx="1956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  ·  Days 15–21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480560" y="1353312"/>
            <a:ext cx="195681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AED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Training &amp; System Build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480560" y="1600200"/>
            <a:ext cx="1956816" cy="850392"/>
          </a:xfrm>
          <a:prstGeom prst="rect">
            <a:avLst/>
          </a:prstGeom>
          <a:solidFill>
            <a:srgbClr val="D6EAF8"/>
          </a:solidFill>
          <a:ln w="12700">
            <a:solidFill>
              <a:srgbClr val="AED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4572000" y="1563624"/>
            <a:ext cx="17830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50000"/>
              </a:lnSpc>
              <a:buNone/>
            </a:pPr>
            <a:r>
              <a:rPr lang="en-US" sz="95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Transformer-LSTM trained · First test-set results · Ablation studies done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4572000" y="2240280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2E86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Joel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480560" y="2496312"/>
            <a:ext cx="1956816" cy="850392"/>
          </a:xfrm>
          <a:prstGeom prst="rect">
            <a:avLst/>
          </a:prstGeom>
          <a:solidFill>
            <a:srgbClr val="EBF5FB"/>
          </a:solidFill>
          <a:ln w="12700">
            <a:solidFill>
              <a:srgbClr val="AED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4572000" y="2456655"/>
            <a:ext cx="17830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50000"/>
              </a:lnSpc>
              <a:buNone/>
            </a:pPr>
            <a:r>
              <a:rPr lang="en-US" sz="95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Generalisation tests on UrbanNav &amp; RobotCar · KAIST on arrival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4572000" y="3136392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2E86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Joel, Claudine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480560" y="3392424"/>
            <a:ext cx="1956816" cy="850392"/>
          </a:xfrm>
          <a:prstGeom prst="rect">
            <a:avLst/>
          </a:prstGeom>
          <a:solidFill>
            <a:srgbClr val="D6EAF8"/>
          </a:solidFill>
          <a:ln w="12700">
            <a:solidFill>
              <a:srgbClr val="AED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4567428" y="3337560"/>
            <a:ext cx="17830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50000"/>
              </a:lnSpc>
              <a:buNone/>
            </a:pPr>
            <a:r>
              <a:rPr lang="en-US" sz="95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 EKF in simulation · Dashboard all 5 panels with data playback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4572000" y="4032504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2E86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Mustapha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492240" y="1097280"/>
            <a:ext cx="1956816" cy="502920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Text 42"/>
          <p:cNvSpPr/>
          <p:nvPr/>
        </p:nvSpPr>
        <p:spPr>
          <a:xfrm>
            <a:off x="6492240" y="1097280"/>
            <a:ext cx="1956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  ·  Days 22–28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6492240" y="1353312"/>
            <a:ext cx="195681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AED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Integration, Demo &amp; Paper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492240" y="1600200"/>
            <a:ext cx="1956816" cy="850392"/>
          </a:xfrm>
          <a:prstGeom prst="rect">
            <a:avLst/>
          </a:prstGeom>
          <a:solidFill>
            <a:srgbClr val="D6EAF8"/>
          </a:solidFill>
          <a:ln w="12700">
            <a:solidFill>
              <a:srgbClr val="AED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Text 45"/>
          <p:cNvSpPr/>
          <p:nvPr/>
        </p:nvSpPr>
        <p:spPr>
          <a:xfrm>
            <a:off x="6528816" y="1618488"/>
            <a:ext cx="1883664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50000"/>
              </a:lnSpc>
              <a:buNone/>
            </a:pPr>
            <a:r>
              <a:rPr lang="en-US" sz="95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campus test: cart + receiver + dashboard · Screen capture video</a:t>
            </a:r>
            <a:endParaRPr lang="en-US" sz="950" dirty="0"/>
          </a:p>
        </p:txBody>
      </p:sp>
      <p:sp>
        <p:nvSpPr>
          <p:cNvPr id="48" name="Text 46"/>
          <p:cNvSpPr/>
          <p:nvPr/>
        </p:nvSpPr>
        <p:spPr>
          <a:xfrm>
            <a:off x="6583680" y="2240280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2E86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492240" y="2496312"/>
            <a:ext cx="1956816" cy="850392"/>
          </a:xfrm>
          <a:prstGeom prst="rect">
            <a:avLst/>
          </a:prstGeom>
          <a:solidFill>
            <a:srgbClr val="EBF5FB"/>
          </a:solidFill>
          <a:ln w="12700">
            <a:solidFill>
              <a:srgbClr val="AED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Text 48"/>
          <p:cNvSpPr/>
          <p:nvPr/>
        </p:nvSpPr>
        <p:spPr>
          <a:xfrm>
            <a:off x="6583680" y="2532888"/>
            <a:ext cx="17830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50000"/>
              </a:lnSpc>
              <a:buNone/>
            </a:pPr>
            <a:r>
              <a:rPr lang="en-US" sz="95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 1 first draft written · Each member fills their sections</a:t>
            </a:r>
            <a:endParaRPr lang="en-US" sz="950" dirty="0"/>
          </a:p>
        </p:txBody>
      </p:sp>
      <p:sp>
        <p:nvSpPr>
          <p:cNvPr id="51" name="Text 49"/>
          <p:cNvSpPr/>
          <p:nvPr/>
        </p:nvSpPr>
        <p:spPr>
          <a:xfrm>
            <a:off x="6583680" y="3136392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2E86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Joel leads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492240" y="3392424"/>
            <a:ext cx="1956816" cy="850392"/>
          </a:xfrm>
          <a:prstGeom prst="rect">
            <a:avLst/>
          </a:prstGeom>
          <a:solidFill>
            <a:srgbClr val="D6EAF8"/>
          </a:solidFill>
          <a:ln w="12700">
            <a:solidFill>
              <a:srgbClr val="AED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3" name="Text 51"/>
          <p:cNvSpPr/>
          <p:nvPr/>
        </p:nvSpPr>
        <p:spPr>
          <a:xfrm>
            <a:off x="6528816" y="3402363"/>
            <a:ext cx="1883664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50000"/>
              </a:lnSpc>
              <a:buNone/>
            </a:pPr>
            <a:r>
              <a:rPr lang="en-US" sz="95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team review · Presentation rehearsed · Submission-ready draft</a:t>
            </a:r>
            <a:endParaRPr lang="en-US" sz="950" dirty="0"/>
          </a:p>
        </p:txBody>
      </p:sp>
      <p:sp>
        <p:nvSpPr>
          <p:cNvPr id="54" name="Text 52"/>
          <p:cNvSpPr/>
          <p:nvPr/>
        </p:nvSpPr>
        <p:spPr>
          <a:xfrm>
            <a:off x="6583680" y="4032504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2E86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457200" y="4384548"/>
            <a:ext cx="8229600" cy="38954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050" i="1" dirty="0">
                <a:solidFill>
                  <a:srgbClr val="B777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Risk: Scenarios A &amp; D (Day 5–7) are the critical path — all model work depends on them. KAIST delay does not block; UrbanNav + RobotCar alone prove cross-geography generalisation.</a:t>
            </a:r>
            <a:endParaRPr lang="en-US" sz="10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0206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8113" y="822960"/>
            <a:ext cx="64008" cy="4187356"/>
          </a:xfrm>
          <a:prstGeom prst="rect">
            <a:avLst/>
          </a:prstGeom>
          <a:solidFill>
            <a:srgbClr val="AED6F1"/>
          </a:solidFill>
          <a:ln w="12700">
            <a:solidFill>
              <a:srgbClr val="AED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0174A"/>
          </a:solidFill>
          <a:ln w="12700">
            <a:solidFill>
              <a:srgbClr val="0017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57200" y="0"/>
            <a:ext cx="8229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AED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 &amp; Future Work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85800" y="777240"/>
            <a:ext cx="2514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AED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Are Building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26774" y="1097280"/>
            <a:ext cx="2570922" cy="32689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200000"/>
              </a:lnSpc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Transformer-LSTM hybrid for multi-horizon GNSS degradation prediction</a:t>
            </a:r>
            <a:endParaRPr lang="en-US" sz="1150" dirty="0"/>
          </a:p>
          <a:p>
            <a:pPr marL="342900" indent="-342900">
              <a:lnSpc>
                <a:spcPct val="200000"/>
              </a:lnSpc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35-feature engineering pipeline from RTKLIB observables</a:t>
            </a:r>
            <a:endParaRPr lang="en-US" sz="1150" dirty="0"/>
          </a:p>
          <a:p>
            <a:pPr marL="342900" indent="-342900">
              <a:lnSpc>
                <a:spcPct val="200000"/>
              </a:lnSpc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 EKF that adapts sensor fusion before degradation hits</a:t>
            </a:r>
            <a:endParaRPr lang="en-US" sz="1150" dirty="0"/>
          </a:p>
          <a:p>
            <a:pPr marL="342900" indent="-342900">
              <a:lnSpc>
                <a:spcPct val="200000"/>
              </a:lnSpc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5-panel monitoring dashboard at &lt;100 ms latency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3383280" y="777240"/>
            <a:ext cx="2514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AED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Results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124200" y="1087540"/>
            <a:ext cx="2727960" cy="2944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200000"/>
              </a:lnSpc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Macro F1 &gt; 0.85 on in-distribution test set</a:t>
            </a:r>
            <a:endParaRPr lang="en-US" sz="1150" dirty="0"/>
          </a:p>
          <a:p>
            <a:pPr marL="342900" indent="-342900">
              <a:lnSpc>
                <a:spcPct val="200000"/>
              </a:lnSpc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Cross-geography F1 within 10% of in-distribution performance</a:t>
            </a:r>
            <a:endParaRPr lang="en-US" sz="1150" dirty="0"/>
          </a:p>
          <a:p>
            <a:pPr marL="342900" indent="-342900">
              <a:lnSpc>
                <a:spcPct val="200000"/>
              </a:lnSpc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Prediction lead time of 15–30 s ahead of positioning failure</a:t>
            </a:r>
            <a:endParaRPr lang="en-US" sz="1150" dirty="0"/>
          </a:p>
          <a:p>
            <a:pPr marL="342900" indent="-342900">
              <a:lnSpc>
                <a:spcPct val="200000"/>
              </a:lnSpc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Navigation RMSE reduction vs. GNSS-only baseline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6080760" y="777240"/>
            <a:ext cx="2514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AED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035040" y="1170432"/>
            <a:ext cx="2651760" cy="2944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Camera-based environmental context as additional feature group</a:t>
            </a:r>
            <a:endParaRPr lang="en-US" sz="115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BeiDou-specific constellation analysis for Chinese urban environments</a:t>
            </a:r>
            <a:endParaRPr lang="en-US" sz="115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Larger-scale multi-city urban study for broader generalisation</a:t>
            </a:r>
            <a:endParaRPr lang="en-US" sz="115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 2: full real-time system integration and field demonstration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85800" y="4507396"/>
            <a:ext cx="7772400" cy="502920"/>
          </a:xfrm>
          <a:prstGeom prst="rect">
            <a:avLst/>
          </a:prstGeom>
          <a:solidFill>
            <a:srgbClr val="003087"/>
          </a:solidFill>
          <a:ln w="12700">
            <a:solidFill>
              <a:srgbClr val="00308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685800" y="4507396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  ·  Questions?</a:t>
            </a:r>
            <a:endParaRPr lang="en-US" sz="2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sp>
        <p:nvSpPr>
          <p:cNvPr id="1" name="Rectangl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xfrm>
            <a:off x="0" y="2103120"/>
            <a:ext cx="9144000" cy="36000"/>
          </a:xfrm>
          <a:prstGeom prst="rect">
            <a:avLst/>
          </a:prstGeom>
          <a:solidFill>
            <a:srgbClr val="00A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320040"/>
            <a:ext cx="1280160" cy="502920"/>
          </a:xfrm>
          <a:prstGeom prst="rect">
            <a:avLst/>
          </a:prstGeom>
          <a:solidFill>
            <a:srgbClr val="00A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347472"/>
            <a:ext cx="124358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VERSION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14400"/>
            <a:ext cx="8412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</a:rPr>
              <a:t>Progress Update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828800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00A8FF"/>
                </a:solidFill>
              </a:rPr>
              <a:t>May 2026  ·  What has been accomplished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514600"/>
            <a:ext cx="8229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00C86E"/>
                </a:solidFill>
              </a:rPr>
              <a:t>✔  Field data collected — all 5 scenarios, Septentrio MOSAIC-X5C receiver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880360"/>
            <a:ext cx="8229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00C86E"/>
                </a:solidFill>
              </a:rPr>
              <a:t>✔  Public datasets downloaded — NCLT (2 dates), Oxford (4 traversals), UrbanNav HK+Tokyo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246120"/>
            <a:ext cx="8229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00C86E"/>
                </a:solidFill>
              </a:rPr>
              <a:t>✔  Full processing pipeline implemented and validated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611880"/>
            <a:ext cx="8229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00C86E"/>
                </a:solidFill>
              </a:rPr>
              <a:t>✔  Signal quality analysis charts generated for every run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977640"/>
            <a:ext cx="8229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A500"/>
                </a:solidFill>
              </a:rPr>
              <a:t>⬡  RTKLIB post-processing → feature extraction → model training  (next steps)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sp>
        <p:nvSpPr>
          <p:cNvPr id="1" name="Rectangl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7315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Field Data Collection — Complete  ✓  (May 5, 2026)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85800"/>
            <a:ext cx="9144000" cy="18000"/>
          </a:xfrm>
          <a:prstGeom prst="rect">
            <a:avLst/>
          </a:prstGeom>
          <a:solidFill>
            <a:srgbClr val="00A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749808"/>
            <a:ext cx="8595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556575"/>
                </a:solidFill>
              </a:rPr>
              <a:t>Septentrio MOSAIC-X5C receiver · Beihang University campus · ~40 km/h max</a:t>
            </a:r>
          </a:p>
        </p:txBody>
      </p:sp>
      <p:sp>
        <p:nvSpPr>
          <p:cNvPr id="6" name="Rectangle 5"/>
          <p:cNvSpPr/>
          <p:nvPr/>
        </p:nvSpPr>
        <p:spPr>
          <a:xfrm>
            <a:off x="228600" y="1097280"/>
            <a:ext cx="3108960" cy="1645920"/>
          </a:xfrm>
          <a:prstGeom prst="rect">
            <a:avLst/>
          </a:prstGeom>
          <a:solidFill>
            <a:srgbClr val="E8F4FF"/>
          </a:solidFill>
          <a:ln w="12700">
            <a:solidFill>
              <a:srgbClr val="00A8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11430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D1B2A"/>
                </a:solidFill>
              </a:rPr>
              <a:t>Receiver Specifications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1481328"/>
            <a:ext cx="2926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D1B2A"/>
                </a:solidFill>
              </a:rPr>
              <a:t>Model:      Septentrio MOSAIC-X5C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700784"/>
            <a:ext cx="2926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D1B2A"/>
                </a:solidFill>
              </a:rPr>
              <a:t>Serial:     3640133  |  FW 4.12.1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1920240"/>
            <a:ext cx="2926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D1B2A"/>
                </a:solidFill>
              </a:rPr>
              <a:t>Rate:       1 Hz  |  4 constellations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2139696"/>
            <a:ext cx="2926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D1B2A"/>
                </a:solidFill>
              </a:rPr>
              <a:t>Constellations: GPS  Galileo  GLONASS  BeiDou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" y="2359152"/>
            <a:ext cx="2926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D1B2A"/>
                </a:solidFill>
              </a:rPr>
              <a:t>Output:     RINEX 3 (.26O .26N .26G .26P)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" y="2578608"/>
            <a:ext cx="2926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D1B2A"/>
                </a:solidFill>
              </a:rPr>
              <a:t>Converter:  sbf2rin-15.10.3 (Septentrio RxTools)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20440" y="1097280"/>
            <a:ext cx="5394960" cy="320040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57016" y="111556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Scenario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05656" y="1115568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Description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51576" y="111556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Runs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0216" y="1115568"/>
            <a:ext cx="777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Duration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77456" y="1115568"/>
            <a:ext cx="777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~Epochs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54696" y="111556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Mean C/N₀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20440" y="1417320"/>
            <a:ext cx="5394960" cy="402336"/>
          </a:xfrm>
          <a:prstGeom prst="rect">
            <a:avLst/>
          </a:prstGeom>
          <a:solidFill>
            <a:srgbClr val="E8F4FF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557016" y="1435608"/>
            <a:ext cx="548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0A8FF"/>
                </a:solidFill>
              </a:rPr>
              <a:t>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05656" y="1435608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0D1B2A"/>
                </a:solidFill>
              </a:rPr>
              <a:t>Instant Blockage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51576" y="1435608"/>
            <a:ext cx="548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0D1B2A"/>
                </a:solidFill>
              </a:rPr>
              <a:t>Run_1 A2 A3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0216" y="1435608"/>
            <a:ext cx="777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0D1B2A"/>
                </a:solidFill>
              </a:rPr>
              <a:t>45–90 s/run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77456" y="1435608"/>
            <a:ext cx="777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0D1B2A"/>
                </a:solidFill>
              </a:rPr>
              <a:t>~180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54696" y="1435608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0D1B2A"/>
                </a:solidFill>
              </a:rPr>
              <a:t>37.2 dB-Hz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520440" y="1828800"/>
            <a:ext cx="5394960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557016" y="1847088"/>
            <a:ext cx="548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0A8FF"/>
                </a:solidFill>
              </a:rPr>
              <a:t>B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05656" y="1847088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0D1B2A"/>
                </a:solidFill>
              </a:rPr>
              <a:t>Urban Canyon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751576" y="1847088"/>
            <a:ext cx="548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0D1B2A"/>
                </a:solidFill>
              </a:rPr>
              <a:t>Run_1 B2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0216" y="1847088"/>
            <a:ext cx="777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0D1B2A"/>
                </a:solidFill>
              </a:rPr>
              <a:t>8–9 min/run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77456" y="1847088"/>
            <a:ext cx="777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0D1B2A"/>
                </a:solidFill>
              </a:rPr>
              <a:t>~1 600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54696" y="1847088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0D1B2A"/>
                </a:solidFill>
              </a:rPr>
              <a:t>37.2 dB-Hz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520440" y="2240280"/>
            <a:ext cx="5394960" cy="402336"/>
          </a:xfrm>
          <a:prstGeom prst="rect">
            <a:avLst/>
          </a:prstGeom>
          <a:solidFill>
            <a:srgbClr val="E8F4FF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557016" y="2258568"/>
            <a:ext cx="548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0A8FF"/>
                </a:solidFill>
              </a:rPr>
              <a:t>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05656" y="2258568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0D1B2A"/>
                </a:solidFill>
              </a:rPr>
              <a:t>Partial Blockage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751576" y="2258568"/>
            <a:ext cx="548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0D1B2A"/>
                </a:solidFill>
              </a:rPr>
              <a:t>Run_1 C2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00216" y="2258568"/>
            <a:ext cx="777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0D1B2A"/>
                </a:solidFill>
              </a:rPr>
              <a:t>10–16 min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077456" y="2258568"/>
            <a:ext cx="777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0D1B2A"/>
                </a:solidFill>
              </a:rPr>
              <a:t>~2 700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854696" y="2258568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0D1B2A"/>
                </a:solidFill>
              </a:rPr>
              <a:t>38.6 dB-Hz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520440" y="2651760"/>
            <a:ext cx="5394960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557016" y="2670048"/>
            <a:ext cx="548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0A8FF"/>
                </a:solidFill>
              </a:rPr>
              <a:t>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05656" y="2670048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0D1B2A"/>
                </a:solidFill>
              </a:rPr>
              <a:t>Open Sky (baseline)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751576" y="2670048"/>
            <a:ext cx="548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0D1B2A"/>
                </a:solidFill>
              </a:rPr>
              <a:t>Run_1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00216" y="2670048"/>
            <a:ext cx="777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0D1B2A"/>
                </a:solidFill>
              </a:rPr>
              <a:t>~10 min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077456" y="2670048"/>
            <a:ext cx="777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0D1B2A"/>
                </a:solidFill>
              </a:rPr>
              <a:t>~600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854696" y="2670048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0D1B2A"/>
                </a:solidFill>
              </a:rPr>
              <a:t>41.2 dB-Hz ✔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520440" y="3063240"/>
            <a:ext cx="5394960" cy="402336"/>
          </a:xfrm>
          <a:prstGeom prst="rect">
            <a:avLst/>
          </a:prstGeom>
          <a:solidFill>
            <a:srgbClr val="E8F4FF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557016" y="3081528"/>
            <a:ext cx="548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0A8FF"/>
                </a:solidFill>
              </a:rPr>
              <a:t>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105656" y="3081528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0D1B2A"/>
                </a:solidFill>
              </a:rPr>
              <a:t>Approaching Block.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751576" y="3081528"/>
            <a:ext cx="548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0D1B2A"/>
                </a:solidFill>
              </a:rPr>
              <a:t>E2 E3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00216" y="3081528"/>
            <a:ext cx="777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0D1B2A"/>
                </a:solidFill>
              </a:rPr>
              <a:t>6–7 min/run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077456" y="3081528"/>
            <a:ext cx="777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0D1B2A"/>
                </a:solidFill>
              </a:rPr>
              <a:t>~1 000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854696" y="3081528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0D1B2A"/>
                </a:solidFill>
              </a:rPr>
              <a:t>38.6 dB-Hz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28600" y="4754880"/>
            <a:ext cx="8686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56575"/>
                </a:solidFill>
              </a:rPr>
              <a:t>11 RINEX files total  ·  All processed and verified  ·  Charts: results/scenario_analysis/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sp>
        <p:nvSpPr>
          <p:cNvPr id="1" name="Rectangl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7315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Signal Quality Analysis — Key Findings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85800"/>
            <a:ext cx="9144000" cy="18000"/>
          </a:xfrm>
          <a:prstGeom prst="rect">
            <a:avLst/>
          </a:prstGeom>
          <a:solidFill>
            <a:srgbClr val="00A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749808"/>
            <a:ext cx="8595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556575"/>
                </a:solidFill>
              </a:rPr>
              <a:t>Derived from RINEX 3 SNR indicators · all 4 constellations · 1 Hz · Septentrio MOSAIC-X5C</a:t>
            </a:r>
          </a:p>
        </p:txBody>
      </p:sp>
      <p:sp>
        <p:nvSpPr>
          <p:cNvPr id="6" name="Rectangle 5"/>
          <p:cNvSpPr/>
          <p:nvPr/>
        </p:nvSpPr>
        <p:spPr>
          <a:xfrm>
            <a:off x="228600" y="1005840"/>
            <a:ext cx="292608" cy="548640"/>
          </a:xfrm>
          <a:prstGeom prst="rect">
            <a:avLst/>
          </a:prstGeom>
          <a:solidFill>
            <a:srgbClr val="00C8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03327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1B2A"/>
                </a:solidFill>
              </a:rPr>
              <a:t>D — Open Sky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28016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56575"/>
                </a:solidFill>
              </a:rPr>
              <a:t>41.2 dB-Hz mean  ·  0.5% epochs below 25 dB-Hz  ·  ~39 obs/epoch (most satellites of any scenario)</a:t>
            </a:r>
          </a:p>
        </p:txBody>
      </p:sp>
      <p:sp>
        <p:nvSpPr>
          <p:cNvPr id="9" name="Rectangle 8"/>
          <p:cNvSpPr/>
          <p:nvPr/>
        </p:nvSpPr>
        <p:spPr>
          <a:xfrm>
            <a:off x="228600" y="1773936"/>
            <a:ext cx="292608" cy="548640"/>
          </a:xfrm>
          <a:prstGeom prst="rect">
            <a:avLst/>
          </a:prstGeom>
          <a:solidFill>
            <a:srgbClr val="008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801368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1B2A"/>
                </a:solidFill>
              </a:rPr>
              <a:t>C — Partial Blockage (Trees)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048256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56575"/>
                </a:solidFill>
              </a:rPr>
              <a:t>38.6 dB-Hz mean  ·  0.6% epochs degraded  ·  Gradual C/N₀ fluctuations consistent with foliage attenuation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28600" y="2542032"/>
            <a:ext cx="292608" cy="548640"/>
          </a:xfrm>
          <a:prstGeom prst="rect">
            <a:avLst/>
          </a:prstGeom>
          <a:solidFill>
            <a:srgbClr val="FFA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569464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1B2A"/>
                </a:solidFill>
              </a:rPr>
              <a:t>B — Urban Canyon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2816352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56575"/>
                </a:solidFill>
              </a:rPr>
              <a:t>37.2 dB-Hz mean  ·  3.0% epochs below threshold  ·  Periodic sharp dips from building reflections visible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8600" y="3310128"/>
            <a:ext cx="292608" cy="548640"/>
          </a:xfrm>
          <a:prstGeom prst="rect">
            <a:avLst/>
          </a:prstGeom>
          <a:solidFill>
            <a:srgbClr val="FF7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33756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1B2A"/>
                </a:solidFill>
              </a:rPr>
              <a:t>E — Approaching Blockage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3584448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56575"/>
                </a:solidFill>
              </a:rPr>
              <a:t>38.6 dB-Hz mean  ·  5.9% degraded  ·  Gradual deterioration pattern clearly identifiable for prediction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28600" y="4078224"/>
            <a:ext cx="292608" cy="548640"/>
          </a:xfrm>
          <a:prstGeom prst="rect">
            <a:avLst/>
          </a:prstGeom>
          <a:solidFill>
            <a:srgbClr val="E02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105656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1B2A"/>
                </a:solidFill>
              </a:rPr>
              <a:t>A — Instant Blockage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4352544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56575"/>
                </a:solidFill>
              </a:rPr>
              <a:t>Sharp satellite dropout in first 15 s  ·  Count collapses 24 → 0–2 sats  ·  C/N₀ falls below 25 dB-Hz immediately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28600" y="4736592"/>
            <a:ext cx="8686800" cy="6000"/>
          </a:xfrm>
          <a:prstGeom prst="rect">
            <a:avLst/>
          </a:prstGeom>
          <a:solidFill>
            <a:srgbClr val="00A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20040" y="4709160"/>
            <a:ext cx="8503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0D1B2A"/>
                </a:solidFill>
              </a:rPr>
              <a:t>Key insight: Scenario A shows clear distinct signature; D and A are near-perfectly separable. B/C/E have partial overlaps — exactly the challenge the Transformer-LSTM must solve.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sp>
        <p:nvSpPr>
          <p:cNvPr id="1" name="Rectangl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7315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Dataset Inventory — All Sources Ready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85800"/>
            <a:ext cx="9144000" cy="18000"/>
          </a:xfrm>
          <a:prstGeom prst="rect">
            <a:avLst/>
          </a:prstGeom>
          <a:solidFill>
            <a:srgbClr val="00A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749808"/>
            <a:ext cx="8595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556575"/>
                </a:solidFill>
              </a:rPr>
              <a:t>No further downloads required  ·  RTKLIB post-processing is the next action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228600" y="868680"/>
            <a:ext cx="8686800" cy="347472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65176" y="886968"/>
            <a:ext cx="2057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</a:rPr>
              <a:t>Dataset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22576" y="886968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</a:rPr>
              <a:t>Location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00016" y="886968"/>
            <a:ext cx="822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</a:rPr>
              <a:t>RTKLIB?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22976" y="886968"/>
            <a:ext cx="1005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</a:rPr>
              <a:t>Epochs est.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28816" y="886968"/>
            <a:ext cx="1280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</a:rPr>
              <a:t>Scenarios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08975" y="886968"/>
            <a:ext cx="1280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</a:rPr>
              <a:t>Status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8600" y="1216152"/>
            <a:ext cx="8686800" cy="530352"/>
          </a:xfrm>
          <a:prstGeom prst="rect">
            <a:avLst/>
          </a:prstGeom>
          <a:solidFill>
            <a:srgbClr val="E8F4FF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5176" y="1252728"/>
            <a:ext cx="20574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D1B2A"/>
                </a:solidFill>
              </a:rPr>
              <a:t>Our Collection (Septentrio)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22576" y="1252728"/>
            <a:ext cx="23774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D1B2A"/>
                </a:solidFill>
              </a:rPr>
              <a:t>raw/scenarios/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00016" y="1252728"/>
            <a:ext cx="822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D1B2A"/>
                </a:solidFill>
              </a:rPr>
              <a:t>YES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22976" y="1252728"/>
            <a:ext cx="1005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D1B2A"/>
                </a:solidFill>
              </a:rPr>
              <a:t>~6 000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28816" y="1252728"/>
            <a:ext cx="12801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D1B2A"/>
                </a:solidFill>
              </a:rPr>
              <a:t>A B C D 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08975" y="1252728"/>
            <a:ext cx="12801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C86E"/>
                </a:solidFill>
              </a:rPr>
              <a:t>✔ Collected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8600" y="1783080"/>
            <a:ext cx="8686800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65176" y="1819656"/>
            <a:ext cx="20574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D1B2A"/>
                </a:solidFill>
              </a:rPr>
              <a:t>Supervisor Vehicle (exp1–4)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2576" y="1819656"/>
            <a:ext cx="23774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D1B2A"/>
                </a:solidFill>
              </a:rPr>
              <a:t>raw/supervisor/vehicle/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00016" y="1819656"/>
            <a:ext cx="822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D1B2A"/>
                </a:solidFill>
              </a:rPr>
              <a:t>YES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22976" y="1819656"/>
            <a:ext cx="1005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D1B2A"/>
                </a:solidFill>
              </a:rPr>
              <a:t>~5 000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28816" y="1819656"/>
            <a:ext cx="12801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D1B2A"/>
                </a:solidFill>
              </a:rPr>
              <a:t>B C D 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08975" y="1819656"/>
            <a:ext cx="12801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C86E"/>
                </a:solidFill>
              </a:rPr>
              <a:t>✔ On disk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28600" y="2350008"/>
            <a:ext cx="8686800" cy="530352"/>
          </a:xfrm>
          <a:prstGeom prst="rect">
            <a:avLst/>
          </a:prstGeom>
          <a:solidFill>
            <a:srgbClr val="E8F4FF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65176" y="2386584"/>
            <a:ext cx="20574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D1B2A"/>
                </a:solidFill>
              </a:rPr>
              <a:t>Supervisor Drone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22576" y="2386584"/>
            <a:ext cx="23774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D1B2A"/>
                </a:solidFill>
              </a:rPr>
              <a:t>raw/supervisor/drone/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00016" y="2386584"/>
            <a:ext cx="822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D1B2A"/>
                </a:solidFill>
              </a:rPr>
              <a:t>YES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522976" y="2386584"/>
            <a:ext cx="1005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D1B2A"/>
                </a:solidFill>
              </a:rPr>
              <a:t>~2 000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28816" y="2386584"/>
            <a:ext cx="12801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D1B2A"/>
                </a:solidFill>
              </a:rPr>
              <a:t>D 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808975" y="2386584"/>
            <a:ext cx="12801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C86E"/>
                </a:solidFill>
              </a:rPr>
              <a:t>✔ On disk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28600" y="2916936"/>
            <a:ext cx="8686800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65176" y="2953512"/>
            <a:ext cx="20574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D1B2A"/>
                </a:solidFill>
              </a:rPr>
              <a:t>NCLT (2 dates)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22576" y="2953512"/>
            <a:ext cx="23774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D1B2A"/>
                </a:solidFill>
              </a:rPr>
              <a:t>raw/public/nclt/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700016" y="2953512"/>
            <a:ext cx="822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D1B2A"/>
                </a:solidFill>
              </a:rPr>
              <a:t>NO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522976" y="2953512"/>
            <a:ext cx="1005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D1B2A"/>
                </a:solidFill>
              </a:rPr>
              <a:t>~14 400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28816" y="2953512"/>
            <a:ext cx="12801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D1B2A"/>
                </a:solidFill>
              </a:rPr>
              <a:t>B 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808975" y="2953512"/>
            <a:ext cx="12801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C86E"/>
                </a:solidFill>
              </a:rPr>
              <a:t>✔ Downloaded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28600" y="3483864"/>
            <a:ext cx="8686800" cy="530352"/>
          </a:xfrm>
          <a:prstGeom prst="rect">
            <a:avLst/>
          </a:prstGeom>
          <a:solidFill>
            <a:srgbClr val="E8F4FF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65176" y="3520440"/>
            <a:ext cx="20574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D1B2A"/>
                </a:solidFill>
              </a:rPr>
              <a:t>Oxford RobotCar (4 traversals)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22576" y="3520440"/>
            <a:ext cx="23774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D1B2A"/>
                </a:solidFill>
              </a:rPr>
              <a:t>raw/public/oxford/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700016" y="3520440"/>
            <a:ext cx="822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D1B2A"/>
                </a:solidFill>
              </a:rPr>
              <a:t>NO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522976" y="3520440"/>
            <a:ext cx="1005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D1B2A"/>
                </a:solidFill>
              </a:rPr>
              <a:t>~10 800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528816" y="3520440"/>
            <a:ext cx="12801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D1B2A"/>
                </a:solidFill>
              </a:rPr>
              <a:t>B C 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808975" y="3520440"/>
            <a:ext cx="12801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C86E"/>
                </a:solidFill>
              </a:rPr>
              <a:t>✔ Downloaded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28600" y="4050792"/>
            <a:ext cx="8686800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65176" y="4087368"/>
            <a:ext cx="20574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D1B2A"/>
                </a:solidFill>
              </a:rPr>
              <a:t>UrbanNav HK + Tokyo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22576" y="4087368"/>
            <a:ext cx="23774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D1B2A"/>
                </a:solidFill>
              </a:rPr>
              <a:t>raw/public/urbannav/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700016" y="4087368"/>
            <a:ext cx="822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D1B2A"/>
                </a:solidFill>
              </a:rPr>
              <a:t>YES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522976" y="4087368"/>
            <a:ext cx="1005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D1B2A"/>
                </a:solidFill>
              </a:rPr>
              <a:t>~5 000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528816" y="4087368"/>
            <a:ext cx="12801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D1B2A"/>
                </a:solidFill>
              </a:rPr>
              <a:t>A B C 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808975" y="4087368"/>
            <a:ext cx="12801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C86E"/>
                </a:solidFill>
              </a:rPr>
              <a:t>✔ Extracted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28600" y="4754880"/>
            <a:ext cx="8686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0A8FF"/>
                </a:solidFill>
              </a:rPr>
              <a:t>Total estimated labelled epochs: ~43 000  ·  All 5 scenario classes covered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156</TotalTime>
  <Words>2851</Words>
  <Application>Microsoft Macintosh PowerPoint</Application>
  <PresentationFormat>On-screen Show (16:9)</PresentationFormat>
  <Paragraphs>429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7" baseType="lpstr">
      <vt:lpstr>Arial</vt:lpstr>
      <vt:lpstr>Calibri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AI-Based Prediction of GNSS Signal Degradation for Autonomous Driving</dc:title>
  <dc:subject>PptxGenJS Presentation</dc:subject>
  <dc:creator>Ojerinde Joel Segun &amp; Team — Beihang University 2025</dc:creator>
  <cp:lastModifiedBy>Ogunlade, Joshua (jogunla1)</cp:lastModifiedBy>
  <cp:revision>15</cp:revision>
  <dcterms:created xsi:type="dcterms:W3CDTF">2026-04-24T07:17:25Z</dcterms:created>
  <dcterms:modified xsi:type="dcterms:W3CDTF">2026-04-27T02:52:01Z</dcterms:modified>
</cp:coreProperties>
</file>