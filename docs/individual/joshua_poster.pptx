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420624" cy="420624"/>
          </a:xfrm>
          <a:prstGeom prst="rect">
            <a:avLst/>
          </a:prstGeom>
        </p:spPr>
      </p:pic>
      <p:pic>
        <p:nvPicPr>
          <p:cNvPr id="5" name="Picture 4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73152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" y="27432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46888"/>
            <a:ext cx="80284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</a:rPr>
              <a:t>Ogunlade Joshua Oluwaseun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02336"/>
            <a:ext cx="80284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Data Engineering · Feature Extraction · Dataset Assembly   |   RCSSTEAP / Beihang University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My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896112"/>
            <a:ext cx="4398264" cy="1572768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Built GNSS extraction pipeline (extract_gnss.py) from ROSBAG files,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RTKLIB automated processing (run_rtklib.py) — 4 stages: format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conversion, precise orbit download, SPP computation, output parsing.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Engineered all 37 GNSS features across 7 groups: position quality,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signal strength, satellite geometry, residuals, temporal, atmospheric,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and receiver type — used as the model input tensor.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Assembled the final 149,662-epoch dataset (assemble_dataset.py):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3-class labelling, causal sliding window, session-level split.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Ran multi-pass QA: histogram inspection, leakage audit, field re-collection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of 5 bad runs totalling ~480 mislabelled epochs.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54203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Engineering Pipeline</a:t>
            </a:r>
          </a:p>
        </p:txBody>
      </p:sp>
      <p:pic>
        <p:nvPicPr>
          <p:cNvPr id="12" name="Picture 11" descr="fig15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32" y="2779776"/>
            <a:ext cx="3239255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" y="3694176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End-to-end data pipeline: raw RINEX/NMEA → RTKLIB SPP → feature extraction → 3-class labelling → causal sliding window → session-level train/val/test split.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400507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37 Feature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" y="4242816"/>
            <a:ext cx="4398264" cy="804672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Group 1  Position Quality (4):  hdop, pdop, gdop, vdop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Group 2  Signal Strength (8):   max/mean/std/min C/N₀, available sats, cnr_trend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Group 3  Satellite Geometry (6): baseline sats, sat_mean, dop_ratio, fix_continuity …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Groups 4–7  Residuals, Temporal Δ, Atmospheric, Receiver type (19 features)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Excluded:  lat/lon — geographic overfitting guard.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6007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Multi-City Dataset Composition</a:t>
            </a:r>
          </a:p>
        </p:txBody>
      </p:sp>
      <p:pic>
        <p:nvPicPr>
          <p:cNvPr id="17" name="Picture 16" descr="fig10_dataset_com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726" y="896112"/>
            <a:ext cx="3952826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36007" y="2907792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Dataset composition by city, environment, and receiver class. Training: Hangzhou + Hong Kong  ·  Zero-shot test: Tokyo.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7" y="3255264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Class Distribution</a:t>
            </a:r>
          </a:p>
        </p:txBody>
      </p:sp>
      <p:pic>
        <p:nvPicPr>
          <p:cNvPr id="20" name="Picture 19" descr="fig11_class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692" y="3493008"/>
            <a:ext cx="2408894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36007" y="4956048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Class label distribution across splits. DEGRADED is rare (class imbalance → Focal Loss + class weights).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6007" y="5266944"/>
            <a:ext cx="4398264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3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3893"/>
                </a:solidFill>
              </a:rPr>
              <a:t>149,662 labelled epochs  ·  4 cities  ·  9+ receiver types  ·  12 source groups</a:t>
            </a:r>
          </a:p>
          <a:p>
            <a:r>
              <a:rPr sz="750" b="0">
                <a:solidFill>
                  <a:srgbClr val="1A2436"/>
                </a:solidFill>
              </a:rPr>
              <a:t>Training: Hangzhou (Beihang) + Hong Kong  ·  Zero-shot: Tokyo  ·  Excluded: Michigan, Oxford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