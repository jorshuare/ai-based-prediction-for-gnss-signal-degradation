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3892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38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"/>
            <a:ext cx="9144000" cy="36576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eihan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" y="73152"/>
            <a:ext cx="420624" cy="420624"/>
          </a:xfrm>
          <a:prstGeom prst="rect">
            <a:avLst/>
          </a:prstGeom>
        </p:spPr>
      </p:pic>
      <p:pic>
        <p:nvPicPr>
          <p:cNvPr id="5" name="Picture 4" descr="rcsste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73152"/>
            <a:ext cx="420624" cy="4206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57784" y="27432"/>
            <a:ext cx="802843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AI-Based Proactive Prediction of GNSS Signal Degradation for Autonomous Vehicle Navigation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" y="246888"/>
            <a:ext cx="802843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FC3F7"/>
                </a:solidFill>
              </a:rPr>
              <a:t>Mustapha Ibrahim Ishola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" y="402336"/>
            <a:ext cx="8028431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EKF Implementation · Real-Time Dashboard · Live Demonstration   |   RCSSTEAP / Beihang University  ·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" y="658368"/>
            <a:ext cx="4398264" cy="219456"/>
          </a:xfrm>
          <a:prstGeom prst="rect">
            <a:avLst/>
          </a:prstGeom>
          <a:solidFill>
            <a:srgbClr val="0038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My Contributions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" y="896112"/>
            <a:ext cx="4398264" cy="1389888"/>
          </a:xfrm>
          <a:prstGeom prst="rect">
            <a:avLst/>
          </a:prstGeom>
          <a:solidFill>
            <a:srgbClr val="EBF3FC"/>
          </a:solidFill>
          <a:ln w="10160">
            <a:solidFill>
              <a:srgbClr val="1A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</a:pPr>
            <a:r>
              <a:rPr sz="750">
                <a:solidFill>
                  <a:srgbClr val="1A2436"/>
                </a:solidFill>
              </a:rPr>
              <a:t>• Implemented the full 9-state EKF (ekf.py): state transition (F), process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1A2436"/>
                </a:solidFill>
              </a:rPr>
              <a:t>  noise (Q), Joseph-form update, SENTINEL-adaptive R(t) integration.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1A2436"/>
                </a:solidFill>
              </a:rPr>
              <a:t>• Validated EKF on real Tokyo Shinjuku Trimble data; degraded RMSE reduced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1A2436"/>
                </a:solidFill>
              </a:rPr>
              <a:t>  from 47.4 m (GNSS-only) to 26.9 m with SENTINEL-calibrated adaptive R.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1A2436"/>
                </a:solidFill>
              </a:rPr>
              <a:t>• Designed and built the real-time dashboard: FastAPI backend (port 8000),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1A2436"/>
                </a:solidFill>
              </a:rPr>
              <a:t>  Next.js 15 / React 19 frontend (port 3000), WebSocket replay at 1–30 Hz.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1A2436"/>
                </a:solidFill>
              </a:rPr>
              <a:t>• Integrated live Septentrio USB receiver with NMEA parsing and feature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1A2436"/>
                </a:solidFill>
              </a:rPr>
              <a:t>  extraction for campus demonstration.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" y="2359152"/>
            <a:ext cx="4398264" cy="219456"/>
          </a:xfrm>
          <a:prstGeom prst="rect">
            <a:avLst/>
          </a:prstGeom>
          <a:solidFill>
            <a:srgbClr val="0038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9-State Adaptive EKF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" y="2596896"/>
            <a:ext cx="4398264" cy="1078992"/>
          </a:xfrm>
          <a:prstGeom prst="rect">
            <a:avLst/>
          </a:prstGeom>
          <a:solidFill>
            <a:srgbClr val="EBF3FC"/>
          </a:solidFill>
          <a:ln w="10160">
            <a:solidFill>
              <a:srgbClr val="1A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</a:pPr>
            <a:r>
              <a:rPr sz="780">
                <a:solidFill>
                  <a:srgbClr val="1A2436"/>
                </a:solidFill>
              </a:rPr>
              <a:t>State vector: [x, y, vx, vy, heading, ax, ay, ωz, baro]</a:t>
            </a:r>
          </a:p>
          <a:p>
            <a:pPr>
              <a:spcBef>
                <a:spcPts val="100"/>
              </a:spcBef>
            </a:pPr>
            <a:r>
              <a:rPr sz="780">
                <a:solidFill>
                  <a:srgbClr val="1A2436"/>
                </a:solidFill>
              </a:rPr>
              <a:t>Adaptive R(t) = σ²_base + (σ²_deg − σ²_base) × P̂_calib</a:t>
            </a:r>
          </a:p>
          <a:p>
            <a:pPr>
              <a:spcBef>
                <a:spcPts val="100"/>
              </a:spcBef>
            </a:pPr>
            <a:r>
              <a:rPr sz="780">
                <a:solidFill>
                  <a:srgbClr val="1A2436"/>
                </a:solidFill>
              </a:rPr>
              <a:t>  where P̂_calib = clip((P̂ − P₅)/(1 − P₅), 0, 1), P₅ = 0.153</a:t>
            </a:r>
          </a:p>
          <a:p>
            <a:pPr>
              <a:spcBef>
                <a:spcPts val="100"/>
              </a:spcBef>
            </a:pPr>
            <a:r>
              <a:rPr sz="780">
                <a:solidFill>
                  <a:srgbClr val="1A2436"/>
                </a:solidFill>
              </a:rPr>
              <a:t>R(t): 9 m² (CLEAN) → 10,000 m² (fully DEGRADED)</a:t>
            </a:r>
          </a:p>
          <a:p>
            <a:pPr>
              <a:spcBef>
                <a:spcPts val="100"/>
              </a:spcBef>
            </a:pPr>
            <a:r>
              <a:rPr sz="780">
                <a:solidFill>
                  <a:srgbClr val="1A2436"/>
                </a:solidFill>
              </a:rPr>
              <a:t>Joseph form: P⁺ = (I−KH)P⁻(I−KH)ᵀ + KRKᵀ  (numerically stable)</a:t>
            </a:r>
          </a:p>
          <a:p>
            <a:pPr>
              <a:spcBef>
                <a:spcPts val="100"/>
              </a:spcBef>
            </a:pPr>
            <a:r>
              <a:rPr sz="780">
                <a:solidFill>
                  <a:srgbClr val="1A2436"/>
                </a:solidFill>
              </a:rPr>
              <a:t>Result: degraded RMSE 47.4 m → 26.9 m  (−43.2%)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" y="3749039"/>
            <a:ext cx="4398264" cy="219456"/>
          </a:xfrm>
          <a:prstGeom prst="rect">
            <a:avLst/>
          </a:prstGeom>
          <a:solidFill>
            <a:srgbClr val="0038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Navigation Results  (Tokyo Shinjuku, Trimble)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" y="3986783"/>
            <a:ext cx="4398264" cy="585216"/>
          </a:xfrm>
          <a:prstGeom prst="rect">
            <a:avLst/>
          </a:prstGeom>
          <a:solidFill>
            <a:srgbClr val="E3F2FD"/>
          </a:solidFill>
          <a:ln w="12700">
            <a:solidFill>
              <a:srgbClr val="0038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003893"/>
                </a:solidFill>
              </a:rPr>
              <a:t>GNSS-only  47.4 m  →  SENTINEL adaptive EKF  26.9 m  (−43.2%)</a:t>
            </a:r>
          </a:p>
          <a:p>
            <a:r>
              <a:rPr sz="800" b="0">
                <a:solidFill>
                  <a:srgbClr val="1A2436"/>
                </a:solidFill>
              </a:rPr>
              <a:t>Fixed-R oracle 24.3 m (−48.8%)  ·  SENTINEL: 2nd best, no per-city tuning</a:t>
            </a:r>
          </a:p>
          <a:p>
            <a:r>
              <a:rPr sz="750" b="0">
                <a:solidFill>
                  <a:srgbClr val="446480"/>
                </a:solidFill>
              </a:rPr>
              <a:t>CEP95 cut: 76.3 m → 53.7 m  ·  Max error: 887.8 m → 162.8 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36007" y="658368"/>
            <a:ext cx="4398264" cy="219456"/>
          </a:xfrm>
          <a:prstGeom prst="rect">
            <a:avLst/>
          </a:prstGeom>
          <a:solidFill>
            <a:srgbClr val="0038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Dashboard Architecture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36007" y="896112"/>
            <a:ext cx="4398264" cy="1389888"/>
          </a:xfrm>
          <a:prstGeom prst="rect">
            <a:avLst/>
          </a:prstGeom>
          <a:solidFill>
            <a:srgbClr val="EBF3FC"/>
          </a:solidFill>
          <a:ln w="10160">
            <a:solidFill>
              <a:srgbClr val="1A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</a:pPr>
            <a:r>
              <a:rPr sz="750">
                <a:solidFill>
                  <a:srgbClr val="1A2436"/>
                </a:solidFill>
              </a:rPr>
              <a:t>FastAPI backend — REST endpoints + WebSocket /ws: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1A2436"/>
                </a:solidFill>
              </a:rPr>
              <a:t>  GET /api/predictions/{id}  ·  GET /api/fusion  ·  GET /api/ekf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1A2436"/>
                </a:solidFill>
              </a:rPr>
              <a:t>  WebSocket: start_replay → epoch stream at configurable speed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1A2436"/>
                </a:solidFill>
              </a:rPr>
              <a:t>Next.js 15 frontend — 3 tabs: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1A2436"/>
                </a:solidFill>
              </a:rPr>
              <a:t>  Live Tab  — Signal gauge, probability bars, alarm centre, trajectory map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1A2436"/>
                </a:solidFill>
              </a:rPr>
              <a:t>  Fusion Tab — OSM tile map + EKF track overlays + RMSE bars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1A2436"/>
                </a:solidFill>
              </a:rPr>
              <a:t>  Analytics Tab — EKF strategy comparison, blockage statistics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1A2436"/>
                </a:solidFill>
              </a:rPr>
              <a:t>All data pre-computed (0 ms inference overhead at runtime).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36007" y="2359152"/>
            <a:ext cx="4398264" cy="219456"/>
          </a:xfrm>
          <a:prstGeom prst="rect">
            <a:avLst/>
          </a:prstGeom>
          <a:solidFill>
            <a:srgbClr val="0038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End-to-End Latency</a:t>
            </a:r>
          </a:p>
        </p:txBody>
      </p:sp>
      <p:pic>
        <p:nvPicPr>
          <p:cNvPr id="18" name="Picture 17" descr="fig12_latenc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1221" y="2596896"/>
            <a:ext cx="2307836" cy="16459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636007" y="4242816"/>
            <a:ext cx="4398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" b="0" i="1">
                <a:solidFill>
                  <a:srgbClr val="446480"/>
                </a:solidFill>
              </a:rPr>
              <a:t>Fig: Inference latency breakdown — SENTINEL 0.0449 ms vs baselines. Dashboard pipeline adds negligible overhead at 10 Hz.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36007" y="4553712"/>
            <a:ext cx="4398264" cy="219456"/>
          </a:xfrm>
          <a:prstGeom prst="rect">
            <a:avLst/>
          </a:prstGeom>
          <a:solidFill>
            <a:srgbClr val="0038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Live Campus Demonstration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36007" y="4791455"/>
            <a:ext cx="4398264" cy="804672"/>
          </a:xfrm>
          <a:prstGeom prst="rect">
            <a:avLst/>
          </a:prstGeom>
          <a:solidFill>
            <a:srgbClr val="EBF3FC"/>
          </a:solidFill>
          <a:ln w="10160">
            <a:solidFill>
              <a:srgbClr val="1A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</a:pPr>
            <a:r>
              <a:rPr sz="750">
                <a:solidFill>
                  <a:srgbClr val="1A2436"/>
                </a:solidFill>
              </a:rPr>
              <a:t>• Septentrio receiver connected via USB serial; NMEA parsed in real time.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1A2436"/>
                </a:solidFill>
              </a:rPr>
              <a:t>• Live feature extraction fed into SENTINEL model; predictions streamed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1A2436"/>
                </a:solidFill>
              </a:rPr>
              <a:t>  to dashboard at 1 Hz with colour-coded risk display.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1A2436"/>
                </a:solidFill>
              </a:rPr>
              <a:t>• Campus scenario: Beihang main building NLOS → CLEAN transition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1A2436"/>
                </a:solidFill>
              </a:rPr>
              <a:t>  visible live on trajectory map and probability bars.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