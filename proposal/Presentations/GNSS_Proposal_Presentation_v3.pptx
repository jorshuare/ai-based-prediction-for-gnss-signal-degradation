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84" r:id="rId3"/>
    <p:sldId id="257" r:id="rId4"/>
    <p:sldId id="258" r:id="rId5"/>
    <p:sldId id="276" r:id="rId6"/>
    <p:sldId id="259" r:id="rId7"/>
    <p:sldId id="285" r:id="rId8"/>
    <p:sldId id="292" r:id="rId9"/>
    <p:sldId id="261" r:id="rId10"/>
    <p:sldId id="288" r:id="rId11"/>
    <p:sldId id="289" r:id="rId12"/>
    <p:sldId id="277" r:id="rId13"/>
    <p:sldId id="281" r:id="rId14"/>
    <p:sldId id="293" r:id="rId26"/>
    <p:sldId id="294" r:id="rId27"/>
    <p:sldId id="295" r:id="rId28"/>
    <p:sldId id="296" r:id="rId29"/>
    <p:sldId id="297" r:id="rId30"/>
    <p:sldId id="286" r:id="rId15"/>
    <p:sldId id="287" r:id="rId16"/>
    <p:sldId id="290" r:id="rId17"/>
    <p:sldId id="274" r:id="rId18"/>
    <p:sldId id="273" r:id="rId19"/>
    <p:sldId id="275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08" autoAdjust="0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3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8540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9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8DCF2-868A-563F-4963-2235003E8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7E8E8A-24AA-91B2-5AC6-4E69D12B0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DE93A1-090C-ABBA-115E-0071A7149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BE0718-60EE-9A04-9800-53CC11DE1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374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1952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E8940-D5BF-755A-489C-D4F11B57A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8FA161-0187-EA6E-FD67-143020CBBE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30023B-C9D6-D83A-BE7E-0A1A11313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8685F-D041-61D5-C148-039A7559CA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8328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85914-34FA-09E6-C316-015610808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6C0FE3-96DB-DE33-2FD2-B190C3907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CAC537-3D7C-B62A-F6CF-AA9881F8E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BBB20-83D3-DBED-2493-E03449B600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1129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85914-34FA-09E6-C316-015610808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6C0FE3-96DB-DE33-2FD2-B190C3907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CAC537-3D7C-B62A-F6CF-AA9881F8E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BBB20-83D3-DBED-2493-E03449B600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1030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85914-34FA-09E6-C316-015610808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6C0FE3-96DB-DE33-2FD2-B190C3907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CAC537-3D7C-B62A-F6CF-AA9881F8E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BBB20-83D3-DBED-2493-E03449B600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1667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5188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99" y="822959"/>
            <a:ext cx="99391" cy="4051189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478137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Prediction of GNSS Signal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 for Autonomous Driving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078337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Study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48232"/>
              </p:ext>
            </p:extLst>
          </p:nvPr>
        </p:nvGraphicFramePr>
        <p:xfrm>
          <a:off x="685800" y="2581257"/>
          <a:ext cx="7863840" cy="1828800"/>
        </p:xfrm>
        <a:graphic>
          <a:graphicData uri="http://schemas.openxmlformats.org/drawingml/2006/table">
            <a:tbl>
              <a:tblPr/>
              <a:tblGrid>
                <a:gridCol w="669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08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S/N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Ojerinde Joel Segun 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LS2525253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Mustapha Ibrahim Ishola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LS2525238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Ogunlade Joshua Oluwaseun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LS2525237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Ingeriyinkindi Claudine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LS2525236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Rashid Md Harun 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LS2525219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E77A5688-5D3D-76CB-DF27-D06D55042F3B}"/>
              </a:ext>
            </a:extLst>
          </p:cNvPr>
          <p:cNvSpPr/>
          <p:nvPr/>
        </p:nvSpPr>
        <p:spPr>
          <a:xfrm>
            <a:off x="2914116" y="4537816"/>
            <a:ext cx="3144852" cy="3674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Supervisor: Dr. Ahmed Wasiu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29-d2nf5a98bjvh7rlivrvg.png"/>
          <p:cNvPicPr>
            <a:picLocks noChangeAspect="1"/>
          </p:cNvPicPr>
          <p:nvPr/>
        </p:nvPicPr>
        <p:blipFill>
          <a:blip r:embed="rId3"/>
          <a:srcRect l="20060" t="9520" b="9520"/>
          <a:stretch/>
        </p:blipFill>
        <p:spPr>
          <a:xfrm>
            <a:off x="2191554" y="250107"/>
            <a:ext cx="5078730" cy="51435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7:29-d2nf5a98bjvh7rlivru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715" y="1791414"/>
            <a:ext cx="1200150" cy="123825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28237" y="2136457"/>
            <a:ext cx="990124" cy="100107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1132047" y="2138939"/>
            <a:ext cx="990124" cy="1001078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  <a:effectLst>
            <a:outerShdw blurRad="304800" dist="184847" dir="2700000" algn="bl" rotWithShape="0">
              <a:srgbClr val="2E54A1">
                <a:alpha val="23922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1128237" y="2264093"/>
            <a:ext cx="990124" cy="74485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2478883" y="2182730"/>
            <a:ext cx="6544973" cy="95480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rgbClr val="000000"/>
                </a:solidFill>
                <a:latin typeface="Arial Black" pitchFamily="34" charset="0"/>
              </a:rPr>
              <a:t>RECAP</a:t>
            </a:r>
            <a:endParaRPr lang="en-US" sz="4000" dirty="0"/>
          </a:p>
        </p:txBody>
      </p:sp>
      <p:sp>
        <p:nvSpPr>
          <p:cNvPr id="10" name="Shape 5"/>
          <p:cNvSpPr/>
          <p:nvPr/>
        </p:nvSpPr>
        <p:spPr>
          <a:xfrm rot="7680000">
            <a:off x="6853237" y="4416266"/>
            <a:ext cx="322898" cy="322898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8000"/>
                </a:srgbClr>
              </a:gs>
              <a:gs pos="45000">
                <a:srgbClr val="6389D3">
                  <a:alpha val="83000"/>
                </a:srgbClr>
              </a:gs>
              <a:gs pos="66000">
                <a:srgbClr val="6389D3">
                  <a:alpha val="87000"/>
                </a:srgbClr>
              </a:gs>
              <a:gs pos="100000">
                <a:srgbClr val="6389D3">
                  <a:alpha val="87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6"/>
          <p:cNvSpPr/>
          <p:nvPr/>
        </p:nvSpPr>
        <p:spPr>
          <a:xfrm rot="4020000">
            <a:off x="7080409" y="664846"/>
            <a:ext cx="164306" cy="164306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2000"/>
                </a:srgbClr>
              </a:gs>
              <a:gs pos="45000">
                <a:srgbClr val="6389D3">
                  <a:alpha val="68000"/>
                </a:srgbClr>
              </a:gs>
              <a:gs pos="66000">
                <a:srgbClr val="6389D3">
                  <a:alpha val="76000"/>
                </a:srgbClr>
              </a:gs>
              <a:gs pos="100000">
                <a:srgbClr val="6389D3">
                  <a:alpha val="76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321040" y="4701540"/>
            <a:ext cx="822960" cy="441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chemeClr val="tx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7618883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846320"/>
            <a:ext cx="82296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4023360" cy="347472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Statement &amp; Motivation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Prediction, Not Detection?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Contributions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Sources &amp; Collection Strategy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Processing Pipeline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Engineering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Architecture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Model Design — Transformer-LSTM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Protocol &amp; Class Imbalance Handling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Strategy &amp; Datasets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822960"/>
          <a:ext cx="4023360" cy="347472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Results Overview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Monitoring Interface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Fusion Adaptation (Dynamic EKF)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Novelty Claims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Responsibilities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Timeline (Milestones)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Anticipated Challenges &amp; Mitigations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Real-World 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Conclusion &amp; Future 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6C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Q&amp;A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A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421166E3-4E33-D9E0-BFA1-24A9E483232F}"/>
              </a:ext>
            </a:extLst>
          </p:cNvPr>
          <p:cNvSpPr/>
          <p:nvPr/>
        </p:nvSpPr>
        <p:spPr>
          <a:xfrm>
            <a:off x="8321040" y="4701540"/>
            <a:ext cx="822960" cy="441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chemeClr val="tx1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846320"/>
            <a:ext cx="82296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GNSS is the primary positioning source for autonomous vehicles. Yet it fails—predictably and frequently.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651760" cy="2560320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2651760" cy="41148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Canyons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200000"/>
              </a:lnSpc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 buildings block or reflect satellite signals, causing multipath errors and signal loss in densely built environments.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417320"/>
            <a:ext cx="2651760" cy="2560320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1417320"/>
            <a:ext cx="2651760" cy="41148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1417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Tunnels &amp; Underpasses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19202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200000"/>
              </a:lnSpc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signal blockage causes instantaneous position loss. Reactive systems detect failure too late to plan a safe response.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2651760" cy="2560320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1417320"/>
            <a:ext cx="2651760" cy="41148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0" y="1417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Atmospheric Effects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19202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200000"/>
              </a:lnSpc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Ionospheric and tropospheric disturbances degrade range accuracy across wide areas, particularly during daytime and equatorial conditions.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systems detect degradation after it occurs — autonomous vehicles need advance warning to respond safely.</a:t>
            </a:r>
            <a:endParaRPr lang="en-US" sz="13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CC156A-8A33-74F9-A29B-C451009586D5}"/>
              </a:ext>
            </a:extLst>
          </p:cNvPr>
          <p:cNvSpPr/>
          <p:nvPr/>
        </p:nvSpPr>
        <p:spPr>
          <a:xfrm>
            <a:off x="8321040" y="4701540"/>
            <a:ext cx="822960" cy="441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chemeClr val="tx1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4DA33B-A089-EED4-2DFE-5AF93D5DD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59BECB2-5CC8-7222-89E2-75E45AF2028C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224C6EC-B47C-8F50-3551-AF2381CE0850}"/>
              </a:ext>
            </a:extLst>
          </p:cNvPr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141CBB7-1709-E31D-23BD-2BC6728E6745}"/>
              </a:ext>
            </a:extLst>
          </p:cNvPr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E006491-F032-E4A0-4109-2905383A3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94" y="712304"/>
            <a:ext cx="6718852" cy="43798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ACBE733-B86B-B422-EC3B-A2260821AD08}"/>
              </a:ext>
            </a:extLst>
          </p:cNvPr>
          <p:cNvSpPr/>
          <p:nvPr/>
        </p:nvSpPr>
        <p:spPr>
          <a:xfrm>
            <a:off x="8321040" y="4701540"/>
            <a:ext cx="822960" cy="441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chemeClr val="tx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725019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Prediction, Not Detection?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846320"/>
            <a:ext cx="82296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vs. Proactive Navigation Response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SYSTEM  (Current State of Practice)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1920240" cy="8229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OK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1760" y="1691640"/>
            <a:ext cx="1920240" cy="822960"/>
          </a:xfrm>
          <a:prstGeom prst="rect">
            <a:avLst/>
          </a:prstGeom>
          <a:solidFill>
            <a:srgbClr val="FFEBEE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51760" y="16916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691640"/>
            <a:ext cx="1920240" cy="82296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16916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40880" y="1691640"/>
            <a:ext cx="1920240" cy="822960"/>
          </a:xfrm>
          <a:prstGeom prst="rect">
            <a:avLst/>
          </a:prstGeom>
          <a:solidFill>
            <a:srgbClr val="F3E5F5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40880" y="16916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(Too Late)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77440" y="2103120"/>
            <a:ext cx="274320" cy="0"/>
          </a:xfrm>
          <a:prstGeom prst="line">
            <a:avLst/>
          </a:prstGeom>
          <a:noFill/>
          <a:ln w="19050">
            <a:solidFill>
              <a:srgbClr val="5665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0" y="2103120"/>
            <a:ext cx="274320" cy="0"/>
          </a:xfrm>
          <a:prstGeom prst="line">
            <a:avLst/>
          </a:prstGeom>
          <a:noFill/>
          <a:ln w="19050">
            <a:solidFill>
              <a:srgbClr val="5665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766560" y="2103120"/>
            <a:ext cx="274320" cy="0"/>
          </a:xfrm>
          <a:prstGeom prst="line">
            <a:avLst/>
          </a:prstGeom>
          <a:noFill/>
          <a:ln w="19050">
            <a:solidFill>
              <a:srgbClr val="5665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 (Proactive — This Work)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154680"/>
            <a:ext cx="1920240" cy="82296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1546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OK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51760" y="3154680"/>
            <a:ext cx="1920240" cy="822960"/>
          </a:xfrm>
          <a:prstGeom prst="rect">
            <a:avLst/>
          </a:prstGeom>
          <a:solidFill>
            <a:srgbClr val="E0F2F1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651760" y="31546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 Ahead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154680"/>
            <a:ext cx="1920240" cy="8229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31546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Weights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040880" y="3154680"/>
            <a:ext cx="1920240" cy="822960"/>
          </a:xfrm>
          <a:prstGeom prst="rect">
            <a:avLst/>
          </a:prstGeom>
          <a:solidFill>
            <a:srgbClr val="F1F8E9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040880" y="31546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377440" y="3566160"/>
            <a:ext cx="274320" cy="0"/>
          </a:xfrm>
          <a:prstGeom prst="line">
            <a:avLst/>
          </a:prstGeom>
          <a:noFill/>
          <a:ln w="19050">
            <a:solidFill>
              <a:srgbClr val="5665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0" y="3566160"/>
            <a:ext cx="274320" cy="0"/>
          </a:xfrm>
          <a:prstGeom prst="line">
            <a:avLst/>
          </a:prstGeom>
          <a:noFill/>
          <a:ln w="19050">
            <a:solidFill>
              <a:srgbClr val="5665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766560" y="3566160"/>
            <a:ext cx="274320" cy="0"/>
          </a:xfrm>
          <a:prstGeom prst="line">
            <a:avLst/>
          </a:prstGeom>
          <a:noFill/>
          <a:ln w="19050">
            <a:solidFill>
              <a:srgbClr val="5665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60 km/h, a 30-second prediction window provides 500 metres of advance notice — enough for safe, graduated navigation adjustment.</a:t>
            </a:r>
            <a:endParaRPr lang="en-US" sz="14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7DF6BBB-0492-9AD1-0972-DD5F3B150987}"/>
              </a:ext>
            </a:extLst>
          </p:cNvPr>
          <p:cNvSpPr/>
          <p:nvPr/>
        </p:nvSpPr>
        <p:spPr>
          <a:xfrm>
            <a:off x="8321040" y="4701540"/>
            <a:ext cx="822960" cy="441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chemeClr val="tx1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29-d2nf5a98bjvh7rlivrvg.png"/>
          <p:cNvPicPr>
            <a:picLocks noChangeAspect="1"/>
          </p:cNvPicPr>
          <p:nvPr/>
        </p:nvPicPr>
        <p:blipFill>
          <a:blip r:embed="rId3"/>
          <a:srcRect l="20060" t="9520" b="9520"/>
          <a:stretch/>
        </p:blipFill>
        <p:spPr>
          <a:xfrm>
            <a:off x="2191554" y="121920"/>
            <a:ext cx="5078730" cy="51435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7:29-d2nf5a98bjvh7rlivru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715" y="1791414"/>
            <a:ext cx="1200150" cy="123825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28237" y="2136457"/>
            <a:ext cx="990124" cy="100107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1132047" y="2138939"/>
            <a:ext cx="990124" cy="1001078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  <a:effectLst>
            <a:outerShdw blurRad="304800" dist="184847" dir="2700000" algn="bl" rotWithShape="0">
              <a:srgbClr val="2E54A1">
                <a:alpha val="23922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1128237" y="2264093"/>
            <a:ext cx="990124" cy="74485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2478883" y="2148147"/>
            <a:ext cx="6544973" cy="860801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>
              <a:lnSpc>
                <a:spcPct val="150000"/>
              </a:lnSpc>
            </a:pPr>
            <a:r>
              <a:rPr lang="en-US" sz="3300" b="1" dirty="0">
                <a:solidFill>
                  <a:srgbClr val="000000"/>
                </a:solidFill>
                <a:latin typeface="Arial Black" pitchFamily="34" charset="0"/>
              </a:rPr>
              <a:t>PROJECT PROGRESS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 rot="7680000">
            <a:off x="6853237" y="4416266"/>
            <a:ext cx="322898" cy="322898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8000"/>
                </a:srgbClr>
              </a:gs>
              <a:gs pos="45000">
                <a:srgbClr val="6389D3">
                  <a:alpha val="83000"/>
                </a:srgbClr>
              </a:gs>
              <a:gs pos="66000">
                <a:srgbClr val="6389D3">
                  <a:alpha val="87000"/>
                </a:srgbClr>
              </a:gs>
              <a:gs pos="100000">
                <a:srgbClr val="6389D3">
                  <a:alpha val="87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6"/>
          <p:cNvSpPr/>
          <p:nvPr/>
        </p:nvSpPr>
        <p:spPr>
          <a:xfrm rot="4020000">
            <a:off x="7080409" y="664846"/>
            <a:ext cx="164306" cy="164306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2000"/>
                </a:srgbClr>
              </a:gs>
              <a:gs pos="45000">
                <a:srgbClr val="6389D3">
                  <a:alpha val="68000"/>
                </a:srgbClr>
              </a:gs>
              <a:gs pos="66000">
                <a:srgbClr val="6389D3">
                  <a:alpha val="76000"/>
                </a:srgbClr>
              </a:gs>
              <a:gs pos="100000">
                <a:srgbClr val="6389D3">
                  <a:alpha val="76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321040" y="4701540"/>
            <a:ext cx="822960" cy="441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chemeClr val="tx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0012832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AA96A-DC9D-BA03-D0E2-42AC02D1C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6953FDA-4F2B-A0E9-FE45-DED26DA4BCBD}"/>
              </a:ext>
            </a:extLst>
          </p:cNvPr>
          <p:cNvSpPr txBox="1"/>
          <p:nvPr/>
        </p:nvSpPr>
        <p:spPr>
          <a:xfrm>
            <a:off x="502920" y="1079170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chemeClr val="accent1">
                    <a:lumMod val="50000"/>
                  </a:schemeClr>
                </a:solidFill>
              </a:rPr>
              <a:t>✔</a:t>
            </a:r>
            <a:r>
              <a:rPr sz="1400" b="1" i="0" dirty="0"/>
              <a:t>  Field data collected — all 5 scenarios, Septentrio MOSAIC-X5C receiver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43DC02-4451-E9F3-258E-E9189BCA5C32}"/>
              </a:ext>
            </a:extLst>
          </p:cNvPr>
          <p:cNvSpPr txBox="1"/>
          <p:nvPr/>
        </p:nvSpPr>
        <p:spPr>
          <a:xfrm>
            <a:off x="502920" y="1573637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02060"/>
                </a:solidFill>
              </a:rPr>
              <a:t>✔</a:t>
            </a:r>
            <a:r>
              <a:rPr sz="1400" b="1" i="0" dirty="0"/>
              <a:t>  Public datasets downloaded — NCLT (2 dates), Oxford (4 traversals), </a:t>
            </a:r>
            <a:r>
              <a:rPr sz="1400" b="1" i="0" dirty="0" err="1"/>
              <a:t>UrbanNav</a:t>
            </a:r>
            <a:r>
              <a:rPr sz="1400" b="1" i="0" dirty="0"/>
              <a:t> HK</a:t>
            </a:r>
            <a:r>
              <a:rPr lang="en-US" sz="1400" b="1" i="0" dirty="0"/>
              <a:t> and </a:t>
            </a:r>
            <a:r>
              <a:rPr sz="1400" b="1" i="0" dirty="0"/>
              <a:t>Tokyo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529F75-2450-4F75-55C2-2E3EE1C44557}"/>
              </a:ext>
            </a:extLst>
          </p:cNvPr>
          <p:cNvSpPr txBox="1"/>
          <p:nvPr/>
        </p:nvSpPr>
        <p:spPr>
          <a:xfrm>
            <a:off x="457200" y="2060013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02060"/>
                </a:solidFill>
              </a:rPr>
              <a:t>✔</a:t>
            </a:r>
            <a:r>
              <a:rPr sz="1400" b="1" i="0" dirty="0"/>
              <a:t>  Full processing pipeline implemented and validated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8F1D20-6D1F-A1D6-5F7F-2EE4A18C7226}"/>
              </a:ext>
            </a:extLst>
          </p:cNvPr>
          <p:cNvSpPr txBox="1"/>
          <p:nvPr/>
        </p:nvSpPr>
        <p:spPr>
          <a:xfrm>
            <a:off x="457200" y="2574690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/>
              <a:t>✔  Signal quality analysis charts generated for every run</a:t>
            </a:r>
          </a:p>
        </p:txBody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65D97442-EDE0-8DDA-AD8C-A069FE6616E4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8B8F2B29-FABC-A5DB-1418-23E677A9E40B}"/>
              </a:ext>
            </a:extLst>
          </p:cNvPr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PROGRESS</a:t>
            </a:r>
            <a:endParaRPr lang="en-US" sz="22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F6FCE6-5A5D-DAA6-1C16-E555A4F9F7D2}"/>
              </a:ext>
            </a:extLst>
          </p:cNvPr>
          <p:cNvSpPr/>
          <p:nvPr/>
        </p:nvSpPr>
        <p:spPr>
          <a:xfrm>
            <a:off x="8321040" y="4701540"/>
            <a:ext cx="822960" cy="441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chemeClr val="tx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3018544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4965192"/>
            <a:ext cx="82296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complementary data platforms — supervisor-provided and self-collected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51760" cy="3246120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651760" cy="4572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Vehicle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0606" y="1747698"/>
            <a:ext cx="248862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/ Suburban  ·  0–80 km/h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2003730"/>
            <a:ext cx="2432304" cy="1470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ROSBAG format</a:t>
            </a:r>
            <a:endParaRPr lang="en-US" sz="11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Multipath from buildings</a:t>
            </a:r>
            <a:endParaRPr lang="en-US" sz="11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 &amp; underpass blockage</a:t>
            </a:r>
            <a:endParaRPr lang="en-US" sz="11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AV context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4114800"/>
            <a:ext cx="2432304" cy="256032"/>
          </a:xfrm>
          <a:prstGeom prst="rect">
            <a:avLst/>
          </a:prstGeom>
          <a:solidFill>
            <a:srgbClr val="D5F5E3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411480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Data acquired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1188720"/>
            <a:ext cx="2651760" cy="3246120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91840" y="1188720"/>
            <a:ext cx="2651760" cy="4572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91840" y="1188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/ UAV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01568" y="1747698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Aerial  ·  0–20 m/s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01568" y="1977555"/>
            <a:ext cx="2432304" cy="1447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ROSBAG / RINEX</a:t>
            </a:r>
            <a:endParaRPr lang="en-US" sz="11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Open-sky clean baseline</a:t>
            </a:r>
            <a:endParaRPr lang="en-US" sz="11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signal reference</a:t>
            </a:r>
            <a:endParaRPr lang="en-US" sz="11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via RTKLIB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01568" y="4114800"/>
            <a:ext cx="2432304" cy="256032"/>
          </a:xfrm>
          <a:prstGeom prst="rect">
            <a:avLst/>
          </a:prstGeom>
          <a:solidFill>
            <a:srgbClr val="D5F5E3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01568" y="411480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Data acquired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1202436"/>
            <a:ext cx="2651760" cy="3246120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126480" y="1188720"/>
            <a:ext cx="2651760" cy="45720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126480" y="1188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Septentrio MOSAIC-X5C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36208" y="1753264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  ·  Campus routes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36208" y="1977555"/>
            <a:ext cx="2432304" cy="14047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scenarios collected</a:t>
            </a:r>
            <a:endParaRPr lang="en-US" sz="11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degradation events</a:t>
            </a:r>
            <a:endParaRPr lang="en-US" sz="11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repeatable routes</a:t>
            </a:r>
            <a:endParaRPr lang="en-US" sz="11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RINEX output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6208" y="4114800"/>
            <a:ext cx="2432304" cy="2560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36208" y="411480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Collected (May 2026)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438912" y="45537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Validation Datasets: UrbanNav (Hong Kong) ✔  ·  KAIST Urban (Korea) — awaiting delivery  ·  Oxford RobotCar ✔  ·  NCLT Michigan ✔</a:t>
            </a:r>
            <a:endParaRPr lang="en-US" sz="1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8C3520-599B-0264-9155-0996C585894C}"/>
              </a:ext>
            </a:extLst>
          </p:cNvPr>
          <p:cNvSpPr/>
          <p:nvPr/>
        </p:nvSpPr>
        <p:spPr>
          <a:xfrm>
            <a:off x="8321040" y="4701540"/>
            <a:ext cx="822960" cy="441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chemeClr val="tx1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788E6-EEB4-AEE3-6405-C342D4679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54BDE42-35EC-AB19-86AE-0F1E646E56BE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00F6773-9D8D-24A6-77AE-C59891D57618}"/>
              </a:ext>
            </a:extLst>
          </p:cNvPr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Process (Software)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8D22E51-0DD1-1BB7-B3B3-56F2DF7599D1}"/>
              </a:ext>
            </a:extLst>
          </p:cNvPr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3330CA-DD02-FBFD-1993-8C5CEDB98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858" y="798343"/>
            <a:ext cx="3084197" cy="38346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F0919C-DA7B-D3FC-16E6-18120C8CD8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3644" y="798344"/>
            <a:ext cx="2488295" cy="38346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C47474A-1056-1208-1DC8-6E5D234192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1" y="798343"/>
            <a:ext cx="3228168" cy="3834616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B6A3B2F-007A-54D6-29B4-6763613E6327}"/>
              </a:ext>
            </a:extLst>
          </p:cNvPr>
          <p:cNvSpPr/>
          <p:nvPr/>
        </p:nvSpPr>
        <p:spPr>
          <a:xfrm>
            <a:off x="676102" y="4698119"/>
            <a:ext cx="1609898" cy="3096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RxControl</a:t>
            </a:r>
            <a:endParaRPr lang="en-US" b="1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377BE00-2591-97A6-239F-85A9B0C90F2A}"/>
              </a:ext>
            </a:extLst>
          </p:cNvPr>
          <p:cNvSpPr/>
          <p:nvPr/>
        </p:nvSpPr>
        <p:spPr>
          <a:xfrm>
            <a:off x="6523466" y="4678959"/>
            <a:ext cx="1897104" cy="3096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SBF Converter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158D79A-521B-A4A6-6006-BE8E8F6A4165}"/>
              </a:ext>
            </a:extLst>
          </p:cNvPr>
          <p:cNvSpPr/>
          <p:nvPr/>
        </p:nvSpPr>
        <p:spPr>
          <a:xfrm>
            <a:off x="3971476" y="4698119"/>
            <a:ext cx="1667324" cy="30960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RXLogger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6CB0E4-2C6A-EAF7-BD00-C5C063F47FED}"/>
              </a:ext>
            </a:extLst>
          </p:cNvPr>
          <p:cNvSpPr/>
          <p:nvPr/>
        </p:nvSpPr>
        <p:spPr>
          <a:xfrm>
            <a:off x="8588522" y="4772936"/>
            <a:ext cx="555477" cy="3705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chemeClr val="tx1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949245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788E6-EEB4-AEE3-6405-C342D4679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54BDE42-35EC-AB19-86AE-0F1E646E56BE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00F6773-9D8D-24A6-77AE-C59891D57618}"/>
              </a:ext>
            </a:extLst>
          </p:cNvPr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Process (Hardware)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8D22E51-0DD1-1BB7-B3B3-56F2DF7599D1}"/>
              </a:ext>
            </a:extLst>
          </p:cNvPr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334015-8E54-3EAE-E0EB-1D080D0C1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787448"/>
            <a:ext cx="3886359" cy="41680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82F83A-B9C5-6A83-F66A-5DB1CF70EE3F}"/>
              </a:ext>
            </a:extLst>
          </p:cNvPr>
          <p:cNvSpPr txBox="1"/>
          <p:nvPr/>
        </p:nvSpPr>
        <p:spPr>
          <a:xfrm>
            <a:off x="255851" y="895600"/>
            <a:ext cx="423164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Septentrio GNSS Receiver.</a:t>
            </a:r>
          </a:p>
          <a:p>
            <a:r>
              <a:rPr lang="en-US" sz="1100" dirty="0"/>
              <a:t>Receives and processes satellite signals from GNSS constellations.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653E67-3B9D-C592-F886-FE216E7AF453}"/>
              </a:ext>
            </a:extLst>
          </p:cNvPr>
          <p:cNvSpPr txBox="1"/>
          <p:nvPr/>
        </p:nvSpPr>
        <p:spPr>
          <a:xfrm>
            <a:off x="255851" y="1586609"/>
            <a:ext cx="423164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GNSS Module Evaluation Kit.</a:t>
            </a:r>
          </a:p>
          <a:p>
            <a:r>
              <a:rPr lang="en-US" sz="1100" dirty="0"/>
              <a:t>Serves as the interface between the GNSS hardware and the laptop. 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1FBBAF-2521-8A83-AD5C-223B7C077437}"/>
              </a:ext>
            </a:extLst>
          </p:cNvPr>
          <p:cNvSpPr txBox="1"/>
          <p:nvPr/>
        </p:nvSpPr>
        <p:spPr>
          <a:xfrm>
            <a:off x="255851" y="2212286"/>
            <a:ext cx="411480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Laptop.</a:t>
            </a:r>
          </a:p>
          <a:p>
            <a:r>
              <a:rPr lang="en-US" sz="1100" dirty="0"/>
              <a:t>Used to configure the receiver, </a:t>
            </a:r>
          </a:p>
          <a:p>
            <a:r>
              <a:rPr lang="en-US" sz="1100" dirty="0"/>
              <a:t>monitor data collection, record GNSS observations, and store the collected data for later processing and analysis.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139396-05D8-7213-BD1A-D2E7EA8EF245}"/>
              </a:ext>
            </a:extLst>
          </p:cNvPr>
          <p:cNvSpPr txBox="1"/>
          <p:nvPr/>
        </p:nvSpPr>
        <p:spPr>
          <a:xfrm>
            <a:off x="239686" y="3163882"/>
            <a:ext cx="4231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 Cart.</a:t>
            </a:r>
          </a:p>
          <a:p>
            <a:r>
              <a:rPr lang="en-US" sz="1100" dirty="0"/>
              <a:t>Provides a mobile platform for carrying the GNSS equipment during field data collection.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11BBB9-F4EA-C39D-8BA8-C03E6116BEC7}"/>
              </a:ext>
            </a:extLst>
          </p:cNvPr>
          <p:cNvSpPr txBox="1"/>
          <p:nvPr/>
        </p:nvSpPr>
        <p:spPr>
          <a:xfrm>
            <a:off x="255851" y="3946201"/>
            <a:ext cx="4231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5.USB 3.0 Cord.</a:t>
            </a:r>
          </a:p>
          <a:p>
            <a:r>
              <a:rPr lang="en-US" sz="1100" dirty="0"/>
              <a:t>Provides connection between the evaluation kit and laptop for data transfer.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982DCB-2533-2657-F53F-8E9444F1E3A7}"/>
              </a:ext>
            </a:extLst>
          </p:cNvPr>
          <p:cNvSpPr/>
          <p:nvPr/>
        </p:nvSpPr>
        <p:spPr>
          <a:xfrm>
            <a:off x="8458358" y="4785644"/>
            <a:ext cx="685641" cy="3578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chemeClr val="tx1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4085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788E6-EEB4-AEE3-6405-C342D4679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54BDE42-35EC-AB19-86AE-0F1E646E56BE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00F6773-9D8D-24A6-77AE-C59891D57618}"/>
              </a:ext>
            </a:extLst>
          </p:cNvPr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— 5 Controlled Scenarios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8D22E51-0DD1-1BB7-B3B3-56F2DF7599D1}"/>
              </a:ext>
            </a:extLst>
          </p:cNvPr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5DADA93-8C5C-C73D-A265-EB1C90BEB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58" y="788062"/>
            <a:ext cx="6629400" cy="419806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00420C-74C3-2592-97CF-FEE344E8BAE4}"/>
              </a:ext>
            </a:extLst>
          </p:cNvPr>
          <p:cNvSpPr/>
          <p:nvPr/>
        </p:nvSpPr>
        <p:spPr>
          <a:xfrm>
            <a:off x="8321040" y="4701540"/>
            <a:ext cx="822960" cy="441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chemeClr val="tx1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698261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0"/>
          <p:cNvSpPr/>
          <p:nvPr/>
        </p:nvSpPr>
        <p:spPr>
          <a:xfrm>
            <a:off x="0" y="2286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 dirty="0">
                <a:solidFill>
                  <a:srgbClr val="556575"/>
                </a:solidFill>
              </a:rPr>
              <a:t>Derived from RINEX 3 SNR indicators · all 4 constellations · 1 Hz · Septentrio MOSAIC-X5C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292608" cy="548640"/>
          </a:xfrm>
          <a:prstGeom prst="rect">
            <a:avLst/>
          </a:prstGeom>
          <a:solidFill>
            <a:srgbClr val="00C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0332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D — Open Sky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41.2 dB-Hz mean  ·  0.5% epochs below 25 dB-Hz  ·  ~39 obs/epoch (most satellites of any scenario)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773936"/>
            <a:ext cx="292608" cy="548640"/>
          </a:xfrm>
          <a:prstGeom prst="rect">
            <a:avLst/>
          </a:prstGeom>
          <a:solidFill>
            <a:srgbClr val="008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80136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C — Partial Blockage (Trees)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48256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38.6 dB-Hz mean  ·  0.6% epochs degraded  ·  Gradual C/N₀ fluctuations consistent with foliage attenuation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542032"/>
            <a:ext cx="292608" cy="548640"/>
          </a:xfrm>
          <a:prstGeom prst="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5694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B — Urban Canyon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8163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37.2 dB-Hz mean  ·  3.0% epochs below threshold  ·  Periodic sharp dips from building reflections visible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3310128"/>
            <a:ext cx="292608" cy="548640"/>
          </a:xfrm>
          <a:prstGeom prst="rect">
            <a:avLst/>
          </a:prstGeom>
          <a:solidFill>
            <a:srgbClr val="FF7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337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E — Approaching Blockage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58444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38.6 dB-Hz mean  ·  5.9% degraded  ·  Gradual deterioration pattern clearly identifiable for prediction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078224"/>
            <a:ext cx="292608" cy="548640"/>
          </a:xfrm>
          <a:prstGeom prst="rect">
            <a:avLst/>
          </a:prstGeom>
          <a:solidFill>
            <a:srgbClr val="E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410565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A — Instant Blockage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352544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75"/>
                </a:solidFill>
              </a:rPr>
              <a:t>Sharp satellite dropout in first 15 s  ·  Count collapses 24 → 0–2 sats  ·  C/N₀ falls below 25 dB-Hz immediately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4736592"/>
            <a:ext cx="8686800" cy="6000"/>
          </a:xfrm>
          <a:prstGeom prst="rect">
            <a:avLst/>
          </a:prstGeom>
          <a:solidFill>
            <a:srgbClr val="00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" y="470916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D1B2A"/>
                </a:solidFill>
              </a:rPr>
              <a:t>Key insight: Scenario A shows clear distinct signature; D and A are near-perfectly separable. B/C/E have partial overlaps — exactly the challenge the Transformer-LSTM must solve.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F4650A-D740-8073-C045-651B37CCE8F2}"/>
              </a:ext>
            </a:extLst>
          </p:cNvPr>
          <p:cNvSpPr/>
          <p:nvPr/>
        </p:nvSpPr>
        <p:spPr>
          <a:xfrm>
            <a:off x="8374879" y="4992624"/>
            <a:ext cx="769121" cy="3474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26" name="Shape 0">
            <a:extLst>
              <a:ext uri="{FF2B5EF4-FFF2-40B4-BE49-F238E27FC236}">
                <a16:creationId xmlns:a16="http://schemas.microsoft.com/office/drawing/2014/main" id="{39C9D68A-6BA1-0DB6-3925-E056FDEB3370}"/>
              </a:ext>
            </a:extLst>
          </p:cNvPr>
          <p:cNvSpPr/>
          <p:nvPr/>
        </p:nvSpPr>
        <p:spPr>
          <a:xfrm>
            <a:off x="0" y="-808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Signal Quality Analysis — Key Findings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111EA080-5F89-B34B-5A52-DCF36586B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837" y="2597130"/>
            <a:ext cx="5230933" cy="224572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DBC2D3D-E7DE-B46E-F5E7-30DE9808E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06" y="463557"/>
            <a:ext cx="4615063" cy="197184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306E547-A408-D7C6-71DD-FB5484EB0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2109" y="396018"/>
            <a:ext cx="4591891" cy="204852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1CD758C-DCA4-9159-4F01-EC3C8F1DD525}"/>
              </a:ext>
            </a:extLst>
          </p:cNvPr>
          <p:cNvSpPr/>
          <p:nvPr/>
        </p:nvSpPr>
        <p:spPr>
          <a:xfrm>
            <a:off x="1356260" y="2595124"/>
            <a:ext cx="3044823" cy="28201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330A7D-2E75-9A63-9108-DA65A4F879A3}"/>
              </a:ext>
            </a:extLst>
          </p:cNvPr>
          <p:cNvSpPr/>
          <p:nvPr/>
        </p:nvSpPr>
        <p:spPr>
          <a:xfrm>
            <a:off x="5324031" y="2620494"/>
            <a:ext cx="2921132" cy="28201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81DAD8-D10A-3D18-7E3E-9A05983954D3}"/>
              </a:ext>
            </a:extLst>
          </p:cNvPr>
          <p:cNvSpPr/>
          <p:nvPr/>
        </p:nvSpPr>
        <p:spPr>
          <a:xfrm>
            <a:off x="2004993" y="4833073"/>
            <a:ext cx="3805871" cy="28201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9BDDC50-819A-726F-3522-18A5581AADD7}"/>
              </a:ext>
            </a:extLst>
          </p:cNvPr>
          <p:cNvCxnSpPr>
            <a:cxnSpLocks/>
          </p:cNvCxnSpPr>
          <p:nvPr/>
        </p:nvCxnSpPr>
        <p:spPr>
          <a:xfrm>
            <a:off x="4560812" y="695254"/>
            <a:ext cx="0" cy="225360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E18D1E0-A6DD-7C0F-D2BD-73D40F88FEE7}"/>
              </a:ext>
            </a:extLst>
          </p:cNvPr>
          <p:cNvSpPr txBox="1"/>
          <p:nvPr/>
        </p:nvSpPr>
        <p:spPr>
          <a:xfrm>
            <a:off x="1402839" y="2554400"/>
            <a:ext cx="3305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Scenario A – Instant Blockage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E99913-AD74-B369-BCB2-9E818686AF33}"/>
              </a:ext>
            </a:extLst>
          </p:cNvPr>
          <p:cNvSpPr txBox="1"/>
          <p:nvPr/>
        </p:nvSpPr>
        <p:spPr>
          <a:xfrm>
            <a:off x="2113217" y="4789412"/>
            <a:ext cx="3805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Scenario C – Partial Blockage (Tree)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BF32EB-7E6D-E6FC-92CD-B3B138FC4796}"/>
              </a:ext>
            </a:extLst>
          </p:cNvPr>
          <p:cNvSpPr txBox="1"/>
          <p:nvPr/>
        </p:nvSpPr>
        <p:spPr>
          <a:xfrm>
            <a:off x="5385071" y="2597130"/>
            <a:ext cx="3305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Scenario B – Urban Canyon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498B7C-AED0-DAA0-9298-7887FF46369C}"/>
              </a:ext>
            </a:extLst>
          </p:cNvPr>
          <p:cNvCxnSpPr>
            <a:cxnSpLocks/>
          </p:cNvCxnSpPr>
          <p:nvPr/>
        </p:nvCxnSpPr>
        <p:spPr>
          <a:xfrm>
            <a:off x="-45706" y="2919597"/>
            <a:ext cx="9189706" cy="4686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6DBEB0DC-A96D-7912-0953-CBDCD1EF2FB6}"/>
              </a:ext>
            </a:extLst>
          </p:cNvPr>
          <p:cNvSpPr/>
          <p:nvPr/>
        </p:nvSpPr>
        <p:spPr>
          <a:xfrm>
            <a:off x="8321040" y="4701540"/>
            <a:ext cx="822960" cy="441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27" name="Shape 0">
            <a:extLst>
              <a:ext uri="{FF2B5EF4-FFF2-40B4-BE49-F238E27FC236}">
                <a16:creationId xmlns:a16="http://schemas.microsoft.com/office/drawing/2014/main" id="{7DD36704-48C1-25A7-879C-D9374092CB65}"/>
              </a:ext>
            </a:extLst>
          </p:cNvPr>
          <p:cNvSpPr/>
          <p:nvPr/>
        </p:nvSpPr>
        <p:spPr>
          <a:xfrm>
            <a:off x="-45706" y="-28538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74319" y="72194"/>
            <a:ext cx="731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Signal Quality Analysis — Key Findings</a:t>
            </a:r>
          </a:p>
        </p:txBody>
      </p:sp>
    </p:spTree>
    <p:extLst>
      <p:ext uri="{BB962C8B-B14F-4D97-AF65-F5344CB8AC3E}">
        <p14:creationId xmlns:p14="http://schemas.microsoft.com/office/powerpoint/2010/main" val="419735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40BFD6D-E6CF-A3DD-A4A9-86F5FDDA2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2010"/>
            <a:ext cx="5811140" cy="25419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142845"/>
            <a:ext cx="731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Signal Quality Analysis — Key Findings</a:t>
            </a:r>
            <a:r>
              <a:rPr lang="en-US" sz="2000" b="1" i="0" dirty="0">
                <a:solidFill>
                  <a:srgbClr val="FFFFFF"/>
                </a:solidFill>
              </a:rPr>
              <a:t> (</a:t>
            </a:r>
            <a:r>
              <a:rPr lang="en-US" sz="2000" b="1" i="0" dirty="0" err="1">
                <a:solidFill>
                  <a:srgbClr val="FFFFFF"/>
                </a:solidFill>
              </a:rPr>
              <a:t>Contd</a:t>
            </a:r>
            <a:r>
              <a:rPr lang="en-US" sz="2000" b="1" i="0" dirty="0">
                <a:solidFill>
                  <a:srgbClr val="FFFFFF"/>
                </a:solidFill>
              </a:rPr>
              <a:t>)</a:t>
            </a:r>
            <a:endParaRPr sz="2000" b="1" i="0" dirty="0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21BED0-E88F-BC01-1572-80A7EED36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2779052"/>
            <a:ext cx="4900815" cy="214375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F9FAC30-8449-559A-6E4F-D2EFDEC19C30}"/>
              </a:ext>
            </a:extLst>
          </p:cNvPr>
          <p:cNvSpPr/>
          <p:nvPr/>
        </p:nvSpPr>
        <p:spPr>
          <a:xfrm>
            <a:off x="4666006" y="4832855"/>
            <a:ext cx="3805871" cy="28201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7BF34B-B8FC-0C49-9203-4A9A7DCE8FFE}"/>
              </a:ext>
            </a:extLst>
          </p:cNvPr>
          <p:cNvSpPr/>
          <p:nvPr/>
        </p:nvSpPr>
        <p:spPr>
          <a:xfrm>
            <a:off x="751863" y="2833286"/>
            <a:ext cx="3805871" cy="28201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30582E-5EA8-5F1B-6266-502420228209}"/>
              </a:ext>
            </a:extLst>
          </p:cNvPr>
          <p:cNvSpPr txBox="1"/>
          <p:nvPr/>
        </p:nvSpPr>
        <p:spPr>
          <a:xfrm>
            <a:off x="1377887" y="2790521"/>
            <a:ext cx="3305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Scenario D – Open Sky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04F3A3-FD64-E501-C490-8E90EB7DBB93}"/>
              </a:ext>
            </a:extLst>
          </p:cNvPr>
          <p:cNvSpPr txBox="1"/>
          <p:nvPr/>
        </p:nvSpPr>
        <p:spPr>
          <a:xfrm>
            <a:off x="4759492" y="4784777"/>
            <a:ext cx="3868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Scenario E – Approaching Blockage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086B82-ADAF-0250-8ACE-00154F9D905E}"/>
              </a:ext>
            </a:extLst>
          </p:cNvPr>
          <p:cNvSpPr/>
          <p:nvPr/>
        </p:nvSpPr>
        <p:spPr>
          <a:xfrm>
            <a:off x="5503492" y="2681587"/>
            <a:ext cx="1974078" cy="327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5F11DC-8A53-EBAE-B13B-BE9D4FBEB788}"/>
              </a:ext>
            </a:extLst>
          </p:cNvPr>
          <p:cNvSpPr/>
          <p:nvPr/>
        </p:nvSpPr>
        <p:spPr>
          <a:xfrm>
            <a:off x="8565363" y="4832854"/>
            <a:ext cx="578636" cy="3106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8F2D09CC-A2AD-C4B0-FCF8-87BB2ACA1368}"/>
              </a:ext>
            </a:extLst>
          </p:cNvPr>
          <p:cNvSpPr/>
          <p:nvPr/>
        </p:nvSpPr>
        <p:spPr>
          <a:xfrm>
            <a:off x="-14266" y="-32582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2F4695-51CA-8E31-F2B8-0A88105F3394}"/>
              </a:ext>
            </a:extLst>
          </p:cNvPr>
          <p:cNvSpPr txBox="1"/>
          <p:nvPr/>
        </p:nvSpPr>
        <p:spPr>
          <a:xfrm>
            <a:off x="274319" y="72194"/>
            <a:ext cx="731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</a:rPr>
              <a:t>Signal Quality Analysis — Key Findings</a:t>
            </a:r>
          </a:p>
        </p:txBody>
      </p:sp>
    </p:spTree>
    <p:extLst>
      <p:ext uri="{BB962C8B-B14F-4D97-AF65-F5344CB8AC3E}">
        <p14:creationId xmlns:p14="http://schemas.microsoft.com/office/powerpoint/2010/main" val="4252566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7:29-d2nf5a98bjvh7rlivrvg.png"/>
          <p:cNvPicPr>
            <a:picLocks noChangeAspect="1"/>
          </p:cNvPicPr>
          <p:nvPr/>
        </p:nvPicPr>
        <p:blipFill>
          <a:blip r:embed="rId3"/>
          <a:srcRect l="20060" t="9520" b="9520"/>
          <a:stretch/>
        </p:blipFill>
        <p:spPr>
          <a:xfrm>
            <a:off x="2191554" y="121920"/>
            <a:ext cx="5078730" cy="51435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7:29-d2nf5a98bjvh7rlivru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715" y="1791414"/>
            <a:ext cx="1200150" cy="123825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28237" y="2136457"/>
            <a:ext cx="990124" cy="100107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1132047" y="2138939"/>
            <a:ext cx="990124" cy="1001078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84000"/>
                </a:srgbClr>
              </a:gs>
              <a:gs pos="2000">
                <a:srgbClr val="D1DCF2">
                  <a:alpha val="84000"/>
                </a:srgbClr>
              </a:gs>
              <a:gs pos="55000">
                <a:srgbClr val="4874CB">
                  <a:alpha val="69000"/>
                </a:srgbClr>
              </a:gs>
              <a:gs pos="100000">
                <a:srgbClr val="345FB6"/>
              </a:gs>
            </a:gsLst>
            <a:path path="circle">
              <a:fillToRect r="100000" b="100000"/>
            </a:path>
            <a:tileRect l="-100000" t="-100000"/>
          </a:gradFill>
          <a:ln/>
          <a:effectLst>
            <a:outerShdw blurRad="304800" dist="184847" dir="2700000" algn="bl" rotWithShape="0">
              <a:srgbClr val="2E54A1">
                <a:alpha val="23922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1128237" y="2264093"/>
            <a:ext cx="990124" cy="74485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2650678" y="2231707"/>
            <a:ext cx="6373178" cy="680085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>
              <a:lnSpc>
                <a:spcPct val="150000"/>
              </a:lnSpc>
            </a:pPr>
            <a:r>
              <a:rPr lang="en-US" sz="3300" b="1" dirty="0">
                <a:solidFill>
                  <a:srgbClr val="000000"/>
                </a:solidFill>
                <a:latin typeface="Arial Black" pitchFamily="34" charset="0"/>
              </a:rPr>
              <a:t>NEXT STAGE 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 rot="7680000">
            <a:off x="6853237" y="4416266"/>
            <a:ext cx="322898" cy="322898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8000"/>
                </a:srgbClr>
              </a:gs>
              <a:gs pos="45000">
                <a:srgbClr val="6389D3">
                  <a:alpha val="83000"/>
                </a:srgbClr>
              </a:gs>
              <a:gs pos="66000">
                <a:srgbClr val="6389D3">
                  <a:alpha val="87000"/>
                </a:srgbClr>
              </a:gs>
              <a:gs pos="100000">
                <a:srgbClr val="6389D3">
                  <a:alpha val="87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6"/>
          <p:cNvSpPr/>
          <p:nvPr/>
        </p:nvSpPr>
        <p:spPr>
          <a:xfrm rot="4020000">
            <a:off x="7080409" y="664846"/>
            <a:ext cx="164306" cy="164306"/>
          </a:xfrm>
          <a:prstGeom prst="ellipse">
            <a:avLst/>
          </a:prstGeom>
          <a:gradFill flip="none" rotWithShape="1">
            <a:gsLst>
              <a:gs pos="0">
                <a:srgbClr val="D1DCF2">
                  <a:alpha val="14000"/>
                </a:srgbClr>
              </a:gs>
              <a:gs pos="22000">
                <a:srgbClr val="6389D3">
                  <a:alpha val="42000"/>
                </a:srgbClr>
              </a:gs>
              <a:gs pos="45000">
                <a:srgbClr val="6389D3">
                  <a:alpha val="68000"/>
                </a:srgbClr>
              </a:gs>
              <a:gs pos="66000">
                <a:srgbClr val="6389D3">
                  <a:alpha val="76000"/>
                </a:srgbClr>
              </a:gs>
              <a:gs pos="100000">
                <a:srgbClr val="6389D3">
                  <a:alpha val="76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854F16-AFD4-F50D-BFC9-5D69273DB526}"/>
              </a:ext>
            </a:extLst>
          </p:cNvPr>
          <p:cNvSpPr/>
          <p:nvPr/>
        </p:nvSpPr>
        <p:spPr>
          <a:xfrm>
            <a:off x="8321040" y="4701540"/>
            <a:ext cx="822960" cy="4419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chemeClr val="tx1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534901578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14960" y="0"/>
            <a:ext cx="846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— 4-Week Compressed Plan(Week 1 Goals Achieved)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915827"/>
            <a:ext cx="8229600" cy="27432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58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1-month total  ·  2 concurrent coursework  ·  Critical path: data collection (Wk 1) → model training (Wk 3)  ·  Target: IEEE T-ITS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1956816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Days 1–7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353312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Data Extraction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600200"/>
            <a:ext cx="1956816" cy="850392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609477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All software installed · Room 3058 visit · GitHub repo created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2402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496312"/>
            <a:ext cx="1956816" cy="850392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433894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ROSBAG extraction + RTKLIB running on supervisor vehicle &amp; drone datasets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136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Joshua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392424"/>
            <a:ext cx="1956816" cy="850392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4068" y="343609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✅ ALL scenarios A–E collected (May 5, 2026) · RTKLIB processed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40325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Claudine, Joshua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68880" y="1097280"/>
            <a:ext cx="1956816" cy="502920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468880" y="109728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Days 8–14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68880" y="1353312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Collection &amp; Features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468880" y="1600200"/>
            <a:ext cx="1956816" cy="850392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505456" y="1551299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B, C, E collected · Feature CSVs generated · Labelling complete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560320" y="22402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Claudine, Joshua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68880" y="2496312"/>
            <a:ext cx="1956816" cy="850392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551176" y="24373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baseline models trained &amp; results recorded (RF, LSTM, threshold, RAIM)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60320" y="3136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Harun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468880" y="3392424"/>
            <a:ext cx="1956816" cy="850392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551176" y="3334247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drafted (30 papers) · UrbanNav &amp; RobotCar processed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560320" y="40325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Harun, Claudine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480560" y="1097280"/>
            <a:ext cx="1956816" cy="502920"/>
          </a:xfrm>
          <a:prstGeom prst="rect">
            <a:avLst/>
          </a:prstGeom>
          <a:solidFill>
            <a:srgbClr val="2874A6"/>
          </a:solidFill>
          <a:ln w="12700">
            <a:solidFill>
              <a:srgbClr val="287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480560" y="109728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Days 15–21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480560" y="1353312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System Build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480560" y="1600200"/>
            <a:ext cx="1956816" cy="850392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0" y="1563624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Transformer-LSTM trained · First test-set results · Ablation studies done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0" y="22402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480560" y="2496312"/>
            <a:ext cx="1956816" cy="850392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0" y="2456655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Generalisation tests on UrbanNav &amp; RobotCar · KAIST on arrival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0" y="3136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Joel, Claudine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480560" y="3392424"/>
            <a:ext cx="1956816" cy="850392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67428" y="333756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EKF in simulation · Dashboard all 5 panels with data playback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0" y="40325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Mustapha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92240" y="1097280"/>
            <a:ext cx="1956816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92240" y="109728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·  Days 22–28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92240" y="1353312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Integration, Demo &amp; Paper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92240" y="1600200"/>
            <a:ext cx="1956816" cy="850392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528816" y="161848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campus test: cart + receiver + dashboard · Screen capture video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583680" y="224028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492240" y="2496312"/>
            <a:ext cx="1956816" cy="850392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583680" y="2532888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1 first draft written · Each member fills their sections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583680" y="3136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 leads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492240" y="3392424"/>
            <a:ext cx="1956816" cy="850392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528816" y="3402363"/>
            <a:ext cx="18836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team review · Presentation rehearsed · Submission-ready draft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583680" y="40325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57200" y="4384548"/>
            <a:ext cx="8229600" cy="3895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i="1" dirty="0">
                <a:solidFill>
                  <a:srgbClr val="B77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Risk: Scenarios A &amp; D (Day 5–7) are the critical path — all model work depends on them. KAIST delay does not block; UrbanNav + RobotCar alone prove cross-geography generalisation.</a:t>
            </a:r>
            <a:endParaRPr lang="en-US" sz="105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E8DE5DC-DC50-E176-BB12-4E05E830AB35}"/>
              </a:ext>
            </a:extLst>
          </p:cNvPr>
          <p:cNvSpPr/>
          <p:nvPr/>
        </p:nvSpPr>
        <p:spPr>
          <a:xfrm>
            <a:off x="8449056" y="4774094"/>
            <a:ext cx="694944" cy="3694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chemeClr val="tx1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Responsibilities &amp; Presentation Division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74066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owns specific components and is fully accountable for their delivery.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471211"/>
              </p:ext>
            </p:extLst>
          </p:nvPr>
        </p:nvGraphicFramePr>
        <p:xfrm>
          <a:off x="457200" y="1143000"/>
          <a:ext cx="8321040" cy="3798558"/>
        </p:xfrm>
        <a:graphic>
          <a:graphicData uri="http://schemas.openxmlformats.org/drawingml/2006/table">
            <a:tbl>
              <a:tblPr/>
              <a:tblGrid>
                <a:gridCol w="226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5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64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67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Owns / Delivers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2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Rashid Md Harun Or (LS2525219)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Literature &amp; Baseline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Literature review, baseline models (threshold, RF, LSTM, RAIM), related work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Ingeriyinkindi</a:t>
                      </a: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Claudine (LS2525236)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Collection &amp; Evaluation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 GNSS collection (Scenarios A–E), evaluation metrics, results tables, public dataset processing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Ogunlade Joshua (LS2525237)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&amp; Processing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ROSBAG extraction, RTKLIB pipeline, feature extraction code, dataset labelling &amp; QC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2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Mustapha Ibrahim (LS2525238)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&amp; EKF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dashboard (all 5 panels), dynamic EKF implementation, live system testing &amp; video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2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Ojerinde Joel Segun (LS2525253)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&amp; Integration Lead (Lead Author)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8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Transformer-LSTM architecture, training pipeline, ablation studies, generalization testing, integration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D6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ECF31C20-C150-C484-A11B-6156D586DBCC}"/>
              </a:ext>
            </a:extLst>
          </p:cNvPr>
          <p:cNvSpPr/>
          <p:nvPr/>
        </p:nvSpPr>
        <p:spPr>
          <a:xfrm>
            <a:off x="8614160" y="4836920"/>
            <a:ext cx="529839" cy="3065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solidFill>
                  <a:schemeClr val="tx1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8113" y="822960"/>
            <a:ext cx="64008" cy="4187356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0174A"/>
          </a:solidFill>
          <a:ln w="12700">
            <a:solidFill>
              <a:srgbClr val="0017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Building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26774" y="1097280"/>
            <a:ext cx="2570922" cy="32689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Transformer-LSTM hybrid for multi-horizon GNSS degradation prediction</a:t>
            </a:r>
            <a:endParaRPr lang="en-US" sz="115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35-feature engineering pipeline from RTKLIB observables</a:t>
            </a:r>
            <a:endParaRPr lang="en-US" sz="115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EKF that adapts sensor fusion before degradation hits</a:t>
            </a:r>
            <a:endParaRPr lang="en-US" sz="115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5-panel monitoring dashboard at &lt;100 ms latency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383280" y="7772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Results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24200" y="1087540"/>
            <a:ext cx="2727960" cy="2944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&gt; 0.85 on in-distribution test set</a:t>
            </a:r>
            <a:endParaRPr lang="en-US" sz="115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Cross-geography F1 within 10% of in-distribution performance</a:t>
            </a:r>
            <a:endParaRPr lang="en-US" sz="115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lead time of 15–30 s ahead of positioning failure</a:t>
            </a:r>
            <a:endParaRPr lang="en-US" sz="115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RMSE reduction vs. GNSS-only baseline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80760" y="7772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0" y="1170432"/>
            <a:ext cx="2651760" cy="2944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Camera-based environmental context as additional feature group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BeiDou-specific constellation analysis for Chinese urban environments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Larger-scale multi-city urban study for broader generalisation</a:t>
            </a:r>
            <a:endParaRPr lang="en-US" sz="115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2: full real-time system integration and field demonstration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4507396"/>
            <a:ext cx="7772400" cy="5029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450739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1" name="Rectangl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2103120"/>
            <a:ext cx="9144000" cy="36000"/>
          </a:xfrm>
          <a:prstGeom prst="rect">
            <a:avLst/>
          </a:prstGeom>
          <a:solidFill>
            <a:srgbClr val="00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20040"/>
            <a:ext cx="1280160" cy="502920"/>
          </a:xfrm>
          <a:prstGeom prst="rect">
            <a:avLst/>
          </a:prstGeom>
          <a:solidFill>
            <a:srgbClr val="00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1243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VERSION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AI Model Development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8FF"/>
                </a:solidFill>
              </a:rPr>
              <a:t>May 2026  ·  From data collection to trained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C86E"/>
                </a:solidFill>
              </a:rPr>
              <a:t>✔  97,393 labelled epochs — 10 sources, 3 cities (Beijing · Hong Kong · Tokyo)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8036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C86E"/>
                </a:solidFill>
              </a:rPr>
              <a:t>✔  SENTINEL-GNSS Transformer-LSTM architecture finalised — 359 K 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4612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C86E"/>
                </a:solidFill>
              </a:rPr>
              <a:t>✔  Full pipeline: feature_prep → SMOTE → sliding windows → train → evaluate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1188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0C86E"/>
                </a:solidFill>
              </a:rPr>
              <a:t>✔  Smoke test passed — val macro-F1 = 0.9375 at epoch 3 (5-epoch debug run)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7764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A500"/>
                </a:solidFill>
              </a:rPr>
              <a:t>⬡  Full 150-epoch training on Colab T4 GPU — in progress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1" name="Rectangl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SENTINEL-GNSS — Transformer-LSTM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9144000" cy="18000"/>
          </a:xfrm>
          <a:prstGeom prst="rect">
            <a:avLst/>
          </a:prstGeom>
          <a:solidFill>
            <a:srgbClr val="00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56575"/>
                </a:solidFill>
              </a:rPr>
              <a:t>Hybrid model: spatial attention (Transformer) + temporal memory (LSTM) → 3 prediction horizons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60120"/>
            <a:ext cx="2103120" cy="658368"/>
          </a:xfrm>
          <a:prstGeom prst="rect">
            <a:avLst/>
          </a:prstGeom>
          <a:solidFill>
            <a:srgbClr val="0D1B2A"/>
          </a:solidFill>
          <a:ln w="19050">
            <a:solidFill>
              <a:srgbClr val="00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7840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8FF"/>
                </a:solidFill>
              </a:rPr>
              <a:t>Input Window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21615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(B,  T=30,  F=34)
30 time-steps × 34 features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170432" y="1618488"/>
            <a:ext cx="18000" cy="164592"/>
          </a:xfrm>
          <a:prstGeom prst="rect">
            <a:avLst/>
          </a:prstGeom>
          <a:solidFill>
            <a:srgbClr val="00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783080"/>
            <a:ext cx="2103120" cy="502920"/>
          </a:xfrm>
          <a:prstGeom prst="rect">
            <a:avLst/>
          </a:prstGeom>
          <a:solidFill>
            <a:srgbClr val="E8F4FF"/>
          </a:solidFill>
          <a:ln w="12700">
            <a:solidFill>
              <a:srgbClr val="00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801368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2A"/>
                </a:solidFill>
              </a:rPr>
              <a:t>Linear Projection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01168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6575"/>
                </a:solidFill>
              </a:rPr>
              <a:t>34 → d_model = 64  + Positional Encoding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70432" y="2286000"/>
            <a:ext cx="18000" cy="164592"/>
          </a:xfrm>
          <a:prstGeom prst="rect">
            <a:avLst/>
          </a:prstGeom>
          <a:solidFill>
            <a:srgbClr val="00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450592"/>
            <a:ext cx="2103120" cy="960120"/>
          </a:xfrm>
          <a:prstGeom prst="rect">
            <a:avLst/>
          </a:prstGeom>
          <a:solidFill>
            <a:srgbClr val="0D2E4A"/>
          </a:solidFill>
          <a:ln w="19050">
            <a:solidFill>
              <a:srgbClr val="00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46888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A8FF"/>
                </a:solidFill>
              </a:rPr>
              <a:t>Transformer Encoder  (×2 layers)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7249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• 4 attention heads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294436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• d_ff = 256  |  GELU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1638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• Pre-LN  |  dropout 0.1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70432" y="3410712"/>
            <a:ext cx="18000" cy="164592"/>
          </a:xfrm>
          <a:prstGeom prst="rect">
            <a:avLst/>
          </a:prstGeom>
          <a:solidFill>
            <a:srgbClr val="00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3575304"/>
            <a:ext cx="2103120" cy="65836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59359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LSTM  (×2 layers)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383133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F4FF"/>
                </a:solidFill>
              </a:rPr>
              <a:t>hidden = 128  |  dropout 0.1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70432" y="4233672"/>
            <a:ext cx="18000" cy="164592"/>
          </a:xfrm>
          <a:prstGeom prst="rect">
            <a:avLst/>
          </a:prstGeom>
          <a:solidFill>
            <a:srgbClr val="00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14600" y="4389120"/>
            <a:ext cx="6400800" cy="9000"/>
          </a:xfrm>
          <a:prstGeom prst="rect">
            <a:avLst/>
          </a:prstGeom>
          <a:solidFill>
            <a:srgbClr val="00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06040" y="4398264"/>
            <a:ext cx="1737360" cy="594360"/>
          </a:xfrm>
          <a:prstGeom prst="rect">
            <a:avLst/>
          </a:prstGeom>
          <a:solidFill>
            <a:srgbClr val="00C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79192" y="4416552"/>
            <a:ext cx="1591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2A"/>
                </a:solidFill>
              </a:rPr>
              <a:t>Head: 5 s ahead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79192" y="4663440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128→64→3  (CLEAN/WARN/DEGR)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4398264"/>
            <a:ext cx="1737360" cy="594360"/>
          </a:xfrm>
          <a:prstGeom prst="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90872" y="4416552"/>
            <a:ext cx="1591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2A"/>
                </a:solidFill>
              </a:rPr>
              <a:t>Head: 15 s ahead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90872" y="4663440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128→64→3  (CLEAN/WARN/DEGR)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29400" y="4398264"/>
            <a:ext cx="1737360" cy="594360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4416552"/>
            <a:ext cx="1591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2A"/>
                </a:solidFill>
              </a:rPr>
              <a:t>Head: 30 s ahead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2552" y="4663440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128→64→3  (CLEAN/WARN/DEGR)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0" y="960120"/>
            <a:ext cx="6355080" cy="1188720"/>
          </a:xfrm>
          <a:prstGeom prst="rect">
            <a:avLst/>
          </a:prstGeom>
          <a:solidFill>
            <a:srgbClr val="E8F4FF"/>
          </a:solidFill>
          <a:ln w="12700">
            <a:solidFill>
              <a:srgbClr val="00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51760" y="978408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Model Summary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51760" y="126187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2A"/>
                </a:solidFill>
              </a:rPr>
              <a:t>Parameters: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12618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6575"/>
                </a:solidFill>
              </a:rPr>
              <a:t>~359,241  (all trainable)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1760" y="141274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2A"/>
                </a:solidFill>
              </a:rPr>
              <a:t>Input shape: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141274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6575"/>
                </a:solidFill>
              </a:rPr>
              <a:t>(B, 30, 34)  — 30×1 Hz windows, 34 features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51760" y="156362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2A"/>
                </a:solidFill>
              </a:rPr>
              <a:t>Loss function: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156362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6575"/>
                </a:solidFill>
              </a:rPr>
              <a:t>Focal Loss  γ=2.0  |  class weights [1, 3, 5]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1760" y="171450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2A"/>
                </a:solidFill>
              </a:rPr>
              <a:t>Optimiser: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0" y="171450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6575"/>
                </a:solidFill>
              </a:rPr>
              <a:t>AdamW  lr=1e-3  |  weight_decay=1e-4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51760" y="186537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2A"/>
                </a:solidFill>
              </a:rPr>
              <a:t>LR schedule: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40" y="186537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6575"/>
                </a:solidFill>
              </a:rPr>
              <a:t>5-epoch linear warmup + cosine decay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51760" y="201625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2A"/>
                </a:solidFill>
              </a:rPr>
              <a:t>Mixed precision: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06240" y="201625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6575"/>
                </a:solidFill>
              </a:rPr>
              <a:t>AMP enabled (GPU)  |  batch_size=256 on T4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0320" y="2240280"/>
            <a:ext cx="6355080" cy="1325880"/>
          </a:xfrm>
          <a:prstGeom prst="rect">
            <a:avLst/>
          </a:prstGeom>
          <a:solidFill>
            <a:srgbClr val="F5F5F5"/>
          </a:solidFill>
          <a:ln w="6350">
            <a:solidFill>
              <a:srgbClr val="5565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51760" y="2258568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Training Configuration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51760" y="256032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2A"/>
                </a:solidFill>
              </a:rPr>
              <a:t>Max epochs: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06240" y="256032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6575"/>
                </a:solidFill>
              </a:rPr>
              <a:t>150  (early stop patience = 20)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51760" y="276148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2A"/>
                </a:solidFill>
              </a:rPr>
              <a:t>Train/Val/Test: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06240" y="276148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6575"/>
                </a:solidFill>
              </a:rPr>
              <a:t>Session-based split  70 / 15 / 15 %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51760" y="296265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2A"/>
                </a:solidFill>
              </a:rPr>
              <a:t>Class imbalance: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06240" y="296265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6575"/>
                </a:solidFill>
              </a:rPr>
              <a:t>SMOTE oversampling on training windows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51760" y="316382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2A"/>
                </a:solidFill>
              </a:rPr>
              <a:t>Checkpointing: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06240" y="316382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6575"/>
                </a:solidFill>
              </a:rPr>
              <a:t>Save every 10 epochs + best val macro-F1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51760" y="336499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2A"/>
                </a:solidFill>
              </a:rPr>
              <a:t>Target metric: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06240" y="33649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6575"/>
                </a:solidFill>
              </a:rPr>
              <a:t>Macro-F1  (equal weight across 3 classes)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1" name="Rectangl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Dataset Expansion — 97,393 Labelled Epochs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9144000" cy="18000"/>
          </a:xfrm>
          <a:prstGeom prst="rect">
            <a:avLst/>
          </a:prstGeom>
          <a:solidFill>
            <a:srgbClr val="00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56575"/>
                </a:solidFill>
              </a:rPr>
              <a:t>3 quality classes: CLEAN / WARNING / DEGRADED  ·  10 sources  ·  3 cities  ·  4 GNSS constellations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14400"/>
            <a:ext cx="3749039" cy="1371600"/>
          </a:xfrm>
          <a:prstGeom prst="rect">
            <a:avLst/>
          </a:prstGeom>
          <a:solidFill>
            <a:srgbClr val="E8F4FF"/>
          </a:solidFill>
          <a:ln w="12700">
            <a:solidFill>
              <a:srgbClr val="00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3268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Label Distribution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2137867" cy="237744"/>
          </a:xfrm>
          <a:prstGeom prst="rect">
            <a:avLst/>
          </a:prstGeom>
          <a:solidFill>
            <a:srgbClr val="00C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26444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</a:rPr>
              <a:t>CLEAN  66.8%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54480"/>
            <a:ext cx="649681" cy="237744"/>
          </a:xfrm>
          <a:prstGeom prst="rect">
            <a:avLst/>
          </a:prstGeom>
          <a:solidFill>
            <a:srgbClr val="FF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158448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</a:rPr>
              <a:t>WARNING  20.3%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874520"/>
            <a:ext cx="412851" cy="237744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90452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D1B2A"/>
                </a:solidFill>
              </a:rPr>
              <a:t>DEGRADED  12.9%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423160"/>
            <a:ext cx="868680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4414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441448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City / Region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441448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Receiver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4414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Rows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441448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Scenarios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2743200"/>
            <a:ext cx="8686800" cy="228600"/>
          </a:xfrm>
          <a:prstGeom prst="rect">
            <a:avLst/>
          </a:prstGeom>
          <a:solidFill>
            <a:srgbClr val="E8F4FF"/>
          </a:solidFill>
          <a:ln w="38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275120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Scenarios A-E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2751200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Beijing, China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275120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Septentrio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75120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3,586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2751200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A B C D 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2980944"/>
            <a:ext cx="868680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298894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Supervisor Vehicle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2988944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Beijing, China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298894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Septentrio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298894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3,401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2988944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B C D 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3218688"/>
            <a:ext cx="8686800" cy="228600"/>
          </a:xfrm>
          <a:prstGeom prst="rect">
            <a:avLst/>
          </a:prstGeom>
          <a:solidFill>
            <a:srgbClr val="E8F4FF"/>
          </a:solidFill>
          <a:ln w="38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322668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Supervisor Vehicle (ref)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3226688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Beijing, China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322668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Septentrio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322668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3,739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3226688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3456432"/>
            <a:ext cx="868680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346443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Supervisor Drone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3464432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Beijing, China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17720" y="346443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Unicore UB4B0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34644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11,123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78040" y="3464432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3694176"/>
            <a:ext cx="8686800" cy="228600"/>
          </a:xfrm>
          <a:prstGeom prst="rect">
            <a:avLst/>
          </a:prstGeom>
          <a:solidFill>
            <a:srgbClr val="E8F4FF"/>
          </a:solidFill>
          <a:ln w="38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370217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UrbanNav HK Medium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6000" y="3702176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Hong Kong, China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20" y="370217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10 receivers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370217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7,608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78040" y="3702176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B 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" y="3931920"/>
            <a:ext cx="868680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393992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UrbanNav HK Tunnel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86000" y="3939920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Hong Kong, China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17720" y="3939920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10 receivers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393992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3,461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78040" y="3939920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A 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4169664"/>
            <a:ext cx="8686800" cy="228600"/>
          </a:xfrm>
          <a:prstGeom prst="rect">
            <a:avLst/>
          </a:prstGeom>
          <a:solidFill>
            <a:srgbClr val="E8F4FF"/>
          </a:solidFill>
          <a:ln w="38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417766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UrbanNav Tokyo Odaiba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86000" y="4177664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Tokyo, Japan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17720" y="4177664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Trimble/u-blox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72200" y="41776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18,603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78040" y="4177664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C 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8600" y="4407408"/>
            <a:ext cx="868680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4320" y="441540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UrbanNav Tokyo Shinjuku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86000" y="4415408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Tokyo, Japan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17720" y="4415408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Trimble/u-blox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72200" y="441540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31,265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78040" y="4415408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B 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8600" y="4645152"/>
            <a:ext cx="8686800" cy="228600"/>
          </a:xfrm>
          <a:prstGeom prst="rect">
            <a:avLst/>
          </a:prstGeom>
          <a:solidFill>
            <a:srgbClr val="E8F4FF"/>
          </a:solidFill>
          <a:ln w="38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4320" y="465315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NCLT (2 sessions)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286000" y="4653152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Ann Arbor, USA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17720" y="465315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GPS + LiDAR GT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72200" y="465315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7,493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78040" y="4653152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B 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8600" y="4882896"/>
            <a:ext cx="868680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74320" y="489089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Oxford RobotCar (2 sessions)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286000" y="4890896"/>
            <a:ext cx="2331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Oxford, UK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17720" y="489089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NovAtel OEM6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72200" y="489089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7,114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78040" y="4890896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1B2A"/>
                </a:solidFill>
              </a:rPr>
              <a:t>B C 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28600" y="4818888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A8FF"/>
                </a:solidFill>
              </a:rPr>
              <a:t>Total: 97,393 rows  ·  41 features  ·  Labelled CSV tracked in GitHub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1" name="Rectangl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SENTINEL-GNSS — Full Training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9144000" cy="18000"/>
          </a:xfrm>
          <a:prstGeom prst="rect">
            <a:avLst/>
          </a:prstGeom>
          <a:solidFill>
            <a:srgbClr val="00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56575"/>
                </a:solidFill>
              </a:rPr>
              <a:t>3-command workflow: feature_prep → train → evaluate  ·  resumable, reproducible, debug-mode available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14400"/>
            <a:ext cx="2560320" cy="3383280"/>
          </a:xfrm>
          <a:prstGeom prst="rect">
            <a:avLst/>
          </a:prstGeom>
          <a:solidFill>
            <a:srgbClr val="0D1B2A"/>
          </a:solidFill>
          <a:ln w="25400">
            <a:solidFill>
              <a:srgbClr val="00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3192" y="987552"/>
            <a:ext cx="329184" cy="329184"/>
          </a:xfrm>
          <a:prstGeom prst="rect">
            <a:avLst/>
          </a:prstGeom>
          <a:solidFill>
            <a:srgbClr val="00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" y="996696"/>
            <a:ext cx="310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1389888"/>
            <a:ext cx="24140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0A8FF"/>
                </a:solidFill>
              </a:rPr>
              <a:t>python -m src.models.feature_prep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987552"/>
            <a:ext cx="2414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feature_prep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" y="1691640"/>
            <a:ext cx="2359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• Loads labelled CSV (97 k rows)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" y="2121408"/>
            <a:ext cx="2359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• Imputes &amp; scales 34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" y="2551176"/>
            <a:ext cx="2359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• Sliding windows T=30 @ 1 Hz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" y="2980944"/>
            <a:ext cx="2359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• SMOTE on training 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" y="3410712"/>
            <a:ext cx="2359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• Saves train/val/test .npz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423160"/>
            <a:ext cx="320040" cy="109728"/>
          </a:xfrm>
          <a:prstGeom prst="rect">
            <a:avLst/>
          </a:prstGeom>
          <a:solidFill>
            <a:srgbClr val="00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4660" y="2331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A8FF"/>
                </a:solidFill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914400"/>
            <a:ext cx="2560320" cy="3383280"/>
          </a:xfrm>
          <a:prstGeom prst="rect">
            <a:avLst/>
          </a:prstGeom>
          <a:solidFill>
            <a:srgbClr val="0D1B2A"/>
          </a:solidFill>
          <a:ln w="25400">
            <a:solidFill>
              <a:srgbClr val="00C8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4992" y="987552"/>
            <a:ext cx="329184" cy="329184"/>
          </a:xfrm>
          <a:prstGeom prst="rect">
            <a:avLst/>
          </a:prstGeom>
          <a:solidFill>
            <a:srgbClr val="00C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74136" y="996696"/>
            <a:ext cx="310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4992" y="1389888"/>
            <a:ext cx="24140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0C86E"/>
                </a:solidFill>
              </a:rPr>
              <a:t>python -m src.models.train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4992" y="987552"/>
            <a:ext cx="2414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train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9856" y="1691640"/>
            <a:ext cx="2359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• Builds SentinelGNSS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9856" y="2121408"/>
            <a:ext cx="2359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• AdamW + cosine LR schedule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9856" y="2551176"/>
            <a:ext cx="2359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• Focal Loss (γ=2, cls wts)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19856" y="2980944"/>
            <a:ext cx="2359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• Saves checkpoint every 10 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19856" y="3410712"/>
            <a:ext cx="2359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• --resume from last checkpoint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97880" y="2423160"/>
            <a:ext cx="320040" cy="109728"/>
          </a:xfrm>
          <a:prstGeom prst="rect">
            <a:avLst/>
          </a:prstGeom>
          <a:solidFill>
            <a:srgbClr val="00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66460" y="23317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A8FF"/>
                </a:solidFill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914400"/>
            <a:ext cx="2560320" cy="3383280"/>
          </a:xfrm>
          <a:prstGeom prst="rect">
            <a:avLst/>
          </a:prstGeom>
          <a:solidFill>
            <a:srgbClr val="0D1B2A"/>
          </a:solidFill>
          <a:ln w="25400">
            <a:solidFill>
              <a:srgbClr val="7B2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36792" y="987552"/>
            <a:ext cx="329184" cy="329184"/>
          </a:xfrm>
          <a:prstGeom prst="rect">
            <a:avLst/>
          </a:prstGeom>
          <a:solidFill>
            <a:srgbClr val="7B2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45936" y="996696"/>
            <a:ext cx="3108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6792" y="1389888"/>
            <a:ext cx="24140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B2FBE"/>
                </a:solidFill>
              </a:rPr>
              <a:t>python -m src.models.evaluate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6792" y="987552"/>
            <a:ext cx="2414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</a:rPr>
              <a:t>evaluate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91656" y="1691640"/>
            <a:ext cx="2359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• Loads best checkpoint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91656" y="2121408"/>
            <a:ext cx="2359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• 14 analysis figures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91656" y="2551176"/>
            <a:ext cx="2359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• Confusion matrix × 3 horizons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91656" y="2980944"/>
            <a:ext cx="2359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• Precision-recall &amp; ROC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91656" y="3410712"/>
            <a:ext cx="2359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F"/>
                </a:solidFill>
              </a:rPr>
              <a:t>• Per-source performance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" y="4434840"/>
            <a:ext cx="8686800" cy="566928"/>
          </a:xfrm>
          <a:prstGeom prst="rect">
            <a:avLst/>
          </a:prstGeom>
          <a:solidFill>
            <a:srgbClr val="E8F4FF"/>
          </a:solidFill>
          <a:ln w="12700">
            <a:solidFill>
              <a:srgbClr val="00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448056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Debug mode: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25880" y="4480560"/>
            <a:ext cx="74980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575"/>
                </a:solidFill>
              </a:rPr>
              <a:t>python -m src.models.feature_prep --debug   python -m src.models.train --debug   python -m src.models.evaluate --debug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4681728"/>
            <a:ext cx="8503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5"/>
                </a:solidFill>
              </a:rPr>
              <a:t>500 rows/source  ·  5 epochs  ·  separate debug windows &amp; checkpoints  ·  never overwrites real data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1" name="Rectangl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Preliminary Results &amp; Colab Training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9144000" cy="18000"/>
          </a:xfrm>
          <a:prstGeom prst="rect">
            <a:avLst/>
          </a:prstGeom>
          <a:solidFill>
            <a:srgbClr val="00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56575"/>
                </a:solidFill>
              </a:rPr>
              <a:t>Smoke test (5 epochs, debug dataset)  ·  Full 150-epoch run on Colab T4 — in progress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14400"/>
            <a:ext cx="4160520" cy="4069080"/>
          </a:xfrm>
          <a:prstGeom prst="rect">
            <a:avLst/>
          </a:prstGeom>
          <a:solidFill>
            <a:srgbClr val="E8F4FF"/>
          </a:solidFill>
          <a:ln w="19050">
            <a:solidFill>
              <a:srgbClr val="00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32688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Smoke Test Results  (debug mode)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207008"/>
            <a:ext cx="39776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5"/>
                </a:solidFill>
              </a:rPr>
              <a:t>5 epochs  ·  500 rows/source  ·  CPU (Quadro M1200)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481328"/>
            <a:ext cx="3977639" cy="685800"/>
          </a:xfrm>
          <a:prstGeom prst="rect">
            <a:avLst/>
          </a:prstGeom>
          <a:solidFill>
            <a:srgbClr val="00C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5087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</a:rPr>
              <a:t>Best val macro-F1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1481328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D1B2A"/>
                </a:solidFill>
              </a:rPr>
              <a:t>0.9375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2A"/>
                </a:solidFill>
              </a:rPr>
              <a:t>at epoch 3  (early stop patience = 20)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258568"/>
            <a:ext cx="3977639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2266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Training time (5 ep)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1992" y="22665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</a:rPr>
              <a:t>~45 s on CPU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642616"/>
            <a:ext cx="3977639" cy="347472"/>
          </a:xfrm>
          <a:prstGeom prst="rect">
            <a:avLst/>
          </a:prstGeom>
          <a:solidFill>
            <a:srgbClr val="F0F8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26506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Checkpoints saved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21992" y="26506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</a:rPr>
              <a:t>epoch_3.pt  +  best.pt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026664"/>
            <a:ext cx="3977639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30346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Figures generated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21992" y="30346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</a:rPr>
              <a:t>14 evaluation charts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410712"/>
            <a:ext cx="3977639" cy="347472"/>
          </a:xfrm>
          <a:prstGeom prst="rect">
            <a:avLst/>
          </a:prstGeom>
          <a:solidFill>
            <a:srgbClr val="F0F8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" y="34187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Classes resolved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21992" y="34187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</a:rPr>
              <a:t>CLEAN · WARNING · DEGRADED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794760"/>
            <a:ext cx="3977639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" y="3802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</a:rPr>
              <a:t>Pipeline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21992" y="3802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</a:rPr>
              <a:t>All 3 commands passed 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914400"/>
            <a:ext cx="4297680" cy="4069080"/>
          </a:xfrm>
          <a:prstGeom prst="rect">
            <a:avLst/>
          </a:prstGeom>
          <a:solidFill>
            <a:srgbClr val="0D1B2A"/>
          </a:solidFill>
          <a:ln w="19050">
            <a:solidFill>
              <a:srgbClr val="00A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9160" y="93268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FF"/>
                </a:solidFill>
              </a:rPr>
              <a:t>Google Colab Training (Full Run)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12984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8FF"/>
                </a:solidFill>
              </a:rPr>
              <a:t>GPU: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12984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C86E"/>
                </a:solidFill>
              </a:rPr>
              <a:t>Tesla T4  —  15.6 GB VRAM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1645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8FF"/>
                </a:solidFill>
              </a:rPr>
              <a:t>Batch size: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16459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256  (vs 64 on local CPU)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60" y="199339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8FF"/>
                </a:solidFill>
              </a:rPr>
              <a:t>Speed: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97880" y="199339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C86E"/>
                </a:solidFill>
              </a:rPr>
              <a:t>~20× faster than local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234086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8FF"/>
                </a:solidFill>
              </a:rPr>
              <a:t>Epochs: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23408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150  (early stop at plateau)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9160" y="268833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8FF"/>
                </a:solidFill>
              </a:rPr>
              <a:t>Data: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268833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CSV cloned from GitHub — no Drive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60" y="30358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8FF"/>
                </a:solidFill>
              </a:rPr>
              <a:t>Checkpoints: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97880" y="303580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A500"/>
                </a:solidFill>
              </a:rPr>
              <a:t>→ Google Drive (survives disconnect)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09160" y="33832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8FF"/>
                </a:solidFill>
              </a:rPr>
              <a:t>Figures: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97880" y="3383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A500"/>
                </a:solidFill>
              </a:rPr>
              <a:t>→ Google Drive (14 PDF + PNG)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09160" y="37307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A8FF"/>
                </a:solidFill>
              </a:rPr>
              <a:t>Resume: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97880" y="373075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--resume flag for auto-recovery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09160" y="4114800"/>
            <a:ext cx="4114800" cy="347472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73168" y="4133087"/>
            <a:ext cx="3986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00C86E"/>
                </a:solidFill>
              </a:rPr>
              <a:t>!python -m src.models.train --resume --batch_size 256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" y="4818888"/>
            <a:ext cx="8686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6575"/>
                </a:solidFill>
              </a:rPr>
              <a:t>Full results (confusion matrices, per-source breakdown, 14 figures) available after Colab run completes.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44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7D3FDC4-74B1-449F-8EBE-106FA813859B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14508977-b426-4c04-a2e5-05362d283bf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1113</TotalTime>
  <Words>1415</Words>
  <Application>Microsoft Macintosh PowerPoint</Application>
  <PresentationFormat>On-screen Show (16:9)</PresentationFormat>
  <Paragraphs>270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Prediction of GNSS Signal Degradation for Autonomous Driving</dc:title>
  <dc:subject>PptxGenJS Presentation</dc:subject>
  <dc:creator>Ojerinde Joel Segun &amp; Team — Beihang University 2025</dc:creator>
  <cp:lastModifiedBy>Ogunlade, Joshua (jogunla1)</cp:lastModifiedBy>
  <cp:revision>23</cp:revision>
  <dcterms:created xsi:type="dcterms:W3CDTF">2026-04-24T07:17:25Z</dcterms:created>
  <dcterms:modified xsi:type="dcterms:W3CDTF">2026-05-07T08:04:55Z</dcterms:modified>
</cp:coreProperties>
</file>